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0"/>
  </p:notesMasterIdLst>
  <p:sldIdLst>
    <p:sldId id="256" r:id="rId2"/>
    <p:sldId id="325" r:id="rId3"/>
    <p:sldId id="259" r:id="rId4"/>
    <p:sldId id="369" r:id="rId5"/>
    <p:sldId id="367" r:id="rId6"/>
    <p:sldId id="276" r:id="rId7"/>
    <p:sldId id="262" r:id="rId8"/>
    <p:sldId id="277" r:id="rId9"/>
    <p:sldId id="368" r:id="rId10"/>
    <p:sldId id="371" r:id="rId11"/>
    <p:sldId id="258" r:id="rId12"/>
    <p:sldId id="391" r:id="rId13"/>
    <p:sldId id="392" r:id="rId14"/>
    <p:sldId id="366" r:id="rId15"/>
    <p:sldId id="320" r:id="rId16"/>
    <p:sldId id="389" r:id="rId17"/>
    <p:sldId id="387" r:id="rId18"/>
    <p:sldId id="388" r:id="rId19"/>
    <p:sldId id="300" r:id="rId20"/>
    <p:sldId id="307" r:id="rId21"/>
    <p:sldId id="302" r:id="rId22"/>
    <p:sldId id="414" r:id="rId23"/>
    <p:sldId id="303" r:id="rId24"/>
    <p:sldId id="308" r:id="rId25"/>
    <p:sldId id="304" r:id="rId26"/>
    <p:sldId id="305" r:id="rId27"/>
    <p:sldId id="306" r:id="rId28"/>
    <p:sldId id="390" r:id="rId29"/>
  </p:sldIdLst>
  <p:sldSz cx="9144000" cy="6858000" type="screen4x3"/>
  <p:notesSz cx="6858000" cy="9144000"/>
  <p:defaultTex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srgbClr val="FF0000"/>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p:cViewPr varScale="1">
        <p:scale>
          <a:sx n="61" d="100"/>
          <a:sy n="61" d="100"/>
        </p:scale>
        <p:origin x="764" y="60"/>
      </p:cViewPr>
      <p:guideLst>
        <p:guide orient="horz" pos="2160"/>
        <p:guide pos="2880"/>
      </p:guideLst>
    </p:cSldViewPr>
  </p:slideViewPr>
  <p:notesTextViewPr>
    <p:cViewPr>
      <p:scale>
        <a:sx n="100" d="100"/>
        <a:sy n="100" d="100"/>
      </p:scale>
      <p:origin x="0" y="0"/>
    </p:cViewPr>
  </p:notesTextViewPr>
  <p:sorterViewPr>
    <p:cViewPr>
      <p:scale>
        <a:sx n="66" d="100"/>
        <a:sy n="66" d="100"/>
      </p:scale>
      <p:origin x="0" y="7488"/>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1B12BC94-826C-44CC-9139-4D8AF4CCD754}"/>
              </a:ext>
            </a:extLst>
          </p:cNvPr>
          <p:cNvSpPr>
            <a:spLocks noGrp="1"/>
          </p:cNvSpPr>
          <p:nvPr>
            <p:ph type="hdr" sz="quarter"/>
          </p:nvPr>
        </p:nvSpPr>
        <p:spPr>
          <a:xfrm>
            <a:off x="0" y="0"/>
            <a:ext cx="2971800" cy="457200"/>
          </a:xfrm>
          <a:prstGeom prst="rect">
            <a:avLst/>
          </a:prstGeom>
        </p:spPr>
        <p:txBody>
          <a:bodyPr vert="horz" lIns="91440" tIns="45720" rIns="91440" bIns="45720" rtlCol="0"/>
          <a:lstStyle>
            <a:lvl1pPr algn="l" eaLnBrk="1" hangingPunct="1">
              <a:defRPr sz="1200">
                <a:latin typeface="Arial" charset="0"/>
              </a:defRPr>
            </a:lvl1pPr>
          </a:lstStyle>
          <a:p>
            <a:pPr>
              <a:defRPr/>
            </a:pPr>
            <a:endParaRPr lang="en-IN"/>
          </a:p>
        </p:txBody>
      </p:sp>
      <p:sp>
        <p:nvSpPr>
          <p:cNvPr id="3" name="Date Placeholder 2">
            <a:extLst>
              <a:ext uri="{FF2B5EF4-FFF2-40B4-BE49-F238E27FC236}">
                <a16:creationId xmlns:a16="http://schemas.microsoft.com/office/drawing/2014/main" id="{405DB217-5036-48E7-9F80-D8568EC4E5C6}"/>
              </a:ext>
            </a:extLst>
          </p:cNvPr>
          <p:cNvSpPr>
            <a:spLocks noGrp="1"/>
          </p:cNvSpPr>
          <p:nvPr>
            <p:ph type="dt" idx="1"/>
          </p:nvPr>
        </p:nvSpPr>
        <p:spPr>
          <a:xfrm>
            <a:off x="3884613" y="0"/>
            <a:ext cx="2971800" cy="457200"/>
          </a:xfrm>
          <a:prstGeom prst="rect">
            <a:avLst/>
          </a:prstGeom>
        </p:spPr>
        <p:txBody>
          <a:bodyPr vert="horz" lIns="91440" tIns="45720" rIns="91440" bIns="45720" rtlCol="0"/>
          <a:lstStyle>
            <a:lvl1pPr algn="r" eaLnBrk="1" hangingPunct="1">
              <a:defRPr sz="1200">
                <a:latin typeface="Arial" charset="0"/>
              </a:defRPr>
            </a:lvl1pPr>
          </a:lstStyle>
          <a:p>
            <a:pPr>
              <a:defRPr/>
            </a:pPr>
            <a:fld id="{4495E4C6-17AD-4BA4-85ED-1CEF5353A859}" type="datetimeFigureOut">
              <a:rPr lang="en-IN"/>
              <a:pPr>
                <a:defRPr/>
              </a:pPr>
              <a:t>02-02-2025</a:t>
            </a:fld>
            <a:endParaRPr lang="en-IN"/>
          </a:p>
        </p:txBody>
      </p:sp>
      <p:sp>
        <p:nvSpPr>
          <p:cNvPr id="4" name="Slide Image Placeholder 3">
            <a:extLst>
              <a:ext uri="{FF2B5EF4-FFF2-40B4-BE49-F238E27FC236}">
                <a16:creationId xmlns:a16="http://schemas.microsoft.com/office/drawing/2014/main" id="{6E099106-0BB6-43A6-A3E2-09D734B298C9}"/>
              </a:ext>
            </a:extLst>
          </p:cNvPr>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pPr lvl="0"/>
            <a:endParaRPr lang="en-IN" noProof="0"/>
          </a:p>
        </p:txBody>
      </p:sp>
      <p:sp>
        <p:nvSpPr>
          <p:cNvPr id="5" name="Notes Placeholder 4">
            <a:extLst>
              <a:ext uri="{FF2B5EF4-FFF2-40B4-BE49-F238E27FC236}">
                <a16:creationId xmlns:a16="http://schemas.microsoft.com/office/drawing/2014/main" id="{DFBCB12F-E21B-4BB3-98A4-F84DE794225D}"/>
              </a:ext>
            </a:extLst>
          </p:cNvPr>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endParaRPr lang="en-IN" noProof="0"/>
          </a:p>
        </p:txBody>
      </p:sp>
      <p:sp>
        <p:nvSpPr>
          <p:cNvPr id="6" name="Footer Placeholder 5">
            <a:extLst>
              <a:ext uri="{FF2B5EF4-FFF2-40B4-BE49-F238E27FC236}">
                <a16:creationId xmlns:a16="http://schemas.microsoft.com/office/drawing/2014/main" id="{B7B2BC49-BC64-4703-B80A-9476428F9481}"/>
              </a:ext>
            </a:extLst>
          </p:cNvPr>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eaLnBrk="1" hangingPunct="1">
              <a:defRPr sz="1200">
                <a:latin typeface="Arial" charset="0"/>
              </a:defRPr>
            </a:lvl1pPr>
          </a:lstStyle>
          <a:p>
            <a:pPr>
              <a:defRPr/>
            </a:pPr>
            <a:endParaRPr lang="en-IN"/>
          </a:p>
        </p:txBody>
      </p:sp>
      <p:sp>
        <p:nvSpPr>
          <p:cNvPr id="7" name="Slide Number Placeholder 6">
            <a:extLst>
              <a:ext uri="{FF2B5EF4-FFF2-40B4-BE49-F238E27FC236}">
                <a16:creationId xmlns:a16="http://schemas.microsoft.com/office/drawing/2014/main" id="{26FD10B2-65DA-4A6A-9411-A7CE5F94A9C7}"/>
              </a:ext>
            </a:extLst>
          </p:cNvPr>
          <p:cNvSpPr>
            <a:spLocks noGrp="1"/>
          </p:cNvSpPr>
          <p:nvPr>
            <p:ph type="sldNum" sz="quarter" idx="5"/>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eaLnBrk="1" hangingPunct="1">
              <a:defRPr sz="1200"/>
            </a:lvl1pPr>
          </a:lstStyle>
          <a:p>
            <a:pPr>
              <a:defRPr/>
            </a:pPr>
            <a:fld id="{DA50488F-DB6A-40AC-8FA4-772BF47F0323}" type="slidenum">
              <a:rPr lang="en-IN" altLang="en-US"/>
              <a:pPr>
                <a:defRPr/>
              </a:pPr>
              <a:t>‹#›</a:t>
            </a:fld>
            <a:endParaRPr lang="en-IN" altLang="en-US"/>
          </a:p>
        </p:txBody>
      </p:sp>
    </p:spTree>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mn-lt"/>
        <a:ea typeface="+mn-ea"/>
        <a:cs typeface="+mn-cs"/>
      </a:defRPr>
    </a:lvl1pPr>
    <a:lvl2pPr marL="457200" algn="l" rtl="0" eaLnBrk="0" fontAlgn="base" hangingPunct="0">
      <a:spcBef>
        <a:spcPct val="30000"/>
      </a:spcBef>
      <a:spcAft>
        <a:spcPct val="0"/>
      </a:spcAft>
      <a:defRPr sz="1200" kern="1200">
        <a:solidFill>
          <a:schemeClr val="tx1"/>
        </a:solidFill>
        <a:latin typeface="+mn-lt"/>
        <a:ea typeface="+mn-ea"/>
        <a:cs typeface="+mn-cs"/>
      </a:defRPr>
    </a:lvl2pPr>
    <a:lvl3pPr marL="914400" algn="l" rtl="0" eaLnBrk="0" fontAlgn="base" hangingPunct="0">
      <a:spcBef>
        <a:spcPct val="30000"/>
      </a:spcBef>
      <a:spcAft>
        <a:spcPct val="0"/>
      </a:spcAft>
      <a:defRPr sz="1200" kern="1200">
        <a:solidFill>
          <a:schemeClr val="tx1"/>
        </a:solidFill>
        <a:latin typeface="+mn-lt"/>
        <a:ea typeface="+mn-ea"/>
        <a:cs typeface="+mn-cs"/>
      </a:defRPr>
    </a:lvl3pPr>
    <a:lvl4pPr marL="1371600" algn="l" rtl="0" eaLnBrk="0" fontAlgn="base" hangingPunct="0">
      <a:spcBef>
        <a:spcPct val="30000"/>
      </a:spcBef>
      <a:spcAft>
        <a:spcPct val="0"/>
      </a:spcAft>
      <a:defRPr sz="1200" kern="1200">
        <a:solidFill>
          <a:schemeClr val="tx1"/>
        </a:solidFill>
        <a:latin typeface="+mn-lt"/>
        <a:ea typeface="+mn-ea"/>
        <a:cs typeface="+mn-cs"/>
      </a:defRPr>
    </a:lvl4pPr>
    <a:lvl5pPr marL="1828800" algn="l" rtl="0" eaLnBrk="0" fontAlgn="base" hangingPunct="0">
      <a:spcBef>
        <a:spcPct val="30000"/>
      </a:spcBef>
      <a:spcAft>
        <a:spcPct val="0"/>
      </a:spcAft>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kern="1200" dirty="0">
                <a:solidFill>
                  <a:schemeClr val="tx1"/>
                </a:solidFill>
                <a:effectLst/>
                <a:latin typeface="+mn-lt"/>
                <a:ea typeface="+mn-ea"/>
                <a:cs typeface="+mn-cs"/>
              </a:rPr>
              <a:t>The red line on the graph is the geothermal gradient which shows the rate of increasing temperature with respect to increase with depth into the Earth’s interior. On average (i.e. away from plate boundaries) temperature increases at a rate of </a:t>
            </a:r>
            <a:r>
              <a:rPr lang="en-US" sz="1200" kern="1200" dirty="0">
                <a:solidFill>
                  <a:schemeClr val="tx1"/>
                </a:solidFill>
                <a:effectLst/>
                <a:latin typeface="+mn-lt"/>
                <a:ea typeface="+mn-ea"/>
                <a:cs typeface="+mn-cs"/>
              </a:rPr>
              <a:t>25-30°C per km in the lithosphere. The kink in the geothermal gradient indicates the lithosphere-asthenosphere boundary which occurs at 1300°C.</a:t>
            </a:r>
            <a:endParaRPr lang="en-GB"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 </a:t>
            </a:r>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For rocks to melt the geothermal gradient (or </a:t>
            </a:r>
            <a:r>
              <a:rPr lang="en-GB" sz="1200" kern="1200" dirty="0" err="1">
                <a:solidFill>
                  <a:schemeClr val="tx1"/>
                </a:solidFill>
                <a:effectLst/>
                <a:latin typeface="+mn-lt"/>
                <a:ea typeface="+mn-ea"/>
                <a:cs typeface="+mn-cs"/>
              </a:rPr>
              <a:t>geotherm</a:t>
            </a:r>
            <a:r>
              <a:rPr lang="en-GB" sz="1200" kern="1200" dirty="0">
                <a:solidFill>
                  <a:schemeClr val="tx1"/>
                </a:solidFill>
                <a:effectLst/>
                <a:latin typeface="+mn-lt"/>
                <a:ea typeface="+mn-ea"/>
                <a:cs typeface="+mn-cs"/>
              </a:rPr>
              <a:t>) must cross the solidus (blue line). The solidus marks the transition from solid mantle rock to rock that can melt and form pockets of magma. Because of pressure increases the solidus increases in temperature the further down you go. In an average section of crust and mantle the </a:t>
            </a:r>
            <a:r>
              <a:rPr lang="en-GB" sz="1200" kern="1200" dirty="0" err="1">
                <a:solidFill>
                  <a:schemeClr val="tx1"/>
                </a:solidFill>
                <a:effectLst/>
                <a:latin typeface="+mn-lt"/>
                <a:ea typeface="+mn-ea"/>
                <a:cs typeface="+mn-cs"/>
              </a:rPr>
              <a:t>geotherm</a:t>
            </a:r>
            <a:r>
              <a:rPr lang="en-GB" sz="1200" kern="1200" dirty="0">
                <a:solidFill>
                  <a:schemeClr val="tx1"/>
                </a:solidFill>
                <a:effectLst/>
                <a:latin typeface="+mn-lt"/>
                <a:ea typeface="+mn-ea"/>
                <a:cs typeface="+mn-cs"/>
              </a:rPr>
              <a:t> </a:t>
            </a:r>
            <a:r>
              <a:rPr lang="en-GB" sz="1200" u="sng" kern="1200" dirty="0">
                <a:solidFill>
                  <a:schemeClr val="tx1"/>
                </a:solidFill>
                <a:effectLst/>
                <a:latin typeface="+mn-lt"/>
                <a:ea typeface="+mn-ea"/>
                <a:cs typeface="+mn-cs"/>
              </a:rPr>
              <a:t>does not cross </a:t>
            </a:r>
            <a:r>
              <a:rPr lang="en-GB" sz="1200" kern="1200" dirty="0">
                <a:solidFill>
                  <a:schemeClr val="tx1"/>
                </a:solidFill>
                <a:effectLst/>
                <a:latin typeface="+mn-lt"/>
                <a:ea typeface="+mn-ea"/>
                <a:cs typeface="+mn-cs"/>
              </a:rPr>
              <a:t>the solidus and therefore no liquid magma can be produced (the solidus is for the rock peridotite which makes up the average composition of the mantle).</a:t>
            </a:r>
          </a:p>
          <a:p>
            <a:endParaRPr lang="en-US" sz="1200" kern="1200" dirty="0">
              <a:solidFill>
                <a:schemeClr val="tx1"/>
              </a:solidFill>
              <a:effectLst/>
              <a:latin typeface="+mn-lt"/>
              <a:ea typeface="+mn-ea"/>
              <a:cs typeface="+mn-cs"/>
            </a:endParaRPr>
          </a:p>
          <a:p>
            <a:pPr marL="0" marR="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There are three situations where we can get the </a:t>
            </a:r>
            <a:r>
              <a:rPr lang="en-US" sz="1200" kern="1200" dirty="0" err="1">
                <a:solidFill>
                  <a:schemeClr val="tx1"/>
                </a:solidFill>
                <a:effectLst/>
                <a:latin typeface="+mn-lt"/>
                <a:ea typeface="+mn-ea"/>
                <a:cs typeface="+mn-cs"/>
              </a:rPr>
              <a:t>geotherm</a:t>
            </a:r>
            <a:r>
              <a:rPr lang="en-US" sz="1200" kern="1200" dirty="0">
                <a:solidFill>
                  <a:schemeClr val="tx1"/>
                </a:solidFill>
                <a:effectLst/>
                <a:latin typeface="+mn-lt"/>
                <a:ea typeface="+mn-ea"/>
                <a:cs typeface="+mn-cs"/>
              </a:rPr>
              <a:t> to cross the solidus and therefore we can get melting and so we can get magma for our volcanoes.</a:t>
            </a:r>
            <a:endParaRPr lang="en-GB" sz="1200" kern="1200" dirty="0">
              <a:solidFill>
                <a:schemeClr val="tx1"/>
              </a:solidFill>
              <a:effectLst/>
              <a:latin typeface="+mn-lt"/>
              <a:ea typeface="+mn-ea"/>
              <a:cs typeface="+mn-cs"/>
            </a:endParaRPr>
          </a:p>
          <a:p>
            <a:endParaRPr lang="en-GB" sz="1200" kern="1200" dirty="0">
              <a:solidFill>
                <a:schemeClr val="tx1"/>
              </a:solidFill>
              <a:effectLst/>
              <a:latin typeface="+mn-lt"/>
              <a:ea typeface="+mn-ea"/>
              <a:cs typeface="+mn-cs"/>
            </a:endParaRPr>
          </a:p>
        </p:txBody>
      </p:sp>
      <p:sp>
        <p:nvSpPr>
          <p:cNvPr id="4" name="Slide Number Placeholder 3"/>
          <p:cNvSpPr>
            <a:spLocks noGrp="1"/>
          </p:cNvSpPr>
          <p:nvPr>
            <p:ph type="sldNum" sz="quarter" idx="10"/>
          </p:nvPr>
        </p:nvSpPr>
        <p:spPr/>
        <p:txBody>
          <a:bodyPr/>
          <a:lstStyle/>
          <a:p>
            <a:fld id="{39D1C3DC-E66A-4610-98F0-10FE57766BBC}" type="slidenum">
              <a:rPr lang="en-GB" smtClean="0"/>
              <a:t>3</a:t>
            </a:fld>
            <a:endParaRPr lang="en-GB"/>
          </a:p>
        </p:txBody>
      </p:sp>
    </p:spTree>
    <p:extLst>
      <p:ext uri="{BB962C8B-B14F-4D97-AF65-F5344CB8AC3E}">
        <p14:creationId xmlns:p14="http://schemas.microsoft.com/office/powerpoint/2010/main" val="268676367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This graph shows what happens at a constructive/divergent boundary – a point where two plates are moving away from each other (for example in the Mid Atlantic ridge). Because the lithosphere is thinned here, the asthenosphere (which is hotter) rises and therefore</a:t>
            </a:r>
            <a:r>
              <a:rPr lang="en-US" sz="1200" kern="1200" baseline="0" dirty="0">
                <a:solidFill>
                  <a:schemeClr val="tx1"/>
                </a:solidFill>
                <a:effectLst/>
                <a:latin typeface="+mn-lt"/>
                <a:ea typeface="+mn-ea"/>
                <a:cs typeface="+mn-cs"/>
              </a:rPr>
              <a:t> </a:t>
            </a:r>
            <a:r>
              <a:rPr lang="en-US" sz="1200" kern="1200" dirty="0">
                <a:solidFill>
                  <a:schemeClr val="tx1"/>
                </a:solidFill>
                <a:effectLst/>
                <a:latin typeface="+mn-lt"/>
                <a:ea typeface="+mn-ea"/>
                <a:cs typeface="+mn-cs"/>
              </a:rPr>
              <a:t>the </a:t>
            </a:r>
            <a:r>
              <a:rPr lang="en-US" sz="1200" kern="1200" dirty="0" err="1">
                <a:solidFill>
                  <a:schemeClr val="tx1"/>
                </a:solidFill>
                <a:effectLst/>
                <a:latin typeface="+mn-lt"/>
                <a:ea typeface="+mn-ea"/>
                <a:cs typeface="+mn-cs"/>
              </a:rPr>
              <a:t>geotherm</a:t>
            </a:r>
            <a:r>
              <a:rPr lang="en-US" sz="1200" kern="1200" dirty="0">
                <a:solidFill>
                  <a:schemeClr val="tx1"/>
                </a:solidFill>
                <a:effectLst/>
                <a:latin typeface="+mn-lt"/>
                <a:ea typeface="+mn-ea"/>
                <a:cs typeface="+mn-cs"/>
              </a:rPr>
              <a:t> is much shallower and crosses the solidus near the top of the graph. Therefore in this zone magma can be generated and we can get volcanoes and new basaltic ocean crust.</a:t>
            </a:r>
            <a:endParaRPr lang="en-GB" sz="1200" kern="1200" dirty="0">
              <a:solidFill>
                <a:schemeClr val="tx1"/>
              </a:solidFill>
              <a:effectLst/>
              <a:latin typeface="+mn-lt"/>
              <a:ea typeface="+mn-ea"/>
              <a:cs typeface="+mn-cs"/>
            </a:endParaRPr>
          </a:p>
          <a:p>
            <a:endParaRPr lang="en-GB" dirty="0"/>
          </a:p>
        </p:txBody>
      </p:sp>
      <p:sp>
        <p:nvSpPr>
          <p:cNvPr id="4" name="Slide Number Placeholder 3"/>
          <p:cNvSpPr>
            <a:spLocks noGrp="1"/>
          </p:cNvSpPr>
          <p:nvPr>
            <p:ph type="sldNum" sz="quarter" idx="10"/>
          </p:nvPr>
        </p:nvSpPr>
        <p:spPr/>
        <p:txBody>
          <a:bodyPr/>
          <a:lstStyle/>
          <a:p>
            <a:fld id="{39D1C3DC-E66A-4610-98F0-10FE57766BBC}" type="slidenum">
              <a:rPr lang="en-GB" smtClean="0"/>
              <a:t>5</a:t>
            </a:fld>
            <a:endParaRPr lang="en-GB"/>
          </a:p>
        </p:txBody>
      </p:sp>
    </p:spTree>
    <p:extLst>
      <p:ext uri="{BB962C8B-B14F-4D97-AF65-F5344CB8AC3E}">
        <p14:creationId xmlns:p14="http://schemas.microsoft.com/office/powerpoint/2010/main" val="123141607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Rectangle 2">
            <a:extLst>
              <a:ext uri="{FF2B5EF4-FFF2-40B4-BE49-F238E27FC236}">
                <a16:creationId xmlns:a16="http://schemas.microsoft.com/office/drawing/2014/main" id="{71056C37-C509-452C-B4C4-99A6AF8CAC7D}"/>
              </a:ext>
            </a:extLst>
          </p:cNvPr>
          <p:cNvSpPr>
            <a:spLocks noGrp="1" noRot="1" noChangeAspect="1" noChangeArrowheads="1" noTextEdit="1"/>
          </p:cNvSpPr>
          <p:nvPr>
            <p:ph type="sldImg"/>
          </p:nvPr>
        </p:nvSpPr>
        <p:spPr bwMode="auto">
          <a:xfrm>
            <a:off x="1143000" y="685800"/>
            <a:ext cx="4572000" cy="3429000"/>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17411" name="Rectangle 3">
            <a:extLst>
              <a:ext uri="{FF2B5EF4-FFF2-40B4-BE49-F238E27FC236}">
                <a16:creationId xmlns:a16="http://schemas.microsoft.com/office/drawing/2014/main" id="{0EE18872-09F0-45E7-B20A-C19515F3AA46}"/>
              </a:ext>
            </a:extLst>
          </p:cNvPr>
          <p:cNvSpPr>
            <a:spLocks noGrp="1" noChangeArrowheads="1"/>
          </p:cNvSpPr>
          <p:nvPr>
            <p:ph type="body" idx="1"/>
          </p:nvPr>
        </p:nvSpPr>
        <p:spPr bwMode="auto">
          <a:xfrm>
            <a:off x="914400" y="4343400"/>
            <a:ext cx="5029200" cy="4114800"/>
          </a:xfrm>
          <a:prstGeom prst="rect">
            <a:avLst/>
          </a:prstGeo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lvl="1"/>
            <a:r>
              <a:rPr lang="en-US" altLang="en-US">
                <a:solidFill>
                  <a:srgbClr val="00FF00"/>
                </a:solidFill>
              </a:rPr>
              <a:t>Adiabatic</a:t>
            </a:r>
            <a:r>
              <a:rPr lang="en-US" altLang="en-US">
                <a:solidFill>
                  <a:srgbClr val="FFCC00"/>
                </a:solidFill>
              </a:rPr>
              <a:t> rise of mantle with no conductive heat loss</a:t>
            </a:r>
          </a:p>
          <a:p>
            <a:pPr lvl="1"/>
            <a:r>
              <a:rPr lang="en-US" altLang="en-US">
                <a:solidFill>
                  <a:srgbClr val="FFCC00"/>
                </a:solidFill>
              </a:rPr>
              <a:t>	Steeper than solidus</a:t>
            </a:r>
          </a:p>
          <a:p>
            <a:pPr lvl="1"/>
            <a:r>
              <a:rPr lang="en-US" altLang="en-US">
                <a:solidFill>
                  <a:srgbClr val="FFCC00"/>
                </a:solidFill>
              </a:rPr>
              <a:t>	Intersects solidus</a:t>
            </a:r>
          </a:p>
          <a:p>
            <a:pPr lvl="2"/>
            <a:r>
              <a:rPr lang="en-US" altLang="en-US">
                <a:solidFill>
                  <a:srgbClr val="FFCC00"/>
                </a:solidFill>
                <a:latin typeface="Symbol" panose="05050102010706020507" pitchFamily="18" charset="2"/>
              </a:rPr>
              <a:t>		D</a:t>
            </a:r>
            <a:r>
              <a:rPr lang="en-US" altLang="en-US">
                <a:solidFill>
                  <a:srgbClr val="FFCC00"/>
                </a:solidFill>
              </a:rPr>
              <a:t> slope = heat of fusion as mantle melts</a:t>
            </a:r>
          </a:p>
          <a:p>
            <a:pPr lvl="1"/>
            <a:r>
              <a:rPr lang="en-US" altLang="en-US">
                <a:solidFill>
                  <a:srgbClr val="00FF00"/>
                </a:solidFill>
              </a:rPr>
              <a:t>Decompression </a:t>
            </a:r>
            <a:r>
              <a:rPr lang="en-US" altLang="en-US" sz="1400">
                <a:solidFill>
                  <a:srgbClr val="00FF00"/>
                </a:solidFill>
              </a:rPr>
              <a:t>melting</a:t>
            </a:r>
            <a:r>
              <a:rPr lang="en-US" altLang="en-US" sz="1400">
                <a:solidFill>
                  <a:srgbClr val="FFCC00"/>
                </a:solidFill>
              </a:rPr>
              <a:t> could melt at least 30%</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This graph shows what happens when water gets into the mantle – this is what happens at subduction zones (destructive/convergent boundaries) where one tectonic plate is thrust beneath another. Hydrated minerals in the crust heat up and release water into  the mantle lowers the mantles melting point and therefore the shape of the solidus changes – hydrated mantle rocks melt at a lower temperature and whilst the </a:t>
            </a:r>
            <a:r>
              <a:rPr lang="en-US" sz="1200" kern="1200" dirty="0" err="1">
                <a:solidFill>
                  <a:schemeClr val="tx1"/>
                </a:solidFill>
                <a:effectLst/>
                <a:latin typeface="+mn-lt"/>
                <a:ea typeface="+mn-ea"/>
                <a:cs typeface="+mn-cs"/>
              </a:rPr>
              <a:t>geotherm</a:t>
            </a:r>
            <a:r>
              <a:rPr lang="en-US" sz="1200" kern="1200" dirty="0">
                <a:solidFill>
                  <a:schemeClr val="tx1"/>
                </a:solidFill>
                <a:effectLst/>
                <a:latin typeface="+mn-lt"/>
                <a:ea typeface="+mn-ea"/>
                <a:cs typeface="+mn-cs"/>
              </a:rPr>
              <a:t> has stayed the same, it now crosses over the solidus and can generate magma. </a:t>
            </a:r>
            <a:endParaRPr lang="en-GB" sz="1200" kern="1200" dirty="0">
              <a:solidFill>
                <a:schemeClr val="tx1"/>
              </a:solidFill>
              <a:effectLst/>
              <a:latin typeface="+mn-lt"/>
              <a:ea typeface="+mn-ea"/>
              <a:cs typeface="+mn-cs"/>
            </a:endParaRPr>
          </a:p>
          <a:p>
            <a:endParaRPr lang="en-GB" dirty="0"/>
          </a:p>
        </p:txBody>
      </p:sp>
      <p:sp>
        <p:nvSpPr>
          <p:cNvPr id="4" name="Slide Number Placeholder 3"/>
          <p:cNvSpPr>
            <a:spLocks noGrp="1"/>
          </p:cNvSpPr>
          <p:nvPr>
            <p:ph type="sldNum" sz="quarter" idx="10"/>
          </p:nvPr>
        </p:nvSpPr>
        <p:spPr/>
        <p:txBody>
          <a:bodyPr/>
          <a:lstStyle/>
          <a:p>
            <a:fld id="{39D1C3DC-E66A-4610-98F0-10FE57766BBC}" type="slidenum">
              <a:rPr lang="en-GB" smtClean="0"/>
              <a:t>7</a:t>
            </a:fld>
            <a:endParaRPr lang="en-GB"/>
          </a:p>
        </p:txBody>
      </p:sp>
    </p:spTree>
    <p:extLst>
      <p:ext uri="{BB962C8B-B14F-4D97-AF65-F5344CB8AC3E}">
        <p14:creationId xmlns:p14="http://schemas.microsoft.com/office/powerpoint/2010/main" val="397837953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Rectangle 2">
            <a:extLst>
              <a:ext uri="{FF2B5EF4-FFF2-40B4-BE49-F238E27FC236}">
                <a16:creationId xmlns:a16="http://schemas.microsoft.com/office/drawing/2014/main" id="{C7F540B7-DD2D-4353-B6FC-61AE3ED0FD0D}"/>
              </a:ext>
            </a:extLst>
          </p:cNvPr>
          <p:cNvSpPr>
            <a:spLocks noGrp="1" noRot="1" noChangeAspect="1" noChangeArrowheads="1" noTextEdit="1"/>
          </p:cNvSpPr>
          <p:nvPr>
            <p:ph type="sldImg"/>
          </p:nvPr>
        </p:nvSpPr>
        <p:spPr bwMode="auto">
          <a:xfrm>
            <a:off x="1143000" y="685800"/>
            <a:ext cx="4572000" cy="3429000"/>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19459" name="Rectangle 3">
            <a:extLst>
              <a:ext uri="{FF2B5EF4-FFF2-40B4-BE49-F238E27FC236}">
                <a16:creationId xmlns:a16="http://schemas.microsoft.com/office/drawing/2014/main" id="{D1E8C48D-B84C-4706-A0FE-B786D99E8401}"/>
              </a:ext>
            </a:extLst>
          </p:cNvPr>
          <p:cNvSpPr>
            <a:spLocks noGrp="1" noChangeArrowheads="1"/>
          </p:cNvSpPr>
          <p:nvPr>
            <p:ph type="body" idx="1"/>
          </p:nvPr>
        </p:nvSpPr>
        <p:spPr bwMode="auto">
          <a:xfrm>
            <a:off x="914400" y="4343400"/>
            <a:ext cx="5029200" cy="4114800"/>
          </a:xfrm>
          <a:prstGeom prst="rect">
            <a:avLst/>
          </a:prstGeo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ltLang="en-US" dirty="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This graph shows what happens when we increase the temperature of the mantle. This happens when there is a hotspot in the mantle for example under the Hawaiian Islands. Because the mantle temperature is hotter than usual, the </a:t>
            </a:r>
            <a:r>
              <a:rPr lang="en-US" sz="1200" kern="1200" dirty="0" err="1">
                <a:solidFill>
                  <a:schemeClr val="tx1"/>
                </a:solidFill>
                <a:effectLst/>
                <a:latin typeface="+mn-lt"/>
                <a:ea typeface="+mn-ea"/>
                <a:cs typeface="+mn-cs"/>
              </a:rPr>
              <a:t>geotherm</a:t>
            </a:r>
            <a:r>
              <a:rPr lang="en-US" sz="1200" kern="1200" dirty="0">
                <a:solidFill>
                  <a:schemeClr val="tx1"/>
                </a:solidFill>
                <a:effectLst/>
                <a:latin typeface="+mn-lt"/>
                <a:ea typeface="+mn-ea"/>
                <a:cs typeface="+mn-cs"/>
              </a:rPr>
              <a:t> shifts to the right and crosses the mantle solidus. Therefore we can generate molten magma.</a:t>
            </a:r>
            <a:endParaRPr lang="en-GB" sz="1200" kern="1200" dirty="0">
              <a:solidFill>
                <a:schemeClr val="tx1"/>
              </a:solidFill>
              <a:effectLst/>
              <a:latin typeface="+mn-lt"/>
              <a:ea typeface="+mn-ea"/>
              <a:cs typeface="+mn-cs"/>
            </a:endParaRPr>
          </a:p>
          <a:p>
            <a:endParaRPr lang="en-GB" dirty="0"/>
          </a:p>
        </p:txBody>
      </p:sp>
      <p:sp>
        <p:nvSpPr>
          <p:cNvPr id="4" name="Slide Number Placeholder 3"/>
          <p:cNvSpPr>
            <a:spLocks noGrp="1"/>
          </p:cNvSpPr>
          <p:nvPr>
            <p:ph type="sldNum" sz="quarter" idx="10"/>
          </p:nvPr>
        </p:nvSpPr>
        <p:spPr/>
        <p:txBody>
          <a:bodyPr/>
          <a:lstStyle/>
          <a:p>
            <a:fld id="{39D1C3DC-E66A-4610-98F0-10FE57766BBC}" type="slidenum">
              <a:rPr lang="en-GB" smtClean="0"/>
              <a:t>9</a:t>
            </a:fld>
            <a:endParaRPr lang="en-GB"/>
          </a:p>
        </p:txBody>
      </p:sp>
    </p:spTree>
    <p:extLst>
      <p:ext uri="{BB962C8B-B14F-4D97-AF65-F5344CB8AC3E}">
        <p14:creationId xmlns:p14="http://schemas.microsoft.com/office/powerpoint/2010/main" val="68463189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endParaRPr lang="en-GB" sz="1200" kern="1200" dirty="0">
              <a:solidFill>
                <a:schemeClr val="tx1"/>
              </a:solidFill>
              <a:effectLst/>
              <a:latin typeface="+mn-lt"/>
              <a:ea typeface="+mn-ea"/>
              <a:cs typeface="+mn-cs"/>
            </a:endParaRPr>
          </a:p>
        </p:txBody>
      </p:sp>
      <p:sp>
        <p:nvSpPr>
          <p:cNvPr id="4" name="Slide Number Placeholder 3"/>
          <p:cNvSpPr>
            <a:spLocks noGrp="1"/>
          </p:cNvSpPr>
          <p:nvPr>
            <p:ph type="sldNum" sz="quarter" idx="10"/>
          </p:nvPr>
        </p:nvSpPr>
        <p:spPr/>
        <p:txBody>
          <a:bodyPr/>
          <a:lstStyle/>
          <a:p>
            <a:fld id="{BB6736DF-49D8-40D5-80C7-9FF4CABD4A2E}" type="slidenum">
              <a:rPr lang="en-GB" smtClean="0"/>
              <a:t>11</a:t>
            </a:fld>
            <a:endParaRPr lang="en-GB"/>
          </a:p>
        </p:txBody>
      </p:sp>
    </p:spTree>
    <p:extLst>
      <p:ext uri="{BB962C8B-B14F-4D97-AF65-F5344CB8AC3E}">
        <p14:creationId xmlns:p14="http://schemas.microsoft.com/office/powerpoint/2010/main" val="290664905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endParaRPr lang="en-IN"/>
          </a:p>
        </p:txBody>
      </p:sp>
      <p:sp>
        <p:nvSpPr>
          <p:cNvPr id="3" name="Subtitle 2"/>
          <p:cNvSpPr>
            <a:spLocks noGrp="1"/>
          </p:cNvSpPr>
          <p:nvPr>
            <p:ph type="subTitle" idx="1"/>
          </p:nvPr>
        </p:nvSpPr>
        <p:spPr>
          <a:xfrm>
            <a:off x="1371600" y="3886200"/>
            <a:ext cx="64008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en-US"/>
              <a:t>Click to edit Master subtitle style</a:t>
            </a:r>
            <a:endParaRPr lang="en-IN"/>
          </a:p>
        </p:txBody>
      </p:sp>
      <p:sp>
        <p:nvSpPr>
          <p:cNvPr id="4" name="Rectangle 4">
            <a:extLst>
              <a:ext uri="{FF2B5EF4-FFF2-40B4-BE49-F238E27FC236}">
                <a16:creationId xmlns:a16="http://schemas.microsoft.com/office/drawing/2014/main" id="{DBEE118F-D257-4318-A3A2-EECA19410BF3}"/>
              </a:ext>
            </a:extLst>
          </p:cNvPr>
          <p:cNvSpPr>
            <a:spLocks noGrp="1" noChangeArrowheads="1"/>
          </p:cNvSpPr>
          <p:nvPr>
            <p:ph type="dt" sz="half" idx="10"/>
          </p:nvPr>
        </p:nvSpPr>
        <p:spPr>
          <a:ln/>
        </p:spPr>
        <p:txBody>
          <a:bodyPr/>
          <a:lstStyle>
            <a:lvl1pPr>
              <a:defRPr/>
            </a:lvl1pPr>
          </a:lstStyle>
          <a:p>
            <a:pPr>
              <a:defRPr/>
            </a:pPr>
            <a:endParaRPr lang="en-US"/>
          </a:p>
        </p:txBody>
      </p:sp>
      <p:sp>
        <p:nvSpPr>
          <p:cNvPr id="5" name="Rectangle 5">
            <a:extLst>
              <a:ext uri="{FF2B5EF4-FFF2-40B4-BE49-F238E27FC236}">
                <a16:creationId xmlns:a16="http://schemas.microsoft.com/office/drawing/2014/main" id="{4C97103C-CE56-4C35-B5D2-E932D10544C4}"/>
              </a:ext>
            </a:extLst>
          </p:cNvPr>
          <p:cNvSpPr>
            <a:spLocks noGrp="1" noChangeArrowheads="1"/>
          </p:cNvSpPr>
          <p:nvPr>
            <p:ph type="ftr" sz="quarter" idx="11"/>
          </p:nvPr>
        </p:nvSpPr>
        <p:spPr>
          <a:ln/>
        </p:spPr>
        <p:txBody>
          <a:bodyPr/>
          <a:lstStyle>
            <a:lvl1pPr>
              <a:defRPr/>
            </a:lvl1pPr>
          </a:lstStyle>
          <a:p>
            <a:pPr>
              <a:defRPr/>
            </a:pPr>
            <a:endParaRPr lang="en-US"/>
          </a:p>
        </p:txBody>
      </p:sp>
      <p:sp>
        <p:nvSpPr>
          <p:cNvPr id="6" name="Rectangle 6">
            <a:extLst>
              <a:ext uri="{FF2B5EF4-FFF2-40B4-BE49-F238E27FC236}">
                <a16:creationId xmlns:a16="http://schemas.microsoft.com/office/drawing/2014/main" id="{631569ED-472A-4591-B1C8-91A8AA55F43B}"/>
              </a:ext>
            </a:extLst>
          </p:cNvPr>
          <p:cNvSpPr>
            <a:spLocks noGrp="1" noChangeArrowheads="1"/>
          </p:cNvSpPr>
          <p:nvPr>
            <p:ph type="sldNum" sz="quarter" idx="12"/>
          </p:nvPr>
        </p:nvSpPr>
        <p:spPr>
          <a:ln/>
        </p:spPr>
        <p:txBody>
          <a:bodyPr/>
          <a:lstStyle>
            <a:lvl1pPr>
              <a:defRPr/>
            </a:lvl1pPr>
          </a:lstStyle>
          <a:p>
            <a:pPr>
              <a:defRPr/>
            </a:pPr>
            <a:fld id="{E91EFD36-5984-457D-BADD-B4A3F349C23E}" type="slidenum">
              <a:rPr lang="en-US" altLang="en-US"/>
              <a:pPr>
                <a:defRPr/>
              </a:pPr>
              <a:t>‹#›</a:t>
            </a:fld>
            <a:endParaRPr lang="en-US" altLang="en-US"/>
          </a:p>
        </p:txBody>
      </p:sp>
    </p:spTree>
    <p:extLst>
      <p:ext uri="{BB962C8B-B14F-4D97-AF65-F5344CB8AC3E}">
        <p14:creationId xmlns:p14="http://schemas.microsoft.com/office/powerpoint/2010/main" val="425497903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Rectangle 4">
            <a:extLst>
              <a:ext uri="{FF2B5EF4-FFF2-40B4-BE49-F238E27FC236}">
                <a16:creationId xmlns:a16="http://schemas.microsoft.com/office/drawing/2014/main" id="{4C13EFD9-AB6D-434D-BC2E-8B73CC13FEA3}"/>
              </a:ext>
            </a:extLst>
          </p:cNvPr>
          <p:cNvSpPr>
            <a:spLocks noGrp="1" noChangeArrowheads="1"/>
          </p:cNvSpPr>
          <p:nvPr>
            <p:ph type="dt" sz="half" idx="10"/>
          </p:nvPr>
        </p:nvSpPr>
        <p:spPr>
          <a:ln/>
        </p:spPr>
        <p:txBody>
          <a:bodyPr/>
          <a:lstStyle>
            <a:lvl1pPr>
              <a:defRPr/>
            </a:lvl1pPr>
          </a:lstStyle>
          <a:p>
            <a:pPr>
              <a:defRPr/>
            </a:pPr>
            <a:endParaRPr lang="en-US"/>
          </a:p>
        </p:txBody>
      </p:sp>
      <p:sp>
        <p:nvSpPr>
          <p:cNvPr id="5" name="Rectangle 5">
            <a:extLst>
              <a:ext uri="{FF2B5EF4-FFF2-40B4-BE49-F238E27FC236}">
                <a16:creationId xmlns:a16="http://schemas.microsoft.com/office/drawing/2014/main" id="{4B0ED277-8375-4E95-B412-94EF1677FAD8}"/>
              </a:ext>
            </a:extLst>
          </p:cNvPr>
          <p:cNvSpPr>
            <a:spLocks noGrp="1" noChangeArrowheads="1"/>
          </p:cNvSpPr>
          <p:nvPr>
            <p:ph type="ftr" sz="quarter" idx="11"/>
          </p:nvPr>
        </p:nvSpPr>
        <p:spPr>
          <a:ln/>
        </p:spPr>
        <p:txBody>
          <a:bodyPr/>
          <a:lstStyle>
            <a:lvl1pPr>
              <a:defRPr/>
            </a:lvl1pPr>
          </a:lstStyle>
          <a:p>
            <a:pPr>
              <a:defRPr/>
            </a:pPr>
            <a:endParaRPr lang="en-US"/>
          </a:p>
        </p:txBody>
      </p:sp>
      <p:sp>
        <p:nvSpPr>
          <p:cNvPr id="6" name="Rectangle 6">
            <a:extLst>
              <a:ext uri="{FF2B5EF4-FFF2-40B4-BE49-F238E27FC236}">
                <a16:creationId xmlns:a16="http://schemas.microsoft.com/office/drawing/2014/main" id="{D71C59AB-1EAD-4FD8-95DC-AD356CFA4FC2}"/>
              </a:ext>
            </a:extLst>
          </p:cNvPr>
          <p:cNvSpPr>
            <a:spLocks noGrp="1" noChangeArrowheads="1"/>
          </p:cNvSpPr>
          <p:nvPr>
            <p:ph type="sldNum" sz="quarter" idx="12"/>
          </p:nvPr>
        </p:nvSpPr>
        <p:spPr>
          <a:ln/>
        </p:spPr>
        <p:txBody>
          <a:bodyPr/>
          <a:lstStyle>
            <a:lvl1pPr>
              <a:defRPr/>
            </a:lvl1pPr>
          </a:lstStyle>
          <a:p>
            <a:pPr>
              <a:defRPr/>
            </a:pPr>
            <a:fld id="{196D8436-06A3-43A4-BA5B-8AF70AEB648F}" type="slidenum">
              <a:rPr lang="en-US" altLang="en-US"/>
              <a:pPr>
                <a:defRPr/>
              </a:pPr>
              <a:t>‹#›</a:t>
            </a:fld>
            <a:endParaRPr lang="en-US" altLang="en-US"/>
          </a:p>
        </p:txBody>
      </p:sp>
    </p:spTree>
    <p:extLst>
      <p:ext uri="{BB962C8B-B14F-4D97-AF65-F5344CB8AC3E}">
        <p14:creationId xmlns:p14="http://schemas.microsoft.com/office/powerpoint/2010/main" val="302754824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endParaRPr lang="en-IN"/>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
        <p:nvSpPr>
          <p:cNvPr id="4" name="Rectangle 4">
            <a:extLst>
              <a:ext uri="{FF2B5EF4-FFF2-40B4-BE49-F238E27FC236}">
                <a16:creationId xmlns:a16="http://schemas.microsoft.com/office/drawing/2014/main" id="{8924E2C6-9E75-43EE-99CD-453E04C86553}"/>
              </a:ext>
            </a:extLst>
          </p:cNvPr>
          <p:cNvSpPr>
            <a:spLocks noGrp="1" noChangeArrowheads="1"/>
          </p:cNvSpPr>
          <p:nvPr>
            <p:ph type="dt" sz="half" idx="10"/>
          </p:nvPr>
        </p:nvSpPr>
        <p:spPr>
          <a:ln/>
        </p:spPr>
        <p:txBody>
          <a:bodyPr/>
          <a:lstStyle>
            <a:lvl1pPr>
              <a:defRPr/>
            </a:lvl1pPr>
          </a:lstStyle>
          <a:p>
            <a:pPr>
              <a:defRPr/>
            </a:pPr>
            <a:endParaRPr lang="en-US"/>
          </a:p>
        </p:txBody>
      </p:sp>
      <p:sp>
        <p:nvSpPr>
          <p:cNvPr id="5" name="Rectangle 5">
            <a:extLst>
              <a:ext uri="{FF2B5EF4-FFF2-40B4-BE49-F238E27FC236}">
                <a16:creationId xmlns:a16="http://schemas.microsoft.com/office/drawing/2014/main" id="{25018E45-3328-444D-8796-75B3B701D17E}"/>
              </a:ext>
            </a:extLst>
          </p:cNvPr>
          <p:cNvSpPr>
            <a:spLocks noGrp="1" noChangeArrowheads="1"/>
          </p:cNvSpPr>
          <p:nvPr>
            <p:ph type="ftr" sz="quarter" idx="11"/>
          </p:nvPr>
        </p:nvSpPr>
        <p:spPr>
          <a:ln/>
        </p:spPr>
        <p:txBody>
          <a:bodyPr/>
          <a:lstStyle>
            <a:lvl1pPr>
              <a:defRPr/>
            </a:lvl1pPr>
          </a:lstStyle>
          <a:p>
            <a:pPr>
              <a:defRPr/>
            </a:pPr>
            <a:endParaRPr lang="en-US"/>
          </a:p>
        </p:txBody>
      </p:sp>
      <p:sp>
        <p:nvSpPr>
          <p:cNvPr id="6" name="Rectangle 6">
            <a:extLst>
              <a:ext uri="{FF2B5EF4-FFF2-40B4-BE49-F238E27FC236}">
                <a16:creationId xmlns:a16="http://schemas.microsoft.com/office/drawing/2014/main" id="{8A16A509-F4A7-48F3-809D-CBD23ED80F55}"/>
              </a:ext>
            </a:extLst>
          </p:cNvPr>
          <p:cNvSpPr>
            <a:spLocks noGrp="1" noChangeArrowheads="1"/>
          </p:cNvSpPr>
          <p:nvPr>
            <p:ph type="sldNum" sz="quarter" idx="12"/>
          </p:nvPr>
        </p:nvSpPr>
        <p:spPr>
          <a:ln/>
        </p:spPr>
        <p:txBody>
          <a:bodyPr/>
          <a:lstStyle>
            <a:lvl1pPr>
              <a:defRPr/>
            </a:lvl1pPr>
          </a:lstStyle>
          <a:p>
            <a:pPr>
              <a:defRPr/>
            </a:pPr>
            <a:fld id="{D3974763-CD29-4242-A606-D01C110AD1A3}" type="slidenum">
              <a:rPr lang="en-US" altLang="en-US"/>
              <a:pPr>
                <a:defRPr/>
              </a:pPr>
              <a:t>‹#›</a:t>
            </a:fld>
            <a:endParaRPr lang="en-US" altLang="en-US"/>
          </a:p>
        </p:txBody>
      </p:sp>
    </p:spTree>
    <p:extLst>
      <p:ext uri="{BB962C8B-B14F-4D97-AF65-F5344CB8AC3E}">
        <p14:creationId xmlns:p14="http://schemas.microsoft.com/office/powerpoint/2010/main" val="39860142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Rectangle 4">
            <a:extLst>
              <a:ext uri="{FF2B5EF4-FFF2-40B4-BE49-F238E27FC236}">
                <a16:creationId xmlns:a16="http://schemas.microsoft.com/office/drawing/2014/main" id="{1D060A66-D792-4197-A450-15640D1F3CB3}"/>
              </a:ext>
            </a:extLst>
          </p:cNvPr>
          <p:cNvSpPr>
            <a:spLocks noGrp="1" noChangeArrowheads="1"/>
          </p:cNvSpPr>
          <p:nvPr>
            <p:ph type="dt" sz="half" idx="10"/>
          </p:nvPr>
        </p:nvSpPr>
        <p:spPr>
          <a:ln/>
        </p:spPr>
        <p:txBody>
          <a:bodyPr/>
          <a:lstStyle>
            <a:lvl1pPr>
              <a:defRPr/>
            </a:lvl1pPr>
          </a:lstStyle>
          <a:p>
            <a:pPr>
              <a:defRPr/>
            </a:pPr>
            <a:endParaRPr lang="en-US"/>
          </a:p>
        </p:txBody>
      </p:sp>
      <p:sp>
        <p:nvSpPr>
          <p:cNvPr id="6" name="Rectangle 5">
            <a:extLst>
              <a:ext uri="{FF2B5EF4-FFF2-40B4-BE49-F238E27FC236}">
                <a16:creationId xmlns:a16="http://schemas.microsoft.com/office/drawing/2014/main" id="{5139D150-B008-4810-A642-BB58C29B5761}"/>
              </a:ext>
            </a:extLst>
          </p:cNvPr>
          <p:cNvSpPr>
            <a:spLocks noGrp="1" noChangeArrowheads="1"/>
          </p:cNvSpPr>
          <p:nvPr>
            <p:ph type="ftr" sz="quarter" idx="11"/>
          </p:nvPr>
        </p:nvSpPr>
        <p:spPr>
          <a:ln/>
        </p:spPr>
        <p:txBody>
          <a:bodyPr/>
          <a:lstStyle>
            <a:lvl1pPr>
              <a:defRPr/>
            </a:lvl1pPr>
          </a:lstStyle>
          <a:p>
            <a:pPr>
              <a:defRPr/>
            </a:pPr>
            <a:endParaRPr lang="en-US"/>
          </a:p>
        </p:txBody>
      </p:sp>
      <p:sp>
        <p:nvSpPr>
          <p:cNvPr id="7" name="Rectangle 6">
            <a:extLst>
              <a:ext uri="{FF2B5EF4-FFF2-40B4-BE49-F238E27FC236}">
                <a16:creationId xmlns:a16="http://schemas.microsoft.com/office/drawing/2014/main" id="{BBECF246-2CD9-4EFD-B3F8-DA766CBABFB9}"/>
              </a:ext>
            </a:extLst>
          </p:cNvPr>
          <p:cNvSpPr>
            <a:spLocks noGrp="1" noChangeArrowheads="1"/>
          </p:cNvSpPr>
          <p:nvPr>
            <p:ph type="sldNum" sz="quarter" idx="12"/>
          </p:nvPr>
        </p:nvSpPr>
        <p:spPr>
          <a:ln/>
        </p:spPr>
        <p:txBody>
          <a:bodyPr/>
          <a:lstStyle>
            <a:lvl1pPr>
              <a:defRPr/>
            </a:lvl1pPr>
          </a:lstStyle>
          <a:p>
            <a:pPr>
              <a:defRPr/>
            </a:pPr>
            <a:fld id="{32343884-E97C-43AC-91BE-818B2A6132AF}" type="slidenum">
              <a:rPr lang="en-US" altLang="en-US"/>
              <a:pPr>
                <a:defRPr/>
              </a:pPr>
              <a:t>‹#›</a:t>
            </a:fld>
            <a:endParaRPr lang="en-US" altLang="en-US"/>
          </a:p>
        </p:txBody>
      </p:sp>
    </p:spTree>
    <p:extLst>
      <p:ext uri="{BB962C8B-B14F-4D97-AF65-F5344CB8AC3E}">
        <p14:creationId xmlns:p14="http://schemas.microsoft.com/office/powerpoint/2010/main" val="353214901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IN"/>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Rectangle 4">
            <a:extLst>
              <a:ext uri="{FF2B5EF4-FFF2-40B4-BE49-F238E27FC236}">
                <a16:creationId xmlns:a16="http://schemas.microsoft.com/office/drawing/2014/main" id="{695DB130-3059-4B58-BDA5-BD072F56A81F}"/>
              </a:ext>
            </a:extLst>
          </p:cNvPr>
          <p:cNvSpPr>
            <a:spLocks noGrp="1" noChangeArrowheads="1"/>
          </p:cNvSpPr>
          <p:nvPr>
            <p:ph type="dt" sz="half" idx="10"/>
          </p:nvPr>
        </p:nvSpPr>
        <p:spPr>
          <a:ln/>
        </p:spPr>
        <p:txBody>
          <a:bodyPr/>
          <a:lstStyle>
            <a:lvl1pPr>
              <a:defRPr/>
            </a:lvl1pPr>
          </a:lstStyle>
          <a:p>
            <a:pPr>
              <a:defRPr/>
            </a:pPr>
            <a:endParaRPr lang="en-US"/>
          </a:p>
        </p:txBody>
      </p:sp>
      <p:sp>
        <p:nvSpPr>
          <p:cNvPr id="8" name="Rectangle 5">
            <a:extLst>
              <a:ext uri="{FF2B5EF4-FFF2-40B4-BE49-F238E27FC236}">
                <a16:creationId xmlns:a16="http://schemas.microsoft.com/office/drawing/2014/main" id="{9754EE56-C6A2-4D14-AF3C-BAE635180FF1}"/>
              </a:ext>
            </a:extLst>
          </p:cNvPr>
          <p:cNvSpPr>
            <a:spLocks noGrp="1" noChangeArrowheads="1"/>
          </p:cNvSpPr>
          <p:nvPr>
            <p:ph type="ftr" sz="quarter" idx="11"/>
          </p:nvPr>
        </p:nvSpPr>
        <p:spPr>
          <a:ln/>
        </p:spPr>
        <p:txBody>
          <a:bodyPr/>
          <a:lstStyle>
            <a:lvl1pPr>
              <a:defRPr/>
            </a:lvl1pPr>
          </a:lstStyle>
          <a:p>
            <a:pPr>
              <a:defRPr/>
            </a:pPr>
            <a:endParaRPr lang="en-US"/>
          </a:p>
        </p:txBody>
      </p:sp>
      <p:sp>
        <p:nvSpPr>
          <p:cNvPr id="9" name="Rectangle 6">
            <a:extLst>
              <a:ext uri="{FF2B5EF4-FFF2-40B4-BE49-F238E27FC236}">
                <a16:creationId xmlns:a16="http://schemas.microsoft.com/office/drawing/2014/main" id="{E24C1A1F-C41E-4454-A02E-BDE2567839B8}"/>
              </a:ext>
            </a:extLst>
          </p:cNvPr>
          <p:cNvSpPr>
            <a:spLocks noGrp="1" noChangeArrowheads="1"/>
          </p:cNvSpPr>
          <p:nvPr>
            <p:ph type="sldNum" sz="quarter" idx="12"/>
          </p:nvPr>
        </p:nvSpPr>
        <p:spPr>
          <a:ln/>
        </p:spPr>
        <p:txBody>
          <a:bodyPr/>
          <a:lstStyle>
            <a:lvl1pPr>
              <a:defRPr/>
            </a:lvl1pPr>
          </a:lstStyle>
          <a:p>
            <a:pPr>
              <a:defRPr/>
            </a:pPr>
            <a:fld id="{C052C66B-8C25-4FE5-81EA-D279F10B6BD3}" type="slidenum">
              <a:rPr lang="en-US" altLang="en-US"/>
              <a:pPr>
                <a:defRPr/>
              </a:pPr>
              <a:t>‹#›</a:t>
            </a:fld>
            <a:endParaRPr lang="en-US" altLang="en-US"/>
          </a:p>
        </p:txBody>
      </p:sp>
    </p:spTree>
    <p:extLst>
      <p:ext uri="{BB962C8B-B14F-4D97-AF65-F5344CB8AC3E}">
        <p14:creationId xmlns:p14="http://schemas.microsoft.com/office/powerpoint/2010/main" val="341113156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Rectangle 4">
            <a:extLst>
              <a:ext uri="{FF2B5EF4-FFF2-40B4-BE49-F238E27FC236}">
                <a16:creationId xmlns:a16="http://schemas.microsoft.com/office/drawing/2014/main" id="{8073D249-74BA-4FC7-9180-228CFD77E1BA}"/>
              </a:ext>
            </a:extLst>
          </p:cNvPr>
          <p:cNvSpPr>
            <a:spLocks noGrp="1" noChangeArrowheads="1"/>
          </p:cNvSpPr>
          <p:nvPr>
            <p:ph type="dt" sz="half" idx="10"/>
          </p:nvPr>
        </p:nvSpPr>
        <p:spPr>
          <a:ln/>
        </p:spPr>
        <p:txBody>
          <a:bodyPr/>
          <a:lstStyle>
            <a:lvl1pPr>
              <a:defRPr/>
            </a:lvl1pPr>
          </a:lstStyle>
          <a:p>
            <a:pPr>
              <a:defRPr/>
            </a:pPr>
            <a:endParaRPr lang="en-US"/>
          </a:p>
        </p:txBody>
      </p:sp>
      <p:sp>
        <p:nvSpPr>
          <p:cNvPr id="4" name="Rectangle 5">
            <a:extLst>
              <a:ext uri="{FF2B5EF4-FFF2-40B4-BE49-F238E27FC236}">
                <a16:creationId xmlns:a16="http://schemas.microsoft.com/office/drawing/2014/main" id="{2DD93F01-8B96-4D54-88E5-CA53B833D85F}"/>
              </a:ext>
            </a:extLst>
          </p:cNvPr>
          <p:cNvSpPr>
            <a:spLocks noGrp="1" noChangeArrowheads="1"/>
          </p:cNvSpPr>
          <p:nvPr>
            <p:ph type="ftr" sz="quarter" idx="11"/>
          </p:nvPr>
        </p:nvSpPr>
        <p:spPr>
          <a:ln/>
        </p:spPr>
        <p:txBody>
          <a:bodyPr/>
          <a:lstStyle>
            <a:lvl1pPr>
              <a:defRPr/>
            </a:lvl1pPr>
          </a:lstStyle>
          <a:p>
            <a:pPr>
              <a:defRPr/>
            </a:pPr>
            <a:endParaRPr lang="en-US"/>
          </a:p>
        </p:txBody>
      </p:sp>
      <p:sp>
        <p:nvSpPr>
          <p:cNvPr id="5" name="Rectangle 6">
            <a:extLst>
              <a:ext uri="{FF2B5EF4-FFF2-40B4-BE49-F238E27FC236}">
                <a16:creationId xmlns:a16="http://schemas.microsoft.com/office/drawing/2014/main" id="{ED2D4A28-53D6-497F-985F-B1CEC7D70C40}"/>
              </a:ext>
            </a:extLst>
          </p:cNvPr>
          <p:cNvSpPr>
            <a:spLocks noGrp="1" noChangeArrowheads="1"/>
          </p:cNvSpPr>
          <p:nvPr>
            <p:ph type="sldNum" sz="quarter" idx="12"/>
          </p:nvPr>
        </p:nvSpPr>
        <p:spPr>
          <a:ln/>
        </p:spPr>
        <p:txBody>
          <a:bodyPr/>
          <a:lstStyle>
            <a:lvl1pPr>
              <a:defRPr/>
            </a:lvl1pPr>
          </a:lstStyle>
          <a:p>
            <a:pPr>
              <a:defRPr/>
            </a:pPr>
            <a:fld id="{E9ABF0EF-67B1-4AA0-81ED-91DE03744A40}" type="slidenum">
              <a:rPr lang="en-US" altLang="en-US"/>
              <a:pPr>
                <a:defRPr/>
              </a:pPr>
              <a:t>‹#›</a:t>
            </a:fld>
            <a:endParaRPr lang="en-US" altLang="en-US"/>
          </a:p>
        </p:txBody>
      </p:sp>
    </p:spTree>
    <p:extLst>
      <p:ext uri="{BB962C8B-B14F-4D97-AF65-F5344CB8AC3E}">
        <p14:creationId xmlns:p14="http://schemas.microsoft.com/office/powerpoint/2010/main" val="283346029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4">
            <a:extLst>
              <a:ext uri="{FF2B5EF4-FFF2-40B4-BE49-F238E27FC236}">
                <a16:creationId xmlns:a16="http://schemas.microsoft.com/office/drawing/2014/main" id="{3793C45B-F71B-46A7-A2A8-FEA3D8300722}"/>
              </a:ext>
            </a:extLst>
          </p:cNvPr>
          <p:cNvSpPr>
            <a:spLocks noGrp="1" noChangeArrowheads="1"/>
          </p:cNvSpPr>
          <p:nvPr>
            <p:ph type="dt" sz="half" idx="10"/>
          </p:nvPr>
        </p:nvSpPr>
        <p:spPr>
          <a:ln/>
        </p:spPr>
        <p:txBody>
          <a:bodyPr/>
          <a:lstStyle>
            <a:lvl1pPr>
              <a:defRPr/>
            </a:lvl1pPr>
          </a:lstStyle>
          <a:p>
            <a:pPr>
              <a:defRPr/>
            </a:pPr>
            <a:endParaRPr lang="en-US"/>
          </a:p>
        </p:txBody>
      </p:sp>
      <p:sp>
        <p:nvSpPr>
          <p:cNvPr id="3" name="Rectangle 5">
            <a:extLst>
              <a:ext uri="{FF2B5EF4-FFF2-40B4-BE49-F238E27FC236}">
                <a16:creationId xmlns:a16="http://schemas.microsoft.com/office/drawing/2014/main" id="{0E0F0BA5-4205-4DA9-8FA1-D723A7B5DEB0}"/>
              </a:ext>
            </a:extLst>
          </p:cNvPr>
          <p:cNvSpPr>
            <a:spLocks noGrp="1" noChangeArrowheads="1"/>
          </p:cNvSpPr>
          <p:nvPr>
            <p:ph type="ftr" sz="quarter" idx="11"/>
          </p:nvPr>
        </p:nvSpPr>
        <p:spPr>
          <a:ln/>
        </p:spPr>
        <p:txBody>
          <a:bodyPr/>
          <a:lstStyle>
            <a:lvl1pPr>
              <a:defRPr/>
            </a:lvl1pPr>
          </a:lstStyle>
          <a:p>
            <a:pPr>
              <a:defRPr/>
            </a:pPr>
            <a:endParaRPr lang="en-US"/>
          </a:p>
        </p:txBody>
      </p:sp>
      <p:sp>
        <p:nvSpPr>
          <p:cNvPr id="4" name="Rectangle 6">
            <a:extLst>
              <a:ext uri="{FF2B5EF4-FFF2-40B4-BE49-F238E27FC236}">
                <a16:creationId xmlns:a16="http://schemas.microsoft.com/office/drawing/2014/main" id="{DAB7F91C-3F88-4469-8440-DA0A8B7F5768}"/>
              </a:ext>
            </a:extLst>
          </p:cNvPr>
          <p:cNvSpPr>
            <a:spLocks noGrp="1" noChangeArrowheads="1"/>
          </p:cNvSpPr>
          <p:nvPr>
            <p:ph type="sldNum" sz="quarter" idx="12"/>
          </p:nvPr>
        </p:nvSpPr>
        <p:spPr>
          <a:ln/>
        </p:spPr>
        <p:txBody>
          <a:bodyPr/>
          <a:lstStyle>
            <a:lvl1pPr>
              <a:defRPr/>
            </a:lvl1pPr>
          </a:lstStyle>
          <a:p>
            <a:pPr>
              <a:defRPr/>
            </a:pPr>
            <a:fld id="{C139F030-B1DE-440E-85E3-A637DEB7A7C7}" type="slidenum">
              <a:rPr lang="en-US" altLang="en-US"/>
              <a:pPr>
                <a:defRPr/>
              </a:pPr>
              <a:t>‹#›</a:t>
            </a:fld>
            <a:endParaRPr lang="en-US" altLang="en-US"/>
          </a:p>
        </p:txBody>
      </p:sp>
    </p:spTree>
    <p:extLst>
      <p:ext uri="{BB962C8B-B14F-4D97-AF65-F5344CB8AC3E}">
        <p14:creationId xmlns:p14="http://schemas.microsoft.com/office/powerpoint/2010/main" val="104888697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endParaRPr lang="en-IN"/>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4">
            <a:extLst>
              <a:ext uri="{FF2B5EF4-FFF2-40B4-BE49-F238E27FC236}">
                <a16:creationId xmlns:a16="http://schemas.microsoft.com/office/drawing/2014/main" id="{61462272-BBA7-43EA-9594-79B56445FE80}"/>
              </a:ext>
            </a:extLst>
          </p:cNvPr>
          <p:cNvSpPr>
            <a:spLocks noGrp="1" noChangeArrowheads="1"/>
          </p:cNvSpPr>
          <p:nvPr>
            <p:ph type="dt" sz="half" idx="10"/>
          </p:nvPr>
        </p:nvSpPr>
        <p:spPr>
          <a:ln/>
        </p:spPr>
        <p:txBody>
          <a:bodyPr/>
          <a:lstStyle>
            <a:lvl1pPr>
              <a:defRPr/>
            </a:lvl1pPr>
          </a:lstStyle>
          <a:p>
            <a:pPr>
              <a:defRPr/>
            </a:pPr>
            <a:endParaRPr lang="en-US"/>
          </a:p>
        </p:txBody>
      </p:sp>
      <p:sp>
        <p:nvSpPr>
          <p:cNvPr id="6" name="Rectangle 5">
            <a:extLst>
              <a:ext uri="{FF2B5EF4-FFF2-40B4-BE49-F238E27FC236}">
                <a16:creationId xmlns:a16="http://schemas.microsoft.com/office/drawing/2014/main" id="{F519C3EE-B0C4-43D8-8138-EBD6BB89F08D}"/>
              </a:ext>
            </a:extLst>
          </p:cNvPr>
          <p:cNvSpPr>
            <a:spLocks noGrp="1" noChangeArrowheads="1"/>
          </p:cNvSpPr>
          <p:nvPr>
            <p:ph type="ftr" sz="quarter" idx="11"/>
          </p:nvPr>
        </p:nvSpPr>
        <p:spPr>
          <a:ln/>
        </p:spPr>
        <p:txBody>
          <a:bodyPr/>
          <a:lstStyle>
            <a:lvl1pPr>
              <a:defRPr/>
            </a:lvl1pPr>
          </a:lstStyle>
          <a:p>
            <a:pPr>
              <a:defRPr/>
            </a:pPr>
            <a:endParaRPr lang="en-US"/>
          </a:p>
        </p:txBody>
      </p:sp>
      <p:sp>
        <p:nvSpPr>
          <p:cNvPr id="7" name="Rectangle 6">
            <a:extLst>
              <a:ext uri="{FF2B5EF4-FFF2-40B4-BE49-F238E27FC236}">
                <a16:creationId xmlns:a16="http://schemas.microsoft.com/office/drawing/2014/main" id="{938D149F-91B7-4D2A-80E9-143AB91277E6}"/>
              </a:ext>
            </a:extLst>
          </p:cNvPr>
          <p:cNvSpPr>
            <a:spLocks noGrp="1" noChangeArrowheads="1"/>
          </p:cNvSpPr>
          <p:nvPr>
            <p:ph type="sldNum" sz="quarter" idx="12"/>
          </p:nvPr>
        </p:nvSpPr>
        <p:spPr>
          <a:ln/>
        </p:spPr>
        <p:txBody>
          <a:bodyPr/>
          <a:lstStyle>
            <a:lvl1pPr>
              <a:defRPr/>
            </a:lvl1pPr>
          </a:lstStyle>
          <a:p>
            <a:pPr>
              <a:defRPr/>
            </a:pPr>
            <a:fld id="{06B7294A-24AF-420B-8505-410263194C68}" type="slidenum">
              <a:rPr lang="en-US" altLang="en-US"/>
              <a:pPr>
                <a:defRPr/>
              </a:pPr>
              <a:t>‹#›</a:t>
            </a:fld>
            <a:endParaRPr lang="en-US" altLang="en-US"/>
          </a:p>
        </p:txBody>
      </p:sp>
    </p:spTree>
    <p:extLst>
      <p:ext uri="{BB962C8B-B14F-4D97-AF65-F5344CB8AC3E}">
        <p14:creationId xmlns:p14="http://schemas.microsoft.com/office/powerpoint/2010/main" val="330629837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endParaRPr lang="en-IN"/>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IN" noProof="0"/>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4">
            <a:extLst>
              <a:ext uri="{FF2B5EF4-FFF2-40B4-BE49-F238E27FC236}">
                <a16:creationId xmlns:a16="http://schemas.microsoft.com/office/drawing/2014/main" id="{BB011047-FFB1-4281-8AA7-C67D7FC1720E}"/>
              </a:ext>
            </a:extLst>
          </p:cNvPr>
          <p:cNvSpPr>
            <a:spLocks noGrp="1" noChangeArrowheads="1"/>
          </p:cNvSpPr>
          <p:nvPr>
            <p:ph type="dt" sz="half" idx="10"/>
          </p:nvPr>
        </p:nvSpPr>
        <p:spPr>
          <a:ln/>
        </p:spPr>
        <p:txBody>
          <a:bodyPr/>
          <a:lstStyle>
            <a:lvl1pPr>
              <a:defRPr/>
            </a:lvl1pPr>
          </a:lstStyle>
          <a:p>
            <a:pPr>
              <a:defRPr/>
            </a:pPr>
            <a:endParaRPr lang="en-US"/>
          </a:p>
        </p:txBody>
      </p:sp>
      <p:sp>
        <p:nvSpPr>
          <p:cNvPr id="6" name="Rectangle 5">
            <a:extLst>
              <a:ext uri="{FF2B5EF4-FFF2-40B4-BE49-F238E27FC236}">
                <a16:creationId xmlns:a16="http://schemas.microsoft.com/office/drawing/2014/main" id="{0BA64777-0A6E-44A1-9A52-089347C95544}"/>
              </a:ext>
            </a:extLst>
          </p:cNvPr>
          <p:cNvSpPr>
            <a:spLocks noGrp="1" noChangeArrowheads="1"/>
          </p:cNvSpPr>
          <p:nvPr>
            <p:ph type="ftr" sz="quarter" idx="11"/>
          </p:nvPr>
        </p:nvSpPr>
        <p:spPr>
          <a:ln/>
        </p:spPr>
        <p:txBody>
          <a:bodyPr/>
          <a:lstStyle>
            <a:lvl1pPr>
              <a:defRPr/>
            </a:lvl1pPr>
          </a:lstStyle>
          <a:p>
            <a:pPr>
              <a:defRPr/>
            </a:pPr>
            <a:endParaRPr lang="en-US"/>
          </a:p>
        </p:txBody>
      </p:sp>
      <p:sp>
        <p:nvSpPr>
          <p:cNvPr id="7" name="Rectangle 6">
            <a:extLst>
              <a:ext uri="{FF2B5EF4-FFF2-40B4-BE49-F238E27FC236}">
                <a16:creationId xmlns:a16="http://schemas.microsoft.com/office/drawing/2014/main" id="{8D066FD0-7FB1-4473-9F5A-052CDF76D2C7}"/>
              </a:ext>
            </a:extLst>
          </p:cNvPr>
          <p:cNvSpPr>
            <a:spLocks noGrp="1" noChangeArrowheads="1"/>
          </p:cNvSpPr>
          <p:nvPr>
            <p:ph type="sldNum" sz="quarter" idx="12"/>
          </p:nvPr>
        </p:nvSpPr>
        <p:spPr>
          <a:ln/>
        </p:spPr>
        <p:txBody>
          <a:bodyPr/>
          <a:lstStyle>
            <a:lvl1pPr>
              <a:defRPr/>
            </a:lvl1pPr>
          </a:lstStyle>
          <a:p>
            <a:pPr>
              <a:defRPr/>
            </a:pPr>
            <a:fld id="{464B33AA-D7D6-4AF9-8507-39A6605B27C6}" type="slidenum">
              <a:rPr lang="en-US" altLang="en-US"/>
              <a:pPr>
                <a:defRPr/>
              </a:pPr>
              <a:t>‹#›</a:t>
            </a:fld>
            <a:endParaRPr lang="en-US" altLang="en-US"/>
          </a:p>
        </p:txBody>
      </p:sp>
    </p:spTree>
    <p:extLst>
      <p:ext uri="{BB962C8B-B14F-4D97-AF65-F5344CB8AC3E}">
        <p14:creationId xmlns:p14="http://schemas.microsoft.com/office/powerpoint/2010/main" val="317251002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Rectangle 4">
            <a:extLst>
              <a:ext uri="{FF2B5EF4-FFF2-40B4-BE49-F238E27FC236}">
                <a16:creationId xmlns:a16="http://schemas.microsoft.com/office/drawing/2014/main" id="{D3E3C6A4-4B1A-4C68-BC9E-108062B1B49E}"/>
              </a:ext>
            </a:extLst>
          </p:cNvPr>
          <p:cNvSpPr>
            <a:spLocks noGrp="1" noChangeArrowheads="1"/>
          </p:cNvSpPr>
          <p:nvPr>
            <p:ph type="dt" sz="half" idx="10"/>
          </p:nvPr>
        </p:nvSpPr>
        <p:spPr>
          <a:ln/>
        </p:spPr>
        <p:txBody>
          <a:bodyPr/>
          <a:lstStyle>
            <a:lvl1pPr>
              <a:defRPr/>
            </a:lvl1pPr>
          </a:lstStyle>
          <a:p>
            <a:pPr>
              <a:defRPr/>
            </a:pPr>
            <a:endParaRPr lang="en-US"/>
          </a:p>
        </p:txBody>
      </p:sp>
      <p:sp>
        <p:nvSpPr>
          <p:cNvPr id="5" name="Rectangle 5">
            <a:extLst>
              <a:ext uri="{FF2B5EF4-FFF2-40B4-BE49-F238E27FC236}">
                <a16:creationId xmlns:a16="http://schemas.microsoft.com/office/drawing/2014/main" id="{9C1AA137-5DE1-4D94-A5C4-663255771BE2}"/>
              </a:ext>
            </a:extLst>
          </p:cNvPr>
          <p:cNvSpPr>
            <a:spLocks noGrp="1" noChangeArrowheads="1"/>
          </p:cNvSpPr>
          <p:nvPr>
            <p:ph type="ftr" sz="quarter" idx="11"/>
          </p:nvPr>
        </p:nvSpPr>
        <p:spPr>
          <a:ln/>
        </p:spPr>
        <p:txBody>
          <a:bodyPr/>
          <a:lstStyle>
            <a:lvl1pPr>
              <a:defRPr/>
            </a:lvl1pPr>
          </a:lstStyle>
          <a:p>
            <a:pPr>
              <a:defRPr/>
            </a:pPr>
            <a:endParaRPr lang="en-US"/>
          </a:p>
        </p:txBody>
      </p:sp>
      <p:sp>
        <p:nvSpPr>
          <p:cNvPr id="6" name="Rectangle 6">
            <a:extLst>
              <a:ext uri="{FF2B5EF4-FFF2-40B4-BE49-F238E27FC236}">
                <a16:creationId xmlns:a16="http://schemas.microsoft.com/office/drawing/2014/main" id="{2A788E28-AD11-4AD1-9E0C-EB1CB0AB2E0E}"/>
              </a:ext>
            </a:extLst>
          </p:cNvPr>
          <p:cNvSpPr>
            <a:spLocks noGrp="1" noChangeArrowheads="1"/>
          </p:cNvSpPr>
          <p:nvPr>
            <p:ph type="sldNum" sz="quarter" idx="12"/>
          </p:nvPr>
        </p:nvSpPr>
        <p:spPr>
          <a:ln/>
        </p:spPr>
        <p:txBody>
          <a:bodyPr/>
          <a:lstStyle>
            <a:lvl1pPr>
              <a:defRPr/>
            </a:lvl1pPr>
          </a:lstStyle>
          <a:p>
            <a:pPr>
              <a:defRPr/>
            </a:pPr>
            <a:fld id="{5707F969-126B-4625-93B3-22279DA28B61}" type="slidenum">
              <a:rPr lang="en-US" altLang="en-US"/>
              <a:pPr>
                <a:defRPr/>
              </a:pPr>
              <a:t>‹#›</a:t>
            </a:fld>
            <a:endParaRPr lang="en-US" altLang="en-US"/>
          </a:p>
        </p:txBody>
      </p:sp>
    </p:spTree>
    <p:extLst>
      <p:ext uri="{BB962C8B-B14F-4D97-AF65-F5344CB8AC3E}">
        <p14:creationId xmlns:p14="http://schemas.microsoft.com/office/powerpoint/2010/main" val="37835565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endParaRPr lang="en-IN"/>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Rectangle 4">
            <a:extLst>
              <a:ext uri="{FF2B5EF4-FFF2-40B4-BE49-F238E27FC236}">
                <a16:creationId xmlns:a16="http://schemas.microsoft.com/office/drawing/2014/main" id="{E9EFAED9-FCC2-4312-9DB9-099CCCC9F0CB}"/>
              </a:ext>
            </a:extLst>
          </p:cNvPr>
          <p:cNvSpPr>
            <a:spLocks noGrp="1" noChangeArrowheads="1"/>
          </p:cNvSpPr>
          <p:nvPr>
            <p:ph type="dt" sz="half" idx="10"/>
          </p:nvPr>
        </p:nvSpPr>
        <p:spPr>
          <a:ln/>
        </p:spPr>
        <p:txBody>
          <a:bodyPr/>
          <a:lstStyle>
            <a:lvl1pPr>
              <a:defRPr/>
            </a:lvl1pPr>
          </a:lstStyle>
          <a:p>
            <a:pPr>
              <a:defRPr/>
            </a:pPr>
            <a:endParaRPr lang="en-US"/>
          </a:p>
        </p:txBody>
      </p:sp>
      <p:sp>
        <p:nvSpPr>
          <p:cNvPr id="5" name="Rectangle 5">
            <a:extLst>
              <a:ext uri="{FF2B5EF4-FFF2-40B4-BE49-F238E27FC236}">
                <a16:creationId xmlns:a16="http://schemas.microsoft.com/office/drawing/2014/main" id="{DF9ABCCB-6606-4ED6-BC8F-C27228E26092}"/>
              </a:ext>
            </a:extLst>
          </p:cNvPr>
          <p:cNvSpPr>
            <a:spLocks noGrp="1" noChangeArrowheads="1"/>
          </p:cNvSpPr>
          <p:nvPr>
            <p:ph type="ftr" sz="quarter" idx="11"/>
          </p:nvPr>
        </p:nvSpPr>
        <p:spPr>
          <a:ln/>
        </p:spPr>
        <p:txBody>
          <a:bodyPr/>
          <a:lstStyle>
            <a:lvl1pPr>
              <a:defRPr/>
            </a:lvl1pPr>
          </a:lstStyle>
          <a:p>
            <a:pPr>
              <a:defRPr/>
            </a:pPr>
            <a:endParaRPr lang="en-US"/>
          </a:p>
        </p:txBody>
      </p:sp>
      <p:sp>
        <p:nvSpPr>
          <p:cNvPr id="6" name="Rectangle 6">
            <a:extLst>
              <a:ext uri="{FF2B5EF4-FFF2-40B4-BE49-F238E27FC236}">
                <a16:creationId xmlns:a16="http://schemas.microsoft.com/office/drawing/2014/main" id="{EB9E9A27-7F1E-4BB5-A7E3-48D09E2086F5}"/>
              </a:ext>
            </a:extLst>
          </p:cNvPr>
          <p:cNvSpPr>
            <a:spLocks noGrp="1" noChangeArrowheads="1"/>
          </p:cNvSpPr>
          <p:nvPr>
            <p:ph type="sldNum" sz="quarter" idx="12"/>
          </p:nvPr>
        </p:nvSpPr>
        <p:spPr>
          <a:ln/>
        </p:spPr>
        <p:txBody>
          <a:bodyPr/>
          <a:lstStyle>
            <a:lvl1pPr>
              <a:defRPr/>
            </a:lvl1pPr>
          </a:lstStyle>
          <a:p>
            <a:pPr>
              <a:defRPr/>
            </a:pPr>
            <a:fld id="{4BCD6217-5208-4DAE-8F2B-4AF241D0CED9}" type="slidenum">
              <a:rPr lang="en-US" altLang="en-US"/>
              <a:pPr>
                <a:defRPr/>
              </a:pPr>
              <a:t>‹#›</a:t>
            </a:fld>
            <a:endParaRPr lang="en-US" altLang="en-US"/>
          </a:p>
        </p:txBody>
      </p:sp>
    </p:spTree>
    <p:extLst>
      <p:ext uri="{BB962C8B-B14F-4D97-AF65-F5344CB8AC3E}">
        <p14:creationId xmlns:p14="http://schemas.microsoft.com/office/powerpoint/2010/main" val="145088830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AndObj" preserve="1">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p:spPr>
        <p:txBody>
          <a:bodyPr/>
          <a:lstStyle/>
          <a:p>
            <a:r>
              <a:rPr lang="en-US"/>
              <a:t>Click to edit Master title style</a:t>
            </a:r>
            <a:endParaRPr lang="en-IN"/>
          </a:p>
        </p:txBody>
      </p:sp>
      <p:sp>
        <p:nvSpPr>
          <p:cNvPr id="3" name="Text Placeholder 2"/>
          <p:cNvSpPr>
            <a:spLocks noGrp="1"/>
          </p:cNvSpPr>
          <p:nvPr>
            <p:ph type="body" sz="half" idx="1"/>
          </p:nvPr>
        </p:nvSpPr>
        <p:spPr>
          <a:xfrm>
            <a:off x="457200" y="1600200"/>
            <a:ext cx="4038600" cy="45259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p:cNvSpPr>
            <a:spLocks noGrp="1"/>
          </p:cNvSpPr>
          <p:nvPr>
            <p:ph sz="half" idx="2"/>
          </p:nvPr>
        </p:nvSpPr>
        <p:spPr>
          <a:xfrm>
            <a:off x="4648200" y="1600200"/>
            <a:ext cx="4038600" cy="45259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Rectangle 4">
            <a:extLst>
              <a:ext uri="{FF2B5EF4-FFF2-40B4-BE49-F238E27FC236}">
                <a16:creationId xmlns:a16="http://schemas.microsoft.com/office/drawing/2014/main" id="{2B860734-F86E-485B-BE6F-D403DEB8552F}"/>
              </a:ext>
            </a:extLst>
          </p:cNvPr>
          <p:cNvSpPr>
            <a:spLocks noGrp="1" noChangeArrowheads="1"/>
          </p:cNvSpPr>
          <p:nvPr>
            <p:ph type="dt" sz="half" idx="10"/>
          </p:nvPr>
        </p:nvSpPr>
        <p:spPr>
          <a:ln/>
        </p:spPr>
        <p:txBody>
          <a:bodyPr/>
          <a:lstStyle>
            <a:lvl1pPr>
              <a:defRPr/>
            </a:lvl1pPr>
          </a:lstStyle>
          <a:p>
            <a:pPr>
              <a:defRPr/>
            </a:pPr>
            <a:endParaRPr lang="en-US"/>
          </a:p>
        </p:txBody>
      </p:sp>
      <p:sp>
        <p:nvSpPr>
          <p:cNvPr id="6" name="Rectangle 5">
            <a:extLst>
              <a:ext uri="{FF2B5EF4-FFF2-40B4-BE49-F238E27FC236}">
                <a16:creationId xmlns:a16="http://schemas.microsoft.com/office/drawing/2014/main" id="{9962688C-8C09-49D2-A3CF-4C4EFFBA9D90}"/>
              </a:ext>
            </a:extLst>
          </p:cNvPr>
          <p:cNvSpPr>
            <a:spLocks noGrp="1" noChangeArrowheads="1"/>
          </p:cNvSpPr>
          <p:nvPr>
            <p:ph type="ftr" sz="quarter" idx="11"/>
          </p:nvPr>
        </p:nvSpPr>
        <p:spPr>
          <a:ln/>
        </p:spPr>
        <p:txBody>
          <a:bodyPr/>
          <a:lstStyle>
            <a:lvl1pPr>
              <a:defRPr/>
            </a:lvl1pPr>
          </a:lstStyle>
          <a:p>
            <a:pPr>
              <a:defRPr/>
            </a:pPr>
            <a:endParaRPr lang="en-US"/>
          </a:p>
        </p:txBody>
      </p:sp>
      <p:sp>
        <p:nvSpPr>
          <p:cNvPr id="7" name="Rectangle 6">
            <a:extLst>
              <a:ext uri="{FF2B5EF4-FFF2-40B4-BE49-F238E27FC236}">
                <a16:creationId xmlns:a16="http://schemas.microsoft.com/office/drawing/2014/main" id="{A1977806-7D51-41C3-94F1-95ECDE1BC91E}"/>
              </a:ext>
            </a:extLst>
          </p:cNvPr>
          <p:cNvSpPr>
            <a:spLocks noGrp="1" noChangeArrowheads="1"/>
          </p:cNvSpPr>
          <p:nvPr>
            <p:ph type="sldNum" sz="quarter" idx="12"/>
          </p:nvPr>
        </p:nvSpPr>
        <p:spPr>
          <a:ln/>
        </p:spPr>
        <p:txBody>
          <a:bodyPr/>
          <a:lstStyle>
            <a:lvl1pPr>
              <a:defRPr/>
            </a:lvl1pPr>
          </a:lstStyle>
          <a:p>
            <a:pPr>
              <a:defRPr/>
            </a:pPr>
            <a:fld id="{F9EAD34F-7ECA-488C-A8FC-C0C1447E8996}" type="slidenum">
              <a:rPr lang="en-US" altLang="en-US"/>
              <a:pPr>
                <a:defRPr/>
              </a:pPr>
              <a:t>‹#›</a:t>
            </a:fld>
            <a:endParaRPr lang="en-US" altLang="en-US"/>
          </a:p>
        </p:txBody>
      </p:sp>
    </p:spTree>
    <p:extLst>
      <p:ext uri="{BB962C8B-B14F-4D97-AF65-F5344CB8AC3E}">
        <p14:creationId xmlns:p14="http://schemas.microsoft.com/office/powerpoint/2010/main" val="394847024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xAndClipArt" preserve="1">
  <p:cSld name="Title, Text and Clip Art">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p:spPr>
        <p:txBody>
          <a:bodyPr/>
          <a:lstStyle/>
          <a:p>
            <a:r>
              <a:rPr lang="en-US"/>
              <a:t>Click to edit Master title style</a:t>
            </a:r>
            <a:endParaRPr lang="en-IN"/>
          </a:p>
        </p:txBody>
      </p:sp>
      <p:sp>
        <p:nvSpPr>
          <p:cNvPr id="3" name="Text Placeholder 2"/>
          <p:cNvSpPr>
            <a:spLocks noGrp="1"/>
          </p:cNvSpPr>
          <p:nvPr>
            <p:ph type="body" sz="half" idx="1"/>
          </p:nvPr>
        </p:nvSpPr>
        <p:spPr>
          <a:xfrm>
            <a:off x="457200" y="1600200"/>
            <a:ext cx="4038600" cy="45259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lipArt Placeholder 3"/>
          <p:cNvSpPr>
            <a:spLocks noGrp="1"/>
          </p:cNvSpPr>
          <p:nvPr>
            <p:ph type="clipArt" sz="half" idx="2"/>
          </p:nvPr>
        </p:nvSpPr>
        <p:spPr>
          <a:xfrm>
            <a:off x="4648200" y="1600200"/>
            <a:ext cx="4038600" cy="4525963"/>
          </a:xfrm>
        </p:spPr>
        <p:txBody>
          <a:bodyPr/>
          <a:lstStyle/>
          <a:p>
            <a:pPr lvl="0"/>
            <a:endParaRPr lang="en-IN" noProof="0"/>
          </a:p>
        </p:txBody>
      </p:sp>
      <p:sp>
        <p:nvSpPr>
          <p:cNvPr id="5" name="Rectangle 4">
            <a:extLst>
              <a:ext uri="{FF2B5EF4-FFF2-40B4-BE49-F238E27FC236}">
                <a16:creationId xmlns:a16="http://schemas.microsoft.com/office/drawing/2014/main" id="{476E3B21-9DDA-4FAF-8452-B0EFA960C312}"/>
              </a:ext>
            </a:extLst>
          </p:cNvPr>
          <p:cNvSpPr>
            <a:spLocks noGrp="1" noChangeArrowheads="1"/>
          </p:cNvSpPr>
          <p:nvPr>
            <p:ph type="dt" sz="half" idx="10"/>
          </p:nvPr>
        </p:nvSpPr>
        <p:spPr>
          <a:ln/>
        </p:spPr>
        <p:txBody>
          <a:bodyPr/>
          <a:lstStyle>
            <a:lvl1pPr>
              <a:defRPr/>
            </a:lvl1pPr>
          </a:lstStyle>
          <a:p>
            <a:pPr>
              <a:defRPr/>
            </a:pPr>
            <a:endParaRPr lang="en-US"/>
          </a:p>
        </p:txBody>
      </p:sp>
      <p:sp>
        <p:nvSpPr>
          <p:cNvPr id="6" name="Rectangle 5">
            <a:extLst>
              <a:ext uri="{FF2B5EF4-FFF2-40B4-BE49-F238E27FC236}">
                <a16:creationId xmlns:a16="http://schemas.microsoft.com/office/drawing/2014/main" id="{6FFC52A2-EE11-4000-BC5D-3C1345468226}"/>
              </a:ext>
            </a:extLst>
          </p:cNvPr>
          <p:cNvSpPr>
            <a:spLocks noGrp="1" noChangeArrowheads="1"/>
          </p:cNvSpPr>
          <p:nvPr>
            <p:ph type="ftr" sz="quarter" idx="11"/>
          </p:nvPr>
        </p:nvSpPr>
        <p:spPr>
          <a:ln/>
        </p:spPr>
        <p:txBody>
          <a:bodyPr/>
          <a:lstStyle>
            <a:lvl1pPr>
              <a:defRPr/>
            </a:lvl1pPr>
          </a:lstStyle>
          <a:p>
            <a:pPr>
              <a:defRPr/>
            </a:pPr>
            <a:endParaRPr lang="en-US"/>
          </a:p>
        </p:txBody>
      </p:sp>
      <p:sp>
        <p:nvSpPr>
          <p:cNvPr id="7" name="Rectangle 6">
            <a:extLst>
              <a:ext uri="{FF2B5EF4-FFF2-40B4-BE49-F238E27FC236}">
                <a16:creationId xmlns:a16="http://schemas.microsoft.com/office/drawing/2014/main" id="{C9ABEACE-6FB7-4B99-9A67-9CEBD7FFC91C}"/>
              </a:ext>
            </a:extLst>
          </p:cNvPr>
          <p:cNvSpPr>
            <a:spLocks noGrp="1" noChangeArrowheads="1"/>
          </p:cNvSpPr>
          <p:nvPr>
            <p:ph type="sldNum" sz="quarter" idx="12"/>
          </p:nvPr>
        </p:nvSpPr>
        <p:spPr>
          <a:ln/>
        </p:spPr>
        <p:txBody>
          <a:bodyPr/>
          <a:lstStyle>
            <a:lvl1pPr>
              <a:defRPr/>
            </a:lvl1pPr>
          </a:lstStyle>
          <a:p>
            <a:pPr>
              <a:defRPr/>
            </a:pPr>
            <a:fld id="{652F27C2-0E5F-4AAB-8874-A93956E577BC}" type="slidenum">
              <a:rPr lang="en-US" altLang="en-US"/>
              <a:pPr>
                <a:defRPr/>
              </a:pPr>
              <a:t>‹#›</a:t>
            </a:fld>
            <a:endParaRPr lang="en-US" altLang="en-US"/>
          </a:p>
        </p:txBody>
      </p:sp>
    </p:spTree>
    <p:extLst>
      <p:ext uri="{BB962C8B-B14F-4D97-AF65-F5344CB8AC3E}">
        <p14:creationId xmlns:p14="http://schemas.microsoft.com/office/powerpoint/2010/main" val="23183003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x">
  <p:cSld name="1_Title Slide">
    <p:spTree>
      <p:nvGrpSpPr>
        <p:cNvPr id="1" name=""/>
        <p:cNvGrpSpPr/>
        <p:nvPr/>
      </p:nvGrpSpPr>
      <p:grpSpPr>
        <a:xfrm>
          <a:off x="0" y="0"/>
          <a:ext cx="0" cy="0"/>
          <a:chOff x="0" y="0"/>
          <a:chExt cx="0" cy="0"/>
        </a:xfrm>
      </p:grpSpPr>
      <p:sp>
        <p:nvSpPr>
          <p:cNvPr id="2" name="PlaceHolder 1"/>
          <p:cNvSpPr>
            <a:spLocks noGrp="1"/>
          </p:cNvSpPr>
          <p:nvPr>
            <p:ph type="title"/>
          </p:nvPr>
        </p:nvSpPr>
        <p:spPr>
          <a:xfrm>
            <a:off x="457200" y="273600"/>
            <a:ext cx="8229240" cy="1144800"/>
          </a:xfrm>
          <a:prstGeom prst="rect">
            <a:avLst/>
          </a:prstGeom>
        </p:spPr>
        <p:txBody>
          <a:bodyPr lIns="0" tIns="0" rIns="0" bIns="0" anchor="ctr"/>
          <a:lstStyle/>
          <a:p>
            <a:pPr algn="ctr"/>
            <a:endParaRPr lang="en-US" sz="4400" b="0" strike="noStrike" spc="-1">
              <a:latin typeface="Arial"/>
            </a:endParaRPr>
          </a:p>
        </p:txBody>
      </p:sp>
      <p:sp>
        <p:nvSpPr>
          <p:cNvPr id="3" name="PlaceHolder 2"/>
          <p:cNvSpPr>
            <a:spLocks noGrp="1"/>
          </p:cNvSpPr>
          <p:nvPr>
            <p:ph type="subTitle"/>
          </p:nvPr>
        </p:nvSpPr>
        <p:spPr>
          <a:xfrm>
            <a:off x="457200" y="1604520"/>
            <a:ext cx="8229240" cy="3977280"/>
          </a:xfrm>
          <a:prstGeom prst="rect">
            <a:avLst/>
          </a:prstGeom>
        </p:spPr>
        <p:txBody>
          <a:bodyPr lIns="0" tIns="0" rIns="0" bIns="0" anchor="ctr"/>
          <a:lstStyle/>
          <a:p>
            <a:pPr algn="ctr"/>
            <a:endParaRPr lang="en-US" sz="3200" b="0" strike="noStrike" spc="-1">
              <a:latin typeface="Arial"/>
            </a:endParaRPr>
          </a:p>
        </p:txBody>
      </p:sp>
    </p:spTree>
    <p:extLst>
      <p:ext uri="{BB962C8B-B14F-4D97-AF65-F5344CB8AC3E}">
        <p14:creationId xmlns:p14="http://schemas.microsoft.com/office/powerpoint/2010/main" val="263289296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a:extLst>
              <a:ext uri="{FF2B5EF4-FFF2-40B4-BE49-F238E27FC236}">
                <a16:creationId xmlns:a16="http://schemas.microsoft.com/office/drawing/2014/main" id="{8E5B2030-82C9-44DC-877E-5851501067E2}"/>
              </a:ext>
            </a:extLst>
          </p:cNvPr>
          <p:cNvSpPr>
            <a:spLocks noGrp="1" noChangeArrowheads="1"/>
          </p:cNvSpPr>
          <p:nvPr>
            <p:ph type="title"/>
          </p:nvPr>
        </p:nvSpPr>
        <p:spPr bwMode="auto">
          <a:xfrm>
            <a:off x="457200" y="274638"/>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en-US" altLang="en-US"/>
              <a:t>Click to edit Master title style</a:t>
            </a:r>
          </a:p>
        </p:txBody>
      </p:sp>
      <p:sp>
        <p:nvSpPr>
          <p:cNvPr id="1027" name="Rectangle 3">
            <a:extLst>
              <a:ext uri="{FF2B5EF4-FFF2-40B4-BE49-F238E27FC236}">
                <a16:creationId xmlns:a16="http://schemas.microsoft.com/office/drawing/2014/main" id="{69A63B46-2CC7-4C4C-B290-7BAAA1F63AC2}"/>
              </a:ext>
            </a:extLst>
          </p:cNvPr>
          <p:cNvSpPr>
            <a:spLocks noGrp="1" noChangeArrowheads="1"/>
          </p:cNvSpPr>
          <p:nvPr>
            <p:ph type="body" idx="1"/>
          </p:nvPr>
        </p:nvSpPr>
        <p:spPr bwMode="auto">
          <a:xfrm>
            <a:off x="457200" y="1600200"/>
            <a:ext cx="8229600" cy="4525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en-US"/>
              <a:t>Click to edit Master text styles</a:t>
            </a:r>
          </a:p>
          <a:p>
            <a:pPr lvl="1"/>
            <a:r>
              <a:rPr lang="en-US" altLang="en-US"/>
              <a:t>Second level</a:t>
            </a:r>
          </a:p>
          <a:p>
            <a:pPr lvl="2"/>
            <a:r>
              <a:rPr lang="en-US" altLang="en-US"/>
              <a:t>Third level</a:t>
            </a:r>
          </a:p>
          <a:p>
            <a:pPr lvl="3"/>
            <a:r>
              <a:rPr lang="en-US" altLang="en-US"/>
              <a:t>Fourth level</a:t>
            </a:r>
          </a:p>
          <a:p>
            <a:pPr lvl="4"/>
            <a:r>
              <a:rPr lang="en-US" altLang="en-US"/>
              <a:t>Fifth level</a:t>
            </a:r>
          </a:p>
        </p:txBody>
      </p:sp>
      <p:sp>
        <p:nvSpPr>
          <p:cNvPr id="1028" name="Rectangle 4">
            <a:extLst>
              <a:ext uri="{FF2B5EF4-FFF2-40B4-BE49-F238E27FC236}">
                <a16:creationId xmlns:a16="http://schemas.microsoft.com/office/drawing/2014/main" id="{1FAE760F-22F1-45C9-8239-30305B70D9B2}"/>
              </a:ext>
            </a:extLst>
          </p:cNvPr>
          <p:cNvSpPr>
            <a:spLocks noGrp="1" noChangeArrowheads="1"/>
          </p:cNvSpPr>
          <p:nvPr>
            <p:ph type="dt" sz="half" idx="2"/>
          </p:nvPr>
        </p:nvSpPr>
        <p:spPr bwMode="auto">
          <a:xfrm>
            <a:off x="457200" y="6245225"/>
            <a:ext cx="2133600" cy="47625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eaLnBrk="1" hangingPunct="1">
              <a:defRPr sz="1400">
                <a:latin typeface="Arial" pitchFamily="34" charset="0"/>
              </a:defRPr>
            </a:lvl1pPr>
          </a:lstStyle>
          <a:p>
            <a:pPr>
              <a:defRPr/>
            </a:pPr>
            <a:endParaRPr lang="en-US"/>
          </a:p>
        </p:txBody>
      </p:sp>
      <p:sp>
        <p:nvSpPr>
          <p:cNvPr id="1029" name="Rectangle 5">
            <a:extLst>
              <a:ext uri="{FF2B5EF4-FFF2-40B4-BE49-F238E27FC236}">
                <a16:creationId xmlns:a16="http://schemas.microsoft.com/office/drawing/2014/main" id="{1D35B8D3-8F19-4A2C-AD58-BE3E89625A4E}"/>
              </a:ext>
            </a:extLst>
          </p:cNvPr>
          <p:cNvSpPr>
            <a:spLocks noGrp="1" noChangeArrowheads="1"/>
          </p:cNvSpPr>
          <p:nvPr>
            <p:ph type="ftr" sz="quarter" idx="3"/>
          </p:nvPr>
        </p:nvSpPr>
        <p:spPr bwMode="auto">
          <a:xfrm>
            <a:off x="3124200" y="6245225"/>
            <a:ext cx="2895600" cy="47625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ctr" eaLnBrk="1" hangingPunct="1">
              <a:defRPr sz="1400">
                <a:latin typeface="Arial" pitchFamily="34" charset="0"/>
              </a:defRPr>
            </a:lvl1pPr>
          </a:lstStyle>
          <a:p>
            <a:pPr>
              <a:defRPr/>
            </a:pPr>
            <a:endParaRPr lang="en-US"/>
          </a:p>
        </p:txBody>
      </p:sp>
      <p:sp>
        <p:nvSpPr>
          <p:cNvPr id="1030" name="Rectangle 6">
            <a:extLst>
              <a:ext uri="{FF2B5EF4-FFF2-40B4-BE49-F238E27FC236}">
                <a16:creationId xmlns:a16="http://schemas.microsoft.com/office/drawing/2014/main" id="{068A7449-CC58-4CEF-AE5E-3A0514B9DB26}"/>
              </a:ext>
            </a:extLst>
          </p:cNvPr>
          <p:cNvSpPr>
            <a:spLocks noGrp="1" noChangeArrowheads="1"/>
          </p:cNvSpPr>
          <p:nvPr>
            <p:ph type="sldNum" sz="quarter" idx="4"/>
          </p:nvPr>
        </p:nvSpPr>
        <p:spPr bwMode="auto">
          <a:xfrm>
            <a:off x="6553200" y="6245225"/>
            <a:ext cx="2133600" cy="47625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eaLnBrk="1" hangingPunct="1">
              <a:defRPr sz="1400"/>
            </a:lvl1pPr>
          </a:lstStyle>
          <a:p>
            <a:pPr>
              <a:defRPr/>
            </a:pPr>
            <a:fld id="{5A6E29DF-0E91-4F06-8705-C054EB6BBDCE}" type="slidenum">
              <a:rPr lang="en-US" altLang="en-US"/>
              <a:pPr>
                <a:defRPr/>
              </a:pPr>
              <a:t>‹#›</a:t>
            </a:fld>
            <a:endParaRPr lang="en-US"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Lst>
  <p:txStyles>
    <p:titleStyle>
      <a:lvl1pPr algn="ctr" rtl="0" eaLnBrk="0" fontAlgn="base" hangingPunct="0">
        <a:spcBef>
          <a:spcPct val="0"/>
        </a:spcBef>
        <a:spcAft>
          <a:spcPct val="0"/>
        </a:spcAft>
        <a:defRPr sz="4400">
          <a:solidFill>
            <a:schemeClr val="tx2"/>
          </a:solidFill>
          <a:latin typeface="+mj-lt"/>
          <a:ea typeface="+mj-ea"/>
          <a:cs typeface="+mj-cs"/>
        </a:defRPr>
      </a:lvl1pPr>
      <a:lvl2pPr algn="ctr" rtl="0" eaLnBrk="0" fontAlgn="base" hangingPunct="0">
        <a:spcBef>
          <a:spcPct val="0"/>
        </a:spcBef>
        <a:spcAft>
          <a:spcPct val="0"/>
        </a:spcAft>
        <a:defRPr sz="4400">
          <a:solidFill>
            <a:schemeClr val="tx2"/>
          </a:solidFill>
          <a:latin typeface="Arial" pitchFamily="34" charset="0"/>
        </a:defRPr>
      </a:lvl2pPr>
      <a:lvl3pPr algn="ctr" rtl="0" eaLnBrk="0" fontAlgn="base" hangingPunct="0">
        <a:spcBef>
          <a:spcPct val="0"/>
        </a:spcBef>
        <a:spcAft>
          <a:spcPct val="0"/>
        </a:spcAft>
        <a:defRPr sz="4400">
          <a:solidFill>
            <a:schemeClr val="tx2"/>
          </a:solidFill>
          <a:latin typeface="Arial" pitchFamily="34" charset="0"/>
        </a:defRPr>
      </a:lvl3pPr>
      <a:lvl4pPr algn="ctr" rtl="0" eaLnBrk="0" fontAlgn="base" hangingPunct="0">
        <a:spcBef>
          <a:spcPct val="0"/>
        </a:spcBef>
        <a:spcAft>
          <a:spcPct val="0"/>
        </a:spcAft>
        <a:defRPr sz="4400">
          <a:solidFill>
            <a:schemeClr val="tx2"/>
          </a:solidFill>
          <a:latin typeface="Arial" pitchFamily="34" charset="0"/>
        </a:defRPr>
      </a:lvl4pPr>
      <a:lvl5pPr algn="ctr" rtl="0" eaLnBrk="0" fontAlgn="base" hangingPunct="0">
        <a:spcBef>
          <a:spcPct val="0"/>
        </a:spcBef>
        <a:spcAft>
          <a:spcPct val="0"/>
        </a:spcAft>
        <a:defRPr sz="4400">
          <a:solidFill>
            <a:schemeClr val="tx2"/>
          </a:solidFill>
          <a:latin typeface="Arial" pitchFamily="34" charset="0"/>
        </a:defRPr>
      </a:lvl5pPr>
      <a:lvl6pPr marL="457200" algn="ctr" rtl="0" fontAlgn="base">
        <a:spcBef>
          <a:spcPct val="0"/>
        </a:spcBef>
        <a:spcAft>
          <a:spcPct val="0"/>
        </a:spcAft>
        <a:defRPr sz="4400">
          <a:solidFill>
            <a:schemeClr val="tx2"/>
          </a:solidFill>
          <a:latin typeface="Arial" pitchFamily="34" charset="0"/>
        </a:defRPr>
      </a:lvl6pPr>
      <a:lvl7pPr marL="914400" algn="ctr" rtl="0" fontAlgn="base">
        <a:spcBef>
          <a:spcPct val="0"/>
        </a:spcBef>
        <a:spcAft>
          <a:spcPct val="0"/>
        </a:spcAft>
        <a:defRPr sz="4400">
          <a:solidFill>
            <a:schemeClr val="tx2"/>
          </a:solidFill>
          <a:latin typeface="Arial" pitchFamily="34" charset="0"/>
        </a:defRPr>
      </a:lvl7pPr>
      <a:lvl8pPr marL="1371600" algn="ctr" rtl="0" fontAlgn="base">
        <a:spcBef>
          <a:spcPct val="0"/>
        </a:spcBef>
        <a:spcAft>
          <a:spcPct val="0"/>
        </a:spcAft>
        <a:defRPr sz="4400">
          <a:solidFill>
            <a:schemeClr val="tx2"/>
          </a:solidFill>
          <a:latin typeface="Arial" pitchFamily="34" charset="0"/>
        </a:defRPr>
      </a:lvl8pPr>
      <a:lvl9pPr marL="1828800" algn="ctr" rtl="0" fontAlgn="base">
        <a:spcBef>
          <a:spcPct val="0"/>
        </a:spcBef>
        <a:spcAft>
          <a:spcPct val="0"/>
        </a:spcAft>
        <a:defRPr sz="4400">
          <a:solidFill>
            <a:schemeClr val="tx2"/>
          </a:solidFill>
          <a:latin typeface="Arial" pitchFamily="34" charset="0"/>
        </a:defRPr>
      </a:lvl9pPr>
    </p:titleStyle>
    <p:bodyStyle>
      <a:lvl1pPr marL="342900" indent="-342900" algn="l" rtl="0" eaLnBrk="0" fontAlgn="base" hangingPunct="0">
        <a:spcBef>
          <a:spcPct val="20000"/>
        </a:spcBef>
        <a:spcAft>
          <a:spcPct val="0"/>
        </a:spcAft>
        <a:buChar char="•"/>
        <a:defRPr sz="32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800">
          <a:solidFill>
            <a:schemeClr val="tx1"/>
          </a:solidFill>
          <a:latin typeface="+mn-lt"/>
        </a:defRPr>
      </a:lvl2pPr>
      <a:lvl3pPr marL="1143000" indent="-228600" algn="l" rtl="0" eaLnBrk="0" fontAlgn="base" hangingPunct="0">
        <a:spcBef>
          <a:spcPct val="20000"/>
        </a:spcBef>
        <a:spcAft>
          <a:spcPct val="0"/>
        </a:spcAft>
        <a:buChar char="•"/>
        <a:defRPr sz="2400">
          <a:solidFill>
            <a:schemeClr val="tx1"/>
          </a:solidFill>
          <a:latin typeface="+mn-lt"/>
        </a:defRPr>
      </a:lvl3pPr>
      <a:lvl4pPr marL="1600200" indent="-228600" algn="l" rtl="0" eaLnBrk="0" fontAlgn="base" hangingPunct="0">
        <a:spcBef>
          <a:spcPct val="20000"/>
        </a:spcBef>
        <a:spcAft>
          <a:spcPct val="0"/>
        </a:spcAft>
        <a:buChar char="–"/>
        <a:defRPr sz="2000">
          <a:solidFill>
            <a:schemeClr val="tx1"/>
          </a:solidFill>
          <a:latin typeface="+mn-lt"/>
        </a:defRPr>
      </a:lvl4pPr>
      <a:lvl5pPr marL="2057400" indent="-228600" algn="l" rtl="0" eaLnBrk="0" fontAlgn="base" hangingPunct="0">
        <a:spcBef>
          <a:spcPct val="20000"/>
        </a:spcBef>
        <a:spcAft>
          <a:spcPct val="0"/>
        </a:spcAft>
        <a:buChar char="»"/>
        <a:defRPr sz="2000">
          <a:solidFill>
            <a:schemeClr val="tx1"/>
          </a:solidFill>
          <a:latin typeface="+mn-lt"/>
        </a:defRPr>
      </a:lvl5pPr>
      <a:lvl6pPr marL="2514600" indent="-228600" algn="l" rtl="0" fontAlgn="base">
        <a:spcBef>
          <a:spcPct val="20000"/>
        </a:spcBef>
        <a:spcAft>
          <a:spcPct val="0"/>
        </a:spcAft>
        <a:buChar char="»"/>
        <a:defRPr sz="2000">
          <a:solidFill>
            <a:schemeClr val="tx1"/>
          </a:solidFill>
          <a:latin typeface="+mn-lt"/>
        </a:defRPr>
      </a:lvl6pPr>
      <a:lvl7pPr marL="2971800" indent="-228600" algn="l" rtl="0" fontAlgn="base">
        <a:spcBef>
          <a:spcPct val="20000"/>
        </a:spcBef>
        <a:spcAft>
          <a:spcPct val="0"/>
        </a:spcAft>
        <a:buChar char="»"/>
        <a:defRPr sz="2000">
          <a:solidFill>
            <a:schemeClr val="tx1"/>
          </a:solidFill>
          <a:latin typeface="+mn-lt"/>
        </a:defRPr>
      </a:lvl7pPr>
      <a:lvl8pPr marL="3429000" indent="-228600" algn="l" rtl="0" fontAlgn="base">
        <a:spcBef>
          <a:spcPct val="20000"/>
        </a:spcBef>
        <a:spcAft>
          <a:spcPct val="0"/>
        </a:spcAft>
        <a:buChar char="»"/>
        <a:defRPr sz="2000">
          <a:solidFill>
            <a:schemeClr val="tx1"/>
          </a:solidFill>
          <a:latin typeface="+mn-lt"/>
        </a:defRPr>
      </a:lvl8pPr>
      <a:lvl9pPr marL="3886200" indent="-228600" algn="l" rtl="0" fontAlgn="base">
        <a:spcBef>
          <a:spcPct val="20000"/>
        </a:spcBef>
        <a:spcAft>
          <a:spcPct val="0"/>
        </a:spcAft>
        <a:buChar char="»"/>
        <a:defRPr sz="2000">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mailto:anoop@iisermohali.ac.in" TargetMode="Externa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6.pn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2" Type="http://schemas.openxmlformats.org/officeDocument/2006/relationships/image" Target="../media/image12.jpe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6.jpeg"/><Relationship Id="rId1" Type="http://schemas.openxmlformats.org/officeDocument/2006/relationships/slideLayout" Target="../slideLayouts/slideLayout14.xml"/></Relationships>
</file>

<file path=ppt/slides/_rels/slide15.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9.jpe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20.jpeg"/><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2" Type="http://schemas.openxmlformats.org/officeDocument/2006/relationships/image" Target="../media/image21.jpeg"/><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2" Type="http://schemas.openxmlformats.org/officeDocument/2006/relationships/image" Target="../media/image22.jpeg"/><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24.jpeg"/><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2" Type="http://schemas.openxmlformats.org/officeDocument/2006/relationships/image" Target="../media/image25.jpeg"/><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2" Type="http://schemas.openxmlformats.org/officeDocument/2006/relationships/image" Target="../media/image26.jpeg"/><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2" Type="http://schemas.openxmlformats.org/officeDocument/2006/relationships/image" Target="../media/image27.gif"/><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2" Type="http://schemas.openxmlformats.org/officeDocument/2006/relationships/image" Target="../media/image28.jpeg"/><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a:extLst>
              <a:ext uri="{FF2B5EF4-FFF2-40B4-BE49-F238E27FC236}">
                <a16:creationId xmlns:a16="http://schemas.microsoft.com/office/drawing/2014/main" id="{58EF3740-78F8-4AF7-B9C0-B2112BDC1833}"/>
              </a:ext>
            </a:extLst>
          </p:cNvPr>
          <p:cNvSpPr txBox="1">
            <a:spLocks noGrp="1"/>
          </p:cNvSpPr>
          <p:nvPr>
            <p:ph type="title"/>
          </p:nvPr>
        </p:nvSpPr>
        <p:spPr>
          <a:xfrm>
            <a:off x="609600" y="1295400"/>
            <a:ext cx="7459663" cy="641350"/>
          </a:xfrm>
        </p:spPr>
        <p:txBody>
          <a:bodyPr lIns="0" tIns="38100" rIns="0" bIns="0">
            <a:spAutoFit/>
          </a:bodyPr>
          <a:lstStyle/>
          <a:p>
            <a:pPr marL="1901825" indent="-1889125">
              <a:lnSpc>
                <a:spcPts val="4700"/>
              </a:lnSpc>
              <a:spcBef>
                <a:spcPts val="300"/>
              </a:spcBef>
            </a:pPr>
            <a:r>
              <a:rPr lang="en-IN" altLang="en-US">
                <a:solidFill>
                  <a:srgbClr val="000000"/>
                </a:solidFill>
              </a:rPr>
              <a:t>EES203: Geochemistry </a:t>
            </a:r>
            <a:endParaRPr lang="en-US" altLang="en-US">
              <a:solidFill>
                <a:srgbClr val="000000"/>
              </a:solidFill>
              <a:latin typeface="Times New Roman" panose="02020603050405020304" pitchFamily="18" charset="0"/>
              <a:cs typeface="Times New Roman" panose="02020603050405020304" pitchFamily="18" charset="0"/>
            </a:endParaRPr>
          </a:p>
        </p:txBody>
      </p:sp>
      <p:sp>
        <p:nvSpPr>
          <p:cNvPr id="3" name="object 3">
            <a:extLst>
              <a:ext uri="{FF2B5EF4-FFF2-40B4-BE49-F238E27FC236}">
                <a16:creationId xmlns:a16="http://schemas.microsoft.com/office/drawing/2014/main" id="{656A1D54-95EB-4BB2-BAD9-B64ADC3C8E58}"/>
              </a:ext>
            </a:extLst>
          </p:cNvPr>
          <p:cNvSpPr txBox="1"/>
          <p:nvPr/>
        </p:nvSpPr>
        <p:spPr>
          <a:xfrm>
            <a:off x="1555750" y="2133600"/>
            <a:ext cx="7848600" cy="1198563"/>
          </a:xfrm>
          <a:prstGeom prst="rect">
            <a:avLst/>
          </a:prstGeom>
        </p:spPr>
        <p:txBody>
          <a:bodyPr lIns="0" tIns="110490" rIns="0" bIns="0">
            <a:spAutoFit/>
          </a:bodyPr>
          <a:lstStyle/>
          <a:p>
            <a:pPr marL="12700">
              <a:spcBef>
                <a:spcPts val="765"/>
              </a:spcBef>
              <a:defRPr/>
            </a:pPr>
            <a:r>
              <a:rPr sz="3200" dirty="0">
                <a:latin typeface="Times New Roman"/>
                <a:cs typeface="Times New Roman"/>
              </a:rPr>
              <a:t>Instructor:</a:t>
            </a:r>
            <a:r>
              <a:rPr sz="3200" spc="-235" dirty="0">
                <a:latin typeface="Times New Roman"/>
                <a:cs typeface="Times New Roman"/>
              </a:rPr>
              <a:t> </a:t>
            </a:r>
            <a:r>
              <a:rPr sz="3200" dirty="0">
                <a:latin typeface="Times New Roman"/>
                <a:cs typeface="Times New Roman"/>
              </a:rPr>
              <a:t>Anoop</a:t>
            </a:r>
            <a:r>
              <a:rPr sz="3200" spc="-195" dirty="0">
                <a:latin typeface="Times New Roman"/>
                <a:cs typeface="Times New Roman"/>
              </a:rPr>
              <a:t> </a:t>
            </a:r>
            <a:r>
              <a:rPr sz="3200" spc="-10" dirty="0">
                <a:latin typeface="Times New Roman"/>
                <a:cs typeface="Times New Roman"/>
              </a:rPr>
              <a:t>Ambili</a:t>
            </a:r>
            <a:endParaRPr lang="en-IN" sz="3200" spc="-10" dirty="0">
              <a:latin typeface="Times New Roman"/>
              <a:cs typeface="Times New Roman"/>
            </a:endParaRPr>
          </a:p>
          <a:p>
            <a:pPr marL="12700">
              <a:spcBef>
                <a:spcPts val="770"/>
              </a:spcBef>
              <a:defRPr/>
            </a:pPr>
            <a:r>
              <a:rPr sz="3200" dirty="0">
                <a:latin typeface="Times New Roman"/>
                <a:cs typeface="Times New Roman"/>
              </a:rPr>
              <a:t>Email</a:t>
            </a:r>
            <a:r>
              <a:rPr sz="3200" spc="-35" dirty="0">
                <a:latin typeface="Times New Roman"/>
                <a:cs typeface="Times New Roman"/>
              </a:rPr>
              <a:t> </a:t>
            </a:r>
            <a:r>
              <a:rPr sz="3200" dirty="0">
                <a:latin typeface="Times New Roman"/>
                <a:cs typeface="Times New Roman"/>
              </a:rPr>
              <a:t>id: </a:t>
            </a:r>
            <a:r>
              <a:rPr sz="3200" spc="-10" dirty="0">
                <a:latin typeface="Times New Roman"/>
                <a:cs typeface="Times New Roman"/>
                <a:hlinkClick r:id="rId2"/>
              </a:rPr>
              <a:t>anoop@iisermohali.ac.in</a:t>
            </a:r>
            <a:endParaRPr sz="3200" dirty="0">
              <a:latin typeface="Times New Roman"/>
              <a:cs typeface="Times New Roman"/>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2771" name="Picture 4">
            <a:extLst>
              <a:ext uri="{FF2B5EF4-FFF2-40B4-BE49-F238E27FC236}">
                <a16:creationId xmlns:a16="http://schemas.microsoft.com/office/drawing/2014/main" id="{D4FB9EF5-E724-4E4A-AB4E-769A51CBFD7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l="8604" r="842"/>
          <a:stretch>
            <a:fillRect/>
          </a:stretch>
        </p:blipFill>
        <p:spPr bwMode="auto">
          <a:xfrm>
            <a:off x="2590800" y="-20027"/>
            <a:ext cx="6553200" cy="71273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Title 1">
            <a:extLst>
              <a:ext uri="{FF2B5EF4-FFF2-40B4-BE49-F238E27FC236}">
                <a16:creationId xmlns:a16="http://schemas.microsoft.com/office/drawing/2014/main" id="{0CCD1813-ECFF-47D6-B878-EC570F417413}"/>
              </a:ext>
            </a:extLst>
          </p:cNvPr>
          <p:cNvSpPr>
            <a:spLocks noGrp="1"/>
          </p:cNvSpPr>
          <p:nvPr>
            <p:ph type="title"/>
          </p:nvPr>
        </p:nvSpPr>
        <p:spPr>
          <a:xfrm>
            <a:off x="457200" y="1905000"/>
            <a:ext cx="3200400" cy="1143000"/>
          </a:xfrm>
        </p:spPr>
        <p:txBody>
          <a:bodyPr/>
          <a:lstStyle/>
          <a:p>
            <a:pPr algn="l"/>
            <a:r>
              <a:rPr lang="en-IN" sz="2000" dirty="0">
                <a:latin typeface="+mn-lt"/>
              </a:rPr>
              <a:t>Spinel: </a:t>
            </a:r>
            <a:r>
              <a:rPr lang="en-IN" sz="2000" b="1" dirty="0"/>
              <a:t>magnesium aluminate (MgAl₂O₄)</a:t>
            </a:r>
            <a:r>
              <a:rPr lang="en-IN" sz="2000" dirty="0"/>
              <a:t>,</a:t>
            </a:r>
            <a:r>
              <a:rPr lang="en-IN" sz="2000" dirty="0">
                <a:latin typeface="+mn-lt"/>
              </a:rPr>
              <a:t>  </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Content Placeholder 3"/>
          <p:cNvPicPr>
            <a:picLocks noGrp="1" noChangeAspect="1"/>
          </p:cNvPicPr>
          <p:nvPr>
            <p:ph idx="1"/>
          </p:nvPr>
        </p:nvPicPr>
        <p:blipFill>
          <a:blip r:embed="rId3" cstate="print">
            <a:extLst>
              <a:ext uri="{28A0092B-C50C-407E-A947-70E740481C1C}">
                <a14:useLocalDpi xmlns:a14="http://schemas.microsoft.com/office/drawing/2010/main" val="0"/>
              </a:ext>
            </a:extLst>
          </a:blip>
          <a:stretch>
            <a:fillRect/>
          </a:stretch>
        </p:blipFill>
        <p:spPr>
          <a:xfrm>
            <a:off x="2771800" y="1772816"/>
            <a:ext cx="3205294" cy="2857415"/>
          </a:xfrm>
        </p:spPr>
      </p:pic>
      <p:pic>
        <p:nvPicPr>
          <p:cNvPr id="12" name="Picture 11"/>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77894" y="4488246"/>
            <a:ext cx="8470570" cy="2152396"/>
          </a:xfrm>
          <a:prstGeom prst="rect">
            <a:avLst/>
          </a:prstGeom>
        </p:spPr>
      </p:pic>
      <p:sp>
        <p:nvSpPr>
          <p:cNvPr id="13" name="Down Arrow 12"/>
          <p:cNvSpPr/>
          <p:nvPr/>
        </p:nvSpPr>
        <p:spPr>
          <a:xfrm>
            <a:off x="538129" y="4005064"/>
            <a:ext cx="290877" cy="1241599"/>
          </a:xfrm>
          <a:prstGeom prst="downArrow">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TextBox 13"/>
          <p:cNvSpPr txBox="1"/>
          <p:nvPr/>
        </p:nvSpPr>
        <p:spPr>
          <a:xfrm>
            <a:off x="265542" y="2058200"/>
            <a:ext cx="2858658" cy="1938992"/>
          </a:xfrm>
          <a:prstGeom prst="rect">
            <a:avLst/>
          </a:prstGeom>
          <a:noFill/>
        </p:spPr>
        <p:txBody>
          <a:bodyPr wrap="square" rtlCol="0">
            <a:spAutoFit/>
          </a:bodyPr>
          <a:lstStyle/>
          <a:p>
            <a:r>
              <a:rPr lang="en-GB" sz="2400" b="1" dirty="0"/>
              <a:t>Average section of crust and mantle (i.e. away from plate boundaries)</a:t>
            </a:r>
          </a:p>
        </p:txBody>
      </p:sp>
      <p:sp>
        <p:nvSpPr>
          <p:cNvPr id="15" name="TextBox 14"/>
          <p:cNvSpPr txBox="1"/>
          <p:nvPr/>
        </p:nvSpPr>
        <p:spPr>
          <a:xfrm>
            <a:off x="6372200" y="3027696"/>
            <a:ext cx="2376264" cy="830997"/>
          </a:xfrm>
          <a:prstGeom prst="rect">
            <a:avLst/>
          </a:prstGeom>
          <a:noFill/>
        </p:spPr>
        <p:txBody>
          <a:bodyPr wrap="square" rtlCol="0">
            <a:spAutoFit/>
          </a:bodyPr>
          <a:lstStyle/>
          <a:p>
            <a:r>
              <a:rPr lang="en-GB" sz="2400" b="1" dirty="0"/>
              <a:t>No magma generated</a:t>
            </a:r>
          </a:p>
        </p:txBody>
      </p:sp>
      <p:sp>
        <p:nvSpPr>
          <p:cNvPr id="16" name="Title 15"/>
          <p:cNvSpPr>
            <a:spLocks noGrp="1"/>
          </p:cNvSpPr>
          <p:nvPr>
            <p:ph type="title"/>
          </p:nvPr>
        </p:nvSpPr>
        <p:spPr/>
        <p:txBody>
          <a:bodyPr/>
          <a:lstStyle/>
          <a:p>
            <a:r>
              <a:rPr lang="en-GB" dirty="0"/>
              <a:t>Magma generation</a:t>
            </a:r>
          </a:p>
        </p:txBody>
      </p:sp>
    </p:spTree>
    <p:extLst>
      <p:ext uri="{BB962C8B-B14F-4D97-AF65-F5344CB8AC3E}">
        <p14:creationId xmlns:p14="http://schemas.microsoft.com/office/powerpoint/2010/main" val="423173246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122">
            <a:extLst>
              <a:ext uri="{FF2B5EF4-FFF2-40B4-BE49-F238E27FC236}">
                <a16:creationId xmlns:a16="http://schemas.microsoft.com/office/drawing/2014/main" id="{3250DFB4-9A6A-4903-A826-5EA1C132DA1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286000" y="416803"/>
            <a:ext cx="5867400" cy="59855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74873194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555776" y="1690824"/>
            <a:ext cx="3384376" cy="3017061"/>
          </a:xfrm>
          <a:prstGeom prst="rect">
            <a:avLst/>
          </a:prstGeom>
        </p:spPr>
      </p:pic>
      <p:pic>
        <p:nvPicPr>
          <p:cNvPr id="10" name="Picture 9"/>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77894" y="4488246"/>
            <a:ext cx="8470570" cy="2152396"/>
          </a:xfrm>
          <a:prstGeom prst="rect">
            <a:avLst/>
          </a:prstGeom>
        </p:spPr>
      </p:pic>
      <p:sp>
        <p:nvSpPr>
          <p:cNvPr id="15" name="Down Arrow 14"/>
          <p:cNvSpPr/>
          <p:nvPr/>
        </p:nvSpPr>
        <p:spPr>
          <a:xfrm rot="20427613">
            <a:off x="1746921" y="3194770"/>
            <a:ext cx="290877" cy="1241599"/>
          </a:xfrm>
          <a:prstGeom prst="downArrow">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TextBox 15"/>
          <p:cNvSpPr txBox="1"/>
          <p:nvPr/>
        </p:nvSpPr>
        <p:spPr>
          <a:xfrm>
            <a:off x="561906" y="2350881"/>
            <a:ext cx="1971514" cy="830997"/>
          </a:xfrm>
          <a:prstGeom prst="rect">
            <a:avLst/>
          </a:prstGeom>
          <a:noFill/>
        </p:spPr>
        <p:txBody>
          <a:bodyPr wrap="square" rtlCol="0">
            <a:spAutoFit/>
          </a:bodyPr>
          <a:lstStyle/>
          <a:p>
            <a:pPr algn="ctr"/>
            <a:r>
              <a:rPr lang="en-GB" sz="2400" b="1" dirty="0"/>
              <a:t>1. Mid ocean ridge</a:t>
            </a:r>
          </a:p>
        </p:txBody>
      </p:sp>
      <p:sp>
        <p:nvSpPr>
          <p:cNvPr id="18" name="TextBox 17"/>
          <p:cNvSpPr txBox="1"/>
          <p:nvPr/>
        </p:nvSpPr>
        <p:spPr>
          <a:xfrm>
            <a:off x="6349424" y="2227195"/>
            <a:ext cx="2376264" cy="830997"/>
          </a:xfrm>
          <a:prstGeom prst="rect">
            <a:avLst/>
          </a:prstGeom>
          <a:noFill/>
        </p:spPr>
        <p:txBody>
          <a:bodyPr wrap="square" rtlCol="0">
            <a:spAutoFit/>
          </a:bodyPr>
          <a:lstStyle/>
          <a:p>
            <a:r>
              <a:rPr lang="en-GB" sz="2400" b="1" dirty="0"/>
              <a:t>Magma generated</a:t>
            </a:r>
          </a:p>
        </p:txBody>
      </p:sp>
      <p:cxnSp>
        <p:nvCxnSpPr>
          <p:cNvPr id="21" name="Straight Arrow Connector 20"/>
          <p:cNvCxnSpPr/>
          <p:nvPr/>
        </p:nvCxnSpPr>
        <p:spPr>
          <a:xfrm flipH="1" flipV="1">
            <a:off x="4807560" y="2392614"/>
            <a:ext cx="1656184" cy="216024"/>
          </a:xfrm>
          <a:prstGeom prst="straightConnector1">
            <a:avLst/>
          </a:prstGeom>
          <a:ln w="28575">
            <a:solidFill>
              <a:schemeClr val="tx1"/>
            </a:solidFill>
            <a:tailEnd type="oval"/>
          </a:ln>
        </p:spPr>
        <p:style>
          <a:lnRef idx="1">
            <a:schemeClr val="accent1"/>
          </a:lnRef>
          <a:fillRef idx="0">
            <a:schemeClr val="accent1"/>
          </a:fillRef>
          <a:effectRef idx="0">
            <a:schemeClr val="accent1"/>
          </a:effectRef>
          <a:fontRef idx="minor">
            <a:schemeClr val="tx1"/>
          </a:fontRef>
        </p:style>
      </p:cxnSp>
      <p:pic>
        <p:nvPicPr>
          <p:cNvPr id="4098" name="Picture 2"/>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03717" y="233499"/>
            <a:ext cx="8553450" cy="14573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06183171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6387" name="Rectangle 3">
            <a:extLst>
              <a:ext uri="{FF2B5EF4-FFF2-40B4-BE49-F238E27FC236}">
                <a16:creationId xmlns:a16="http://schemas.microsoft.com/office/drawing/2014/main" id="{332A248F-EA2B-423F-9D32-6DAED3A98D1D}"/>
              </a:ext>
            </a:extLst>
          </p:cNvPr>
          <p:cNvSpPr>
            <a:spLocks noGrp="1" noChangeArrowheads="1"/>
          </p:cNvSpPr>
          <p:nvPr>
            <p:ph type="body" idx="1"/>
          </p:nvPr>
        </p:nvSpPr>
        <p:spPr>
          <a:xfrm>
            <a:off x="171450" y="457200"/>
            <a:ext cx="8650288" cy="6046788"/>
          </a:xfrm>
        </p:spPr>
        <p:txBody>
          <a:bodyPr/>
          <a:lstStyle/>
          <a:p>
            <a:pPr lvl="1">
              <a:defRPr/>
            </a:pPr>
            <a:r>
              <a:rPr lang="en-US" altLang="en-US" dirty="0">
                <a:solidFill>
                  <a:srgbClr val="00FF00"/>
                </a:solidFill>
              </a:rPr>
              <a:t>Decompression melting</a:t>
            </a:r>
            <a:r>
              <a:rPr lang="en-US" altLang="en-US" dirty="0">
                <a:solidFill>
                  <a:srgbClr val="FFCC00"/>
                </a:solidFill>
              </a:rPr>
              <a:t> could melt at least 30%</a:t>
            </a:r>
          </a:p>
        </p:txBody>
      </p:sp>
      <p:pic>
        <p:nvPicPr>
          <p:cNvPr id="2" name="Picture 102">
            <a:extLst>
              <a:ext uri="{FF2B5EF4-FFF2-40B4-BE49-F238E27FC236}">
                <a16:creationId xmlns:a16="http://schemas.microsoft.com/office/drawing/2014/main" id="{E8F1C6C6-8A76-4A54-A86A-6B190CD5EF6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81112" y="1447801"/>
            <a:ext cx="7142755" cy="460161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6487" name="Rectangle 103">
            <a:extLst>
              <a:ext uri="{FF2B5EF4-FFF2-40B4-BE49-F238E27FC236}">
                <a16:creationId xmlns:a16="http://schemas.microsoft.com/office/drawing/2014/main" id="{635AEF75-4474-44FE-AA6A-92B290FF3037}"/>
              </a:ext>
            </a:extLst>
          </p:cNvPr>
          <p:cNvSpPr>
            <a:spLocks noChangeArrowheads="1"/>
          </p:cNvSpPr>
          <p:nvPr/>
        </p:nvSpPr>
        <p:spPr bwMode="auto">
          <a:xfrm>
            <a:off x="836613" y="6400800"/>
            <a:ext cx="7734300" cy="462307"/>
          </a:xfrm>
          <a:prstGeom prst="rect">
            <a:avLst/>
          </a:prstGeom>
          <a:noFill/>
          <a:ln>
            <a:noFill/>
          </a:ln>
          <a:effectLst/>
        </p:spPr>
        <p:txBody>
          <a:bodyPr lIns="92075" tIns="46038" rIns="92075" bIns="46038">
            <a:spAutoFit/>
          </a:bodyPr>
          <a:lstStyle/>
          <a:p>
            <a:pPr>
              <a:defRPr/>
            </a:pPr>
            <a:r>
              <a:rPr lang="en-US" altLang="en-US" sz="1200" b="1" dirty="0">
                <a:solidFill>
                  <a:srgbClr val="FF5050"/>
                </a:solidFill>
                <a:effectLst>
                  <a:outerShdw blurRad="38100" dist="38100" dir="2700000" algn="tl">
                    <a:srgbClr val="000000"/>
                  </a:outerShdw>
                </a:effectLst>
                <a:latin typeface="Arial" panose="020B0604020202020204" pitchFamily="34" charset="0"/>
              </a:rPr>
              <a:t>Figure 10-4. </a:t>
            </a:r>
            <a:r>
              <a:rPr lang="en-US" altLang="en-US" sz="1200" b="1" dirty="0">
                <a:solidFill>
                  <a:srgbClr val="FFCC00"/>
                </a:solidFill>
                <a:latin typeface="Arial" panose="020B0604020202020204" pitchFamily="34" charset="0"/>
              </a:rPr>
              <a:t>Melting by pressure reduction. Melting begins when the adiabat crosses the solidus and traverses the shaded melting interval. Dashed lines represent approximate % melting.</a:t>
            </a:r>
            <a:r>
              <a:rPr lang="en-US" altLang="en-US" sz="1200" dirty="0">
                <a:solidFill>
                  <a:srgbClr val="FFCC00"/>
                </a:solidFill>
                <a:latin typeface="Arial" panose="020B0604020202020204" pitchFamily="34" charset="0"/>
              </a:rPr>
              <a:t> </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grpId="0" nodeType="clickEffect">
                                  <p:stCondLst>
                                    <p:cond delay="0"/>
                                  </p:stCondLst>
                                  <p:childTnLst>
                                    <p:set>
                                      <p:cBhvr>
                                        <p:cTn id="6" dur="1" fill="hold">
                                          <p:stCondLst>
                                            <p:cond delay="0"/>
                                          </p:stCondLst>
                                        </p:cTn>
                                        <p:tgtEl>
                                          <p:spTgt spid="16387">
                                            <p:txEl>
                                              <p:pRg st="0" end="0"/>
                                            </p:txEl>
                                          </p:spTgt>
                                        </p:tgtEl>
                                        <p:attrNameLst>
                                          <p:attrName>style.visibility</p:attrName>
                                        </p:attrNameLst>
                                      </p:cBhvr>
                                      <p:to>
                                        <p:strVal val="visible"/>
                                      </p:to>
                                    </p:set>
                                    <p:anim calcmode="lin" valueType="num">
                                      <p:cBhvr additive="base">
                                        <p:cTn id="7" dur="500" fill="hold"/>
                                        <p:tgtEl>
                                          <p:spTgt spid="16387">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16387">
                                            <p:txEl>
                                              <p:pRg st="0" end="0"/>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387" grpId="0" build="p" bldLvl="2" autoUpdateAnimBg="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p:cNvPicPr>
            <a:picLocks noChangeAspect="1"/>
          </p:cNvPicPr>
          <p:nvPr/>
        </p:nvPicPr>
        <p:blipFill rotWithShape="1">
          <a:blip r:embed="rId3" cstate="print">
            <a:extLst>
              <a:ext uri="{28A0092B-C50C-407E-A947-70E740481C1C}">
                <a14:useLocalDpi xmlns:a14="http://schemas.microsoft.com/office/drawing/2010/main" val="0"/>
              </a:ext>
            </a:extLst>
          </a:blip>
          <a:srcRect l="1813"/>
          <a:stretch/>
        </p:blipFill>
        <p:spPr>
          <a:xfrm>
            <a:off x="3131840" y="1705722"/>
            <a:ext cx="3024336" cy="2666969"/>
          </a:xfrm>
          <a:prstGeom prst="rect">
            <a:avLst/>
          </a:prstGeom>
        </p:spPr>
      </p:pic>
      <p:pic>
        <p:nvPicPr>
          <p:cNvPr id="10" name="Picture 9"/>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77894" y="4488246"/>
            <a:ext cx="8470570" cy="2152396"/>
          </a:xfrm>
          <a:prstGeom prst="rect">
            <a:avLst/>
          </a:prstGeom>
        </p:spPr>
      </p:pic>
      <p:sp>
        <p:nvSpPr>
          <p:cNvPr id="12" name="Down Arrow 11"/>
          <p:cNvSpPr/>
          <p:nvPr/>
        </p:nvSpPr>
        <p:spPr>
          <a:xfrm rot="21070742">
            <a:off x="7241163" y="2623110"/>
            <a:ext cx="268108" cy="2069891"/>
          </a:xfrm>
          <a:prstGeom prst="downArrow">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TextBox 12"/>
          <p:cNvSpPr txBox="1"/>
          <p:nvPr/>
        </p:nvSpPr>
        <p:spPr>
          <a:xfrm>
            <a:off x="6389460" y="1817130"/>
            <a:ext cx="2602140" cy="830997"/>
          </a:xfrm>
          <a:prstGeom prst="rect">
            <a:avLst/>
          </a:prstGeom>
          <a:noFill/>
        </p:spPr>
        <p:txBody>
          <a:bodyPr wrap="square" rtlCol="0">
            <a:spAutoFit/>
          </a:bodyPr>
          <a:lstStyle/>
          <a:p>
            <a:pPr algn="ctr"/>
            <a:r>
              <a:rPr lang="en-GB" sz="2400" b="1" dirty="0"/>
              <a:t>3. Subduction zone</a:t>
            </a:r>
          </a:p>
        </p:txBody>
      </p:sp>
      <p:sp>
        <p:nvSpPr>
          <p:cNvPr id="14" name="TextBox 13"/>
          <p:cNvSpPr txBox="1"/>
          <p:nvPr/>
        </p:nvSpPr>
        <p:spPr>
          <a:xfrm>
            <a:off x="1331640" y="3356992"/>
            <a:ext cx="2376264" cy="830997"/>
          </a:xfrm>
          <a:prstGeom prst="rect">
            <a:avLst/>
          </a:prstGeom>
          <a:noFill/>
        </p:spPr>
        <p:txBody>
          <a:bodyPr wrap="square" rtlCol="0">
            <a:spAutoFit/>
          </a:bodyPr>
          <a:lstStyle/>
          <a:p>
            <a:r>
              <a:rPr lang="en-GB" sz="2400" b="1" dirty="0"/>
              <a:t>Magma generated</a:t>
            </a:r>
          </a:p>
        </p:txBody>
      </p:sp>
      <p:cxnSp>
        <p:nvCxnSpPr>
          <p:cNvPr id="15" name="Straight Arrow Connector 14"/>
          <p:cNvCxnSpPr/>
          <p:nvPr/>
        </p:nvCxnSpPr>
        <p:spPr>
          <a:xfrm flipV="1">
            <a:off x="2771800" y="3772490"/>
            <a:ext cx="2376264" cy="10615"/>
          </a:xfrm>
          <a:prstGeom prst="straightConnector1">
            <a:avLst/>
          </a:prstGeom>
          <a:ln w="28575">
            <a:solidFill>
              <a:schemeClr val="tx1"/>
            </a:solidFill>
            <a:tailEnd type="oval"/>
          </a:ln>
        </p:spPr>
        <p:style>
          <a:lnRef idx="1">
            <a:schemeClr val="accent1"/>
          </a:lnRef>
          <a:fillRef idx="0">
            <a:schemeClr val="accent1"/>
          </a:fillRef>
          <a:effectRef idx="0">
            <a:schemeClr val="accent1"/>
          </a:effectRef>
          <a:fontRef idx="minor">
            <a:schemeClr val="tx1"/>
          </a:fontRef>
        </p:style>
      </p:cxnSp>
      <p:pic>
        <p:nvPicPr>
          <p:cNvPr id="6146" name="Picture 2"/>
          <p:cNvPicPr>
            <a:picLocks noChangeAspect="1" noChangeArrowheads="1"/>
          </p:cNvPicPr>
          <p:nvPr/>
        </p:nvPicPr>
        <p:blipFill rotWithShape="1">
          <a:blip r:embed="rId5">
            <a:extLst>
              <a:ext uri="{28A0092B-C50C-407E-A947-70E740481C1C}">
                <a14:useLocalDpi xmlns:a14="http://schemas.microsoft.com/office/drawing/2010/main" val="0"/>
              </a:ext>
            </a:extLst>
          </a:blip>
          <a:srcRect r="29284"/>
          <a:stretch/>
        </p:blipFill>
        <p:spPr bwMode="auto">
          <a:xfrm>
            <a:off x="107504" y="248397"/>
            <a:ext cx="6048672" cy="14573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88622226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7410" name="Rectangle 2">
            <a:extLst>
              <a:ext uri="{FF2B5EF4-FFF2-40B4-BE49-F238E27FC236}">
                <a16:creationId xmlns:a16="http://schemas.microsoft.com/office/drawing/2014/main" id="{F3C3483C-8358-4B0E-9497-84E8D111DE77}"/>
              </a:ext>
            </a:extLst>
          </p:cNvPr>
          <p:cNvSpPr>
            <a:spLocks noGrp="1" noChangeArrowheads="1"/>
          </p:cNvSpPr>
          <p:nvPr>
            <p:ph type="body" idx="1"/>
          </p:nvPr>
        </p:nvSpPr>
        <p:spPr>
          <a:xfrm>
            <a:off x="23813" y="242888"/>
            <a:ext cx="8540750" cy="4581525"/>
          </a:xfrm>
        </p:spPr>
        <p:txBody>
          <a:bodyPr/>
          <a:lstStyle/>
          <a:p>
            <a:pPr>
              <a:buFont typeface="Monotype Sorts" pitchFamily="2" charset="2"/>
              <a:buNone/>
              <a:defRPr/>
            </a:pPr>
            <a:r>
              <a:rPr lang="en-US" altLang="en-US" dirty="0"/>
              <a:t> </a:t>
            </a:r>
            <a:r>
              <a:rPr lang="en-US" altLang="en-US" dirty="0">
                <a:solidFill>
                  <a:srgbClr val="00FF00"/>
                </a:solidFill>
              </a:rPr>
              <a:t>Add volatiles</a:t>
            </a:r>
            <a:r>
              <a:rPr lang="en-US" altLang="en-US" dirty="0"/>
              <a:t> (especially </a:t>
            </a:r>
            <a:r>
              <a:rPr lang="en-US" altLang="en-US" dirty="0">
                <a:solidFill>
                  <a:srgbClr val="00FF00"/>
                </a:solidFill>
              </a:rPr>
              <a:t>H</a:t>
            </a:r>
            <a:r>
              <a:rPr lang="en-US" altLang="en-US" baseline="-25000" dirty="0">
                <a:solidFill>
                  <a:srgbClr val="00FF00"/>
                </a:solidFill>
              </a:rPr>
              <a:t>2</a:t>
            </a:r>
            <a:r>
              <a:rPr lang="en-US" altLang="en-US" dirty="0">
                <a:solidFill>
                  <a:srgbClr val="00FF00"/>
                </a:solidFill>
              </a:rPr>
              <a:t>O</a:t>
            </a:r>
            <a:r>
              <a:rPr lang="en-US" altLang="en-US" dirty="0"/>
              <a:t>)</a:t>
            </a:r>
          </a:p>
        </p:txBody>
      </p:sp>
      <p:pic>
        <p:nvPicPr>
          <p:cNvPr id="18435" name="Picture 214">
            <a:extLst>
              <a:ext uri="{FF2B5EF4-FFF2-40B4-BE49-F238E27FC236}">
                <a16:creationId xmlns:a16="http://schemas.microsoft.com/office/drawing/2014/main" id="{C7923173-7019-4475-8ED7-6049EBD7A38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12850" y="876300"/>
            <a:ext cx="6497638" cy="55229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7624" name="Rectangle 216">
            <a:extLst>
              <a:ext uri="{FF2B5EF4-FFF2-40B4-BE49-F238E27FC236}">
                <a16:creationId xmlns:a16="http://schemas.microsoft.com/office/drawing/2014/main" id="{72E979E6-BFA2-4FF0-843D-C20A8C7AAFEF}"/>
              </a:ext>
            </a:extLst>
          </p:cNvPr>
          <p:cNvSpPr>
            <a:spLocks noChangeArrowheads="1"/>
          </p:cNvSpPr>
          <p:nvPr/>
        </p:nvSpPr>
        <p:spPr bwMode="auto">
          <a:xfrm>
            <a:off x="836613" y="6527800"/>
            <a:ext cx="7734300" cy="274638"/>
          </a:xfrm>
          <a:prstGeom prst="rect">
            <a:avLst/>
          </a:prstGeom>
          <a:noFill/>
          <a:ln>
            <a:noFill/>
          </a:ln>
          <a:effectLst/>
        </p:spPr>
        <p:txBody>
          <a:bodyPr lIns="92075" tIns="46038" rIns="92075" bIns="46038">
            <a:spAutoFit/>
          </a:bodyPr>
          <a:lstStyle/>
          <a:p>
            <a:pPr>
              <a:defRPr/>
            </a:pPr>
            <a:r>
              <a:rPr lang="en-US" altLang="en-US" sz="1200" b="1">
                <a:solidFill>
                  <a:srgbClr val="FF5050"/>
                </a:solidFill>
                <a:effectLst>
                  <a:outerShdw blurRad="38100" dist="38100" dir="2700000" algn="tl">
                    <a:srgbClr val="000000"/>
                  </a:outerShdw>
                </a:effectLst>
                <a:latin typeface="Arial" panose="020B0604020202020204" pitchFamily="34" charset="0"/>
              </a:rPr>
              <a:t>Figure 10-4. </a:t>
            </a:r>
            <a:r>
              <a:rPr lang="en-US" altLang="en-US" sz="1200" b="1">
                <a:solidFill>
                  <a:srgbClr val="FFCC00"/>
                </a:solidFill>
                <a:latin typeface="Arial" panose="020B0604020202020204" pitchFamily="34" charset="0"/>
              </a:rPr>
              <a:t>Dry peridotite solidus compared to several experiments on H2O-saturated peridotites. </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grpId="0" nodeType="clickEffect">
                                  <p:stCondLst>
                                    <p:cond delay="0"/>
                                  </p:stCondLst>
                                  <p:childTnLst>
                                    <p:set>
                                      <p:cBhvr>
                                        <p:cTn id="6" dur="1" fill="hold">
                                          <p:stCondLst>
                                            <p:cond delay="0"/>
                                          </p:stCondLst>
                                        </p:cTn>
                                        <p:tgtEl>
                                          <p:spTgt spid="17410">
                                            <p:txEl>
                                              <p:pRg st="0" end="0"/>
                                            </p:txEl>
                                          </p:spTgt>
                                        </p:tgtEl>
                                        <p:attrNameLst>
                                          <p:attrName>style.visibility</p:attrName>
                                        </p:attrNameLst>
                                      </p:cBhvr>
                                      <p:to>
                                        <p:strVal val="visible"/>
                                      </p:to>
                                    </p:set>
                                    <p:anim calcmode="lin" valueType="num">
                                      <p:cBhvr additive="base">
                                        <p:cTn id="7" dur="500" fill="hold"/>
                                        <p:tgtEl>
                                          <p:spTgt spid="17410">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17410">
                                            <p:txEl>
                                              <p:pRg st="0" end="0"/>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410" grpId="0" build="p" bldLvl="2" autoUpdateAnimBg="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956970" y="1673429"/>
            <a:ext cx="3112417" cy="2786354"/>
          </a:xfrm>
          <a:prstGeom prst="rect">
            <a:avLst/>
          </a:prstGeom>
        </p:spPr>
      </p:pic>
      <p:pic>
        <p:nvPicPr>
          <p:cNvPr id="10" name="Picture 9"/>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77894" y="4488246"/>
            <a:ext cx="8470570" cy="2152396"/>
          </a:xfrm>
          <a:prstGeom prst="rect">
            <a:avLst/>
          </a:prstGeom>
        </p:spPr>
      </p:pic>
      <p:sp>
        <p:nvSpPr>
          <p:cNvPr id="12" name="Down Arrow 11"/>
          <p:cNvSpPr/>
          <p:nvPr/>
        </p:nvSpPr>
        <p:spPr>
          <a:xfrm rot="2255885">
            <a:off x="6033512" y="3310304"/>
            <a:ext cx="268108" cy="2285667"/>
          </a:xfrm>
          <a:prstGeom prst="downArrow">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TextBox 12"/>
          <p:cNvSpPr txBox="1"/>
          <p:nvPr/>
        </p:nvSpPr>
        <p:spPr>
          <a:xfrm>
            <a:off x="6646728" y="3200202"/>
            <a:ext cx="1971514" cy="461665"/>
          </a:xfrm>
          <a:prstGeom prst="rect">
            <a:avLst/>
          </a:prstGeom>
          <a:noFill/>
        </p:spPr>
        <p:txBody>
          <a:bodyPr wrap="square" rtlCol="0">
            <a:spAutoFit/>
          </a:bodyPr>
          <a:lstStyle/>
          <a:p>
            <a:pPr algn="ctr"/>
            <a:r>
              <a:rPr lang="en-GB" sz="2400" b="1" dirty="0"/>
              <a:t>2. Hotspot</a:t>
            </a:r>
          </a:p>
        </p:txBody>
      </p:sp>
      <p:sp>
        <p:nvSpPr>
          <p:cNvPr id="14" name="TextBox 13"/>
          <p:cNvSpPr txBox="1"/>
          <p:nvPr/>
        </p:nvSpPr>
        <p:spPr>
          <a:xfrm>
            <a:off x="6660232" y="1673429"/>
            <a:ext cx="2376264" cy="830997"/>
          </a:xfrm>
          <a:prstGeom prst="rect">
            <a:avLst/>
          </a:prstGeom>
          <a:noFill/>
        </p:spPr>
        <p:txBody>
          <a:bodyPr wrap="square" rtlCol="0">
            <a:spAutoFit/>
          </a:bodyPr>
          <a:lstStyle/>
          <a:p>
            <a:r>
              <a:rPr lang="en-GB" sz="2400" b="1" dirty="0"/>
              <a:t>Magma generated</a:t>
            </a:r>
          </a:p>
        </p:txBody>
      </p:sp>
      <p:cxnSp>
        <p:nvCxnSpPr>
          <p:cNvPr id="15" name="Straight Arrow Connector 14"/>
          <p:cNvCxnSpPr/>
          <p:nvPr/>
        </p:nvCxnSpPr>
        <p:spPr>
          <a:xfrm flipH="1">
            <a:off x="5652120" y="2132856"/>
            <a:ext cx="1008112" cy="1368152"/>
          </a:xfrm>
          <a:prstGeom prst="straightConnector1">
            <a:avLst/>
          </a:prstGeom>
          <a:ln w="28575">
            <a:solidFill>
              <a:schemeClr val="tx1"/>
            </a:solidFill>
            <a:tailEnd type="oval"/>
          </a:ln>
        </p:spPr>
        <p:style>
          <a:lnRef idx="1">
            <a:schemeClr val="accent1"/>
          </a:lnRef>
          <a:fillRef idx="0">
            <a:schemeClr val="accent1"/>
          </a:fillRef>
          <a:effectRef idx="0">
            <a:schemeClr val="accent1"/>
          </a:effectRef>
          <a:fontRef idx="minor">
            <a:schemeClr val="tx1"/>
          </a:fontRef>
        </p:style>
      </p:cxnSp>
      <p:pic>
        <p:nvPicPr>
          <p:cNvPr id="5122" name="Picture 2"/>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4792" y="216104"/>
            <a:ext cx="8553450" cy="14573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16346218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27C5C-4763-48C9-8E36-C8FD00B5100D}"/>
              </a:ext>
            </a:extLst>
          </p:cNvPr>
          <p:cNvSpPr>
            <a:spLocks noGrp="1"/>
          </p:cNvSpPr>
          <p:nvPr>
            <p:ph type="title"/>
          </p:nvPr>
        </p:nvSpPr>
        <p:spPr/>
        <p:txBody>
          <a:bodyPr/>
          <a:lstStyle/>
          <a:p>
            <a:r>
              <a:rPr lang="en-IN" dirty="0"/>
              <a:t>Hotspots</a:t>
            </a:r>
          </a:p>
        </p:txBody>
      </p:sp>
      <p:pic>
        <p:nvPicPr>
          <p:cNvPr id="2050" name="Picture 2" descr="Magnetic Anomalies at the World's ...">
            <a:extLst>
              <a:ext uri="{FF2B5EF4-FFF2-40B4-BE49-F238E27FC236}">
                <a16:creationId xmlns:a16="http://schemas.microsoft.com/office/drawing/2014/main" id="{9BD40469-1D1A-46D7-BF7B-2CFF318FD67B}"/>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457200" y="1828800"/>
            <a:ext cx="8498010" cy="437118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282329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61350" y="2009364"/>
            <a:ext cx="8085508" cy="4640655"/>
          </a:xfrm>
          <a:prstGeom prst="rect">
            <a:avLst/>
          </a:prstGeom>
        </p:spPr>
      </p:pic>
      <p:sp>
        <p:nvSpPr>
          <p:cNvPr id="5" name="TextBox 4"/>
          <p:cNvSpPr txBox="1"/>
          <p:nvPr/>
        </p:nvSpPr>
        <p:spPr>
          <a:xfrm>
            <a:off x="361350" y="1890213"/>
            <a:ext cx="504056" cy="369332"/>
          </a:xfrm>
          <a:prstGeom prst="rect">
            <a:avLst/>
          </a:prstGeom>
          <a:noFill/>
        </p:spPr>
        <p:txBody>
          <a:bodyPr wrap="square" rtlCol="0">
            <a:spAutoFit/>
          </a:bodyPr>
          <a:lstStyle/>
          <a:p>
            <a:r>
              <a:rPr lang="en-GB" b="1" dirty="0"/>
              <a:t>a)</a:t>
            </a:r>
          </a:p>
        </p:txBody>
      </p:sp>
      <p:sp>
        <p:nvSpPr>
          <p:cNvPr id="7" name="TextBox 6"/>
          <p:cNvSpPr txBox="1"/>
          <p:nvPr/>
        </p:nvSpPr>
        <p:spPr>
          <a:xfrm>
            <a:off x="2461525" y="1824698"/>
            <a:ext cx="504056" cy="369332"/>
          </a:xfrm>
          <a:prstGeom prst="rect">
            <a:avLst/>
          </a:prstGeom>
          <a:noFill/>
        </p:spPr>
        <p:txBody>
          <a:bodyPr wrap="square" rtlCol="0">
            <a:spAutoFit/>
          </a:bodyPr>
          <a:lstStyle/>
          <a:p>
            <a:r>
              <a:rPr lang="en-GB" b="1" dirty="0"/>
              <a:t>b)</a:t>
            </a:r>
          </a:p>
        </p:txBody>
      </p:sp>
      <p:sp>
        <p:nvSpPr>
          <p:cNvPr id="8" name="TextBox 7"/>
          <p:cNvSpPr txBox="1"/>
          <p:nvPr/>
        </p:nvSpPr>
        <p:spPr>
          <a:xfrm>
            <a:off x="4379091" y="1824395"/>
            <a:ext cx="504056" cy="369332"/>
          </a:xfrm>
          <a:prstGeom prst="rect">
            <a:avLst/>
          </a:prstGeom>
          <a:noFill/>
        </p:spPr>
        <p:txBody>
          <a:bodyPr wrap="square" rtlCol="0">
            <a:spAutoFit/>
          </a:bodyPr>
          <a:lstStyle/>
          <a:p>
            <a:r>
              <a:rPr lang="en-GB" b="1" dirty="0"/>
              <a:t>c)</a:t>
            </a:r>
          </a:p>
        </p:txBody>
      </p:sp>
      <p:sp>
        <p:nvSpPr>
          <p:cNvPr id="9" name="TextBox 8"/>
          <p:cNvSpPr txBox="1"/>
          <p:nvPr/>
        </p:nvSpPr>
        <p:spPr>
          <a:xfrm>
            <a:off x="6539331" y="1792432"/>
            <a:ext cx="504056" cy="369332"/>
          </a:xfrm>
          <a:prstGeom prst="rect">
            <a:avLst/>
          </a:prstGeom>
          <a:noFill/>
        </p:spPr>
        <p:txBody>
          <a:bodyPr wrap="square" rtlCol="0">
            <a:spAutoFit/>
          </a:bodyPr>
          <a:lstStyle/>
          <a:p>
            <a:r>
              <a:rPr lang="en-GB" b="1" dirty="0"/>
              <a:t>d)</a:t>
            </a:r>
          </a:p>
        </p:txBody>
      </p:sp>
      <p:sp>
        <p:nvSpPr>
          <p:cNvPr id="4" name="Title 3"/>
          <p:cNvSpPr>
            <a:spLocks noGrp="1"/>
          </p:cNvSpPr>
          <p:nvPr>
            <p:ph type="title"/>
          </p:nvPr>
        </p:nvSpPr>
        <p:spPr>
          <a:xfrm>
            <a:off x="0" y="27921"/>
            <a:ext cx="9144000" cy="1143000"/>
          </a:xfrm>
        </p:spPr>
        <p:txBody>
          <a:bodyPr/>
          <a:lstStyle/>
          <a:p>
            <a:r>
              <a:rPr lang="en-GB" dirty="0"/>
              <a:t>Magma generation from the mantle</a:t>
            </a:r>
          </a:p>
        </p:txBody>
      </p:sp>
    </p:spTree>
    <p:extLst>
      <p:ext uri="{BB962C8B-B14F-4D97-AF65-F5344CB8AC3E}">
        <p14:creationId xmlns:p14="http://schemas.microsoft.com/office/powerpoint/2010/main" val="200684781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B402F0-084A-4F3C-AB21-0187AE2A196D}"/>
              </a:ext>
            </a:extLst>
          </p:cNvPr>
          <p:cNvSpPr>
            <a:spLocks noGrp="1"/>
          </p:cNvSpPr>
          <p:nvPr>
            <p:ph type="title"/>
          </p:nvPr>
        </p:nvSpPr>
        <p:spPr/>
        <p:txBody>
          <a:bodyPr/>
          <a:lstStyle/>
          <a:p>
            <a:endParaRPr lang="en-IN" dirty="0"/>
          </a:p>
        </p:txBody>
      </p:sp>
      <p:pic>
        <p:nvPicPr>
          <p:cNvPr id="5" name="Picture 4">
            <a:extLst>
              <a:ext uri="{FF2B5EF4-FFF2-40B4-BE49-F238E27FC236}">
                <a16:creationId xmlns:a16="http://schemas.microsoft.com/office/drawing/2014/main" id="{E9E0F6C7-0F52-45DD-8B28-4AD83E1D59CE}"/>
              </a:ext>
            </a:extLst>
          </p:cNvPr>
          <p:cNvPicPr>
            <a:picLocks noChangeAspect="1"/>
          </p:cNvPicPr>
          <p:nvPr/>
        </p:nvPicPr>
        <p:blipFill>
          <a:blip r:embed="rId2"/>
          <a:stretch>
            <a:fillRect/>
          </a:stretch>
        </p:blipFill>
        <p:spPr>
          <a:xfrm>
            <a:off x="311857" y="1905000"/>
            <a:ext cx="8832143" cy="4253062"/>
          </a:xfrm>
          <a:prstGeom prst="rect">
            <a:avLst/>
          </a:prstGeom>
        </p:spPr>
      </p:pic>
    </p:spTree>
    <p:extLst>
      <p:ext uri="{BB962C8B-B14F-4D97-AF65-F5344CB8AC3E}">
        <p14:creationId xmlns:p14="http://schemas.microsoft.com/office/powerpoint/2010/main" val="204210629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C4FAC45-DD01-44B6-A31D-536D70D2C43D}"/>
              </a:ext>
            </a:extLst>
          </p:cNvPr>
          <p:cNvPicPr>
            <a:picLocks noChangeAspect="1"/>
          </p:cNvPicPr>
          <p:nvPr/>
        </p:nvPicPr>
        <p:blipFill>
          <a:blip r:embed="rId2"/>
          <a:stretch>
            <a:fillRect/>
          </a:stretch>
        </p:blipFill>
        <p:spPr>
          <a:xfrm>
            <a:off x="838200" y="487819"/>
            <a:ext cx="6705600" cy="5969479"/>
          </a:xfrm>
          <a:prstGeom prst="rect">
            <a:avLst/>
          </a:prstGeom>
        </p:spPr>
      </p:pic>
    </p:spTree>
    <p:extLst>
      <p:ext uri="{BB962C8B-B14F-4D97-AF65-F5344CB8AC3E}">
        <p14:creationId xmlns:p14="http://schemas.microsoft.com/office/powerpoint/2010/main" val="6712075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74" name="Picture 2">
            <a:extLst>
              <a:ext uri="{FF2B5EF4-FFF2-40B4-BE49-F238E27FC236}">
                <a16:creationId xmlns:a16="http://schemas.microsoft.com/office/drawing/2014/main" id="{A7C136F8-8B9E-4EF2-8161-F773E2C6C02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09600" y="1066800"/>
            <a:ext cx="7543800" cy="503610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6632275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5842" name="Picture 4">
            <a:extLst>
              <a:ext uri="{FF2B5EF4-FFF2-40B4-BE49-F238E27FC236}">
                <a16:creationId xmlns:a16="http://schemas.microsoft.com/office/drawing/2014/main" id="{4F1B944B-3240-4396-9E6A-2644FC7A96D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l="8778"/>
          <a:stretch>
            <a:fillRect/>
          </a:stretch>
        </p:blipFill>
        <p:spPr bwMode="auto">
          <a:xfrm>
            <a:off x="3886200" y="148431"/>
            <a:ext cx="4652962" cy="6256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 name="TextBox 3">
            <a:extLst>
              <a:ext uri="{FF2B5EF4-FFF2-40B4-BE49-F238E27FC236}">
                <a16:creationId xmlns:a16="http://schemas.microsoft.com/office/drawing/2014/main" id="{B90017C8-1D87-4545-93BF-5146A606165E}"/>
              </a:ext>
            </a:extLst>
          </p:cNvPr>
          <p:cNvSpPr txBox="1"/>
          <p:nvPr/>
        </p:nvSpPr>
        <p:spPr>
          <a:xfrm>
            <a:off x="152400" y="990600"/>
            <a:ext cx="3352800" cy="1703030"/>
          </a:xfrm>
          <a:prstGeom prst="rect">
            <a:avLst/>
          </a:prstGeom>
          <a:noFill/>
        </p:spPr>
        <p:txBody>
          <a:bodyPr wrap="square">
            <a:spAutoFit/>
          </a:bodyPr>
          <a:lstStyle/>
          <a:p>
            <a:pPr algn="just">
              <a:lnSpc>
                <a:spcPct val="150000"/>
              </a:lnSpc>
            </a:pPr>
            <a:r>
              <a:rPr lang="en-US" dirty="0"/>
              <a:t>The Earth’s core comprises about </a:t>
            </a:r>
            <a:r>
              <a:rPr lang="en-US" dirty="0">
                <a:solidFill>
                  <a:srgbClr val="00B050"/>
                </a:solidFill>
              </a:rPr>
              <a:t>16%</a:t>
            </a:r>
            <a:r>
              <a:rPr lang="en-US" dirty="0"/>
              <a:t> of the Earth’s volume and </a:t>
            </a:r>
            <a:r>
              <a:rPr lang="en-US" dirty="0">
                <a:solidFill>
                  <a:srgbClr val="00B050"/>
                </a:solidFill>
              </a:rPr>
              <a:t>31%</a:t>
            </a:r>
            <a:r>
              <a:rPr lang="en-US" dirty="0"/>
              <a:t> of the Earth’s mass.</a:t>
            </a:r>
            <a:endParaRPr lang="en-IN" dirty="0"/>
          </a:p>
        </p:txBody>
      </p:sp>
      <p:sp>
        <p:nvSpPr>
          <p:cNvPr id="6" name="TextBox 5">
            <a:extLst>
              <a:ext uri="{FF2B5EF4-FFF2-40B4-BE49-F238E27FC236}">
                <a16:creationId xmlns:a16="http://schemas.microsoft.com/office/drawing/2014/main" id="{9772B079-E961-4C97-B869-A5BE72BD4034}"/>
              </a:ext>
            </a:extLst>
          </p:cNvPr>
          <p:cNvSpPr txBox="1"/>
          <p:nvPr/>
        </p:nvSpPr>
        <p:spPr>
          <a:xfrm>
            <a:off x="36786" y="3276600"/>
            <a:ext cx="3429000" cy="2118529"/>
          </a:xfrm>
          <a:prstGeom prst="rect">
            <a:avLst/>
          </a:prstGeom>
          <a:noFill/>
        </p:spPr>
        <p:txBody>
          <a:bodyPr wrap="square">
            <a:spAutoFit/>
          </a:bodyPr>
          <a:lstStyle/>
          <a:p>
            <a:pPr algn="just">
              <a:lnSpc>
                <a:spcPct val="150000"/>
              </a:lnSpc>
            </a:pPr>
            <a:r>
              <a:rPr lang="en-US" dirty="0"/>
              <a:t>Composition for the core (in wt%): </a:t>
            </a:r>
            <a:r>
              <a:rPr lang="en-US" dirty="0">
                <a:solidFill>
                  <a:srgbClr val="00B050"/>
                </a:solidFill>
              </a:rPr>
              <a:t>Fe – 85.55, O – 5.18, Ni – 4.88, S – 2.69, Cr – 0.45, Mn – 0.41, P – 0.35, Co – 0.22, Cl – 0.07, and possibly K – 0.02</a:t>
            </a:r>
            <a:endParaRPr lang="en-IN" dirty="0">
              <a:solidFill>
                <a:srgbClr val="00B050"/>
              </a:solidFill>
            </a:endParaRPr>
          </a:p>
        </p:txBody>
      </p:sp>
    </p:spTree>
    <p:extLst>
      <p:ext uri="{BB962C8B-B14F-4D97-AF65-F5344CB8AC3E}">
        <p14:creationId xmlns:p14="http://schemas.microsoft.com/office/powerpoint/2010/main" val="227842397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2F57B3D2-C10C-40CA-B537-75C3AA28E8F4}"/>
              </a:ext>
            </a:extLst>
          </p:cNvPr>
          <p:cNvSpPr txBox="1"/>
          <p:nvPr/>
        </p:nvSpPr>
        <p:spPr>
          <a:xfrm>
            <a:off x="266700" y="1295400"/>
            <a:ext cx="8610600" cy="4992392"/>
          </a:xfrm>
          <a:prstGeom prst="rect">
            <a:avLst/>
          </a:prstGeom>
          <a:noFill/>
        </p:spPr>
        <p:txBody>
          <a:bodyPr wrap="square">
            <a:spAutoFit/>
          </a:bodyPr>
          <a:lstStyle/>
          <a:p>
            <a:pPr algn="just">
              <a:lnSpc>
                <a:spcPct val="200000"/>
              </a:lnSpc>
              <a:buFont typeface="+mj-lt"/>
              <a:buAutoNum type="arabicPeriod"/>
            </a:pPr>
            <a:r>
              <a:rPr lang="en-US" dirty="0"/>
              <a:t>What is the role of partial melting in the diversity of igneous rocks?</a:t>
            </a:r>
          </a:p>
          <a:p>
            <a:pPr algn="just">
              <a:lnSpc>
                <a:spcPct val="200000"/>
              </a:lnSpc>
              <a:buFont typeface="+mj-lt"/>
              <a:buAutoNum type="arabicPeriod"/>
            </a:pPr>
            <a:r>
              <a:rPr lang="en-US" dirty="0"/>
              <a:t>Why do igneous rocks vary in composition even if they originate from the same magma source?</a:t>
            </a:r>
          </a:p>
          <a:p>
            <a:pPr algn="just">
              <a:lnSpc>
                <a:spcPct val="200000"/>
              </a:lnSpc>
            </a:pPr>
            <a:r>
              <a:rPr lang="en-US" dirty="0"/>
              <a:t>3. Can we explain the order of mineral crystallization in magma?</a:t>
            </a:r>
          </a:p>
          <a:p>
            <a:pPr algn="just">
              <a:lnSpc>
                <a:spcPct val="200000"/>
              </a:lnSpc>
            </a:pPr>
            <a:r>
              <a:rPr lang="en-US" dirty="0"/>
              <a:t>4. What processes lead to the formation of felsic, intermediate, mafic, and ultramafic rocks?</a:t>
            </a:r>
          </a:p>
          <a:p>
            <a:pPr algn="just">
              <a:lnSpc>
                <a:spcPct val="200000"/>
              </a:lnSpc>
            </a:pPr>
            <a:r>
              <a:rPr lang="en-US" dirty="0"/>
              <a:t>5. How do volatile components (e.g., water, carbon dioxide) influence magma evolution?</a:t>
            </a:r>
          </a:p>
          <a:p>
            <a:pPr algn="just">
              <a:lnSpc>
                <a:spcPct val="200000"/>
              </a:lnSpc>
            </a:pPr>
            <a:r>
              <a:rPr lang="en-US" dirty="0"/>
              <a:t>6. How do trace elements behave in these systems?</a:t>
            </a:r>
          </a:p>
        </p:txBody>
      </p:sp>
    </p:spTree>
    <p:extLst>
      <p:ext uri="{BB962C8B-B14F-4D97-AF65-F5344CB8AC3E}">
        <p14:creationId xmlns:p14="http://schemas.microsoft.com/office/powerpoint/2010/main" val="151930710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09B7E849-947F-4D21-BA9D-E455D0FCBBFC}"/>
              </a:ext>
            </a:extLst>
          </p:cNvPr>
          <p:cNvSpPr txBox="1"/>
          <p:nvPr/>
        </p:nvSpPr>
        <p:spPr>
          <a:xfrm>
            <a:off x="1371600" y="2438400"/>
            <a:ext cx="6096000" cy="369332"/>
          </a:xfrm>
          <a:prstGeom prst="rect">
            <a:avLst/>
          </a:prstGeom>
          <a:noFill/>
        </p:spPr>
        <p:txBody>
          <a:bodyPr wrap="square">
            <a:spAutoFit/>
          </a:bodyPr>
          <a:lstStyle/>
          <a:p>
            <a:r>
              <a:rPr lang="en-IN" b="1" dirty="0"/>
              <a:t>Rocks formed from the solidification Magma?</a:t>
            </a:r>
          </a:p>
        </p:txBody>
      </p:sp>
      <p:pic>
        <p:nvPicPr>
          <p:cNvPr id="7" name="Picture 6">
            <a:extLst>
              <a:ext uri="{FF2B5EF4-FFF2-40B4-BE49-F238E27FC236}">
                <a16:creationId xmlns:a16="http://schemas.microsoft.com/office/drawing/2014/main" id="{EC18DFD4-7177-4BDE-9058-673EAD30825D}"/>
              </a:ext>
            </a:extLst>
          </p:cNvPr>
          <p:cNvPicPr>
            <a:picLocks noChangeAspect="1"/>
          </p:cNvPicPr>
          <p:nvPr/>
        </p:nvPicPr>
        <p:blipFill>
          <a:blip r:embed="rId2"/>
          <a:stretch>
            <a:fillRect/>
          </a:stretch>
        </p:blipFill>
        <p:spPr>
          <a:xfrm>
            <a:off x="76939" y="2133600"/>
            <a:ext cx="8849990" cy="3165544"/>
          </a:xfrm>
          <a:prstGeom prst="rect">
            <a:avLst/>
          </a:prstGeom>
        </p:spPr>
      </p:pic>
    </p:spTree>
    <p:extLst>
      <p:ext uri="{BB962C8B-B14F-4D97-AF65-F5344CB8AC3E}">
        <p14:creationId xmlns:p14="http://schemas.microsoft.com/office/powerpoint/2010/main" val="359208869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FEB50B-15A4-4EC5-8884-3A1C1BF10295}"/>
              </a:ext>
            </a:extLst>
          </p:cNvPr>
          <p:cNvSpPr>
            <a:spLocks noGrp="1"/>
          </p:cNvSpPr>
          <p:nvPr>
            <p:ph type="title"/>
          </p:nvPr>
        </p:nvSpPr>
        <p:spPr>
          <a:xfrm>
            <a:off x="34158" y="18393"/>
            <a:ext cx="9186041" cy="1143000"/>
          </a:xfrm>
        </p:spPr>
        <p:txBody>
          <a:bodyPr/>
          <a:lstStyle/>
          <a:p>
            <a:r>
              <a:rPr lang="en-IN" dirty="0"/>
              <a:t>Variation in elemental concentration</a:t>
            </a:r>
          </a:p>
        </p:txBody>
      </p:sp>
      <p:sp>
        <p:nvSpPr>
          <p:cNvPr id="4" name="Text Box 7">
            <a:extLst>
              <a:ext uri="{FF2B5EF4-FFF2-40B4-BE49-F238E27FC236}">
                <a16:creationId xmlns:a16="http://schemas.microsoft.com/office/drawing/2014/main" id="{2F2DC1AA-BA1D-410C-8AEE-C2C11326B8F4}"/>
              </a:ext>
            </a:extLst>
          </p:cNvPr>
          <p:cNvSpPr txBox="1">
            <a:spLocks noChangeArrowheads="1"/>
          </p:cNvSpPr>
          <p:nvPr/>
        </p:nvSpPr>
        <p:spPr bwMode="auto">
          <a:xfrm>
            <a:off x="573088" y="1289050"/>
            <a:ext cx="3390900" cy="8309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en-US" altLang="en-US" dirty="0">
                <a:effectLst>
                  <a:outerShdw blurRad="38100" dist="38100" dir="2700000" algn="tl">
                    <a:srgbClr val="000000"/>
                  </a:outerShdw>
                </a:effectLst>
              </a:rPr>
              <a:t>Note magnitude of major element changes</a:t>
            </a:r>
          </a:p>
        </p:txBody>
      </p:sp>
      <p:pic>
        <p:nvPicPr>
          <p:cNvPr id="5" name="Picture 436">
            <a:extLst>
              <a:ext uri="{FF2B5EF4-FFF2-40B4-BE49-F238E27FC236}">
                <a16:creationId xmlns:a16="http://schemas.microsoft.com/office/drawing/2014/main" id="{B939C4DD-0E5B-42E5-8D04-5231DFE49A2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963988" y="1140104"/>
            <a:ext cx="4876800" cy="5699503"/>
          </a:xfrm>
          <a:prstGeom prst="rect">
            <a:avLst/>
          </a:prstGeom>
          <a:noFill/>
          <a:extLst>
            <a:ext uri="{909E8E84-426E-40DD-AFC4-6F175D3DCCD1}">
              <a14:hiddenFill xmlns:a14="http://schemas.microsoft.com/office/drawing/2010/main">
                <a:solidFill>
                  <a:srgbClr val="FFFFFF"/>
                </a:solidFill>
              </a14:hiddenFill>
            </a:ext>
          </a:extLst>
        </p:spPr>
      </p:pic>
      <p:sp>
        <p:nvSpPr>
          <p:cNvPr id="6" name="Rectangle 437">
            <a:extLst>
              <a:ext uri="{FF2B5EF4-FFF2-40B4-BE49-F238E27FC236}">
                <a16:creationId xmlns:a16="http://schemas.microsoft.com/office/drawing/2014/main" id="{5F341326-30B4-46F5-B613-CB2934344E0E}"/>
              </a:ext>
            </a:extLst>
          </p:cNvPr>
          <p:cNvSpPr>
            <a:spLocks noChangeArrowheads="1"/>
          </p:cNvSpPr>
          <p:nvPr/>
        </p:nvSpPr>
        <p:spPr bwMode="auto">
          <a:xfrm>
            <a:off x="573088" y="4581525"/>
            <a:ext cx="2965450" cy="13700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lang="en-US" altLang="en-US" sz="1200" b="1">
                <a:solidFill>
                  <a:srgbClr val="FF0066"/>
                </a:solidFill>
                <a:effectLst/>
                <a:latin typeface="Arial" panose="020B0604020202020204" pitchFamily="34" charset="0"/>
                <a:cs typeface="Arial" panose="020B0604020202020204" pitchFamily="34" charset="0"/>
              </a:rPr>
              <a:t>Figure 8-2.</a:t>
            </a:r>
            <a:r>
              <a:rPr lang="en-US" altLang="en-US" sz="1200" b="1">
                <a:effectLst/>
                <a:latin typeface="Arial" panose="020B0604020202020204" pitchFamily="34" charset="0"/>
                <a:cs typeface="Arial" panose="020B0604020202020204" pitchFamily="34" charset="0"/>
              </a:rPr>
              <a:t> </a:t>
            </a:r>
            <a:r>
              <a:rPr lang="en-US" altLang="en-US" sz="1200">
                <a:effectLst/>
                <a:latin typeface="Arial" panose="020B0604020202020204" pitchFamily="34" charset="0"/>
                <a:cs typeface="Arial" panose="020B0604020202020204" pitchFamily="34" charset="0"/>
              </a:rPr>
              <a:t>Harker variation diagram for 310 analyzed volcanic rocks from Crater Lake (Mt. Mazama), Oregon Cascades. Data compiled by Rick Conrey (personal communication).</a:t>
            </a:r>
            <a:r>
              <a:rPr lang="en-US" altLang="en-US" sz="1200">
                <a:effectLst/>
                <a:latin typeface="Arial" panose="020B0604020202020204" pitchFamily="34" charset="0"/>
              </a:rPr>
              <a:t> </a:t>
            </a:r>
            <a:r>
              <a:rPr lang="en-US" altLang="en-US" sz="1200">
                <a:effectLst>
                  <a:outerShdw blurRad="38100" dist="38100" dir="2700000" algn="tl">
                    <a:srgbClr val="000000"/>
                  </a:outerShdw>
                </a:effectLst>
                <a:latin typeface="Arial" panose="020B0604020202020204" pitchFamily="34" charset="0"/>
              </a:rPr>
              <a:t>From Winter (2001) An Introduction to Igneous and Metamorphic Petrology. Prentice Hall.</a:t>
            </a:r>
          </a:p>
        </p:txBody>
      </p:sp>
    </p:spTree>
    <p:extLst>
      <p:ext uri="{BB962C8B-B14F-4D97-AF65-F5344CB8AC3E}">
        <p14:creationId xmlns:p14="http://schemas.microsoft.com/office/powerpoint/2010/main" val="34286818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346" name="Rectangle 2">
            <a:extLst>
              <a:ext uri="{FF2B5EF4-FFF2-40B4-BE49-F238E27FC236}">
                <a16:creationId xmlns:a16="http://schemas.microsoft.com/office/drawing/2014/main" id="{896D555D-62D6-4372-BBBC-9C83F631A1D1}"/>
              </a:ext>
            </a:extLst>
          </p:cNvPr>
          <p:cNvSpPr>
            <a:spLocks noGrp="1" noChangeArrowheads="1"/>
          </p:cNvSpPr>
          <p:nvPr>
            <p:ph type="title"/>
          </p:nvPr>
        </p:nvSpPr>
        <p:spPr>
          <a:xfrm>
            <a:off x="114300" y="18393"/>
            <a:ext cx="8915400" cy="838200"/>
          </a:xfrm>
        </p:spPr>
        <p:txBody>
          <a:bodyPr/>
          <a:lstStyle/>
          <a:p>
            <a:pPr>
              <a:defRPr/>
            </a:pPr>
            <a:r>
              <a:rPr lang="en-US" dirty="0">
                <a:solidFill>
                  <a:schemeClr val="tx1"/>
                </a:solidFill>
              </a:rPr>
              <a:t>Classification of Igneous Rocks</a:t>
            </a:r>
          </a:p>
        </p:txBody>
      </p:sp>
      <p:sp>
        <p:nvSpPr>
          <p:cNvPr id="3075" name="Text Box 18">
            <a:extLst>
              <a:ext uri="{FF2B5EF4-FFF2-40B4-BE49-F238E27FC236}">
                <a16:creationId xmlns:a16="http://schemas.microsoft.com/office/drawing/2014/main" id="{1E87E2C4-D6E7-4F6B-B496-508107574319}"/>
              </a:ext>
            </a:extLst>
          </p:cNvPr>
          <p:cNvSpPr txBox="1">
            <a:spLocks noChangeArrowheads="1"/>
          </p:cNvSpPr>
          <p:nvPr/>
        </p:nvSpPr>
        <p:spPr bwMode="auto">
          <a:xfrm>
            <a:off x="-15766" y="880241"/>
            <a:ext cx="9677400" cy="4524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sz="2400">
                <a:solidFill>
                  <a:schemeClr val="tx1"/>
                </a:solidFill>
                <a:latin typeface="Arial" panose="020B0604020202020204" pitchFamily="34" charset="0"/>
              </a:defRPr>
            </a:lvl1pPr>
            <a:lvl2pPr marL="1028700" indent="-571500">
              <a:defRPr sz="2400">
                <a:solidFill>
                  <a:schemeClr val="tx1"/>
                </a:solidFill>
                <a:latin typeface="Arial" panose="020B0604020202020204" pitchFamily="34" charset="0"/>
              </a:defRPr>
            </a:lvl2pPr>
            <a:lvl3pPr marL="1143000">
              <a:defRPr sz="2400">
                <a:solidFill>
                  <a:schemeClr val="tx1"/>
                </a:solidFill>
                <a:latin typeface="Arial" panose="020B0604020202020204" pitchFamily="34" charset="0"/>
              </a:defRPr>
            </a:lvl3pPr>
            <a:lvl4pPr marL="1600200" indent="-228600">
              <a:defRPr sz="2400">
                <a:solidFill>
                  <a:schemeClr val="tx1"/>
                </a:solidFill>
                <a:latin typeface="Arial" panose="020B0604020202020204" pitchFamily="34" charset="0"/>
              </a:defRPr>
            </a:lvl4pPr>
            <a:lvl5pPr marL="2057400" indent="-228600">
              <a:defRPr sz="2400">
                <a:solidFill>
                  <a:schemeClr val="tx1"/>
                </a:solidFill>
                <a:latin typeface="Arial" panose="020B0604020202020204" pitchFamily="34" charset="0"/>
              </a:defRPr>
            </a:lvl5pPr>
            <a:lvl6pPr marL="2514600" indent="-228600" eaLnBrk="0" fontAlgn="base" hangingPunct="0">
              <a:spcBef>
                <a:spcPct val="0"/>
              </a:spcBef>
              <a:spcAft>
                <a:spcPct val="0"/>
              </a:spcAft>
              <a:defRPr sz="2400">
                <a:solidFill>
                  <a:schemeClr val="tx1"/>
                </a:solidFill>
                <a:latin typeface="Arial" panose="020B0604020202020204" pitchFamily="34" charset="0"/>
              </a:defRPr>
            </a:lvl6pPr>
            <a:lvl7pPr marL="2971800" indent="-228600" eaLnBrk="0" fontAlgn="base" hangingPunct="0">
              <a:spcBef>
                <a:spcPct val="0"/>
              </a:spcBef>
              <a:spcAft>
                <a:spcPct val="0"/>
              </a:spcAft>
              <a:defRPr sz="2400">
                <a:solidFill>
                  <a:schemeClr val="tx1"/>
                </a:solidFill>
                <a:latin typeface="Arial" panose="020B0604020202020204" pitchFamily="34" charset="0"/>
              </a:defRPr>
            </a:lvl7pPr>
            <a:lvl8pPr marL="3429000" indent="-228600" eaLnBrk="0" fontAlgn="base" hangingPunct="0">
              <a:spcBef>
                <a:spcPct val="0"/>
              </a:spcBef>
              <a:spcAft>
                <a:spcPct val="0"/>
              </a:spcAft>
              <a:defRPr sz="2400">
                <a:solidFill>
                  <a:schemeClr val="tx1"/>
                </a:solidFill>
                <a:latin typeface="Arial" panose="020B0604020202020204" pitchFamily="34" charset="0"/>
              </a:defRPr>
            </a:lvl8pPr>
            <a:lvl9pPr marL="3886200" indent="-228600" eaLnBrk="0" fontAlgn="base" hangingPunct="0">
              <a:spcBef>
                <a:spcPct val="0"/>
              </a:spcBef>
              <a:spcAft>
                <a:spcPct val="0"/>
              </a:spcAft>
              <a:defRPr sz="2400">
                <a:solidFill>
                  <a:schemeClr val="tx1"/>
                </a:solidFill>
                <a:latin typeface="Arial" panose="020B0604020202020204" pitchFamily="34" charset="0"/>
              </a:defRPr>
            </a:lvl9pPr>
          </a:lstStyle>
          <a:p>
            <a:r>
              <a:rPr lang="en-US" altLang="en-US" sz="3200" b="1" dirty="0">
                <a:latin typeface="Times New Roman" panose="02020603050405020304" pitchFamily="18" charset="0"/>
              </a:rPr>
              <a:t>Textures:</a:t>
            </a:r>
          </a:p>
          <a:p>
            <a:pPr lvl="1"/>
            <a:r>
              <a:rPr lang="en-US" altLang="en-US" sz="3200" dirty="0">
                <a:latin typeface="Times New Roman" panose="02020603050405020304" pitchFamily="18" charset="0"/>
              </a:rPr>
              <a:t>Aphanitic- crystals too small to see by eye</a:t>
            </a:r>
          </a:p>
          <a:p>
            <a:pPr lvl="1"/>
            <a:r>
              <a:rPr lang="en-US" altLang="en-US" sz="3200" dirty="0">
                <a:latin typeface="Times New Roman" panose="02020603050405020304" pitchFamily="18" charset="0"/>
              </a:rPr>
              <a:t>Phaneritic- can see the constituent minerals</a:t>
            </a:r>
          </a:p>
          <a:p>
            <a:pPr lvl="2"/>
            <a:r>
              <a:rPr lang="en-US" altLang="en-US" sz="3200" dirty="0">
                <a:latin typeface="Times New Roman" panose="02020603050405020304" pitchFamily="18" charset="0"/>
              </a:rPr>
              <a:t>Fine grained- &lt; 1 mm diameter</a:t>
            </a:r>
          </a:p>
          <a:p>
            <a:pPr lvl="2"/>
            <a:r>
              <a:rPr lang="en-US" altLang="en-US" sz="3200" dirty="0">
                <a:latin typeface="Times New Roman" panose="02020603050405020304" pitchFamily="18" charset="0"/>
              </a:rPr>
              <a:t>Medium grained- 1-5 mm diameter</a:t>
            </a:r>
          </a:p>
          <a:p>
            <a:pPr lvl="2"/>
            <a:r>
              <a:rPr lang="en-US" altLang="en-US" sz="3200" dirty="0">
                <a:latin typeface="Times New Roman" panose="02020603050405020304" pitchFamily="18" charset="0"/>
              </a:rPr>
              <a:t>Coarse grained- 5-50 mm diameter</a:t>
            </a:r>
          </a:p>
          <a:p>
            <a:pPr lvl="2"/>
            <a:r>
              <a:rPr lang="en-US" altLang="en-US" sz="3200" dirty="0">
                <a:latin typeface="Times New Roman" panose="02020603050405020304" pitchFamily="18" charset="0"/>
              </a:rPr>
              <a:t>Very coarse grained- &gt; 50 mm diameter</a:t>
            </a:r>
          </a:p>
          <a:p>
            <a:pPr lvl="1"/>
            <a:r>
              <a:rPr lang="en-US" altLang="en-US" sz="3200" dirty="0">
                <a:latin typeface="Times New Roman" panose="02020603050405020304" pitchFamily="18" charset="0"/>
              </a:rPr>
              <a:t>Porphyritic- bimodal grain size distribution</a:t>
            </a:r>
          </a:p>
          <a:p>
            <a:pPr lvl="1"/>
            <a:r>
              <a:rPr lang="en-US" altLang="en-US" sz="3200" dirty="0">
                <a:latin typeface="Times New Roman" panose="02020603050405020304" pitchFamily="18" charset="0"/>
              </a:rPr>
              <a:t>Glassy- no crystals formed</a:t>
            </a:r>
          </a:p>
        </p:txBody>
      </p:sp>
      <p:pic>
        <p:nvPicPr>
          <p:cNvPr id="4" name="Picture 2" descr="Porphyry - Igneous Rocks">
            <a:extLst>
              <a:ext uri="{FF2B5EF4-FFF2-40B4-BE49-F238E27FC236}">
                <a16:creationId xmlns:a16="http://schemas.microsoft.com/office/drawing/2014/main" id="{439B6AD6-C29D-4E0C-9AD5-1A0C9B61981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096000" y="5060337"/>
            <a:ext cx="3048000" cy="1779270"/>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586" name="Rectangle 2">
            <a:extLst>
              <a:ext uri="{FF2B5EF4-FFF2-40B4-BE49-F238E27FC236}">
                <a16:creationId xmlns:a16="http://schemas.microsoft.com/office/drawing/2014/main" id="{9CAF9FF2-2C1D-421B-860A-DB3357E32DC3}"/>
              </a:ext>
            </a:extLst>
          </p:cNvPr>
          <p:cNvSpPr>
            <a:spLocks noGrp="1" noChangeArrowheads="1"/>
          </p:cNvSpPr>
          <p:nvPr>
            <p:ph type="title"/>
          </p:nvPr>
        </p:nvSpPr>
        <p:spPr>
          <a:xfrm>
            <a:off x="342900" y="69850"/>
            <a:ext cx="8534400" cy="838200"/>
          </a:xfrm>
        </p:spPr>
        <p:txBody>
          <a:bodyPr/>
          <a:lstStyle/>
          <a:p>
            <a:pPr>
              <a:defRPr/>
            </a:pPr>
            <a:r>
              <a:rPr lang="en-US" dirty="0">
                <a:solidFill>
                  <a:srgbClr val="FF0000"/>
                </a:solidFill>
              </a:rPr>
              <a:t>Classification of Igneous Rocks</a:t>
            </a:r>
          </a:p>
        </p:txBody>
      </p:sp>
      <p:sp>
        <p:nvSpPr>
          <p:cNvPr id="4099" name="Text Box 3">
            <a:extLst>
              <a:ext uri="{FF2B5EF4-FFF2-40B4-BE49-F238E27FC236}">
                <a16:creationId xmlns:a16="http://schemas.microsoft.com/office/drawing/2014/main" id="{926C0F3C-AA0F-47B9-8691-14A7158A5491}"/>
              </a:ext>
            </a:extLst>
          </p:cNvPr>
          <p:cNvSpPr txBox="1">
            <a:spLocks noChangeArrowheads="1"/>
          </p:cNvSpPr>
          <p:nvPr/>
        </p:nvSpPr>
        <p:spPr bwMode="auto">
          <a:xfrm>
            <a:off x="228600" y="6096000"/>
            <a:ext cx="8763000" cy="581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sz="2400">
                <a:solidFill>
                  <a:schemeClr val="tx1"/>
                </a:solidFill>
                <a:latin typeface="Arial" panose="020B0604020202020204" pitchFamily="34" charset="0"/>
              </a:defRPr>
            </a:lvl1pPr>
            <a:lvl2pPr marL="742950" indent="-285750">
              <a:defRPr sz="2400">
                <a:solidFill>
                  <a:schemeClr val="tx1"/>
                </a:solidFill>
                <a:latin typeface="Arial" panose="020B0604020202020204" pitchFamily="34" charset="0"/>
              </a:defRPr>
            </a:lvl2pPr>
            <a:lvl3pPr marL="1143000" indent="-228600">
              <a:defRPr sz="2400">
                <a:solidFill>
                  <a:schemeClr val="tx1"/>
                </a:solidFill>
                <a:latin typeface="Arial" panose="020B0604020202020204" pitchFamily="34" charset="0"/>
              </a:defRPr>
            </a:lvl3pPr>
            <a:lvl4pPr marL="1600200" indent="-228600">
              <a:defRPr sz="2400">
                <a:solidFill>
                  <a:schemeClr val="tx1"/>
                </a:solidFill>
                <a:latin typeface="Arial" panose="020B0604020202020204" pitchFamily="34" charset="0"/>
              </a:defRPr>
            </a:lvl4pPr>
            <a:lvl5pPr marL="2057400" indent="-228600">
              <a:defRPr sz="2400">
                <a:solidFill>
                  <a:schemeClr val="tx1"/>
                </a:solidFill>
                <a:latin typeface="Arial" panose="020B0604020202020204" pitchFamily="34" charset="0"/>
              </a:defRPr>
            </a:lvl5pPr>
            <a:lvl6pPr marL="2514600" indent="-228600" eaLnBrk="0" fontAlgn="base" hangingPunct="0">
              <a:spcBef>
                <a:spcPct val="0"/>
              </a:spcBef>
              <a:spcAft>
                <a:spcPct val="0"/>
              </a:spcAft>
              <a:defRPr sz="2400">
                <a:solidFill>
                  <a:schemeClr val="tx1"/>
                </a:solidFill>
                <a:latin typeface="Arial" panose="020B0604020202020204" pitchFamily="34" charset="0"/>
              </a:defRPr>
            </a:lvl6pPr>
            <a:lvl7pPr marL="2971800" indent="-228600" eaLnBrk="0" fontAlgn="base" hangingPunct="0">
              <a:spcBef>
                <a:spcPct val="0"/>
              </a:spcBef>
              <a:spcAft>
                <a:spcPct val="0"/>
              </a:spcAft>
              <a:defRPr sz="2400">
                <a:solidFill>
                  <a:schemeClr val="tx1"/>
                </a:solidFill>
                <a:latin typeface="Arial" panose="020B0604020202020204" pitchFamily="34" charset="0"/>
              </a:defRPr>
            </a:lvl7pPr>
            <a:lvl8pPr marL="3429000" indent="-228600" eaLnBrk="0" fontAlgn="base" hangingPunct="0">
              <a:spcBef>
                <a:spcPct val="0"/>
              </a:spcBef>
              <a:spcAft>
                <a:spcPct val="0"/>
              </a:spcAft>
              <a:defRPr sz="2400">
                <a:solidFill>
                  <a:schemeClr val="tx1"/>
                </a:solidFill>
                <a:latin typeface="Arial" panose="020B0604020202020204" pitchFamily="34" charset="0"/>
              </a:defRPr>
            </a:lvl8pPr>
            <a:lvl9pPr marL="3886200" indent="-228600" eaLnBrk="0" fontAlgn="base" hangingPunct="0">
              <a:spcBef>
                <a:spcPct val="0"/>
              </a:spcBef>
              <a:spcAft>
                <a:spcPct val="0"/>
              </a:spcAft>
              <a:defRPr sz="2400">
                <a:solidFill>
                  <a:schemeClr val="tx1"/>
                </a:solidFill>
                <a:latin typeface="Arial" panose="020B0604020202020204" pitchFamily="34" charset="0"/>
              </a:defRPr>
            </a:lvl9pPr>
          </a:lstStyle>
          <a:p>
            <a:r>
              <a:rPr lang="en-US" altLang="en-US" sz="1600" b="1" dirty="0">
                <a:solidFill>
                  <a:srgbClr val="FF0033"/>
                </a:solidFill>
                <a:latin typeface="Times New Roman" panose="02020603050405020304" pitchFamily="18" charset="0"/>
                <a:cs typeface="Times New Roman" panose="02020603050405020304" pitchFamily="18" charset="0"/>
              </a:rPr>
              <a:t>Figure a</a:t>
            </a:r>
            <a:r>
              <a:rPr lang="en-US" altLang="en-US" sz="1600" dirty="0">
                <a:solidFill>
                  <a:srgbClr val="FF0033"/>
                </a:solidFill>
                <a:latin typeface="Times New Roman" panose="02020603050405020304" pitchFamily="18" charset="0"/>
                <a:cs typeface="Times New Roman" panose="02020603050405020304" pitchFamily="18" charset="0"/>
              </a:rPr>
              <a:t>.</a:t>
            </a:r>
            <a:r>
              <a:rPr lang="en-US" altLang="en-US" sz="1600" dirty="0">
                <a:solidFill>
                  <a:schemeClr val="bg2"/>
                </a:solidFill>
                <a:latin typeface="Times New Roman" panose="02020603050405020304" pitchFamily="18" charset="0"/>
                <a:cs typeface="Times New Roman" panose="02020603050405020304" pitchFamily="18" charset="0"/>
              </a:rPr>
              <a:t> Method  for plotting a point with the components: 70% X, 20% Y, and 10% Z on triangular diagrams. </a:t>
            </a:r>
            <a:r>
              <a:rPr lang="en-US" altLang="en-US" sz="1600" dirty="0">
                <a:solidFill>
                  <a:schemeClr val="bg2"/>
                </a:solidFill>
                <a:latin typeface="Times New Roman" panose="02020603050405020304" pitchFamily="18" charset="0"/>
                <a:cs typeface="Arial" panose="020B0604020202020204" pitchFamily="34" charset="0"/>
              </a:rPr>
              <a:t>An Introduction to Igneous and Metamorphic Petrology, John Winter, Prentice Hall.</a:t>
            </a:r>
          </a:p>
        </p:txBody>
      </p:sp>
      <p:pic>
        <p:nvPicPr>
          <p:cNvPr id="4100" name="Picture 4" descr="Fig 2-1a">
            <a:extLst>
              <a:ext uri="{FF2B5EF4-FFF2-40B4-BE49-F238E27FC236}">
                <a16:creationId xmlns:a16="http://schemas.microsoft.com/office/drawing/2014/main" id="{0045D20F-B54D-4D1A-AB5F-935EFB56C5A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032000" y="1054100"/>
            <a:ext cx="5080000" cy="4749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146" name="Picture 128" descr="Fig 2-2a.jpg">
            <a:extLst>
              <a:ext uri="{FF2B5EF4-FFF2-40B4-BE49-F238E27FC236}">
                <a16:creationId xmlns:a16="http://schemas.microsoft.com/office/drawing/2014/main" id="{002C4F65-751A-439F-A499-B4F2FDABF04F}"/>
              </a:ext>
            </a:extLst>
          </p:cNvPr>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2743200" y="0"/>
            <a:ext cx="6256338" cy="6858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1442" name="Rectangle 2">
            <a:extLst>
              <a:ext uri="{FF2B5EF4-FFF2-40B4-BE49-F238E27FC236}">
                <a16:creationId xmlns:a16="http://schemas.microsoft.com/office/drawing/2014/main" id="{FCF3C493-B7A4-4848-A4A4-BB7255AFEB84}"/>
              </a:ext>
            </a:extLst>
          </p:cNvPr>
          <p:cNvSpPr>
            <a:spLocks noGrp="1" noChangeArrowheads="1"/>
          </p:cNvSpPr>
          <p:nvPr>
            <p:ph type="title"/>
          </p:nvPr>
        </p:nvSpPr>
        <p:spPr>
          <a:xfrm>
            <a:off x="0" y="762000"/>
            <a:ext cx="3581400" cy="3886200"/>
          </a:xfrm>
        </p:spPr>
        <p:txBody>
          <a:bodyPr/>
          <a:lstStyle/>
          <a:p>
            <a:pPr>
              <a:defRPr/>
            </a:pPr>
            <a:r>
              <a:rPr lang="en-US" sz="4000" dirty="0">
                <a:solidFill>
                  <a:srgbClr val="FF0000"/>
                </a:solidFill>
              </a:rPr>
              <a:t>Classification of Igneous Rocks</a:t>
            </a:r>
          </a:p>
        </p:txBody>
      </p:sp>
      <p:sp>
        <p:nvSpPr>
          <p:cNvPr id="6148" name="Text Box 3">
            <a:extLst>
              <a:ext uri="{FF2B5EF4-FFF2-40B4-BE49-F238E27FC236}">
                <a16:creationId xmlns:a16="http://schemas.microsoft.com/office/drawing/2014/main" id="{F4AA55C8-B6B5-4622-A3E2-CACC68481389}"/>
              </a:ext>
            </a:extLst>
          </p:cNvPr>
          <p:cNvSpPr txBox="1">
            <a:spLocks noChangeArrowheads="1"/>
          </p:cNvSpPr>
          <p:nvPr/>
        </p:nvSpPr>
        <p:spPr bwMode="auto">
          <a:xfrm>
            <a:off x="228600" y="5257800"/>
            <a:ext cx="5029200" cy="825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sz="2400">
                <a:solidFill>
                  <a:schemeClr val="tx1"/>
                </a:solidFill>
                <a:latin typeface="Arial" panose="020B0604020202020204" pitchFamily="34" charset="0"/>
              </a:defRPr>
            </a:lvl1pPr>
            <a:lvl2pPr marL="742950" indent="-285750">
              <a:defRPr sz="2400">
                <a:solidFill>
                  <a:schemeClr val="tx1"/>
                </a:solidFill>
                <a:latin typeface="Arial" panose="020B0604020202020204" pitchFamily="34" charset="0"/>
              </a:defRPr>
            </a:lvl2pPr>
            <a:lvl3pPr marL="1143000" indent="-228600">
              <a:defRPr sz="2400">
                <a:solidFill>
                  <a:schemeClr val="tx1"/>
                </a:solidFill>
                <a:latin typeface="Arial" panose="020B0604020202020204" pitchFamily="34" charset="0"/>
              </a:defRPr>
            </a:lvl3pPr>
            <a:lvl4pPr marL="1600200" indent="-228600">
              <a:defRPr sz="2400">
                <a:solidFill>
                  <a:schemeClr val="tx1"/>
                </a:solidFill>
                <a:latin typeface="Arial" panose="020B0604020202020204" pitchFamily="34" charset="0"/>
              </a:defRPr>
            </a:lvl4pPr>
            <a:lvl5pPr marL="2057400" indent="-228600">
              <a:defRPr sz="2400">
                <a:solidFill>
                  <a:schemeClr val="tx1"/>
                </a:solidFill>
                <a:latin typeface="Arial" panose="020B0604020202020204" pitchFamily="34" charset="0"/>
              </a:defRPr>
            </a:lvl5pPr>
            <a:lvl6pPr marL="2514600" indent="-228600" eaLnBrk="0" fontAlgn="base" hangingPunct="0">
              <a:spcBef>
                <a:spcPct val="0"/>
              </a:spcBef>
              <a:spcAft>
                <a:spcPct val="0"/>
              </a:spcAft>
              <a:defRPr sz="2400">
                <a:solidFill>
                  <a:schemeClr val="tx1"/>
                </a:solidFill>
                <a:latin typeface="Arial" panose="020B0604020202020204" pitchFamily="34" charset="0"/>
              </a:defRPr>
            </a:lvl6pPr>
            <a:lvl7pPr marL="2971800" indent="-228600" eaLnBrk="0" fontAlgn="base" hangingPunct="0">
              <a:spcBef>
                <a:spcPct val="0"/>
              </a:spcBef>
              <a:spcAft>
                <a:spcPct val="0"/>
              </a:spcAft>
              <a:defRPr sz="2400">
                <a:solidFill>
                  <a:schemeClr val="tx1"/>
                </a:solidFill>
                <a:latin typeface="Arial" panose="020B0604020202020204" pitchFamily="34" charset="0"/>
              </a:defRPr>
            </a:lvl7pPr>
            <a:lvl8pPr marL="3429000" indent="-228600" eaLnBrk="0" fontAlgn="base" hangingPunct="0">
              <a:spcBef>
                <a:spcPct val="0"/>
              </a:spcBef>
              <a:spcAft>
                <a:spcPct val="0"/>
              </a:spcAft>
              <a:defRPr sz="2400">
                <a:solidFill>
                  <a:schemeClr val="tx1"/>
                </a:solidFill>
                <a:latin typeface="Arial" panose="020B0604020202020204" pitchFamily="34" charset="0"/>
              </a:defRPr>
            </a:lvl8pPr>
            <a:lvl9pPr marL="3886200" indent="-228600" eaLnBrk="0" fontAlgn="base" hangingPunct="0">
              <a:spcBef>
                <a:spcPct val="0"/>
              </a:spcBef>
              <a:spcAft>
                <a:spcPct val="0"/>
              </a:spcAft>
              <a:defRPr sz="2400">
                <a:solidFill>
                  <a:schemeClr val="tx1"/>
                </a:solidFill>
                <a:latin typeface="Arial" panose="020B0604020202020204" pitchFamily="34" charset="0"/>
              </a:defRPr>
            </a:lvl9pPr>
          </a:lstStyle>
          <a:p>
            <a:r>
              <a:rPr lang="en-US" altLang="en-US" sz="1600" b="1">
                <a:solidFill>
                  <a:srgbClr val="FF0000"/>
                </a:solidFill>
                <a:latin typeface="Times New Roman" panose="02020603050405020304" pitchFamily="18" charset="0"/>
                <a:cs typeface="Times New Roman" panose="02020603050405020304" pitchFamily="18" charset="0"/>
              </a:rPr>
              <a:t>Figure 2.2a</a:t>
            </a:r>
            <a:r>
              <a:rPr lang="en-US" altLang="en-US" sz="1600">
                <a:solidFill>
                  <a:srgbClr val="FF0000"/>
                </a:solidFill>
                <a:latin typeface="Times New Roman" panose="02020603050405020304" pitchFamily="18" charset="0"/>
                <a:cs typeface="Times New Roman" panose="02020603050405020304" pitchFamily="18" charset="0"/>
              </a:rPr>
              <a:t>.</a:t>
            </a:r>
            <a:r>
              <a:rPr lang="en-US" altLang="en-US" sz="1600">
                <a:solidFill>
                  <a:schemeClr val="bg2"/>
                </a:solidFill>
                <a:latin typeface="Times New Roman" panose="02020603050405020304" pitchFamily="18" charset="0"/>
                <a:cs typeface="Times New Roman" panose="02020603050405020304" pitchFamily="18" charset="0"/>
              </a:rPr>
              <a:t> A classification of the phaneritic igneous rocks: Phaneritic rocks with more than 10% (quartz + feldspar + feldspathoids). After IUGS.</a:t>
            </a:r>
            <a:endParaRPr lang="en-US" altLang="en-US" sz="1600">
              <a:solidFill>
                <a:schemeClr val="bg2"/>
              </a:solidFill>
              <a:latin typeface="Times New Roman" panose="02020603050405020304" pitchFamily="18" charset="0"/>
              <a:cs typeface="Arial" panose="020B0604020202020204" pitchFamily="34" charset="0"/>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98658" name="Picture 1026">
            <a:extLst>
              <a:ext uri="{FF2B5EF4-FFF2-40B4-BE49-F238E27FC236}">
                <a16:creationId xmlns:a16="http://schemas.microsoft.com/office/drawing/2014/main" id="{8FF17083-D3CF-4C3C-BD56-8DB24C82C66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20638"/>
            <a:ext cx="7696200" cy="6837362"/>
          </a:xfrm>
          <a:prstGeom prst="rect">
            <a:avLst/>
          </a:prstGeom>
          <a:noFill/>
          <a:extLst>
            <a:ext uri="{909E8E84-426E-40DD-AFC4-6F175D3DCCD1}">
              <a14:hiddenFill xmlns:a14="http://schemas.microsoft.com/office/drawing/2010/main">
                <a:solidFill>
                  <a:srgbClr val="FFFFFF"/>
                </a:solidFill>
              </a14:hiddenFill>
            </a:ext>
          </a:extLst>
        </p:spPr>
      </p:pic>
      <p:sp>
        <p:nvSpPr>
          <p:cNvPr id="198659" name="Text Box 1027">
            <a:extLst>
              <a:ext uri="{FF2B5EF4-FFF2-40B4-BE49-F238E27FC236}">
                <a16:creationId xmlns:a16="http://schemas.microsoft.com/office/drawing/2014/main" id="{BF6A0BDD-0729-4F3B-9FE1-610701985A3C}"/>
              </a:ext>
            </a:extLst>
          </p:cNvPr>
          <p:cNvSpPr txBox="1">
            <a:spLocks noChangeArrowheads="1"/>
          </p:cNvSpPr>
          <p:nvPr/>
        </p:nvSpPr>
        <p:spPr bwMode="auto">
          <a:xfrm>
            <a:off x="5486400" y="457200"/>
            <a:ext cx="3657600" cy="265430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lang="en-US" altLang="en-US">
                <a:solidFill>
                  <a:schemeClr val="tx1"/>
                </a:solidFill>
              </a:rPr>
              <a:t>Feldspars have names for very  specific ranges of composition. Most cannot be identified in hand specimens.</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67" name="Rectangle 3">
            <a:extLst>
              <a:ext uri="{FF2B5EF4-FFF2-40B4-BE49-F238E27FC236}">
                <a16:creationId xmlns:a16="http://schemas.microsoft.com/office/drawing/2014/main" id="{D4CBEB88-B968-4FDA-A2F5-1D9AB8891C55}"/>
              </a:ext>
            </a:extLst>
          </p:cNvPr>
          <p:cNvSpPr>
            <a:spLocks noGrp="1" noChangeArrowheads="1"/>
          </p:cNvSpPr>
          <p:nvPr>
            <p:ph type="title"/>
          </p:nvPr>
        </p:nvSpPr>
        <p:spPr>
          <a:xfrm>
            <a:off x="0" y="0"/>
            <a:ext cx="9144000" cy="914400"/>
          </a:xfrm>
        </p:spPr>
        <p:txBody>
          <a:bodyPr/>
          <a:lstStyle/>
          <a:p>
            <a:pPr algn="ctr">
              <a:defRPr/>
            </a:pPr>
            <a:r>
              <a:rPr lang="en-US" sz="4000" dirty="0">
                <a:solidFill>
                  <a:srgbClr val="FF0000"/>
                </a:solidFill>
              </a:rPr>
              <a:t>Classification of Igneous Rocks</a:t>
            </a:r>
          </a:p>
        </p:txBody>
      </p:sp>
      <p:pic>
        <p:nvPicPr>
          <p:cNvPr id="7171" name="Picture 47" descr="Fig 2-2b.jpg">
            <a:extLst>
              <a:ext uri="{FF2B5EF4-FFF2-40B4-BE49-F238E27FC236}">
                <a16:creationId xmlns:a16="http://schemas.microsoft.com/office/drawing/2014/main" id="{DC39527D-FFCB-41D8-BF90-A6968AAEF3D8}"/>
              </a:ext>
            </a:extLst>
          </p:cNvPr>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600200" y="914400"/>
            <a:ext cx="5715000" cy="4705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172" name="Text Box 4">
            <a:extLst>
              <a:ext uri="{FF2B5EF4-FFF2-40B4-BE49-F238E27FC236}">
                <a16:creationId xmlns:a16="http://schemas.microsoft.com/office/drawing/2014/main" id="{D7E8E096-34BA-4CB5-8EA5-CB7C3CD98BF4}"/>
              </a:ext>
            </a:extLst>
          </p:cNvPr>
          <p:cNvSpPr txBox="1">
            <a:spLocks noChangeArrowheads="1"/>
          </p:cNvSpPr>
          <p:nvPr/>
        </p:nvSpPr>
        <p:spPr bwMode="auto">
          <a:xfrm>
            <a:off x="2438400" y="5791200"/>
            <a:ext cx="4114800" cy="584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sz="2400">
                <a:solidFill>
                  <a:schemeClr val="tx1"/>
                </a:solidFill>
                <a:latin typeface="Arial" panose="020B0604020202020204" pitchFamily="34" charset="0"/>
              </a:defRPr>
            </a:lvl1pPr>
            <a:lvl2pPr marL="742950" indent="-285750">
              <a:defRPr sz="2400">
                <a:solidFill>
                  <a:schemeClr val="tx1"/>
                </a:solidFill>
                <a:latin typeface="Arial" panose="020B0604020202020204" pitchFamily="34" charset="0"/>
              </a:defRPr>
            </a:lvl2pPr>
            <a:lvl3pPr marL="1143000" indent="-228600">
              <a:defRPr sz="2400">
                <a:solidFill>
                  <a:schemeClr val="tx1"/>
                </a:solidFill>
                <a:latin typeface="Arial" panose="020B0604020202020204" pitchFamily="34" charset="0"/>
              </a:defRPr>
            </a:lvl3pPr>
            <a:lvl4pPr marL="1600200" indent="-228600">
              <a:defRPr sz="2400">
                <a:solidFill>
                  <a:schemeClr val="tx1"/>
                </a:solidFill>
                <a:latin typeface="Arial" panose="020B0604020202020204" pitchFamily="34" charset="0"/>
              </a:defRPr>
            </a:lvl4pPr>
            <a:lvl5pPr marL="2057400" indent="-228600">
              <a:defRPr sz="2400">
                <a:solidFill>
                  <a:schemeClr val="tx1"/>
                </a:solidFill>
                <a:latin typeface="Arial" panose="020B0604020202020204" pitchFamily="34" charset="0"/>
              </a:defRPr>
            </a:lvl5pPr>
            <a:lvl6pPr marL="2514600" indent="-228600" eaLnBrk="0" fontAlgn="base" hangingPunct="0">
              <a:spcBef>
                <a:spcPct val="0"/>
              </a:spcBef>
              <a:spcAft>
                <a:spcPct val="0"/>
              </a:spcAft>
              <a:defRPr sz="2400">
                <a:solidFill>
                  <a:schemeClr val="tx1"/>
                </a:solidFill>
                <a:latin typeface="Arial" panose="020B0604020202020204" pitchFamily="34" charset="0"/>
              </a:defRPr>
            </a:lvl6pPr>
            <a:lvl7pPr marL="2971800" indent="-228600" eaLnBrk="0" fontAlgn="base" hangingPunct="0">
              <a:spcBef>
                <a:spcPct val="0"/>
              </a:spcBef>
              <a:spcAft>
                <a:spcPct val="0"/>
              </a:spcAft>
              <a:defRPr sz="2400">
                <a:solidFill>
                  <a:schemeClr val="tx1"/>
                </a:solidFill>
                <a:latin typeface="Arial" panose="020B0604020202020204" pitchFamily="34" charset="0"/>
              </a:defRPr>
            </a:lvl7pPr>
            <a:lvl8pPr marL="3429000" indent="-228600" eaLnBrk="0" fontAlgn="base" hangingPunct="0">
              <a:spcBef>
                <a:spcPct val="0"/>
              </a:spcBef>
              <a:spcAft>
                <a:spcPct val="0"/>
              </a:spcAft>
              <a:defRPr sz="2400">
                <a:solidFill>
                  <a:schemeClr val="tx1"/>
                </a:solidFill>
                <a:latin typeface="Arial" panose="020B0604020202020204" pitchFamily="34" charset="0"/>
              </a:defRPr>
            </a:lvl8pPr>
            <a:lvl9pPr marL="3886200" indent="-228600" eaLnBrk="0" fontAlgn="base" hangingPunct="0">
              <a:spcBef>
                <a:spcPct val="0"/>
              </a:spcBef>
              <a:spcAft>
                <a:spcPct val="0"/>
              </a:spcAft>
              <a:defRPr sz="2400">
                <a:solidFill>
                  <a:schemeClr val="tx1"/>
                </a:solidFill>
                <a:latin typeface="Arial" panose="020B0604020202020204" pitchFamily="34" charset="0"/>
              </a:defRPr>
            </a:lvl9pPr>
          </a:lstStyle>
          <a:p>
            <a:r>
              <a:rPr lang="en-US" altLang="en-US" sz="1600" b="1">
                <a:solidFill>
                  <a:srgbClr val="FF0033"/>
                </a:solidFill>
                <a:latin typeface="Times New Roman" panose="02020603050405020304" pitchFamily="18" charset="0"/>
                <a:cs typeface="Times New Roman" panose="02020603050405020304" pitchFamily="18" charset="0"/>
              </a:rPr>
              <a:t>Figure 2.2b.</a:t>
            </a:r>
            <a:r>
              <a:rPr lang="en-US" altLang="en-US" sz="1600">
                <a:solidFill>
                  <a:srgbClr val="FF9933"/>
                </a:solidFill>
                <a:latin typeface="Times New Roman" panose="02020603050405020304" pitchFamily="18" charset="0"/>
                <a:cs typeface="Times New Roman" panose="02020603050405020304" pitchFamily="18" charset="0"/>
              </a:rPr>
              <a:t> </a:t>
            </a:r>
            <a:r>
              <a:rPr lang="en-US" altLang="en-US" sz="1600">
                <a:solidFill>
                  <a:schemeClr val="bg2"/>
                </a:solidFill>
                <a:latin typeface="Times New Roman" panose="02020603050405020304" pitchFamily="18" charset="0"/>
                <a:cs typeface="Times New Roman" panose="02020603050405020304" pitchFamily="18" charset="0"/>
              </a:rPr>
              <a:t>A classification of the phaneritic igneous rocks: Gabbroic rocks. After IUGS.</a:t>
            </a:r>
            <a:endParaRPr lang="en-US" altLang="en-US" sz="1600">
              <a:solidFill>
                <a:schemeClr val="bg2"/>
              </a:solidFill>
              <a:latin typeface="Times New Roman" panose="02020603050405020304" pitchFamily="18" charset="0"/>
              <a:cs typeface="Arial" panose="020B0604020202020204" pitchFamily="34" charset="0"/>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67" name="Rectangle 3">
            <a:extLst>
              <a:ext uri="{FF2B5EF4-FFF2-40B4-BE49-F238E27FC236}">
                <a16:creationId xmlns:a16="http://schemas.microsoft.com/office/drawing/2014/main" id="{6023BA56-778A-48D7-B196-CA8686BF7F5F}"/>
              </a:ext>
            </a:extLst>
          </p:cNvPr>
          <p:cNvSpPr>
            <a:spLocks noGrp="1" noChangeArrowheads="1"/>
          </p:cNvSpPr>
          <p:nvPr>
            <p:ph type="title"/>
          </p:nvPr>
        </p:nvSpPr>
        <p:spPr>
          <a:xfrm>
            <a:off x="0" y="0"/>
            <a:ext cx="9144000" cy="914400"/>
          </a:xfrm>
        </p:spPr>
        <p:txBody>
          <a:bodyPr/>
          <a:lstStyle/>
          <a:p>
            <a:pPr algn="ctr">
              <a:defRPr/>
            </a:pPr>
            <a:r>
              <a:rPr lang="en-US" sz="4000" dirty="0">
                <a:solidFill>
                  <a:srgbClr val="FF0000"/>
                </a:solidFill>
              </a:rPr>
              <a:t>Classification of Igneous Rocks</a:t>
            </a:r>
          </a:p>
        </p:txBody>
      </p:sp>
      <p:sp>
        <p:nvSpPr>
          <p:cNvPr id="8195" name="Text Box 4">
            <a:extLst>
              <a:ext uri="{FF2B5EF4-FFF2-40B4-BE49-F238E27FC236}">
                <a16:creationId xmlns:a16="http://schemas.microsoft.com/office/drawing/2014/main" id="{109F4FAB-6F01-4BE2-8D31-D2F8D256B33D}"/>
              </a:ext>
            </a:extLst>
          </p:cNvPr>
          <p:cNvSpPr txBox="1">
            <a:spLocks noChangeArrowheads="1"/>
          </p:cNvSpPr>
          <p:nvPr/>
        </p:nvSpPr>
        <p:spPr bwMode="auto">
          <a:xfrm>
            <a:off x="2438400" y="5791200"/>
            <a:ext cx="4114800" cy="584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sz="2400">
                <a:solidFill>
                  <a:schemeClr val="tx1"/>
                </a:solidFill>
                <a:latin typeface="Arial" panose="020B0604020202020204" pitchFamily="34" charset="0"/>
              </a:defRPr>
            </a:lvl1pPr>
            <a:lvl2pPr marL="742950" indent="-285750">
              <a:defRPr sz="2400">
                <a:solidFill>
                  <a:schemeClr val="tx1"/>
                </a:solidFill>
                <a:latin typeface="Arial" panose="020B0604020202020204" pitchFamily="34" charset="0"/>
              </a:defRPr>
            </a:lvl2pPr>
            <a:lvl3pPr marL="1143000" indent="-228600">
              <a:defRPr sz="2400">
                <a:solidFill>
                  <a:schemeClr val="tx1"/>
                </a:solidFill>
                <a:latin typeface="Arial" panose="020B0604020202020204" pitchFamily="34" charset="0"/>
              </a:defRPr>
            </a:lvl3pPr>
            <a:lvl4pPr marL="1600200" indent="-228600">
              <a:defRPr sz="2400">
                <a:solidFill>
                  <a:schemeClr val="tx1"/>
                </a:solidFill>
                <a:latin typeface="Arial" panose="020B0604020202020204" pitchFamily="34" charset="0"/>
              </a:defRPr>
            </a:lvl4pPr>
            <a:lvl5pPr marL="2057400" indent="-228600">
              <a:defRPr sz="2400">
                <a:solidFill>
                  <a:schemeClr val="tx1"/>
                </a:solidFill>
                <a:latin typeface="Arial" panose="020B0604020202020204" pitchFamily="34" charset="0"/>
              </a:defRPr>
            </a:lvl5pPr>
            <a:lvl6pPr marL="2514600" indent="-228600" eaLnBrk="0" fontAlgn="base" hangingPunct="0">
              <a:spcBef>
                <a:spcPct val="0"/>
              </a:spcBef>
              <a:spcAft>
                <a:spcPct val="0"/>
              </a:spcAft>
              <a:defRPr sz="2400">
                <a:solidFill>
                  <a:schemeClr val="tx1"/>
                </a:solidFill>
                <a:latin typeface="Arial" panose="020B0604020202020204" pitchFamily="34" charset="0"/>
              </a:defRPr>
            </a:lvl6pPr>
            <a:lvl7pPr marL="2971800" indent="-228600" eaLnBrk="0" fontAlgn="base" hangingPunct="0">
              <a:spcBef>
                <a:spcPct val="0"/>
              </a:spcBef>
              <a:spcAft>
                <a:spcPct val="0"/>
              </a:spcAft>
              <a:defRPr sz="2400">
                <a:solidFill>
                  <a:schemeClr val="tx1"/>
                </a:solidFill>
                <a:latin typeface="Arial" panose="020B0604020202020204" pitchFamily="34" charset="0"/>
              </a:defRPr>
            </a:lvl7pPr>
            <a:lvl8pPr marL="3429000" indent="-228600" eaLnBrk="0" fontAlgn="base" hangingPunct="0">
              <a:spcBef>
                <a:spcPct val="0"/>
              </a:spcBef>
              <a:spcAft>
                <a:spcPct val="0"/>
              </a:spcAft>
              <a:defRPr sz="2400">
                <a:solidFill>
                  <a:schemeClr val="tx1"/>
                </a:solidFill>
                <a:latin typeface="Arial" panose="020B0604020202020204" pitchFamily="34" charset="0"/>
              </a:defRPr>
            </a:lvl8pPr>
            <a:lvl9pPr marL="3886200" indent="-228600" eaLnBrk="0" fontAlgn="base" hangingPunct="0">
              <a:spcBef>
                <a:spcPct val="0"/>
              </a:spcBef>
              <a:spcAft>
                <a:spcPct val="0"/>
              </a:spcAft>
              <a:defRPr sz="2400">
                <a:solidFill>
                  <a:schemeClr val="tx1"/>
                </a:solidFill>
                <a:latin typeface="Arial" panose="020B0604020202020204" pitchFamily="34" charset="0"/>
              </a:defRPr>
            </a:lvl9pPr>
          </a:lstStyle>
          <a:p>
            <a:r>
              <a:rPr lang="en-US" altLang="en-US" sz="1600" b="1">
                <a:solidFill>
                  <a:srgbClr val="FF0033"/>
                </a:solidFill>
                <a:latin typeface="Times New Roman" panose="02020603050405020304" pitchFamily="18" charset="0"/>
                <a:cs typeface="Times New Roman" panose="02020603050405020304" pitchFamily="18" charset="0"/>
              </a:rPr>
              <a:t>Figure 2.2c.</a:t>
            </a:r>
            <a:r>
              <a:rPr lang="en-US" altLang="en-US" sz="1600">
                <a:solidFill>
                  <a:srgbClr val="FF9933"/>
                </a:solidFill>
                <a:latin typeface="Times New Roman" panose="02020603050405020304" pitchFamily="18" charset="0"/>
                <a:cs typeface="Times New Roman" panose="02020603050405020304" pitchFamily="18" charset="0"/>
              </a:rPr>
              <a:t> </a:t>
            </a:r>
            <a:r>
              <a:rPr lang="en-US" altLang="en-US" sz="1600">
                <a:solidFill>
                  <a:schemeClr val="bg2"/>
                </a:solidFill>
                <a:latin typeface="Times New Roman" panose="02020603050405020304" pitchFamily="18" charset="0"/>
                <a:cs typeface="Times New Roman" panose="02020603050405020304" pitchFamily="18" charset="0"/>
              </a:rPr>
              <a:t>A classification of the phaneritic igneous rocks: Ultramafic rocks. After IUGS.</a:t>
            </a:r>
            <a:endParaRPr lang="en-US" altLang="en-US" sz="1600">
              <a:solidFill>
                <a:schemeClr val="bg2"/>
              </a:solidFill>
              <a:latin typeface="Times New Roman" panose="02020603050405020304" pitchFamily="18" charset="0"/>
              <a:cs typeface="Arial" panose="020B0604020202020204" pitchFamily="34" charset="0"/>
            </a:endParaRPr>
          </a:p>
        </p:txBody>
      </p:sp>
      <p:pic>
        <p:nvPicPr>
          <p:cNvPr id="8196" name="Picture 4" descr="Fig 2-2c.jpg">
            <a:extLst>
              <a:ext uri="{FF2B5EF4-FFF2-40B4-BE49-F238E27FC236}">
                <a16:creationId xmlns:a16="http://schemas.microsoft.com/office/drawing/2014/main" id="{2726CEFC-FB4C-4E04-A451-6A166852B48F}"/>
              </a:ext>
            </a:extLst>
          </p:cNvPr>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238250" y="1343025"/>
            <a:ext cx="6667500" cy="41719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514" name="Rectangle 2">
            <a:extLst>
              <a:ext uri="{FF2B5EF4-FFF2-40B4-BE49-F238E27FC236}">
                <a16:creationId xmlns:a16="http://schemas.microsoft.com/office/drawing/2014/main" id="{C9CB0AB8-E62C-484E-921B-C74BA61D362A}"/>
              </a:ext>
            </a:extLst>
          </p:cNvPr>
          <p:cNvSpPr>
            <a:spLocks noGrp="1" noChangeArrowheads="1"/>
          </p:cNvSpPr>
          <p:nvPr>
            <p:ph type="title"/>
          </p:nvPr>
        </p:nvSpPr>
        <p:spPr>
          <a:xfrm>
            <a:off x="0" y="0"/>
            <a:ext cx="4953000" cy="2133600"/>
          </a:xfrm>
        </p:spPr>
        <p:txBody>
          <a:bodyPr/>
          <a:lstStyle/>
          <a:p>
            <a:pPr algn="ctr">
              <a:defRPr/>
            </a:pPr>
            <a:r>
              <a:rPr lang="en-US" sz="4000" dirty="0">
                <a:solidFill>
                  <a:srgbClr val="FF0000"/>
                </a:solidFill>
              </a:rPr>
              <a:t>Classification of Igneous Rocks</a:t>
            </a:r>
          </a:p>
        </p:txBody>
      </p:sp>
      <p:sp>
        <p:nvSpPr>
          <p:cNvPr id="9219" name="Text Box 3">
            <a:extLst>
              <a:ext uri="{FF2B5EF4-FFF2-40B4-BE49-F238E27FC236}">
                <a16:creationId xmlns:a16="http://schemas.microsoft.com/office/drawing/2014/main" id="{3CCB2D79-F6D2-49AD-A20E-3EB28CD09914}"/>
              </a:ext>
            </a:extLst>
          </p:cNvPr>
          <p:cNvSpPr txBox="1">
            <a:spLocks noChangeArrowheads="1"/>
          </p:cNvSpPr>
          <p:nvPr/>
        </p:nvSpPr>
        <p:spPr bwMode="auto">
          <a:xfrm>
            <a:off x="381000" y="4495800"/>
            <a:ext cx="4114800" cy="581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sz="2400">
                <a:solidFill>
                  <a:schemeClr val="tx1"/>
                </a:solidFill>
                <a:latin typeface="Arial" panose="020B0604020202020204" pitchFamily="34" charset="0"/>
              </a:defRPr>
            </a:lvl1pPr>
            <a:lvl2pPr marL="742950" indent="-285750">
              <a:defRPr sz="2400">
                <a:solidFill>
                  <a:schemeClr val="tx1"/>
                </a:solidFill>
                <a:latin typeface="Arial" panose="020B0604020202020204" pitchFamily="34" charset="0"/>
              </a:defRPr>
            </a:lvl2pPr>
            <a:lvl3pPr marL="1143000" indent="-228600">
              <a:defRPr sz="2400">
                <a:solidFill>
                  <a:schemeClr val="tx1"/>
                </a:solidFill>
                <a:latin typeface="Arial" panose="020B0604020202020204" pitchFamily="34" charset="0"/>
              </a:defRPr>
            </a:lvl3pPr>
            <a:lvl4pPr marL="1600200" indent="-228600">
              <a:defRPr sz="2400">
                <a:solidFill>
                  <a:schemeClr val="tx1"/>
                </a:solidFill>
                <a:latin typeface="Arial" panose="020B0604020202020204" pitchFamily="34" charset="0"/>
              </a:defRPr>
            </a:lvl4pPr>
            <a:lvl5pPr marL="2057400" indent="-228600">
              <a:defRPr sz="2400">
                <a:solidFill>
                  <a:schemeClr val="tx1"/>
                </a:solidFill>
                <a:latin typeface="Arial" panose="020B0604020202020204" pitchFamily="34" charset="0"/>
              </a:defRPr>
            </a:lvl5pPr>
            <a:lvl6pPr marL="2514600" indent="-228600" eaLnBrk="0" fontAlgn="base" hangingPunct="0">
              <a:spcBef>
                <a:spcPct val="0"/>
              </a:spcBef>
              <a:spcAft>
                <a:spcPct val="0"/>
              </a:spcAft>
              <a:defRPr sz="2400">
                <a:solidFill>
                  <a:schemeClr val="tx1"/>
                </a:solidFill>
                <a:latin typeface="Arial" panose="020B0604020202020204" pitchFamily="34" charset="0"/>
              </a:defRPr>
            </a:lvl6pPr>
            <a:lvl7pPr marL="2971800" indent="-228600" eaLnBrk="0" fontAlgn="base" hangingPunct="0">
              <a:spcBef>
                <a:spcPct val="0"/>
              </a:spcBef>
              <a:spcAft>
                <a:spcPct val="0"/>
              </a:spcAft>
              <a:defRPr sz="2400">
                <a:solidFill>
                  <a:schemeClr val="tx1"/>
                </a:solidFill>
                <a:latin typeface="Arial" panose="020B0604020202020204" pitchFamily="34" charset="0"/>
              </a:defRPr>
            </a:lvl7pPr>
            <a:lvl8pPr marL="3429000" indent="-228600" eaLnBrk="0" fontAlgn="base" hangingPunct="0">
              <a:spcBef>
                <a:spcPct val="0"/>
              </a:spcBef>
              <a:spcAft>
                <a:spcPct val="0"/>
              </a:spcAft>
              <a:defRPr sz="2400">
                <a:solidFill>
                  <a:schemeClr val="tx1"/>
                </a:solidFill>
                <a:latin typeface="Arial" panose="020B0604020202020204" pitchFamily="34" charset="0"/>
              </a:defRPr>
            </a:lvl8pPr>
            <a:lvl9pPr marL="3886200" indent="-228600" eaLnBrk="0" fontAlgn="base" hangingPunct="0">
              <a:spcBef>
                <a:spcPct val="0"/>
              </a:spcBef>
              <a:spcAft>
                <a:spcPct val="0"/>
              </a:spcAft>
              <a:defRPr sz="2400">
                <a:solidFill>
                  <a:schemeClr val="tx1"/>
                </a:solidFill>
                <a:latin typeface="Arial" panose="020B0604020202020204" pitchFamily="34" charset="0"/>
              </a:defRPr>
            </a:lvl9pPr>
          </a:lstStyle>
          <a:p>
            <a:r>
              <a:rPr lang="en-US" altLang="en-US" sz="1600" b="1">
                <a:solidFill>
                  <a:srgbClr val="FF0033"/>
                </a:solidFill>
                <a:latin typeface="Times New Roman" panose="02020603050405020304" pitchFamily="18" charset="0"/>
                <a:cs typeface="Times New Roman" panose="02020603050405020304" pitchFamily="18" charset="0"/>
              </a:rPr>
              <a:t>Figure 2.3</a:t>
            </a:r>
            <a:r>
              <a:rPr lang="en-US" altLang="en-US" sz="1600">
                <a:solidFill>
                  <a:srgbClr val="FF0033"/>
                </a:solidFill>
                <a:latin typeface="Times New Roman" panose="02020603050405020304" pitchFamily="18" charset="0"/>
                <a:cs typeface="Times New Roman" panose="02020603050405020304" pitchFamily="18" charset="0"/>
              </a:rPr>
              <a:t>. </a:t>
            </a:r>
            <a:r>
              <a:rPr lang="en-US" altLang="en-US" sz="1600">
                <a:solidFill>
                  <a:schemeClr val="bg2"/>
                </a:solidFill>
                <a:latin typeface="Times New Roman" panose="02020603050405020304" pitchFamily="18" charset="0"/>
                <a:cs typeface="Times New Roman" panose="02020603050405020304" pitchFamily="18" charset="0"/>
              </a:rPr>
              <a:t>A classification and nomenclature of volcanic rocks. After IUGS.</a:t>
            </a:r>
            <a:r>
              <a:rPr lang="en-US" altLang="en-US" sz="1600">
                <a:solidFill>
                  <a:schemeClr val="bg2"/>
                </a:solidFill>
                <a:latin typeface="Times New Roman" panose="02020603050405020304" pitchFamily="18" charset="0"/>
                <a:cs typeface="Arial" panose="020B0604020202020204" pitchFamily="34" charset="0"/>
              </a:rPr>
              <a:t> </a:t>
            </a:r>
          </a:p>
        </p:txBody>
      </p:sp>
      <p:pic>
        <p:nvPicPr>
          <p:cNvPr id="9220" name="Picture 4" descr="Fig 2-3.jpg">
            <a:extLst>
              <a:ext uri="{FF2B5EF4-FFF2-40B4-BE49-F238E27FC236}">
                <a16:creationId xmlns:a16="http://schemas.microsoft.com/office/drawing/2014/main" id="{28F9CEA9-799B-4AF7-8E5B-EB4A6837ED5D}"/>
              </a:ext>
            </a:extLst>
          </p:cNvPr>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4495800" y="0"/>
            <a:ext cx="4186238" cy="6858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8" name="Rectangle 2">
            <a:extLst>
              <a:ext uri="{FF2B5EF4-FFF2-40B4-BE49-F238E27FC236}">
                <a16:creationId xmlns:a16="http://schemas.microsoft.com/office/drawing/2014/main" id="{39117961-242C-4045-8CDF-F09D38D02833}"/>
              </a:ext>
            </a:extLst>
          </p:cNvPr>
          <p:cNvSpPr>
            <a:spLocks noGrp="1" noChangeArrowheads="1"/>
          </p:cNvSpPr>
          <p:nvPr>
            <p:ph type="title"/>
          </p:nvPr>
        </p:nvSpPr>
        <p:spPr>
          <a:xfrm>
            <a:off x="0" y="0"/>
            <a:ext cx="8991600" cy="762000"/>
          </a:xfrm>
        </p:spPr>
        <p:txBody>
          <a:bodyPr/>
          <a:lstStyle/>
          <a:p>
            <a:pPr algn="ctr">
              <a:defRPr/>
            </a:pPr>
            <a:r>
              <a:rPr lang="en-US" sz="4000" dirty="0">
                <a:solidFill>
                  <a:srgbClr val="FF0000"/>
                </a:solidFill>
              </a:rPr>
              <a:t>Classification of Igneous Rocks</a:t>
            </a:r>
          </a:p>
        </p:txBody>
      </p:sp>
      <p:sp>
        <p:nvSpPr>
          <p:cNvPr id="10243" name="Text Box 3">
            <a:extLst>
              <a:ext uri="{FF2B5EF4-FFF2-40B4-BE49-F238E27FC236}">
                <a16:creationId xmlns:a16="http://schemas.microsoft.com/office/drawing/2014/main" id="{3D53E4FD-CD57-4561-87DB-D949E2975FA1}"/>
              </a:ext>
            </a:extLst>
          </p:cNvPr>
          <p:cNvSpPr txBox="1">
            <a:spLocks noChangeArrowheads="1"/>
          </p:cNvSpPr>
          <p:nvPr/>
        </p:nvSpPr>
        <p:spPr bwMode="auto">
          <a:xfrm>
            <a:off x="457200" y="6172200"/>
            <a:ext cx="8458200" cy="581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sz="2400">
                <a:solidFill>
                  <a:schemeClr val="tx1"/>
                </a:solidFill>
                <a:latin typeface="Arial" panose="020B0604020202020204" pitchFamily="34" charset="0"/>
              </a:defRPr>
            </a:lvl1pPr>
            <a:lvl2pPr marL="742950" indent="-285750">
              <a:defRPr sz="2400">
                <a:solidFill>
                  <a:schemeClr val="tx1"/>
                </a:solidFill>
                <a:latin typeface="Arial" panose="020B0604020202020204" pitchFamily="34" charset="0"/>
              </a:defRPr>
            </a:lvl2pPr>
            <a:lvl3pPr marL="1143000" indent="-228600">
              <a:defRPr sz="2400">
                <a:solidFill>
                  <a:schemeClr val="tx1"/>
                </a:solidFill>
                <a:latin typeface="Arial" panose="020B0604020202020204" pitchFamily="34" charset="0"/>
              </a:defRPr>
            </a:lvl3pPr>
            <a:lvl4pPr marL="1600200" indent="-228600">
              <a:defRPr sz="2400">
                <a:solidFill>
                  <a:schemeClr val="tx1"/>
                </a:solidFill>
                <a:latin typeface="Arial" panose="020B0604020202020204" pitchFamily="34" charset="0"/>
              </a:defRPr>
            </a:lvl4pPr>
            <a:lvl5pPr marL="2057400" indent="-228600">
              <a:defRPr sz="2400">
                <a:solidFill>
                  <a:schemeClr val="tx1"/>
                </a:solidFill>
                <a:latin typeface="Arial" panose="020B0604020202020204" pitchFamily="34" charset="0"/>
              </a:defRPr>
            </a:lvl5pPr>
            <a:lvl6pPr marL="2514600" indent="-228600" eaLnBrk="0" fontAlgn="base" hangingPunct="0">
              <a:spcBef>
                <a:spcPct val="0"/>
              </a:spcBef>
              <a:spcAft>
                <a:spcPct val="0"/>
              </a:spcAft>
              <a:defRPr sz="2400">
                <a:solidFill>
                  <a:schemeClr val="tx1"/>
                </a:solidFill>
                <a:latin typeface="Arial" panose="020B0604020202020204" pitchFamily="34" charset="0"/>
              </a:defRPr>
            </a:lvl6pPr>
            <a:lvl7pPr marL="2971800" indent="-228600" eaLnBrk="0" fontAlgn="base" hangingPunct="0">
              <a:spcBef>
                <a:spcPct val="0"/>
              </a:spcBef>
              <a:spcAft>
                <a:spcPct val="0"/>
              </a:spcAft>
              <a:defRPr sz="2400">
                <a:solidFill>
                  <a:schemeClr val="tx1"/>
                </a:solidFill>
                <a:latin typeface="Arial" panose="020B0604020202020204" pitchFamily="34" charset="0"/>
              </a:defRPr>
            </a:lvl7pPr>
            <a:lvl8pPr marL="3429000" indent="-228600" eaLnBrk="0" fontAlgn="base" hangingPunct="0">
              <a:spcBef>
                <a:spcPct val="0"/>
              </a:spcBef>
              <a:spcAft>
                <a:spcPct val="0"/>
              </a:spcAft>
              <a:defRPr sz="2400">
                <a:solidFill>
                  <a:schemeClr val="tx1"/>
                </a:solidFill>
                <a:latin typeface="Arial" panose="020B0604020202020204" pitchFamily="34" charset="0"/>
              </a:defRPr>
            </a:lvl8pPr>
            <a:lvl9pPr marL="3886200" indent="-228600" eaLnBrk="0" fontAlgn="base" hangingPunct="0">
              <a:spcBef>
                <a:spcPct val="0"/>
              </a:spcBef>
              <a:spcAft>
                <a:spcPct val="0"/>
              </a:spcAft>
              <a:defRPr sz="2400">
                <a:solidFill>
                  <a:schemeClr val="tx1"/>
                </a:solidFill>
                <a:latin typeface="Arial" panose="020B0604020202020204" pitchFamily="34" charset="0"/>
              </a:defRPr>
            </a:lvl9pPr>
          </a:lstStyle>
          <a:p>
            <a:r>
              <a:rPr lang="en-US" altLang="en-US" sz="1600" b="1">
                <a:solidFill>
                  <a:srgbClr val="FF0033"/>
                </a:solidFill>
                <a:latin typeface="Times New Roman" panose="02020603050405020304" pitchFamily="18" charset="0"/>
                <a:cs typeface="Times New Roman" panose="02020603050405020304" pitchFamily="18" charset="0"/>
              </a:rPr>
              <a:t>Figure 2.4</a:t>
            </a:r>
            <a:r>
              <a:rPr lang="en-US" altLang="en-US" sz="1600">
                <a:solidFill>
                  <a:srgbClr val="FF0033"/>
                </a:solidFill>
                <a:latin typeface="Times New Roman" panose="02020603050405020304" pitchFamily="18" charset="0"/>
                <a:cs typeface="Times New Roman" panose="02020603050405020304" pitchFamily="18" charset="0"/>
              </a:rPr>
              <a:t>.</a:t>
            </a:r>
            <a:r>
              <a:rPr lang="en-US" altLang="en-US" sz="1600">
                <a:solidFill>
                  <a:srgbClr val="FF9933"/>
                </a:solidFill>
                <a:latin typeface="Times New Roman" panose="02020603050405020304" pitchFamily="18" charset="0"/>
                <a:cs typeface="Times New Roman" panose="02020603050405020304" pitchFamily="18" charset="0"/>
              </a:rPr>
              <a:t> </a:t>
            </a:r>
            <a:r>
              <a:rPr lang="en-US" altLang="en-US" sz="1600">
                <a:solidFill>
                  <a:schemeClr val="bg2"/>
                </a:solidFill>
                <a:latin typeface="Times New Roman" panose="02020603050405020304" pitchFamily="18" charset="0"/>
                <a:cs typeface="Times New Roman" panose="02020603050405020304" pitchFamily="18" charset="0"/>
              </a:rPr>
              <a:t>A chemical classification of volcanics based on total alkalis vs. silica. After Le Maitre (2002) . Igneous Rocks: A Classification and Glossary of Terms. Cambridge University Press.</a:t>
            </a:r>
          </a:p>
        </p:txBody>
      </p:sp>
      <p:pic>
        <p:nvPicPr>
          <p:cNvPr id="4098" name="Picture 2">
            <a:extLst>
              <a:ext uri="{FF2B5EF4-FFF2-40B4-BE49-F238E27FC236}">
                <a16:creationId xmlns:a16="http://schemas.microsoft.com/office/drawing/2014/main" id="{44B9E9F6-BF12-4E9E-B014-7CC9F839E54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219200" y="1315333"/>
            <a:ext cx="6353175" cy="4856867"/>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562" name="Rectangle 2">
            <a:extLst>
              <a:ext uri="{FF2B5EF4-FFF2-40B4-BE49-F238E27FC236}">
                <a16:creationId xmlns:a16="http://schemas.microsoft.com/office/drawing/2014/main" id="{CACAF343-60C5-4CA1-9FF2-A413ACCBEE7D}"/>
              </a:ext>
            </a:extLst>
          </p:cNvPr>
          <p:cNvSpPr>
            <a:spLocks noGrp="1" noChangeArrowheads="1"/>
          </p:cNvSpPr>
          <p:nvPr>
            <p:ph type="title"/>
          </p:nvPr>
        </p:nvSpPr>
        <p:spPr>
          <a:xfrm>
            <a:off x="0" y="0"/>
            <a:ext cx="8991600" cy="762000"/>
          </a:xfrm>
        </p:spPr>
        <p:txBody>
          <a:bodyPr/>
          <a:lstStyle/>
          <a:p>
            <a:pPr algn="ctr">
              <a:defRPr/>
            </a:pPr>
            <a:r>
              <a:rPr lang="en-US" sz="4000" dirty="0">
                <a:solidFill>
                  <a:srgbClr val="FF0000"/>
                </a:solidFill>
              </a:rPr>
              <a:t>Classification of Igneous Rocks</a:t>
            </a:r>
          </a:p>
        </p:txBody>
      </p:sp>
      <p:sp>
        <p:nvSpPr>
          <p:cNvPr id="11267" name="Text Box 3">
            <a:extLst>
              <a:ext uri="{FF2B5EF4-FFF2-40B4-BE49-F238E27FC236}">
                <a16:creationId xmlns:a16="http://schemas.microsoft.com/office/drawing/2014/main" id="{3CFCC2A7-7EFE-412C-B748-8D9BECA8436C}"/>
              </a:ext>
            </a:extLst>
          </p:cNvPr>
          <p:cNvSpPr txBox="1">
            <a:spLocks noChangeArrowheads="1"/>
          </p:cNvSpPr>
          <p:nvPr/>
        </p:nvSpPr>
        <p:spPr bwMode="auto">
          <a:xfrm>
            <a:off x="457200" y="5865813"/>
            <a:ext cx="8382000" cy="336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sz="2400">
                <a:solidFill>
                  <a:schemeClr val="tx1"/>
                </a:solidFill>
                <a:latin typeface="Arial" panose="020B0604020202020204" pitchFamily="34" charset="0"/>
              </a:defRPr>
            </a:lvl1pPr>
            <a:lvl2pPr marL="742950" indent="-285750">
              <a:defRPr sz="2400">
                <a:solidFill>
                  <a:schemeClr val="tx1"/>
                </a:solidFill>
                <a:latin typeface="Arial" panose="020B0604020202020204" pitchFamily="34" charset="0"/>
              </a:defRPr>
            </a:lvl2pPr>
            <a:lvl3pPr marL="1143000" indent="-228600">
              <a:defRPr sz="2400">
                <a:solidFill>
                  <a:schemeClr val="tx1"/>
                </a:solidFill>
                <a:latin typeface="Arial" panose="020B0604020202020204" pitchFamily="34" charset="0"/>
              </a:defRPr>
            </a:lvl3pPr>
            <a:lvl4pPr marL="1600200" indent="-228600">
              <a:defRPr sz="2400">
                <a:solidFill>
                  <a:schemeClr val="tx1"/>
                </a:solidFill>
                <a:latin typeface="Arial" panose="020B0604020202020204" pitchFamily="34" charset="0"/>
              </a:defRPr>
            </a:lvl4pPr>
            <a:lvl5pPr marL="2057400" indent="-228600">
              <a:defRPr sz="2400">
                <a:solidFill>
                  <a:schemeClr val="tx1"/>
                </a:solidFill>
                <a:latin typeface="Arial" panose="020B0604020202020204" pitchFamily="34" charset="0"/>
              </a:defRPr>
            </a:lvl5pPr>
            <a:lvl6pPr marL="2514600" indent="-228600" eaLnBrk="0" fontAlgn="base" hangingPunct="0">
              <a:spcBef>
                <a:spcPct val="0"/>
              </a:spcBef>
              <a:spcAft>
                <a:spcPct val="0"/>
              </a:spcAft>
              <a:defRPr sz="2400">
                <a:solidFill>
                  <a:schemeClr val="tx1"/>
                </a:solidFill>
                <a:latin typeface="Arial" panose="020B0604020202020204" pitchFamily="34" charset="0"/>
              </a:defRPr>
            </a:lvl6pPr>
            <a:lvl7pPr marL="2971800" indent="-228600" eaLnBrk="0" fontAlgn="base" hangingPunct="0">
              <a:spcBef>
                <a:spcPct val="0"/>
              </a:spcBef>
              <a:spcAft>
                <a:spcPct val="0"/>
              </a:spcAft>
              <a:defRPr sz="2400">
                <a:solidFill>
                  <a:schemeClr val="tx1"/>
                </a:solidFill>
                <a:latin typeface="Arial" panose="020B0604020202020204" pitchFamily="34" charset="0"/>
              </a:defRPr>
            </a:lvl7pPr>
            <a:lvl8pPr marL="3429000" indent="-228600" eaLnBrk="0" fontAlgn="base" hangingPunct="0">
              <a:spcBef>
                <a:spcPct val="0"/>
              </a:spcBef>
              <a:spcAft>
                <a:spcPct val="0"/>
              </a:spcAft>
              <a:defRPr sz="2400">
                <a:solidFill>
                  <a:schemeClr val="tx1"/>
                </a:solidFill>
                <a:latin typeface="Arial" panose="020B0604020202020204" pitchFamily="34" charset="0"/>
              </a:defRPr>
            </a:lvl8pPr>
            <a:lvl9pPr marL="3886200" indent="-228600" eaLnBrk="0" fontAlgn="base" hangingPunct="0">
              <a:spcBef>
                <a:spcPct val="0"/>
              </a:spcBef>
              <a:spcAft>
                <a:spcPct val="0"/>
              </a:spcAft>
              <a:defRPr sz="2400">
                <a:solidFill>
                  <a:schemeClr val="tx1"/>
                </a:solidFill>
                <a:latin typeface="Arial" panose="020B0604020202020204" pitchFamily="34" charset="0"/>
              </a:defRPr>
            </a:lvl9pPr>
          </a:lstStyle>
          <a:p>
            <a:r>
              <a:rPr lang="en-US" altLang="en-US" sz="1600" b="1">
                <a:solidFill>
                  <a:srgbClr val="FF0033"/>
                </a:solidFill>
                <a:latin typeface="Times New Roman" panose="02020603050405020304" pitchFamily="18" charset="0"/>
                <a:cs typeface="Times New Roman" panose="02020603050405020304" pitchFamily="18" charset="0"/>
              </a:rPr>
              <a:t>Figure 2.5</a:t>
            </a:r>
            <a:r>
              <a:rPr lang="en-US" altLang="en-US" sz="1600">
                <a:solidFill>
                  <a:srgbClr val="FF0033"/>
                </a:solidFill>
                <a:latin typeface="Times New Roman" panose="02020603050405020304" pitchFamily="18" charset="0"/>
                <a:cs typeface="Times New Roman" panose="02020603050405020304" pitchFamily="18" charset="0"/>
              </a:rPr>
              <a:t>.</a:t>
            </a:r>
            <a:r>
              <a:rPr lang="en-US" altLang="en-US" sz="1600">
                <a:solidFill>
                  <a:srgbClr val="FF9933"/>
                </a:solidFill>
                <a:latin typeface="Times New Roman" panose="02020603050405020304" pitchFamily="18" charset="0"/>
                <a:cs typeface="Times New Roman" panose="02020603050405020304" pitchFamily="18" charset="0"/>
              </a:rPr>
              <a:t> </a:t>
            </a:r>
            <a:r>
              <a:rPr lang="en-US" altLang="en-US" sz="1600">
                <a:solidFill>
                  <a:schemeClr val="bg2"/>
                </a:solidFill>
                <a:latin typeface="Times New Roman" panose="02020603050405020304" pitchFamily="18" charset="0"/>
                <a:cs typeface="Times New Roman" panose="02020603050405020304" pitchFamily="18" charset="0"/>
              </a:rPr>
              <a:t>Classification of the pyroclastic rocks. After Fisher (1966) Earth Sci. Rev., </a:t>
            </a:r>
            <a:r>
              <a:rPr lang="en-US" altLang="en-US" sz="1600" b="1">
                <a:solidFill>
                  <a:schemeClr val="bg2"/>
                </a:solidFill>
                <a:latin typeface="Times New Roman" panose="02020603050405020304" pitchFamily="18" charset="0"/>
                <a:cs typeface="Times New Roman" panose="02020603050405020304" pitchFamily="18" charset="0"/>
              </a:rPr>
              <a:t>1</a:t>
            </a:r>
            <a:r>
              <a:rPr lang="en-US" altLang="en-US" sz="1600">
                <a:solidFill>
                  <a:schemeClr val="bg2"/>
                </a:solidFill>
                <a:latin typeface="Times New Roman" panose="02020603050405020304" pitchFamily="18" charset="0"/>
                <a:cs typeface="Times New Roman" panose="02020603050405020304" pitchFamily="18" charset="0"/>
              </a:rPr>
              <a:t>, 287-298. </a:t>
            </a:r>
          </a:p>
        </p:txBody>
      </p:sp>
      <p:pic>
        <p:nvPicPr>
          <p:cNvPr id="11268" name="Picture 38" descr="Fig-2-5NewColor">
            <a:extLst>
              <a:ext uri="{FF2B5EF4-FFF2-40B4-BE49-F238E27FC236}">
                <a16:creationId xmlns:a16="http://schemas.microsoft.com/office/drawing/2014/main" id="{0001F8B2-9B2B-4EC1-8EBF-8A28D95BF9C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524000" y="838200"/>
            <a:ext cx="5715000" cy="49434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E1171D78-EC37-43E8-99F1-7E5830B28E13}"/>
              </a:ext>
            </a:extLst>
          </p:cNvPr>
          <p:cNvPicPr>
            <a:picLocks noChangeAspect="1"/>
          </p:cNvPicPr>
          <p:nvPr/>
        </p:nvPicPr>
        <p:blipFill>
          <a:blip r:embed="rId2"/>
          <a:stretch>
            <a:fillRect/>
          </a:stretch>
        </p:blipFill>
        <p:spPr>
          <a:xfrm>
            <a:off x="152400" y="228600"/>
            <a:ext cx="8610600" cy="6432279"/>
          </a:xfrm>
          <a:prstGeom prst="rect">
            <a:avLst/>
          </a:prstGeom>
        </p:spPr>
      </p:pic>
    </p:spTree>
    <p:extLst>
      <p:ext uri="{BB962C8B-B14F-4D97-AF65-F5344CB8AC3E}">
        <p14:creationId xmlns:p14="http://schemas.microsoft.com/office/powerpoint/2010/main" val="2106022986"/>
      </p:ext>
    </p:extLst>
  </p:cSld>
  <p:clrMapOvr>
    <a:masterClrMapping/>
  </p:clrMapOvr>
</p:sld>
</file>

<file path=ppt/theme/theme1.xml><?xml version="1.0" encoding="utf-8"?>
<a:theme xmlns:a="http://schemas.openxmlformats.org/drawingml/2006/main" name="Default Design">
  <a:themeElements>
    <a:clrScheme name="Default 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Default Design">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Default 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Default Design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Default Design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Default Design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Default Design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Default Design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Default Design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Default Design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Default Design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Default Design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Default Design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Default Design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3808</TotalTime>
  <Words>1111</Words>
  <Application>Microsoft Office PowerPoint</Application>
  <PresentationFormat>On-screen Show (4:3)</PresentationFormat>
  <Paragraphs>78</Paragraphs>
  <Slides>28</Slides>
  <Notes>7</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28</vt:i4>
      </vt:variant>
    </vt:vector>
  </HeadingPairs>
  <TitlesOfParts>
    <vt:vector size="34" baseType="lpstr">
      <vt:lpstr>Arial</vt:lpstr>
      <vt:lpstr>Calibri</vt:lpstr>
      <vt:lpstr>Monotype Sorts</vt:lpstr>
      <vt:lpstr>Symbol</vt:lpstr>
      <vt:lpstr>Times New Roman</vt:lpstr>
      <vt:lpstr>Default Design</vt:lpstr>
      <vt:lpstr>EES203: Geochemistry </vt:lpstr>
      <vt:lpstr>Spinel: magnesium aluminate (MgAl₂O₄),  </vt:lpstr>
      <vt:lpstr>Magma generation</vt:lpstr>
      <vt:lpstr>PowerPoint Presentation</vt:lpstr>
      <vt:lpstr>PowerPoint Presentation</vt:lpstr>
      <vt:lpstr>PowerPoint Presentation</vt:lpstr>
      <vt:lpstr>PowerPoint Presentation</vt:lpstr>
      <vt:lpstr>PowerPoint Presentation</vt:lpstr>
      <vt:lpstr>PowerPoint Presentation</vt:lpstr>
      <vt:lpstr>Hotspots</vt:lpstr>
      <vt:lpstr>Magma generation from the mantle</vt:lpstr>
      <vt:lpstr>PowerPoint Presentation</vt:lpstr>
      <vt:lpstr>PowerPoint Presentation</vt:lpstr>
      <vt:lpstr>PowerPoint Presentation</vt:lpstr>
      <vt:lpstr>PowerPoint Presentation</vt:lpstr>
      <vt:lpstr>PowerPoint Presentation</vt:lpstr>
      <vt:lpstr>PowerPoint Presentation</vt:lpstr>
      <vt:lpstr>Variation in elemental concentration</vt:lpstr>
      <vt:lpstr>Classification of Igneous Rocks</vt:lpstr>
      <vt:lpstr>Classification of Igneous Rocks</vt:lpstr>
      <vt:lpstr>Classification of Igneous Rocks</vt:lpstr>
      <vt:lpstr>PowerPoint Presentation</vt:lpstr>
      <vt:lpstr>Classification of Igneous Rocks</vt:lpstr>
      <vt:lpstr>Classification of Igneous Rocks</vt:lpstr>
      <vt:lpstr>Classification of Igneous Rocks</vt:lpstr>
      <vt:lpstr>Classification of Igneous Rocks</vt:lpstr>
      <vt:lpstr>Classification of Igneous Rocks</vt:lpstr>
      <vt:lpstr>PowerPoint Presentation</vt:lpstr>
    </vt:vector>
  </TitlesOfParts>
  <Company>njcu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dfreile</dc:creator>
  <cp:lastModifiedBy>Dell</cp:lastModifiedBy>
  <cp:revision>91</cp:revision>
  <dcterms:created xsi:type="dcterms:W3CDTF">2005-10-26T18:01:58Z</dcterms:created>
  <dcterms:modified xsi:type="dcterms:W3CDTF">2025-02-02T13:36:27Z</dcterms:modified>
</cp:coreProperties>
</file>