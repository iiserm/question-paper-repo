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9" r:id="rId5"/>
    <p:sldId id="271" r:id="rId6"/>
    <p:sldId id="259" r:id="rId7"/>
    <p:sldId id="268" r:id="rId8"/>
    <p:sldId id="272" r:id="rId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76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1674" y="16255"/>
            <a:ext cx="7140651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1F1F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1F1F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8617" y="16255"/>
            <a:ext cx="8506764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1F1F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340" y="1314957"/>
            <a:ext cx="8263890" cy="4319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1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noop@iisermohali.ac.in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302" y="1447800"/>
            <a:ext cx="7459345" cy="641201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902460" marR="5080" indent="-1890395">
              <a:lnSpc>
                <a:spcPts val="4700"/>
              </a:lnSpc>
              <a:spcBef>
                <a:spcPts val="300"/>
              </a:spcBef>
            </a:pPr>
            <a:r>
              <a:rPr lang="en-IN" dirty="0">
                <a:solidFill>
                  <a:srgbClr val="000000"/>
                </a:solidFill>
              </a:rPr>
              <a:t>EES203: Geochemistry </a:t>
            </a:r>
            <a:endParaRPr b="0" spc="-1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7302" y="2234442"/>
            <a:ext cx="7848600" cy="2389116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3200" b="1" dirty="0">
                <a:latin typeface="Times New Roman"/>
                <a:cs typeface="Times New Roman"/>
              </a:rPr>
              <a:t>Cr:</a:t>
            </a:r>
            <a:r>
              <a:rPr lang="en-IN" sz="3200" b="1" dirty="0">
                <a:latin typeface="Times New Roman"/>
                <a:cs typeface="Times New Roman"/>
              </a:rPr>
              <a:t>3</a:t>
            </a:r>
            <a:r>
              <a:rPr sz="3200" b="1" dirty="0">
                <a:latin typeface="Times New Roman"/>
                <a:cs typeface="Times New Roman"/>
              </a:rPr>
              <a:t>,</a:t>
            </a:r>
            <a:r>
              <a:rPr sz="3200" b="1" spc="-10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Lc:</a:t>
            </a:r>
            <a:r>
              <a:rPr lang="en-IN" sz="3200" b="1" dirty="0">
                <a:latin typeface="Times New Roman"/>
                <a:cs typeface="Times New Roman"/>
              </a:rPr>
              <a:t>2</a:t>
            </a:r>
            <a:r>
              <a:rPr sz="3200" b="1" dirty="0">
                <a:latin typeface="Times New Roman"/>
                <a:cs typeface="Times New Roman"/>
              </a:rPr>
              <a:t>,</a:t>
            </a:r>
            <a:r>
              <a:rPr sz="3200" b="1" spc="-13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T:1</a:t>
            </a:r>
            <a:r>
              <a:rPr sz="3200" dirty="0">
                <a:latin typeface="Times New Roman"/>
                <a:cs typeface="Times New Roman"/>
              </a:rPr>
              <a:t>;</a:t>
            </a:r>
            <a:r>
              <a:rPr sz="3200" spc="-7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Mon</a:t>
            </a:r>
            <a:r>
              <a:rPr lang="en-IN" sz="3200" dirty="0">
                <a:latin typeface="Times New Roman"/>
                <a:cs typeface="Times New Roman"/>
              </a:rPr>
              <a:t> and </a:t>
            </a:r>
            <a:r>
              <a:rPr sz="3200" spc="-25" dirty="0">
                <a:latin typeface="Times New Roman"/>
                <a:cs typeface="Times New Roman"/>
              </a:rPr>
              <a:t>Wed</a:t>
            </a:r>
            <a:r>
              <a:rPr lang="en-IN" sz="3200" spc="-25" dirty="0">
                <a:latin typeface="Times New Roman"/>
                <a:cs typeface="Times New Roman"/>
              </a:rPr>
              <a:t>, Tutorial: Fri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dirty="0">
                <a:latin typeface="Times New Roman"/>
                <a:cs typeface="Times New Roman"/>
              </a:rPr>
              <a:t>Instructor:</a:t>
            </a:r>
            <a:r>
              <a:rPr sz="3200" spc="-2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Anoop</a:t>
            </a:r>
            <a:r>
              <a:rPr sz="3200" spc="-19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Ambili</a:t>
            </a:r>
            <a:endParaRPr lang="en-IN" sz="320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lang="en-IN" sz="3200" spc="-10" dirty="0">
                <a:latin typeface="Times New Roman"/>
                <a:cs typeface="Times New Roman"/>
              </a:rPr>
              <a:t>TA: Dr. Nafees Ahmad</a:t>
            </a:r>
            <a:endParaRPr sz="3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dirty="0">
                <a:latin typeface="Times New Roman"/>
                <a:cs typeface="Times New Roman"/>
              </a:rPr>
              <a:t>Email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id: </a:t>
            </a:r>
            <a:r>
              <a:rPr sz="3200" spc="-10" dirty="0">
                <a:latin typeface="Times New Roman"/>
                <a:cs typeface="Times New Roman"/>
                <a:hlinkClick r:id="rId2"/>
              </a:rPr>
              <a:t>anoop@iisermohali.ac.in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5004" y="203657"/>
            <a:ext cx="52558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0000"/>
                </a:solidFill>
                <a:latin typeface="Times New Roman"/>
                <a:cs typeface="Times New Roman"/>
              </a:rPr>
              <a:t>Overview</a:t>
            </a:r>
            <a:r>
              <a:rPr sz="4400" b="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0" dirty="0">
                <a:solidFill>
                  <a:srgbClr val="000000"/>
                </a:solidFill>
                <a:latin typeface="Times New Roman"/>
                <a:cs typeface="Times New Roman"/>
              </a:rPr>
              <a:t>of the</a:t>
            </a:r>
            <a:r>
              <a:rPr sz="4400" b="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course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600" y="1066800"/>
            <a:ext cx="8609330" cy="5198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ct val="150000"/>
              </a:lnSpc>
              <a:spcBef>
                <a:spcPts val="3170"/>
              </a:spcBef>
              <a:buFont typeface="Arial MT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History of geochemistry; Standard units of measurements; Geochemical systems  and variables</a:t>
            </a:r>
          </a:p>
          <a:p>
            <a:pPr algn="just">
              <a:lnSpc>
                <a:spcPct val="150000"/>
              </a:lnSpc>
              <a:spcBef>
                <a:spcPts val="3170"/>
              </a:spcBef>
              <a:buFont typeface="Arial MT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Elements, atoms, and the structure of matter; Elements and the periodic table; Elemental associations and bonding. </a:t>
            </a:r>
          </a:p>
          <a:p>
            <a:pPr algn="just">
              <a:lnSpc>
                <a:spcPct val="150000"/>
              </a:lnSpc>
              <a:spcBef>
                <a:spcPts val="3170"/>
              </a:spcBef>
              <a:buFont typeface="Arial MT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Ionic substitution in crystals: governing rules, distribution coefficients and temperature dependence, geochemical classification of elements and implication for earth differentiation. 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399493"/>
            <a:ext cx="8380095" cy="3295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400" dirty="0"/>
              <a:t>Balancing redox equations; The Nernst equation; Oxidation potential; Eh-pH diagrams; Stability limits of water in terms of Eh and pH; Stability of iron compounds.</a:t>
            </a:r>
          </a:p>
          <a:p>
            <a:pPr marL="355600" marR="5080" indent="-342900" algn="just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endParaRPr lang="en-US" sz="2400" dirty="0"/>
          </a:p>
          <a:p>
            <a:pPr marL="355600" marR="5080" indent="-342900" algn="just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lang="en-US" sz="2400" dirty="0"/>
              <a:t> Role of microorganisms in redox reactions; Oxidation of sulphide minerals.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45004" y="203657"/>
            <a:ext cx="52558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0000"/>
                </a:solidFill>
                <a:latin typeface="Times New Roman"/>
                <a:cs typeface="Times New Roman"/>
              </a:rPr>
              <a:t>Overview</a:t>
            </a:r>
            <a:r>
              <a:rPr sz="4400" b="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0" dirty="0">
                <a:solidFill>
                  <a:srgbClr val="000000"/>
                </a:solidFill>
                <a:latin typeface="Times New Roman"/>
                <a:cs typeface="Times New Roman"/>
              </a:rPr>
              <a:t>of the</a:t>
            </a:r>
            <a:r>
              <a:rPr sz="4400" b="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course</a:t>
            </a:r>
            <a:endParaRPr sz="4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11BAA-90AF-4EE6-9F47-17BA7F7E9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8616" y="1269365"/>
            <a:ext cx="8825383" cy="4363502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latin typeface="Arial" panose="020B0604020202020204" pitchFamily="34" charset="0"/>
                <a:cs typeface="Arial" panose="020B0604020202020204" pitchFamily="34" charset="0"/>
              </a:rPr>
              <a:t>Evolution of the Earth; Chemical differentiation of the Earth; The Earth’s mantle; Estimating mantle and bulk Earth composition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i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0" dirty="0">
                <a:latin typeface="Arial" panose="020B0604020202020204" pitchFamily="34" charset="0"/>
                <a:cs typeface="Arial" panose="020B0604020202020204" pitchFamily="34" charset="0"/>
              </a:rPr>
              <a:t> The Earth’s core and its composition; Mantle geochemical reservoirs; The crust; Generation and crystallization of magmas; Geochemical discrimination of paleo-tectonic settings.</a:t>
            </a:r>
            <a:endParaRPr lang="en-IN" sz="24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6AD493D9-2CCE-4F00-A440-7B91239AE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5004" y="203657"/>
            <a:ext cx="52558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0000"/>
                </a:solidFill>
                <a:latin typeface="Times New Roman"/>
                <a:cs typeface="Times New Roman"/>
              </a:rPr>
              <a:t>Overview</a:t>
            </a:r>
            <a:r>
              <a:rPr sz="4400" b="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0" dirty="0">
                <a:solidFill>
                  <a:srgbClr val="000000"/>
                </a:solidFill>
                <a:latin typeface="Times New Roman"/>
                <a:cs typeface="Times New Roman"/>
              </a:rPr>
              <a:t>of the</a:t>
            </a:r>
            <a:r>
              <a:rPr sz="4400" b="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course</a:t>
            </a:r>
            <a:endParaRPr sz="4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96426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9EB301FD-D2CC-4511-AECB-94210AAE55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5004" y="203657"/>
            <a:ext cx="52558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0000"/>
                </a:solidFill>
                <a:latin typeface="Times New Roman"/>
                <a:cs typeface="Times New Roman"/>
              </a:rPr>
              <a:t>Overview</a:t>
            </a:r>
            <a:r>
              <a:rPr sz="4400" b="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0" dirty="0">
                <a:solidFill>
                  <a:srgbClr val="000000"/>
                </a:solidFill>
                <a:latin typeface="Times New Roman"/>
                <a:cs typeface="Times New Roman"/>
              </a:rPr>
              <a:t>of the</a:t>
            </a:r>
            <a:r>
              <a:rPr sz="4400" b="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course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ECD254B-7133-43AD-9A68-0EC5691CB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54" y="1066800"/>
            <a:ext cx="9060892" cy="5471498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i="0" dirty="0">
                <a:latin typeface="Arial" panose="020B0604020202020204" pitchFamily="34" charset="0"/>
                <a:cs typeface="Arial" panose="020B0604020202020204" pitchFamily="34" charset="0"/>
              </a:rPr>
              <a:t>Chemical composition of organic matter: Structure of natural products; Geochemical implications of compositional variation; Production, preservation and degradation of organic matter; Depositional environments associated with accumulation of organic matter.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i="0" dirty="0">
                <a:latin typeface="Arial" panose="020B0604020202020204" pitchFamily="34" charset="0"/>
                <a:cs typeface="Arial" panose="020B0604020202020204" pitchFamily="34" charset="0"/>
              </a:rPr>
              <a:t>Metagenesis; Distribution of fossil organic carbon, Thermogenic hypothesis. Long term fate of organic matter: Diagenesis; Humic material; Catagenesis and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i="0" dirty="0">
                <a:latin typeface="Arial" panose="020B0604020202020204" pitchFamily="34" charset="0"/>
                <a:cs typeface="Arial" panose="020B0604020202020204" pitchFamily="34" charset="0"/>
              </a:rPr>
              <a:t>Origin of petroleum: Deep Earth gas hypothesis; Abiogenic hydrocarbon gases</a:t>
            </a:r>
          </a:p>
        </p:txBody>
      </p:sp>
    </p:spTree>
    <p:extLst>
      <p:ext uri="{BB962C8B-B14F-4D97-AF65-F5344CB8AC3E}">
        <p14:creationId xmlns:p14="http://schemas.microsoft.com/office/powerpoint/2010/main" val="1195720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9098" y="478358"/>
            <a:ext cx="37661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000000"/>
                </a:solidFill>
                <a:latin typeface="Times New Roman"/>
                <a:cs typeface="Times New Roman"/>
              </a:rPr>
              <a:t>Grading</a:t>
            </a:r>
            <a:r>
              <a:rPr sz="4400" b="0" spc="-4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4400" b="0" spc="-10" dirty="0">
                <a:solidFill>
                  <a:srgbClr val="000000"/>
                </a:solidFill>
                <a:latin typeface="Times New Roman"/>
                <a:cs typeface="Times New Roman"/>
              </a:rPr>
              <a:t>Scheme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35325"/>
            <a:ext cx="6322060" cy="2139817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4965" indent="-342265">
              <a:lnSpc>
                <a:spcPct val="15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103880" algn="l"/>
              </a:tabLst>
            </a:pPr>
            <a:r>
              <a:rPr sz="2800" dirty="0">
                <a:latin typeface="Times New Roman"/>
                <a:cs typeface="Times New Roman"/>
              </a:rPr>
              <a:t>2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Exams:</a:t>
            </a:r>
            <a:r>
              <a:rPr lang="en-IN" sz="2800" spc="-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2</a:t>
            </a:r>
            <a:r>
              <a:rPr lang="en-IN" sz="2800" spc="-20" dirty="0">
                <a:latin typeface="Times New Roman"/>
                <a:cs typeface="Times New Roman"/>
              </a:rPr>
              <a:t>0+20 marks </a:t>
            </a:r>
            <a:endParaRPr sz="2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5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lang="en-IN" sz="2800" dirty="0">
                <a:latin typeface="Times New Roman"/>
                <a:cs typeface="Times New Roman"/>
              </a:rPr>
              <a:t>ttendance+Quiz: 10 marks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lang="en-IN" sz="2800" spc="-60" dirty="0">
                <a:latin typeface="Times New Roman"/>
                <a:cs typeface="Times New Roman"/>
              </a:rPr>
              <a:t> </a:t>
            </a:r>
            <a:endParaRPr sz="28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50000"/>
              </a:lnSpc>
              <a:spcBef>
                <a:spcPts val="67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End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semester: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lang="en-IN" sz="2800" spc="-25" dirty="0">
                <a:latin typeface="Times New Roman"/>
                <a:cs typeface="Times New Roman"/>
              </a:rPr>
              <a:t>50 marks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52400" y="1295400"/>
            <a:ext cx="8763000" cy="26282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 algn="just">
              <a:lnSpc>
                <a:spcPct val="15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800" i="0" dirty="0"/>
              <a:t>Faure, G., 2012, Inorganic Geochemistry - Principles and Applications (3rd Edition), Wiley Publications. </a:t>
            </a:r>
          </a:p>
          <a:p>
            <a:pPr marL="354965" indent="-342265" algn="just">
              <a:lnSpc>
                <a:spcPct val="15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800" i="0" dirty="0"/>
              <a:t>White, M., 2013. Geochemistry, Wiley Publication. </a:t>
            </a:r>
          </a:p>
          <a:p>
            <a:pPr marL="354965" indent="-342265" algn="just">
              <a:lnSpc>
                <a:spcPct val="15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endParaRPr i="0" spc="-1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9740" y="313385"/>
            <a:ext cx="41459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0000"/>
                </a:solidFill>
              </a:rPr>
              <a:t>Recommended</a:t>
            </a:r>
            <a:r>
              <a:rPr sz="3200" spc="-120" dirty="0">
                <a:solidFill>
                  <a:srgbClr val="000000"/>
                </a:solidFill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Reading</a:t>
            </a:r>
            <a:endParaRPr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CA3FA62F-EADD-4467-9663-89579A3B76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" y="228600"/>
            <a:ext cx="41459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0000"/>
                </a:solidFill>
              </a:rPr>
              <a:t>Recommended</a:t>
            </a:r>
            <a:r>
              <a:rPr sz="3200" spc="-120" dirty="0">
                <a:solidFill>
                  <a:srgbClr val="000000"/>
                </a:solidFill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Reading</a:t>
            </a:r>
            <a:endParaRPr sz="3200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D4258026-8FC5-4EE5-A4F1-B766D2B265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2400" y="1295400"/>
            <a:ext cx="8763000" cy="217591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 algn="just">
              <a:lnSpc>
                <a:spcPct val="15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400" i="0" dirty="0"/>
              <a:t>Walther, J., 2009. Essentials of Geochemistry (2nd Edition), Jones and Bartlett Learning. </a:t>
            </a:r>
          </a:p>
          <a:p>
            <a:pPr marL="354965" indent="-342265" algn="just">
              <a:lnSpc>
                <a:spcPct val="15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400" i="0" dirty="0"/>
              <a:t>S. D. Killops and V. J. Killops. An Introduction to Organic Geochemistry, Wiley-Blackwell (2005).</a:t>
            </a:r>
            <a:endParaRPr sz="2400" i="0" spc="-1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07297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</TotalTime>
  <Words>375</Words>
  <Application>Microsoft Office PowerPoint</Application>
  <PresentationFormat>On-screen Show (4:3)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MT</vt:lpstr>
      <vt:lpstr>Times New Roman</vt:lpstr>
      <vt:lpstr>Office Theme</vt:lpstr>
      <vt:lpstr>EES203: Geochemistry </vt:lpstr>
      <vt:lpstr>Overview of the course</vt:lpstr>
      <vt:lpstr>Overview of the course</vt:lpstr>
      <vt:lpstr>Overview of the course</vt:lpstr>
      <vt:lpstr>Overview of the course</vt:lpstr>
      <vt:lpstr>Grading Scheme</vt:lpstr>
      <vt:lpstr>Recommended Reading</vt:lpstr>
      <vt:lpstr>Recommended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EES636: The quarternary period-environments, animals adaptations during the last 2.5 million years</dc:title>
  <dc:creator>shubhra sharma</dc:creator>
  <cp:lastModifiedBy>Dell</cp:lastModifiedBy>
  <cp:revision>8</cp:revision>
  <dcterms:created xsi:type="dcterms:W3CDTF">2025-01-06T08:54:24Z</dcterms:created>
  <dcterms:modified xsi:type="dcterms:W3CDTF">2025-01-18T05:45:22Z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2021-01-05T00:00:00Z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2025-01-06T00:00:00Z</vt:filetime>
  </property>
  <property fmtid="{D5CDD505-2E9C-101B-9397-08002B2CF9AE}" pid="5" name="Producer">
    <vt:lpwstr>Microsoft® Office PowerPoint® 2007</vt:lpwstr>
  </property>
</Properties>
</file>