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309" r:id="rId3"/>
    <p:sldId id="271" r:id="rId4"/>
    <p:sldId id="286" r:id="rId5"/>
    <p:sldId id="273" r:id="rId6"/>
    <p:sldId id="274" r:id="rId7"/>
    <p:sldId id="275" r:id="rId8"/>
    <p:sldId id="276" r:id="rId9"/>
    <p:sldId id="310" r:id="rId10"/>
    <p:sldId id="289" r:id="rId11"/>
    <p:sldId id="292" r:id="rId12"/>
    <p:sldId id="290" r:id="rId13"/>
    <p:sldId id="277" r:id="rId14"/>
    <p:sldId id="311" r:id="rId15"/>
    <p:sldId id="312" r:id="rId16"/>
    <p:sldId id="313" r:id="rId17"/>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1" d="100"/>
          <a:sy n="61" d="100"/>
        </p:scale>
        <p:origin x="1440"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F849FF4-C7A6-4C3A-9C9D-C19E69A0DD29}" type="datetimeFigureOut">
              <a:rPr lang="en-IN" smtClean="0"/>
              <a:t>18-01-2025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65FB18C-60DA-4FE0-8A8A-126916E7623C}" type="slidenum">
              <a:rPr lang="en-IN" smtClean="0"/>
              <a:t>‹#›</a:t>
            </a:fld>
            <a:endParaRPr lang="en-IN"/>
          </a:p>
        </p:txBody>
      </p:sp>
    </p:spTree>
    <p:extLst>
      <p:ext uri="{BB962C8B-B14F-4D97-AF65-F5344CB8AC3E}">
        <p14:creationId xmlns:p14="http://schemas.microsoft.com/office/powerpoint/2010/main" val="2071070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58B95C6-0FD7-40CB-9CEE-79FDE08EBCA6}"/>
              </a:ext>
            </a:extLst>
          </p:cNvPr>
          <p:cNvSpPr>
            <a:spLocks noGrp="1" noChangeArrowheads="1"/>
          </p:cNvSpPr>
          <p:nvPr>
            <p:ph type="sldNum" sz="quarter" idx="5"/>
          </p:nvPr>
        </p:nvSpPr>
        <p:spPr>
          <a:ln/>
        </p:spPr>
        <p:txBody>
          <a:bodyPr/>
          <a:lstStyle/>
          <a:p>
            <a:fld id="{7AF08787-7B19-4BFA-B250-9E041A3F8B15}" type="slidenum">
              <a:rPr lang="en-US" altLang="en-US"/>
              <a:pPr/>
              <a:t>3</a:t>
            </a:fld>
            <a:endParaRPr lang="en-US" altLang="en-US"/>
          </a:p>
        </p:txBody>
      </p:sp>
      <p:sp>
        <p:nvSpPr>
          <p:cNvPr id="41986" name="Rectangle 2">
            <a:extLst>
              <a:ext uri="{FF2B5EF4-FFF2-40B4-BE49-F238E27FC236}">
                <a16:creationId xmlns:a16="http://schemas.microsoft.com/office/drawing/2014/main" id="{DAB4080D-6964-4C47-B8D5-2861720728CD}"/>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B8DBA12B-1A7D-40CB-9D1D-41C3A533F90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3C83D74-0C72-452B-B504-D5AE713482D7}"/>
              </a:ext>
            </a:extLst>
          </p:cNvPr>
          <p:cNvSpPr>
            <a:spLocks noGrp="1" noChangeArrowheads="1"/>
          </p:cNvSpPr>
          <p:nvPr>
            <p:ph type="sldNum" sz="quarter" idx="5"/>
          </p:nvPr>
        </p:nvSpPr>
        <p:spPr>
          <a:ln/>
        </p:spPr>
        <p:txBody>
          <a:bodyPr/>
          <a:lstStyle/>
          <a:p>
            <a:fld id="{4709C3AB-4EB8-410C-9959-219E580FC87F}" type="slidenum">
              <a:rPr lang="en-US" altLang="en-US"/>
              <a:pPr/>
              <a:t>4</a:t>
            </a:fld>
            <a:endParaRPr lang="en-US" altLang="en-US"/>
          </a:p>
        </p:txBody>
      </p:sp>
      <p:sp>
        <p:nvSpPr>
          <p:cNvPr id="44034" name="Rectangle 2">
            <a:extLst>
              <a:ext uri="{FF2B5EF4-FFF2-40B4-BE49-F238E27FC236}">
                <a16:creationId xmlns:a16="http://schemas.microsoft.com/office/drawing/2014/main" id="{68DD452F-4B6E-4C1F-A92E-3D4ACF983B8D}"/>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2ADE677F-931B-4B96-80B3-9AD588B6409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91BE5AD-C3EB-4B07-B9C5-1275FA4CBA74}"/>
              </a:ext>
            </a:extLst>
          </p:cNvPr>
          <p:cNvSpPr>
            <a:spLocks noGrp="1" noChangeArrowheads="1"/>
          </p:cNvSpPr>
          <p:nvPr>
            <p:ph type="sldNum" sz="quarter" idx="5"/>
          </p:nvPr>
        </p:nvSpPr>
        <p:spPr>
          <a:ln/>
        </p:spPr>
        <p:txBody>
          <a:bodyPr/>
          <a:lstStyle/>
          <a:p>
            <a:fld id="{BA1807A3-FFC2-48C6-ADFB-328055637BFB}" type="slidenum">
              <a:rPr lang="en-US" altLang="en-US"/>
              <a:pPr/>
              <a:t>5</a:t>
            </a:fld>
            <a:endParaRPr lang="en-US" altLang="en-US"/>
          </a:p>
        </p:txBody>
      </p:sp>
      <p:sp>
        <p:nvSpPr>
          <p:cNvPr id="45058" name="Rectangle 2">
            <a:extLst>
              <a:ext uri="{FF2B5EF4-FFF2-40B4-BE49-F238E27FC236}">
                <a16:creationId xmlns:a16="http://schemas.microsoft.com/office/drawing/2014/main" id="{6157A80D-0FFE-4C27-AF43-FAF969D968FD}"/>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42AC19C3-C6D0-401E-8390-BB21F1F47C6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756F57C-ADF7-48DE-9EEA-74AF0D130198}"/>
              </a:ext>
            </a:extLst>
          </p:cNvPr>
          <p:cNvSpPr>
            <a:spLocks noGrp="1" noChangeArrowheads="1"/>
          </p:cNvSpPr>
          <p:nvPr>
            <p:ph type="sldNum" sz="quarter" idx="5"/>
          </p:nvPr>
        </p:nvSpPr>
        <p:spPr>
          <a:ln/>
        </p:spPr>
        <p:txBody>
          <a:bodyPr/>
          <a:lstStyle/>
          <a:p>
            <a:fld id="{6C2AAEB1-622B-40A6-97C2-1A767394A17D}" type="slidenum">
              <a:rPr lang="en-US" altLang="en-US"/>
              <a:pPr/>
              <a:t>6</a:t>
            </a:fld>
            <a:endParaRPr lang="en-US" altLang="en-US"/>
          </a:p>
        </p:txBody>
      </p:sp>
      <p:sp>
        <p:nvSpPr>
          <p:cNvPr id="46082" name="Rectangle 2">
            <a:extLst>
              <a:ext uri="{FF2B5EF4-FFF2-40B4-BE49-F238E27FC236}">
                <a16:creationId xmlns:a16="http://schemas.microsoft.com/office/drawing/2014/main" id="{D437ABB6-91BE-419F-A5B8-64DCE29F1FB5}"/>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D9275403-2C18-457F-A975-278CBB474E1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9D74BDC-44B7-4BC0-9F83-2514BD84890A}"/>
              </a:ext>
            </a:extLst>
          </p:cNvPr>
          <p:cNvSpPr>
            <a:spLocks noGrp="1" noChangeArrowheads="1"/>
          </p:cNvSpPr>
          <p:nvPr>
            <p:ph type="sldNum" sz="quarter" idx="5"/>
          </p:nvPr>
        </p:nvSpPr>
        <p:spPr>
          <a:ln/>
        </p:spPr>
        <p:txBody>
          <a:bodyPr/>
          <a:lstStyle/>
          <a:p>
            <a:fld id="{7DB4E1CE-2393-4BC7-8F27-C0B59E4204AB}" type="slidenum">
              <a:rPr lang="en-US" altLang="en-US"/>
              <a:pPr/>
              <a:t>7</a:t>
            </a:fld>
            <a:endParaRPr lang="en-US" altLang="en-US"/>
          </a:p>
        </p:txBody>
      </p:sp>
      <p:sp>
        <p:nvSpPr>
          <p:cNvPr id="47106" name="Rectangle 2">
            <a:extLst>
              <a:ext uri="{FF2B5EF4-FFF2-40B4-BE49-F238E27FC236}">
                <a16:creationId xmlns:a16="http://schemas.microsoft.com/office/drawing/2014/main" id="{9E6A348D-9C88-48B3-A924-B6D829FADBAB}"/>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84287426-64CF-4706-9C33-B5775448A6B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E869F0A-A80D-4D61-AB19-8C773F1B7E71}"/>
              </a:ext>
            </a:extLst>
          </p:cNvPr>
          <p:cNvSpPr>
            <a:spLocks noGrp="1" noChangeArrowheads="1"/>
          </p:cNvSpPr>
          <p:nvPr>
            <p:ph type="sldNum" sz="quarter" idx="5"/>
          </p:nvPr>
        </p:nvSpPr>
        <p:spPr>
          <a:ln/>
        </p:spPr>
        <p:txBody>
          <a:bodyPr/>
          <a:lstStyle/>
          <a:p>
            <a:fld id="{14E1A109-2F4D-498B-A883-DF0C45A44B94}" type="slidenum">
              <a:rPr lang="en-US" altLang="en-US"/>
              <a:pPr/>
              <a:t>8</a:t>
            </a:fld>
            <a:endParaRPr lang="en-US" altLang="en-US"/>
          </a:p>
        </p:txBody>
      </p:sp>
      <p:sp>
        <p:nvSpPr>
          <p:cNvPr id="48130" name="Rectangle 2">
            <a:extLst>
              <a:ext uri="{FF2B5EF4-FFF2-40B4-BE49-F238E27FC236}">
                <a16:creationId xmlns:a16="http://schemas.microsoft.com/office/drawing/2014/main" id="{B1D75BB7-A3CD-4873-893D-74FE60920F11}"/>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55DA0CA-90DA-450A-9016-F1AD5D5BAE9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4321F0A-F0E1-49DC-9825-9E91DED6E010}"/>
              </a:ext>
            </a:extLst>
          </p:cNvPr>
          <p:cNvSpPr>
            <a:spLocks noGrp="1" noChangeArrowheads="1"/>
          </p:cNvSpPr>
          <p:nvPr>
            <p:ph type="sldNum" sz="quarter" idx="5"/>
          </p:nvPr>
        </p:nvSpPr>
        <p:spPr>
          <a:ln/>
        </p:spPr>
        <p:txBody>
          <a:bodyPr/>
          <a:lstStyle/>
          <a:p>
            <a:fld id="{5DBB7A18-218A-47BE-A262-2951BA35CD61}" type="slidenum">
              <a:rPr lang="en-US" altLang="en-US"/>
              <a:pPr/>
              <a:t>10</a:t>
            </a:fld>
            <a:endParaRPr lang="en-US" altLang="en-US"/>
          </a:p>
        </p:txBody>
      </p:sp>
      <p:sp>
        <p:nvSpPr>
          <p:cNvPr id="49154" name="Rectangle 2">
            <a:extLst>
              <a:ext uri="{FF2B5EF4-FFF2-40B4-BE49-F238E27FC236}">
                <a16:creationId xmlns:a16="http://schemas.microsoft.com/office/drawing/2014/main" id="{46BA2589-74EC-46F9-AC32-297022701521}"/>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2B4C7E7-A700-4211-A37D-35CF0205C2E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74A2046-946C-48D8-86E4-03D6BE1B59FB}"/>
              </a:ext>
            </a:extLst>
          </p:cNvPr>
          <p:cNvSpPr>
            <a:spLocks noGrp="1" noChangeArrowheads="1"/>
          </p:cNvSpPr>
          <p:nvPr>
            <p:ph type="sldNum" sz="quarter" idx="5"/>
          </p:nvPr>
        </p:nvSpPr>
        <p:spPr>
          <a:ln/>
        </p:spPr>
        <p:txBody>
          <a:bodyPr/>
          <a:lstStyle/>
          <a:p>
            <a:fld id="{0F72BB28-1F9F-4DE6-A669-3489A40B9C38}" type="slidenum">
              <a:rPr lang="en-US" altLang="en-US"/>
              <a:pPr/>
              <a:t>11</a:t>
            </a:fld>
            <a:endParaRPr lang="en-US" altLang="en-US"/>
          </a:p>
        </p:txBody>
      </p:sp>
      <p:sp>
        <p:nvSpPr>
          <p:cNvPr id="64514" name="Rectangle 2">
            <a:extLst>
              <a:ext uri="{FF2B5EF4-FFF2-40B4-BE49-F238E27FC236}">
                <a16:creationId xmlns:a16="http://schemas.microsoft.com/office/drawing/2014/main" id="{278AC23C-95B4-4432-B78A-9E5EB5B0908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A5C35FFA-D43B-48BD-AEAB-1E1508A5528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ABA75D0-B47E-4225-A6FE-DD7D389B4D8C}"/>
              </a:ext>
            </a:extLst>
          </p:cNvPr>
          <p:cNvSpPr>
            <a:spLocks noGrp="1" noChangeArrowheads="1"/>
          </p:cNvSpPr>
          <p:nvPr>
            <p:ph type="sldNum" sz="quarter" idx="5"/>
          </p:nvPr>
        </p:nvSpPr>
        <p:spPr>
          <a:ln/>
        </p:spPr>
        <p:txBody>
          <a:bodyPr/>
          <a:lstStyle/>
          <a:p>
            <a:fld id="{915D1CE9-5B2E-4A37-AD68-D042D55C0267}" type="slidenum">
              <a:rPr lang="en-US" altLang="en-US"/>
              <a:pPr/>
              <a:t>12</a:t>
            </a:fld>
            <a:endParaRPr lang="en-US" altLang="en-US"/>
          </a:p>
        </p:txBody>
      </p:sp>
      <p:sp>
        <p:nvSpPr>
          <p:cNvPr id="50178" name="Rectangle 2">
            <a:extLst>
              <a:ext uri="{FF2B5EF4-FFF2-40B4-BE49-F238E27FC236}">
                <a16:creationId xmlns:a16="http://schemas.microsoft.com/office/drawing/2014/main" id="{1F4DD8C2-0780-4551-9254-168B11E81EBC}"/>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90E836D3-7AB8-456B-940A-2BEF1075128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7500F33-77D1-4C1E-80BA-7EC8133B29CC}"/>
              </a:ext>
            </a:extLst>
          </p:cNvPr>
          <p:cNvSpPr>
            <a:spLocks noGrp="1" noChangeArrowheads="1"/>
          </p:cNvSpPr>
          <p:nvPr>
            <p:ph type="sldNum" sz="quarter" idx="5"/>
          </p:nvPr>
        </p:nvSpPr>
        <p:spPr>
          <a:ln/>
        </p:spPr>
        <p:txBody>
          <a:bodyPr/>
          <a:lstStyle/>
          <a:p>
            <a:fld id="{386398D7-639A-417B-AF0B-6A5FCBDAD434}" type="slidenum">
              <a:rPr lang="en-US" altLang="en-US"/>
              <a:pPr/>
              <a:t>13</a:t>
            </a:fld>
            <a:endParaRPr lang="en-US" altLang="en-US"/>
          </a:p>
        </p:txBody>
      </p:sp>
      <p:sp>
        <p:nvSpPr>
          <p:cNvPr id="51202" name="Rectangle 2">
            <a:extLst>
              <a:ext uri="{FF2B5EF4-FFF2-40B4-BE49-F238E27FC236}">
                <a16:creationId xmlns:a16="http://schemas.microsoft.com/office/drawing/2014/main" id="{750DB52B-60A5-4950-8F01-A6BD080574FC}"/>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F15FBFFE-B1F4-47A5-B6C2-F18E4D9688C7}"/>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01674" y="16255"/>
            <a:ext cx="7140651" cy="635000"/>
          </a:xfrm>
          <a:prstGeom prst="rect">
            <a:avLst/>
          </a:prstGeom>
        </p:spPr>
        <p:txBody>
          <a:bodyPr wrap="square" lIns="0" tIns="0" rIns="0" bIns="0">
            <a:spAutoFit/>
          </a:bodyPr>
          <a:lstStyle>
            <a:lvl1pPr>
              <a:defRPr sz="4000" b="1" i="0">
                <a:solidFill>
                  <a:srgbClr val="F1F1F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3200" b="0" i="1">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F1F1F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0" i="1">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F1F1F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F1F1F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18617" y="16255"/>
            <a:ext cx="8506764" cy="635000"/>
          </a:xfrm>
          <a:prstGeom prst="rect">
            <a:avLst/>
          </a:prstGeom>
        </p:spPr>
        <p:txBody>
          <a:bodyPr wrap="square" lIns="0" tIns="0" rIns="0" bIns="0">
            <a:spAutoFit/>
          </a:bodyPr>
          <a:lstStyle>
            <a:lvl1pPr>
              <a:defRPr sz="4000" b="1" i="0">
                <a:solidFill>
                  <a:srgbClr val="F1F1F1"/>
                </a:solidFill>
                <a:latin typeface="Times New Roman"/>
                <a:cs typeface="Times New Roman"/>
              </a:defRPr>
            </a:lvl1pPr>
          </a:lstStyle>
          <a:p>
            <a:endParaRPr/>
          </a:p>
        </p:txBody>
      </p:sp>
      <p:sp>
        <p:nvSpPr>
          <p:cNvPr id="3" name="Holder 3"/>
          <p:cNvSpPr>
            <a:spLocks noGrp="1"/>
          </p:cNvSpPr>
          <p:nvPr>
            <p:ph type="body" idx="1"/>
          </p:nvPr>
        </p:nvSpPr>
        <p:spPr>
          <a:xfrm>
            <a:off x="307340" y="1314957"/>
            <a:ext cx="8263890" cy="4319270"/>
          </a:xfrm>
          <a:prstGeom prst="rect">
            <a:avLst/>
          </a:prstGeom>
        </p:spPr>
        <p:txBody>
          <a:bodyPr wrap="square" lIns="0" tIns="0" rIns="0" bIns="0">
            <a:spAutoFit/>
          </a:bodyPr>
          <a:lstStyle>
            <a:lvl1pPr>
              <a:defRPr sz="3200" b="0" i="1">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noop@iisermohali.ac.in"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3" Type="http://schemas.openxmlformats.org/officeDocument/2006/relationships/image" Target="../media/image26.png"/><Relationship Id="rId18" Type="http://schemas.openxmlformats.org/officeDocument/2006/relationships/image" Target="../media/image31.png"/><Relationship Id="rId26" Type="http://schemas.openxmlformats.org/officeDocument/2006/relationships/image" Target="../media/image39.png"/><Relationship Id="rId3" Type="http://schemas.openxmlformats.org/officeDocument/2006/relationships/image" Target="../media/image16.png"/><Relationship Id="rId21" Type="http://schemas.openxmlformats.org/officeDocument/2006/relationships/image" Target="../media/image34.png"/><Relationship Id="rId34" Type="http://schemas.openxmlformats.org/officeDocument/2006/relationships/image" Target="../media/image47.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png"/><Relationship Id="rId33" Type="http://schemas.openxmlformats.org/officeDocument/2006/relationships/image" Target="../media/image46.png"/><Relationship Id="rId2" Type="http://schemas.openxmlformats.org/officeDocument/2006/relationships/image" Target="../media/image15.png"/><Relationship Id="rId16" Type="http://schemas.openxmlformats.org/officeDocument/2006/relationships/image" Target="../media/image29.png"/><Relationship Id="rId20" Type="http://schemas.openxmlformats.org/officeDocument/2006/relationships/image" Target="../media/image33.png"/><Relationship Id="rId29"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37.png"/><Relationship Id="rId32" Type="http://schemas.openxmlformats.org/officeDocument/2006/relationships/image" Target="../media/image45.pn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36.png"/><Relationship Id="rId28" Type="http://schemas.openxmlformats.org/officeDocument/2006/relationships/image" Target="../media/image41.png"/><Relationship Id="rId10" Type="http://schemas.openxmlformats.org/officeDocument/2006/relationships/image" Target="../media/image23.png"/><Relationship Id="rId19" Type="http://schemas.openxmlformats.org/officeDocument/2006/relationships/image" Target="../media/image32.png"/><Relationship Id="rId31" Type="http://schemas.openxmlformats.org/officeDocument/2006/relationships/image" Target="../media/image44.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 Id="rId27" Type="http://schemas.openxmlformats.org/officeDocument/2006/relationships/image" Target="../media/image40.png"/><Relationship Id="rId30" Type="http://schemas.openxmlformats.org/officeDocument/2006/relationships/image" Target="../media/image43.png"/><Relationship Id="rId8"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295400"/>
            <a:ext cx="7459345" cy="641201"/>
          </a:xfrm>
          <a:prstGeom prst="rect">
            <a:avLst/>
          </a:prstGeom>
        </p:spPr>
        <p:txBody>
          <a:bodyPr vert="horz" wrap="square" lIns="0" tIns="38100" rIns="0" bIns="0" rtlCol="0">
            <a:spAutoFit/>
          </a:bodyPr>
          <a:lstStyle/>
          <a:p>
            <a:pPr marL="1902460" marR="5080" indent="-1890395">
              <a:lnSpc>
                <a:spcPts val="4700"/>
              </a:lnSpc>
              <a:spcBef>
                <a:spcPts val="300"/>
              </a:spcBef>
            </a:pPr>
            <a:r>
              <a:rPr lang="en-IN" dirty="0">
                <a:solidFill>
                  <a:srgbClr val="000000"/>
                </a:solidFill>
              </a:rPr>
              <a:t>EES203: Geochemistry </a:t>
            </a:r>
            <a:endParaRPr b="0" spc="-10" dirty="0">
              <a:solidFill>
                <a:srgbClr val="000000"/>
              </a:solidFill>
              <a:latin typeface="Times New Roman"/>
              <a:cs typeface="Times New Roman"/>
            </a:endParaRPr>
          </a:p>
        </p:txBody>
      </p:sp>
      <p:sp>
        <p:nvSpPr>
          <p:cNvPr id="3" name="object 3"/>
          <p:cNvSpPr txBox="1"/>
          <p:nvPr/>
        </p:nvSpPr>
        <p:spPr>
          <a:xfrm>
            <a:off x="1555531" y="2133600"/>
            <a:ext cx="7848600" cy="1199046"/>
          </a:xfrm>
          <a:prstGeom prst="rect">
            <a:avLst/>
          </a:prstGeom>
        </p:spPr>
        <p:txBody>
          <a:bodyPr vert="horz" wrap="square" lIns="0" tIns="110490" rIns="0" bIns="0" rtlCol="0">
            <a:spAutoFit/>
          </a:bodyPr>
          <a:lstStyle/>
          <a:p>
            <a:pPr marL="12700">
              <a:lnSpc>
                <a:spcPct val="100000"/>
              </a:lnSpc>
              <a:spcBef>
                <a:spcPts val="765"/>
              </a:spcBef>
            </a:pPr>
            <a:r>
              <a:rPr sz="3200" dirty="0">
                <a:latin typeface="Times New Roman"/>
                <a:cs typeface="Times New Roman"/>
              </a:rPr>
              <a:t>Instructor:</a:t>
            </a:r>
            <a:r>
              <a:rPr sz="3200" spc="-235" dirty="0">
                <a:latin typeface="Times New Roman"/>
                <a:cs typeface="Times New Roman"/>
              </a:rPr>
              <a:t> </a:t>
            </a:r>
            <a:r>
              <a:rPr sz="3200" dirty="0">
                <a:latin typeface="Times New Roman"/>
                <a:cs typeface="Times New Roman"/>
              </a:rPr>
              <a:t>Anoop</a:t>
            </a:r>
            <a:r>
              <a:rPr sz="3200" spc="-195" dirty="0">
                <a:latin typeface="Times New Roman"/>
                <a:cs typeface="Times New Roman"/>
              </a:rPr>
              <a:t> </a:t>
            </a:r>
            <a:r>
              <a:rPr sz="3200" spc="-10" dirty="0">
                <a:latin typeface="Times New Roman"/>
                <a:cs typeface="Times New Roman"/>
              </a:rPr>
              <a:t>Ambili</a:t>
            </a:r>
            <a:endParaRPr lang="en-IN" sz="3200" spc="-10" dirty="0">
              <a:latin typeface="Times New Roman"/>
              <a:cs typeface="Times New Roman"/>
            </a:endParaRPr>
          </a:p>
          <a:p>
            <a:pPr marL="12700">
              <a:lnSpc>
                <a:spcPct val="100000"/>
              </a:lnSpc>
              <a:spcBef>
                <a:spcPts val="770"/>
              </a:spcBef>
            </a:pPr>
            <a:r>
              <a:rPr sz="3200" dirty="0">
                <a:latin typeface="Times New Roman"/>
                <a:cs typeface="Times New Roman"/>
              </a:rPr>
              <a:t>Email</a:t>
            </a:r>
            <a:r>
              <a:rPr sz="3200" spc="-35" dirty="0">
                <a:latin typeface="Times New Roman"/>
                <a:cs typeface="Times New Roman"/>
              </a:rPr>
              <a:t> </a:t>
            </a:r>
            <a:r>
              <a:rPr sz="3200" dirty="0">
                <a:latin typeface="Times New Roman"/>
                <a:cs typeface="Times New Roman"/>
              </a:rPr>
              <a:t>id: </a:t>
            </a:r>
            <a:r>
              <a:rPr sz="3200" spc="-10" dirty="0">
                <a:latin typeface="Times New Roman"/>
                <a:cs typeface="Times New Roman"/>
                <a:hlinkClick r:id="rId2"/>
              </a:rPr>
              <a:t>anoop@iisermohali.ac.in</a:t>
            </a:r>
            <a:endParaRPr sz="32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a:extLst>
              <a:ext uri="{FF2B5EF4-FFF2-40B4-BE49-F238E27FC236}">
                <a16:creationId xmlns:a16="http://schemas.microsoft.com/office/drawing/2014/main" id="{89826F0E-C0BB-4E28-B681-4E8C286799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5584"/>
            <a:ext cx="8839200" cy="6829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3236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Figre 1-2a">
            <a:extLst>
              <a:ext uri="{FF2B5EF4-FFF2-40B4-BE49-F238E27FC236}">
                <a16:creationId xmlns:a16="http://schemas.microsoft.com/office/drawing/2014/main" id="{2A55EE27-F817-4ECB-88EB-A8BD76C31B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9353"/>
            <a:ext cx="8324850" cy="66586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a:extLst>
              <a:ext uri="{FF2B5EF4-FFF2-40B4-BE49-F238E27FC236}">
                <a16:creationId xmlns:a16="http://schemas.microsoft.com/office/drawing/2014/main" id="{40C23DB6-FE3B-4B26-AD04-228DB1A1D7CE}"/>
              </a:ext>
            </a:extLst>
          </p:cNvPr>
          <p:cNvSpPr txBox="1">
            <a:spLocks noChangeArrowheads="1"/>
          </p:cNvSpPr>
          <p:nvPr/>
        </p:nvSpPr>
        <p:spPr bwMode="auto">
          <a:xfrm>
            <a:off x="6019800" y="1219200"/>
            <a:ext cx="2667000" cy="528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b="1">
                <a:solidFill>
                  <a:schemeClr val="accent2"/>
                </a:solidFill>
                <a:latin typeface="Arial" panose="020B0604020202020204" pitchFamily="34" charset="0"/>
              </a:rPr>
              <a:t>Electrons and Orbits</a:t>
            </a:r>
            <a:endParaRPr lang="en-US" altLang="en-US" sz="1800" b="1">
              <a:latin typeface="Arial" panose="020B0604020202020204" pitchFamily="34" charset="0"/>
            </a:endParaRPr>
          </a:p>
          <a:p>
            <a:endParaRPr lang="en-US" altLang="en-US" sz="1800">
              <a:latin typeface="Arial" panose="020B0604020202020204" pitchFamily="34" charset="0"/>
            </a:endParaRPr>
          </a:p>
          <a:p>
            <a:r>
              <a:rPr lang="en-US" altLang="en-US" sz="1600">
                <a:latin typeface="Arial" panose="020B0604020202020204" pitchFamily="34" charset="0"/>
              </a:rPr>
              <a:t>The electronic structure of an atom largely determines the </a:t>
            </a:r>
            <a:r>
              <a:rPr lang="en-US" altLang="en-US" sz="1600">
                <a:solidFill>
                  <a:srgbClr val="FF6666"/>
                </a:solidFill>
                <a:latin typeface="Arial" panose="020B0604020202020204" pitchFamily="34" charset="0"/>
              </a:rPr>
              <a:t>chemical properties</a:t>
            </a:r>
            <a:r>
              <a:rPr lang="en-US" altLang="en-US" sz="1600">
                <a:latin typeface="Arial" panose="020B0604020202020204" pitchFamily="34" charset="0"/>
              </a:rPr>
              <a:t> of the element. </a:t>
            </a:r>
          </a:p>
          <a:p>
            <a:r>
              <a:rPr lang="en-US" altLang="en-US" sz="1600">
                <a:latin typeface="Arial" panose="020B0604020202020204" pitchFamily="34" charset="0"/>
              </a:rPr>
              <a:t>Elements within the same </a:t>
            </a:r>
            <a:r>
              <a:rPr lang="en-US" altLang="en-US" sz="1600">
                <a:solidFill>
                  <a:srgbClr val="FF6666"/>
                </a:solidFill>
                <a:latin typeface="Arial" panose="020B0604020202020204" pitchFamily="34" charset="0"/>
              </a:rPr>
              <a:t>group</a:t>
            </a:r>
            <a:r>
              <a:rPr lang="en-US" altLang="en-US" sz="1600">
                <a:latin typeface="Arial" panose="020B0604020202020204" pitchFamily="34" charset="0"/>
              </a:rPr>
              <a:t> of the Periodic Table have the similar outer electronic configuration and behave chemically similar.</a:t>
            </a:r>
          </a:p>
          <a:p>
            <a:endParaRPr lang="en-US" altLang="en-US" sz="1600">
              <a:latin typeface="Arial" panose="020B0604020202020204" pitchFamily="34" charset="0"/>
            </a:endParaRPr>
          </a:p>
          <a:p>
            <a:r>
              <a:rPr lang="en-US" altLang="en-US" sz="1600">
                <a:latin typeface="Arial" panose="020B0604020202020204" pitchFamily="34" charset="0"/>
              </a:rPr>
              <a:t>Each electron shell corresponds to a </a:t>
            </a:r>
            <a:r>
              <a:rPr lang="en-US" altLang="en-US" sz="1600">
                <a:solidFill>
                  <a:srgbClr val="FF6666"/>
                </a:solidFill>
                <a:latin typeface="Arial" panose="020B0604020202020204" pitchFamily="34" charset="0"/>
              </a:rPr>
              <a:t>period or row</a:t>
            </a:r>
            <a:r>
              <a:rPr lang="en-US" altLang="en-US" sz="1600">
                <a:latin typeface="Arial" panose="020B0604020202020204" pitchFamily="34" charset="0"/>
              </a:rPr>
              <a:t> in the Periodic Table.</a:t>
            </a:r>
            <a:endParaRPr lang="en-US" altLang="en-US" sz="1800">
              <a:latin typeface="Arial" panose="020B0604020202020204" pitchFamily="34" charset="0"/>
            </a:endParaRPr>
          </a:p>
          <a:p>
            <a:r>
              <a:rPr lang="en-US" altLang="en-US" sz="1600">
                <a:latin typeface="Arial" panose="020B0604020202020204" pitchFamily="34" charset="0"/>
              </a:rPr>
              <a:t>The periodic nature of chemical properties reflects the filling of successive shells with additional electrons.</a:t>
            </a:r>
            <a:endParaRPr lang="en-US" altLang="en-US" sz="1800">
              <a:latin typeface="Arial" panose="020B0604020202020204" pitchFamily="34" charset="0"/>
            </a:endParaRPr>
          </a:p>
        </p:txBody>
      </p:sp>
      <p:grpSp>
        <p:nvGrpSpPr>
          <p:cNvPr id="32772" name="Group 4">
            <a:extLst>
              <a:ext uri="{FF2B5EF4-FFF2-40B4-BE49-F238E27FC236}">
                <a16:creationId xmlns:a16="http://schemas.microsoft.com/office/drawing/2014/main" id="{84E7BDDA-6521-4F75-A4FF-1DB34206E2C2}"/>
              </a:ext>
            </a:extLst>
          </p:cNvPr>
          <p:cNvGrpSpPr>
            <a:grpSpLocks/>
          </p:cNvGrpSpPr>
          <p:nvPr/>
        </p:nvGrpSpPr>
        <p:grpSpPr bwMode="auto">
          <a:xfrm>
            <a:off x="533400" y="1295400"/>
            <a:ext cx="5410200" cy="4821238"/>
            <a:chOff x="240" y="864"/>
            <a:chExt cx="3408" cy="3037"/>
          </a:xfrm>
        </p:grpSpPr>
        <p:pic>
          <p:nvPicPr>
            <p:cNvPr id="32773" name="Picture 5">
              <a:extLst>
                <a:ext uri="{FF2B5EF4-FFF2-40B4-BE49-F238E27FC236}">
                  <a16:creationId xmlns:a16="http://schemas.microsoft.com/office/drawing/2014/main" id="{2064B91B-67B7-437A-AA2B-5FE5584EA7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864"/>
              <a:ext cx="3408" cy="3037"/>
            </a:xfrm>
            <a:prstGeom prst="rect">
              <a:avLst/>
            </a:prstGeom>
            <a:noFill/>
            <a:extLst>
              <a:ext uri="{909E8E84-426E-40DD-AFC4-6F175D3DCCD1}">
                <a14:hiddenFill xmlns:a14="http://schemas.microsoft.com/office/drawing/2010/main">
                  <a:solidFill>
                    <a:srgbClr val="FFFFFF"/>
                  </a:solidFill>
                </a14:hiddenFill>
              </a:ext>
            </a:extLst>
          </p:spPr>
        </p:pic>
        <p:sp>
          <p:nvSpPr>
            <p:cNvPr id="32774" name="Rectangle 6">
              <a:extLst>
                <a:ext uri="{FF2B5EF4-FFF2-40B4-BE49-F238E27FC236}">
                  <a16:creationId xmlns:a16="http://schemas.microsoft.com/office/drawing/2014/main" id="{4B00C62C-14E5-4202-AF93-7229488F182C}"/>
                </a:ext>
              </a:extLst>
            </p:cNvPr>
            <p:cNvSpPr>
              <a:spLocks noChangeArrowheads="1"/>
            </p:cNvSpPr>
            <p:nvPr/>
          </p:nvSpPr>
          <p:spPr bwMode="auto">
            <a:xfrm>
              <a:off x="288" y="3408"/>
              <a:ext cx="528"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8" name="TextBox 7">
            <a:extLst>
              <a:ext uri="{FF2B5EF4-FFF2-40B4-BE49-F238E27FC236}">
                <a16:creationId xmlns:a16="http://schemas.microsoft.com/office/drawing/2014/main" id="{0F99BFB5-FC9F-49F6-A459-6D3899D497FB}"/>
              </a:ext>
            </a:extLst>
          </p:cNvPr>
          <p:cNvSpPr txBox="1"/>
          <p:nvPr/>
        </p:nvSpPr>
        <p:spPr>
          <a:xfrm>
            <a:off x="381000" y="228600"/>
            <a:ext cx="4572000" cy="400110"/>
          </a:xfrm>
          <a:prstGeom prst="rect">
            <a:avLst/>
          </a:prstGeom>
          <a:noFill/>
        </p:spPr>
        <p:txBody>
          <a:bodyPr wrap="square">
            <a:spAutoFit/>
          </a:bodyPr>
          <a:lstStyle/>
          <a:p>
            <a:r>
              <a:rPr lang="en-US" altLang="en-US" sz="2000" dirty="0">
                <a:latin typeface="Arial" panose="020B0604020202020204" pitchFamily="34" charset="0"/>
              </a:rPr>
              <a:t>The Electronic Structure of Atoms</a:t>
            </a:r>
            <a:endParaRPr lang="en-I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79" name="Group 23">
            <a:extLst>
              <a:ext uri="{FF2B5EF4-FFF2-40B4-BE49-F238E27FC236}">
                <a16:creationId xmlns:a16="http://schemas.microsoft.com/office/drawing/2014/main" id="{01EB3FC4-10D3-46F6-A0E6-8F10AA5BFA34}"/>
              </a:ext>
            </a:extLst>
          </p:cNvPr>
          <p:cNvGrpSpPr>
            <a:grpSpLocks/>
          </p:cNvGrpSpPr>
          <p:nvPr/>
        </p:nvGrpSpPr>
        <p:grpSpPr bwMode="auto">
          <a:xfrm>
            <a:off x="685800" y="1295400"/>
            <a:ext cx="3810000" cy="5476875"/>
            <a:chOff x="432" y="816"/>
            <a:chExt cx="2400" cy="3450"/>
          </a:xfrm>
        </p:grpSpPr>
        <p:sp>
          <p:nvSpPr>
            <p:cNvPr id="19466" name="Text Box 10">
              <a:extLst>
                <a:ext uri="{FF2B5EF4-FFF2-40B4-BE49-F238E27FC236}">
                  <a16:creationId xmlns:a16="http://schemas.microsoft.com/office/drawing/2014/main" id="{74499403-6CE0-4AD5-A0CF-E22972132F76}"/>
                </a:ext>
              </a:extLst>
            </p:cNvPr>
            <p:cNvSpPr txBox="1">
              <a:spLocks noChangeArrowheads="1"/>
            </p:cNvSpPr>
            <p:nvPr/>
          </p:nvSpPr>
          <p:spPr bwMode="auto">
            <a:xfrm>
              <a:off x="432" y="2976"/>
              <a:ext cx="2400" cy="1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a:latin typeface="Arial" panose="020B0604020202020204" pitchFamily="34" charset="0"/>
                </a:rPr>
                <a:t>Electron shell representation of carbon atom:</a:t>
              </a:r>
              <a:endParaRPr lang="en-US" altLang="en-US" sz="1600">
                <a:latin typeface="Arial" panose="020B0604020202020204" pitchFamily="34" charset="0"/>
              </a:endParaRPr>
            </a:p>
            <a:p>
              <a:r>
                <a:rPr lang="en-US" altLang="en-US" sz="1600">
                  <a:latin typeface="Arial" panose="020B0604020202020204" pitchFamily="34" charset="0"/>
                </a:rPr>
                <a:t>The inner-most (first) shell is full as it can hold only two electrons. The second shell can hold eight but has only four.</a:t>
              </a:r>
              <a:r>
                <a:rPr lang="en-US" altLang="en-US" sz="1600">
                  <a:solidFill>
                    <a:srgbClr val="000000"/>
                  </a:solidFill>
                  <a:latin typeface="Times New Roman" panose="02020603050405020304" pitchFamily="18" charset="0"/>
                </a:rPr>
                <a:t> </a:t>
              </a:r>
              <a:r>
                <a:rPr lang="en-US" altLang="en-US" sz="1600">
                  <a:latin typeface="Arial" panose="020B0604020202020204" pitchFamily="34" charset="0"/>
                </a:rPr>
                <a:t> </a:t>
              </a:r>
            </a:p>
            <a:p>
              <a:endParaRPr lang="en-US" altLang="en-US" sz="1600">
                <a:latin typeface="Arial" panose="020B0604020202020204" pitchFamily="34" charset="0"/>
              </a:endParaRPr>
            </a:p>
            <a:p>
              <a:r>
                <a:rPr lang="en-US" altLang="en-US" sz="1600">
                  <a:latin typeface="Arial" panose="020B0604020202020204" pitchFamily="34" charset="0"/>
                </a:rPr>
                <a:t>Protons, </a:t>
              </a:r>
              <a:r>
                <a:rPr lang="en-US" altLang="en-US" sz="1600">
                  <a:solidFill>
                    <a:srgbClr val="FF6666"/>
                  </a:solidFill>
                  <a:latin typeface="Arial" panose="020B0604020202020204" pitchFamily="34" charset="0"/>
                </a:rPr>
                <a:t>neutrons</a:t>
              </a:r>
              <a:r>
                <a:rPr lang="en-US" altLang="en-US" sz="1600">
                  <a:latin typeface="Arial" panose="020B0604020202020204" pitchFamily="34" charset="0"/>
                </a:rPr>
                <a:t>, </a:t>
              </a:r>
              <a:r>
                <a:rPr lang="en-US" altLang="en-US" sz="1600">
                  <a:solidFill>
                    <a:srgbClr val="0000FF"/>
                  </a:solidFill>
                  <a:latin typeface="Arial" panose="020B0604020202020204" pitchFamily="34" charset="0"/>
                </a:rPr>
                <a:t>electrons</a:t>
              </a:r>
            </a:p>
          </p:txBody>
        </p:sp>
        <p:grpSp>
          <p:nvGrpSpPr>
            <p:cNvPr id="19476" name="Group 20">
              <a:extLst>
                <a:ext uri="{FF2B5EF4-FFF2-40B4-BE49-F238E27FC236}">
                  <a16:creationId xmlns:a16="http://schemas.microsoft.com/office/drawing/2014/main" id="{0160F0A1-5E86-48C3-8C7B-D9654AD5AC8A}"/>
                </a:ext>
              </a:extLst>
            </p:cNvPr>
            <p:cNvGrpSpPr>
              <a:grpSpLocks/>
            </p:cNvGrpSpPr>
            <p:nvPr/>
          </p:nvGrpSpPr>
          <p:grpSpPr bwMode="auto">
            <a:xfrm>
              <a:off x="480" y="816"/>
              <a:ext cx="1920" cy="1968"/>
              <a:chOff x="480" y="816"/>
              <a:chExt cx="1920" cy="1968"/>
            </a:xfrm>
          </p:grpSpPr>
          <p:pic>
            <p:nvPicPr>
              <p:cNvPr id="19467" name="Picture 11">
                <a:extLst>
                  <a:ext uri="{FF2B5EF4-FFF2-40B4-BE49-F238E27FC236}">
                    <a16:creationId xmlns:a16="http://schemas.microsoft.com/office/drawing/2014/main" id="{24C405DF-1D07-4F0E-AAE2-350FDE50D9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816"/>
                <a:ext cx="1871" cy="1968"/>
              </a:xfrm>
              <a:prstGeom prst="rect">
                <a:avLst/>
              </a:prstGeom>
              <a:noFill/>
              <a:extLst>
                <a:ext uri="{909E8E84-426E-40DD-AFC4-6F175D3DCCD1}">
                  <a14:hiddenFill xmlns:a14="http://schemas.microsoft.com/office/drawing/2010/main">
                    <a:solidFill>
                      <a:srgbClr val="FFFFFF"/>
                    </a:solidFill>
                  </a14:hiddenFill>
                </a:ext>
              </a:extLst>
            </p:spPr>
          </p:pic>
          <p:sp>
            <p:nvSpPr>
              <p:cNvPr id="19470" name="Text Box 14">
                <a:extLst>
                  <a:ext uri="{FF2B5EF4-FFF2-40B4-BE49-F238E27FC236}">
                    <a16:creationId xmlns:a16="http://schemas.microsoft.com/office/drawing/2014/main" id="{3DEB67CB-6377-448D-94C6-81B5F6D03210}"/>
                  </a:ext>
                </a:extLst>
              </p:cNvPr>
              <p:cNvSpPr txBox="1">
                <a:spLocks noChangeArrowheads="1"/>
              </p:cNvSpPr>
              <p:nvPr/>
            </p:nvSpPr>
            <p:spPr bwMode="auto">
              <a:xfrm>
                <a:off x="1440" y="1152"/>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K shell</a:t>
                </a:r>
              </a:p>
            </p:txBody>
          </p:sp>
          <p:sp>
            <p:nvSpPr>
              <p:cNvPr id="19471" name="Text Box 15">
                <a:extLst>
                  <a:ext uri="{FF2B5EF4-FFF2-40B4-BE49-F238E27FC236}">
                    <a16:creationId xmlns:a16="http://schemas.microsoft.com/office/drawing/2014/main" id="{01A08430-6D05-47C2-AEA8-BF6189858A86}"/>
                  </a:ext>
                </a:extLst>
              </p:cNvPr>
              <p:cNvSpPr txBox="1">
                <a:spLocks noChangeArrowheads="1"/>
              </p:cNvSpPr>
              <p:nvPr/>
            </p:nvSpPr>
            <p:spPr bwMode="auto">
              <a:xfrm>
                <a:off x="1728" y="816"/>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L shell</a:t>
                </a:r>
              </a:p>
            </p:txBody>
          </p:sp>
        </p:grpSp>
      </p:grpSp>
      <p:grpSp>
        <p:nvGrpSpPr>
          <p:cNvPr id="19478" name="Group 22">
            <a:extLst>
              <a:ext uri="{FF2B5EF4-FFF2-40B4-BE49-F238E27FC236}">
                <a16:creationId xmlns:a16="http://schemas.microsoft.com/office/drawing/2014/main" id="{014E4864-7747-4435-A61C-FEE87ED47A1D}"/>
              </a:ext>
            </a:extLst>
          </p:cNvPr>
          <p:cNvGrpSpPr>
            <a:grpSpLocks/>
          </p:cNvGrpSpPr>
          <p:nvPr/>
        </p:nvGrpSpPr>
        <p:grpSpPr bwMode="auto">
          <a:xfrm>
            <a:off x="4876800" y="1295400"/>
            <a:ext cx="3657600" cy="4406900"/>
            <a:chOff x="3072" y="816"/>
            <a:chExt cx="2304" cy="2776"/>
          </a:xfrm>
        </p:grpSpPr>
        <p:sp>
          <p:nvSpPr>
            <p:cNvPr id="19469" name="Text Box 13">
              <a:extLst>
                <a:ext uri="{FF2B5EF4-FFF2-40B4-BE49-F238E27FC236}">
                  <a16:creationId xmlns:a16="http://schemas.microsoft.com/office/drawing/2014/main" id="{82831F91-C106-45FE-9824-2226B9CC4D81}"/>
                </a:ext>
              </a:extLst>
            </p:cNvPr>
            <p:cNvSpPr txBox="1">
              <a:spLocks noChangeArrowheads="1"/>
            </p:cNvSpPr>
            <p:nvPr/>
          </p:nvSpPr>
          <p:spPr bwMode="auto">
            <a:xfrm>
              <a:off x="3072" y="3072"/>
              <a:ext cx="2304"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a:latin typeface="Arial" panose="020B0604020202020204" pitchFamily="34" charset="0"/>
                </a:rPr>
                <a:t>The </a:t>
              </a:r>
              <a:r>
                <a:rPr lang="en-US" altLang="en-US" sz="1600" b="1">
                  <a:latin typeface="Arial" panose="020B0604020202020204" pitchFamily="34" charset="0"/>
                </a:rPr>
                <a:t>copper atom</a:t>
              </a:r>
              <a:r>
                <a:rPr lang="en-US" altLang="en-US" sz="1600">
                  <a:latin typeface="Arial" panose="020B0604020202020204" pitchFamily="34" charset="0"/>
                </a:rPr>
                <a:t> has one lone electron in its outer shell, which can easily be pulled away from the atom.</a:t>
              </a:r>
              <a:endParaRPr lang="en-US" altLang="en-US" sz="1000">
                <a:solidFill>
                  <a:srgbClr val="003366"/>
                </a:solidFill>
                <a:latin typeface="Helvetica" panose="020B0604020202020204" pitchFamily="34" charset="0"/>
              </a:endParaRPr>
            </a:p>
          </p:txBody>
        </p:sp>
        <p:grpSp>
          <p:nvGrpSpPr>
            <p:cNvPr id="19477" name="Group 21">
              <a:extLst>
                <a:ext uri="{FF2B5EF4-FFF2-40B4-BE49-F238E27FC236}">
                  <a16:creationId xmlns:a16="http://schemas.microsoft.com/office/drawing/2014/main" id="{B42413DD-ADC8-48F8-A4FD-AA2247EC39A9}"/>
                </a:ext>
              </a:extLst>
            </p:cNvPr>
            <p:cNvGrpSpPr>
              <a:grpSpLocks/>
            </p:cNvGrpSpPr>
            <p:nvPr/>
          </p:nvGrpSpPr>
          <p:grpSpPr bwMode="auto">
            <a:xfrm>
              <a:off x="3120" y="816"/>
              <a:ext cx="1938" cy="2016"/>
              <a:chOff x="3120" y="816"/>
              <a:chExt cx="1938" cy="2016"/>
            </a:xfrm>
          </p:grpSpPr>
          <p:pic>
            <p:nvPicPr>
              <p:cNvPr id="19468" name="Picture 12">
                <a:extLst>
                  <a:ext uri="{FF2B5EF4-FFF2-40B4-BE49-F238E27FC236}">
                    <a16:creationId xmlns:a16="http://schemas.microsoft.com/office/drawing/2014/main" id="{0C2E4F91-31E8-4218-B595-B3FC5833FD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0" y="816"/>
                <a:ext cx="1938" cy="2016"/>
              </a:xfrm>
              <a:prstGeom prst="rect">
                <a:avLst/>
              </a:prstGeom>
              <a:noFill/>
              <a:extLst>
                <a:ext uri="{909E8E84-426E-40DD-AFC4-6F175D3DCCD1}">
                  <a14:hiddenFill xmlns:a14="http://schemas.microsoft.com/office/drawing/2010/main">
                    <a:solidFill>
                      <a:srgbClr val="FFFFFF"/>
                    </a:solidFill>
                  </a14:hiddenFill>
                </a:ext>
              </a:extLst>
            </p:spPr>
          </p:pic>
          <p:sp>
            <p:nvSpPr>
              <p:cNvPr id="19472" name="Text Box 16">
                <a:extLst>
                  <a:ext uri="{FF2B5EF4-FFF2-40B4-BE49-F238E27FC236}">
                    <a16:creationId xmlns:a16="http://schemas.microsoft.com/office/drawing/2014/main" id="{D44E0DBA-AAAC-4360-9607-C5E5E3E197E0}"/>
                  </a:ext>
                </a:extLst>
              </p:cNvPr>
              <p:cNvSpPr txBox="1">
                <a:spLocks noChangeArrowheads="1"/>
              </p:cNvSpPr>
              <p:nvPr/>
            </p:nvSpPr>
            <p:spPr bwMode="auto">
              <a:xfrm>
                <a:off x="3696" y="158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K</a:t>
                </a:r>
              </a:p>
            </p:txBody>
          </p:sp>
          <p:sp>
            <p:nvSpPr>
              <p:cNvPr id="19473" name="Text Box 17">
                <a:extLst>
                  <a:ext uri="{FF2B5EF4-FFF2-40B4-BE49-F238E27FC236}">
                    <a16:creationId xmlns:a16="http://schemas.microsoft.com/office/drawing/2014/main" id="{818505EC-3302-4468-B554-81F1424C9261}"/>
                  </a:ext>
                </a:extLst>
              </p:cNvPr>
              <p:cNvSpPr txBox="1">
                <a:spLocks noChangeArrowheads="1"/>
              </p:cNvSpPr>
              <p:nvPr/>
            </p:nvSpPr>
            <p:spPr bwMode="auto">
              <a:xfrm>
                <a:off x="4176" y="115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N</a:t>
                </a:r>
              </a:p>
            </p:txBody>
          </p:sp>
          <p:sp>
            <p:nvSpPr>
              <p:cNvPr id="19474" name="Text Box 18">
                <a:extLst>
                  <a:ext uri="{FF2B5EF4-FFF2-40B4-BE49-F238E27FC236}">
                    <a16:creationId xmlns:a16="http://schemas.microsoft.com/office/drawing/2014/main" id="{4065874C-0317-4A31-88A0-902B58800E0E}"/>
                  </a:ext>
                </a:extLst>
              </p:cNvPr>
              <p:cNvSpPr txBox="1">
                <a:spLocks noChangeArrowheads="1"/>
              </p:cNvSpPr>
              <p:nvPr/>
            </p:nvSpPr>
            <p:spPr bwMode="auto">
              <a:xfrm>
                <a:off x="4128" y="144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M</a:t>
                </a:r>
              </a:p>
            </p:txBody>
          </p:sp>
          <p:sp>
            <p:nvSpPr>
              <p:cNvPr id="19475" name="Text Box 19">
                <a:extLst>
                  <a:ext uri="{FF2B5EF4-FFF2-40B4-BE49-F238E27FC236}">
                    <a16:creationId xmlns:a16="http://schemas.microsoft.com/office/drawing/2014/main" id="{5164F725-7DF3-418D-BE36-40246DAF7A20}"/>
                  </a:ext>
                </a:extLst>
              </p:cNvPr>
              <p:cNvSpPr txBox="1">
                <a:spLocks noChangeArrowheads="1"/>
              </p:cNvSpPr>
              <p:nvPr/>
            </p:nvSpPr>
            <p:spPr bwMode="auto">
              <a:xfrm>
                <a:off x="3888" y="144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L</a:t>
                </a:r>
              </a:p>
            </p:txBody>
          </p:sp>
        </p:grpSp>
      </p:grpSp>
      <p:sp>
        <p:nvSpPr>
          <p:cNvPr id="19" name="TextBox 18">
            <a:extLst>
              <a:ext uri="{FF2B5EF4-FFF2-40B4-BE49-F238E27FC236}">
                <a16:creationId xmlns:a16="http://schemas.microsoft.com/office/drawing/2014/main" id="{6F08A874-347D-4D86-8815-A07119AB8698}"/>
              </a:ext>
            </a:extLst>
          </p:cNvPr>
          <p:cNvSpPr txBox="1"/>
          <p:nvPr/>
        </p:nvSpPr>
        <p:spPr>
          <a:xfrm>
            <a:off x="381000" y="228600"/>
            <a:ext cx="4572000" cy="400110"/>
          </a:xfrm>
          <a:prstGeom prst="rect">
            <a:avLst/>
          </a:prstGeom>
          <a:noFill/>
        </p:spPr>
        <p:txBody>
          <a:bodyPr wrap="square">
            <a:spAutoFit/>
          </a:bodyPr>
          <a:lstStyle/>
          <a:p>
            <a:r>
              <a:rPr lang="en-US" altLang="en-US" sz="2000" dirty="0">
                <a:latin typeface="Arial" panose="020B0604020202020204" pitchFamily="34" charset="0"/>
              </a:rPr>
              <a:t>The Electronic Structure of Atoms</a:t>
            </a:r>
            <a:endParaRPr lang="en-IN"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4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91" name="Group 11">
            <a:extLst>
              <a:ext uri="{FF2B5EF4-FFF2-40B4-BE49-F238E27FC236}">
                <a16:creationId xmlns:a16="http://schemas.microsoft.com/office/drawing/2014/main" id="{C63F3130-07BC-4BEA-87BE-60ADE6949593}"/>
              </a:ext>
            </a:extLst>
          </p:cNvPr>
          <p:cNvGrpSpPr>
            <a:grpSpLocks/>
          </p:cNvGrpSpPr>
          <p:nvPr/>
        </p:nvGrpSpPr>
        <p:grpSpPr bwMode="auto">
          <a:xfrm>
            <a:off x="152400" y="1066800"/>
            <a:ext cx="8813800" cy="5638800"/>
            <a:chOff x="96" y="672"/>
            <a:chExt cx="5552" cy="3552"/>
          </a:xfrm>
        </p:grpSpPr>
        <p:pic>
          <p:nvPicPr>
            <p:cNvPr id="20488" name="Picture 8">
              <a:extLst>
                <a:ext uri="{FF2B5EF4-FFF2-40B4-BE49-F238E27FC236}">
                  <a16:creationId xmlns:a16="http://schemas.microsoft.com/office/drawing/2014/main" id="{49CB7025-D794-4545-AF5A-BF328A9647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 y="672"/>
              <a:ext cx="5537" cy="3552"/>
            </a:xfrm>
            <a:prstGeom prst="rect">
              <a:avLst/>
            </a:prstGeom>
            <a:noFill/>
            <a:extLst>
              <a:ext uri="{909E8E84-426E-40DD-AFC4-6F175D3DCCD1}">
                <a14:hiddenFill xmlns:a14="http://schemas.microsoft.com/office/drawing/2010/main">
                  <a:solidFill>
                    <a:srgbClr val="FFFFFF"/>
                  </a:solidFill>
                </a14:hiddenFill>
              </a:ext>
            </a:extLst>
          </p:spPr>
        </p:pic>
        <p:sp>
          <p:nvSpPr>
            <p:cNvPr id="20489" name="Rectangle 9">
              <a:extLst>
                <a:ext uri="{FF2B5EF4-FFF2-40B4-BE49-F238E27FC236}">
                  <a16:creationId xmlns:a16="http://schemas.microsoft.com/office/drawing/2014/main" id="{1138225E-0CFE-4305-BD44-BB99727844FF}"/>
                </a:ext>
              </a:extLst>
            </p:cNvPr>
            <p:cNvSpPr>
              <a:spLocks noChangeArrowheads="1"/>
            </p:cNvSpPr>
            <p:nvPr/>
          </p:nvSpPr>
          <p:spPr bwMode="auto">
            <a:xfrm>
              <a:off x="96" y="3648"/>
              <a:ext cx="624" cy="17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 name="TextBox 6">
            <a:extLst>
              <a:ext uri="{FF2B5EF4-FFF2-40B4-BE49-F238E27FC236}">
                <a16:creationId xmlns:a16="http://schemas.microsoft.com/office/drawing/2014/main" id="{D5EFE24E-55D6-4252-ABC8-80568AA95085}"/>
              </a:ext>
            </a:extLst>
          </p:cNvPr>
          <p:cNvSpPr txBox="1"/>
          <p:nvPr/>
        </p:nvSpPr>
        <p:spPr>
          <a:xfrm>
            <a:off x="9716" y="66511"/>
            <a:ext cx="7153083" cy="400110"/>
          </a:xfrm>
          <a:prstGeom prst="rect">
            <a:avLst/>
          </a:prstGeom>
          <a:noFill/>
        </p:spPr>
        <p:txBody>
          <a:bodyPr wrap="square">
            <a:spAutoFit/>
          </a:bodyPr>
          <a:lstStyle/>
          <a:p>
            <a:r>
              <a:rPr lang="en-US" altLang="en-US" sz="2000" dirty="0">
                <a:latin typeface="Arial" panose="020B0604020202020204" pitchFamily="34" charset="0"/>
                <a:cs typeface="Arial" panose="020B0604020202020204" pitchFamily="34" charset="0"/>
              </a:rPr>
              <a:t>The Electronic Configuration of the Elements</a:t>
            </a:r>
            <a:endParaRPr lang="en-IN" sz="20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13" name="Group 9">
            <a:extLst>
              <a:ext uri="{FF2B5EF4-FFF2-40B4-BE49-F238E27FC236}">
                <a16:creationId xmlns:a16="http://schemas.microsoft.com/office/drawing/2014/main" id="{BE0BD7D5-C157-4A78-BDDD-34B82C703C34}"/>
              </a:ext>
            </a:extLst>
          </p:cNvPr>
          <p:cNvGrpSpPr>
            <a:grpSpLocks/>
          </p:cNvGrpSpPr>
          <p:nvPr/>
        </p:nvGrpSpPr>
        <p:grpSpPr bwMode="auto">
          <a:xfrm>
            <a:off x="2590800" y="1193800"/>
            <a:ext cx="6553200" cy="5359400"/>
            <a:chOff x="1632" y="752"/>
            <a:chExt cx="4128" cy="3376"/>
          </a:xfrm>
        </p:grpSpPr>
        <p:pic>
          <p:nvPicPr>
            <p:cNvPr id="21510" name="Picture 6">
              <a:extLst>
                <a:ext uri="{FF2B5EF4-FFF2-40B4-BE49-F238E27FC236}">
                  <a16:creationId xmlns:a16="http://schemas.microsoft.com/office/drawing/2014/main" id="{5504D5FB-8BF8-4C9A-AEDB-49660CD7E6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2" y="752"/>
              <a:ext cx="4128" cy="3376"/>
            </a:xfrm>
            <a:prstGeom prst="rect">
              <a:avLst/>
            </a:prstGeom>
            <a:noFill/>
            <a:extLst>
              <a:ext uri="{909E8E84-426E-40DD-AFC4-6F175D3DCCD1}">
                <a14:hiddenFill xmlns:a14="http://schemas.microsoft.com/office/drawing/2010/main">
                  <a:solidFill>
                    <a:srgbClr val="FFFFFF"/>
                  </a:solidFill>
                </a14:hiddenFill>
              </a:ext>
            </a:extLst>
          </p:spPr>
        </p:pic>
        <p:sp>
          <p:nvSpPr>
            <p:cNvPr id="21511" name="Rectangle 7">
              <a:extLst>
                <a:ext uri="{FF2B5EF4-FFF2-40B4-BE49-F238E27FC236}">
                  <a16:creationId xmlns:a16="http://schemas.microsoft.com/office/drawing/2014/main" id="{431E1458-3632-4E95-85E2-6FDD44EB5C47}"/>
                </a:ext>
              </a:extLst>
            </p:cNvPr>
            <p:cNvSpPr>
              <a:spLocks noChangeArrowheads="1"/>
            </p:cNvSpPr>
            <p:nvPr/>
          </p:nvSpPr>
          <p:spPr bwMode="auto">
            <a:xfrm>
              <a:off x="1680" y="3888"/>
              <a:ext cx="480"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512" name="Rectangle 8">
              <a:extLst>
                <a:ext uri="{FF2B5EF4-FFF2-40B4-BE49-F238E27FC236}">
                  <a16:creationId xmlns:a16="http://schemas.microsoft.com/office/drawing/2014/main" id="{710CF0F9-527F-4464-AC32-EBD5CC6000ED}"/>
                </a:ext>
              </a:extLst>
            </p:cNvPr>
            <p:cNvSpPr>
              <a:spLocks noChangeArrowheads="1"/>
            </p:cNvSpPr>
            <p:nvPr/>
          </p:nvSpPr>
          <p:spPr bwMode="auto">
            <a:xfrm>
              <a:off x="1632" y="1680"/>
              <a:ext cx="480"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1514" name="Text Box 10">
            <a:extLst>
              <a:ext uri="{FF2B5EF4-FFF2-40B4-BE49-F238E27FC236}">
                <a16:creationId xmlns:a16="http://schemas.microsoft.com/office/drawing/2014/main" id="{C425D3FD-05C5-4F35-A77B-02A146C44798}"/>
              </a:ext>
            </a:extLst>
          </p:cNvPr>
          <p:cNvSpPr txBox="1">
            <a:spLocks noChangeArrowheads="1"/>
          </p:cNvSpPr>
          <p:nvPr/>
        </p:nvSpPr>
        <p:spPr bwMode="auto">
          <a:xfrm>
            <a:off x="228600" y="1219200"/>
            <a:ext cx="2362200" cy="545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b="1">
                <a:solidFill>
                  <a:schemeClr val="accent2"/>
                </a:solidFill>
                <a:latin typeface="Arial" panose="020B0604020202020204" pitchFamily="34" charset="0"/>
              </a:rPr>
              <a:t>Ionization potential</a:t>
            </a:r>
            <a:endParaRPr lang="en-US" altLang="en-US" sz="1800" b="1">
              <a:latin typeface="Arial" panose="020B0604020202020204" pitchFamily="34" charset="0"/>
            </a:endParaRPr>
          </a:p>
          <a:p>
            <a:endParaRPr lang="en-US" altLang="en-US" sz="1800">
              <a:latin typeface="Arial" panose="020B0604020202020204" pitchFamily="34" charset="0"/>
            </a:endParaRPr>
          </a:p>
          <a:p>
            <a:r>
              <a:rPr lang="en-US" altLang="en-US" sz="1600">
                <a:latin typeface="Arial" panose="020B0604020202020204" pitchFamily="34" charset="0"/>
              </a:rPr>
              <a:t>The </a:t>
            </a:r>
            <a:r>
              <a:rPr lang="en-US" altLang="en-US" sz="1600">
                <a:solidFill>
                  <a:srgbClr val="FF6666"/>
                </a:solidFill>
                <a:latin typeface="Arial" panose="020B0604020202020204" pitchFamily="34" charset="0"/>
              </a:rPr>
              <a:t>First Ionization Potential</a:t>
            </a:r>
            <a:r>
              <a:rPr lang="en-US" altLang="en-US" sz="1600">
                <a:latin typeface="Arial" panose="020B0604020202020204" pitchFamily="34" charset="0"/>
              </a:rPr>
              <a:t> is the energy required to remove the least tightly bound electron from the atom.</a:t>
            </a:r>
          </a:p>
          <a:p>
            <a:r>
              <a:rPr lang="en-US" altLang="en-US" sz="1600">
                <a:latin typeface="Arial" panose="020B0604020202020204" pitchFamily="34" charset="0"/>
              </a:rPr>
              <a:t> </a:t>
            </a:r>
          </a:p>
          <a:p>
            <a:r>
              <a:rPr lang="en-US" altLang="en-US" sz="1600">
                <a:latin typeface="Arial" panose="020B0604020202020204" pitchFamily="34" charset="0"/>
              </a:rPr>
              <a:t>Example: H --&gt; H</a:t>
            </a:r>
            <a:r>
              <a:rPr lang="en-US" altLang="en-US" sz="1600" baseline="30000">
                <a:latin typeface="Arial" panose="020B0604020202020204" pitchFamily="34" charset="0"/>
              </a:rPr>
              <a:t>+</a:t>
            </a:r>
            <a:r>
              <a:rPr lang="en-US" altLang="en-US" sz="1600">
                <a:latin typeface="Arial" panose="020B0604020202020204" pitchFamily="34" charset="0"/>
              </a:rPr>
              <a:t> + e</a:t>
            </a:r>
            <a:r>
              <a:rPr lang="en-US" altLang="en-US" sz="1600" baseline="30000">
                <a:latin typeface="Arial" panose="020B0604020202020204" pitchFamily="34" charset="0"/>
              </a:rPr>
              <a:t>-</a:t>
            </a:r>
          </a:p>
          <a:p>
            <a:endParaRPr lang="en-US" altLang="en-US" sz="1600" baseline="30000">
              <a:latin typeface="Arial" panose="020B0604020202020204" pitchFamily="34" charset="0"/>
            </a:endParaRPr>
          </a:p>
          <a:p>
            <a:r>
              <a:rPr lang="en-US" altLang="en-US" sz="1600">
                <a:latin typeface="Arial" panose="020B0604020202020204" pitchFamily="34" charset="0"/>
              </a:rPr>
              <a:t>The second, third, … ionization potentials are defined correspondingly.</a:t>
            </a:r>
          </a:p>
          <a:p>
            <a:endParaRPr lang="en-US" altLang="en-US" sz="1600">
              <a:latin typeface="Arial" panose="020B0604020202020204" pitchFamily="34" charset="0"/>
            </a:endParaRPr>
          </a:p>
          <a:p>
            <a:r>
              <a:rPr lang="en-US" altLang="en-US" sz="1600">
                <a:solidFill>
                  <a:srgbClr val="FF6666"/>
                </a:solidFill>
                <a:latin typeface="Arial" panose="020B0604020202020204" pitchFamily="34" charset="0"/>
              </a:rPr>
              <a:t>Valence</a:t>
            </a:r>
            <a:r>
              <a:rPr lang="en-US" altLang="en-US" sz="1600">
                <a:latin typeface="Arial" panose="020B0604020202020204" pitchFamily="34" charset="0"/>
              </a:rPr>
              <a:t> is the number of electrons given up or accepted. Transition metals often have more than one valence. Example: Fe(II) and Fe(III)</a:t>
            </a:r>
            <a:endParaRPr lang="en-US" altLang="en-US" sz="1800">
              <a:latin typeface="Arial" panose="020B0604020202020204" pitchFamily="34" charset="0"/>
            </a:endParaRPr>
          </a:p>
        </p:txBody>
      </p:sp>
      <p:sp>
        <p:nvSpPr>
          <p:cNvPr id="12" name="TextBox 11">
            <a:extLst>
              <a:ext uri="{FF2B5EF4-FFF2-40B4-BE49-F238E27FC236}">
                <a16:creationId xmlns:a16="http://schemas.microsoft.com/office/drawing/2014/main" id="{7604A5AB-3C72-427B-9B5E-7C757B025520}"/>
              </a:ext>
            </a:extLst>
          </p:cNvPr>
          <p:cNvSpPr txBox="1"/>
          <p:nvPr/>
        </p:nvSpPr>
        <p:spPr>
          <a:xfrm>
            <a:off x="304800" y="202542"/>
            <a:ext cx="5867400" cy="400110"/>
          </a:xfrm>
          <a:prstGeom prst="rect">
            <a:avLst/>
          </a:prstGeom>
          <a:noFill/>
        </p:spPr>
        <p:txBody>
          <a:bodyPr wrap="square">
            <a:spAutoFit/>
          </a:bodyPr>
          <a:lstStyle/>
          <a:p>
            <a:r>
              <a:rPr lang="en-US" altLang="en-US" sz="2000" dirty="0">
                <a:latin typeface="Arial" panose="020B0604020202020204" pitchFamily="34" charset="0"/>
                <a:cs typeface="Arial" panose="020B0604020202020204" pitchFamily="34" charset="0"/>
              </a:rPr>
              <a:t>Chemical Properties of the Elements</a:t>
            </a:r>
            <a:endParaRPr lang="en-IN" sz="20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5" name="Text Box 7">
            <a:extLst>
              <a:ext uri="{FF2B5EF4-FFF2-40B4-BE49-F238E27FC236}">
                <a16:creationId xmlns:a16="http://schemas.microsoft.com/office/drawing/2014/main" id="{41106638-4DF1-416D-9828-96FF852CC509}"/>
              </a:ext>
            </a:extLst>
          </p:cNvPr>
          <p:cNvSpPr txBox="1">
            <a:spLocks noChangeArrowheads="1"/>
          </p:cNvSpPr>
          <p:nvPr/>
        </p:nvSpPr>
        <p:spPr bwMode="auto">
          <a:xfrm>
            <a:off x="304800" y="1219200"/>
            <a:ext cx="8700620" cy="4078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en-US" sz="1800" b="1" dirty="0">
                <a:solidFill>
                  <a:schemeClr val="accent2"/>
                </a:solidFill>
                <a:latin typeface="Arial" panose="020B0604020202020204" pitchFamily="34" charset="0"/>
              </a:rPr>
              <a:t>Electron Affinity</a:t>
            </a:r>
            <a:endParaRPr lang="en-US" altLang="en-US" sz="3200" b="1" dirty="0">
              <a:solidFill>
                <a:srgbClr val="800000"/>
              </a:solidFill>
              <a:latin typeface="Times New Roman" panose="02020603050405020304" pitchFamily="18" charset="0"/>
            </a:endParaRPr>
          </a:p>
          <a:p>
            <a:pPr algn="just">
              <a:lnSpc>
                <a:spcPct val="150000"/>
              </a:lnSpc>
            </a:pPr>
            <a:r>
              <a:rPr lang="en-US" altLang="en-US" sz="1600" dirty="0">
                <a:latin typeface="Arial" panose="020B0604020202020204" pitchFamily="34" charset="0"/>
              </a:rPr>
              <a:t>Electron Affinity is a measure of the desire or ability of an atom to gain electrons. It is an </a:t>
            </a:r>
            <a:r>
              <a:rPr lang="en-US" altLang="en-US" sz="1600" dirty="0">
                <a:solidFill>
                  <a:srgbClr val="FF6666"/>
                </a:solidFill>
                <a:latin typeface="Arial" panose="020B0604020202020204" pitchFamily="34" charset="0"/>
              </a:rPr>
              <a:t>energy concept</a:t>
            </a:r>
            <a:r>
              <a:rPr lang="en-US" altLang="en-US" sz="1600" dirty="0">
                <a:latin typeface="Arial" panose="020B0604020202020204" pitchFamily="34" charset="0"/>
              </a:rPr>
              <a:t>. The formal definition states that Electron Affinity is the </a:t>
            </a:r>
            <a:r>
              <a:rPr lang="en-US" altLang="en-US" sz="1600" dirty="0">
                <a:solidFill>
                  <a:srgbClr val="FF6666"/>
                </a:solidFill>
                <a:latin typeface="Arial" panose="020B0604020202020204" pitchFamily="34" charset="0"/>
              </a:rPr>
              <a:t>amount of energy released when an electron as added to an atom</a:t>
            </a:r>
            <a:r>
              <a:rPr lang="en-US" altLang="en-US" sz="1600" dirty="0">
                <a:latin typeface="Arial" panose="020B0604020202020204" pitchFamily="34" charset="0"/>
              </a:rPr>
              <a:t>. </a:t>
            </a:r>
          </a:p>
          <a:p>
            <a:pPr algn="just">
              <a:lnSpc>
                <a:spcPct val="150000"/>
              </a:lnSpc>
            </a:pPr>
            <a:r>
              <a:rPr lang="en-US" altLang="en-US" sz="1600" dirty="0">
                <a:latin typeface="Arial" panose="020B0604020202020204" pitchFamily="34" charset="0"/>
              </a:rPr>
              <a:t>Most atoms tend to lose energy when they gain electrons. Some atoms do not. The elements located in the upper right corner of the periodic chart have the high E.A. values (usually found as anions), while those in the lower left corner have the low E.A. value (usually found as cations ). A generic equation of the EA process would be as follows.</a:t>
            </a:r>
          </a:p>
          <a:p>
            <a:endParaRPr lang="en-US" altLang="en-US" sz="1600" dirty="0">
              <a:latin typeface="Arial" panose="020B0604020202020204" pitchFamily="34" charset="0"/>
            </a:endParaRPr>
          </a:p>
          <a:p>
            <a:r>
              <a:rPr lang="en-US" altLang="en-US" sz="1600" dirty="0">
                <a:latin typeface="Arial" panose="020B0604020202020204" pitchFamily="34" charset="0"/>
              </a:rPr>
              <a:t>X + e</a:t>
            </a:r>
            <a:r>
              <a:rPr lang="en-US" altLang="en-US" sz="1600" baseline="30000" dirty="0">
                <a:latin typeface="Arial" panose="020B0604020202020204" pitchFamily="34" charset="0"/>
              </a:rPr>
              <a:t>-</a:t>
            </a:r>
            <a:r>
              <a:rPr lang="en-US" altLang="en-US" sz="1600" dirty="0">
                <a:latin typeface="Arial" panose="020B0604020202020204" pitchFamily="34" charset="0"/>
              </a:rPr>
              <a:t> --&gt; X</a:t>
            </a:r>
            <a:r>
              <a:rPr lang="en-US" altLang="en-US" sz="1600" baseline="30000" dirty="0">
                <a:latin typeface="Arial" panose="020B0604020202020204" pitchFamily="34" charset="0"/>
              </a:rPr>
              <a:t>-1</a:t>
            </a:r>
            <a:r>
              <a:rPr lang="en-US" altLang="en-US" sz="1600" dirty="0">
                <a:latin typeface="Arial" panose="020B0604020202020204" pitchFamily="34" charset="0"/>
              </a:rPr>
              <a:t> + EA.     Often this is measured in electronvolts. </a:t>
            </a:r>
          </a:p>
          <a:p>
            <a:endParaRPr lang="en-US" altLang="en-US" sz="1600" dirty="0">
              <a:solidFill>
                <a:srgbClr val="000000"/>
              </a:solidFill>
              <a:latin typeface="Times New Roman" panose="02020603050405020304" pitchFamily="18" charset="0"/>
            </a:endParaRPr>
          </a:p>
          <a:p>
            <a:endParaRPr lang="en-US" altLang="en-US" sz="1600" dirty="0">
              <a:solidFill>
                <a:srgbClr val="000000"/>
              </a:solidFill>
              <a:latin typeface="Times New Roman" panose="02020603050405020304" pitchFamily="18" charset="0"/>
            </a:endParaRPr>
          </a:p>
        </p:txBody>
      </p:sp>
      <p:sp>
        <p:nvSpPr>
          <p:cNvPr id="3" name="Title 2">
            <a:extLst>
              <a:ext uri="{FF2B5EF4-FFF2-40B4-BE49-F238E27FC236}">
                <a16:creationId xmlns:a16="http://schemas.microsoft.com/office/drawing/2014/main" id="{BB615D9D-1AEF-4ED8-BEC3-A72F5FF185A1}"/>
              </a:ext>
            </a:extLst>
          </p:cNvPr>
          <p:cNvSpPr>
            <a:spLocks noGrp="1"/>
          </p:cNvSpPr>
          <p:nvPr>
            <p:ph type="title"/>
          </p:nvPr>
        </p:nvSpPr>
        <p:spPr/>
        <p:txBody>
          <a:bodyPr/>
          <a:lstStyle/>
          <a:p>
            <a:endParaRPr lang="en-IN"/>
          </a:p>
        </p:txBody>
      </p:sp>
      <p:sp>
        <p:nvSpPr>
          <p:cNvPr id="6" name="TextBox 5">
            <a:extLst>
              <a:ext uri="{FF2B5EF4-FFF2-40B4-BE49-F238E27FC236}">
                <a16:creationId xmlns:a16="http://schemas.microsoft.com/office/drawing/2014/main" id="{42F2F251-7FB8-4F13-B550-FE1DB92AB00E}"/>
              </a:ext>
            </a:extLst>
          </p:cNvPr>
          <p:cNvSpPr txBox="1"/>
          <p:nvPr/>
        </p:nvSpPr>
        <p:spPr>
          <a:xfrm>
            <a:off x="318617" y="133700"/>
            <a:ext cx="5867400" cy="400110"/>
          </a:xfrm>
          <a:prstGeom prst="rect">
            <a:avLst/>
          </a:prstGeom>
          <a:noFill/>
        </p:spPr>
        <p:txBody>
          <a:bodyPr wrap="square">
            <a:spAutoFit/>
          </a:bodyPr>
          <a:lstStyle/>
          <a:p>
            <a:r>
              <a:rPr lang="en-US" altLang="en-US" sz="2000" dirty="0">
                <a:latin typeface="Arial" panose="020B0604020202020204" pitchFamily="34" charset="0"/>
                <a:cs typeface="Arial" panose="020B0604020202020204" pitchFamily="34" charset="0"/>
              </a:rPr>
              <a:t>Chemical Properties of the Elements</a:t>
            </a:r>
            <a:endParaRPr lang="en-IN" sz="20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6D3213-8D00-42FD-B489-311888DE4B57}"/>
              </a:ext>
            </a:extLst>
          </p:cNvPr>
          <p:cNvSpPr txBox="1"/>
          <p:nvPr/>
        </p:nvSpPr>
        <p:spPr>
          <a:xfrm>
            <a:off x="457200" y="947264"/>
            <a:ext cx="8305800" cy="4242187"/>
          </a:xfrm>
          <a:prstGeom prst="rect">
            <a:avLst/>
          </a:prstGeom>
          <a:noFill/>
        </p:spPr>
        <p:txBody>
          <a:bodyPr wrap="square">
            <a:spAutoFit/>
          </a:bodyPr>
          <a:lstStyle/>
          <a:p>
            <a:pPr algn="just">
              <a:lnSpc>
                <a:spcPct val="150000"/>
              </a:lnSpc>
            </a:pPr>
            <a:r>
              <a:rPr lang="en-US" altLang="en-US" sz="2000" b="1" dirty="0">
                <a:solidFill>
                  <a:schemeClr val="accent2"/>
                </a:solidFill>
                <a:latin typeface="Arial" panose="020B0604020202020204" pitchFamily="34" charset="0"/>
              </a:rPr>
              <a:t>Electronegativity</a:t>
            </a:r>
            <a:endParaRPr lang="en-US" altLang="en-US" sz="3600" b="1" dirty="0">
              <a:solidFill>
                <a:srgbClr val="800000"/>
              </a:solidFill>
              <a:latin typeface="Times New Roman" panose="02020603050405020304" pitchFamily="18" charset="0"/>
            </a:endParaRPr>
          </a:p>
          <a:p>
            <a:pPr algn="just">
              <a:lnSpc>
                <a:spcPct val="150000"/>
              </a:lnSpc>
            </a:pPr>
            <a:r>
              <a:rPr lang="en-US" altLang="en-US" sz="1800" dirty="0">
                <a:latin typeface="Arial" panose="020B0604020202020204" pitchFamily="34" charset="0"/>
              </a:rPr>
              <a:t>The concept of Electronegativity refers to the </a:t>
            </a:r>
            <a:r>
              <a:rPr lang="en-US" altLang="en-US" sz="1800" dirty="0">
                <a:solidFill>
                  <a:srgbClr val="FF6666"/>
                </a:solidFill>
                <a:latin typeface="Arial" panose="020B0604020202020204" pitchFamily="34" charset="0"/>
              </a:rPr>
              <a:t>ability of a bonded atom to pull electrons towards itself</a:t>
            </a:r>
            <a:r>
              <a:rPr lang="en-US" altLang="en-US" sz="1800" dirty="0">
                <a:latin typeface="Arial" panose="020B0604020202020204" pitchFamily="34" charset="0"/>
              </a:rPr>
              <a:t>.</a:t>
            </a:r>
          </a:p>
          <a:p>
            <a:pPr algn="just">
              <a:lnSpc>
                <a:spcPct val="150000"/>
              </a:lnSpc>
            </a:pPr>
            <a:r>
              <a:rPr lang="en-US" altLang="en-US" sz="1800" dirty="0">
                <a:latin typeface="Arial" panose="020B0604020202020204" pitchFamily="34" charset="0"/>
              </a:rPr>
              <a:t>It is defined as the relative ability of an atom in a molecule to attract electrons towards itself. As atoms bond, electrons are shared or transferred. The atom with the higher electronegativity will dominate the electrons. </a:t>
            </a:r>
          </a:p>
          <a:p>
            <a:pPr algn="just">
              <a:lnSpc>
                <a:spcPct val="150000"/>
              </a:lnSpc>
            </a:pPr>
            <a:endParaRPr lang="en-US" altLang="en-US" sz="1800" dirty="0">
              <a:latin typeface="Arial" panose="020B0604020202020204" pitchFamily="34" charset="0"/>
            </a:endParaRPr>
          </a:p>
          <a:p>
            <a:pPr algn="just">
              <a:lnSpc>
                <a:spcPct val="150000"/>
              </a:lnSpc>
            </a:pPr>
            <a:r>
              <a:rPr lang="en-US" altLang="en-US" sz="1800" dirty="0">
                <a:latin typeface="Arial" panose="020B0604020202020204" pitchFamily="34" charset="0"/>
              </a:rPr>
              <a:t>In order to be able to determine electronegativity values it is important to observe the </a:t>
            </a:r>
            <a:r>
              <a:rPr lang="en-US" altLang="en-US" sz="1800" dirty="0">
                <a:solidFill>
                  <a:srgbClr val="FF6666"/>
                </a:solidFill>
                <a:latin typeface="Arial" panose="020B0604020202020204" pitchFamily="34" charset="0"/>
              </a:rPr>
              <a:t>behavior of atoms in a bonded situation</a:t>
            </a:r>
            <a:r>
              <a:rPr lang="en-US" altLang="en-US" sz="1800" dirty="0">
                <a:latin typeface="Arial" panose="020B0604020202020204" pitchFamily="34" charset="0"/>
              </a:rPr>
              <a:t>. Consequently, the Noble Gases do not usually appear with listed electronegativity values. </a:t>
            </a:r>
          </a:p>
        </p:txBody>
      </p:sp>
      <p:sp>
        <p:nvSpPr>
          <p:cNvPr id="4" name="TextBox 3">
            <a:extLst>
              <a:ext uri="{FF2B5EF4-FFF2-40B4-BE49-F238E27FC236}">
                <a16:creationId xmlns:a16="http://schemas.microsoft.com/office/drawing/2014/main" id="{691C061E-05DC-4EE8-AE4F-539E3E0E9CDE}"/>
              </a:ext>
            </a:extLst>
          </p:cNvPr>
          <p:cNvSpPr txBox="1"/>
          <p:nvPr/>
        </p:nvSpPr>
        <p:spPr>
          <a:xfrm>
            <a:off x="304800" y="202542"/>
            <a:ext cx="5867400" cy="400110"/>
          </a:xfrm>
          <a:prstGeom prst="rect">
            <a:avLst/>
          </a:prstGeom>
          <a:noFill/>
        </p:spPr>
        <p:txBody>
          <a:bodyPr wrap="square">
            <a:spAutoFit/>
          </a:bodyPr>
          <a:lstStyle/>
          <a:p>
            <a:r>
              <a:rPr lang="en-US" altLang="en-US" sz="2000" b="1" dirty="0">
                <a:latin typeface="Arial" panose="020B0604020202020204" pitchFamily="34" charset="0"/>
                <a:cs typeface="Arial" panose="020B0604020202020204" pitchFamily="34" charset="0"/>
              </a:rPr>
              <a:t>Chemical Properties of the Elements</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2350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a:extLst>
              <a:ext uri="{FF2B5EF4-FFF2-40B4-BE49-F238E27FC236}">
                <a16:creationId xmlns:a16="http://schemas.microsoft.com/office/drawing/2014/main" id="{7CA3F5FE-5C10-48EC-BEE7-4FFE8A48C0EA}"/>
              </a:ext>
            </a:extLst>
          </p:cNvPr>
          <p:cNvSpPr txBox="1">
            <a:spLocks noChangeArrowheads="1"/>
          </p:cNvSpPr>
          <p:nvPr/>
        </p:nvSpPr>
        <p:spPr bwMode="auto">
          <a:xfrm>
            <a:off x="228600" y="644408"/>
            <a:ext cx="86106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b="1" dirty="0">
                <a:solidFill>
                  <a:srgbClr val="FF6666"/>
                </a:solidFill>
                <a:latin typeface="Arial" panose="020B0604020202020204" pitchFamily="34" charset="0"/>
              </a:rPr>
              <a:t>Pauling Scale</a:t>
            </a:r>
            <a:endParaRPr lang="en-US" altLang="en-US" sz="1600" dirty="0">
              <a:latin typeface="Arial" panose="020B0604020202020204" pitchFamily="34" charset="0"/>
            </a:endParaRPr>
          </a:p>
          <a:p>
            <a:r>
              <a:rPr lang="en-US" altLang="en-US" sz="1600" dirty="0">
                <a:latin typeface="Arial" panose="020B0604020202020204" pitchFamily="34" charset="0"/>
              </a:rPr>
              <a:t>The Pauling Scale is the most </a:t>
            </a:r>
            <a:r>
              <a:rPr lang="en-US" altLang="en-US" sz="1600" dirty="0">
                <a:solidFill>
                  <a:srgbClr val="FF6666"/>
                </a:solidFill>
                <a:latin typeface="Arial" panose="020B0604020202020204" pitchFamily="34" charset="0"/>
              </a:rPr>
              <a:t>commonly used scale of electronegativity values</a:t>
            </a:r>
            <a:r>
              <a:rPr lang="en-US" altLang="en-US" sz="1600" dirty="0">
                <a:latin typeface="Arial" panose="020B0604020202020204" pitchFamily="34" charset="0"/>
              </a:rPr>
              <a:t>. The scale is based on Fluorine having the largest electronegativity with a value of 4.0. The Francium atom is assigned the lowest electronegativity value at 0.7. All other values are located between these extremes. </a:t>
            </a:r>
          </a:p>
          <a:p>
            <a:r>
              <a:rPr lang="en-US" altLang="en-US" sz="1600" dirty="0">
                <a:latin typeface="Arial" panose="020B0604020202020204" pitchFamily="34" charset="0"/>
              </a:rPr>
              <a:t>	Examples: Li--1.0 	Be--1.5 	B--2.0 	C--2.5 	N--3.0 	O--3.5 	F--4.0.</a:t>
            </a:r>
            <a:endParaRPr lang="en-US" altLang="en-US" sz="1600" dirty="0">
              <a:solidFill>
                <a:srgbClr val="000000"/>
              </a:solidFill>
              <a:latin typeface="Times New Roman" panose="02020603050405020304" pitchFamily="18" charset="0"/>
            </a:endParaRPr>
          </a:p>
          <a:p>
            <a:endParaRPr lang="en-US" altLang="en-US" sz="1200" dirty="0">
              <a:solidFill>
                <a:srgbClr val="000000"/>
              </a:solidFill>
              <a:latin typeface="Times New Roman" panose="02020603050405020304" pitchFamily="18" charset="0"/>
            </a:endParaRPr>
          </a:p>
        </p:txBody>
      </p:sp>
      <p:grpSp>
        <p:nvGrpSpPr>
          <p:cNvPr id="35845" name="Group 5">
            <a:extLst>
              <a:ext uri="{FF2B5EF4-FFF2-40B4-BE49-F238E27FC236}">
                <a16:creationId xmlns:a16="http://schemas.microsoft.com/office/drawing/2014/main" id="{E1D7D062-5703-4735-858D-619B584D7AEB}"/>
              </a:ext>
            </a:extLst>
          </p:cNvPr>
          <p:cNvGrpSpPr>
            <a:grpSpLocks/>
          </p:cNvGrpSpPr>
          <p:nvPr/>
        </p:nvGrpSpPr>
        <p:grpSpPr bwMode="auto">
          <a:xfrm>
            <a:off x="762000" y="2971800"/>
            <a:ext cx="7543800" cy="3886200"/>
            <a:chOff x="384" y="1296"/>
            <a:chExt cx="4992" cy="2678"/>
          </a:xfrm>
        </p:grpSpPr>
        <p:pic>
          <p:nvPicPr>
            <p:cNvPr id="35846" name="Picture 6">
              <a:extLst>
                <a:ext uri="{FF2B5EF4-FFF2-40B4-BE49-F238E27FC236}">
                  <a16:creationId xmlns:a16="http://schemas.microsoft.com/office/drawing/2014/main" id="{C17CC351-03E8-4ED5-8BF4-EB2B5DAD5B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1296"/>
              <a:ext cx="4992" cy="2678"/>
            </a:xfrm>
            <a:prstGeom prst="rect">
              <a:avLst/>
            </a:prstGeom>
            <a:noFill/>
            <a:extLst>
              <a:ext uri="{909E8E84-426E-40DD-AFC4-6F175D3DCCD1}">
                <a14:hiddenFill xmlns:a14="http://schemas.microsoft.com/office/drawing/2010/main">
                  <a:solidFill>
                    <a:srgbClr val="FFFFFF"/>
                  </a:solidFill>
                </a14:hiddenFill>
              </a:ext>
            </a:extLst>
          </p:spPr>
        </p:pic>
        <p:sp>
          <p:nvSpPr>
            <p:cNvPr id="35847" name="Text Box 7">
              <a:extLst>
                <a:ext uri="{FF2B5EF4-FFF2-40B4-BE49-F238E27FC236}">
                  <a16:creationId xmlns:a16="http://schemas.microsoft.com/office/drawing/2014/main" id="{47928BA4-B92A-4357-8D21-6E6A05C27673}"/>
                </a:ext>
              </a:extLst>
            </p:cNvPr>
            <p:cNvSpPr txBox="1">
              <a:spLocks noChangeArrowheads="1"/>
            </p:cNvSpPr>
            <p:nvPr/>
          </p:nvSpPr>
          <p:spPr bwMode="auto">
            <a:xfrm>
              <a:off x="3312" y="1641"/>
              <a:ext cx="1392"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(Pauling scale)</a:t>
              </a:r>
            </a:p>
          </p:txBody>
        </p:sp>
      </p:grpSp>
      <p:sp>
        <p:nvSpPr>
          <p:cNvPr id="9" name="TextBox 8">
            <a:extLst>
              <a:ext uri="{FF2B5EF4-FFF2-40B4-BE49-F238E27FC236}">
                <a16:creationId xmlns:a16="http://schemas.microsoft.com/office/drawing/2014/main" id="{75655EF5-78F5-4BA0-B1A8-07D8F7F169CC}"/>
              </a:ext>
            </a:extLst>
          </p:cNvPr>
          <p:cNvSpPr txBox="1"/>
          <p:nvPr/>
        </p:nvSpPr>
        <p:spPr>
          <a:xfrm>
            <a:off x="304800" y="118459"/>
            <a:ext cx="5867400" cy="400110"/>
          </a:xfrm>
          <a:prstGeom prst="rect">
            <a:avLst/>
          </a:prstGeom>
          <a:noFill/>
        </p:spPr>
        <p:txBody>
          <a:bodyPr wrap="square">
            <a:spAutoFit/>
          </a:bodyPr>
          <a:lstStyle/>
          <a:p>
            <a:r>
              <a:rPr lang="en-US" altLang="en-US" sz="2000" b="1" dirty="0">
                <a:latin typeface="Arial" panose="020B0604020202020204" pitchFamily="34" charset="0"/>
                <a:cs typeface="Arial" panose="020B0604020202020204" pitchFamily="34" charset="0"/>
              </a:rPr>
              <a:t>Chemical Properties of the Elements</a:t>
            </a:r>
            <a:endParaRPr lang="en-IN" sz="2000" b="1"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5" name="Picture 7">
            <a:extLst>
              <a:ext uri="{FF2B5EF4-FFF2-40B4-BE49-F238E27FC236}">
                <a16:creationId xmlns:a16="http://schemas.microsoft.com/office/drawing/2014/main" id="{97B1E464-D05D-4D44-85BD-ABDD61D28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739" r="4167"/>
          <a:stretch/>
        </p:blipFill>
        <p:spPr bwMode="auto">
          <a:xfrm>
            <a:off x="304800" y="741905"/>
            <a:ext cx="8077200" cy="61160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62A892-3953-4CAB-B47E-F5035FF41A53}"/>
              </a:ext>
            </a:extLst>
          </p:cNvPr>
          <p:cNvSpPr txBox="1"/>
          <p:nvPr/>
        </p:nvSpPr>
        <p:spPr>
          <a:xfrm>
            <a:off x="304800" y="118459"/>
            <a:ext cx="5867400" cy="400110"/>
          </a:xfrm>
          <a:prstGeom prst="rect">
            <a:avLst/>
          </a:prstGeom>
          <a:noFill/>
        </p:spPr>
        <p:txBody>
          <a:bodyPr wrap="square">
            <a:spAutoFit/>
          </a:bodyPr>
          <a:lstStyle/>
          <a:p>
            <a:r>
              <a:rPr lang="en-US" altLang="en-US" sz="2000" b="1" dirty="0">
                <a:latin typeface="Arial" panose="020B0604020202020204" pitchFamily="34" charset="0"/>
                <a:cs typeface="Arial" panose="020B0604020202020204" pitchFamily="34" charset="0"/>
              </a:rPr>
              <a:t>Chemical Properties of the Elements</a:t>
            </a:r>
            <a:endParaRPr lang="en-IN" sz="2000" b="1" dirty="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ext Box 3">
            <a:extLst>
              <a:ext uri="{FF2B5EF4-FFF2-40B4-BE49-F238E27FC236}">
                <a16:creationId xmlns:a16="http://schemas.microsoft.com/office/drawing/2014/main" id="{00BDC19B-E37F-42C5-B0B9-5BAC56237915}"/>
              </a:ext>
            </a:extLst>
          </p:cNvPr>
          <p:cNvSpPr txBox="1">
            <a:spLocks noChangeArrowheads="1"/>
          </p:cNvSpPr>
          <p:nvPr/>
        </p:nvSpPr>
        <p:spPr bwMode="auto">
          <a:xfrm>
            <a:off x="228600" y="1066800"/>
            <a:ext cx="8610600" cy="255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en-US" sz="1600">
              <a:solidFill>
                <a:srgbClr val="000000"/>
              </a:solidFill>
              <a:latin typeface="Times New Roman" panose="02020603050405020304" pitchFamily="18" charset="0"/>
            </a:endParaRPr>
          </a:p>
          <a:p>
            <a:r>
              <a:rPr lang="en-US" altLang="en-US" sz="1600">
                <a:latin typeface="Arial" panose="020B0604020202020204" pitchFamily="34" charset="0"/>
              </a:rPr>
              <a:t>R.S. </a:t>
            </a:r>
            <a:r>
              <a:rPr lang="en-US" altLang="en-US" sz="1600" b="1">
                <a:solidFill>
                  <a:srgbClr val="FF6666"/>
                </a:solidFill>
                <a:latin typeface="Arial" panose="020B0604020202020204" pitchFamily="34" charset="0"/>
              </a:rPr>
              <a:t>Mulliken</a:t>
            </a:r>
            <a:r>
              <a:rPr lang="en-US" altLang="en-US" sz="1600">
                <a:latin typeface="Arial" panose="020B0604020202020204" pitchFamily="34" charset="0"/>
              </a:rPr>
              <a:t> (1934) proposed an electronegativity scale in which the </a:t>
            </a:r>
            <a:r>
              <a:rPr lang="en-US" altLang="en-US" sz="1600">
                <a:solidFill>
                  <a:srgbClr val="FF6666"/>
                </a:solidFill>
                <a:latin typeface="Arial" panose="020B0604020202020204" pitchFamily="34" charset="0"/>
              </a:rPr>
              <a:t>electronegativity</a:t>
            </a:r>
            <a:r>
              <a:rPr lang="en-US" altLang="en-US" sz="1600">
                <a:solidFill>
                  <a:srgbClr val="000000"/>
                </a:solidFill>
                <a:latin typeface="Verdana" panose="020B0604030504040204" pitchFamily="34" charset="0"/>
              </a:rPr>
              <a:t>, </a:t>
            </a:r>
            <a:r>
              <a:rPr lang="en-US" altLang="en-US" sz="1600">
                <a:solidFill>
                  <a:srgbClr val="000000"/>
                </a:solidFill>
                <a:latin typeface="Symbol" panose="05050102010706020507" pitchFamily="18" charset="2"/>
                <a:sym typeface="Symbol" panose="05050102010706020507" pitchFamily="18" charset="2"/>
              </a:rPr>
              <a:t></a:t>
            </a:r>
            <a:r>
              <a:rPr lang="en-US" altLang="en-US" sz="1300" baseline="-25000">
                <a:solidFill>
                  <a:srgbClr val="000000"/>
                </a:solidFill>
                <a:latin typeface="Verdana" panose="020B0604030504040204" pitchFamily="34" charset="0"/>
              </a:rPr>
              <a:t>M</a:t>
            </a:r>
            <a:r>
              <a:rPr lang="en-US" altLang="en-US" sz="1600">
                <a:solidFill>
                  <a:srgbClr val="000000"/>
                </a:solidFill>
                <a:latin typeface="Verdana" panose="020B0604030504040204" pitchFamily="34" charset="0"/>
              </a:rPr>
              <a:t> </a:t>
            </a:r>
            <a:r>
              <a:rPr lang="en-US" altLang="en-US" sz="1600">
                <a:latin typeface="Arial" panose="020B0604020202020204" pitchFamily="34" charset="0"/>
              </a:rPr>
              <a:t>is </a:t>
            </a:r>
            <a:r>
              <a:rPr lang="en-US" altLang="en-US" sz="1600">
                <a:solidFill>
                  <a:srgbClr val="FF6666"/>
                </a:solidFill>
                <a:latin typeface="Arial" panose="020B0604020202020204" pitchFamily="34" charset="0"/>
              </a:rPr>
              <a:t>related to the electron affinity</a:t>
            </a:r>
            <a:r>
              <a:rPr lang="en-US" altLang="en-US" sz="1600">
                <a:solidFill>
                  <a:srgbClr val="000000"/>
                </a:solidFill>
                <a:latin typeface="Verdana" panose="020B0604030504040204" pitchFamily="34" charset="0"/>
              </a:rPr>
              <a:t> EA</a:t>
            </a:r>
            <a:r>
              <a:rPr lang="en-US" altLang="en-US" sz="1300">
                <a:solidFill>
                  <a:srgbClr val="000000"/>
                </a:solidFill>
                <a:latin typeface="Verdana" panose="020B0604030504040204" pitchFamily="34" charset="0"/>
              </a:rPr>
              <a:t>v</a:t>
            </a:r>
            <a:r>
              <a:rPr lang="en-US" altLang="en-US" sz="1600">
                <a:solidFill>
                  <a:srgbClr val="000000"/>
                </a:solidFill>
                <a:latin typeface="Verdana" panose="020B0604030504040204" pitchFamily="34" charset="0"/>
              </a:rPr>
              <a:t> </a:t>
            </a:r>
            <a:r>
              <a:rPr lang="en-US" altLang="en-US" sz="1600">
                <a:latin typeface="Arial" panose="020B0604020202020204" pitchFamily="34" charset="0"/>
              </a:rPr>
              <a:t>(a measure of the tendency of an atom to form a negative species) </a:t>
            </a:r>
            <a:r>
              <a:rPr lang="en-US" altLang="en-US" sz="1600">
                <a:solidFill>
                  <a:srgbClr val="FF6666"/>
                </a:solidFill>
                <a:latin typeface="Arial" panose="020B0604020202020204" pitchFamily="34" charset="0"/>
              </a:rPr>
              <a:t>and the ionization potential</a:t>
            </a:r>
            <a:r>
              <a:rPr lang="en-US" altLang="en-US" sz="1600">
                <a:solidFill>
                  <a:srgbClr val="000000"/>
                </a:solidFill>
                <a:latin typeface="Verdana" panose="020B0604030504040204" pitchFamily="34" charset="0"/>
              </a:rPr>
              <a:t> IE</a:t>
            </a:r>
            <a:r>
              <a:rPr lang="en-US" altLang="en-US" sz="1300">
                <a:solidFill>
                  <a:srgbClr val="000000"/>
                </a:solidFill>
                <a:latin typeface="Verdana" panose="020B0604030504040204" pitchFamily="34" charset="0"/>
              </a:rPr>
              <a:t>v</a:t>
            </a:r>
            <a:r>
              <a:rPr lang="en-US" altLang="en-US" sz="1600">
                <a:solidFill>
                  <a:srgbClr val="000000"/>
                </a:solidFill>
                <a:latin typeface="Verdana" panose="020B0604030504040204" pitchFamily="34" charset="0"/>
              </a:rPr>
              <a:t> </a:t>
            </a:r>
            <a:r>
              <a:rPr lang="en-US" altLang="en-US" sz="1600">
                <a:latin typeface="Arial" panose="020B0604020202020204" pitchFamily="34" charset="0"/>
              </a:rPr>
              <a:t>(a measure of the tendency of an atom to form a positive species) by the equation:</a:t>
            </a:r>
          </a:p>
          <a:p>
            <a:endParaRPr lang="en-US" altLang="en-US" sz="1600">
              <a:solidFill>
                <a:srgbClr val="000000"/>
              </a:solidFill>
              <a:latin typeface="Verdana" panose="020B0604030504040204" pitchFamily="34" charset="0"/>
            </a:endParaRPr>
          </a:p>
          <a:p>
            <a:r>
              <a:rPr lang="en-US" altLang="en-US" sz="1600">
                <a:solidFill>
                  <a:srgbClr val="000000"/>
                </a:solidFill>
                <a:latin typeface="Symbol" panose="05050102010706020507" pitchFamily="18" charset="2"/>
              </a:rPr>
              <a:t>	</a:t>
            </a:r>
            <a:r>
              <a:rPr lang="en-US" altLang="en-US" sz="1600">
                <a:solidFill>
                  <a:srgbClr val="000000"/>
                </a:solidFill>
                <a:latin typeface="Symbol" panose="05050102010706020507" pitchFamily="18" charset="2"/>
                <a:sym typeface="Symbol" panose="05050102010706020507" pitchFamily="18" charset="2"/>
              </a:rPr>
              <a:t></a:t>
            </a:r>
            <a:r>
              <a:rPr lang="en-US" altLang="en-US" sz="1300" baseline="-25000">
                <a:solidFill>
                  <a:srgbClr val="000000"/>
                </a:solidFill>
                <a:latin typeface="Verdana" panose="020B0604030504040204" pitchFamily="34" charset="0"/>
              </a:rPr>
              <a:t>M</a:t>
            </a:r>
            <a:r>
              <a:rPr lang="en-US" altLang="en-US" sz="1600" baseline="-25000">
                <a:solidFill>
                  <a:srgbClr val="000000"/>
                </a:solidFill>
                <a:latin typeface="Verdana" panose="020B0604030504040204" pitchFamily="34" charset="0"/>
              </a:rPr>
              <a:t> </a:t>
            </a:r>
            <a:r>
              <a:rPr lang="en-US" altLang="en-US" sz="1600">
                <a:solidFill>
                  <a:srgbClr val="000000"/>
                </a:solidFill>
                <a:latin typeface="Verdana" panose="020B0604030504040204" pitchFamily="34" charset="0"/>
              </a:rPr>
              <a:t>= (IE</a:t>
            </a:r>
            <a:r>
              <a:rPr lang="en-US" altLang="en-US" sz="1300">
                <a:solidFill>
                  <a:srgbClr val="000000"/>
                </a:solidFill>
                <a:latin typeface="Verdana" panose="020B0604030504040204" pitchFamily="34" charset="0"/>
              </a:rPr>
              <a:t>v</a:t>
            </a:r>
            <a:r>
              <a:rPr lang="en-US" altLang="en-US" sz="1600">
                <a:solidFill>
                  <a:srgbClr val="000000"/>
                </a:solidFill>
                <a:latin typeface="Verdana" panose="020B0604030504040204" pitchFamily="34" charset="0"/>
              </a:rPr>
              <a:t> + EA</a:t>
            </a:r>
            <a:r>
              <a:rPr lang="en-US" altLang="en-US" sz="1300">
                <a:solidFill>
                  <a:srgbClr val="000000"/>
                </a:solidFill>
                <a:latin typeface="Verdana" panose="020B0604030504040204" pitchFamily="34" charset="0"/>
              </a:rPr>
              <a:t>v</a:t>
            </a:r>
            <a:r>
              <a:rPr lang="en-US" altLang="en-US" sz="1600">
                <a:solidFill>
                  <a:srgbClr val="000000"/>
                </a:solidFill>
                <a:latin typeface="Verdana" panose="020B0604030504040204" pitchFamily="34" charset="0"/>
              </a:rPr>
              <a:t>)/2</a:t>
            </a:r>
          </a:p>
          <a:p>
            <a:endParaRPr lang="en-US" altLang="en-US" sz="1600">
              <a:solidFill>
                <a:srgbClr val="000000"/>
              </a:solidFill>
              <a:latin typeface="Verdana" panose="020B0604030504040204" pitchFamily="34" charset="0"/>
            </a:endParaRPr>
          </a:p>
          <a:p>
            <a:r>
              <a:rPr lang="en-US" altLang="en-US" sz="1600">
                <a:latin typeface="Arial" panose="020B0604020202020204" pitchFamily="34" charset="0"/>
              </a:rPr>
              <a:t>The subscript v denotes a specific valence state.</a:t>
            </a:r>
          </a:p>
          <a:p>
            <a:r>
              <a:rPr lang="en-US" altLang="en-US" sz="1600">
                <a:latin typeface="Arial" panose="020B0604020202020204" pitchFamily="34" charset="0"/>
              </a:rPr>
              <a:t>The Mulliken electronegativities are expressed directly in energy units, usually electron volts.</a:t>
            </a:r>
            <a:r>
              <a:rPr lang="en-US" altLang="en-US" sz="1600">
                <a:solidFill>
                  <a:srgbClr val="000000"/>
                </a:solidFill>
                <a:latin typeface="Times New Roman" panose="02020603050405020304" pitchFamily="18" charset="0"/>
              </a:rPr>
              <a:t> </a:t>
            </a:r>
            <a:endParaRPr lang="en-US" altLang="en-US" sz="1200">
              <a:solidFill>
                <a:srgbClr val="000000"/>
              </a:solidFill>
              <a:latin typeface="Times New Roman" panose="02020603050405020304" pitchFamily="18" charset="0"/>
            </a:endParaRPr>
          </a:p>
        </p:txBody>
      </p:sp>
      <p:pic>
        <p:nvPicPr>
          <p:cNvPr id="36868" name="Picture 4">
            <a:extLst>
              <a:ext uri="{FF2B5EF4-FFF2-40B4-BE49-F238E27FC236}">
                <a16:creationId xmlns:a16="http://schemas.microsoft.com/office/drawing/2014/main" id="{DD2ECAAB-BE5A-45AC-B30F-8BC320A602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962400"/>
            <a:ext cx="8637588" cy="16129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B29685C-C1F9-41B2-8D0E-EBF66A220DD8}"/>
              </a:ext>
            </a:extLst>
          </p:cNvPr>
          <p:cNvSpPr txBox="1"/>
          <p:nvPr/>
        </p:nvSpPr>
        <p:spPr>
          <a:xfrm>
            <a:off x="304800" y="118459"/>
            <a:ext cx="5867400" cy="400110"/>
          </a:xfrm>
          <a:prstGeom prst="rect">
            <a:avLst/>
          </a:prstGeom>
          <a:noFill/>
        </p:spPr>
        <p:txBody>
          <a:bodyPr wrap="square">
            <a:spAutoFit/>
          </a:bodyPr>
          <a:lstStyle/>
          <a:p>
            <a:r>
              <a:rPr lang="en-US" altLang="en-US" sz="2000" b="1" dirty="0">
                <a:latin typeface="Arial" panose="020B0604020202020204" pitchFamily="34" charset="0"/>
                <a:cs typeface="Arial" panose="020B0604020202020204" pitchFamily="34" charset="0"/>
              </a:rPr>
              <a:t>Chemical Properties of the Elements</a:t>
            </a:r>
            <a:endParaRPr lang="en-IN" sz="2000" b="1" dirty="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0" name="Text Box 8">
            <a:extLst>
              <a:ext uri="{FF2B5EF4-FFF2-40B4-BE49-F238E27FC236}">
                <a16:creationId xmlns:a16="http://schemas.microsoft.com/office/drawing/2014/main" id="{BF24ADB2-DBB2-4F6D-A6EC-B0DCD2D6160C}"/>
              </a:ext>
            </a:extLst>
          </p:cNvPr>
          <p:cNvSpPr txBox="1">
            <a:spLocks noChangeArrowheads="1"/>
          </p:cNvSpPr>
          <p:nvPr/>
        </p:nvSpPr>
        <p:spPr bwMode="auto">
          <a:xfrm>
            <a:off x="228600" y="1066800"/>
            <a:ext cx="8610600" cy="110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b="1" dirty="0">
                <a:solidFill>
                  <a:schemeClr val="accent2"/>
                </a:solidFill>
                <a:latin typeface="Arial" panose="020B0604020202020204" pitchFamily="34" charset="0"/>
              </a:rPr>
              <a:t>Ionic radius</a:t>
            </a:r>
          </a:p>
          <a:p>
            <a:r>
              <a:rPr lang="en-US" altLang="en-US" sz="1600" dirty="0">
                <a:solidFill>
                  <a:srgbClr val="FF6666"/>
                </a:solidFill>
                <a:latin typeface="Arial" panose="020B0604020202020204" pitchFamily="34" charset="0"/>
              </a:rPr>
              <a:t>Cations</a:t>
            </a:r>
            <a:r>
              <a:rPr lang="en-US" altLang="en-US" sz="1600" dirty="0">
                <a:latin typeface="Arial" panose="020B0604020202020204" pitchFamily="34" charset="0"/>
              </a:rPr>
              <a:t> have smaller radii than </a:t>
            </a:r>
            <a:r>
              <a:rPr lang="en-US" altLang="en-US" sz="1600" dirty="0">
                <a:solidFill>
                  <a:srgbClr val="FF6666"/>
                </a:solidFill>
                <a:latin typeface="Arial" panose="020B0604020202020204" pitchFamily="34" charset="0"/>
              </a:rPr>
              <a:t>anions</a:t>
            </a:r>
            <a:r>
              <a:rPr lang="en-US" altLang="en-US" sz="1600" dirty="0">
                <a:latin typeface="Arial" panose="020B0604020202020204" pitchFamily="34" charset="0"/>
              </a:rPr>
              <a:t>.</a:t>
            </a:r>
            <a:r>
              <a:rPr lang="en-US" altLang="en-US" sz="1600" b="1" dirty="0">
                <a:solidFill>
                  <a:schemeClr val="accent2"/>
                </a:solidFill>
                <a:latin typeface="Arial" panose="020B0604020202020204" pitchFamily="34" charset="0"/>
              </a:rPr>
              <a:t> </a:t>
            </a:r>
            <a:r>
              <a:rPr lang="en-US" altLang="en-US" sz="1600" dirty="0">
                <a:latin typeface="Arial" panose="020B0604020202020204" pitchFamily="34" charset="0"/>
              </a:rPr>
              <a:t>Ionic radius decreases with increasing charge.</a:t>
            </a:r>
          </a:p>
          <a:p>
            <a:r>
              <a:rPr lang="en-US" altLang="en-US" sz="1600" dirty="0">
                <a:latin typeface="Arial" panose="020B0604020202020204" pitchFamily="34" charset="0"/>
              </a:rPr>
              <a:t>Ionic radius is important for geochemical reactions such as substitution in crystal lattices, solubility, and diffusion rates.</a:t>
            </a:r>
          </a:p>
        </p:txBody>
      </p:sp>
      <p:pic>
        <p:nvPicPr>
          <p:cNvPr id="23562" name="Picture 10">
            <a:extLst>
              <a:ext uri="{FF2B5EF4-FFF2-40B4-BE49-F238E27FC236}">
                <a16:creationId xmlns:a16="http://schemas.microsoft.com/office/drawing/2014/main" id="{7B3AC510-DC14-4429-A56B-0CB38B7A69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13" y="2895600"/>
            <a:ext cx="8840787" cy="3530600"/>
          </a:xfrm>
          <a:prstGeom prst="rect">
            <a:avLst/>
          </a:prstGeom>
          <a:noFill/>
          <a:extLst>
            <a:ext uri="{909E8E84-426E-40DD-AFC4-6F175D3DCCD1}">
              <a14:hiddenFill xmlns:a14="http://schemas.microsoft.com/office/drawing/2010/main">
                <a:solidFill>
                  <a:srgbClr val="FFFFFF"/>
                </a:solidFill>
              </a14:hiddenFill>
            </a:ext>
          </a:extLst>
        </p:spPr>
      </p:pic>
      <p:grpSp>
        <p:nvGrpSpPr>
          <p:cNvPr id="23576" name="Group 24">
            <a:extLst>
              <a:ext uri="{FF2B5EF4-FFF2-40B4-BE49-F238E27FC236}">
                <a16:creationId xmlns:a16="http://schemas.microsoft.com/office/drawing/2014/main" id="{F0B0099D-E06A-49C1-BF39-D9B42B37E18B}"/>
              </a:ext>
            </a:extLst>
          </p:cNvPr>
          <p:cNvGrpSpPr>
            <a:grpSpLocks/>
          </p:cNvGrpSpPr>
          <p:nvPr/>
        </p:nvGrpSpPr>
        <p:grpSpPr bwMode="auto">
          <a:xfrm>
            <a:off x="3048000" y="2362200"/>
            <a:ext cx="5791200" cy="4343400"/>
            <a:chOff x="1920" y="1488"/>
            <a:chExt cx="3648" cy="2736"/>
          </a:xfrm>
        </p:grpSpPr>
        <p:pic>
          <p:nvPicPr>
            <p:cNvPr id="23563" name="Picture 11">
              <a:extLst>
                <a:ext uri="{FF2B5EF4-FFF2-40B4-BE49-F238E27FC236}">
                  <a16:creationId xmlns:a16="http://schemas.microsoft.com/office/drawing/2014/main" id="{446CD694-25E3-42A8-A4BF-849B9C7698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 y="1488"/>
              <a:ext cx="1048" cy="800"/>
            </a:xfrm>
            <a:prstGeom prst="rect">
              <a:avLst/>
            </a:prstGeom>
            <a:noFill/>
            <a:extLst>
              <a:ext uri="{909E8E84-426E-40DD-AFC4-6F175D3DCCD1}">
                <a14:hiddenFill xmlns:a14="http://schemas.microsoft.com/office/drawing/2010/main">
                  <a:solidFill>
                    <a:srgbClr val="FFFFFF"/>
                  </a:solidFill>
                </a14:hiddenFill>
              </a:ext>
            </a:extLst>
          </p:spPr>
        </p:pic>
        <p:sp>
          <p:nvSpPr>
            <p:cNvPr id="23565" name="Text Box 13">
              <a:extLst>
                <a:ext uri="{FF2B5EF4-FFF2-40B4-BE49-F238E27FC236}">
                  <a16:creationId xmlns:a16="http://schemas.microsoft.com/office/drawing/2014/main" id="{4D1D8BC9-2958-4E5F-B33D-30B0DBF112CE}"/>
                </a:ext>
              </a:extLst>
            </p:cNvPr>
            <p:cNvSpPr txBox="1">
              <a:spLocks noChangeArrowheads="1"/>
            </p:cNvSpPr>
            <p:nvPr/>
          </p:nvSpPr>
          <p:spPr bwMode="auto">
            <a:xfrm>
              <a:off x="3024" y="1488"/>
              <a:ext cx="254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Comparison of some atomic and respective ionic radii (in nanometers)</a:t>
              </a:r>
            </a:p>
          </p:txBody>
        </p:sp>
        <p:grpSp>
          <p:nvGrpSpPr>
            <p:cNvPr id="23569" name="Group 17">
              <a:extLst>
                <a:ext uri="{FF2B5EF4-FFF2-40B4-BE49-F238E27FC236}">
                  <a16:creationId xmlns:a16="http://schemas.microsoft.com/office/drawing/2014/main" id="{7891F4DC-8629-4E99-9E3A-5C245A96A89E}"/>
                </a:ext>
              </a:extLst>
            </p:cNvPr>
            <p:cNvGrpSpPr>
              <a:grpSpLocks/>
            </p:cNvGrpSpPr>
            <p:nvPr/>
          </p:nvGrpSpPr>
          <p:grpSpPr bwMode="auto">
            <a:xfrm>
              <a:off x="4224" y="3408"/>
              <a:ext cx="1312" cy="784"/>
              <a:chOff x="4224" y="3408"/>
              <a:chExt cx="1312" cy="784"/>
            </a:xfrm>
          </p:grpSpPr>
          <p:pic>
            <p:nvPicPr>
              <p:cNvPr id="23564" name="Picture 12">
                <a:extLst>
                  <a:ext uri="{FF2B5EF4-FFF2-40B4-BE49-F238E27FC236}">
                    <a16:creationId xmlns:a16="http://schemas.microsoft.com/office/drawing/2014/main" id="{A5E70EE0-EC2B-480C-B719-B99E56666A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0" y="3408"/>
                <a:ext cx="1216" cy="784"/>
              </a:xfrm>
              <a:prstGeom prst="rect">
                <a:avLst/>
              </a:prstGeom>
              <a:noFill/>
              <a:extLst>
                <a:ext uri="{909E8E84-426E-40DD-AFC4-6F175D3DCCD1}">
                  <a14:hiddenFill xmlns:a14="http://schemas.microsoft.com/office/drawing/2010/main">
                    <a:solidFill>
                      <a:srgbClr val="FFFFFF"/>
                    </a:solidFill>
                  </a14:hiddenFill>
                </a:ext>
              </a:extLst>
            </p:spPr>
          </p:pic>
          <p:sp>
            <p:nvSpPr>
              <p:cNvPr id="23566" name="Rectangle 14">
                <a:extLst>
                  <a:ext uri="{FF2B5EF4-FFF2-40B4-BE49-F238E27FC236}">
                    <a16:creationId xmlns:a16="http://schemas.microsoft.com/office/drawing/2014/main" id="{4A631746-153F-4705-B248-5E5041169EC4}"/>
                  </a:ext>
                </a:extLst>
              </p:cNvPr>
              <p:cNvSpPr>
                <a:spLocks noChangeArrowheads="1"/>
              </p:cNvSpPr>
              <p:nvPr/>
            </p:nvSpPr>
            <p:spPr bwMode="auto">
              <a:xfrm>
                <a:off x="4224" y="3792"/>
                <a:ext cx="192" cy="38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3575" name="Group 23">
              <a:extLst>
                <a:ext uri="{FF2B5EF4-FFF2-40B4-BE49-F238E27FC236}">
                  <a16:creationId xmlns:a16="http://schemas.microsoft.com/office/drawing/2014/main" id="{CA9DD1FE-270F-4FF8-B099-42399D8A2A9C}"/>
                </a:ext>
              </a:extLst>
            </p:cNvPr>
            <p:cNvGrpSpPr>
              <a:grpSpLocks/>
            </p:cNvGrpSpPr>
            <p:nvPr/>
          </p:nvGrpSpPr>
          <p:grpSpPr bwMode="auto">
            <a:xfrm>
              <a:off x="1920" y="3488"/>
              <a:ext cx="1440" cy="736"/>
              <a:chOff x="1920" y="3488"/>
              <a:chExt cx="1440" cy="736"/>
            </a:xfrm>
          </p:grpSpPr>
          <p:grpSp>
            <p:nvGrpSpPr>
              <p:cNvPr id="23573" name="Group 21">
                <a:extLst>
                  <a:ext uri="{FF2B5EF4-FFF2-40B4-BE49-F238E27FC236}">
                    <a16:creationId xmlns:a16="http://schemas.microsoft.com/office/drawing/2014/main" id="{5883C0BA-0D2E-47BA-94E3-08D0E55AEDCD}"/>
                  </a:ext>
                </a:extLst>
              </p:cNvPr>
              <p:cNvGrpSpPr>
                <a:grpSpLocks/>
              </p:cNvGrpSpPr>
              <p:nvPr/>
            </p:nvGrpSpPr>
            <p:grpSpPr bwMode="auto">
              <a:xfrm>
                <a:off x="1920" y="3488"/>
                <a:ext cx="1432" cy="736"/>
                <a:chOff x="1920" y="3488"/>
                <a:chExt cx="1432" cy="736"/>
              </a:xfrm>
            </p:grpSpPr>
            <p:pic>
              <p:nvPicPr>
                <p:cNvPr id="23571" name="Picture 19">
                  <a:extLst>
                    <a:ext uri="{FF2B5EF4-FFF2-40B4-BE49-F238E27FC236}">
                      <a16:creationId xmlns:a16="http://schemas.microsoft.com/office/drawing/2014/main" id="{857AD97E-AFC0-4D97-91E5-259A1B954C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0" y="3488"/>
                  <a:ext cx="1432" cy="736"/>
                </a:xfrm>
                <a:prstGeom prst="rect">
                  <a:avLst/>
                </a:prstGeom>
                <a:noFill/>
                <a:extLst>
                  <a:ext uri="{909E8E84-426E-40DD-AFC4-6F175D3DCCD1}">
                    <a14:hiddenFill xmlns:a14="http://schemas.microsoft.com/office/drawing/2010/main">
                      <a:solidFill>
                        <a:srgbClr val="FFFFFF"/>
                      </a:solidFill>
                    </a14:hiddenFill>
                  </a:ext>
                </a:extLst>
              </p:spPr>
            </p:pic>
            <p:sp>
              <p:nvSpPr>
                <p:cNvPr id="23572" name="Rectangle 20">
                  <a:extLst>
                    <a:ext uri="{FF2B5EF4-FFF2-40B4-BE49-F238E27FC236}">
                      <a16:creationId xmlns:a16="http://schemas.microsoft.com/office/drawing/2014/main" id="{BECD9A87-7A56-47DB-8856-C0E23726FF73}"/>
                    </a:ext>
                  </a:extLst>
                </p:cNvPr>
                <p:cNvSpPr>
                  <a:spLocks noChangeArrowheads="1"/>
                </p:cNvSpPr>
                <p:nvPr/>
              </p:nvSpPr>
              <p:spPr bwMode="auto">
                <a:xfrm>
                  <a:off x="1920" y="3888"/>
                  <a:ext cx="48" cy="33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3574" name="Rectangle 22">
                <a:extLst>
                  <a:ext uri="{FF2B5EF4-FFF2-40B4-BE49-F238E27FC236}">
                    <a16:creationId xmlns:a16="http://schemas.microsoft.com/office/drawing/2014/main" id="{085460DE-3CE9-42E5-8963-A935654132E6}"/>
                  </a:ext>
                </a:extLst>
              </p:cNvPr>
              <p:cNvSpPr>
                <a:spLocks noChangeArrowheads="1"/>
              </p:cNvSpPr>
              <p:nvPr/>
            </p:nvSpPr>
            <p:spPr bwMode="auto">
              <a:xfrm>
                <a:off x="3264" y="3552"/>
                <a:ext cx="96" cy="33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sp>
        <p:nvSpPr>
          <p:cNvPr id="18" name="TextBox 17">
            <a:extLst>
              <a:ext uri="{FF2B5EF4-FFF2-40B4-BE49-F238E27FC236}">
                <a16:creationId xmlns:a16="http://schemas.microsoft.com/office/drawing/2014/main" id="{791A3E35-A0B2-4225-B56C-8D405CE1807C}"/>
              </a:ext>
            </a:extLst>
          </p:cNvPr>
          <p:cNvSpPr txBox="1"/>
          <p:nvPr/>
        </p:nvSpPr>
        <p:spPr>
          <a:xfrm>
            <a:off x="304800" y="118459"/>
            <a:ext cx="5867400" cy="400110"/>
          </a:xfrm>
          <a:prstGeom prst="rect">
            <a:avLst/>
          </a:prstGeom>
          <a:noFill/>
        </p:spPr>
        <p:txBody>
          <a:bodyPr wrap="square">
            <a:spAutoFit/>
          </a:bodyPr>
          <a:lstStyle/>
          <a:p>
            <a:r>
              <a:rPr lang="en-US" altLang="en-US" sz="2000" b="1" dirty="0">
                <a:latin typeface="Arial" panose="020B0604020202020204" pitchFamily="34" charset="0"/>
                <a:cs typeface="Arial" panose="020B0604020202020204" pitchFamily="34" charset="0"/>
              </a:rPr>
              <a:t>Chemical Properties of the Elements</a:t>
            </a:r>
            <a:endParaRPr lang="en-IN" sz="2000" b="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35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35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object 343"/>
          <p:cNvSpPr txBox="1">
            <a:spLocks noGrp="1"/>
          </p:cNvSpPr>
          <p:nvPr>
            <p:ph type="title"/>
          </p:nvPr>
        </p:nvSpPr>
        <p:spPr>
          <a:xfrm>
            <a:off x="460606" y="353283"/>
            <a:ext cx="8149994" cy="1436431"/>
          </a:xfrm>
          <a:prstGeom prst="rect">
            <a:avLst/>
          </a:prstGeom>
        </p:spPr>
        <p:txBody>
          <a:bodyPr vert="horz" wrap="square" lIns="0" tIns="37540" rIns="0" bIns="0" rtlCol="0">
            <a:spAutoFit/>
          </a:bodyPr>
          <a:lstStyle/>
          <a:p>
            <a:pPr marL="77325" marR="157451" algn="ctr">
              <a:lnSpc>
                <a:spcPts val="1659"/>
              </a:lnSpc>
              <a:spcBef>
                <a:spcPts val="296"/>
              </a:spcBef>
            </a:pPr>
            <a:r>
              <a:rPr spc="-9" dirty="0">
                <a:solidFill>
                  <a:schemeClr val="tx1"/>
                </a:solidFill>
              </a:rPr>
              <a:t>Abundance </a:t>
            </a:r>
            <a:r>
              <a:rPr dirty="0">
                <a:solidFill>
                  <a:schemeClr val="tx1"/>
                </a:solidFill>
              </a:rPr>
              <a:t>of</a:t>
            </a:r>
            <a:r>
              <a:rPr spc="26" dirty="0">
                <a:solidFill>
                  <a:schemeClr val="tx1"/>
                </a:solidFill>
              </a:rPr>
              <a:t> </a:t>
            </a:r>
            <a:r>
              <a:rPr spc="-22" dirty="0">
                <a:solidFill>
                  <a:schemeClr val="tx1"/>
                </a:solidFill>
              </a:rPr>
              <a:t>the </a:t>
            </a:r>
            <a:r>
              <a:rPr spc="-9" dirty="0">
                <a:solidFill>
                  <a:schemeClr val="tx1"/>
                </a:solidFill>
              </a:rPr>
              <a:t>Elements</a:t>
            </a:r>
          </a:p>
          <a:p>
            <a:pPr marL="11206" marR="4483">
              <a:lnSpc>
                <a:spcPct val="113900"/>
              </a:lnSpc>
              <a:spcBef>
                <a:spcPts val="202"/>
              </a:spcBef>
            </a:pPr>
            <a:br>
              <a:rPr lang="en-IN" sz="750" b="0" dirty="0">
                <a:solidFill>
                  <a:schemeClr val="tx1"/>
                </a:solidFill>
                <a:latin typeface="Arial MT"/>
                <a:cs typeface="Arial MT"/>
              </a:rPr>
            </a:br>
            <a:br>
              <a:rPr lang="en-US" sz="2000" b="0" dirty="0">
                <a:solidFill>
                  <a:schemeClr val="tx1"/>
                </a:solidFill>
                <a:latin typeface="Arial" panose="020B0604020202020204" pitchFamily="34" charset="0"/>
                <a:cs typeface="Arial" panose="020B0604020202020204" pitchFamily="34" charset="0"/>
              </a:rPr>
            </a:br>
            <a:r>
              <a:rPr lang="en-US" sz="2000" b="0" dirty="0">
                <a:solidFill>
                  <a:schemeClr val="tx1"/>
                </a:solidFill>
                <a:latin typeface="Arial" panose="020B0604020202020204" pitchFamily="34" charset="0"/>
                <a:cs typeface="Arial" panose="020B0604020202020204" pitchFamily="34" charset="0"/>
              </a:rPr>
              <a:t>The</a:t>
            </a:r>
            <a:r>
              <a:rPr lang="en-US" sz="2000" b="0" spc="13"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diagram</a:t>
            </a:r>
            <a:r>
              <a:rPr lang="en-US" sz="2000" b="0" spc="22"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below</a:t>
            </a:r>
            <a:r>
              <a:rPr lang="en-US" sz="2000" b="0" spc="18" dirty="0">
                <a:solidFill>
                  <a:schemeClr val="tx1"/>
                </a:solidFill>
                <a:latin typeface="Arial" panose="020B0604020202020204" pitchFamily="34" charset="0"/>
                <a:cs typeface="Arial" panose="020B0604020202020204" pitchFamily="34" charset="0"/>
              </a:rPr>
              <a:t> </a:t>
            </a:r>
            <a:r>
              <a:rPr lang="en-US" sz="2000" b="0" spc="-18" dirty="0">
                <a:solidFill>
                  <a:schemeClr val="tx1"/>
                </a:solidFill>
                <a:latin typeface="Arial" panose="020B0604020202020204" pitchFamily="34" charset="0"/>
                <a:cs typeface="Arial" panose="020B0604020202020204" pitchFamily="34" charset="0"/>
              </a:rPr>
              <a:t>shows</a:t>
            </a:r>
            <a:r>
              <a:rPr lang="en-US" sz="2000" b="0" spc="441"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the</a:t>
            </a:r>
            <a:r>
              <a:rPr lang="en-US" sz="2000" b="0" spc="-4"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relative</a:t>
            </a:r>
            <a:r>
              <a:rPr lang="en-US" sz="2000" b="0" spc="31"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abundance</a:t>
            </a:r>
            <a:r>
              <a:rPr lang="en-US" sz="2000" b="0" spc="26"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of</a:t>
            </a:r>
            <a:r>
              <a:rPr lang="en-US" sz="2000" b="0" spc="-4" dirty="0">
                <a:solidFill>
                  <a:schemeClr val="tx1"/>
                </a:solidFill>
                <a:latin typeface="Arial" panose="020B0604020202020204" pitchFamily="34" charset="0"/>
                <a:cs typeface="Arial" panose="020B0604020202020204" pitchFamily="34" charset="0"/>
              </a:rPr>
              <a:t> </a:t>
            </a:r>
            <a:r>
              <a:rPr lang="en-US" sz="2000" b="0" spc="-22" dirty="0">
                <a:solidFill>
                  <a:schemeClr val="tx1"/>
                </a:solidFill>
                <a:latin typeface="Arial" panose="020B0604020202020204" pitchFamily="34" charset="0"/>
                <a:cs typeface="Arial" panose="020B0604020202020204" pitchFamily="34" charset="0"/>
              </a:rPr>
              <a:t>the </a:t>
            </a:r>
            <a:r>
              <a:rPr lang="en-US" sz="2000" b="0" dirty="0">
                <a:solidFill>
                  <a:schemeClr val="tx1"/>
                </a:solidFill>
                <a:latin typeface="Arial" panose="020B0604020202020204" pitchFamily="34" charset="0"/>
                <a:cs typeface="Arial" panose="020B0604020202020204" pitchFamily="34" charset="0"/>
              </a:rPr>
              <a:t>elements</a:t>
            </a:r>
            <a:r>
              <a:rPr lang="en-US" sz="2000" b="0" spc="13"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in the</a:t>
            </a:r>
            <a:r>
              <a:rPr lang="en-US" sz="2000" b="0" spc="31"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cosmos</a:t>
            </a:r>
            <a:r>
              <a:rPr lang="en-US" sz="2000" b="0" spc="18" dirty="0">
                <a:solidFill>
                  <a:schemeClr val="tx1"/>
                </a:solidFill>
                <a:latin typeface="Arial" panose="020B0604020202020204" pitchFamily="34" charset="0"/>
                <a:cs typeface="Arial" panose="020B0604020202020204" pitchFamily="34" charset="0"/>
              </a:rPr>
              <a:t> </a:t>
            </a:r>
            <a:r>
              <a:rPr lang="en-US" sz="2000" b="0" spc="-22" dirty="0">
                <a:solidFill>
                  <a:schemeClr val="tx1"/>
                </a:solidFill>
                <a:latin typeface="Arial" panose="020B0604020202020204" pitchFamily="34" charset="0"/>
                <a:cs typeface="Arial" panose="020B0604020202020204" pitchFamily="34" charset="0"/>
              </a:rPr>
              <a:t>and</a:t>
            </a:r>
            <a:r>
              <a:rPr lang="en-US" sz="2000" b="0" spc="441"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in</a:t>
            </a:r>
            <a:r>
              <a:rPr lang="en-US" sz="2000" b="0" spc="4"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Earth’s</a:t>
            </a:r>
            <a:r>
              <a:rPr lang="en-US" sz="2000" b="0" spc="18" dirty="0">
                <a:solidFill>
                  <a:schemeClr val="tx1"/>
                </a:solidFill>
                <a:latin typeface="Arial" panose="020B0604020202020204" pitchFamily="34" charset="0"/>
                <a:cs typeface="Arial" panose="020B0604020202020204" pitchFamily="34" charset="0"/>
              </a:rPr>
              <a:t> </a:t>
            </a:r>
            <a:r>
              <a:rPr lang="en-US" sz="2000" b="0" dirty="0">
                <a:solidFill>
                  <a:schemeClr val="tx1"/>
                </a:solidFill>
                <a:latin typeface="Arial" panose="020B0604020202020204" pitchFamily="34" charset="0"/>
                <a:cs typeface="Arial" panose="020B0604020202020204" pitchFamily="34" charset="0"/>
              </a:rPr>
              <a:t>crust.</a:t>
            </a:r>
            <a:r>
              <a:rPr lang="en-US" sz="2000" b="0" spc="251" dirty="0">
                <a:solidFill>
                  <a:schemeClr val="tx1"/>
                </a:solidFill>
                <a:latin typeface="Arial" panose="020B0604020202020204" pitchFamily="34" charset="0"/>
                <a:cs typeface="Arial" panose="020B0604020202020204" pitchFamily="34" charset="0"/>
              </a:rPr>
              <a:t> </a:t>
            </a:r>
            <a:endParaRPr sz="2000" dirty="0">
              <a:solidFill>
                <a:schemeClr val="tx1"/>
              </a:solidFill>
              <a:latin typeface="Arial" panose="020B0604020202020204" pitchFamily="34" charset="0"/>
              <a:cs typeface="Arial" panose="020B0604020202020204" pitchFamily="34" charset="0"/>
            </a:endParaRPr>
          </a:p>
        </p:txBody>
      </p:sp>
      <p:grpSp>
        <p:nvGrpSpPr>
          <p:cNvPr id="408" name="Group 407">
            <a:extLst>
              <a:ext uri="{FF2B5EF4-FFF2-40B4-BE49-F238E27FC236}">
                <a16:creationId xmlns:a16="http://schemas.microsoft.com/office/drawing/2014/main" id="{DC19FFCB-9A8D-4A2E-8229-2D12A9ED7284}"/>
              </a:ext>
            </a:extLst>
          </p:cNvPr>
          <p:cNvGrpSpPr/>
          <p:nvPr/>
        </p:nvGrpSpPr>
        <p:grpSpPr>
          <a:xfrm>
            <a:off x="468488" y="1981200"/>
            <a:ext cx="8142111" cy="4271601"/>
            <a:chOff x="1064255" y="3106654"/>
            <a:chExt cx="7817191" cy="4063908"/>
          </a:xfrm>
        </p:grpSpPr>
        <p:sp>
          <p:nvSpPr>
            <p:cNvPr id="2" name="object 2"/>
            <p:cNvSpPr txBox="1"/>
            <p:nvPr/>
          </p:nvSpPr>
          <p:spPr>
            <a:xfrm>
              <a:off x="1252708" y="3119749"/>
              <a:ext cx="210820" cy="2351764"/>
            </a:xfrm>
            <a:prstGeom prst="rect">
              <a:avLst/>
            </a:prstGeom>
          </p:spPr>
          <p:txBody>
            <a:bodyPr vert="horz" wrap="square" lIns="0" tIns="20731" rIns="0" bIns="0" rtlCol="0">
              <a:spAutoFit/>
            </a:bodyPr>
            <a:lstStyle/>
            <a:p>
              <a:pPr marL="11206">
                <a:spcBef>
                  <a:spcPts val="163"/>
                </a:spcBef>
              </a:pPr>
              <a:r>
                <a:rPr sz="1015" spc="-22" dirty="0">
                  <a:latin typeface="Arial MT"/>
                  <a:cs typeface="Arial MT"/>
                </a:rPr>
                <a:t>10</a:t>
              </a:r>
              <a:endParaRPr sz="1015">
                <a:latin typeface="Arial MT"/>
                <a:cs typeface="Arial MT"/>
              </a:endParaRPr>
            </a:p>
            <a:p>
              <a:pPr marL="99738">
                <a:lnSpc>
                  <a:spcPts val="1187"/>
                </a:lnSpc>
                <a:spcBef>
                  <a:spcPts val="75"/>
                </a:spcBef>
              </a:pPr>
              <a:r>
                <a:rPr sz="1015" spc="-44" dirty="0">
                  <a:latin typeface="Arial MT"/>
                  <a:cs typeface="Arial MT"/>
                </a:rPr>
                <a:t>9</a:t>
              </a:r>
              <a:endParaRPr sz="1015">
                <a:latin typeface="Arial MT"/>
                <a:cs typeface="Arial MT"/>
              </a:endParaRPr>
            </a:p>
            <a:p>
              <a:pPr marL="101419">
                <a:lnSpc>
                  <a:spcPts val="1187"/>
                </a:lnSpc>
              </a:pPr>
              <a:r>
                <a:rPr sz="1015" spc="-44" dirty="0">
                  <a:latin typeface="Arial MT"/>
                  <a:cs typeface="Arial MT"/>
                </a:rPr>
                <a:t>8</a:t>
              </a:r>
              <a:endParaRPr sz="1015">
                <a:latin typeface="Arial MT"/>
                <a:cs typeface="Arial MT"/>
              </a:endParaRPr>
            </a:p>
            <a:p>
              <a:pPr marL="103099">
                <a:lnSpc>
                  <a:spcPts val="1187"/>
                </a:lnSpc>
                <a:spcBef>
                  <a:spcPts val="62"/>
                </a:spcBef>
              </a:pPr>
              <a:r>
                <a:rPr sz="1015" spc="-44" dirty="0">
                  <a:latin typeface="Arial MT"/>
                  <a:cs typeface="Arial MT"/>
                </a:rPr>
                <a:t>7</a:t>
              </a:r>
              <a:endParaRPr sz="1015">
                <a:latin typeface="Arial MT"/>
                <a:cs typeface="Arial MT"/>
              </a:endParaRPr>
            </a:p>
            <a:p>
              <a:pPr marL="100858">
                <a:lnSpc>
                  <a:spcPts val="1152"/>
                </a:lnSpc>
              </a:pPr>
              <a:r>
                <a:rPr sz="1015" spc="-44" dirty="0">
                  <a:latin typeface="Arial MT"/>
                  <a:cs typeface="Arial MT"/>
                </a:rPr>
                <a:t>6</a:t>
              </a:r>
              <a:endParaRPr sz="1015">
                <a:latin typeface="Arial MT"/>
                <a:cs typeface="Arial MT"/>
              </a:endParaRPr>
            </a:p>
            <a:p>
              <a:pPr marL="103099">
                <a:lnSpc>
                  <a:spcPts val="1187"/>
                </a:lnSpc>
              </a:pPr>
              <a:r>
                <a:rPr sz="1015" spc="-44" dirty="0">
                  <a:latin typeface="Arial MT"/>
                  <a:cs typeface="Arial MT"/>
                </a:rPr>
                <a:t>5</a:t>
              </a:r>
              <a:endParaRPr sz="1015">
                <a:latin typeface="Arial MT"/>
                <a:cs typeface="Arial MT"/>
              </a:endParaRPr>
            </a:p>
            <a:p>
              <a:pPr marL="100297">
                <a:lnSpc>
                  <a:spcPts val="1187"/>
                </a:lnSpc>
                <a:spcBef>
                  <a:spcPts val="62"/>
                </a:spcBef>
              </a:pPr>
              <a:r>
                <a:rPr sz="1015" spc="-44" dirty="0">
                  <a:latin typeface="Arial MT"/>
                  <a:cs typeface="Arial MT"/>
                </a:rPr>
                <a:t>4</a:t>
              </a:r>
              <a:endParaRPr sz="1015">
                <a:latin typeface="Arial MT"/>
                <a:cs typeface="Arial MT"/>
              </a:endParaRPr>
            </a:p>
            <a:p>
              <a:pPr marL="102539">
                <a:lnSpc>
                  <a:spcPts val="1152"/>
                </a:lnSpc>
              </a:pPr>
              <a:r>
                <a:rPr sz="1015" spc="-44" dirty="0">
                  <a:latin typeface="Arial MT"/>
                  <a:cs typeface="Arial MT"/>
                </a:rPr>
                <a:t>3</a:t>
              </a:r>
              <a:endParaRPr sz="1015">
                <a:latin typeface="Arial MT"/>
                <a:cs typeface="Arial MT"/>
              </a:endParaRPr>
            </a:p>
            <a:p>
              <a:pPr marL="100297">
                <a:lnSpc>
                  <a:spcPts val="1187"/>
                </a:lnSpc>
              </a:pPr>
              <a:r>
                <a:rPr sz="1015" spc="-44" dirty="0">
                  <a:latin typeface="Arial MT"/>
                  <a:cs typeface="Arial MT"/>
                </a:rPr>
                <a:t>2</a:t>
              </a:r>
              <a:endParaRPr sz="1015">
                <a:latin typeface="Arial MT"/>
                <a:cs typeface="Arial MT"/>
              </a:endParaRPr>
            </a:p>
            <a:p>
              <a:pPr marL="101419">
                <a:lnSpc>
                  <a:spcPts val="1187"/>
                </a:lnSpc>
                <a:spcBef>
                  <a:spcPts val="62"/>
                </a:spcBef>
              </a:pPr>
              <a:r>
                <a:rPr sz="1015" spc="-44" dirty="0">
                  <a:latin typeface="Arial MT"/>
                  <a:cs typeface="Arial MT"/>
                </a:rPr>
                <a:t>1</a:t>
              </a:r>
              <a:endParaRPr sz="1015">
                <a:latin typeface="Arial MT"/>
                <a:cs typeface="Arial MT"/>
              </a:endParaRPr>
            </a:p>
            <a:p>
              <a:pPr marL="99738">
                <a:lnSpc>
                  <a:spcPts val="1187"/>
                </a:lnSpc>
              </a:pPr>
              <a:r>
                <a:rPr sz="1015" spc="-44" dirty="0">
                  <a:latin typeface="Arial MT"/>
                  <a:cs typeface="Arial MT"/>
                </a:rPr>
                <a:t>0</a:t>
              </a:r>
              <a:endParaRPr sz="1015">
                <a:latin typeface="Arial MT"/>
                <a:cs typeface="Arial MT"/>
              </a:endParaRPr>
            </a:p>
            <a:p>
              <a:pPr marL="43705">
                <a:lnSpc>
                  <a:spcPts val="1187"/>
                </a:lnSpc>
                <a:spcBef>
                  <a:spcPts val="40"/>
                </a:spcBef>
              </a:pPr>
              <a:r>
                <a:rPr sz="1015" spc="-9" dirty="0">
                  <a:latin typeface="Arial MT"/>
                  <a:cs typeface="Arial MT"/>
                </a:rPr>
                <a:t>-</a:t>
              </a:r>
              <a:r>
                <a:rPr sz="1015" spc="-44" dirty="0">
                  <a:latin typeface="Arial MT"/>
                  <a:cs typeface="Arial MT"/>
                </a:rPr>
                <a:t>1</a:t>
              </a:r>
              <a:endParaRPr sz="1015">
                <a:latin typeface="Arial MT"/>
                <a:cs typeface="Arial MT"/>
              </a:endParaRPr>
            </a:p>
            <a:p>
              <a:pPr marL="41464">
                <a:lnSpc>
                  <a:spcPts val="1187"/>
                </a:lnSpc>
              </a:pPr>
              <a:r>
                <a:rPr sz="1015" spc="-9" dirty="0">
                  <a:latin typeface="Arial MT"/>
                  <a:cs typeface="Arial MT"/>
                </a:rPr>
                <a:t>-</a:t>
              </a:r>
              <a:r>
                <a:rPr sz="1015" spc="-44" dirty="0">
                  <a:latin typeface="Arial MT"/>
                  <a:cs typeface="Arial MT"/>
                </a:rPr>
                <a:t>2</a:t>
              </a:r>
              <a:endParaRPr sz="1015">
                <a:latin typeface="Arial MT"/>
                <a:cs typeface="Arial MT"/>
              </a:endParaRPr>
            </a:p>
          </p:txBody>
        </p:sp>
        <p:sp>
          <p:nvSpPr>
            <p:cNvPr id="3" name="object 3"/>
            <p:cNvSpPr/>
            <p:nvPr/>
          </p:nvSpPr>
          <p:spPr>
            <a:xfrm>
              <a:off x="1480591" y="3160026"/>
              <a:ext cx="80010" cy="2161540"/>
            </a:xfrm>
            <a:custGeom>
              <a:avLst/>
              <a:gdLst/>
              <a:ahLst/>
              <a:cxnLst/>
              <a:rect l="l" t="t" r="r" b="b"/>
              <a:pathLst>
                <a:path w="80009" h="2161540">
                  <a:moveTo>
                    <a:pt x="79730" y="2159063"/>
                  </a:moveTo>
                  <a:lnTo>
                    <a:pt x="0" y="2159063"/>
                  </a:lnTo>
                </a:path>
                <a:path w="80009" h="2161540">
                  <a:moveTo>
                    <a:pt x="79730" y="2066251"/>
                  </a:moveTo>
                  <a:lnTo>
                    <a:pt x="39776" y="2066251"/>
                  </a:lnTo>
                </a:path>
                <a:path w="80009" h="2161540">
                  <a:moveTo>
                    <a:pt x="79730" y="1991118"/>
                  </a:moveTo>
                  <a:lnTo>
                    <a:pt x="0" y="1991118"/>
                  </a:lnTo>
                </a:path>
                <a:path w="80009" h="2161540">
                  <a:moveTo>
                    <a:pt x="79730" y="1898307"/>
                  </a:moveTo>
                  <a:lnTo>
                    <a:pt x="39776" y="1898307"/>
                  </a:lnTo>
                </a:path>
                <a:path w="80009" h="2161540">
                  <a:moveTo>
                    <a:pt x="79730" y="1809915"/>
                  </a:moveTo>
                  <a:lnTo>
                    <a:pt x="0" y="1809915"/>
                  </a:lnTo>
                </a:path>
                <a:path w="80009" h="2161540">
                  <a:moveTo>
                    <a:pt x="79730" y="1734781"/>
                  </a:moveTo>
                  <a:lnTo>
                    <a:pt x="39776" y="1734781"/>
                  </a:lnTo>
                </a:path>
                <a:path w="80009" h="2161540">
                  <a:moveTo>
                    <a:pt x="79730" y="1641970"/>
                  </a:moveTo>
                  <a:lnTo>
                    <a:pt x="0" y="1641970"/>
                  </a:lnTo>
                </a:path>
                <a:path w="80009" h="2161540">
                  <a:moveTo>
                    <a:pt x="79730" y="1549158"/>
                  </a:moveTo>
                  <a:lnTo>
                    <a:pt x="39776" y="1549158"/>
                  </a:lnTo>
                </a:path>
                <a:path w="80009" h="2161540">
                  <a:moveTo>
                    <a:pt x="79730" y="1456347"/>
                  </a:moveTo>
                  <a:lnTo>
                    <a:pt x="0" y="1456347"/>
                  </a:lnTo>
                </a:path>
                <a:path w="80009" h="2161540">
                  <a:moveTo>
                    <a:pt x="79730" y="1385633"/>
                  </a:moveTo>
                  <a:lnTo>
                    <a:pt x="39776" y="1385633"/>
                  </a:lnTo>
                </a:path>
                <a:path w="80009" h="2161540">
                  <a:moveTo>
                    <a:pt x="79730" y="1292821"/>
                  </a:moveTo>
                  <a:lnTo>
                    <a:pt x="0" y="1292821"/>
                  </a:lnTo>
                </a:path>
                <a:path w="80009" h="2161540">
                  <a:moveTo>
                    <a:pt x="79730" y="1200010"/>
                  </a:moveTo>
                  <a:lnTo>
                    <a:pt x="39776" y="1200010"/>
                  </a:lnTo>
                </a:path>
                <a:path w="80009" h="2161540">
                  <a:moveTo>
                    <a:pt x="79730" y="1124877"/>
                  </a:moveTo>
                  <a:lnTo>
                    <a:pt x="0" y="1124877"/>
                  </a:lnTo>
                </a:path>
                <a:path w="80009" h="2161540">
                  <a:moveTo>
                    <a:pt x="79730" y="1036485"/>
                  </a:moveTo>
                  <a:lnTo>
                    <a:pt x="39776" y="1036485"/>
                  </a:lnTo>
                </a:path>
                <a:path w="80009" h="2161540">
                  <a:moveTo>
                    <a:pt x="79730" y="943673"/>
                  </a:moveTo>
                  <a:lnTo>
                    <a:pt x="0" y="943673"/>
                  </a:lnTo>
                </a:path>
                <a:path w="80009" h="2161540">
                  <a:moveTo>
                    <a:pt x="79730" y="868540"/>
                  </a:moveTo>
                  <a:lnTo>
                    <a:pt x="39776" y="868540"/>
                  </a:lnTo>
                </a:path>
                <a:path w="80009" h="2161540">
                  <a:moveTo>
                    <a:pt x="79730" y="775728"/>
                  </a:moveTo>
                  <a:lnTo>
                    <a:pt x="0" y="775728"/>
                  </a:lnTo>
                </a:path>
                <a:path w="80009" h="2161540">
                  <a:moveTo>
                    <a:pt x="79730" y="682917"/>
                  </a:moveTo>
                  <a:lnTo>
                    <a:pt x="39776" y="682917"/>
                  </a:lnTo>
                </a:path>
                <a:path w="80009" h="2161540">
                  <a:moveTo>
                    <a:pt x="79730" y="612203"/>
                  </a:moveTo>
                  <a:lnTo>
                    <a:pt x="0" y="612203"/>
                  </a:lnTo>
                </a:path>
                <a:path w="80009" h="2161540">
                  <a:moveTo>
                    <a:pt x="79730" y="519391"/>
                  </a:moveTo>
                  <a:lnTo>
                    <a:pt x="39776" y="519391"/>
                  </a:lnTo>
                </a:path>
                <a:path w="80009" h="2161540">
                  <a:moveTo>
                    <a:pt x="79730" y="426580"/>
                  </a:moveTo>
                  <a:lnTo>
                    <a:pt x="0" y="426580"/>
                  </a:lnTo>
                </a:path>
                <a:path w="80009" h="2161540">
                  <a:moveTo>
                    <a:pt x="79730" y="333768"/>
                  </a:moveTo>
                  <a:lnTo>
                    <a:pt x="39776" y="333768"/>
                  </a:lnTo>
                </a:path>
                <a:path w="80009" h="2161540">
                  <a:moveTo>
                    <a:pt x="79730" y="263055"/>
                  </a:moveTo>
                  <a:lnTo>
                    <a:pt x="0" y="263055"/>
                  </a:lnTo>
                </a:path>
                <a:path w="80009" h="2161540">
                  <a:moveTo>
                    <a:pt x="79730" y="170243"/>
                  </a:moveTo>
                  <a:lnTo>
                    <a:pt x="39776" y="170243"/>
                  </a:lnTo>
                </a:path>
                <a:path w="80009" h="2161540">
                  <a:moveTo>
                    <a:pt x="79730" y="77431"/>
                  </a:moveTo>
                  <a:lnTo>
                    <a:pt x="0" y="77431"/>
                  </a:lnTo>
                </a:path>
                <a:path w="80009" h="2161540">
                  <a:moveTo>
                    <a:pt x="79730" y="2298"/>
                  </a:moveTo>
                  <a:lnTo>
                    <a:pt x="39776" y="2298"/>
                  </a:lnTo>
                </a:path>
                <a:path w="80009" h="2161540">
                  <a:moveTo>
                    <a:pt x="77431" y="0"/>
                  </a:moveTo>
                  <a:lnTo>
                    <a:pt x="77431" y="2161362"/>
                  </a:lnTo>
                </a:path>
              </a:pathLst>
            </a:custGeom>
            <a:ln w="4597">
              <a:solidFill>
                <a:srgbClr val="000000"/>
              </a:solidFill>
            </a:ln>
          </p:spPr>
          <p:txBody>
            <a:bodyPr wrap="square" lIns="0" tIns="0" rIns="0" bIns="0" rtlCol="0"/>
            <a:lstStyle/>
            <a:p>
              <a:endParaRPr/>
            </a:p>
          </p:txBody>
        </p:sp>
        <p:grpSp>
          <p:nvGrpSpPr>
            <p:cNvPr id="4" name="object 4"/>
            <p:cNvGrpSpPr/>
            <p:nvPr/>
          </p:nvGrpSpPr>
          <p:grpSpPr>
            <a:xfrm>
              <a:off x="1553184" y="3159937"/>
              <a:ext cx="7116445" cy="3242945"/>
              <a:chOff x="1553184" y="3159937"/>
              <a:chExt cx="7116445" cy="3242945"/>
            </a:xfrm>
          </p:grpSpPr>
          <p:pic>
            <p:nvPicPr>
              <p:cNvPr id="5" name="object 5"/>
              <p:cNvPicPr/>
              <p:nvPr/>
            </p:nvPicPr>
            <p:blipFill>
              <a:blip r:embed="rId2" cstate="print"/>
              <a:stretch>
                <a:fillRect/>
              </a:stretch>
            </p:blipFill>
            <p:spPr>
              <a:xfrm>
                <a:off x="1608848" y="3159937"/>
                <a:ext cx="97320" cy="154952"/>
              </a:xfrm>
              <a:prstGeom prst="rect">
                <a:avLst/>
              </a:prstGeom>
            </p:spPr>
          </p:pic>
          <p:sp>
            <p:nvSpPr>
              <p:cNvPr id="6" name="object 6"/>
              <p:cNvSpPr/>
              <p:nvPr/>
            </p:nvSpPr>
            <p:spPr>
              <a:xfrm>
                <a:off x="1701571" y="3310293"/>
                <a:ext cx="80010" cy="1308735"/>
              </a:xfrm>
              <a:custGeom>
                <a:avLst/>
                <a:gdLst/>
                <a:ahLst/>
                <a:cxnLst/>
                <a:rect l="l" t="t" r="r" b="b"/>
                <a:pathLst>
                  <a:path w="80010" h="1308735">
                    <a:moveTo>
                      <a:pt x="79730" y="1308379"/>
                    </a:moveTo>
                    <a:lnTo>
                      <a:pt x="79730" y="1303781"/>
                    </a:lnTo>
                    <a:lnTo>
                      <a:pt x="4597" y="0"/>
                    </a:lnTo>
                    <a:lnTo>
                      <a:pt x="0" y="0"/>
                    </a:lnTo>
                    <a:lnTo>
                      <a:pt x="0" y="4597"/>
                    </a:lnTo>
                    <a:lnTo>
                      <a:pt x="75133" y="1308379"/>
                    </a:lnTo>
                    <a:lnTo>
                      <a:pt x="79730" y="1308379"/>
                    </a:lnTo>
                    <a:close/>
                  </a:path>
                </a:pathLst>
              </a:custGeom>
              <a:solidFill>
                <a:srgbClr val="000000"/>
              </a:solidFill>
            </p:spPr>
            <p:txBody>
              <a:bodyPr wrap="square" lIns="0" tIns="0" rIns="0" bIns="0" rtlCol="0"/>
              <a:lstStyle/>
              <a:p>
                <a:endParaRPr/>
              </a:p>
            </p:txBody>
          </p:sp>
          <p:sp>
            <p:nvSpPr>
              <p:cNvPr id="7" name="object 7"/>
              <p:cNvSpPr/>
              <p:nvPr/>
            </p:nvSpPr>
            <p:spPr>
              <a:xfrm>
                <a:off x="1684070" y="3288195"/>
                <a:ext cx="62230" cy="62230"/>
              </a:xfrm>
              <a:custGeom>
                <a:avLst/>
                <a:gdLst/>
                <a:ahLst/>
                <a:cxnLst/>
                <a:rect l="l" t="t" r="r" b="b"/>
                <a:pathLst>
                  <a:path w="62230"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8" name="object 8"/>
              <p:cNvSpPr/>
              <p:nvPr/>
            </p:nvSpPr>
            <p:spPr>
              <a:xfrm>
                <a:off x="1686280" y="3290404"/>
                <a:ext cx="35560" cy="40005"/>
              </a:xfrm>
              <a:custGeom>
                <a:avLst/>
                <a:gdLst/>
                <a:ahLst/>
                <a:cxnLst/>
                <a:rect l="l" t="t" r="r" b="b"/>
                <a:pathLst>
                  <a:path w="35560"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pic>
            <p:nvPicPr>
              <p:cNvPr id="9" name="object 9"/>
              <p:cNvPicPr/>
              <p:nvPr/>
            </p:nvPicPr>
            <p:blipFill>
              <a:blip r:embed="rId3" cstate="print"/>
              <a:stretch>
                <a:fillRect/>
              </a:stretch>
            </p:blipFill>
            <p:spPr>
              <a:xfrm>
                <a:off x="1759115" y="4596307"/>
                <a:ext cx="168033" cy="190131"/>
              </a:xfrm>
              <a:prstGeom prst="rect">
                <a:avLst/>
              </a:prstGeom>
            </p:spPr>
          </p:pic>
          <p:sp>
            <p:nvSpPr>
              <p:cNvPr id="10" name="object 10"/>
              <p:cNvSpPr/>
              <p:nvPr/>
            </p:nvSpPr>
            <p:spPr>
              <a:xfrm>
                <a:off x="1922551" y="3769931"/>
                <a:ext cx="80010" cy="959485"/>
              </a:xfrm>
              <a:custGeom>
                <a:avLst/>
                <a:gdLst/>
                <a:ahLst/>
                <a:cxnLst/>
                <a:rect l="l" t="t" r="r" b="b"/>
                <a:pathLst>
                  <a:path w="80010" h="959485">
                    <a:moveTo>
                      <a:pt x="79730" y="4597"/>
                    </a:moveTo>
                    <a:lnTo>
                      <a:pt x="79730" y="0"/>
                    </a:lnTo>
                    <a:lnTo>
                      <a:pt x="75133" y="0"/>
                    </a:lnTo>
                    <a:lnTo>
                      <a:pt x="0" y="954633"/>
                    </a:lnTo>
                    <a:lnTo>
                      <a:pt x="0" y="959230"/>
                    </a:lnTo>
                    <a:lnTo>
                      <a:pt x="4597" y="959230"/>
                    </a:lnTo>
                    <a:lnTo>
                      <a:pt x="79730" y="4597"/>
                    </a:lnTo>
                    <a:close/>
                  </a:path>
                </a:pathLst>
              </a:custGeom>
              <a:solidFill>
                <a:srgbClr val="000000"/>
              </a:solidFill>
            </p:spPr>
            <p:txBody>
              <a:bodyPr wrap="square" lIns="0" tIns="0" rIns="0" bIns="0" rtlCol="0"/>
              <a:lstStyle/>
              <a:p>
                <a:endParaRPr/>
              </a:p>
            </p:txBody>
          </p:sp>
          <p:sp>
            <p:nvSpPr>
              <p:cNvPr id="11" name="object 11"/>
              <p:cNvSpPr/>
              <p:nvPr/>
            </p:nvSpPr>
            <p:spPr>
              <a:xfrm>
                <a:off x="1905050" y="4706886"/>
                <a:ext cx="62230" cy="62230"/>
              </a:xfrm>
              <a:custGeom>
                <a:avLst/>
                <a:gdLst/>
                <a:ahLst/>
                <a:cxnLst/>
                <a:rect l="l" t="t" r="r" b="b"/>
                <a:pathLst>
                  <a:path w="62230"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12" name="object 12"/>
              <p:cNvSpPr/>
              <p:nvPr/>
            </p:nvSpPr>
            <p:spPr>
              <a:xfrm>
                <a:off x="1907260" y="4709096"/>
                <a:ext cx="35560" cy="40005"/>
              </a:xfrm>
              <a:custGeom>
                <a:avLst/>
                <a:gdLst/>
                <a:ahLst/>
                <a:cxnLst/>
                <a:rect l="l" t="t" r="r" b="b"/>
                <a:pathLst>
                  <a:path w="35560"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1980095" y="3694798"/>
                <a:ext cx="168033" cy="225399"/>
              </a:xfrm>
              <a:prstGeom prst="rect">
                <a:avLst/>
              </a:prstGeom>
            </p:spPr>
          </p:pic>
          <p:sp>
            <p:nvSpPr>
              <p:cNvPr id="14" name="object 14"/>
              <p:cNvSpPr/>
              <p:nvPr/>
            </p:nvSpPr>
            <p:spPr>
              <a:xfrm>
                <a:off x="2143531" y="3694798"/>
                <a:ext cx="80010" cy="742950"/>
              </a:xfrm>
              <a:custGeom>
                <a:avLst/>
                <a:gdLst/>
                <a:ahLst/>
                <a:cxnLst/>
                <a:rect l="l" t="t" r="r" b="b"/>
                <a:pathLst>
                  <a:path w="80010" h="742950">
                    <a:moveTo>
                      <a:pt x="79730" y="742670"/>
                    </a:moveTo>
                    <a:lnTo>
                      <a:pt x="79730" y="738073"/>
                    </a:lnTo>
                    <a:lnTo>
                      <a:pt x="4597" y="0"/>
                    </a:lnTo>
                    <a:lnTo>
                      <a:pt x="0" y="0"/>
                    </a:lnTo>
                    <a:lnTo>
                      <a:pt x="0" y="4597"/>
                    </a:lnTo>
                    <a:lnTo>
                      <a:pt x="75133" y="742670"/>
                    </a:lnTo>
                    <a:lnTo>
                      <a:pt x="79730" y="742670"/>
                    </a:lnTo>
                    <a:close/>
                  </a:path>
                </a:pathLst>
              </a:custGeom>
              <a:solidFill>
                <a:srgbClr val="000000"/>
              </a:solidFill>
            </p:spPr>
            <p:txBody>
              <a:bodyPr wrap="square" lIns="0" tIns="0" rIns="0" bIns="0" rtlCol="0"/>
              <a:lstStyle/>
              <a:p>
                <a:endParaRPr/>
              </a:p>
            </p:txBody>
          </p:sp>
          <p:sp>
            <p:nvSpPr>
              <p:cNvPr id="15" name="object 15"/>
              <p:cNvSpPr/>
              <p:nvPr/>
            </p:nvSpPr>
            <p:spPr>
              <a:xfrm>
                <a:off x="2126030" y="3677119"/>
                <a:ext cx="62230" cy="57785"/>
              </a:xfrm>
              <a:custGeom>
                <a:avLst/>
                <a:gdLst/>
                <a:ahLst/>
                <a:cxnLst/>
                <a:rect l="l" t="t" r="r" b="b"/>
                <a:pathLst>
                  <a:path w="62230"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16" name="object 16"/>
              <p:cNvSpPr/>
              <p:nvPr/>
            </p:nvSpPr>
            <p:spPr>
              <a:xfrm>
                <a:off x="2128240" y="3679329"/>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7" name="object 17"/>
              <p:cNvSpPr/>
              <p:nvPr/>
            </p:nvSpPr>
            <p:spPr>
              <a:xfrm>
                <a:off x="2218664" y="3933456"/>
                <a:ext cx="80010" cy="504190"/>
              </a:xfrm>
              <a:custGeom>
                <a:avLst/>
                <a:gdLst/>
                <a:ahLst/>
                <a:cxnLst/>
                <a:rect l="l" t="t" r="r" b="b"/>
                <a:pathLst>
                  <a:path w="80010" h="504189">
                    <a:moveTo>
                      <a:pt x="79730" y="4597"/>
                    </a:moveTo>
                    <a:lnTo>
                      <a:pt x="79730" y="0"/>
                    </a:lnTo>
                    <a:lnTo>
                      <a:pt x="75133" y="0"/>
                    </a:lnTo>
                    <a:lnTo>
                      <a:pt x="0" y="499414"/>
                    </a:lnTo>
                    <a:lnTo>
                      <a:pt x="0" y="504012"/>
                    </a:lnTo>
                    <a:lnTo>
                      <a:pt x="4597" y="504012"/>
                    </a:lnTo>
                    <a:lnTo>
                      <a:pt x="79730" y="4597"/>
                    </a:lnTo>
                    <a:close/>
                  </a:path>
                </a:pathLst>
              </a:custGeom>
              <a:solidFill>
                <a:srgbClr val="000000"/>
              </a:solidFill>
            </p:spPr>
            <p:txBody>
              <a:bodyPr wrap="square" lIns="0" tIns="0" rIns="0" bIns="0" rtlCol="0"/>
              <a:lstStyle/>
              <a:p>
                <a:endParaRPr/>
              </a:p>
            </p:txBody>
          </p:sp>
          <p:sp>
            <p:nvSpPr>
              <p:cNvPr id="18" name="object 18"/>
              <p:cNvSpPr/>
              <p:nvPr/>
            </p:nvSpPr>
            <p:spPr>
              <a:xfrm>
                <a:off x="2201163" y="4415193"/>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9" name="object 19"/>
              <p:cNvSpPr/>
              <p:nvPr/>
            </p:nvSpPr>
            <p:spPr>
              <a:xfrm>
                <a:off x="2203373" y="4417402"/>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pic>
            <p:nvPicPr>
              <p:cNvPr id="20" name="object 20"/>
              <p:cNvPicPr/>
              <p:nvPr/>
            </p:nvPicPr>
            <p:blipFill>
              <a:blip r:embed="rId5" cstate="print"/>
              <a:stretch>
                <a:fillRect/>
              </a:stretch>
            </p:blipFill>
            <p:spPr>
              <a:xfrm>
                <a:off x="2271788" y="3915689"/>
                <a:ext cx="318300" cy="282943"/>
              </a:xfrm>
              <a:prstGeom prst="rect">
                <a:avLst/>
              </a:prstGeom>
            </p:spPr>
          </p:pic>
          <p:sp>
            <p:nvSpPr>
              <p:cNvPr id="21" name="object 21"/>
              <p:cNvSpPr/>
              <p:nvPr/>
            </p:nvSpPr>
            <p:spPr>
              <a:xfrm>
                <a:off x="2585491" y="3933456"/>
                <a:ext cx="80010" cy="354330"/>
              </a:xfrm>
              <a:custGeom>
                <a:avLst/>
                <a:gdLst/>
                <a:ahLst/>
                <a:cxnLst/>
                <a:rect l="l" t="t" r="r" b="b"/>
                <a:pathLst>
                  <a:path w="80010" h="354329">
                    <a:moveTo>
                      <a:pt x="79730" y="353745"/>
                    </a:moveTo>
                    <a:lnTo>
                      <a:pt x="79730" y="349148"/>
                    </a:lnTo>
                    <a:lnTo>
                      <a:pt x="4597" y="0"/>
                    </a:lnTo>
                    <a:lnTo>
                      <a:pt x="0" y="0"/>
                    </a:lnTo>
                    <a:lnTo>
                      <a:pt x="0" y="4597"/>
                    </a:lnTo>
                    <a:lnTo>
                      <a:pt x="75133" y="353745"/>
                    </a:lnTo>
                    <a:lnTo>
                      <a:pt x="79730" y="353745"/>
                    </a:lnTo>
                    <a:close/>
                  </a:path>
                </a:pathLst>
              </a:custGeom>
              <a:solidFill>
                <a:srgbClr val="000000"/>
              </a:solidFill>
            </p:spPr>
            <p:txBody>
              <a:bodyPr wrap="square" lIns="0" tIns="0" rIns="0" bIns="0" rtlCol="0"/>
              <a:lstStyle/>
              <a:p>
                <a:endParaRPr/>
              </a:p>
            </p:txBody>
          </p:sp>
          <p:sp>
            <p:nvSpPr>
              <p:cNvPr id="22" name="object 22"/>
              <p:cNvSpPr/>
              <p:nvPr/>
            </p:nvSpPr>
            <p:spPr>
              <a:xfrm>
                <a:off x="2567990" y="3915778"/>
                <a:ext cx="62230" cy="62230"/>
              </a:xfrm>
              <a:custGeom>
                <a:avLst/>
                <a:gdLst/>
                <a:ahLst/>
                <a:cxnLst/>
                <a:rect l="l" t="t" r="r" b="b"/>
                <a:pathLst>
                  <a:path w="62230"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23" name="object 23"/>
              <p:cNvSpPr/>
              <p:nvPr/>
            </p:nvSpPr>
            <p:spPr>
              <a:xfrm>
                <a:off x="2570200" y="3917988"/>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24" name="object 24"/>
              <p:cNvSpPr/>
              <p:nvPr/>
            </p:nvSpPr>
            <p:spPr>
              <a:xfrm>
                <a:off x="2660624" y="4008589"/>
                <a:ext cx="80010" cy="278765"/>
              </a:xfrm>
              <a:custGeom>
                <a:avLst/>
                <a:gdLst/>
                <a:ahLst/>
                <a:cxnLst/>
                <a:rect l="l" t="t" r="r" b="b"/>
                <a:pathLst>
                  <a:path w="80010" h="278764">
                    <a:moveTo>
                      <a:pt x="79730" y="4597"/>
                    </a:moveTo>
                    <a:lnTo>
                      <a:pt x="79730" y="0"/>
                    </a:lnTo>
                    <a:lnTo>
                      <a:pt x="75133" y="0"/>
                    </a:lnTo>
                    <a:lnTo>
                      <a:pt x="0" y="274015"/>
                    </a:lnTo>
                    <a:lnTo>
                      <a:pt x="0" y="278612"/>
                    </a:lnTo>
                    <a:lnTo>
                      <a:pt x="4597" y="278612"/>
                    </a:lnTo>
                    <a:lnTo>
                      <a:pt x="79730" y="4597"/>
                    </a:lnTo>
                    <a:close/>
                  </a:path>
                </a:pathLst>
              </a:custGeom>
              <a:solidFill>
                <a:srgbClr val="000000"/>
              </a:solidFill>
            </p:spPr>
            <p:txBody>
              <a:bodyPr wrap="square" lIns="0" tIns="0" rIns="0" bIns="0" rtlCol="0"/>
              <a:lstStyle/>
              <a:p>
                <a:endParaRPr/>
              </a:p>
            </p:txBody>
          </p:sp>
          <p:sp>
            <p:nvSpPr>
              <p:cNvPr id="25" name="object 25"/>
              <p:cNvSpPr/>
              <p:nvPr/>
            </p:nvSpPr>
            <p:spPr>
              <a:xfrm>
                <a:off x="2643123" y="4264926"/>
                <a:ext cx="57785" cy="62230"/>
              </a:xfrm>
              <a:custGeom>
                <a:avLst/>
                <a:gdLst/>
                <a:ahLst/>
                <a:cxnLst/>
                <a:rect l="l" t="t" r="r" b="b"/>
                <a:pathLst>
                  <a:path w="57785"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26" name="object 26"/>
              <p:cNvSpPr/>
              <p:nvPr/>
            </p:nvSpPr>
            <p:spPr>
              <a:xfrm>
                <a:off x="2645333" y="4267136"/>
                <a:ext cx="35560" cy="40005"/>
              </a:xfrm>
              <a:custGeom>
                <a:avLst/>
                <a:gdLst/>
                <a:ahLst/>
                <a:cxnLst/>
                <a:rect l="l" t="t" r="r" b="b"/>
                <a:pathLst>
                  <a:path w="35560"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sp>
            <p:nvSpPr>
              <p:cNvPr id="27" name="object 27"/>
              <p:cNvSpPr/>
              <p:nvPr/>
            </p:nvSpPr>
            <p:spPr>
              <a:xfrm>
                <a:off x="2735757" y="4008589"/>
                <a:ext cx="75565" cy="371475"/>
              </a:xfrm>
              <a:custGeom>
                <a:avLst/>
                <a:gdLst/>
                <a:ahLst/>
                <a:cxnLst/>
                <a:rect l="l" t="t" r="r" b="b"/>
                <a:pathLst>
                  <a:path w="75564" h="371475">
                    <a:moveTo>
                      <a:pt x="75311" y="371424"/>
                    </a:moveTo>
                    <a:lnTo>
                      <a:pt x="75311" y="366826"/>
                    </a:lnTo>
                    <a:lnTo>
                      <a:pt x="4597" y="0"/>
                    </a:lnTo>
                    <a:lnTo>
                      <a:pt x="0" y="0"/>
                    </a:lnTo>
                    <a:lnTo>
                      <a:pt x="0" y="4597"/>
                    </a:lnTo>
                    <a:lnTo>
                      <a:pt x="70713" y="371424"/>
                    </a:lnTo>
                    <a:lnTo>
                      <a:pt x="75311" y="371424"/>
                    </a:lnTo>
                    <a:close/>
                  </a:path>
                </a:pathLst>
              </a:custGeom>
              <a:solidFill>
                <a:srgbClr val="000000"/>
              </a:solidFill>
            </p:spPr>
            <p:txBody>
              <a:bodyPr wrap="square" lIns="0" tIns="0" rIns="0" bIns="0" rtlCol="0"/>
              <a:lstStyle/>
              <a:p>
                <a:endParaRPr/>
              </a:p>
            </p:txBody>
          </p:sp>
          <p:sp>
            <p:nvSpPr>
              <p:cNvPr id="28" name="object 28"/>
              <p:cNvSpPr/>
              <p:nvPr/>
            </p:nvSpPr>
            <p:spPr>
              <a:xfrm>
                <a:off x="2713837" y="3990911"/>
                <a:ext cx="62230" cy="57785"/>
              </a:xfrm>
              <a:custGeom>
                <a:avLst/>
                <a:gdLst/>
                <a:ahLst/>
                <a:cxnLst/>
                <a:rect l="l" t="t" r="r" b="b"/>
                <a:pathLst>
                  <a:path w="62230"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29" name="object 29"/>
              <p:cNvSpPr/>
              <p:nvPr/>
            </p:nvSpPr>
            <p:spPr>
              <a:xfrm>
                <a:off x="2716047" y="3993121"/>
                <a:ext cx="40005" cy="35560"/>
              </a:xfrm>
              <a:custGeom>
                <a:avLst/>
                <a:gdLst/>
                <a:ahLst/>
                <a:cxnLst/>
                <a:rect l="l" t="t" r="r" b="b"/>
                <a:pathLst>
                  <a:path w="40005"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30" name="object 30"/>
              <p:cNvSpPr/>
              <p:nvPr/>
            </p:nvSpPr>
            <p:spPr>
              <a:xfrm>
                <a:off x="2806471" y="4083723"/>
                <a:ext cx="80010" cy="296545"/>
              </a:xfrm>
              <a:custGeom>
                <a:avLst/>
                <a:gdLst/>
                <a:ahLst/>
                <a:cxnLst/>
                <a:rect l="l" t="t" r="r" b="b"/>
                <a:pathLst>
                  <a:path w="80010" h="296545">
                    <a:moveTo>
                      <a:pt x="79730" y="4597"/>
                    </a:moveTo>
                    <a:lnTo>
                      <a:pt x="79730" y="0"/>
                    </a:lnTo>
                    <a:lnTo>
                      <a:pt x="75133" y="0"/>
                    </a:lnTo>
                    <a:lnTo>
                      <a:pt x="0" y="291693"/>
                    </a:lnTo>
                    <a:lnTo>
                      <a:pt x="0" y="296290"/>
                    </a:lnTo>
                    <a:lnTo>
                      <a:pt x="4597" y="296290"/>
                    </a:lnTo>
                    <a:lnTo>
                      <a:pt x="79730" y="4597"/>
                    </a:lnTo>
                    <a:close/>
                  </a:path>
                </a:pathLst>
              </a:custGeom>
              <a:solidFill>
                <a:srgbClr val="000000"/>
              </a:solidFill>
            </p:spPr>
            <p:txBody>
              <a:bodyPr wrap="square" lIns="0" tIns="0" rIns="0" bIns="0" rtlCol="0"/>
              <a:lstStyle/>
              <a:p>
                <a:endParaRPr/>
              </a:p>
            </p:txBody>
          </p:sp>
          <p:sp>
            <p:nvSpPr>
              <p:cNvPr id="31" name="object 31"/>
              <p:cNvSpPr/>
              <p:nvPr/>
            </p:nvSpPr>
            <p:spPr>
              <a:xfrm>
                <a:off x="2788970" y="4357738"/>
                <a:ext cx="62230" cy="62230"/>
              </a:xfrm>
              <a:custGeom>
                <a:avLst/>
                <a:gdLst/>
                <a:ahLst/>
                <a:cxnLst/>
                <a:rect l="l" t="t" r="r" b="b"/>
                <a:pathLst>
                  <a:path w="62230"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32" name="object 32"/>
              <p:cNvSpPr/>
              <p:nvPr/>
            </p:nvSpPr>
            <p:spPr>
              <a:xfrm>
                <a:off x="2791180" y="4359948"/>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33" name="object 33"/>
              <p:cNvSpPr/>
              <p:nvPr/>
            </p:nvSpPr>
            <p:spPr>
              <a:xfrm>
                <a:off x="2881604" y="4083723"/>
                <a:ext cx="80010" cy="296545"/>
              </a:xfrm>
              <a:custGeom>
                <a:avLst/>
                <a:gdLst/>
                <a:ahLst/>
                <a:cxnLst/>
                <a:rect l="l" t="t" r="r" b="b"/>
                <a:pathLst>
                  <a:path w="80010" h="296545">
                    <a:moveTo>
                      <a:pt x="79730" y="296290"/>
                    </a:moveTo>
                    <a:lnTo>
                      <a:pt x="79730" y="291693"/>
                    </a:lnTo>
                    <a:lnTo>
                      <a:pt x="4597" y="0"/>
                    </a:lnTo>
                    <a:lnTo>
                      <a:pt x="0" y="0"/>
                    </a:lnTo>
                    <a:lnTo>
                      <a:pt x="0" y="4597"/>
                    </a:lnTo>
                    <a:lnTo>
                      <a:pt x="75133" y="296290"/>
                    </a:lnTo>
                    <a:lnTo>
                      <a:pt x="79730" y="296290"/>
                    </a:lnTo>
                    <a:close/>
                  </a:path>
                </a:pathLst>
              </a:custGeom>
              <a:solidFill>
                <a:srgbClr val="000000"/>
              </a:solidFill>
            </p:spPr>
            <p:txBody>
              <a:bodyPr wrap="square" lIns="0" tIns="0" rIns="0" bIns="0" rtlCol="0"/>
              <a:lstStyle/>
              <a:p>
                <a:endParaRPr/>
              </a:p>
            </p:txBody>
          </p:sp>
          <p:sp>
            <p:nvSpPr>
              <p:cNvPr id="34" name="object 34"/>
              <p:cNvSpPr/>
              <p:nvPr/>
            </p:nvSpPr>
            <p:spPr>
              <a:xfrm>
                <a:off x="2864103" y="4061625"/>
                <a:ext cx="57785" cy="62230"/>
              </a:xfrm>
              <a:custGeom>
                <a:avLst/>
                <a:gdLst/>
                <a:ahLst/>
                <a:cxnLst/>
                <a:rect l="l" t="t" r="r" b="b"/>
                <a:pathLst>
                  <a:path w="57785"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35" name="object 35"/>
              <p:cNvSpPr/>
              <p:nvPr/>
            </p:nvSpPr>
            <p:spPr>
              <a:xfrm>
                <a:off x="2866313" y="4063834"/>
                <a:ext cx="35560" cy="40005"/>
              </a:xfrm>
              <a:custGeom>
                <a:avLst/>
                <a:gdLst/>
                <a:ahLst/>
                <a:cxnLst/>
                <a:rect l="l" t="t" r="r" b="b"/>
                <a:pathLst>
                  <a:path w="35560"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pic>
            <p:nvPicPr>
              <p:cNvPr id="36" name="object 36"/>
              <p:cNvPicPr/>
              <p:nvPr/>
            </p:nvPicPr>
            <p:blipFill>
              <a:blip r:embed="rId6" cstate="print"/>
              <a:stretch>
                <a:fillRect/>
              </a:stretch>
            </p:blipFill>
            <p:spPr>
              <a:xfrm>
                <a:off x="2934728" y="4154436"/>
                <a:ext cx="97320" cy="265176"/>
              </a:xfrm>
              <a:prstGeom prst="rect">
                <a:avLst/>
              </a:prstGeom>
            </p:spPr>
          </p:pic>
          <p:sp>
            <p:nvSpPr>
              <p:cNvPr id="37" name="object 37"/>
              <p:cNvSpPr/>
              <p:nvPr/>
            </p:nvSpPr>
            <p:spPr>
              <a:xfrm>
                <a:off x="3027451" y="4154436"/>
                <a:ext cx="80010" cy="575310"/>
              </a:xfrm>
              <a:custGeom>
                <a:avLst/>
                <a:gdLst/>
                <a:ahLst/>
                <a:cxnLst/>
                <a:rect l="l" t="t" r="r" b="b"/>
                <a:pathLst>
                  <a:path w="80010" h="575310">
                    <a:moveTo>
                      <a:pt x="79730" y="574725"/>
                    </a:moveTo>
                    <a:lnTo>
                      <a:pt x="79730" y="570128"/>
                    </a:lnTo>
                    <a:lnTo>
                      <a:pt x="4597" y="0"/>
                    </a:lnTo>
                    <a:lnTo>
                      <a:pt x="0" y="0"/>
                    </a:lnTo>
                    <a:lnTo>
                      <a:pt x="0" y="4597"/>
                    </a:lnTo>
                    <a:lnTo>
                      <a:pt x="75133" y="574725"/>
                    </a:lnTo>
                    <a:lnTo>
                      <a:pt x="79730" y="574725"/>
                    </a:lnTo>
                    <a:close/>
                  </a:path>
                </a:pathLst>
              </a:custGeom>
              <a:solidFill>
                <a:srgbClr val="000000"/>
              </a:solidFill>
            </p:spPr>
            <p:txBody>
              <a:bodyPr wrap="square" lIns="0" tIns="0" rIns="0" bIns="0" rtlCol="0"/>
              <a:lstStyle/>
              <a:p>
                <a:endParaRPr/>
              </a:p>
            </p:txBody>
          </p:sp>
          <p:sp>
            <p:nvSpPr>
              <p:cNvPr id="38" name="object 38"/>
              <p:cNvSpPr/>
              <p:nvPr/>
            </p:nvSpPr>
            <p:spPr>
              <a:xfrm>
                <a:off x="3009950" y="4136758"/>
                <a:ext cx="62230" cy="62230"/>
              </a:xfrm>
              <a:custGeom>
                <a:avLst/>
                <a:gdLst/>
                <a:ahLst/>
                <a:cxnLst/>
                <a:rect l="l" t="t" r="r" b="b"/>
                <a:pathLst>
                  <a:path w="62230"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39" name="object 39"/>
              <p:cNvSpPr/>
              <p:nvPr/>
            </p:nvSpPr>
            <p:spPr>
              <a:xfrm>
                <a:off x="3012160" y="4138968"/>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40" name="object 40"/>
              <p:cNvSpPr/>
              <p:nvPr/>
            </p:nvSpPr>
            <p:spPr>
              <a:xfrm>
                <a:off x="3102584" y="4415193"/>
                <a:ext cx="80010" cy="314325"/>
              </a:xfrm>
              <a:custGeom>
                <a:avLst/>
                <a:gdLst/>
                <a:ahLst/>
                <a:cxnLst/>
                <a:rect l="l" t="t" r="r" b="b"/>
                <a:pathLst>
                  <a:path w="80010" h="314325">
                    <a:moveTo>
                      <a:pt x="79730" y="4597"/>
                    </a:moveTo>
                    <a:lnTo>
                      <a:pt x="79730" y="0"/>
                    </a:lnTo>
                    <a:lnTo>
                      <a:pt x="75133" y="0"/>
                    </a:lnTo>
                    <a:lnTo>
                      <a:pt x="0" y="309371"/>
                    </a:lnTo>
                    <a:lnTo>
                      <a:pt x="0" y="313969"/>
                    </a:lnTo>
                    <a:lnTo>
                      <a:pt x="4597" y="313969"/>
                    </a:lnTo>
                    <a:lnTo>
                      <a:pt x="79730" y="4597"/>
                    </a:lnTo>
                    <a:close/>
                  </a:path>
                </a:pathLst>
              </a:custGeom>
              <a:solidFill>
                <a:srgbClr val="000000"/>
              </a:solidFill>
            </p:spPr>
            <p:txBody>
              <a:bodyPr wrap="square" lIns="0" tIns="0" rIns="0" bIns="0" rtlCol="0"/>
              <a:lstStyle/>
              <a:p>
                <a:endParaRPr/>
              </a:p>
            </p:txBody>
          </p:sp>
          <p:sp>
            <p:nvSpPr>
              <p:cNvPr id="41" name="object 41"/>
              <p:cNvSpPr/>
              <p:nvPr/>
            </p:nvSpPr>
            <p:spPr>
              <a:xfrm>
                <a:off x="3085083" y="4706886"/>
                <a:ext cx="57785" cy="62230"/>
              </a:xfrm>
              <a:custGeom>
                <a:avLst/>
                <a:gdLst/>
                <a:ahLst/>
                <a:cxnLst/>
                <a:rect l="l" t="t" r="r" b="b"/>
                <a:pathLst>
                  <a:path w="57785"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42" name="object 42"/>
              <p:cNvSpPr/>
              <p:nvPr/>
            </p:nvSpPr>
            <p:spPr>
              <a:xfrm>
                <a:off x="3087293" y="4709096"/>
                <a:ext cx="35560" cy="40005"/>
              </a:xfrm>
              <a:custGeom>
                <a:avLst/>
                <a:gdLst/>
                <a:ahLst/>
                <a:cxnLst/>
                <a:rect l="l" t="t" r="r" b="b"/>
                <a:pathLst>
                  <a:path w="35560"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pic>
            <p:nvPicPr>
              <p:cNvPr id="43" name="object 43"/>
              <p:cNvPicPr/>
              <p:nvPr/>
            </p:nvPicPr>
            <p:blipFill>
              <a:blip r:embed="rId7" cstate="print"/>
              <a:stretch>
                <a:fillRect/>
              </a:stretch>
            </p:blipFill>
            <p:spPr>
              <a:xfrm>
                <a:off x="3155708" y="4393006"/>
                <a:ext cx="97320" cy="190309"/>
              </a:xfrm>
              <a:prstGeom prst="rect">
                <a:avLst/>
              </a:prstGeom>
            </p:spPr>
          </p:pic>
          <p:sp>
            <p:nvSpPr>
              <p:cNvPr id="44" name="object 44"/>
              <p:cNvSpPr/>
              <p:nvPr/>
            </p:nvSpPr>
            <p:spPr>
              <a:xfrm>
                <a:off x="3248431" y="4304703"/>
                <a:ext cx="97790" cy="278765"/>
              </a:xfrm>
              <a:custGeom>
                <a:avLst/>
                <a:gdLst/>
                <a:ahLst/>
                <a:cxnLst/>
                <a:rect l="l" t="t" r="r" b="b"/>
                <a:pathLst>
                  <a:path w="97789" h="278764">
                    <a:moveTo>
                      <a:pt x="97408" y="4597"/>
                    </a:moveTo>
                    <a:lnTo>
                      <a:pt x="97408" y="0"/>
                    </a:lnTo>
                    <a:lnTo>
                      <a:pt x="92811" y="0"/>
                    </a:lnTo>
                    <a:lnTo>
                      <a:pt x="0" y="274015"/>
                    </a:lnTo>
                    <a:lnTo>
                      <a:pt x="0" y="278612"/>
                    </a:lnTo>
                    <a:lnTo>
                      <a:pt x="4597" y="278612"/>
                    </a:lnTo>
                    <a:lnTo>
                      <a:pt x="97408" y="4597"/>
                    </a:lnTo>
                    <a:close/>
                  </a:path>
                </a:pathLst>
              </a:custGeom>
              <a:solidFill>
                <a:srgbClr val="000000"/>
              </a:solidFill>
            </p:spPr>
            <p:txBody>
              <a:bodyPr wrap="square" lIns="0" tIns="0" rIns="0" bIns="0" rtlCol="0"/>
              <a:lstStyle/>
              <a:p>
                <a:endParaRPr/>
              </a:p>
            </p:txBody>
          </p:sp>
          <p:sp>
            <p:nvSpPr>
              <p:cNvPr id="45" name="object 45"/>
              <p:cNvSpPr/>
              <p:nvPr/>
            </p:nvSpPr>
            <p:spPr>
              <a:xfrm>
                <a:off x="3230930" y="4561039"/>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46" name="object 46"/>
              <p:cNvSpPr/>
              <p:nvPr/>
            </p:nvSpPr>
            <p:spPr>
              <a:xfrm>
                <a:off x="3233140" y="4563249"/>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pic>
            <p:nvPicPr>
              <p:cNvPr id="47" name="object 47"/>
              <p:cNvPicPr/>
              <p:nvPr/>
            </p:nvPicPr>
            <p:blipFill>
              <a:blip r:embed="rId8" cstate="print"/>
              <a:stretch>
                <a:fillRect/>
              </a:stretch>
            </p:blipFill>
            <p:spPr>
              <a:xfrm>
                <a:off x="3323653" y="4119079"/>
                <a:ext cx="168033" cy="225399"/>
              </a:xfrm>
              <a:prstGeom prst="rect">
                <a:avLst/>
              </a:prstGeom>
            </p:spPr>
          </p:pic>
          <p:sp>
            <p:nvSpPr>
              <p:cNvPr id="48" name="object 48"/>
              <p:cNvSpPr/>
              <p:nvPr/>
            </p:nvSpPr>
            <p:spPr>
              <a:xfrm>
                <a:off x="3487089" y="4119079"/>
                <a:ext cx="80010" cy="300990"/>
              </a:xfrm>
              <a:custGeom>
                <a:avLst/>
                <a:gdLst/>
                <a:ahLst/>
                <a:cxnLst/>
                <a:rect l="l" t="t" r="r" b="b"/>
                <a:pathLst>
                  <a:path w="80010" h="300989">
                    <a:moveTo>
                      <a:pt x="79730" y="300710"/>
                    </a:moveTo>
                    <a:lnTo>
                      <a:pt x="79730" y="296113"/>
                    </a:lnTo>
                    <a:lnTo>
                      <a:pt x="4597" y="0"/>
                    </a:lnTo>
                    <a:lnTo>
                      <a:pt x="0" y="0"/>
                    </a:lnTo>
                    <a:lnTo>
                      <a:pt x="0" y="4597"/>
                    </a:lnTo>
                    <a:lnTo>
                      <a:pt x="75133" y="300710"/>
                    </a:lnTo>
                    <a:lnTo>
                      <a:pt x="79730" y="300710"/>
                    </a:lnTo>
                    <a:close/>
                  </a:path>
                </a:pathLst>
              </a:custGeom>
              <a:solidFill>
                <a:srgbClr val="000000"/>
              </a:solidFill>
            </p:spPr>
            <p:txBody>
              <a:bodyPr wrap="square" lIns="0" tIns="0" rIns="0" bIns="0" rtlCol="0"/>
              <a:lstStyle/>
              <a:p>
                <a:endParaRPr/>
              </a:p>
            </p:txBody>
          </p:sp>
          <p:sp>
            <p:nvSpPr>
              <p:cNvPr id="49" name="object 49"/>
              <p:cNvSpPr/>
              <p:nvPr/>
            </p:nvSpPr>
            <p:spPr>
              <a:xfrm>
                <a:off x="3469589" y="4101401"/>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50" name="object 50"/>
              <p:cNvSpPr/>
              <p:nvPr/>
            </p:nvSpPr>
            <p:spPr>
              <a:xfrm>
                <a:off x="3471799" y="4103611"/>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pic>
            <p:nvPicPr>
              <p:cNvPr id="51" name="object 51"/>
              <p:cNvPicPr/>
              <p:nvPr/>
            </p:nvPicPr>
            <p:blipFill>
              <a:blip r:embed="rId9" cstate="print"/>
              <a:stretch>
                <a:fillRect/>
              </a:stretch>
            </p:blipFill>
            <p:spPr>
              <a:xfrm>
                <a:off x="3544633" y="4194213"/>
                <a:ext cx="97320" cy="260756"/>
              </a:xfrm>
              <a:prstGeom prst="rect">
                <a:avLst/>
              </a:prstGeom>
            </p:spPr>
          </p:pic>
          <p:sp>
            <p:nvSpPr>
              <p:cNvPr id="52" name="object 52"/>
              <p:cNvSpPr/>
              <p:nvPr/>
            </p:nvSpPr>
            <p:spPr>
              <a:xfrm>
                <a:off x="3637356" y="4194213"/>
                <a:ext cx="75565" cy="371475"/>
              </a:xfrm>
              <a:custGeom>
                <a:avLst/>
                <a:gdLst/>
                <a:ahLst/>
                <a:cxnLst/>
                <a:rect l="l" t="t" r="r" b="b"/>
                <a:pathLst>
                  <a:path w="75564" h="371475">
                    <a:moveTo>
                      <a:pt x="75311" y="371424"/>
                    </a:moveTo>
                    <a:lnTo>
                      <a:pt x="75311" y="366826"/>
                    </a:lnTo>
                    <a:lnTo>
                      <a:pt x="4597" y="0"/>
                    </a:lnTo>
                    <a:lnTo>
                      <a:pt x="0" y="0"/>
                    </a:lnTo>
                    <a:lnTo>
                      <a:pt x="0" y="4597"/>
                    </a:lnTo>
                    <a:lnTo>
                      <a:pt x="70713" y="371424"/>
                    </a:lnTo>
                    <a:lnTo>
                      <a:pt x="75311" y="371424"/>
                    </a:lnTo>
                    <a:close/>
                  </a:path>
                </a:pathLst>
              </a:custGeom>
              <a:solidFill>
                <a:srgbClr val="000000"/>
              </a:solidFill>
            </p:spPr>
            <p:txBody>
              <a:bodyPr wrap="square" lIns="0" tIns="0" rIns="0" bIns="0" rtlCol="0"/>
              <a:lstStyle/>
              <a:p>
                <a:endParaRPr/>
              </a:p>
            </p:txBody>
          </p:sp>
          <p:sp>
            <p:nvSpPr>
              <p:cNvPr id="53" name="object 53"/>
              <p:cNvSpPr/>
              <p:nvPr/>
            </p:nvSpPr>
            <p:spPr>
              <a:xfrm>
                <a:off x="3619855" y="4172115"/>
                <a:ext cx="57785" cy="62230"/>
              </a:xfrm>
              <a:custGeom>
                <a:avLst/>
                <a:gdLst/>
                <a:ahLst/>
                <a:cxnLst/>
                <a:rect l="l" t="t" r="r" b="b"/>
                <a:pathLst>
                  <a:path w="57785"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54" name="object 54"/>
              <p:cNvSpPr/>
              <p:nvPr/>
            </p:nvSpPr>
            <p:spPr>
              <a:xfrm>
                <a:off x="3622065" y="4174324"/>
                <a:ext cx="35560" cy="40005"/>
              </a:xfrm>
              <a:custGeom>
                <a:avLst/>
                <a:gdLst/>
                <a:ahLst/>
                <a:cxnLst/>
                <a:rect l="l" t="t" r="r" b="b"/>
                <a:pathLst>
                  <a:path w="35560"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sp>
            <p:nvSpPr>
              <p:cNvPr id="55" name="object 55"/>
              <p:cNvSpPr/>
              <p:nvPr/>
            </p:nvSpPr>
            <p:spPr>
              <a:xfrm>
                <a:off x="3752443" y="4563338"/>
                <a:ext cx="35560" cy="0"/>
              </a:xfrm>
              <a:custGeom>
                <a:avLst/>
                <a:gdLst/>
                <a:ahLst/>
                <a:cxnLst/>
                <a:rect l="l" t="t" r="r" b="b"/>
                <a:pathLst>
                  <a:path w="35560">
                    <a:moveTo>
                      <a:pt x="0" y="0"/>
                    </a:moveTo>
                    <a:lnTo>
                      <a:pt x="35356" y="0"/>
                    </a:lnTo>
                  </a:path>
                </a:pathLst>
              </a:custGeom>
              <a:ln w="4597">
                <a:solidFill>
                  <a:srgbClr val="000000"/>
                </a:solidFill>
              </a:ln>
            </p:spPr>
            <p:txBody>
              <a:bodyPr wrap="square" lIns="0" tIns="0" rIns="0" bIns="0" rtlCol="0"/>
              <a:lstStyle/>
              <a:p>
                <a:endParaRPr/>
              </a:p>
            </p:txBody>
          </p:sp>
          <p:sp>
            <p:nvSpPr>
              <p:cNvPr id="56" name="object 56"/>
              <p:cNvSpPr/>
              <p:nvPr/>
            </p:nvSpPr>
            <p:spPr>
              <a:xfrm>
                <a:off x="3690569" y="4543361"/>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57" name="object 57"/>
              <p:cNvSpPr/>
              <p:nvPr/>
            </p:nvSpPr>
            <p:spPr>
              <a:xfrm>
                <a:off x="3692778" y="4545571"/>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58" name="object 58"/>
              <p:cNvSpPr/>
              <p:nvPr/>
            </p:nvSpPr>
            <p:spPr>
              <a:xfrm>
                <a:off x="3783202" y="4561039"/>
                <a:ext cx="80010" cy="243840"/>
              </a:xfrm>
              <a:custGeom>
                <a:avLst/>
                <a:gdLst/>
                <a:ahLst/>
                <a:cxnLst/>
                <a:rect l="l" t="t" r="r" b="b"/>
                <a:pathLst>
                  <a:path w="80010" h="243839">
                    <a:moveTo>
                      <a:pt x="79730" y="243255"/>
                    </a:moveTo>
                    <a:lnTo>
                      <a:pt x="79730" y="238658"/>
                    </a:lnTo>
                    <a:lnTo>
                      <a:pt x="4597" y="0"/>
                    </a:lnTo>
                    <a:lnTo>
                      <a:pt x="0" y="0"/>
                    </a:lnTo>
                    <a:lnTo>
                      <a:pt x="0" y="4597"/>
                    </a:lnTo>
                    <a:lnTo>
                      <a:pt x="75133" y="243255"/>
                    </a:lnTo>
                    <a:lnTo>
                      <a:pt x="79730" y="243255"/>
                    </a:lnTo>
                    <a:close/>
                  </a:path>
                </a:pathLst>
              </a:custGeom>
              <a:solidFill>
                <a:srgbClr val="000000"/>
              </a:solidFill>
            </p:spPr>
            <p:txBody>
              <a:bodyPr wrap="square" lIns="0" tIns="0" rIns="0" bIns="0" rtlCol="0"/>
              <a:lstStyle/>
              <a:p>
                <a:endParaRPr/>
              </a:p>
            </p:txBody>
          </p:sp>
          <p:sp>
            <p:nvSpPr>
              <p:cNvPr id="59" name="object 59"/>
              <p:cNvSpPr/>
              <p:nvPr/>
            </p:nvSpPr>
            <p:spPr>
              <a:xfrm>
                <a:off x="3765702" y="4543361"/>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60" name="object 60"/>
              <p:cNvSpPr/>
              <p:nvPr/>
            </p:nvSpPr>
            <p:spPr>
              <a:xfrm>
                <a:off x="3767912" y="4545571"/>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61" name="object 61"/>
              <p:cNvSpPr/>
              <p:nvPr/>
            </p:nvSpPr>
            <p:spPr>
              <a:xfrm>
                <a:off x="3858336" y="4724565"/>
                <a:ext cx="75565" cy="80010"/>
              </a:xfrm>
              <a:custGeom>
                <a:avLst/>
                <a:gdLst/>
                <a:ahLst/>
                <a:cxnLst/>
                <a:rect l="l" t="t" r="r" b="b"/>
                <a:pathLst>
                  <a:path w="75564" h="80010">
                    <a:moveTo>
                      <a:pt x="75311" y="4597"/>
                    </a:moveTo>
                    <a:lnTo>
                      <a:pt x="75311" y="0"/>
                    </a:lnTo>
                    <a:lnTo>
                      <a:pt x="70713" y="0"/>
                    </a:lnTo>
                    <a:lnTo>
                      <a:pt x="0" y="75133"/>
                    </a:lnTo>
                    <a:lnTo>
                      <a:pt x="0" y="79730"/>
                    </a:lnTo>
                    <a:lnTo>
                      <a:pt x="4597" y="79730"/>
                    </a:lnTo>
                    <a:lnTo>
                      <a:pt x="75311" y="4597"/>
                    </a:lnTo>
                    <a:close/>
                  </a:path>
                </a:pathLst>
              </a:custGeom>
              <a:solidFill>
                <a:srgbClr val="000000"/>
              </a:solidFill>
            </p:spPr>
            <p:txBody>
              <a:bodyPr wrap="square" lIns="0" tIns="0" rIns="0" bIns="0" rtlCol="0"/>
              <a:lstStyle/>
              <a:p>
                <a:endParaRPr/>
              </a:p>
            </p:txBody>
          </p:sp>
          <p:sp>
            <p:nvSpPr>
              <p:cNvPr id="62" name="object 62"/>
              <p:cNvSpPr/>
              <p:nvPr/>
            </p:nvSpPr>
            <p:spPr>
              <a:xfrm>
                <a:off x="3840835" y="4782019"/>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63" name="object 63"/>
              <p:cNvSpPr/>
              <p:nvPr/>
            </p:nvSpPr>
            <p:spPr>
              <a:xfrm>
                <a:off x="3843045" y="4784229"/>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64" name="object 64"/>
              <p:cNvSpPr/>
              <p:nvPr/>
            </p:nvSpPr>
            <p:spPr>
              <a:xfrm>
                <a:off x="3929049" y="4724565"/>
                <a:ext cx="80010" cy="208279"/>
              </a:xfrm>
              <a:custGeom>
                <a:avLst/>
                <a:gdLst/>
                <a:ahLst/>
                <a:cxnLst/>
                <a:rect l="l" t="t" r="r" b="b"/>
                <a:pathLst>
                  <a:path w="80010" h="208279">
                    <a:moveTo>
                      <a:pt x="79730" y="207899"/>
                    </a:moveTo>
                    <a:lnTo>
                      <a:pt x="79730" y="203301"/>
                    </a:lnTo>
                    <a:lnTo>
                      <a:pt x="4597" y="0"/>
                    </a:lnTo>
                    <a:lnTo>
                      <a:pt x="0" y="0"/>
                    </a:lnTo>
                    <a:lnTo>
                      <a:pt x="0" y="4597"/>
                    </a:lnTo>
                    <a:lnTo>
                      <a:pt x="75133" y="207899"/>
                    </a:lnTo>
                    <a:lnTo>
                      <a:pt x="79730" y="207899"/>
                    </a:lnTo>
                    <a:close/>
                  </a:path>
                </a:pathLst>
              </a:custGeom>
              <a:solidFill>
                <a:srgbClr val="000000"/>
              </a:solidFill>
            </p:spPr>
            <p:txBody>
              <a:bodyPr wrap="square" lIns="0" tIns="0" rIns="0" bIns="0" rtlCol="0"/>
              <a:lstStyle/>
              <a:p>
                <a:endParaRPr/>
              </a:p>
            </p:txBody>
          </p:sp>
          <p:sp>
            <p:nvSpPr>
              <p:cNvPr id="65" name="object 65"/>
              <p:cNvSpPr/>
              <p:nvPr/>
            </p:nvSpPr>
            <p:spPr>
              <a:xfrm>
                <a:off x="3911549" y="4706886"/>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66" name="object 66"/>
              <p:cNvSpPr/>
              <p:nvPr/>
            </p:nvSpPr>
            <p:spPr>
              <a:xfrm>
                <a:off x="3913758" y="4709096"/>
                <a:ext cx="40005" cy="40005"/>
              </a:xfrm>
              <a:custGeom>
                <a:avLst/>
                <a:gdLst/>
                <a:ahLst/>
                <a:cxnLst/>
                <a:rect l="l" t="t" r="r" b="b"/>
                <a:pathLst>
                  <a:path w="40004" h="40004">
                    <a:moveTo>
                      <a:pt x="39776" y="0"/>
                    </a:moveTo>
                    <a:lnTo>
                      <a:pt x="39776" y="39776"/>
                    </a:lnTo>
                    <a:lnTo>
                      <a:pt x="0" y="39776"/>
                    </a:lnTo>
                    <a:lnTo>
                      <a:pt x="0" y="0"/>
                    </a:lnTo>
                    <a:lnTo>
                      <a:pt x="39776" y="0"/>
                    </a:lnTo>
                    <a:close/>
                  </a:path>
                </a:pathLst>
              </a:custGeom>
              <a:ln w="4597">
                <a:solidFill>
                  <a:srgbClr val="000000"/>
                </a:solidFill>
              </a:ln>
            </p:spPr>
            <p:txBody>
              <a:bodyPr wrap="square" lIns="0" tIns="0" rIns="0" bIns="0" rtlCol="0"/>
              <a:lstStyle/>
              <a:p>
                <a:endParaRPr/>
              </a:p>
            </p:txBody>
          </p:sp>
          <p:sp>
            <p:nvSpPr>
              <p:cNvPr id="67" name="object 67"/>
              <p:cNvSpPr/>
              <p:nvPr/>
            </p:nvSpPr>
            <p:spPr>
              <a:xfrm>
                <a:off x="4004183" y="4746663"/>
                <a:ext cx="80010" cy="186055"/>
              </a:xfrm>
              <a:custGeom>
                <a:avLst/>
                <a:gdLst/>
                <a:ahLst/>
                <a:cxnLst/>
                <a:rect l="l" t="t" r="r" b="b"/>
                <a:pathLst>
                  <a:path w="80010" h="186054">
                    <a:moveTo>
                      <a:pt x="79730" y="4597"/>
                    </a:moveTo>
                    <a:lnTo>
                      <a:pt x="79730" y="0"/>
                    </a:lnTo>
                    <a:lnTo>
                      <a:pt x="75133" y="0"/>
                    </a:lnTo>
                    <a:lnTo>
                      <a:pt x="0" y="181203"/>
                    </a:lnTo>
                    <a:lnTo>
                      <a:pt x="0" y="185800"/>
                    </a:lnTo>
                    <a:lnTo>
                      <a:pt x="4597" y="185800"/>
                    </a:lnTo>
                    <a:lnTo>
                      <a:pt x="79730" y="4597"/>
                    </a:lnTo>
                    <a:close/>
                  </a:path>
                </a:pathLst>
              </a:custGeom>
              <a:solidFill>
                <a:srgbClr val="000000"/>
              </a:solidFill>
            </p:spPr>
            <p:txBody>
              <a:bodyPr wrap="square" lIns="0" tIns="0" rIns="0" bIns="0" rtlCol="0"/>
              <a:lstStyle/>
              <a:p>
                <a:endParaRPr/>
              </a:p>
            </p:txBody>
          </p:sp>
          <p:sp>
            <p:nvSpPr>
              <p:cNvPr id="68" name="object 68"/>
              <p:cNvSpPr/>
              <p:nvPr/>
            </p:nvSpPr>
            <p:spPr>
              <a:xfrm>
                <a:off x="3986682" y="4910188"/>
                <a:ext cx="57785" cy="62230"/>
              </a:xfrm>
              <a:custGeom>
                <a:avLst/>
                <a:gdLst/>
                <a:ahLst/>
                <a:cxnLst/>
                <a:rect l="l" t="t" r="r" b="b"/>
                <a:pathLst>
                  <a:path w="57785"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69" name="object 69"/>
              <p:cNvSpPr/>
              <p:nvPr/>
            </p:nvSpPr>
            <p:spPr>
              <a:xfrm>
                <a:off x="3988892" y="4912398"/>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70" name="object 70"/>
              <p:cNvSpPr/>
              <p:nvPr/>
            </p:nvSpPr>
            <p:spPr>
              <a:xfrm>
                <a:off x="4079316" y="4746663"/>
                <a:ext cx="75565" cy="133350"/>
              </a:xfrm>
              <a:custGeom>
                <a:avLst/>
                <a:gdLst/>
                <a:ahLst/>
                <a:cxnLst/>
                <a:rect l="l" t="t" r="r" b="b"/>
                <a:pathLst>
                  <a:path w="75564" h="133350">
                    <a:moveTo>
                      <a:pt x="75311" y="132765"/>
                    </a:moveTo>
                    <a:lnTo>
                      <a:pt x="75311" y="128168"/>
                    </a:lnTo>
                    <a:lnTo>
                      <a:pt x="4597" y="0"/>
                    </a:lnTo>
                    <a:lnTo>
                      <a:pt x="0" y="0"/>
                    </a:lnTo>
                    <a:lnTo>
                      <a:pt x="0" y="4597"/>
                    </a:lnTo>
                    <a:lnTo>
                      <a:pt x="70713" y="132765"/>
                    </a:lnTo>
                    <a:lnTo>
                      <a:pt x="75311" y="132765"/>
                    </a:lnTo>
                    <a:close/>
                  </a:path>
                </a:pathLst>
              </a:custGeom>
              <a:solidFill>
                <a:srgbClr val="000000"/>
              </a:solidFill>
            </p:spPr>
            <p:txBody>
              <a:bodyPr wrap="square" lIns="0" tIns="0" rIns="0" bIns="0" rtlCol="0"/>
              <a:lstStyle/>
              <a:p>
                <a:endParaRPr/>
              </a:p>
            </p:txBody>
          </p:sp>
          <p:sp>
            <p:nvSpPr>
              <p:cNvPr id="71" name="object 71"/>
              <p:cNvSpPr/>
              <p:nvPr/>
            </p:nvSpPr>
            <p:spPr>
              <a:xfrm>
                <a:off x="4061815" y="4724565"/>
                <a:ext cx="57785" cy="62230"/>
              </a:xfrm>
              <a:custGeom>
                <a:avLst/>
                <a:gdLst/>
                <a:ahLst/>
                <a:cxnLst/>
                <a:rect l="l" t="t" r="r" b="b"/>
                <a:pathLst>
                  <a:path w="57785"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72" name="object 72"/>
              <p:cNvSpPr/>
              <p:nvPr/>
            </p:nvSpPr>
            <p:spPr>
              <a:xfrm>
                <a:off x="4064025" y="4726774"/>
                <a:ext cx="35560" cy="40005"/>
              </a:xfrm>
              <a:custGeom>
                <a:avLst/>
                <a:gdLst/>
                <a:ahLst/>
                <a:cxnLst/>
                <a:rect l="l" t="t" r="r" b="b"/>
                <a:pathLst>
                  <a:path w="35560"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sp>
            <p:nvSpPr>
              <p:cNvPr id="73" name="object 73"/>
              <p:cNvSpPr/>
              <p:nvPr/>
            </p:nvSpPr>
            <p:spPr>
              <a:xfrm>
                <a:off x="4150029" y="4689208"/>
                <a:ext cx="80010" cy="190500"/>
              </a:xfrm>
              <a:custGeom>
                <a:avLst/>
                <a:gdLst/>
                <a:ahLst/>
                <a:cxnLst/>
                <a:rect l="l" t="t" r="r" b="b"/>
                <a:pathLst>
                  <a:path w="80010" h="190500">
                    <a:moveTo>
                      <a:pt x="79730" y="4597"/>
                    </a:moveTo>
                    <a:lnTo>
                      <a:pt x="79730" y="0"/>
                    </a:lnTo>
                    <a:lnTo>
                      <a:pt x="75133" y="0"/>
                    </a:lnTo>
                    <a:lnTo>
                      <a:pt x="0" y="185623"/>
                    </a:lnTo>
                    <a:lnTo>
                      <a:pt x="0" y="190220"/>
                    </a:lnTo>
                    <a:lnTo>
                      <a:pt x="4597" y="190220"/>
                    </a:lnTo>
                    <a:lnTo>
                      <a:pt x="79730" y="4597"/>
                    </a:lnTo>
                    <a:close/>
                  </a:path>
                </a:pathLst>
              </a:custGeom>
              <a:solidFill>
                <a:srgbClr val="000000"/>
              </a:solidFill>
            </p:spPr>
            <p:txBody>
              <a:bodyPr wrap="square" lIns="0" tIns="0" rIns="0" bIns="0" rtlCol="0"/>
              <a:lstStyle/>
              <a:p>
                <a:endParaRPr/>
              </a:p>
            </p:txBody>
          </p:sp>
          <p:sp>
            <p:nvSpPr>
              <p:cNvPr id="74" name="object 74"/>
              <p:cNvSpPr/>
              <p:nvPr/>
            </p:nvSpPr>
            <p:spPr>
              <a:xfrm>
                <a:off x="4132529" y="4857153"/>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75" name="object 75"/>
              <p:cNvSpPr/>
              <p:nvPr/>
            </p:nvSpPr>
            <p:spPr>
              <a:xfrm>
                <a:off x="4134738" y="4859362"/>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76" name="object 76"/>
              <p:cNvSpPr/>
              <p:nvPr/>
            </p:nvSpPr>
            <p:spPr>
              <a:xfrm>
                <a:off x="4225162" y="4689208"/>
                <a:ext cx="80010" cy="133350"/>
              </a:xfrm>
              <a:custGeom>
                <a:avLst/>
                <a:gdLst/>
                <a:ahLst/>
                <a:cxnLst/>
                <a:rect l="l" t="t" r="r" b="b"/>
                <a:pathLst>
                  <a:path w="80010" h="133350">
                    <a:moveTo>
                      <a:pt x="79730" y="132765"/>
                    </a:moveTo>
                    <a:lnTo>
                      <a:pt x="79730" y="128168"/>
                    </a:lnTo>
                    <a:lnTo>
                      <a:pt x="4597" y="0"/>
                    </a:lnTo>
                    <a:lnTo>
                      <a:pt x="0" y="0"/>
                    </a:lnTo>
                    <a:lnTo>
                      <a:pt x="0" y="4597"/>
                    </a:lnTo>
                    <a:lnTo>
                      <a:pt x="75133" y="132765"/>
                    </a:lnTo>
                    <a:lnTo>
                      <a:pt x="79730" y="132765"/>
                    </a:lnTo>
                    <a:close/>
                  </a:path>
                </a:pathLst>
              </a:custGeom>
              <a:solidFill>
                <a:srgbClr val="000000"/>
              </a:solidFill>
            </p:spPr>
            <p:txBody>
              <a:bodyPr wrap="square" lIns="0" tIns="0" rIns="0" bIns="0" rtlCol="0"/>
              <a:lstStyle/>
              <a:p>
                <a:endParaRPr/>
              </a:p>
            </p:txBody>
          </p:sp>
          <p:sp>
            <p:nvSpPr>
              <p:cNvPr id="77" name="object 77"/>
              <p:cNvSpPr/>
              <p:nvPr/>
            </p:nvSpPr>
            <p:spPr>
              <a:xfrm>
                <a:off x="4207662" y="4671529"/>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78" name="object 78"/>
              <p:cNvSpPr/>
              <p:nvPr/>
            </p:nvSpPr>
            <p:spPr>
              <a:xfrm>
                <a:off x="4209872" y="4673739"/>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79" name="object 79"/>
              <p:cNvSpPr/>
              <p:nvPr/>
            </p:nvSpPr>
            <p:spPr>
              <a:xfrm>
                <a:off x="4300296" y="4653851"/>
                <a:ext cx="75565" cy="168275"/>
              </a:xfrm>
              <a:custGeom>
                <a:avLst/>
                <a:gdLst/>
                <a:ahLst/>
                <a:cxnLst/>
                <a:rect l="l" t="t" r="r" b="b"/>
                <a:pathLst>
                  <a:path w="75564" h="168275">
                    <a:moveTo>
                      <a:pt x="75311" y="4597"/>
                    </a:moveTo>
                    <a:lnTo>
                      <a:pt x="75311" y="0"/>
                    </a:lnTo>
                    <a:lnTo>
                      <a:pt x="70713" y="0"/>
                    </a:lnTo>
                    <a:lnTo>
                      <a:pt x="0" y="163525"/>
                    </a:lnTo>
                    <a:lnTo>
                      <a:pt x="0" y="168122"/>
                    </a:lnTo>
                    <a:lnTo>
                      <a:pt x="4597" y="168122"/>
                    </a:lnTo>
                    <a:lnTo>
                      <a:pt x="75311" y="4597"/>
                    </a:lnTo>
                    <a:close/>
                  </a:path>
                </a:pathLst>
              </a:custGeom>
              <a:solidFill>
                <a:srgbClr val="000000"/>
              </a:solidFill>
            </p:spPr>
            <p:txBody>
              <a:bodyPr wrap="square" lIns="0" tIns="0" rIns="0" bIns="0" rtlCol="0"/>
              <a:lstStyle/>
              <a:p>
                <a:endParaRPr/>
              </a:p>
            </p:txBody>
          </p:sp>
          <p:sp>
            <p:nvSpPr>
              <p:cNvPr id="80" name="object 80"/>
              <p:cNvSpPr/>
              <p:nvPr/>
            </p:nvSpPr>
            <p:spPr>
              <a:xfrm>
                <a:off x="4282795" y="4799698"/>
                <a:ext cx="57785" cy="62230"/>
              </a:xfrm>
              <a:custGeom>
                <a:avLst/>
                <a:gdLst/>
                <a:ahLst/>
                <a:cxnLst/>
                <a:rect l="l" t="t" r="r" b="b"/>
                <a:pathLst>
                  <a:path w="57785"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81" name="object 81"/>
              <p:cNvSpPr/>
              <p:nvPr/>
            </p:nvSpPr>
            <p:spPr>
              <a:xfrm>
                <a:off x="4285005" y="4801908"/>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82" name="object 82"/>
              <p:cNvSpPr/>
              <p:nvPr/>
            </p:nvSpPr>
            <p:spPr>
              <a:xfrm>
                <a:off x="4371009" y="4653851"/>
                <a:ext cx="80010" cy="150495"/>
              </a:xfrm>
              <a:custGeom>
                <a:avLst/>
                <a:gdLst/>
                <a:ahLst/>
                <a:cxnLst/>
                <a:rect l="l" t="t" r="r" b="b"/>
                <a:pathLst>
                  <a:path w="80010" h="150495">
                    <a:moveTo>
                      <a:pt x="79730" y="150444"/>
                    </a:moveTo>
                    <a:lnTo>
                      <a:pt x="79730" y="145846"/>
                    </a:lnTo>
                    <a:lnTo>
                      <a:pt x="4597" y="0"/>
                    </a:lnTo>
                    <a:lnTo>
                      <a:pt x="0" y="0"/>
                    </a:lnTo>
                    <a:lnTo>
                      <a:pt x="0" y="4597"/>
                    </a:lnTo>
                    <a:lnTo>
                      <a:pt x="75133" y="150444"/>
                    </a:lnTo>
                    <a:lnTo>
                      <a:pt x="79730" y="150444"/>
                    </a:lnTo>
                    <a:close/>
                  </a:path>
                </a:pathLst>
              </a:custGeom>
              <a:solidFill>
                <a:srgbClr val="000000"/>
              </a:solidFill>
            </p:spPr>
            <p:txBody>
              <a:bodyPr wrap="square" lIns="0" tIns="0" rIns="0" bIns="0" rtlCol="0"/>
              <a:lstStyle/>
              <a:p>
                <a:endParaRPr/>
              </a:p>
            </p:txBody>
          </p:sp>
          <p:sp>
            <p:nvSpPr>
              <p:cNvPr id="83" name="object 83"/>
              <p:cNvSpPr/>
              <p:nvPr/>
            </p:nvSpPr>
            <p:spPr>
              <a:xfrm>
                <a:off x="4353509" y="4636173"/>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84" name="object 84"/>
              <p:cNvSpPr/>
              <p:nvPr/>
            </p:nvSpPr>
            <p:spPr>
              <a:xfrm>
                <a:off x="4355718" y="4638382"/>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85" name="object 85"/>
              <p:cNvSpPr/>
              <p:nvPr/>
            </p:nvSpPr>
            <p:spPr>
              <a:xfrm>
                <a:off x="4446143" y="4782019"/>
                <a:ext cx="80010" cy="22860"/>
              </a:xfrm>
              <a:custGeom>
                <a:avLst/>
                <a:gdLst/>
                <a:ahLst/>
                <a:cxnLst/>
                <a:rect l="l" t="t" r="r" b="b"/>
                <a:pathLst>
                  <a:path w="80010" h="22860">
                    <a:moveTo>
                      <a:pt x="79730" y="4597"/>
                    </a:moveTo>
                    <a:lnTo>
                      <a:pt x="79730" y="0"/>
                    </a:lnTo>
                    <a:lnTo>
                      <a:pt x="75133" y="0"/>
                    </a:lnTo>
                    <a:lnTo>
                      <a:pt x="0" y="17678"/>
                    </a:lnTo>
                    <a:lnTo>
                      <a:pt x="0" y="22275"/>
                    </a:lnTo>
                    <a:lnTo>
                      <a:pt x="4597" y="22275"/>
                    </a:lnTo>
                    <a:lnTo>
                      <a:pt x="79730" y="4597"/>
                    </a:lnTo>
                    <a:close/>
                  </a:path>
                </a:pathLst>
              </a:custGeom>
              <a:solidFill>
                <a:srgbClr val="000000"/>
              </a:solidFill>
            </p:spPr>
            <p:txBody>
              <a:bodyPr wrap="square" lIns="0" tIns="0" rIns="0" bIns="0" rtlCol="0"/>
              <a:lstStyle/>
              <a:p>
                <a:endParaRPr/>
              </a:p>
            </p:txBody>
          </p:sp>
          <p:sp>
            <p:nvSpPr>
              <p:cNvPr id="86" name="object 86"/>
              <p:cNvSpPr/>
              <p:nvPr/>
            </p:nvSpPr>
            <p:spPr>
              <a:xfrm>
                <a:off x="4428642" y="4782019"/>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87" name="object 87"/>
              <p:cNvSpPr/>
              <p:nvPr/>
            </p:nvSpPr>
            <p:spPr>
              <a:xfrm>
                <a:off x="4430852" y="4784229"/>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88" name="object 88"/>
              <p:cNvSpPr/>
              <p:nvPr/>
            </p:nvSpPr>
            <p:spPr>
              <a:xfrm>
                <a:off x="4521276" y="4782019"/>
                <a:ext cx="75565" cy="208279"/>
              </a:xfrm>
              <a:custGeom>
                <a:avLst/>
                <a:gdLst/>
                <a:ahLst/>
                <a:cxnLst/>
                <a:rect l="l" t="t" r="r" b="b"/>
                <a:pathLst>
                  <a:path w="75564" h="208279">
                    <a:moveTo>
                      <a:pt x="75311" y="207899"/>
                    </a:moveTo>
                    <a:lnTo>
                      <a:pt x="75311" y="203301"/>
                    </a:lnTo>
                    <a:lnTo>
                      <a:pt x="4597" y="0"/>
                    </a:lnTo>
                    <a:lnTo>
                      <a:pt x="0" y="0"/>
                    </a:lnTo>
                    <a:lnTo>
                      <a:pt x="0" y="4597"/>
                    </a:lnTo>
                    <a:lnTo>
                      <a:pt x="70713" y="207899"/>
                    </a:lnTo>
                    <a:lnTo>
                      <a:pt x="75311" y="207899"/>
                    </a:lnTo>
                    <a:close/>
                  </a:path>
                </a:pathLst>
              </a:custGeom>
              <a:solidFill>
                <a:srgbClr val="000000"/>
              </a:solidFill>
            </p:spPr>
            <p:txBody>
              <a:bodyPr wrap="square" lIns="0" tIns="0" rIns="0" bIns="0" rtlCol="0"/>
              <a:lstStyle/>
              <a:p>
                <a:endParaRPr/>
              </a:p>
            </p:txBody>
          </p:sp>
          <p:sp>
            <p:nvSpPr>
              <p:cNvPr id="89" name="object 89"/>
              <p:cNvSpPr/>
              <p:nvPr/>
            </p:nvSpPr>
            <p:spPr>
              <a:xfrm>
                <a:off x="4503775" y="4764341"/>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90" name="object 90"/>
              <p:cNvSpPr/>
              <p:nvPr/>
            </p:nvSpPr>
            <p:spPr>
              <a:xfrm>
                <a:off x="4505985" y="4766551"/>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91" name="object 91"/>
              <p:cNvSpPr/>
              <p:nvPr/>
            </p:nvSpPr>
            <p:spPr>
              <a:xfrm>
                <a:off x="4591989" y="4892509"/>
                <a:ext cx="80010" cy="97790"/>
              </a:xfrm>
              <a:custGeom>
                <a:avLst/>
                <a:gdLst/>
                <a:ahLst/>
                <a:cxnLst/>
                <a:rect l="l" t="t" r="r" b="b"/>
                <a:pathLst>
                  <a:path w="80010" h="97789">
                    <a:moveTo>
                      <a:pt x="79730" y="4597"/>
                    </a:moveTo>
                    <a:lnTo>
                      <a:pt x="79730" y="0"/>
                    </a:lnTo>
                    <a:lnTo>
                      <a:pt x="75133" y="0"/>
                    </a:lnTo>
                    <a:lnTo>
                      <a:pt x="0" y="92811"/>
                    </a:lnTo>
                    <a:lnTo>
                      <a:pt x="0" y="97408"/>
                    </a:lnTo>
                    <a:lnTo>
                      <a:pt x="4597" y="97408"/>
                    </a:lnTo>
                    <a:lnTo>
                      <a:pt x="79730" y="4597"/>
                    </a:lnTo>
                    <a:close/>
                  </a:path>
                </a:pathLst>
              </a:custGeom>
              <a:solidFill>
                <a:srgbClr val="000000"/>
              </a:solidFill>
            </p:spPr>
            <p:txBody>
              <a:bodyPr wrap="square" lIns="0" tIns="0" rIns="0" bIns="0" rtlCol="0"/>
              <a:lstStyle/>
              <a:p>
                <a:endParaRPr/>
              </a:p>
            </p:txBody>
          </p:sp>
          <p:sp>
            <p:nvSpPr>
              <p:cNvPr id="92" name="object 92"/>
              <p:cNvSpPr/>
              <p:nvPr/>
            </p:nvSpPr>
            <p:spPr>
              <a:xfrm>
                <a:off x="4574489" y="4967643"/>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93" name="object 93"/>
              <p:cNvSpPr/>
              <p:nvPr/>
            </p:nvSpPr>
            <p:spPr>
              <a:xfrm>
                <a:off x="4576699" y="4969852"/>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94" name="object 94"/>
              <p:cNvSpPr/>
              <p:nvPr/>
            </p:nvSpPr>
            <p:spPr>
              <a:xfrm>
                <a:off x="4667122" y="4932286"/>
                <a:ext cx="31115" cy="486409"/>
              </a:xfrm>
              <a:custGeom>
                <a:avLst/>
                <a:gdLst/>
                <a:ahLst/>
                <a:cxnLst/>
                <a:rect l="l" t="t" r="r" b="b"/>
                <a:pathLst>
                  <a:path w="31114" h="486410">
                    <a:moveTo>
                      <a:pt x="0" y="486333"/>
                    </a:moveTo>
                    <a:lnTo>
                      <a:pt x="31114" y="486333"/>
                    </a:lnTo>
                    <a:lnTo>
                      <a:pt x="31114" y="0"/>
                    </a:lnTo>
                    <a:lnTo>
                      <a:pt x="0" y="0"/>
                    </a:lnTo>
                    <a:lnTo>
                      <a:pt x="0" y="486333"/>
                    </a:lnTo>
                    <a:close/>
                  </a:path>
                </a:pathLst>
              </a:custGeom>
              <a:solidFill>
                <a:srgbClr val="000000"/>
              </a:solidFill>
            </p:spPr>
            <p:txBody>
              <a:bodyPr wrap="square" lIns="0" tIns="0" rIns="0" bIns="0" rtlCol="0"/>
              <a:lstStyle/>
              <a:p>
                <a:endParaRPr/>
              </a:p>
            </p:txBody>
          </p:sp>
          <p:sp>
            <p:nvSpPr>
              <p:cNvPr id="95" name="object 95"/>
              <p:cNvSpPr/>
              <p:nvPr/>
            </p:nvSpPr>
            <p:spPr>
              <a:xfrm>
                <a:off x="4649622" y="4874831"/>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96" name="object 96"/>
              <p:cNvSpPr/>
              <p:nvPr/>
            </p:nvSpPr>
            <p:spPr>
              <a:xfrm>
                <a:off x="4651832" y="4877041"/>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97" name="object 97"/>
              <p:cNvSpPr/>
              <p:nvPr/>
            </p:nvSpPr>
            <p:spPr>
              <a:xfrm>
                <a:off x="4773193" y="4985321"/>
                <a:ext cx="120014" cy="415925"/>
              </a:xfrm>
              <a:custGeom>
                <a:avLst/>
                <a:gdLst/>
                <a:ahLst/>
                <a:cxnLst/>
                <a:rect l="l" t="t" r="r" b="b"/>
                <a:pathLst>
                  <a:path w="120014" h="415925">
                    <a:moveTo>
                      <a:pt x="119507" y="128168"/>
                    </a:moveTo>
                    <a:lnTo>
                      <a:pt x="44373" y="0"/>
                    </a:lnTo>
                    <a:lnTo>
                      <a:pt x="39776" y="0"/>
                    </a:lnTo>
                    <a:lnTo>
                      <a:pt x="0" y="411022"/>
                    </a:lnTo>
                    <a:lnTo>
                      <a:pt x="0" y="415620"/>
                    </a:lnTo>
                    <a:lnTo>
                      <a:pt x="4597" y="415620"/>
                    </a:lnTo>
                    <a:lnTo>
                      <a:pt x="43713" y="11341"/>
                    </a:lnTo>
                    <a:lnTo>
                      <a:pt x="114909" y="132765"/>
                    </a:lnTo>
                    <a:lnTo>
                      <a:pt x="119507" y="132765"/>
                    </a:lnTo>
                    <a:lnTo>
                      <a:pt x="119507" y="128168"/>
                    </a:lnTo>
                    <a:close/>
                  </a:path>
                </a:pathLst>
              </a:custGeom>
              <a:solidFill>
                <a:srgbClr val="000000"/>
              </a:solidFill>
            </p:spPr>
            <p:txBody>
              <a:bodyPr wrap="square" lIns="0" tIns="0" rIns="0" bIns="0" rtlCol="0"/>
              <a:lstStyle/>
              <a:p>
                <a:endParaRPr/>
              </a:p>
            </p:txBody>
          </p:sp>
          <p:sp>
            <p:nvSpPr>
              <p:cNvPr id="98" name="object 98"/>
              <p:cNvSpPr/>
              <p:nvPr/>
            </p:nvSpPr>
            <p:spPr>
              <a:xfrm>
                <a:off x="4795469" y="4967643"/>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99" name="object 99"/>
              <p:cNvSpPr/>
              <p:nvPr/>
            </p:nvSpPr>
            <p:spPr>
              <a:xfrm>
                <a:off x="4797678" y="4969852"/>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100" name="object 100"/>
              <p:cNvSpPr/>
              <p:nvPr/>
            </p:nvSpPr>
            <p:spPr>
              <a:xfrm>
                <a:off x="4888103" y="5002999"/>
                <a:ext cx="80010" cy="115570"/>
              </a:xfrm>
              <a:custGeom>
                <a:avLst/>
                <a:gdLst/>
                <a:ahLst/>
                <a:cxnLst/>
                <a:rect l="l" t="t" r="r" b="b"/>
                <a:pathLst>
                  <a:path w="80010" h="115570">
                    <a:moveTo>
                      <a:pt x="79730" y="4597"/>
                    </a:moveTo>
                    <a:lnTo>
                      <a:pt x="79730" y="0"/>
                    </a:lnTo>
                    <a:lnTo>
                      <a:pt x="75133" y="0"/>
                    </a:lnTo>
                    <a:lnTo>
                      <a:pt x="0" y="110489"/>
                    </a:lnTo>
                    <a:lnTo>
                      <a:pt x="0" y="115087"/>
                    </a:lnTo>
                    <a:lnTo>
                      <a:pt x="4597" y="115087"/>
                    </a:lnTo>
                    <a:lnTo>
                      <a:pt x="79730" y="4597"/>
                    </a:lnTo>
                    <a:close/>
                  </a:path>
                </a:pathLst>
              </a:custGeom>
              <a:solidFill>
                <a:srgbClr val="000000"/>
              </a:solidFill>
            </p:spPr>
            <p:txBody>
              <a:bodyPr wrap="square" lIns="0" tIns="0" rIns="0" bIns="0" rtlCol="0"/>
              <a:lstStyle/>
              <a:p>
                <a:endParaRPr/>
              </a:p>
            </p:txBody>
          </p:sp>
          <p:sp>
            <p:nvSpPr>
              <p:cNvPr id="101" name="object 101"/>
              <p:cNvSpPr/>
              <p:nvPr/>
            </p:nvSpPr>
            <p:spPr>
              <a:xfrm>
                <a:off x="4870602" y="5095811"/>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02" name="object 102"/>
              <p:cNvSpPr/>
              <p:nvPr/>
            </p:nvSpPr>
            <p:spPr>
              <a:xfrm>
                <a:off x="4872812" y="5098021"/>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03" name="object 103"/>
              <p:cNvSpPr/>
              <p:nvPr/>
            </p:nvSpPr>
            <p:spPr>
              <a:xfrm>
                <a:off x="4963236" y="5002999"/>
                <a:ext cx="75565" cy="80010"/>
              </a:xfrm>
              <a:custGeom>
                <a:avLst/>
                <a:gdLst/>
                <a:ahLst/>
                <a:cxnLst/>
                <a:rect l="l" t="t" r="r" b="b"/>
                <a:pathLst>
                  <a:path w="75564" h="80010">
                    <a:moveTo>
                      <a:pt x="75311" y="79730"/>
                    </a:moveTo>
                    <a:lnTo>
                      <a:pt x="75311" y="75133"/>
                    </a:lnTo>
                    <a:lnTo>
                      <a:pt x="4597" y="0"/>
                    </a:lnTo>
                    <a:lnTo>
                      <a:pt x="0" y="0"/>
                    </a:lnTo>
                    <a:lnTo>
                      <a:pt x="0" y="4597"/>
                    </a:lnTo>
                    <a:lnTo>
                      <a:pt x="70713" y="79730"/>
                    </a:lnTo>
                    <a:lnTo>
                      <a:pt x="75311" y="79730"/>
                    </a:lnTo>
                    <a:close/>
                  </a:path>
                </a:pathLst>
              </a:custGeom>
              <a:solidFill>
                <a:srgbClr val="000000"/>
              </a:solidFill>
            </p:spPr>
            <p:txBody>
              <a:bodyPr wrap="square" lIns="0" tIns="0" rIns="0" bIns="0" rtlCol="0"/>
              <a:lstStyle/>
              <a:p>
                <a:endParaRPr/>
              </a:p>
            </p:txBody>
          </p:sp>
          <p:sp>
            <p:nvSpPr>
              <p:cNvPr id="104" name="object 104"/>
              <p:cNvSpPr/>
              <p:nvPr/>
            </p:nvSpPr>
            <p:spPr>
              <a:xfrm>
                <a:off x="4945735" y="4985321"/>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05" name="object 105"/>
              <p:cNvSpPr/>
              <p:nvPr/>
            </p:nvSpPr>
            <p:spPr>
              <a:xfrm>
                <a:off x="4947945" y="4987531"/>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06" name="object 106"/>
              <p:cNvSpPr/>
              <p:nvPr/>
            </p:nvSpPr>
            <p:spPr>
              <a:xfrm>
                <a:off x="5033949" y="4985321"/>
                <a:ext cx="80010" cy="97790"/>
              </a:xfrm>
              <a:custGeom>
                <a:avLst/>
                <a:gdLst/>
                <a:ahLst/>
                <a:cxnLst/>
                <a:rect l="l" t="t" r="r" b="b"/>
                <a:pathLst>
                  <a:path w="80010" h="97789">
                    <a:moveTo>
                      <a:pt x="79730" y="4597"/>
                    </a:moveTo>
                    <a:lnTo>
                      <a:pt x="79730" y="0"/>
                    </a:lnTo>
                    <a:lnTo>
                      <a:pt x="75133" y="0"/>
                    </a:lnTo>
                    <a:lnTo>
                      <a:pt x="0" y="92811"/>
                    </a:lnTo>
                    <a:lnTo>
                      <a:pt x="0" y="97408"/>
                    </a:lnTo>
                    <a:lnTo>
                      <a:pt x="4597" y="97408"/>
                    </a:lnTo>
                    <a:lnTo>
                      <a:pt x="79730" y="4597"/>
                    </a:lnTo>
                    <a:close/>
                  </a:path>
                </a:pathLst>
              </a:custGeom>
              <a:solidFill>
                <a:srgbClr val="000000"/>
              </a:solidFill>
            </p:spPr>
            <p:txBody>
              <a:bodyPr wrap="square" lIns="0" tIns="0" rIns="0" bIns="0" rtlCol="0"/>
              <a:lstStyle/>
              <a:p>
                <a:endParaRPr/>
              </a:p>
            </p:txBody>
          </p:sp>
          <p:sp>
            <p:nvSpPr>
              <p:cNvPr id="107" name="object 107"/>
              <p:cNvSpPr/>
              <p:nvPr/>
            </p:nvSpPr>
            <p:spPr>
              <a:xfrm>
                <a:off x="5016449" y="5056034"/>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108" name="object 108"/>
              <p:cNvSpPr/>
              <p:nvPr/>
            </p:nvSpPr>
            <p:spPr>
              <a:xfrm>
                <a:off x="5018659" y="5058244"/>
                <a:ext cx="40005" cy="40005"/>
              </a:xfrm>
              <a:custGeom>
                <a:avLst/>
                <a:gdLst/>
                <a:ahLst/>
                <a:cxnLst/>
                <a:rect l="l" t="t" r="r" b="b"/>
                <a:pathLst>
                  <a:path w="40004" h="40004">
                    <a:moveTo>
                      <a:pt x="39776" y="0"/>
                    </a:moveTo>
                    <a:lnTo>
                      <a:pt x="39776" y="39776"/>
                    </a:lnTo>
                    <a:lnTo>
                      <a:pt x="0" y="39776"/>
                    </a:lnTo>
                    <a:lnTo>
                      <a:pt x="0" y="0"/>
                    </a:lnTo>
                    <a:lnTo>
                      <a:pt x="39776" y="0"/>
                    </a:lnTo>
                    <a:close/>
                  </a:path>
                </a:pathLst>
              </a:custGeom>
              <a:ln w="4597">
                <a:solidFill>
                  <a:srgbClr val="000000"/>
                </a:solidFill>
              </a:ln>
            </p:spPr>
            <p:txBody>
              <a:bodyPr wrap="square" lIns="0" tIns="0" rIns="0" bIns="0" rtlCol="0"/>
              <a:lstStyle/>
              <a:p>
                <a:endParaRPr/>
              </a:p>
            </p:txBody>
          </p:sp>
          <p:sp>
            <p:nvSpPr>
              <p:cNvPr id="109" name="object 109"/>
              <p:cNvSpPr/>
              <p:nvPr/>
            </p:nvSpPr>
            <p:spPr>
              <a:xfrm>
                <a:off x="5109083" y="4985321"/>
                <a:ext cx="80010" cy="150495"/>
              </a:xfrm>
              <a:custGeom>
                <a:avLst/>
                <a:gdLst/>
                <a:ahLst/>
                <a:cxnLst/>
                <a:rect l="l" t="t" r="r" b="b"/>
                <a:pathLst>
                  <a:path w="80010" h="150495">
                    <a:moveTo>
                      <a:pt x="79730" y="150444"/>
                    </a:moveTo>
                    <a:lnTo>
                      <a:pt x="79730" y="145846"/>
                    </a:lnTo>
                    <a:lnTo>
                      <a:pt x="4597" y="0"/>
                    </a:lnTo>
                    <a:lnTo>
                      <a:pt x="0" y="0"/>
                    </a:lnTo>
                    <a:lnTo>
                      <a:pt x="0" y="4597"/>
                    </a:lnTo>
                    <a:lnTo>
                      <a:pt x="75133" y="150444"/>
                    </a:lnTo>
                    <a:lnTo>
                      <a:pt x="79730" y="150444"/>
                    </a:lnTo>
                    <a:close/>
                  </a:path>
                </a:pathLst>
              </a:custGeom>
              <a:solidFill>
                <a:srgbClr val="000000"/>
              </a:solidFill>
            </p:spPr>
            <p:txBody>
              <a:bodyPr wrap="square" lIns="0" tIns="0" rIns="0" bIns="0" rtlCol="0"/>
              <a:lstStyle/>
              <a:p>
                <a:endParaRPr/>
              </a:p>
            </p:txBody>
          </p:sp>
          <p:sp>
            <p:nvSpPr>
              <p:cNvPr id="110" name="object 110"/>
              <p:cNvSpPr/>
              <p:nvPr/>
            </p:nvSpPr>
            <p:spPr>
              <a:xfrm>
                <a:off x="5091582" y="4967643"/>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11" name="object 111"/>
              <p:cNvSpPr/>
              <p:nvPr/>
            </p:nvSpPr>
            <p:spPr>
              <a:xfrm>
                <a:off x="5093792" y="4969852"/>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12" name="object 112"/>
              <p:cNvSpPr/>
              <p:nvPr/>
            </p:nvSpPr>
            <p:spPr>
              <a:xfrm>
                <a:off x="5184216" y="4945545"/>
                <a:ext cx="75565" cy="190500"/>
              </a:xfrm>
              <a:custGeom>
                <a:avLst/>
                <a:gdLst/>
                <a:ahLst/>
                <a:cxnLst/>
                <a:rect l="l" t="t" r="r" b="b"/>
                <a:pathLst>
                  <a:path w="75564" h="190500">
                    <a:moveTo>
                      <a:pt x="75311" y="4597"/>
                    </a:moveTo>
                    <a:lnTo>
                      <a:pt x="75311" y="0"/>
                    </a:lnTo>
                    <a:lnTo>
                      <a:pt x="70713" y="0"/>
                    </a:lnTo>
                    <a:lnTo>
                      <a:pt x="0" y="185623"/>
                    </a:lnTo>
                    <a:lnTo>
                      <a:pt x="0" y="190220"/>
                    </a:lnTo>
                    <a:lnTo>
                      <a:pt x="4597" y="190220"/>
                    </a:lnTo>
                    <a:lnTo>
                      <a:pt x="75311" y="4597"/>
                    </a:lnTo>
                    <a:close/>
                  </a:path>
                </a:pathLst>
              </a:custGeom>
              <a:solidFill>
                <a:srgbClr val="000000"/>
              </a:solidFill>
            </p:spPr>
            <p:txBody>
              <a:bodyPr wrap="square" lIns="0" tIns="0" rIns="0" bIns="0" rtlCol="0"/>
              <a:lstStyle/>
              <a:p>
                <a:endParaRPr/>
              </a:p>
            </p:txBody>
          </p:sp>
          <p:sp>
            <p:nvSpPr>
              <p:cNvPr id="113" name="object 113"/>
              <p:cNvSpPr/>
              <p:nvPr/>
            </p:nvSpPr>
            <p:spPr>
              <a:xfrm>
                <a:off x="5166715" y="5113489"/>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14" name="object 114"/>
              <p:cNvSpPr/>
              <p:nvPr/>
            </p:nvSpPr>
            <p:spPr>
              <a:xfrm>
                <a:off x="5168925" y="5115699"/>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15" name="object 115"/>
              <p:cNvSpPr/>
              <p:nvPr/>
            </p:nvSpPr>
            <p:spPr>
              <a:xfrm>
                <a:off x="5254929" y="4945545"/>
                <a:ext cx="80010" cy="137795"/>
              </a:xfrm>
              <a:custGeom>
                <a:avLst/>
                <a:gdLst/>
                <a:ahLst/>
                <a:cxnLst/>
                <a:rect l="l" t="t" r="r" b="b"/>
                <a:pathLst>
                  <a:path w="80010" h="137795">
                    <a:moveTo>
                      <a:pt x="79730" y="137185"/>
                    </a:moveTo>
                    <a:lnTo>
                      <a:pt x="79730" y="132587"/>
                    </a:lnTo>
                    <a:lnTo>
                      <a:pt x="4597" y="0"/>
                    </a:lnTo>
                    <a:lnTo>
                      <a:pt x="0" y="0"/>
                    </a:lnTo>
                    <a:lnTo>
                      <a:pt x="0" y="4597"/>
                    </a:lnTo>
                    <a:lnTo>
                      <a:pt x="75133" y="137185"/>
                    </a:lnTo>
                    <a:lnTo>
                      <a:pt x="79730" y="137185"/>
                    </a:lnTo>
                    <a:close/>
                  </a:path>
                </a:pathLst>
              </a:custGeom>
              <a:solidFill>
                <a:srgbClr val="000000"/>
              </a:solidFill>
            </p:spPr>
            <p:txBody>
              <a:bodyPr wrap="square" lIns="0" tIns="0" rIns="0" bIns="0" rtlCol="0"/>
              <a:lstStyle/>
              <a:p>
                <a:endParaRPr/>
              </a:p>
            </p:txBody>
          </p:sp>
          <p:sp>
            <p:nvSpPr>
              <p:cNvPr id="116" name="object 116"/>
              <p:cNvSpPr/>
              <p:nvPr/>
            </p:nvSpPr>
            <p:spPr>
              <a:xfrm>
                <a:off x="5237429" y="4927866"/>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117" name="object 117"/>
              <p:cNvSpPr/>
              <p:nvPr/>
            </p:nvSpPr>
            <p:spPr>
              <a:xfrm>
                <a:off x="5239638" y="4930076"/>
                <a:ext cx="40005" cy="40005"/>
              </a:xfrm>
              <a:custGeom>
                <a:avLst/>
                <a:gdLst/>
                <a:ahLst/>
                <a:cxnLst/>
                <a:rect l="l" t="t" r="r" b="b"/>
                <a:pathLst>
                  <a:path w="40004" h="40004">
                    <a:moveTo>
                      <a:pt x="39776" y="0"/>
                    </a:moveTo>
                    <a:lnTo>
                      <a:pt x="39776" y="39776"/>
                    </a:lnTo>
                    <a:lnTo>
                      <a:pt x="0" y="39776"/>
                    </a:lnTo>
                    <a:lnTo>
                      <a:pt x="0" y="0"/>
                    </a:lnTo>
                    <a:lnTo>
                      <a:pt x="39776" y="0"/>
                    </a:lnTo>
                    <a:close/>
                  </a:path>
                </a:pathLst>
              </a:custGeom>
              <a:ln w="4597">
                <a:solidFill>
                  <a:srgbClr val="000000"/>
                </a:solidFill>
              </a:ln>
            </p:spPr>
            <p:txBody>
              <a:bodyPr wrap="square" lIns="0" tIns="0" rIns="0" bIns="0" rtlCol="0"/>
              <a:lstStyle/>
              <a:p>
                <a:endParaRPr/>
              </a:p>
            </p:txBody>
          </p:sp>
          <p:sp>
            <p:nvSpPr>
              <p:cNvPr id="118" name="object 118"/>
              <p:cNvSpPr/>
              <p:nvPr/>
            </p:nvSpPr>
            <p:spPr>
              <a:xfrm>
                <a:off x="5330062" y="4874831"/>
                <a:ext cx="80010" cy="208279"/>
              </a:xfrm>
              <a:custGeom>
                <a:avLst/>
                <a:gdLst/>
                <a:ahLst/>
                <a:cxnLst/>
                <a:rect l="l" t="t" r="r" b="b"/>
                <a:pathLst>
                  <a:path w="80010" h="208279">
                    <a:moveTo>
                      <a:pt x="79730" y="4597"/>
                    </a:moveTo>
                    <a:lnTo>
                      <a:pt x="79730" y="0"/>
                    </a:lnTo>
                    <a:lnTo>
                      <a:pt x="75133" y="0"/>
                    </a:lnTo>
                    <a:lnTo>
                      <a:pt x="0" y="203301"/>
                    </a:lnTo>
                    <a:lnTo>
                      <a:pt x="0" y="207898"/>
                    </a:lnTo>
                    <a:lnTo>
                      <a:pt x="4597" y="207898"/>
                    </a:lnTo>
                    <a:lnTo>
                      <a:pt x="79730" y="4597"/>
                    </a:lnTo>
                    <a:close/>
                  </a:path>
                </a:pathLst>
              </a:custGeom>
              <a:solidFill>
                <a:srgbClr val="000000"/>
              </a:solidFill>
            </p:spPr>
            <p:txBody>
              <a:bodyPr wrap="square" lIns="0" tIns="0" rIns="0" bIns="0" rtlCol="0"/>
              <a:lstStyle/>
              <a:p>
                <a:endParaRPr/>
              </a:p>
            </p:txBody>
          </p:sp>
          <p:sp>
            <p:nvSpPr>
              <p:cNvPr id="119" name="object 119"/>
              <p:cNvSpPr/>
              <p:nvPr/>
            </p:nvSpPr>
            <p:spPr>
              <a:xfrm>
                <a:off x="5312562" y="5056034"/>
                <a:ext cx="57785" cy="62230"/>
              </a:xfrm>
              <a:custGeom>
                <a:avLst/>
                <a:gdLst/>
                <a:ahLst/>
                <a:cxnLst/>
                <a:rect l="l" t="t" r="r" b="b"/>
                <a:pathLst>
                  <a:path w="57785"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120" name="object 120"/>
              <p:cNvSpPr/>
              <p:nvPr/>
            </p:nvSpPr>
            <p:spPr>
              <a:xfrm>
                <a:off x="5314772" y="5058244"/>
                <a:ext cx="35560" cy="40005"/>
              </a:xfrm>
              <a:custGeom>
                <a:avLst/>
                <a:gdLst/>
                <a:ahLst/>
                <a:cxnLst/>
                <a:rect l="l" t="t" r="r" b="b"/>
                <a:pathLst>
                  <a:path w="35560"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sp>
            <p:nvSpPr>
              <p:cNvPr id="121" name="object 121"/>
              <p:cNvSpPr/>
              <p:nvPr/>
            </p:nvSpPr>
            <p:spPr>
              <a:xfrm>
                <a:off x="5405196" y="4874831"/>
                <a:ext cx="75565" cy="133350"/>
              </a:xfrm>
              <a:custGeom>
                <a:avLst/>
                <a:gdLst/>
                <a:ahLst/>
                <a:cxnLst/>
                <a:rect l="l" t="t" r="r" b="b"/>
                <a:pathLst>
                  <a:path w="75564" h="133350">
                    <a:moveTo>
                      <a:pt x="75311" y="132765"/>
                    </a:moveTo>
                    <a:lnTo>
                      <a:pt x="75311" y="128168"/>
                    </a:lnTo>
                    <a:lnTo>
                      <a:pt x="4597" y="0"/>
                    </a:lnTo>
                    <a:lnTo>
                      <a:pt x="0" y="0"/>
                    </a:lnTo>
                    <a:lnTo>
                      <a:pt x="0" y="4597"/>
                    </a:lnTo>
                    <a:lnTo>
                      <a:pt x="70713" y="132765"/>
                    </a:lnTo>
                    <a:lnTo>
                      <a:pt x="75311" y="132765"/>
                    </a:lnTo>
                    <a:close/>
                  </a:path>
                </a:pathLst>
              </a:custGeom>
              <a:solidFill>
                <a:srgbClr val="000000"/>
              </a:solidFill>
            </p:spPr>
            <p:txBody>
              <a:bodyPr wrap="square" lIns="0" tIns="0" rIns="0" bIns="0" rtlCol="0"/>
              <a:lstStyle/>
              <a:p>
                <a:endParaRPr/>
              </a:p>
            </p:txBody>
          </p:sp>
          <p:sp>
            <p:nvSpPr>
              <p:cNvPr id="122" name="object 122"/>
              <p:cNvSpPr/>
              <p:nvPr/>
            </p:nvSpPr>
            <p:spPr>
              <a:xfrm>
                <a:off x="5387695" y="4857153"/>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23" name="object 123"/>
              <p:cNvSpPr/>
              <p:nvPr/>
            </p:nvSpPr>
            <p:spPr>
              <a:xfrm>
                <a:off x="5389905" y="4859362"/>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24" name="object 124"/>
              <p:cNvSpPr/>
              <p:nvPr/>
            </p:nvSpPr>
            <p:spPr>
              <a:xfrm>
                <a:off x="5475909" y="4874831"/>
                <a:ext cx="80010" cy="133350"/>
              </a:xfrm>
              <a:custGeom>
                <a:avLst/>
                <a:gdLst/>
                <a:ahLst/>
                <a:cxnLst/>
                <a:rect l="l" t="t" r="r" b="b"/>
                <a:pathLst>
                  <a:path w="80010" h="133350">
                    <a:moveTo>
                      <a:pt x="79730" y="4597"/>
                    </a:moveTo>
                    <a:lnTo>
                      <a:pt x="79730" y="0"/>
                    </a:lnTo>
                    <a:lnTo>
                      <a:pt x="75133" y="0"/>
                    </a:lnTo>
                    <a:lnTo>
                      <a:pt x="0" y="128168"/>
                    </a:lnTo>
                    <a:lnTo>
                      <a:pt x="0" y="132765"/>
                    </a:lnTo>
                    <a:lnTo>
                      <a:pt x="4597" y="132765"/>
                    </a:lnTo>
                    <a:lnTo>
                      <a:pt x="79730" y="4597"/>
                    </a:lnTo>
                    <a:close/>
                  </a:path>
                </a:pathLst>
              </a:custGeom>
              <a:solidFill>
                <a:srgbClr val="000000"/>
              </a:solidFill>
            </p:spPr>
            <p:txBody>
              <a:bodyPr wrap="square" lIns="0" tIns="0" rIns="0" bIns="0" rtlCol="0"/>
              <a:lstStyle/>
              <a:p>
                <a:endParaRPr/>
              </a:p>
            </p:txBody>
          </p:sp>
          <p:sp>
            <p:nvSpPr>
              <p:cNvPr id="125" name="object 125"/>
              <p:cNvSpPr/>
              <p:nvPr/>
            </p:nvSpPr>
            <p:spPr>
              <a:xfrm>
                <a:off x="5458408" y="4985321"/>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126" name="object 126"/>
              <p:cNvSpPr/>
              <p:nvPr/>
            </p:nvSpPr>
            <p:spPr>
              <a:xfrm>
                <a:off x="5460618" y="4987531"/>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127" name="object 127"/>
              <p:cNvSpPr/>
              <p:nvPr/>
            </p:nvSpPr>
            <p:spPr>
              <a:xfrm>
                <a:off x="5551042" y="4874831"/>
                <a:ext cx="80010" cy="150495"/>
              </a:xfrm>
              <a:custGeom>
                <a:avLst/>
                <a:gdLst/>
                <a:ahLst/>
                <a:cxnLst/>
                <a:rect l="l" t="t" r="r" b="b"/>
                <a:pathLst>
                  <a:path w="80010" h="150495">
                    <a:moveTo>
                      <a:pt x="79730" y="150444"/>
                    </a:moveTo>
                    <a:lnTo>
                      <a:pt x="79730" y="145846"/>
                    </a:lnTo>
                    <a:lnTo>
                      <a:pt x="4597" y="0"/>
                    </a:lnTo>
                    <a:lnTo>
                      <a:pt x="0" y="0"/>
                    </a:lnTo>
                    <a:lnTo>
                      <a:pt x="0" y="4597"/>
                    </a:lnTo>
                    <a:lnTo>
                      <a:pt x="75133" y="150444"/>
                    </a:lnTo>
                    <a:lnTo>
                      <a:pt x="79730" y="150444"/>
                    </a:lnTo>
                    <a:close/>
                  </a:path>
                </a:pathLst>
              </a:custGeom>
              <a:solidFill>
                <a:srgbClr val="000000"/>
              </a:solidFill>
            </p:spPr>
            <p:txBody>
              <a:bodyPr wrap="square" lIns="0" tIns="0" rIns="0" bIns="0" rtlCol="0"/>
              <a:lstStyle/>
              <a:p>
                <a:endParaRPr/>
              </a:p>
            </p:txBody>
          </p:sp>
          <p:sp>
            <p:nvSpPr>
              <p:cNvPr id="128" name="object 128"/>
              <p:cNvSpPr/>
              <p:nvPr/>
            </p:nvSpPr>
            <p:spPr>
              <a:xfrm>
                <a:off x="5533542" y="4857153"/>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29" name="object 129"/>
              <p:cNvSpPr/>
              <p:nvPr/>
            </p:nvSpPr>
            <p:spPr>
              <a:xfrm>
                <a:off x="5535752" y="4859362"/>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30" name="object 130"/>
              <p:cNvSpPr/>
              <p:nvPr/>
            </p:nvSpPr>
            <p:spPr>
              <a:xfrm>
                <a:off x="5626176" y="4874831"/>
                <a:ext cx="75565" cy="150495"/>
              </a:xfrm>
              <a:custGeom>
                <a:avLst/>
                <a:gdLst/>
                <a:ahLst/>
                <a:cxnLst/>
                <a:rect l="l" t="t" r="r" b="b"/>
                <a:pathLst>
                  <a:path w="75564" h="150495">
                    <a:moveTo>
                      <a:pt x="75311" y="4597"/>
                    </a:moveTo>
                    <a:lnTo>
                      <a:pt x="75311" y="0"/>
                    </a:lnTo>
                    <a:lnTo>
                      <a:pt x="70713" y="0"/>
                    </a:lnTo>
                    <a:lnTo>
                      <a:pt x="0" y="145846"/>
                    </a:lnTo>
                    <a:lnTo>
                      <a:pt x="0" y="150444"/>
                    </a:lnTo>
                    <a:lnTo>
                      <a:pt x="4597" y="150444"/>
                    </a:lnTo>
                    <a:lnTo>
                      <a:pt x="75311" y="4597"/>
                    </a:lnTo>
                    <a:close/>
                  </a:path>
                </a:pathLst>
              </a:custGeom>
              <a:solidFill>
                <a:srgbClr val="000000"/>
              </a:solidFill>
            </p:spPr>
            <p:txBody>
              <a:bodyPr wrap="square" lIns="0" tIns="0" rIns="0" bIns="0" rtlCol="0"/>
              <a:lstStyle/>
              <a:p>
                <a:endParaRPr/>
              </a:p>
            </p:txBody>
          </p:sp>
          <p:sp>
            <p:nvSpPr>
              <p:cNvPr id="131" name="object 131"/>
              <p:cNvSpPr/>
              <p:nvPr/>
            </p:nvSpPr>
            <p:spPr>
              <a:xfrm>
                <a:off x="5608675" y="5002999"/>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32" name="object 132"/>
              <p:cNvSpPr/>
              <p:nvPr/>
            </p:nvSpPr>
            <p:spPr>
              <a:xfrm>
                <a:off x="5610885" y="5005209"/>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33" name="object 133"/>
              <p:cNvSpPr/>
              <p:nvPr/>
            </p:nvSpPr>
            <p:spPr>
              <a:xfrm>
                <a:off x="5696889" y="4874831"/>
                <a:ext cx="80010" cy="150495"/>
              </a:xfrm>
              <a:custGeom>
                <a:avLst/>
                <a:gdLst/>
                <a:ahLst/>
                <a:cxnLst/>
                <a:rect l="l" t="t" r="r" b="b"/>
                <a:pathLst>
                  <a:path w="80010" h="150495">
                    <a:moveTo>
                      <a:pt x="79730" y="150444"/>
                    </a:moveTo>
                    <a:lnTo>
                      <a:pt x="79730" y="145846"/>
                    </a:lnTo>
                    <a:lnTo>
                      <a:pt x="4597" y="0"/>
                    </a:lnTo>
                    <a:lnTo>
                      <a:pt x="0" y="0"/>
                    </a:lnTo>
                    <a:lnTo>
                      <a:pt x="0" y="4597"/>
                    </a:lnTo>
                    <a:lnTo>
                      <a:pt x="75133" y="150444"/>
                    </a:lnTo>
                    <a:lnTo>
                      <a:pt x="79730" y="150444"/>
                    </a:lnTo>
                    <a:close/>
                  </a:path>
                </a:pathLst>
              </a:custGeom>
              <a:solidFill>
                <a:srgbClr val="000000"/>
              </a:solidFill>
            </p:spPr>
            <p:txBody>
              <a:bodyPr wrap="square" lIns="0" tIns="0" rIns="0" bIns="0" rtlCol="0"/>
              <a:lstStyle/>
              <a:p>
                <a:endParaRPr/>
              </a:p>
            </p:txBody>
          </p:sp>
          <p:sp>
            <p:nvSpPr>
              <p:cNvPr id="134" name="object 134"/>
              <p:cNvSpPr/>
              <p:nvPr/>
            </p:nvSpPr>
            <p:spPr>
              <a:xfrm>
                <a:off x="5679389" y="4857153"/>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135" name="object 135"/>
              <p:cNvSpPr/>
              <p:nvPr/>
            </p:nvSpPr>
            <p:spPr>
              <a:xfrm>
                <a:off x="5681598" y="4859362"/>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136" name="object 136"/>
              <p:cNvSpPr/>
              <p:nvPr/>
            </p:nvSpPr>
            <p:spPr>
              <a:xfrm>
                <a:off x="5772022" y="4967643"/>
                <a:ext cx="80010" cy="57785"/>
              </a:xfrm>
              <a:custGeom>
                <a:avLst/>
                <a:gdLst/>
                <a:ahLst/>
                <a:cxnLst/>
                <a:rect l="l" t="t" r="r" b="b"/>
                <a:pathLst>
                  <a:path w="80010" h="57785">
                    <a:moveTo>
                      <a:pt x="79730" y="4597"/>
                    </a:moveTo>
                    <a:lnTo>
                      <a:pt x="79730" y="0"/>
                    </a:lnTo>
                    <a:lnTo>
                      <a:pt x="75133" y="0"/>
                    </a:lnTo>
                    <a:lnTo>
                      <a:pt x="0" y="53035"/>
                    </a:lnTo>
                    <a:lnTo>
                      <a:pt x="0" y="57632"/>
                    </a:lnTo>
                    <a:lnTo>
                      <a:pt x="4597" y="57632"/>
                    </a:lnTo>
                    <a:lnTo>
                      <a:pt x="79730" y="4597"/>
                    </a:lnTo>
                    <a:close/>
                  </a:path>
                </a:pathLst>
              </a:custGeom>
              <a:solidFill>
                <a:srgbClr val="000000"/>
              </a:solidFill>
            </p:spPr>
            <p:txBody>
              <a:bodyPr wrap="square" lIns="0" tIns="0" rIns="0" bIns="0" rtlCol="0"/>
              <a:lstStyle/>
              <a:p>
                <a:endParaRPr/>
              </a:p>
            </p:txBody>
          </p:sp>
          <p:sp>
            <p:nvSpPr>
              <p:cNvPr id="137" name="object 137"/>
              <p:cNvSpPr/>
              <p:nvPr/>
            </p:nvSpPr>
            <p:spPr>
              <a:xfrm>
                <a:off x="5754522" y="5002999"/>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38" name="object 138"/>
              <p:cNvSpPr/>
              <p:nvPr/>
            </p:nvSpPr>
            <p:spPr>
              <a:xfrm>
                <a:off x="5756732" y="5005209"/>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39" name="object 139"/>
              <p:cNvSpPr/>
              <p:nvPr/>
            </p:nvSpPr>
            <p:spPr>
              <a:xfrm>
                <a:off x="5847156" y="4967643"/>
                <a:ext cx="75565" cy="133350"/>
              </a:xfrm>
              <a:custGeom>
                <a:avLst/>
                <a:gdLst/>
                <a:ahLst/>
                <a:cxnLst/>
                <a:rect l="l" t="t" r="r" b="b"/>
                <a:pathLst>
                  <a:path w="75564" h="133350">
                    <a:moveTo>
                      <a:pt x="75311" y="132765"/>
                    </a:moveTo>
                    <a:lnTo>
                      <a:pt x="75311" y="128168"/>
                    </a:lnTo>
                    <a:lnTo>
                      <a:pt x="4597" y="0"/>
                    </a:lnTo>
                    <a:lnTo>
                      <a:pt x="0" y="0"/>
                    </a:lnTo>
                    <a:lnTo>
                      <a:pt x="0" y="4597"/>
                    </a:lnTo>
                    <a:lnTo>
                      <a:pt x="70713" y="132765"/>
                    </a:lnTo>
                    <a:lnTo>
                      <a:pt x="75311" y="132765"/>
                    </a:lnTo>
                    <a:close/>
                  </a:path>
                </a:pathLst>
              </a:custGeom>
              <a:solidFill>
                <a:srgbClr val="000000"/>
              </a:solidFill>
            </p:spPr>
            <p:txBody>
              <a:bodyPr wrap="square" lIns="0" tIns="0" rIns="0" bIns="0" rtlCol="0"/>
              <a:lstStyle/>
              <a:p>
                <a:endParaRPr/>
              </a:p>
            </p:txBody>
          </p:sp>
          <p:sp>
            <p:nvSpPr>
              <p:cNvPr id="140" name="object 140"/>
              <p:cNvSpPr/>
              <p:nvPr/>
            </p:nvSpPr>
            <p:spPr>
              <a:xfrm>
                <a:off x="5829655" y="4945545"/>
                <a:ext cx="57785" cy="62230"/>
              </a:xfrm>
              <a:custGeom>
                <a:avLst/>
                <a:gdLst/>
                <a:ahLst/>
                <a:cxnLst/>
                <a:rect l="l" t="t" r="r" b="b"/>
                <a:pathLst>
                  <a:path w="57785"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141" name="object 141"/>
              <p:cNvSpPr/>
              <p:nvPr/>
            </p:nvSpPr>
            <p:spPr>
              <a:xfrm>
                <a:off x="5831865" y="4947754"/>
                <a:ext cx="35560" cy="40005"/>
              </a:xfrm>
              <a:custGeom>
                <a:avLst/>
                <a:gdLst/>
                <a:ahLst/>
                <a:cxnLst/>
                <a:rect l="l" t="t" r="r" b="b"/>
                <a:pathLst>
                  <a:path w="35560"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sp>
            <p:nvSpPr>
              <p:cNvPr id="142" name="object 142"/>
              <p:cNvSpPr/>
              <p:nvPr/>
            </p:nvSpPr>
            <p:spPr>
              <a:xfrm>
                <a:off x="5917869" y="4985321"/>
                <a:ext cx="80010" cy="115570"/>
              </a:xfrm>
              <a:custGeom>
                <a:avLst/>
                <a:gdLst/>
                <a:ahLst/>
                <a:cxnLst/>
                <a:rect l="l" t="t" r="r" b="b"/>
                <a:pathLst>
                  <a:path w="80010" h="115570">
                    <a:moveTo>
                      <a:pt x="79730" y="4597"/>
                    </a:moveTo>
                    <a:lnTo>
                      <a:pt x="79730" y="0"/>
                    </a:lnTo>
                    <a:lnTo>
                      <a:pt x="75133" y="0"/>
                    </a:lnTo>
                    <a:lnTo>
                      <a:pt x="0" y="110489"/>
                    </a:lnTo>
                    <a:lnTo>
                      <a:pt x="0" y="115087"/>
                    </a:lnTo>
                    <a:lnTo>
                      <a:pt x="4597" y="115087"/>
                    </a:lnTo>
                    <a:lnTo>
                      <a:pt x="79730" y="4597"/>
                    </a:lnTo>
                    <a:close/>
                  </a:path>
                </a:pathLst>
              </a:custGeom>
              <a:solidFill>
                <a:srgbClr val="000000"/>
              </a:solidFill>
            </p:spPr>
            <p:txBody>
              <a:bodyPr wrap="square" lIns="0" tIns="0" rIns="0" bIns="0" rtlCol="0"/>
              <a:lstStyle/>
              <a:p>
                <a:endParaRPr/>
              </a:p>
            </p:txBody>
          </p:sp>
          <p:sp>
            <p:nvSpPr>
              <p:cNvPr id="143" name="object 143"/>
              <p:cNvSpPr/>
              <p:nvPr/>
            </p:nvSpPr>
            <p:spPr>
              <a:xfrm>
                <a:off x="5900369" y="5078133"/>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144" name="object 144"/>
              <p:cNvSpPr/>
              <p:nvPr/>
            </p:nvSpPr>
            <p:spPr>
              <a:xfrm>
                <a:off x="5902578" y="5080342"/>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145" name="object 145"/>
              <p:cNvSpPr/>
              <p:nvPr/>
            </p:nvSpPr>
            <p:spPr>
              <a:xfrm>
                <a:off x="5993003" y="5025097"/>
                <a:ext cx="40005" cy="398145"/>
              </a:xfrm>
              <a:custGeom>
                <a:avLst/>
                <a:gdLst/>
                <a:ahLst/>
                <a:cxnLst/>
                <a:rect l="l" t="t" r="r" b="b"/>
                <a:pathLst>
                  <a:path w="40004" h="398145">
                    <a:moveTo>
                      <a:pt x="0" y="397941"/>
                    </a:moveTo>
                    <a:lnTo>
                      <a:pt x="39954" y="397941"/>
                    </a:lnTo>
                    <a:lnTo>
                      <a:pt x="39954" y="0"/>
                    </a:lnTo>
                    <a:lnTo>
                      <a:pt x="0" y="0"/>
                    </a:lnTo>
                    <a:lnTo>
                      <a:pt x="0" y="397941"/>
                    </a:lnTo>
                    <a:close/>
                  </a:path>
                </a:pathLst>
              </a:custGeom>
              <a:solidFill>
                <a:srgbClr val="000000"/>
              </a:solidFill>
            </p:spPr>
            <p:txBody>
              <a:bodyPr wrap="square" lIns="0" tIns="0" rIns="0" bIns="0" rtlCol="0"/>
              <a:lstStyle/>
              <a:p>
                <a:endParaRPr/>
              </a:p>
            </p:txBody>
          </p:sp>
          <p:sp>
            <p:nvSpPr>
              <p:cNvPr id="146" name="object 146"/>
              <p:cNvSpPr/>
              <p:nvPr/>
            </p:nvSpPr>
            <p:spPr>
              <a:xfrm>
                <a:off x="5975502" y="4967643"/>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47" name="object 147"/>
              <p:cNvSpPr/>
              <p:nvPr/>
            </p:nvSpPr>
            <p:spPr>
              <a:xfrm>
                <a:off x="5977712" y="4969852"/>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48" name="object 148"/>
              <p:cNvSpPr/>
              <p:nvPr/>
            </p:nvSpPr>
            <p:spPr>
              <a:xfrm>
                <a:off x="6103493" y="5078132"/>
                <a:ext cx="115570" cy="345440"/>
              </a:xfrm>
              <a:custGeom>
                <a:avLst/>
                <a:gdLst/>
                <a:ahLst/>
                <a:cxnLst/>
                <a:rect l="l" t="t" r="r" b="b"/>
                <a:pathLst>
                  <a:path w="115570" h="345439">
                    <a:moveTo>
                      <a:pt x="115087" y="53035"/>
                    </a:moveTo>
                    <a:lnTo>
                      <a:pt x="39954" y="0"/>
                    </a:lnTo>
                    <a:lnTo>
                      <a:pt x="35356" y="0"/>
                    </a:lnTo>
                    <a:lnTo>
                      <a:pt x="0" y="340309"/>
                    </a:lnTo>
                    <a:lnTo>
                      <a:pt x="0" y="344893"/>
                    </a:lnTo>
                    <a:lnTo>
                      <a:pt x="4597" y="344893"/>
                    </a:lnTo>
                    <a:lnTo>
                      <a:pt x="39636" y="7632"/>
                    </a:lnTo>
                    <a:lnTo>
                      <a:pt x="110490" y="57632"/>
                    </a:lnTo>
                    <a:lnTo>
                      <a:pt x="115087" y="57632"/>
                    </a:lnTo>
                    <a:lnTo>
                      <a:pt x="115087" y="53035"/>
                    </a:lnTo>
                    <a:close/>
                  </a:path>
                </a:pathLst>
              </a:custGeom>
              <a:solidFill>
                <a:srgbClr val="000000"/>
              </a:solidFill>
            </p:spPr>
            <p:txBody>
              <a:bodyPr wrap="square" lIns="0" tIns="0" rIns="0" bIns="0" rtlCol="0"/>
              <a:lstStyle/>
              <a:p>
                <a:endParaRPr/>
              </a:p>
            </p:txBody>
          </p:sp>
          <p:sp>
            <p:nvSpPr>
              <p:cNvPr id="149" name="object 149"/>
              <p:cNvSpPr/>
              <p:nvPr/>
            </p:nvSpPr>
            <p:spPr>
              <a:xfrm>
                <a:off x="6121349" y="5056034"/>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150" name="object 150"/>
              <p:cNvSpPr/>
              <p:nvPr/>
            </p:nvSpPr>
            <p:spPr>
              <a:xfrm>
                <a:off x="6123559" y="5058244"/>
                <a:ext cx="40005" cy="40005"/>
              </a:xfrm>
              <a:custGeom>
                <a:avLst/>
                <a:gdLst/>
                <a:ahLst/>
                <a:cxnLst/>
                <a:rect l="l" t="t" r="r" b="b"/>
                <a:pathLst>
                  <a:path w="40004" h="40004">
                    <a:moveTo>
                      <a:pt x="39776" y="0"/>
                    </a:moveTo>
                    <a:lnTo>
                      <a:pt x="39776" y="39776"/>
                    </a:lnTo>
                    <a:lnTo>
                      <a:pt x="0" y="39776"/>
                    </a:lnTo>
                    <a:lnTo>
                      <a:pt x="0" y="0"/>
                    </a:lnTo>
                    <a:lnTo>
                      <a:pt x="39776" y="0"/>
                    </a:lnTo>
                    <a:close/>
                  </a:path>
                </a:pathLst>
              </a:custGeom>
              <a:ln w="4597">
                <a:solidFill>
                  <a:srgbClr val="000000"/>
                </a:solidFill>
              </a:ln>
            </p:spPr>
            <p:txBody>
              <a:bodyPr wrap="square" lIns="0" tIns="0" rIns="0" bIns="0" rtlCol="0"/>
              <a:lstStyle/>
              <a:p>
                <a:endParaRPr/>
              </a:p>
            </p:txBody>
          </p:sp>
          <p:sp>
            <p:nvSpPr>
              <p:cNvPr id="151" name="object 151"/>
              <p:cNvSpPr/>
              <p:nvPr/>
            </p:nvSpPr>
            <p:spPr>
              <a:xfrm>
                <a:off x="6213983" y="5020678"/>
                <a:ext cx="80010" cy="115570"/>
              </a:xfrm>
              <a:custGeom>
                <a:avLst/>
                <a:gdLst/>
                <a:ahLst/>
                <a:cxnLst/>
                <a:rect l="l" t="t" r="r" b="b"/>
                <a:pathLst>
                  <a:path w="80010" h="115570">
                    <a:moveTo>
                      <a:pt x="79730" y="4597"/>
                    </a:moveTo>
                    <a:lnTo>
                      <a:pt x="79730" y="0"/>
                    </a:lnTo>
                    <a:lnTo>
                      <a:pt x="75133" y="0"/>
                    </a:lnTo>
                    <a:lnTo>
                      <a:pt x="0" y="110489"/>
                    </a:lnTo>
                    <a:lnTo>
                      <a:pt x="0" y="115087"/>
                    </a:lnTo>
                    <a:lnTo>
                      <a:pt x="4597" y="115087"/>
                    </a:lnTo>
                    <a:lnTo>
                      <a:pt x="79730" y="4597"/>
                    </a:lnTo>
                    <a:close/>
                  </a:path>
                </a:pathLst>
              </a:custGeom>
              <a:solidFill>
                <a:srgbClr val="000000"/>
              </a:solidFill>
            </p:spPr>
            <p:txBody>
              <a:bodyPr wrap="square" lIns="0" tIns="0" rIns="0" bIns="0" rtlCol="0"/>
              <a:lstStyle/>
              <a:p>
                <a:endParaRPr/>
              </a:p>
            </p:txBody>
          </p:sp>
          <p:sp>
            <p:nvSpPr>
              <p:cNvPr id="152" name="object 152"/>
              <p:cNvSpPr/>
              <p:nvPr/>
            </p:nvSpPr>
            <p:spPr>
              <a:xfrm>
                <a:off x="6196482" y="5113489"/>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53" name="object 153"/>
              <p:cNvSpPr/>
              <p:nvPr/>
            </p:nvSpPr>
            <p:spPr>
              <a:xfrm>
                <a:off x="6198692" y="5115699"/>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54" name="object 154"/>
              <p:cNvSpPr/>
              <p:nvPr/>
            </p:nvSpPr>
            <p:spPr>
              <a:xfrm>
                <a:off x="6289116" y="5020678"/>
                <a:ext cx="75565" cy="133350"/>
              </a:xfrm>
              <a:custGeom>
                <a:avLst/>
                <a:gdLst/>
                <a:ahLst/>
                <a:cxnLst/>
                <a:rect l="l" t="t" r="r" b="b"/>
                <a:pathLst>
                  <a:path w="75564" h="133350">
                    <a:moveTo>
                      <a:pt x="75311" y="132765"/>
                    </a:moveTo>
                    <a:lnTo>
                      <a:pt x="75311" y="128168"/>
                    </a:lnTo>
                    <a:lnTo>
                      <a:pt x="4597" y="0"/>
                    </a:lnTo>
                    <a:lnTo>
                      <a:pt x="0" y="0"/>
                    </a:lnTo>
                    <a:lnTo>
                      <a:pt x="0" y="4597"/>
                    </a:lnTo>
                    <a:lnTo>
                      <a:pt x="70713" y="132765"/>
                    </a:lnTo>
                    <a:lnTo>
                      <a:pt x="75311" y="132765"/>
                    </a:lnTo>
                    <a:close/>
                  </a:path>
                </a:pathLst>
              </a:custGeom>
              <a:solidFill>
                <a:srgbClr val="000000"/>
              </a:solidFill>
            </p:spPr>
            <p:txBody>
              <a:bodyPr wrap="square" lIns="0" tIns="0" rIns="0" bIns="0" rtlCol="0"/>
              <a:lstStyle/>
              <a:p>
                <a:endParaRPr/>
              </a:p>
            </p:txBody>
          </p:sp>
          <p:sp>
            <p:nvSpPr>
              <p:cNvPr id="155" name="object 155"/>
              <p:cNvSpPr/>
              <p:nvPr/>
            </p:nvSpPr>
            <p:spPr>
              <a:xfrm>
                <a:off x="6271615" y="5002999"/>
                <a:ext cx="57785" cy="57785"/>
              </a:xfrm>
              <a:custGeom>
                <a:avLst/>
                <a:gdLst/>
                <a:ahLst/>
                <a:cxnLst/>
                <a:rect l="l" t="t" r="r" b="b"/>
                <a:pathLst>
                  <a:path w="57785"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56" name="object 156"/>
              <p:cNvSpPr/>
              <p:nvPr/>
            </p:nvSpPr>
            <p:spPr>
              <a:xfrm>
                <a:off x="6273825" y="5005209"/>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57" name="object 157"/>
              <p:cNvSpPr/>
              <p:nvPr/>
            </p:nvSpPr>
            <p:spPr>
              <a:xfrm>
                <a:off x="6359829" y="5002999"/>
                <a:ext cx="80010" cy="150495"/>
              </a:xfrm>
              <a:custGeom>
                <a:avLst/>
                <a:gdLst/>
                <a:ahLst/>
                <a:cxnLst/>
                <a:rect l="l" t="t" r="r" b="b"/>
                <a:pathLst>
                  <a:path w="80010" h="150495">
                    <a:moveTo>
                      <a:pt x="79730" y="4597"/>
                    </a:moveTo>
                    <a:lnTo>
                      <a:pt x="79730" y="0"/>
                    </a:lnTo>
                    <a:lnTo>
                      <a:pt x="75133" y="0"/>
                    </a:lnTo>
                    <a:lnTo>
                      <a:pt x="0" y="145846"/>
                    </a:lnTo>
                    <a:lnTo>
                      <a:pt x="0" y="150444"/>
                    </a:lnTo>
                    <a:lnTo>
                      <a:pt x="4597" y="150444"/>
                    </a:lnTo>
                    <a:lnTo>
                      <a:pt x="79730" y="4597"/>
                    </a:lnTo>
                    <a:close/>
                  </a:path>
                </a:pathLst>
              </a:custGeom>
              <a:solidFill>
                <a:srgbClr val="000000"/>
              </a:solidFill>
            </p:spPr>
            <p:txBody>
              <a:bodyPr wrap="square" lIns="0" tIns="0" rIns="0" bIns="0" rtlCol="0"/>
              <a:lstStyle/>
              <a:p>
                <a:endParaRPr/>
              </a:p>
            </p:txBody>
          </p:sp>
          <p:sp>
            <p:nvSpPr>
              <p:cNvPr id="158" name="object 158"/>
              <p:cNvSpPr/>
              <p:nvPr/>
            </p:nvSpPr>
            <p:spPr>
              <a:xfrm>
                <a:off x="6342329" y="5131168"/>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159" name="object 159"/>
              <p:cNvSpPr/>
              <p:nvPr/>
            </p:nvSpPr>
            <p:spPr>
              <a:xfrm>
                <a:off x="6344538" y="5133378"/>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160" name="object 160"/>
              <p:cNvSpPr/>
              <p:nvPr/>
            </p:nvSpPr>
            <p:spPr>
              <a:xfrm>
                <a:off x="6434962" y="5002999"/>
                <a:ext cx="80010" cy="97790"/>
              </a:xfrm>
              <a:custGeom>
                <a:avLst/>
                <a:gdLst/>
                <a:ahLst/>
                <a:cxnLst/>
                <a:rect l="l" t="t" r="r" b="b"/>
                <a:pathLst>
                  <a:path w="80009" h="97789">
                    <a:moveTo>
                      <a:pt x="79730" y="97409"/>
                    </a:moveTo>
                    <a:lnTo>
                      <a:pt x="79730" y="92811"/>
                    </a:lnTo>
                    <a:lnTo>
                      <a:pt x="4597" y="0"/>
                    </a:lnTo>
                    <a:lnTo>
                      <a:pt x="0" y="0"/>
                    </a:lnTo>
                    <a:lnTo>
                      <a:pt x="0" y="4597"/>
                    </a:lnTo>
                    <a:lnTo>
                      <a:pt x="75133" y="97409"/>
                    </a:lnTo>
                    <a:lnTo>
                      <a:pt x="79730" y="97409"/>
                    </a:lnTo>
                    <a:close/>
                  </a:path>
                </a:pathLst>
              </a:custGeom>
              <a:solidFill>
                <a:srgbClr val="000000"/>
              </a:solidFill>
            </p:spPr>
            <p:txBody>
              <a:bodyPr wrap="square" lIns="0" tIns="0" rIns="0" bIns="0" rtlCol="0"/>
              <a:lstStyle/>
              <a:p>
                <a:endParaRPr/>
              </a:p>
            </p:txBody>
          </p:sp>
          <p:sp>
            <p:nvSpPr>
              <p:cNvPr id="161" name="object 161"/>
              <p:cNvSpPr/>
              <p:nvPr/>
            </p:nvSpPr>
            <p:spPr>
              <a:xfrm>
                <a:off x="6417462" y="4985321"/>
                <a:ext cx="40005" cy="40005"/>
              </a:xfrm>
              <a:custGeom>
                <a:avLst/>
                <a:gdLst/>
                <a:ahLst/>
                <a:cxnLst/>
                <a:rect l="l" t="t" r="r" b="b"/>
                <a:pathLst>
                  <a:path w="40004" h="40004">
                    <a:moveTo>
                      <a:pt x="39776" y="39776"/>
                    </a:moveTo>
                    <a:lnTo>
                      <a:pt x="39776" y="0"/>
                    </a:lnTo>
                    <a:lnTo>
                      <a:pt x="0" y="0"/>
                    </a:lnTo>
                    <a:lnTo>
                      <a:pt x="0" y="39776"/>
                    </a:lnTo>
                    <a:lnTo>
                      <a:pt x="39776" y="39776"/>
                    </a:lnTo>
                    <a:close/>
                  </a:path>
                </a:pathLst>
              </a:custGeom>
              <a:solidFill>
                <a:srgbClr val="FFFFFF"/>
              </a:solidFill>
            </p:spPr>
            <p:txBody>
              <a:bodyPr wrap="square" lIns="0" tIns="0" rIns="0" bIns="0" rtlCol="0"/>
              <a:lstStyle/>
              <a:p>
                <a:endParaRPr/>
              </a:p>
            </p:txBody>
          </p:sp>
          <p:sp>
            <p:nvSpPr>
              <p:cNvPr id="162" name="object 162"/>
              <p:cNvSpPr/>
              <p:nvPr/>
            </p:nvSpPr>
            <p:spPr>
              <a:xfrm>
                <a:off x="6419672" y="4987531"/>
                <a:ext cx="35560" cy="35560"/>
              </a:xfrm>
              <a:custGeom>
                <a:avLst/>
                <a:gdLst/>
                <a:ahLst/>
                <a:cxnLst/>
                <a:rect l="l" t="t" r="r" b="b"/>
                <a:pathLst>
                  <a:path w="35560"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63" name="object 163"/>
              <p:cNvSpPr/>
              <p:nvPr/>
            </p:nvSpPr>
            <p:spPr>
              <a:xfrm>
                <a:off x="6510096" y="5020678"/>
                <a:ext cx="75565" cy="80010"/>
              </a:xfrm>
              <a:custGeom>
                <a:avLst/>
                <a:gdLst/>
                <a:ahLst/>
                <a:cxnLst/>
                <a:rect l="l" t="t" r="r" b="b"/>
                <a:pathLst>
                  <a:path w="75565" h="80010">
                    <a:moveTo>
                      <a:pt x="75310" y="4597"/>
                    </a:moveTo>
                    <a:lnTo>
                      <a:pt x="75310" y="0"/>
                    </a:lnTo>
                    <a:lnTo>
                      <a:pt x="70713" y="0"/>
                    </a:lnTo>
                    <a:lnTo>
                      <a:pt x="0" y="75133"/>
                    </a:lnTo>
                    <a:lnTo>
                      <a:pt x="0" y="79730"/>
                    </a:lnTo>
                    <a:lnTo>
                      <a:pt x="4597" y="79730"/>
                    </a:lnTo>
                    <a:lnTo>
                      <a:pt x="75310" y="4597"/>
                    </a:lnTo>
                    <a:close/>
                  </a:path>
                </a:pathLst>
              </a:custGeom>
              <a:solidFill>
                <a:srgbClr val="000000"/>
              </a:solidFill>
            </p:spPr>
            <p:txBody>
              <a:bodyPr wrap="square" lIns="0" tIns="0" rIns="0" bIns="0" rtlCol="0"/>
              <a:lstStyle/>
              <a:p>
                <a:endParaRPr/>
              </a:p>
            </p:txBody>
          </p:sp>
          <p:sp>
            <p:nvSpPr>
              <p:cNvPr id="164" name="object 164"/>
              <p:cNvSpPr/>
              <p:nvPr/>
            </p:nvSpPr>
            <p:spPr>
              <a:xfrm>
                <a:off x="6492595" y="5078133"/>
                <a:ext cx="40005" cy="40005"/>
              </a:xfrm>
              <a:custGeom>
                <a:avLst/>
                <a:gdLst/>
                <a:ahLst/>
                <a:cxnLst/>
                <a:rect l="l" t="t" r="r" b="b"/>
                <a:pathLst>
                  <a:path w="40004" h="40004">
                    <a:moveTo>
                      <a:pt x="39776" y="39776"/>
                    </a:moveTo>
                    <a:lnTo>
                      <a:pt x="39776" y="0"/>
                    </a:lnTo>
                    <a:lnTo>
                      <a:pt x="0" y="0"/>
                    </a:lnTo>
                    <a:lnTo>
                      <a:pt x="0" y="39776"/>
                    </a:lnTo>
                    <a:lnTo>
                      <a:pt x="39776" y="39776"/>
                    </a:lnTo>
                    <a:close/>
                  </a:path>
                </a:pathLst>
              </a:custGeom>
              <a:solidFill>
                <a:srgbClr val="FFFFFF"/>
              </a:solidFill>
            </p:spPr>
            <p:txBody>
              <a:bodyPr wrap="square" lIns="0" tIns="0" rIns="0" bIns="0" rtlCol="0"/>
              <a:lstStyle/>
              <a:p>
                <a:endParaRPr/>
              </a:p>
            </p:txBody>
          </p:sp>
          <p:sp>
            <p:nvSpPr>
              <p:cNvPr id="165" name="object 165"/>
              <p:cNvSpPr/>
              <p:nvPr/>
            </p:nvSpPr>
            <p:spPr>
              <a:xfrm>
                <a:off x="6494805" y="5080342"/>
                <a:ext cx="35560" cy="35560"/>
              </a:xfrm>
              <a:custGeom>
                <a:avLst/>
                <a:gdLst/>
                <a:ahLst/>
                <a:cxnLst/>
                <a:rect l="l" t="t" r="r" b="b"/>
                <a:pathLst>
                  <a:path w="35559"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66" name="object 166"/>
              <p:cNvSpPr/>
              <p:nvPr/>
            </p:nvSpPr>
            <p:spPr>
              <a:xfrm>
                <a:off x="6580809" y="5020678"/>
                <a:ext cx="80010" cy="133350"/>
              </a:xfrm>
              <a:custGeom>
                <a:avLst/>
                <a:gdLst/>
                <a:ahLst/>
                <a:cxnLst/>
                <a:rect l="l" t="t" r="r" b="b"/>
                <a:pathLst>
                  <a:path w="80009" h="133350">
                    <a:moveTo>
                      <a:pt x="79730" y="132765"/>
                    </a:moveTo>
                    <a:lnTo>
                      <a:pt x="79730" y="128168"/>
                    </a:lnTo>
                    <a:lnTo>
                      <a:pt x="4597" y="0"/>
                    </a:lnTo>
                    <a:lnTo>
                      <a:pt x="0" y="0"/>
                    </a:lnTo>
                    <a:lnTo>
                      <a:pt x="0" y="4597"/>
                    </a:lnTo>
                    <a:lnTo>
                      <a:pt x="75133" y="132765"/>
                    </a:lnTo>
                    <a:lnTo>
                      <a:pt x="79730" y="132765"/>
                    </a:lnTo>
                    <a:close/>
                  </a:path>
                </a:pathLst>
              </a:custGeom>
              <a:solidFill>
                <a:srgbClr val="000000"/>
              </a:solidFill>
            </p:spPr>
            <p:txBody>
              <a:bodyPr wrap="square" lIns="0" tIns="0" rIns="0" bIns="0" rtlCol="0"/>
              <a:lstStyle/>
              <a:p>
                <a:endParaRPr/>
              </a:p>
            </p:txBody>
          </p:sp>
          <p:sp>
            <p:nvSpPr>
              <p:cNvPr id="167" name="object 167"/>
              <p:cNvSpPr/>
              <p:nvPr/>
            </p:nvSpPr>
            <p:spPr>
              <a:xfrm>
                <a:off x="6563308" y="5002999"/>
                <a:ext cx="44450" cy="40005"/>
              </a:xfrm>
              <a:custGeom>
                <a:avLst/>
                <a:gdLst/>
                <a:ahLst/>
                <a:cxnLst/>
                <a:rect l="l" t="t" r="r" b="b"/>
                <a:pathLst>
                  <a:path w="44450" h="40004">
                    <a:moveTo>
                      <a:pt x="44196" y="39776"/>
                    </a:moveTo>
                    <a:lnTo>
                      <a:pt x="44196" y="0"/>
                    </a:lnTo>
                    <a:lnTo>
                      <a:pt x="0" y="0"/>
                    </a:lnTo>
                    <a:lnTo>
                      <a:pt x="0" y="39776"/>
                    </a:lnTo>
                    <a:lnTo>
                      <a:pt x="44196" y="39776"/>
                    </a:lnTo>
                    <a:close/>
                  </a:path>
                </a:pathLst>
              </a:custGeom>
              <a:solidFill>
                <a:srgbClr val="FFFFFF"/>
              </a:solidFill>
            </p:spPr>
            <p:txBody>
              <a:bodyPr wrap="square" lIns="0" tIns="0" rIns="0" bIns="0" rtlCol="0"/>
              <a:lstStyle/>
              <a:p>
                <a:endParaRPr/>
              </a:p>
            </p:txBody>
          </p:sp>
          <p:sp>
            <p:nvSpPr>
              <p:cNvPr id="168" name="object 168"/>
              <p:cNvSpPr/>
              <p:nvPr/>
            </p:nvSpPr>
            <p:spPr>
              <a:xfrm>
                <a:off x="6565518" y="5005209"/>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169" name="object 169"/>
              <p:cNvSpPr/>
              <p:nvPr/>
            </p:nvSpPr>
            <p:spPr>
              <a:xfrm>
                <a:off x="6655942" y="5038356"/>
                <a:ext cx="80010" cy="115570"/>
              </a:xfrm>
              <a:custGeom>
                <a:avLst/>
                <a:gdLst/>
                <a:ahLst/>
                <a:cxnLst/>
                <a:rect l="l" t="t" r="r" b="b"/>
                <a:pathLst>
                  <a:path w="80009" h="115570">
                    <a:moveTo>
                      <a:pt x="79730" y="4597"/>
                    </a:moveTo>
                    <a:lnTo>
                      <a:pt x="79730" y="0"/>
                    </a:lnTo>
                    <a:lnTo>
                      <a:pt x="75133" y="0"/>
                    </a:lnTo>
                    <a:lnTo>
                      <a:pt x="0" y="110489"/>
                    </a:lnTo>
                    <a:lnTo>
                      <a:pt x="0" y="115087"/>
                    </a:lnTo>
                    <a:lnTo>
                      <a:pt x="4597" y="115087"/>
                    </a:lnTo>
                    <a:lnTo>
                      <a:pt x="79730" y="4597"/>
                    </a:lnTo>
                    <a:close/>
                  </a:path>
                </a:pathLst>
              </a:custGeom>
              <a:solidFill>
                <a:srgbClr val="000000"/>
              </a:solidFill>
            </p:spPr>
            <p:txBody>
              <a:bodyPr wrap="square" lIns="0" tIns="0" rIns="0" bIns="0" rtlCol="0"/>
              <a:lstStyle/>
              <a:p>
                <a:endParaRPr/>
              </a:p>
            </p:txBody>
          </p:sp>
          <p:sp>
            <p:nvSpPr>
              <p:cNvPr id="170" name="object 170"/>
              <p:cNvSpPr/>
              <p:nvPr/>
            </p:nvSpPr>
            <p:spPr>
              <a:xfrm>
                <a:off x="6638442" y="5131168"/>
                <a:ext cx="57785" cy="62230"/>
              </a:xfrm>
              <a:custGeom>
                <a:avLst/>
                <a:gdLst/>
                <a:ahLst/>
                <a:cxnLst/>
                <a:rect l="l" t="t" r="r" b="b"/>
                <a:pathLst>
                  <a:path w="57784"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171" name="object 171"/>
              <p:cNvSpPr/>
              <p:nvPr/>
            </p:nvSpPr>
            <p:spPr>
              <a:xfrm>
                <a:off x="6640652" y="5133378"/>
                <a:ext cx="35560" cy="35560"/>
              </a:xfrm>
              <a:custGeom>
                <a:avLst/>
                <a:gdLst/>
                <a:ahLst/>
                <a:cxnLst/>
                <a:rect l="l" t="t" r="r" b="b"/>
                <a:pathLst>
                  <a:path w="35559"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72" name="object 172"/>
              <p:cNvSpPr/>
              <p:nvPr/>
            </p:nvSpPr>
            <p:spPr>
              <a:xfrm>
                <a:off x="6731076" y="5038356"/>
                <a:ext cx="75565" cy="190500"/>
              </a:xfrm>
              <a:custGeom>
                <a:avLst/>
                <a:gdLst/>
                <a:ahLst/>
                <a:cxnLst/>
                <a:rect l="l" t="t" r="r" b="b"/>
                <a:pathLst>
                  <a:path w="75565" h="190500">
                    <a:moveTo>
                      <a:pt x="75311" y="190220"/>
                    </a:moveTo>
                    <a:lnTo>
                      <a:pt x="75311" y="185623"/>
                    </a:lnTo>
                    <a:lnTo>
                      <a:pt x="4597" y="0"/>
                    </a:lnTo>
                    <a:lnTo>
                      <a:pt x="0" y="0"/>
                    </a:lnTo>
                    <a:lnTo>
                      <a:pt x="0" y="4597"/>
                    </a:lnTo>
                    <a:lnTo>
                      <a:pt x="70713" y="190220"/>
                    </a:lnTo>
                    <a:lnTo>
                      <a:pt x="75311" y="190220"/>
                    </a:lnTo>
                    <a:close/>
                  </a:path>
                </a:pathLst>
              </a:custGeom>
              <a:solidFill>
                <a:srgbClr val="000000"/>
              </a:solidFill>
            </p:spPr>
            <p:txBody>
              <a:bodyPr wrap="square" lIns="0" tIns="0" rIns="0" bIns="0" rtlCol="0"/>
              <a:lstStyle/>
              <a:p>
                <a:endParaRPr/>
              </a:p>
            </p:txBody>
          </p:sp>
          <p:sp>
            <p:nvSpPr>
              <p:cNvPr id="173" name="object 173"/>
              <p:cNvSpPr/>
              <p:nvPr/>
            </p:nvSpPr>
            <p:spPr>
              <a:xfrm>
                <a:off x="6713575" y="5020678"/>
                <a:ext cx="40005" cy="40005"/>
              </a:xfrm>
              <a:custGeom>
                <a:avLst/>
                <a:gdLst/>
                <a:ahLst/>
                <a:cxnLst/>
                <a:rect l="l" t="t" r="r" b="b"/>
                <a:pathLst>
                  <a:path w="40004" h="40004">
                    <a:moveTo>
                      <a:pt x="39776" y="39776"/>
                    </a:moveTo>
                    <a:lnTo>
                      <a:pt x="39776" y="0"/>
                    </a:lnTo>
                    <a:lnTo>
                      <a:pt x="0" y="0"/>
                    </a:lnTo>
                    <a:lnTo>
                      <a:pt x="0" y="39776"/>
                    </a:lnTo>
                    <a:lnTo>
                      <a:pt x="39776" y="39776"/>
                    </a:lnTo>
                    <a:close/>
                  </a:path>
                </a:pathLst>
              </a:custGeom>
              <a:solidFill>
                <a:srgbClr val="FFFFFF"/>
              </a:solidFill>
            </p:spPr>
            <p:txBody>
              <a:bodyPr wrap="square" lIns="0" tIns="0" rIns="0" bIns="0" rtlCol="0"/>
              <a:lstStyle/>
              <a:p>
                <a:endParaRPr/>
              </a:p>
            </p:txBody>
          </p:sp>
          <p:sp>
            <p:nvSpPr>
              <p:cNvPr id="174" name="object 174"/>
              <p:cNvSpPr/>
              <p:nvPr/>
            </p:nvSpPr>
            <p:spPr>
              <a:xfrm>
                <a:off x="6715785" y="5022887"/>
                <a:ext cx="35560" cy="35560"/>
              </a:xfrm>
              <a:custGeom>
                <a:avLst/>
                <a:gdLst/>
                <a:ahLst/>
                <a:cxnLst/>
                <a:rect l="l" t="t" r="r" b="b"/>
                <a:pathLst>
                  <a:path w="35559"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75" name="object 175"/>
              <p:cNvSpPr/>
              <p:nvPr/>
            </p:nvSpPr>
            <p:spPr>
              <a:xfrm>
                <a:off x="6801789" y="5131168"/>
                <a:ext cx="97790" cy="97790"/>
              </a:xfrm>
              <a:custGeom>
                <a:avLst/>
                <a:gdLst/>
                <a:ahLst/>
                <a:cxnLst/>
                <a:rect l="l" t="t" r="r" b="b"/>
                <a:pathLst>
                  <a:path w="97790" h="97789">
                    <a:moveTo>
                      <a:pt x="97409" y="4597"/>
                    </a:moveTo>
                    <a:lnTo>
                      <a:pt x="97409" y="0"/>
                    </a:lnTo>
                    <a:lnTo>
                      <a:pt x="92811" y="0"/>
                    </a:lnTo>
                    <a:lnTo>
                      <a:pt x="0" y="92811"/>
                    </a:lnTo>
                    <a:lnTo>
                      <a:pt x="0" y="97409"/>
                    </a:lnTo>
                    <a:lnTo>
                      <a:pt x="4597" y="97409"/>
                    </a:lnTo>
                    <a:lnTo>
                      <a:pt x="97409" y="4597"/>
                    </a:lnTo>
                    <a:close/>
                  </a:path>
                </a:pathLst>
              </a:custGeom>
              <a:solidFill>
                <a:srgbClr val="000000"/>
              </a:solidFill>
            </p:spPr>
            <p:txBody>
              <a:bodyPr wrap="square" lIns="0" tIns="0" rIns="0" bIns="0" rtlCol="0"/>
              <a:lstStyle/>
              <a:p>
                <a:endParaRPr/>
              </a:p>
            </p:txBody>
          </p:sp>
          <p:sp>
            <p:nvSpPr>
              <p:cNvPr id="176" name="object 176"/>
              <p:cNvSpPr/>
              <p:nvPr/>
            </p:nvSpPr>
            <p:spPr>
              <a:xfrm>
                <a:off x="6784289" y="5206301"/>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177" name="object 177"/>
              <p:cNvSpPr/>
              <p:nvPr/>
            </p:nvSpPr>
            <p:spPr>
              <a:xfrm>
                <a:off x="6786498" y="5208511"/>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178" name="object 178"/>
              <p:cNvSpPr/>
              <p:nvPr/>
            </p:nvSpPr>
            <p:spPr>
              <a:xfrm>
                <a:off x="6894601" y="5131168"/>
                <a:ext cx="80010" cy="150495"/>
              </a:xfrm>
              <a:custGeom>
                <a:avLst/>
                <a:gdLst/>
                <a:ahLst/>
                <a:cxnLst/>
                <a:rect l="l" t="t" r="r" b="b"/>
                <a:pathLst>
                  <a:path w="80009" h="150495">
                    <a:moveTo>
                      <a:pt x="79730" y="150444"/>
                    </a:moveTo>
                    <a:lnTo>
                      <a:pt x="79730" y="145846"/>
                    </a:lnTo>
                    <a:lnTo>
                      <a:pt x="4597" y="0"/>
                    </a:lnTo>
                    <a:lnTo>
                      <a:pt x="0" y="0"/>
                    </a:lnTo>
                    <a:lnTo>
                      <a:pt x="0" y="4597"/>
                    </a:lnTo>
                    <a:lnTo>
                      <a:pt x="75133" y="150444"/>
                    </a:lnTo>
                    <a:lnTo>
                      <a:pt x="79730" y="150444"/>
                    </a:lnTo>
                    <a:close/>
                  </a:path>
                </a:pathLst>
              </a:custGeom>
              <a:solidFill>
                <a:srgbClr val="000000"/>
              </a:solidFill>
            </p:spPr>
            <p:txBody>
              <a:bodyPr wrap="square" lIns="0" tIns="0" rIns="0" bIns="0" rtlCol="0"/>
              <a:lstStyle/>
              <a:p>
                <a:endParaRPr/>
              </a:p>
            </p:txBody>
          </p:sp>
          <p:sp>
            <p:nvSpPr>
              <p:cNvPr id="179" name="object 179"/>
              <p:cNvSpPr/>
              <p:nvPr/>
            </p:nvSpPr>
            <p:spPr>
              <a:xfrm>
                <a:off x="6877100" y="5113489"/>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180" name="object 180"/>
              <p:cNvSpPr/>
              <p:nvPr/>
            </p:nvSpPr>
            <p:spPr>
              <a:xfrm>
                <a:off x="6879310" y="5115699"/>
                <a:ext cx="35560" cy="35560"/>
              </a:xfrm>
              <a:custGeom>
                <a:avLst/>
                <a:gdLst/>
                <a:ahLst/>
                <a:cxnLst/>
                <a:rect l="l" t="t" r="r" b="b"/>
                <a:pathLst>
                  <a:path w="35559"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81" name="object 181"/>
              <p:cNvSpPr/>
              <p:nvPr/>
            </p:nvSpPr>
            <p:spPr>
              <a:xfrm>
                <a:off x="6969734" y="5148846"/>
                <a:ext cx="80010" cy="133350"/>
              </a:xfrm>
              <a:custGeom>
                <a:avLst/>
                <a:gdLst/>
                <a:ahLst/>
                <a:cxnLst/>
                <a:rect l="l" t="t" r="r" b="b"/>
                <a:pathLst>
                  <a:path w="80009" h="133350">
                    <a:moveTo>
                      <a:pt x="79730" y="4597"/>
                    </a:moveTo>
                    <a:lnTo>
                      <a:pt x="79730" y="0"/>
                    </a:lnTo>
                    <a:lnTo>
                      <a:pt x="75133" y="0"/>
                    </a:lnTo>
                    <a:lnTo>
                      <a:pt x="0" y="128168"/>
                    </a:lnTo>
                    <a:lnTo>
                      <a:pt x="0" y="132765"/>
                    </a:lnTo>
                    <a:lnTo>
                      <a:pt x="4597" y="132765"/>
                    </a:lnTo>
                    <a:lnTo>
                      <a:pt x="79730" y="4597"/>
                    </a:lnTo>
                    <a:close/>
                  </a:path>
                </a:pathLst>
              </a:custGeom>
              <a:solidFill>
                <a:srgbClr val="000000"/>
              </a:solidFill>
            </p:spPr>
            <p:txBody>
              <a:bodyPr wrap="square" lIns="0" tIns="0" rIns="0" bIns="0" rtlCol="0"/>
              <a:lstStyle/>
              <a:p>
                <a:endParaRPr/>
              </a:p>
            </p:txBody>
          </p:sp>
          <p:sp>
            <p:nvSpPr>
              <p:cNvPr id="182" name="object 182"/>
              <p:cNvSpPr/>
              <p:nvPr/>
            </p:nvSpPr>
            <p:spPr>
              <a:xfrm>
                <a:off x="6952234" y="5259336"/>
                <a:ext cx="57785" cy="62230"/>
              </a:xfrm>
              <a:custGeom>
                <a:avLst/>
                <a:gdLst/>
                <a:ahLst/>
                <a:cxnLst/>
                <a:rect l="l" t="t" r="r" b="b"/>
                <a:pathLst>
                  <a:path w="57784" h="62229">
                    <a:moveTo>
                      <a:pt x="57454" y="61874"/>
                    </a:moveTo>
                    <a:lnTo>
                      <a:pt x="57454" y="0"/>
                    </a:lnTo>
                    <a:lnTo>
                      <a:pt x="0" y="0"/>
                    </a:lnTo>
                    <a:lnTo>
                      <a:pt x="0" y="61874"/>
                    </a:lnTo>
                    <a:lnTo>
                      <a:pt x="57454" y="61874"/>
                    </a:lnTo>
                    <a:close/>
                  </a:path>
                </a:pathLst>
              </a:custGeom>
              <a:solidFill>
                <a:srgbClr val="FFFFFF"/>
              </a:solidFill>
            </p:spPr>
            <p:txBody>
              <a:bodyPr wrap="square" lIns="0" tIns="0" rIns="0" bIns="0" rtlCol="0"/>
              <a:lstStyle/>
              <a:p>
                <a:endParaRPr/>
              </a:p>
            </p:txBody>
          </p:sp>
          <p:sp>
            <p:nvSpPr>
              <p:cNvPr id="183" name="object 183"/>
              <p:cNvSpPr/>
              <p:nvPr/>
            </p:nvSpPr>
            <p:spPr>
              <a:xfrm>
                <a:off x="6954443" y="5261546"/>
                <a:ext cx="35560" cy="40005"/>
              </a:xfrm>
              <a:custGeom>
                <a:avLst/>
                <a:gdLst/>
                <a:ahLst/>
                <a:cxnLst/>
                <a:rect l="l" t="t" r="r" b="b"/>
                <a:pathLst>
                  <a:path w="35559"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sp>
            <p:nvSpPr>
              <p:cNvPr id="184" name="object 184"/>
              <p:cNvSpPr/>
              <p:nvPr/>
            </p:nvSpPr>
            <p:spPr>
              <a:xfrm>
                <a:off x="7044867" y="5148846"/>
                <a:ext cx="75565" cy="44450"/>
              </a:xfrm>
              <a:custGeom>
                <a:avLst/>
                <a:gdLst/>
                <a:ahLst/>
                <a:cxnLst/>
                <a:rect l="l" t="t" r="r" b="b"/>
                <a:pathLst>
                  <a:path w="75565" h="44450">
                    <a:moveTo>
                      <a:pt x="75310" y="44373"/>
                    </a:moveTo>
                    <a:lnTo>
                      <a:pt x="75310" y="39776"/>
                    </a:lnTo>
                    <a:lnTo>
                      <a:pt x="4597" y="0"/>
                    </a:lnTo>
                    <a:lnTo>
                      <a:pt x="0" y="0"/>
                    </a:lnTo>
                    <a:lnTo>
                      <a:pt x="0" y="4597"/>
                    </a:lnTo>
                    <a:lnTo>
                      <a:pt x="70713" y="44373"/>
                    </a:lnTo>
                    <a:lnTo>
                      <a:pt x="75310" y="44373"/>
                    </a:lnTo>
                    <a:close/>
                  </a:path>
                </a:pathLst>
              </a:custGeom>
              <a:solidFill>
                <a:srgbClr val="000000"/>
              </a:solidFill>
            </p:spPr>
            <p:txBody>
              <a:bodyPr wrap="square" lIns="0" tIns="0" rIns="0" bIns="0" rtlCol="0"/>
              <a:lstStyle/>
              <a:p>
                <a:endParaRPr/>
              </a:p>
            </p:txBody>
          </p:sp>
          <p:sp>
            <p:nvSpPr>
              <p:cNvPr id="185" name="object 185"/>
              <p:cNvSpPr/>
              <p:nvPr/>
            </p:nvSpPr>
            <p:spPr>
              <a:xfrm>
                <a:off x="7022947" y="5131168"/>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186" name="object 186"/>
              <p:cNvSpPr/>
              <p:nvPr/>
            </p:nvSpPr>
            <p:spPr>
              <a:xfrm>
                <a:off x="7025157" y="5133378"/>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187" name="object 187"/>
              <p:cNvSpPr/>
              <p:nvPr/>
            </p:nvSpPr>
            <p:spPr>
              <a:xfrm>
                <a:off x="7115581" y="5002999"/>
                <a:ext cx="80010" cy="190500"/>
              </a:xfrm>
              <a:custGeom>
                <a:avLst/>
                <a:gdLst/>
                <a:ahLst/>
                <a:cxnLst/>
                <a:rect l="l" t="t" r="r" b="b"/>
                <a:pathLst>
                  <a:path w="80009" h="190500">
                    <a:moveTo>
                      <a:pt x="79730" y="4597"/>
                    </a:moveTo>
                    <a:lnTo>
                      <a:pt x="79730" y="0"/>
                    </a:lnTo>
                    <a:lnTo>
                      <a:pt x="75133" y="0"/>
                    </a:lnTo>
                    <a:lnTo>
                      <a:pt x="0" y="185623"/>
                    </a:lnTo>
                    <a:lnTo>
                      <a:pt x="0" y="190220"/>
                    </a:lnTo>
                    <a:lnTo>
                      <a:pt x="4597" y="190220"/>
                    </a:lnTo>
                    <a:lnTo>
                      <a:pt x="79730" y="4597"/>
                    </a:lnTo>
                    <a:close/>
                  </a:path>
                </a:pathLst>
              </a:custGeom>
              <a:solidFill>
                <a:srgbClr val="000000"/>
              </a:solidFill>
            </p:spPr>
            <p:txBody>
              <a:bodyPr wrap="square" lIns="0" tIns="0" rIns="0" bIns="0" rtlCol="0"/>
              <a:lstStyle/>
              <a:p>
                <a:endParaRPr/>
              </a:p>
            </p:txBody>
          </p:sp>
          <p:sp>
            <p:nvSpPr>
              <p:cNvPr id="188" name="object 188"/>
              <p:cNvSpPr/>
              <p:nvPr/>
            </p:nvSpPr>
            <p:spPr>
              <a:xfrm>
                <a:off x="7098080" y="5166524"/>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189" name="object 189"/>
              <p:cNvSpPr/>
              <p:nvPr/>
            </p:nvSpPr>
            <p:spPr>
              <a:xfrm>
                <a:off x="7100290" y="5168734"/>
                <a:ext cx="35560" cy="40005"/>
              </a:xfrm>
              <a:custGeom>
                <a:avLst/>
                <a:gdLst/>
                <a:ahLst/>
                <a:cxnLst/>
                <a:rect l="l" t="t" r="r" b="b"/>
                <a:pathLst>
                  <a:path w="35559"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sp>
            <p:nvSpPr>
              <p:cNvPr id="190" name="object 190"/>
              <p:cNvSpPr/>
              <p:nvPr/>
            </p:nvSpPr>
            <p:spPr>
              <a:xfrm>
                <a:off x="7190714" y="5002999"/>
                <a:ext cx="80010" cy="22860"/>
              </a:xfrm>
              <a:custGeom>
                <a:avLst/>
                <a:gdLst/>
                <a:ahLst/>
                <a:cxnLst/>
                <a:rect l="l" t="t" r="r" b="b"/>
                <a:pathLst>
                  <a:path w="80009" h="22860">
                    <a:moveTo>
                      <a:pt x="79730" y="22275"/>
                    </a:moveTo>
                    <a:lnTo>
                      <a:pt x="79730" y="17678"/>
                    </a:lnTo>
                    <a:lnTo>
                      <a:pt x="4597" y="0"/>
                    </a:lnTo>
                    <a:lnTo>
                      <a:pt x="0" y="0"/>
                    </a:lnTo>
                    <a:lnTo>
                      <a:pt x="0" y="4597"/>
                    </a:lnTo>
                    <a:lnTo>
                      <a:pt x="75133" y="22275"/>
                    </a:lnTo>
                    <a:lnTo>
                      <a:pt x="79730" y="22275"/>
                    </a:lnTo>
                    <a:close/>
                  </a:path>
                </a:pathLst>
              </a:custGeom>
              <a:solidFill>
                <a:srgbClr val="000000"/>
              </a:solidFill>
            </p:spPr>
            <p:txBody>
              <a:bodyPr wrap="square" lIns="0" tIns="0" rIns="0" bIns="0" rtlCol="0"/>
              <a:lstStyle/>
              <a:p>
                <a:endParaRPr/>
              </a:p>
            </p:txBody>
          </p:sp>
          <p:sp>
            <p:nvSpPr>
              <p:cNvPr id="191" name="object 191"/>
              <p:cNvSpPr/>
              <p:nvPr/>
            </p:nvSpPr>
            <p:spPr>
              <a:xfrm>
                <a:off x="7173213" y="4985321"/>
                <a:ext cx="57785" cy="57785"/>
              </a:xfrm>
              <a:custGeom>
                <a:avLst/>
                <a:gdLst/>
                <a:ahLst/>
                <a:cxnLst/>
                <a:rect l="l" t="t" r="r" b="b"/>
                <a:pathLst>
                  <a:path w="57784"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192" name="object 192"/>
              <p:cNvSpPr/>
              <p:nvPr/>
            </p:nvSpPr>
            <p:spPr>
              <a:xfrm>
                <a:off x="7175423" y="4987531"/>
                <a:ext cx="35560" cy="35560"/>
              </a:xfrm>
              <a:custGeom>
                <a:avLst/>
                <a:gdLst/>
                <a:ahLst/>
                <a:cxnLst/>
                <a:rect l="l" t="t" r="r" b="b"/>
                <a:pathLst>
                  <a:path w="35559"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193" name="object 193"/>
              <p:cNvSpPr/>
              <p:nvPr/>
            </p:nvSpPr>
            <p:spPr>
              <a:xfrm>
                <a:off x="7265847" y="4945545"/>
                <a:ext cx="75565" cy="80010"/>
              </a:xfrm>
              <a:custGeom>
                <a:avLst/>
                <a:gdLst/>
                <a:ahLst/>
                <a:cxnLst/>
                <a:rect l="l" t="t" r="r" b="b"/>
                <a:pathLst>
                  <a:path w="75565" h="80010">
                    <a:moveTo>
                      <a:pt x="75310" y="4597"/>
                    </a:moveTo>
                    <a:lnTo>
                      <a:pt x="75310" y="0"/>
                    </a:lnTo>
                    <a:lnTo>
                      <a:pt x="70713" y="0"/>
                    </a:lnTo>
                    <a:lnTo>
                      <a:pt x="0" y="75133"/>
                    </a:lnTo>
                    <a:lnTo>
                      <a:pt x="0" y="79730"/>
                    </a:lnTo>
                    <a:lnTo>
                      <a:pt x="4597" y="79730"/>
                    </a:lnTo>
                    <a:lnTo>
                      <a:pt x="75310" y="4597"/>
                    </a:lnTo>
                    <a:close/>
                  </a:path>
                </a:pathLst>
              </a:custGeom>
              <a:solidFill>
                <a:srgbClr val="000000"/>
              </a:solidFill>
            </p:spPr>
            <p:txBody>
              <a:bodyPr wrap="square" lIns="0" tIns="0" rIns="0" bIns="0" rtlCol="0"/>
              <a:lstStyle/>
              <a:p>
                <a:endParaRPr/>
              </a:p>
            </p:txBody>
          </p:sp>
          <p:sp>
            <p:nvSpPr>
              <p:cNvPr id="194" name="object 194"/>
              <p:cNvSpPr/>
              <p:nvPr/>
            </p:nvSpPr>
            <p:spPr>
              <a:xfrm>
                <a:off x="7243927" y="5002999"/>
                <a:ext cx="62230" cy="57785"/>
              </a:xfrm>
              <a:custGeom>
                <a:avLst/>
                <a:gdLst/>
                <a:ahLst/>
                <a:cxnLst/>
                <a:rect l="l" t="t" r="r" b="b"/>
                <a:pathLst>
                  <a:path w="62229" h="57785">
                    <a:moveTo>
                      <a:pt x="61874" y="57454"/>
                    </a:moveTo>
                    <a:lnTo>
                      <a:pt x="61874" y="0"/>
                    </a:lnTo>
                    <a:lnTo>
                      <a:pt x="0" y="0"/>
                    </a:lnTo>
                    <a:lnTo>
                      <a:pt x="0" y="57454"/>
                    </a:lnTo>
                    <a:lnTo>
                      <a:pt x="61874" y="57454"/>
                    </a:lnTo>
                    <a:close/>
                  </a:path>
                </a:pathLst>
              </a:custGeom>
              <a:solidFill>
                <a:srgbClr val="FFFFFF"/>
              </a:solidFill>
            </p:spPr>
            <p:txBody>
              <a:bodyPr wrap="square" lIns="0" tIns="0" rIns="0" bIns="0" rtlCol="0"/>
              <a:lstStyle/>
              <a:p>
                <a:endParaRPr/>
              </a:p>
            </p:txBody>
          </p:sp>
          <p:sp>
            <p:nvSpPr>
              <p:cNvPr id="195" name="object 195"/>
              <p:cNvSpPr/>
              <p:nvPr/>
            </p:nvSpPr>
            <p:spPr>
              <a:xfrm>
                <a:off x="7246137" y="5005209"/>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196" name="object 196"/>
              <p:cNvSpPr/>
              <p:nvPr/>
            </p:nvSpPr>
            <p:spPr>
              <a:xfrm>
                <a:off x="7336561" y="4945545"/>
                <a:ext cx="80010" cy="172720"/>
              </a:xfrm>
              <a:custGeom>
                <a:avLst/>
                <a:gdLst/>
                <a:ahLst/>
                <a:cxnLst/>
                <a:rect l="l" t="t" r="r" b="b"/>
                <a:pathLst>
                  <a:path w="80009" h="172720">
                    <a:moveTo>
                      <a:pt x="79730" y="172542"/>
                    </a:moveTo>
                    <a:lnTo>
                      <a:pt x="79730" y="167944"/>
                    </a:lnTo>
                    <a:lnTo>
                      <a:pt x="4597" y="0"/>
                    </a:lnTo>
                    <a:lnTo>
                      <a:pt x="0" y="0"/>
                    </a:lnTo>
                    <a:lnTo>
                      <a:pt x="0" y="4597"/>
                    </a:lnTo>
                    <a:lnTo>
                      <a:pt x="75133" y="172542"/>
                    </a:lnTo>
                    <a:lnTo>
                      <a:pt x="79730" y="172542"/>
                    </a:lnTo>
                    <a:close/>
                  </a:path>
                </a:pathLst>
              </a:custGeom>
              <a:solidFill>
                <a:srgbClr val="000000"/>
              </a:solidFill>
            </p:spPr>
            <p:txBody>
              <a:bodyPr wrap="square" lIns="0" tIns="0" rIns="0" bIns="0" rtlCol="0"/>
              <a:lstStyle/>
              <a:p>
                <a:endParaRPr/>
              </a:p>
            </p:txBody>
          </p:sp>
          <p:sp>
            <p:nvSpPr>
              <p:cNvPr id="197" name="object 197"/>
              <p:cNvSpPr/>
              <p:nvPr/>
            </p:nvSpPr>
            <p:spPr>
              <a:xfrm>
                <a:off x="7319060" y="4927866"/>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198" name="object 198"/>
              <p:cNvSpPr/>
              <p:nvPr/>
            </p:nvSpPr>
            <p:spPr>
              <a:xfrm>
                <a:off x="7321270" y="4930076"/>
                <a:ext cx="35560" cy="40005"/>
              </a:xfrm>
              <a:custGeom>
                <a:avLst/>
                <a:gdLst/>
                <a:ahLst/>
                <a:cxnLst/>
                <a:rect l="l" t="t" r="r" b="b"/>
                <a:pathLst>
                  <a:path w="35559"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sp>
            <p:nvSpPr>
              <p:cNvPr id="199" name="object 199"/>
              <p:cNvSpPr/>
              <p:nvPr/>
            </p:nvSpPr>
            <p:spPr>
              <a:xfrm>
                <a:off x="7411694" y="5038356"/>
                <a:ext cx="80010" cy="80010"/>
              </a:xfrm>
              <a:custGeom>
                <a:avLst/>
                <a:gdLst/>
                <a:ahLst/>
                <a:cxnLst/>
                <a:rect l="l" t="t" r="r" b="b"/>
                <a:pathLst>
                  <a:path w="80009" h="80010">
                    <a:moveTo>
                      <a:pt x="79730" y="4597"/>
                    </a:moveTo>
                    <a:lnTo>
                      <a:pt x="79730" y="0"/>
                    </a:lnTo>
                    <a:lnTo>
                      <a:pt x="75133" y="0"/>
                    </a:lnTo>
                    <a:lnTo>
                      <a:pt x="0" y="75133"/>
                    </a:lnTo>
                    <a:lnTo>
                      <a:pt x="0" y="79730"/>
                    </a:lnTo>
                    <a:lnTo>
                      <a:pt x="4597" y="79730"/>
                    </a:lnTo>
                    <a:lnTo>
                      <a:pt x="79730" y="4597"/>
                    </a:lnTo>
                    <a:close/>
                  </a:path>
                </a:pathLst>
              </a:custGeom>
              <a:solidFill>
                <a:srgbClr val="000000"/>
              </a:solidFill>
            </p:spPr>
            <p:txBody>
              <a:bodyPr wrap="square" lIns="0" tIns="0" rIns="0" bIns="0" rtlCol="0"/>
              <a:lstStyle/>
              <a:p>
                <a:endParaRPr/>
              </a:p>
            </p:txBody>
          </p:sp>
          <p:sp>
            <p:nvSpPr>
              <p:cNvPr id="200" name="object 200"/>
              <p:cNvSpPr/>
              <p:nvPr/>
            </p:nvSpPr>
            <p:spPr>
              <a:xfrm>
                <a:off x="7394193" y="5095811"/>
                <a:ext cx="57785" cy="57785"/>
              </a:xfrm>
              <a:custGeom>
                <a:avLst/>
                <a:gdLst/>
                <a:ahLst/>
                <a:cxnLst/>
                <a:rect l="l" t="t" r="r" b="b"/>
                <a:pathLst>
                  <a:path w="57784"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201" name="object 201"/>
              <p:cNvSpPr/>
              <p:nvPr/>
            </p:nvSpPr>
            <p:spPr>
              <a:xfrm>
                <a:off x="7396403" y="5098021"/>
                <a:ext cx="35560" cy="35560"/>
              </a:xfrm>
              <a:custGeom>
                <a:avLst/>
                <a:gdLst/>
                <a:ahLst/>
                <a:cxnLst/>
                <a:rect l="l" t="t" r="r" b="b"/>
                <a:pathLst>
                  <a:path w="35559"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202" name="object 202"/>
              <p:cNvSpPr/>
              <p:nvPr/>
            </p:nvSpPr>
            <p:spPr>
              <a:xfrm>
                <a:off x="7486827" y="5038356"/>
                <a:ext cx="75565" cy="22860"/>
              </a:xfrm>
              <a:custGeom>
                <a:avLst/>
                <a:gdLst/>
                <a:ahLst/>
                <a:cxnLst/>
                <a:rect l="l" t="t" r="r" b="b"/>
                <a:pathLst>
                  <a:path w="75565" h="22860">
                    <a:moveTo>
                      <a:pt x="75310" y="22275"/>
                    </a:moveTo>
                    <a:lnTo>
                      <a:pt x="75310" y="17678"/>
                    </a:lnTo>
                    <a:lnTo>
                      <a:pt x="4597" y="0"/>
                    </a:lnTo>
                    <a:lnTo>
                      <a:pt x="0" y="0"/>
                    </a:lnTo>
                    <a:lnTo>
                      <a:pt x="0" y="4597"/>
                    </a:lnTo>
                    <a:lnTo>
                      <a:pt x="70713" y="22275"/>
                    </a:lnTo>
                    <a:lnTo>
                      <a:pt x="75310" y="22275"/>
                    </a:lnTo>
                    <a:close/>
                  </a:path>
                </a:pathLst>
              </a:custGeom>
              <a:solidFill>
                <a:srgbClr val="000000"/>
              </a:solidFill>
            </p:spPr>
            <p:txBody>
              <a:bodyPr wrap="square" lIns="0" tIns="0" rIns="0" bIns="0" rtlCol="0"/>
              <a:lstStyle/>
              <a:p>
                <a:endParaRPr/>
              </a:p>
            </p:txBody>
          </p:sp>
          <p:sp>
            <p:nvSpPr>
              <p:cNvPr id="203" name="object 203"/>
              <p:cNvSpPr/>
              <p:nvPr/>
            </p:nvSpPr>
            <p:spPr>
              <a:xfrm>
                <a:off x="7464907" y="5020678"/>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204" name="object 204"/>
              <p:cNvSpPr/>
              <p:nvPr/>
            </p:nvSpPr>
            <p:spPr>
              <a:xfrm>
                <a:off x="7467117" y="5022887"/>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205" name="object 205"/>
              <p:cNvSpPr/>
              <p:nvPr/>
            </p:nvSpPr>
            <p:spPr>
              <a:xfrm>
                <a:off x="7557541" y="4874831"/>
                <a:ext cx="80010" cy="186055"/>
              </a:xfrm>
              <a:custGeom>
                <a:avLst/>
                <a:gdLst/>
                <a:ahLst/>
                <a:cxnLst/>
                <a:rect l="l" t="t" r="r" b="b"/>
                <a:pathLst>
                  <a:path w="80009" h="186054">
                    <a:moveTo>
                      <a:pt x="79730" y="4597"/>
                    </a:moveTo>
                    <a:lnTo>
                      <a:pt x="79730" y="0"/>
                    </a:lnTo>
                    <a:lnTo>
                      <a:pt x="75133" y="0"/>
                    </a:lnTo>
                    <a:lnTo>
                      <a:pt x="0" y="181203"/>
                    </a:lnTo>
                    <a:lnTo>
                      <a:pt x="0" y="185800"/>
                    </a:lnTo>
                    <a:lnTo>
                      <a:pt x="4597" y="185800"/>
                    </a:lnTo>
                    <a:lnTo>
                      <a:pt x="79730" y="4597"/>
                    </a:lnTo>
                    <a:close/>
                  </a:path>
                </a:pathLst>
              </a:custGeom>
              <a:solidFill>
                <a:srgbClr val="000000"/>
              </a:solidFill>
            </p:spPr>
            <p:txBody>
              <a:bodyPr wrap="square" lIns="0" tIns="0" rIns="0" bIns="0" rtlCol="0"/>
              <a:lstStyle/>
              <a:p>
                <a:endParaRPr/>
              </a:p>
            </p:txBody>
          </p:sp>
          <p:sp>
            <p:nvSpPr>
              <p:cNvPr id="206" name="object 206"/>
              <p:cNvSpPr/>
              <p:nvPr/>
            </p:nvSpPr>
            <p:spPr>
              <a:xfrm>
                <a:off x="7540040" y="5038356"/>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207" name="object 207"/>
              <p:cNvSpPr/>
              <p:nvPr/>
            </p:nvSpPr>
            <p:spPr>
              <a:xfrm>
                <a:off x="7542250" y="5040566"/>
                <a:ext cx="35560" cy="40005"/>
              </a:xfrm>
              <a:custGeom>
                <a:avLst/>
                <a:gdLst/>
                <a:ahLst/>
                <a:cxnLst/>
                <a:rect l="l" t="t" r="r" b="b"/>
                <a:pathLst>
                  <a:path w="35559" h="40004">
                    <a:moveTo>
                      <a:pt x="35356" y="0"/>
                    </a:moveTo>
                    <a:lnTo>
                      <a:pt x="35356" y="39776"/>
                    </a:lnTo>
                    <a:lnTo>
                      <a:pt x="0" y="39776"/>
                    </a:lnTo>
                    <a:lnTo>
                      <a:pt x="0" y="0"/>
                    </a:lnTo>
                    <a:lnTo>
                      <a:pt x="35356" y="0"/>
                    </a:lnTo>
                    <a:close/>
                  </a:path>
                </a:pathLst>
              </a:custGeom>
              <a:ln w="4597">
                <a:solidFill>
                  <a:srgbClr val="000000"/>
                </a:solidFill>
              </a:ln>
            </p:spPr>
            <p:txBody>
              <a:bodyPr wrap="square" lIns="0" tIns="0" rIns="0" bIns="0" rtlCol="0"/>
              <a:lstStyle/>
              <a:p>
                <a:endParaRPr/>
              </a:p>
            </p:txBody>
          </p:sp>
          <p:sp>
            <p:nvSpPr>
              <p:cNvPr id="208" name="object 208"/>
              <p:cNvSpPr/>
              <p:nvPr/>
            </p:nvSpPr>
            <p:spPr>
              <a:xfrm>
                <a:off x="7632674" y="4874831"/>
                <a:ext cx="80010" cy="208279"/>
              </a:xfrm>
              <a:custGeom>
                <a:avLst/>
                <a:gdLst/>
                <a:ahLst/>
                <a:cxnLst/>
                <a:rect l="l" t="t" r="r" b="b"/>
                <a:pathLst>
                  <a:path w="80009" h="208279">
                    <a:moveTo>
                      <a:pt x="79730" y="207898"/>
                    </a:moveTo>
                    <a:lnTo>
                      <a:pt x="79730" y="203301"/>
                    </a:lnTo>
                    <a:lnTo>
                      <a:pt x="4597" y="0"/>
                    </a:lnTo>
                    <a:lnTo>
                      <a:pt x="0" y="0"/>
                    </a:lnTo>
                    <a:lnTo>
                      <a:pt x="0" y="4597"/>
                    </a:lnTo>
                    <a:lnTo>
                      <a:pt x="75133" y="207898"/>
                    </a:lnTo>
                    <a:lnTo>
                      <a:pt x="79730" y="207898"/>
                    </a:lnTo>
                    <a:close/>
                  </a:path>
                </a:pathLst>
              </a:custGeom>
              <a:solidFill>
                <a:srgbClr val="000000"/>
              </a:solidFill>
            </p:spPr>
            <p:txBody>
              <a:bodyPr wrap="square" lIns="0" tIns="0" rIns="0" bIns="0" rtlCol="0"/>
              <a:lstStyle/>
              <a:p>
                <a:endParaRPr/>
              </a:p>
            </p:txBody>
          </p:sp>
          <p:sp>
            <p:nvSpPr>
              <p:cNvPr id="209" name="object 209"/>
              <p:cNvSpPr/>
              <p:nvPr/>
            </p:nvSpPr>
            <p:spPr>
              <a:xfrm>
                <a:off x="7615173" y="4857153"/>
                <a:ext cx="57785" cy="57785"/>
              </a:xfrm>
              <a:custGeom>
                <a:avLst/>
                <a:gdLst/>
                <a:ahLst/>
                <a:cxnLst/>
                <a:rect l="l" t="t" r="r" b="b"/>
                <a:pathLst>
                  <a:path w="57784" h="57785">
                    <a:moveTo>
                      <a:pt x="57454" y="57454"/>
                    </a:moveTo>
                    <a:lnTo>
                      <a:pt x="57454" y="0"/>
                    </a:lnTo>
                    <a:lnTo>
                      <a:pt x="0" y="0"/>
                    </a:lnTo>
                    <a:lnTo>
                      <a:pt x="0" y="57454"/>
                    </a:lnTo>
                    <a:lnTo>
                      <a:pt x="57454" y="57454"/>
                    </a:lnTo>
                    <a:close/>
                  </a:path>
                </a:pathLst>
              </a:custGeom>
              <a:solidFill>
                <a:srgbClr val="FFFFFF"/>
              </a:solidFill>
            </p:spPr>
            <p:txBody>
              <a:bodyPr wrap="square" lIns="0" tIns="0" rIns="0" bIns="0" rtlCol="0"/>
              <a:lstStyle/>
              <a:p>
                <a:endParaRPr/>
              </a:p>
            </p:txBody>
          </p:sp>
          <p:sp>
            <p:nvSpPr>
              <p:cNvPr id="210" name="object 210"/>
              <p:cNvSpPr/>
              <p:nvPr/>
            </p:nvSpPr>
            <p:spPr>
              <a:xfrm>
                <a:off x="7617383" y="4859362"/>
                <a:ext cx="35560" cy="35560"/>
              </a:xfrm>
              <a:custGeom>
                <a:avLst/>
                <a:gdLst/>
                <a:ahLst/>
                <a:cxnLst/>
                <a:rect l="l" t="t" r="r" b="b"/>
                <a:pathLst>
                  <a:path w="35559" h="35560">
                    <a:moveTo>
                      <a:pt x="35356" y="0"/>
                    </a:moveTo>
                    <a:lnTo>
                      <a:pt x="35356" y="35356"/>
                    </a:lnTo>
                    <a:lnTo>
                      <a:pt x="0" y="35356"/>
                    </a:lnTo>
                    <a:lnTo>
                      <a:pt x="0" y="0"/>
                    </a:lnTo>
                    <a:lnTo>
                      <a:pt x="35356" y="0"/>
                    </a:lnTo>
                    <a:close/>
                  </a:path>
                </a:pathLst>
              </a:custGeom>
              <a:ln w="4597">
                <a:solidFill>
                  <a:srgbClr val="000000"/>
                </a:solidFill>
              </a:ln>
            </p:spPr>
            <p:txBody>
              <a:bodyPr wrap="square" lIns="0" tIns="0" rIns="0" bIns="0" rtlCol="0"/>
              <a:lstStyle/>
              <a:p>
                <a:endParaRPr/>
              </a:p>
            </p:txBody>
          </p:sp>
          <p:sp>
            <p:nvSpPr>
              <p:cNvPr id="211" name="object 211"/>
              <p:cNvSpPr/>
              <p:nvPr/>
            </p:nvSpPr>
            <p:spPr>
              <a:xfrm>
                <a:off x="7685887" y="5056034"/>
                <a:ext cx="62230" cy="62230"/>
              </a:xfrm>
              <a:custGeom>
                <a:avLst/>
                <a:gdLst/>
                <a:ahLst/>
                <a:cxnLst/>
                <a:rect l="l" t="t" r="r" b="b"/>
                <a:pathLst>
                  <a:path w="62229" h="62229">
                    <a:moveTo>
                      <a:pt x="61874" y="61874"/>
                    </a:moveTo>
                    <a:lnTo>
                      <a:pt x="61874" y="0"/>
                    </a:lnTo>
                    <a:lnTo>
                      <a:pt x="0" y="0"/>
                    </a:lnTo>
                    <a:lnTo>
                      <a:pt x="0" y="61874"/>
                    </a:lnTo>
                    <a:lnTo>
                      <a:pt x="61874" y="61874"/>
                    </a:lnTo>
                    <a:close/>
                  </a:path>
                </a:pathLst>
              </a:custGeom>
              <a:solidFill>
                <a:srgbClr val="FFFFFF"/>
              </a:solidFill>
            </p:spPr>
            <p:txBody>
              <a:bodyPr wrap="square" lIns="0" tIns="0" rIns="0" bIns="0" rtlCol="0"/>
              <a:lstStyle/>
              <a:p>
                <a:endParaRPr/>
              </a:p>
            </p:txBody>
          </p:sp>
          <p:sp>
            <p:nvSpPr>
              <p:cNvPr id="212" name="object 212"/>
              <p:cNvSpPr/>
              <p:nvPr/>
            </p:nvSpPr>
            <p:spPr>
              <a:xfrm>
                <a:off x="7688097" y="5058244"/>
                <a:ext cx="40005" cy="40005"/>
              </a:xfrm>
              <a:custGeom>
                <a:avLst/>
                <a:gdLst/>
                <a:ahLst/>
                <a:cxnLst/>
                <a:rect l="l" t="t" r="r" b="b"/>
                <a:pathLst>
                  <a:path w="40004" h="40004">
                    <a:moveTo>
                      <a:pt x="39776" y="0"/>
                    </a:moveTo>
                    <a:lnTo>
                      <a:pt x="39776" y="39776"/>
                    </a:lnTo>
                    <a:lnTo>
                      <a:pt x="0" y="39776"/>
                    </a:lnTo>
                    <a:lnTo>
                      <a:pt x="0" y="0"/>
                    </a:lnTo>
                    <a:lnTo>
                      <a:pt x="39776" y="0"/>
                    </a:lnTo>
                    <a:close/>
                  </a:path>
                </a:pathLst>
              </a:custGeom>
              <a:ln w="4597">
                <a:solidFill>
                  <a:srgbClr val="000000"/>
                </a:solidFill>
              </a:ln>
            </p:spPr>
            <p:txBody>
              <a:bodyPr wrap="square" lIns="0" tIns="0" rIns="0" bIns="0" rtlCol="0"/>
              <a:lstStyle/>
              <a:p>
                <a:endParaRPr/>
              </a:p>
            </p:txBody>
          </p:sp>
          <p:pic>
            <p:nvPicPr>
              <p:cNvPr id="213" name="object 213"/>
              <p:cNvPicPr/>
              <p:nvPr/>
            </p:nvPicPr>
            <p:blipFill>
              <a:blip r:embed="rId10" cstate="print"/>
              <a:stretch>
                <a:fillRect/>
              </a:stretch>
            </p:blipFill>
            <p:spPr>
              <a:xfrm>
                <a:off x="2731338" y="4105820"/>
                <a:ext cx="22275" cy="1136014"/>
              </a:xfrm>
              <a:prstGeom prst="rect">
                <a:avLst/>
              </a:prstGeom>
            </p:spPr>
          </p:pic>
          <p:pic>
            <p:nvPicPr>
              <p:cNvPr id="214" name="object 214"/>
              <p:cNvPicPr/>
              <p:nvPr/>
            </p:nvPicPr>
            <p:blipFill>
              <a:blip r:embed="rId11" cstate="print"/>
              <a:stretch>
                <a:fillRect/>
              </a:stretch>
            </p:blipFill>
            <p:spPr>
              <a:xfrm>
                <a:off x="4658359" y="4945545"/>
                <a:ext cx="8889" cy="778014"/>
              </a:xfrm>
              <a:prstGeom prst="rect">
                <a:avLst/>
              </a:prstGeom>
            </p:spPr>
          </p:pic>
          <p:pic>
            <p:nvPicPr>
              <p:cNvPr id="215" name="object 215"/>
              <p:cNvPicPr/>
              <p:nvPr/>
            </p:nvPicPr>
            <p:blipFill>
              <a:blip r:embed="rId12" cstate="print"/>
              <a:stretch>
                <a:fillRect/>
              </a:stretch>
            </p:blipFill>
            <p:spPr>
              <a:xfrm>
                <a:off x="7036028" y="5197462"/>
                <a:ext cx="4597" cy="596823"/>
              </a:xfrm>
              <a:prstGeom prst="rect">
                <a:avLst/>
              </a:prstGeom>
            </p:spPr>
          </p:pic>
          <p:pic>
            <p:nvPicPr>
              <p:cNvPr id="216" name="object 216"/>
              <p:cNvPicPr/>
              <p:nvPr/>
            </p:nvPicPr>
            <p:blipFill>
              <a:blip r:embed="rId13" cstate="print"/>
              <a:stretch>
                <a:fillRect/>
              </a:stretch>
            </p:blipFill>
            <p:spPr>
              <a:xfrm>
                <a:off x="7398435" y="5170944"/>
                <a:ext cx="4597" cy="1074140"/>
              </a:xfrm>
              <a:prstGeom prst="rect">
                <a:avLst/>
              </a:prstGeom>
            </p:spPr>
          </p:pic>
          <p:pic>
            <p:nvPicPr>
              <p:cNvPr id="217" name="object 217"/>
              <p:cNvPicPr/>
              <p:nvPr/>
            </p:nvPicPr>
            <p:blipFill>
              <a:blip r:embed="rId14" cstate="print"/>
              <a:stretch>
                <a:fillRect/>
              </a:stretch>
            </p:blipFill>
            <p:spPr>
              <a:xfrm>
                <a:off x="2434589" y="4004170"/>
                <a:ext cx="5080" cy="381076"/>
              </a:xfrm>
              <a:prstGeom prst="rect">
                <a:avLst/>
              </a:prstGeom>
            </p:spPr>
          </p:pic>
          <p:pic>
            <p:nvPicPr>
              <p:cNvPr id="218" name="object 218"/>
              <p:cNvPicPr/>
              <p:nvPr/>
            </p:nvPicPr>
            <p:blipFill>
              <a:blip r:embed="rId15" cstate="print"/>
              <a:stretch>
                <a:fillRect/>
              </a:stretch>
            </p:blipFill>
            <p:spPr>
              <a:xfrm>
                <a:off x="2439669" y="4479302"/>
                <a:ext cx="5079" cy="408965"/>
              </a:xfrm>
              <a:prstGeom prst="rect">
                <a:avLst/>
              </a:prstGeom>
            </p:spPr>
          </p:pic>
          <p:sp>
            <p:nvSpPr>
              <p:cNvPr id="219" name="object 219"/>
              <p:cNvSpPr/>
              <p:nvPr/>
            </p:nvSpPr>
            <p:spPr>
              <a:xfrm>
                <a:off x="1555724" y="4587557"/>
                <a:ext cx="7111365" cy="1812289"/>
              </a:xfrm>
              <a:custGeom>
                <a:avLst/>
                <a:gdLst/>
                <a:ahLst/>
                <a:cxnLst/>
                <a:rect l="l" t="t" r="r" b="b"/>
                <a:pathLst>
                  <a:path w="7111365" h="1812289">
                    <a:moveTo>
                      <a:pt x="2298" y="1736902"/>
                    </a:moveTo>
                    <a:lnTo>
                      <a:pt x="2298" y="1812213"/>
                    </a:lnTo>
                  </a:path>
                  <a:path w="7111365" h="1812289">
                    <a:moveTo>
                      <a:pt x="77431" y="1736902"/>
                    </a:moveTo>
                    <a:lnTo>
                      <a:pt x="77431" y="1776857"/>
                    </a:lnTo>
                  </a:path>
                  <a:path w="7111365" h="1812289">
                    <a:moveTo>
                      <a:pt x="152565" y="1736902"/>
                    </a:moveTo>
                    <a:lnTo>
                      <a:pt x="152565" y="1776857"/>
                    </a:lnTo>
                  </a:path>
                  <a:path w="7111365" h="1812289">
                    <a:moveTo>
                      <a:pt x="223278" y="1736902"/>
                    </a:moveTo>
                    <a:lnTo>
                      <a:pt x="223278" y="1776857"/>
                    </a:lnTo>
                  </a:path>
                  <a:path w="7111365" h="1812289">
                    <a:moveTo>
                      <a:pt x="298411" y="1736902"/>
                    </a:moveTo>
                    <a:lnTo>
                      <a:pt x="298411" y="1776857"/>
                    </a:lnTo>
                  </a:path>
                  <a:path w="7111365" h="1812289">
                    <a:moveTo>
                      <a:pt x="373545" y="1736902"/>
                    </a:moveTo>
                    <a:lnTo>
                      <a:pt x="373545" y="1812213"/>
                    </a:lnTo>
                  </a:path>
                  <a:path w="7111365" h="1812289">
                    <a:moveTo>
                      <a:pt x="448678" y="1736902"/>
                    </a:moveTo>
                    <a:lnTo>
                      <a:pt x="448678" y="1776857"/>
                    </a:lnTo>
                  </a:path>
                  <a:path w="7111365" h="1812289">
                    <a:moveTo>
                      <a:pt x="519391" y="1736902"/>
                    </a:moveTo>
                    <a:lnTo>
                      <a:pt x="519391" y="1776857"/>
                    </a:lnTo>
                  </a:path>
                  <a:path w="7111365" h="1812289">
                    <a:moveTo>
                      <a:pt x="594525" y="1736902"/>
                    </a:moveTo>
                    <a:lnTo>
                      <a:pt x="594525" y="1776857"/>
                    </a:lnTo>
                  </a:path>
                  <a:path w="7111365" h="1812289">
                    <a:moveTo>
                      <a:pt x="669658" y="1736902"/>
                    </a:moveTo>
                    <a:lnTo>
                      <a:pt x="669658" y="1776857"/>
                    </a:lnTo>
                  </a:path>
                  <a:path w="7111365" h="1812289">
                    <a:moveTo>
                      <a:pt x="744791" y="1736902"/>
                    </a:moveTo>
                    <a:lnTo>
                      <a:pt x="744791" y="1812213"/>
                    </a:lnTo>
                  </a:path>
                  <a:path w="7111365" h="1812289">
                    <a:moveTo>
                      <a:pt x="815505" y="1736902"/>
                    </a:moveTo>
                    <a:lnTo>
                      <a:pt x="815505" y="1776857"/>
                    </a:lnTo>
                  </a:path>
                  <a:path w="7111365" h="1812289">
                    <a:moveTo>
                      <a:pt x="890638" y="1736902"/>
                    </a:moveTo>
                    <a:lnTo>
                      <a:pt x="890638" y="1776857"/>
                    </a:lnTo>
                  </a:path>
                  <a:path w="7111365" h="1812289">
                    <a:moveTo>
                      <a:pt x="965771" y="1736902"/>
                    </a:moveTo>
                    <a:lnTo>
                      <a:pt x="965771" y="1776857"/>
                    </a:lnTo>
                  </a:path>
                  <a:path w="7111365" h="1812289">
                    <a:moveTo>
                      <a:pt x="1040904" y="1736902"/>
                    </a:moveTo>
                    <a:lnTo>
                      <a:pt x="1040904" y="1776857"/>
                    </a:lnTo>
                  </a:path>
                  <a:path w="7111365" h="1812289">
                    <a:moveTo>
                      <a:pt x="1111618" y="1736902"/>
                    </a:moveTo>
                    <a:lnTo>
                      <a:pt x="1111618" y="1812213"/>
                    </a:lnTo>
                  </a:path>
                  <a:path w="7111365" h="1812289">
                    <a:moveTo>
                      <a:pt x="1186751" y="1736902"/>
                    </a:moveTo>
                    <a:lnTo>
                      <a:pt x="1186751" y="1776857"/>
                    </a:lnTo>
                  </a:path>
                  <a:path w="7111365" h="1812289">
                    <a:moveTo>
                      <a:pt x="1261884" y="1736902"/>
                    </a:moveTo>
                    <a:lnTo>
                      <a:pt x="1261884" y="1776857"/>
                    </a:lnTo>
                  </a:path>
                  <a:path w="7111365" h="1812289">
                    <a:moveTo>
                      <a:pt x="1337017" y="1736902"/>
                    </a:moveTo>
                    <a:lnTo>
                      <a:pt x="1337017" y="1776857"/>
                    </a:lnTo>
                  </a:path>
                  <a:path w="7111365" h="1812289">
                    <a:moveTo>
                      <a:pt x="1407731" y="1736902"/>
                    </a:moveTo>
                    <a:lnTo>
                      <a:pt x="1407731" y="1776857"/>
                    </a:lnTo>
                  </a:path>
                  <a:path w="7111365" h="1812289">
                    <a:moveTo>
                      <a:pt x="1482864" y="1736902"/>
                    </a:moveTo>
                    <a:lnTo>
                      <a:pt x="1482864" y="1812213"/>
                    </a:lnTo>
                  </a:path>
                  <a:path w="7111365" h="1812289">
                    <a:moveTo>
                      <a:pt x="1557997" y="1736902"/>
                    </a:moveTo>
                    <a:lnTo>
                      <a:pt x="1557997" y="1776857"/>
                    </a:lnTo>
                  </a:path>
                  <a:path w="7111365" h="1812289">
                    <a:moveTo>
                      <a:pt x="1633131" y="1736902"/>
                    </a:moveTo>
                    <a:lnTo>
                      <a:pt x="1633131" y="1776857"/>
                    </a:lnTo>
                  </a:path>
                  <a:path w="7111365" h="1812289">
                    <a:moveTo>
                      <a:pt x="1703844" y="1736902"/>
                    </a:moveTo>
                    <a:lnTo>
                      <a:pt x="1703844" y="1776857"/>
                    </a:lnTo>
                  </a:path>
                  <a:path w="7111365" h="1812289">
                    <a:moveTo>
                      <a:pt x="1778977" y="1736902"/>
                    </a:moveTo>
                    <a:lnTo>
                      <a:pt x="1778977" y="1776857"/>
                    </a:lnTo>
                  </a:path>
                  <a:path w="7111365" h="1812289">
                    <a:moveTo>
                      <a:pt x="1854111" y="1736902"/>
                    </a:moveTo>
                    <a:lnTo>
                      <a:pt x="1854111" y="1812213"/>
                    </a:lnTo>
                  </a:path>
                  <a:path w="7111365" h="1812289">
                    <a:moveTo>
                      <a:pt x="1929244" y="1736902"/>
                    </a:moveTo>
                    <a:lnTo>
                      <a:pt x="1929244" y="1776857"/>
                    </a:lnTo>
                  </a:path>
                  <a:path w="7111365" h="1812289">
                    <a:moveTo>
                      <a:pt x="1999957" y="1736902"/>
                    </a:moveTo>
                    <a:lnTo>
                      <a:pt x="1999957" y="1776857"/>
                    </a:lnTo>
                  </a:path>
                  <a:path w="7111365" h="1812289">
                    <a:moveTo>
                      <a:pt x="2075091" y="1736902"/>
                    </a:moveTo>
                    <a:lnTo>
                      <a:pt x="2075091" y="1776857"/>
                    </a:lnTo>
                  </a:path>
                  <a:path w="7111365" h="1812289">
                    <a:moveTo>
                      <a:pt x="2150224" y="1736902"/>
                    </a:moveTo>
                    <a:lnTo>
                      <a:pt x="2150224" y="1776857"/>
                    </a:lnTo>
                  </a:path>
                  <a:path w="7111365" h="1812289">
                    <a:moveTo>
                      <a:pt x="2225357" y="1736902"/>
                    </a:moveTo>
                    <a:lnTo>
                      <a:pt x="2225357" y="1812213"/>
                    </a:lnTo>
                  </a:path>
                  <a:path w="7111365" h="1812289">
                    <a:moveTo>
                      <a:pt x="2296071" y="1736902"/>
                    </a:moveTo>
                    <a:lnTo>
                      <a:pt x="2296071" y="1776857"/>
                    </a:lnTo>
                  </a:path>
                  <a:path w="7111365" h="1812289">
                    <a:moveTo>
                      <a:pt x="2371204" y="1736902"/>
                    </a:moveTo>
                    <a:lnTo>
                      <a:pt x="2371204" y="1776857"/>
                    </a:lnTo>
                  </a:path>
                  <a:path w="7111365" h="1812289">
                    <a:moveTo>
                      <a:pt x="2446337" y="1736902"/>
                    </a:moveTo>
                    <a:lnTo>
                      <a:pt x="2446337" y="1776857"/>
                    </a:lnTo>
                  </a:path>
                  <a:path w="7111365" h="1812289">
                    <a:moveTo>
                      <a:pt x="2521470" y="1736902"/>
                    </a:moveTo>
                    <a:lnTo>
                      <a:pt x="2521470" y="1776857"/>
                    </a:lnTo>
                  </a:path>
                  <a:path w="7111365" h="1812289">
                    <a:moveTo>
                      <a:pt x="2592184" y="1736902"/>
                    </a:moveTo>
                    <a:lnTo>
                      <a:pt x="2592184" y="1812213"/>
                    </a:lnTo>
                  </a:path>
                  <a:path w="7111365" h="1812289">
                    <a:moveTo>
                      <a:pt x="2667317" y="1736902"/>
                    </a:moveTo>
                    <a:lnTo>
                      <a:pt x="2667317" y="1776857"/>
                    </a:lnTo>
                  </a:path>
                  <a:path w="7111365" h="1812289">
                    <a:moveTo>
                      <a:pt x="2742450" y="1736902"/>
                    </a:moveTo>
                    <a:lnTo>
                      <a:pt x="2742450" y="1776857"/>
                    </a:lnTo>
                  </a:path>
                  <a:path w="7111365" h="1812289">
                    <a:moveTo>
                      <a:pt x="2817583" y="1736902"/>
                    </a:moveTo>
                    <a:lnTo>
                      <a:pt x="2817583" y="1776857"/>
                    </a:lnTo>
                  </a:path>
                  <a:path w="7111365" h="1812289">
                    <a:moveTo>
                      <a:pt x="2888297" y="1736902"/>
                    </a:moveTo>
                    <a:lnTo>
                      <a:pt x="2888297" y="1776857"/>
                    </a:lnTo>
                  </a:path>
                  <a:path w="7111365" h="1812289">
                    <a:moveTo>
                      <a:pt x="2963430" y="1736902"/>
                    </a:moveTo>
                    <a:lnTo>
                      <a:pt x="2963430" y="1812213"/>
                    </a:lnTo>
                  </a:path>
                  <a:path w="7111365" h="1812289">
                    <a:moveTo>
                      <a:pt x="3038563" y="1736902"/>
                    </a:moveTo>
                    <a:lnTo>
                      <a:pt x="3038563" y="1776857"/>
                    </a:lnTo>
                  </a:path>
                  <a:path w="7111365" h="1812289">
                    <a:moveTo>
                      <a:pt x="3113697" y="1736902"/>
                    </a:moveTo>
                    <a:lnTo>
                      <a:pt x="3113697" y="1776857"/>
                    </a:lnTo>
                  </a:path>
                  <a:path w="7111365" h="1812289">
                    <a:moveTo>
                      <a:pt x="3184410" y="1736902"/>
                    </a:moveTo>
                    <a:lnTo>
                      <a:pt x="3184410" y="1776857"/>
                    </a:lnTo>
                  </a:path>
                  <a:path w="7111365" h="1812289">
                    <a:moveTo>
                      <a:pt x="3259543" y="1736902"/>
                    </a:moveTo>
                    <a:lnTo>
                      <a:pt x="3259543" y="1776857"/>
                    </a:lnTo>
                  </a:path>
                  <a:path w="7111365" h="1812289">
                    <a:moveTo>
                      <a:pt x="3334677" y="1736902"/>
                    </a:moveTo>
                    <a:lnTo>
                      <a:pt x="3334677" y="1812213"/>
                    </a:lnTo>
                  </a:path>
                  <a:path w="7111365" h="1812289">
                    <a:moveTo>
                      <a:pt x="3409810" y="1736902"/>
                    </a:moveTo>
                    <a:lnTo>
                      <a:pt x="3409810" y="1776857"/>
                    </a:lnTo>
                  </a:path>
                  <a:path w="7111365" h="1812289">
                    <a:moveTo>
                      <a:pt x="3480523" y="1736902"/>
                    </a:moveTo>
                    <a:lnTo>
                      <a:pt x="3480523" y="1776857"/>
                    </a:lnTo>
                  </a:path>
                  <a:path w="7111365" h="1812289">
                    <a:moveTo>
                      <a:pt x="3555657" y="1736902"/>
                    </a:moveTo>
                    <a:lnTo>
                      <a:pt x="3555657" y="1776857"/>
                    </a:lnTo>
                  </a:path>
                  <a:path w="7111365" h="1812289">
                    <a:moveTo>
                      <a:pt x="3630790" y="1736902"/>
                    </a:moveTo>
                    <a:lnTo>
                      <a:pt x="3630790" y="1776857"/>
                    </a:lnTo>
                  </a:path>
                  <a:path w="7111365" h="1812289">
                    <a:moveTo>
                      <a:pt x="3705923" y="1736902"/>
                    </a:moveTo>
                    <a:lnTo>
                      <a:pt x="3705923" y="1812213"/>
                    </a:lnTo>
                  </a:path>
                  <a:path w="7111365" h="1812289">
                    <a:moveTo>
                      <a:pt x="3776637" y="1736902"/>
                    </a:moveTo>
                    <a:lnTo>
                      <a:pt x="3776637" y="1776857"/>
                    </a:lnTo>
                  </a:path>
                  <a:path w="7111365" h="1812289">
                    <a:moveTo>
                      <a:pt x="3851770" y="1736902"/>
                    </a:moveTo>
                    <a:lnTo>
                      <a:pt x="3851770" y="1776857"/>
                    </a:lnTo>
                  </a:path>
                  <a:path w="7111365" h="1812289">
                    <a:moveTo>
                      <a:pt x="3926903" y="1736902"/>
                    </a:moveTo>
                    <a:lnTo>
                      <a:pt x="3926903" y="1776857"/>
                    </a:lnTo>
                  </a:path>
                  <a:path w="7111365" h="1812289">
                    <a:moveTo>
                      <a:pt x="4002036" y="1736902"/>
                    </a:moveTo>
                    <a:lnTo>
                      <a:pt x="4002036" y="1776857"/>
                    </a:lnTo>
                  </a:path>
                  <a:path w="7111365" h="1812289">
                    <a:moveTo>
                      <a:pt x="4072750" y="1736902"/>
                    </a:moveTo>
                    <a:lnTo>
                      <a:pt x="4072750" y="1812213"/>
                    </a:lnTo>
                  </a:path>
                  <a:path w="7111365" h="1812289">
                    <a:moveTo>
                      <a:pt x="4147883" y="1736902"/>
                    </a:moveTo>
                    <a:lnTo>
                      <a:pt x="4147883" y="1776857"/>
                    </a:lnTo>
                  </a:path>
                  <a:path w="7111365" h="1812289">
                    <a:moveTo>
                      <a:pt x="4223016" y="1736902"/>
                    </a:moveTo>
                    <a:lnTo>
                      <a:pt x="4223016" y="1776857"/>
                    </a:lnTo>
                  </a:path>
                  <a:path w="7111365" h="1812289">
                    <a:moveTo>
                      <a:pt x="4298149" y="1736902"/>
                    </a:moveTo>
                    <a:lnTo>
                      <a:pt x="4298149" y="1776857"/>
                    </a:lnTo>
                  </a:path>
                  <a:path w="7111365" h="1812289">
                    <a:moveTo>
                      <a:pt x="4368863" y="1736902"/>
                    </a:moveTo>
                    <a:lnTo>
                      <a:pt x="4368863" y="1776856"/>
                    </a:lnTo>
                  </a:path>
                  <a:path w="7111365" h="1812289">
                    <a:moveTo>
                      <a:pt x="4443996" y="1736902"/>
                    </a:moveTo>
                    <a:lnTo>
                      <a:pt x="4443996" y="1812213"/>
                    </a:lnTo>
                  </a:path>
                  <a:path w="7111365" h="1812289">
                    <a:moveTo>
                      <a:pt x="4519129" y="1736902"/>
                    </a:moveTo>
                    <a:lnTo>
                      <a:pt x="4519129" y="1776856"/>
                    </a:lnTo>
                  </a:path>
                  <a:path w="7111365" h="1812289">
                    <a:moveTo>
                      <a:pt x="4594263" y="1736902"/>
                    </a:moveTo>
                    <a:lnTo>
                      <a:pt x="4594263" y="1776856"/>
                    </a:lnTo>
                  </a:path>
                  <a:path w="7111365" h="1812289">
                    <a:moveTo>
                      <a:pt x="4664976" y="1736902"/>
                    </a:moveTo>
                    <a:lnTo>
                      <a:pt x="4664976" y="1776856"/>
                    </a:lnTo>
                  </a:path>
                  <a:path w="7111365" h="1812289">
                    <a:moveTo>
                      <a:pt x="4740109" y="1736902"/>
                    </a:moveTo>
                    <a:lnTo>
                      <a:pt x="4740109" y="1776856"/>
                    </a:lnTo>
                  </a:path>
                  <a:path w="7111365" h="1812289">
                    <a:moveTo>
                      <a:pt x="4815243" y="1736902"/>
                    </a:moveTo>
                    <a:lnTo>
                      <a:pt x="4815243" y="1812213"/>
                    </a:lnTo>
                  </a:path>
                  <a:path w="7111365" h="1812289">
                    <a:moveTo>
                      <a:pt x="4890376" y="1736902"/>
                    </a:moveTo>
                    <a:lnTo>
                      <a:pt x="4890376" y="1776856"/>
                    </a:lnTo>
                  </a:path>
                  <a:path w="7111365" h="1812289">
                    <a:moveTo>
                      <a:pt x="4961089" y="1736902"/>
                    </a:moveTo>
                    <a:lnTo>
                      <a:pt x="4961089" y="1776856"/>
                    </a:lnTo>
                  </a:path>
                  <a:path w="7111365" h="1812289">
                    <a:moveTo>
                      <a:pt x="5036223" y="1736902"/>
                    </a:moveTo>
                    <a:lnTo>
                      <a:pt x="5036223" y="1776856"/>
                    </a:lnTo>
                  </a:path>
                  <a:path w="7111365" h="1812289">
                    <a:moveTo>
                      <a:pt x="5111356" y="1736902"/>
                    </a:moveTo>
                    <a:lnTo>
                      <a:pt x="5111356" y="1776856"/>
                    </a:lnTo>
                  </a:path>
                  <a:path w="7111365" h="1812289">
                    <a:moveTo>
                      <a:pt x="5186489" y="1736902"/>
                    </a:moveTo>
                    <a:lnTo>
                      <a:pt x="5186489" y="1812213"/>
                    </a:lnTo>
                  </a:path>
                  <a:path w="7111365" h="1812289">
                    <a:moveTo>
                      <a:pt x="5257203" y="1736902"/>
                    </a:moveTo>
                    <a:lnTo>
                      <a:pt x="5257203" y="1776856"/>
                    </a:lnTo>
                  </a:path>
                  <a:path w="7111365" h="1812289">
                    <a:moveTo>
                      <a:pt x="5332336" y="1736902"/>
                    </a:moveTo>
                    <a:lnTo>
                      <a:pt x="5332336" y="1776856"/>
                    </a:lnTo>
                  </a:path>
                  <a:path w="7111365" h="1812289">
                    <a:moveTo>
                      <a:pt x="5407469" y="1736902"/>
                    </a:moveTo>
                    <a:lnTo>
                      <a:pt x="5407469" y="1776856"/>
                    </a:lnTo>
                  </a:path>
                  <a:path w="7111365" h="1812289">
                    <a:moveTo>
                      <a:pt x="5482602" y="1736902"/>
                    </a:moveTo>
                    <a:lnTo>
                      <a:pt x="5482602" y="1776856"/>
                    </a:lnTo>
                  </a:path>
                  <a:path w="7111365" h="1812289">
                    <a:moveTo>
                      <a:pt x="5553316" y="1736902"/>
                    </a:moveTo>
                    <a:lnTo>
                      <a:pt x="5553316" y="1812213"/>
                    </a:lnTo>
                  </a:path>
                  <a:path w="7111365" h="1812289">
                    <a:moveTo>
                      <a:pt x="5628449" y="1736902"/>
                    </a:moveTo>
                    <a:lnTo>
                      <a:pt x="5628449" y="1776856"/>
                    </a:lnTo>
                  </a:path>
                  <a:path w="7111365" h="1812289">
                    <a:moveTo>
                      <a:pt x="5703582" y="1736902"/>
                    </a:moveTo>
                    <a:lnTo>
                      <a:pt x="5703582" y="1776856"/>
                    </a:lnTo>
                  </a:path>
                  <a:path w="7111365" h="1812289">
                    <a:moveTo>
                      <a:pt x="5778715" y="1736902"/>
                    </a:moveTo>
                    <a:lnTo>
                      <a:pt x="5778715" y="1776856"/>
                    </a:lnTo>
                  </a:path>
                  <a:path w="7111365" h="1812289">
                    <a:moveTo>
                      <a:pt x="5849429" y="1736902"/>
                    </a:moveTo>
                    <a:lnTo>
                      <a:pt x="5849429" y="1776856"/>
                    </a:lnTo>
                  </a:path>
                  <a:path w="7111365" h="1812289">
                    <a:moveTo>
                      <a:pt x="5924562" y="1736902"/>
                    </a:moveTo>
                    <a:lnTo>
                      <a:pt x="5924562" y="1812213"/>
                    </a:lnTo>
                  </a:path>
                  <a:path w="7111365" h="1812289">
                    <a:moveTo>
                      <a:pt x="5999695" y="1736902"/>
                    </a:moveTo>
                    <a:lnTo>
                      <a:pt x="5999695" y="1776856"/>
                    </a:lnTo>
                  </a:path>
                  <a:path w="7111365" h="1812289">
                    <a:moveTo>
                      <a:pt x="6074829" y="1736902"/>
                    </a:moveTo>
                    <a:lnTo>
                      <a:pt x="6074829" y="1776856"/>
                    </a:lnTo>
                  </a:path>
                  <a:path w="7111365" h="1812289">
                    <a:moveTo>
                      <a:pt x="6145542" y="1736902"/>
                    </a:moveTo>
                    <a:lnTo>
                      <a:pt x="6145542" y="1776856"/>
                    </a:lnTo>
                  </a:path>
                  <a:path w="7111365" h="1812289">
                    <a:moveTo>
                      <a:pt x="6220675" y="1736902"/>
                    </a:moveTo>
                    <a:lnTo>
                      <a:pt x="6220675" y="1776856"/>
                    </a:lnTo>
                  </a:path>
                  <a:path w="7111365" h="1812289">
                    <a:moveTo>
                      <a:pt x="6295809" y="1736902"/>
                    </a:moveTo>
                    <a:lnTo>
                      <a:pt x="6295809" y="1812213"/>
                    </a:lnTo>
                  </a:path>
                  <a:path w="7111365" h="1812289">
                    <a:moveTo>
                      <a:pt x="6370942" y="1736902"/>
                    </a:moveTo>
                    <a:lnTo>
                      <a:pt x="6370942" y="1776856"/>
                    </a:lnTo>
                  </a:path>
                  <a:path w="7111365" h="1812289">
                    <a:moveTo>
                      <a:pt x="6441655" y="1736902"/>
                    </a:moveTo>
                    <a:lnTo>
                      <a:pt x="6441655" y="1776856"/>
                    </a:lnTo>
                  </a:path>
                  <a:path w="7111365" h="1812289">
                    <a:moveTo>
                      <a:pt x="6516789" y="1736902"/>
                    </a:moveTo>
                    <a:lnTo>
                      <a:pt x="6516789" y="1776856"/>
                    </a:lnTo>
                  </a:path>
                  <a:path w="7111365" h="1812289">
                    <a:moveTo>
                      <a:pt x="6591922" y="1736902"/>
                    </a:moveTo>
                    <a:lnTo>
                      <a:pt x="6591922" y="1776856"/>
                    </a:lnTo>
                  </a:path>
                  <a:path w="7111365" h="1812289">
                    <a:moveTo>
                      <a:pt x="6667055" y="1736902"/>
                    </a:moveTo>
                    <a:lnTo>
                      <a:pt x="6667055" y="1812213"/>
                    </a:lnTo>
                  </a:path>
                  <a:path w="7111365" h="1812289">
                    <a:moveTo>
                      <a:pt x="6737769" y="1736902"/>
                    </a:moveTo>
                    <a:lnTo>
                      <a:pt x="6737769" y="1776856"/>
                    </a:lnTo>
                  </a:path>
                  <a:path w="7111365" h="1812289">
                    <a:moveTo>
                      <a:pt x="6812902" y="1736902"/>
                    </a:moveTo>
                    <a:lnTo>
                      <a:pt x="6812902" y="1776856"/>
                    </a:lnTo>
                  </a:path>
                  <a:path w="7111365" h="1812289">
                    <a:moveTo>
                      <a:pt x="6888035" y="1736902"/>
                    </a:moveTo>
                    <a:lnTo>
                      <a:pt x="6888035" y="1776856"/>
                    </a:lnTo>
                  </a:path>
                  <a:path w="7111365" h="1812289">
                    <a:moveTo>
                      <a:pt x="6963168" y="1736902"/>
                    </a:moveTo>
                    <a:lnTo>
                      <a:pt x="6963168" y="1776856"/>
                    </a:lnTo>
                  </a:path>
                  <a:path w="7111365" h="1812289">
                    <a:moveTo>
                      <a:pt x="7033882" y="1736902"/>
                    </a:moveTo>
                    <a:lnTo>
                      <a:pt x="7033882" y="1812213"/>
                    </a:lnTo>
                  </a:path>
                  <a:path w="7111365" h="1812289">
                    <a:moveTo>
                      <a:pt x="7036181" y="1739201"/>
                    </a:moveTo>
                    <a:lnTo>
                      <a:pt x="0" y="1739201"/>
                    </a:lnTo>
                  </a:path>
                  <a:path w="7111365" h="1812289">
                    <a:moveTo>
                      <a:pt x="7111314" y="1739201"/>
                    </a:moveTo>
                    <a:lnTo>
                      <a:pt x="7031596" y="1739201"/>
                    </a:lnTo>
                  </a:path>
                  <a:path w="7111365" h="1812289">
                    <a:moveTo>
                      <a:pt x="7075957" y="1646389"/>
                    </a:moveTo>
                    <a:lnTo>
                      <a:pt x="7031583" y="1646389"/>
                    </a:lnTo>
                  </a:path>
                  <a:path w="7111365" h="1812289">
                    <a:moveTo>
                      <a:pt x="7111314" y="1553578"/>
                    </a:moveTo>
                    <a:lnTo>
                      <a:pt x="7031596" y="1553578"/>
                    </a:lnTo>
                  </a:path>
                  <a:path w="7111365" h="1812289">
                    <a:moveTo>
                      <a:pt x="7075957" y="1482864"/>
                    </a:moveTo>
                    <a:lnTo>
                      <a:pt x="7031583" y="1482864"/>
                    </a:lnTo>
                  </a:path>
                  <a:path w="7111365" h="1812289">
                    <a:moveTo>
                      <a:pt x="7111314" y="1390053"/>
                    </a:moveTo>
                    <a:lnTo>
                      <a:pt x="7031596" y="1390053"/>
                    </a:lnTo>
                  </a:path>
                  <a:path w="7111365" h="1812289">
                    <a:moveTo>
                      <a:pt x="7075957" y="1297241"/>
                    </a:moveTo>
                    <a:lnTo>
                      <a:pt x="7031583" y="1297241"/>
                    </a:lnTo>
                  </a:path>
                  <a:path w="7111365" h="1812289">
                    <a:moveTo>
                      <a:pt x="7111314" y="1226527"/>
                    </a:moveTo>
                    <a:lnTo>
                      <a:pt x="7031596" y="1226527"/>
                    </a:lnTo>
                  </a:path>
                  <a:path w="7111365" h="1812289">
                    <a:moveTo>
                      <a:pt x="7075957" y="1133716"/>
                    </a:moveTo>
                    <a:lnTo>
                      <a:pt x="7031583" y="1133716"/>
                    </a:lnTo>
                  </a:path>
                  <a:path w="7111365" h="1812289">
                    <a:moveTo>
                      <a:pt x="7111314" y="1040904"/>
                    </a:moveTo>
                    <a:lnTo>
                      <a:pt x="7031596" y="1040904"/>
                    </a:lnTo>
                  </a:path>
                  <a:path w="7111365" h="1812289">
                    <a:moveTo>
                      <a:pt x="7075957" y="952512"/>
                    </a:moveTo>
                    <a:lnTo>
                      <a:pt x="7031583" y="952512"/>
                    </a:lnTo>
                  </a:path>
                  <a:path w="7111365" h="1812289">
                    <a:moveTo>
                      <a:pt x="7111314" y="859701"/>
                    </a:moveTo>
                    <a:lnTo>
                      <a:pt x="7031596" y="859701"/>
                    </a:lnTo>
                  </a:path>
                  <a:path w="7111365" h="1812289">
                    <a:moveTo>
                      <a:pt x="7075957" y="788987"/>
                    </a:moveTo>
                    <a:lnTo>
                      <a:pt x="7031583" y="788987"/>
                    </a:lnTo>
                  </a:path>
                  <a:path w="7111365" h="1812289">
                    <a:moveTo>
                      <a:pt x="7111314" y="696175"/>
                    </a:moveTo>
                    <a:lnTo>
                      <a:pt x="7031596" y="696175"/>
                    </a:lnTo>
                  </a:path>
                  <a:path w="7111365" h="1812289">
                    <a:moveTo>
                      <a:pt x="7075957" y="603364"/>
                    </a:moveTo>
                    <a:lnTo>
                      <a:pt x="7031583" y="603364"/>
                    </a:lnTo>
                  </a:path>
                  <a:path w="7111365" h="1812289">
                    <a:moveTo>
                      <a:pt x="7111314" y="532650"/>
                    </a:moveTo>
                    <a:lnTo>
                      <a:pt x="7031596" y="532650"/>
                    </a:lnTo>
                  </a:path>
                  <a:path w="7111365" h="1812289">
                    <a:moveTo>
                      <a:pt x="7075957" y="439839"/>
                    </a:moveTo>
                    <a:lnTo>
                      <a:pt x="7031583" y="439839"/>
                    </a:lnTo>
                  </a:path>
                  <a:path w="7111365" h="1812289">
                    <a:moveTo>
                      <a:pt x="7111314" y="347027"/>
                    </a:moveTo>
                    <a:lnTo>
                      <a:pt x="7031596" y="347027"/>
                    </a:lnTo>
                  </a:path>
                  <a:path w="7111365" h="1812289">
                    <a:moveTo>
                      <a:pt x="7075957" y="258635"/>
                    </a:moveTo>
                    <a:lnTo>
                      <a:pt x="7031583" y="258635"/>
                    </a:lnTo>
                  </a:path>
                  <a:path w="7111365" h="1812289">
                    <a:moveTo>
                      <a:pt x="7111314" y="165823"/>
                    </a:moveTo>
                    <a:lnTo>
                      <a:pt x="7031596" y="165823"/>
                    </a:lnTo>
                  </a:path>
                  <a:path w="7111365" h="1812289">
                    <a:moveTo>
                      <a:pt x="7075957" y="95110"/>
                    </a:moveTo>
                    <a:lnTo>
                      <a:pt x="7031583" y="95110"/>
                    </a:lnTo>
                  </a:path>
                  <a:path w="7111365" h="1812289">
                    <a:moveTo>
                      <a:pt x="7111314" y="2298"/>
                    </a:moveTo>
                    <a:lnTo>
                      <a:pt x="7031596" y="2298"/>
                    </a:lnTo>
                  </a:path>
                  <a:path w="7111365" h="1812289">
                    <a:moveTo>
                      <a:pt x="7036181" y="1739201"/>
                    </a:moveTo>
                    <a:lnTo>
                      <a:pt x="7031583" y="1739201"/>
                    </a:lnTo>
                  </a:path>
                  <a:path w="7111365" h="1812289">
                    <a:moveTo>
                      <a:pt x="7033882" y="0"/>
                    </a:moveTo>
                    <a:lnTo>
                      <a:pt x="7033882" y="1741500"/>
                    </a:lnTo>
                  </a:path>
                </a:pathLst>
              </a:custGeom>
              <a:ln w="4597">
                <a:solidFill>
                  <a:srgbClr val="000000"/>
                </a:solidFill>
              </a:ln>
            </p:spPr>
            <p:txBody>
              <a:bodyPr wrap="square" lIns="0" tIns="0" rIns="0" bIns="0" rtlCol="0"/>
              <a:lstStyle/>
              <a:p>
                <a:endParaRPr/>
              </a:p>
            </p:txBody>
          </p:sp>
          <p:sp>
            <p:nvSpPr>
              <p:cNvPr id="220" name="object 220"/>
              <p:cNvSpPr/>
              <p:nvPr/>
            </p:nvSpPr>
            <p:spPr>
              <a:xfrm>
                <a:off x="1613839" y="4897297"/>
                <a:ext cx="40005" cy="40005"/>
              </a:xfrm>
              <a:custGeom>
                <a:avLst/>
                <a:gdLst/>
                <a:ahLst/>
                <a:cxnLst/>
                <a:rect l="l" t="t" r="r" b="b"/>
                <a:pathLst>
                  <a:path w="40005" h="40004">
                    <a:moveTo>
                      <a:pt x="39776" y="19888"/>
                    </a:moveTo>
                    <a:lnTo>
                      <a:pt x="38211" y="12151"/>
                    </a:lnTo>
                    <a:lnTo>
                      <a:pt x="33947" y="5829"/>
                    </a:lnTo>
                    <a:lnTo>
                      <a:pt x="27624" y="1564"/>
                    </a:lnTo>
                    <a:lnTo>
                      <a:pt x="19888" y="0"/>
                    </a:lnTo>
                    <a:lnTo>
                      <a:pt x="12151" y="1564"/>
                    </a:lnTo>
                    <a:lnTo>
                      <a:pt x="5829" y="5829"/>
                    </a:lnTo>
                    <a:lnTo>
                      <a:pt x="1564" y="12151"/>
                    </a:lnTo>
                    <a:lnTo>
                      <a:pt x="0" y="19888"/>
                    </a:lnTo>
                    <a:lnTo>
                      <a:pt x="1564" y="27624"/>
                    </a:lnTo>
                    <a:lnTo>
                      <a:pt x="5829" y="33947"/>
                    </a:lnTo>
                    <a:lnTo>
                      <a:pt x="12151" y="38211"/>
                    </a:lnTo>
                    <a:lnTo>
                      <a:pt x="19888" y="39776"/>
                    </a:lnTo>
                    <a:lnTo>
                      <a:pt x="27624" y="38211"/>
                    </a:lnTo>
                    <a:lnTo>
                      <a:pt x="33947" y="33947"/>
                    </a:lnTo>
                    <a:lnTo>
                      <a:pt x="38211" y="27624"/>
                    </a:lnTo>
                    <a:lnTo>
                      <a:pt x="39776" y="19888"/>
                    </a:lnTo>
                    <a:close/>
                  </a:path>
                </a:pathLst>
              </a:custGeom>
              <a:solidFill>
                <a:srgbClr val="000000"/>
              </a:solidFill>
            </p:spPr>
            <p:txBody>
              <a:bodyPr wrap="square" lIns="0" tIns="0" rIns="0" bIns="0" rtlCol="0"/>
              <a:lstStyle/>
              <a:p>
                <a:endParaRPr/>
              </a:p>
            </p:txBody>
          </p:sp>
          <p:sp>
            <p:nvSpPr>
              <p:cNvPr id="221" name="object 221"/>
              <p:cNvSpPr/>
              <p:nvPr/>
            </p:nvSpPr>
            <p:spPr>
              <a:xfrm>
                <a:off x="1615287" y="4898745"/>
                <a:ext cx="35560" cy="35560"/>
              </a:xfrm>
              <a:custGeom>
                <a:avLst/>
                <a:gdLst/>
                <a:ahLst/>
                <a:cxnLst/>
                <a:rect l="l" t="t" r="r" b="b"/>
                <a:pathLst>
                  <a:path w="35560" h="35560">
                    <a:moveTo>
                      <a:pt x="17678" y="35356"/>
                    </a:moveTo>
                    <a:lnTo>
                      <a:pt x="7924" y="35356"/>
                    </a:lnTo>
                    <a:lnTo>
                      <a:pt x="0" y="27431"/>
                    </a:lnTo>
                    <a:lnTo>
                      <a:pt x="0" y="17678"/>
                    </a:lnTo>
                    <a:lnTo>
                      <a:pt x="0" y="7924"/>
                    </a:lnTo>
                    <a:lnTo>
                      <a:pt x="7924" y="0"/>
                    </a:lnTo>
                    <a:lnTo>
                      <a:pt x="17678" y="0"/>
                    </a:lnTo>
                    <a:lnTo>
                      <a:pt x="27432" y="0"/>
                    </a:lnTo>
                    <a:lnTo>
                      <a:pt x="35356" y="7924"/>
                    </a:lnTo>
                    <a:lnTo>
                      <a:pt x="35356" y="17678"/>
                    </a:lnTo>
                    <a:lnTo>
                      <a:pt x="35356" y="27431"/>
                    </a:lnTo>
                    <a:lnTo>
                      <a:pt x="27432" y="35356"/>
                    </a:lnTo>
                    <a:lnTo>
                      <a:pt x="17678" y="35356"/>
                    </a:lnTo>
                    <a:close/>
                  </a:path>
                </a:pathLst>
              </a:custGeom>
              <a:ln w="4597">
                <a:solidFill>
                  <a:srgbClr val="000000"/>
                </a:solidFill>
              </a:ln>
            </p:spPr>
            <p:txBody>
              <a:bodyPr wrap="square" lIns="0" tIns="0" rIns="0" bIns="0" rtlCol="0"/>
              <a:lstStyle/>
              <a:p>
                <a:endParaRPr/>
              </a:p>
            </p:txBody>
          </p:sp>
          <p:pic>
            <p:nvPicPr>
              <p:cNvPr id="222" name="object 222"/>
              <p:cNvPicPr/>
              <p:nvPr/>
            </p:nvPicPr>
            <p:blipFill>
              <a:blip r:embed="rId16" cstate="print"/>
              <a:stretch>
                <a:fillRect/>
              </a:stretch>
            </p:blipFill>
            <p:spPr>
              <a:xfrm>
                <a:off x="1758619" y="5228005"/>
                <a:ext cx="318795" cy="332384"/>
              </a:xfrm>
              <a:prstGeom prst="rect">
                <a:avLst/>
              </a:prstGeom>
            </p:spPr>
          </p:pic>
          <p:sp>
            <p:nvSpPr>
              <p:cNvPr id="223" name="object 223"/>
              <p:cNvSpPr/>
              <p:nvPr/>
            </p:nvSpPr>
            <p:spPr>
              <a:xfrm>
                <a:off x="2055799" y="4680368"/>
                <a:ext cx="97155" cy="768985"/>
              </a:xfrm>
              <a:custGeom>
                <a:avLst/>
                <a:gdLst/>
                <a:ahLst/>
                <a:cxnLst/>
                <a:rect l="l" t="t" r="r" b="b"/>
                <a:pathLst>
                  <a:path w="97155" h="768985">
                    <a:moveTo>
                      <a:pt x="96748" y="0"/>
                    </a:moveTo>
                    <a:lnTo>
                      <a:pt x="92151" y="0"/>
                    </a:lnTo>
                    <a:lnTo>
                      <a:pt x="18796" y="729221"/>
                    </a:lnTo>
                    <a:lnTo>
                      <a:pt x="12141" y="730567"/>
                    </a:lnTo>
                    <a:lnTo>
                      <a:pt x="5829" y="734822"/>
                    </a:lnTo>
                    <a:lnTo>
                      <a:pt x="1562" y="741146"/>
                    </a:lnTo>
                    <a:lnTo>
                      <a:pt x="0" y="748880"/>
                    </a:lnTo>
                    <a:lnTo>
                      <a:pt x="1562" y="756627"/>
                    </a:lnTo>
                    <a:lnTo>
                      <a:pt x="5829" y="762939"/>
                    </a:lnTo>
                    <a:lnTo>
                      <a:pt x="12141" y="767207"/>
                    </a:lnTo>
                    <a:lnTo>
                      <a:pt x="19888" y="768769"/>
                    </a:lnTo>
                    <a:lnTo>
                      <a:pt x="27622" y="767207"/>
                    </a:lnTo>
                    <a:lnTo>
                      <a:pt x="33947" y="762939"/>
                    </a:lnTo>
                    <a:lnTo>
                      <a:pt x="38201" y="756627"/>
                    </a:lnTo>
                    <a:lnTo>
                      <a:pt x="39776" y="748880"/>
                    </a:lnTo>
                    <a:lnTo>
                      <a:pt x="38201" y="741146"/>
                    </a:lnTo>
                    <a:lnTo>
                      <a:pt x="33947" y="734822"/>
                    </a:lnTo>
                    <a:lnTo>
                      <a:pt x="27622" y="730567"/>
                    </a:lnTo>
                    <a:lnTo>
                      <a:pt x="23799" y="729792"/>
                    </a:lnTo>
                    <a:lnTo>
                      <a:pt x="96748" y="4597"/>
                    </a:lnTo>
                    <a:lnTo>
                      <a:pt x="96748" y="0"/>
                    </a:lnTo>
                    <a:close/>
                  </a:path>
                </a:pathLst>
              </a:custGeom>
              <a:solidFill>
                <a:srgbClr val="000000"/>
              </a:solidFill>
            </p:spPr>
            <p:txBody>
              <a:bodyPr wrap="square" lIns="0" tIns="0" rIns="0" bIns="0" rtlCol="0"/>
              <a:lstStyle/>
              <a:p>
                <a:endParaRPr/>
              </a:p>
            </p:txBody>
          </p:sp>
          <p:sp>
            <p:nvSpPr>
              <p:cNvPr id="224" name="object 224"/>
              <p:cNvSpPr/>
              <p:nvPr/>
            </p:nvSpPr>
            <p:spPr>
              <a:xfrm>
                <a:off x="2057247" y="5412333"/>
                <a:ext cx="35560" cy="35560"/>
              </a:xfrm>
              <a:custGeom>
                <a:avLst/>
                <a:gdLst/>
                <a:ahLst/>
                <a:cxnLst/>
                <a:rect l="l" t="t" r="r" b="b"/>
                <a:pathLst>
                  <a:path w="35560" h="35560">
                    <a:moveTo>
                      <a:pt x="17678" y="35356"/>
                    </a:moveTo>
                    <a:lnTo>
                      <a:pt x="7924" y="35356"/>
                    </a:lnTo>
                    <a:lnTo>
                      <a:pt x="0" y="27431"/>
                    </a:lnTo>
                    <a:lnTo>
                      <a:pt x="0" y="17678"/>
                    </a:lnTo>
                    <a:lnTo>
                      <a:pt x="0" y="7924"/>
                    </a:lnTo>
                    <a:lnTo>
                      <a:pt x="7924" y="0"/>
                    </a:lnTo>
                    <a:lnTo>
                      <a:pt x="17678" y="0"/>
                    </a:lnTo>
                    <a:lnTo>
                      <a:pt x="27431" y="0"/>
                    </a:lnTo>
                    <a:lnTo>
                      <a:pt x="35356" y="7924"/>
                    </a:lnTo>
                    <a:lnTo>
                      <a:pt x="35356" y="17678"/>
                    </a:lnTo>
                    <a:lnTo>
                      <a:pt x="35356" y="27431"/>
                    </a:lnTo>
                    <a:lnTo>
                      <a:pt x="27431" y="35356"/>
                    </a:lnTo>
                    <a:lnTo>
                      <a:pt x="17678" y="35356"/>
                    </a:lnTo>
                    <a:close/>
                  </a:path>
                </a:pathLst>
              </a:custGeom>
              <a:ln w="4597">
                <a:solidFill>
                  <a:srgbClr val="000000"/>
                </a:solidFill>
              </a:ln>
            </p:spPr>
            <p:txBody>
              <a:bodyPr wrap="square" lIns="0" tIns="0" rIns="0" bIns="0" rtlCol="0"/>
              <a:lstStyle/>
              <a:p>
                <a:endParaRPr/>
              </a:p>
            </p:txBody>
          </p:sp>
          <p:sp>
            <p:nvSpPr>
              <p:cNvPr id="225" name="object 225"/>
              <p:cNvSpPr/>
              <p:nvPr/>
            </p:nvSpPr>
            <p:spPr>
              <a:xfrm>
                <a:off x="2130475" y="4658105"/>
                <a:ext cx="97790" cy="535305"/>
              </a:xfrm>
              <a:custGeom>
                <a:avLst/>
                <a:gdLst/>
                <a:ahLst/>
                <a:cxnLst/>
                <a:rect l="l" t="t" r="r" b="b"/>
                <a:pathLst>
                  <a:path w="97789" h="535304">
                    <a:moveTo>
                      <a:pt x="97205" y="530517"/>
                    </a:moveTo>
                    <a:lnTo>
                      <a:pt x="25133" y="43027"/>
                    </a:lnTo>
                    <a:lnTo>
                      <a:pt x="27622" y="42468"/>
                    </a:lnTo>
                    <a:lnTo>
                      <a:pt x="33947" y="37719"/>
                    </a:lnTo>
                    <a:lnTo>
                      <a:pt x="38201" y="30695"/>
                    </a:lnTo>
                    <a:lnTo>
                      <a:pt x="39776" y="22098"/>
                    </a:lnTo>
                    <a:lnTo>
                      <a:pt x="38201" y="13512"/>
                    </a:lnTo>
                    <a:lnTo>
                      <a:pt x="33947" y="6477"/>
                    </a:lnTo>
                    <a:lnTo>
                      <a:pt x="27622" y="1739"/>
                    </a:lnTo>
                    <a:lnTo>
                      <a:pt x="19888" y="0"/>
                    </a:lnTo>
                    <a:lnTo>
                      <a:pt x="12141" y="1739"/>
                    </a:lnTo>
                    <a:lnTo>
                      <a:pt x="5829" y="6477"/>
                    </a:lnTo>
                    <a:lnTo>
                      <a:pt x="1562" y="13512"/>
                    </a:lnTo>
                    <a:lnTo>
                      <a:pt x="0" y="22098"/>
                    </a:lnTo>
                    <a:lnTo>
                      <a:pt x="1562" y="30695"/>
                    </a:lnTo>
                    <a:lnTo>
                      <a:pt x="5829" y="37719"/>
                    </a:lnTo>
                    <a:lnTo>
                      <a:pt x="12141" y="42468"/>
                    </a:lnTo>
                    <a:lnTo>
                      <a:pt x="19888" y="44196"/>
                    </a:lnTo>
                    <a:lnTo>
                      <a:pt x="20027" y="44170"/>
                    </a:lnTo>
                    <a:lnTo>
                      <a:pt x="92608" y="535114"/>
                    </a:lnTo>
                    <a:lnTo>
                      <a:pt x="97205" y="535114"/>
                    </a:lnTo>
                    <a:lnTo>
                      <a:pt x="97205" y="530517"/>
                    </a:lnTo>
                    <a:close/>
                  </a:path>
                </a:pathLst>
              </a:custGeom>
              <a:solidFill>
                <a:srgbClr val="000000"/>
              </a:solidFill>
            </p:spPr>
            <p:txBody>
              <a:bodyPr wrap="square" lIns="0" tIns="0" rIns="0" bIns="0" rtlCol="0"/>
              <a:lstStyle/>
              <a:p>
                <a:endParaRPr/>
              </a:p>
            </p:txBody>
          </p:sp>
          <p:sp>
            <p:nvSpPr>
              <p:cNvPr id="226" name="object 226"/>
              <p:cNvSpPr/>
              <p:nvPr/>
            </p:nvSpPr>
            <p:spPr>
              <a:xfrm>
                <a:off x="2132685" y="4661077"/>
                <a:ext cx="35560" cy="40005"/>
              </a:xfrm>
              <a:custGeom>
                <a:avLst/>
                <a:gdLst/>
                <a:ahLst/>
                <a:cxnLst/>
                <a:rect l="l" t="t" r="r" b="b"/>
                <a:pathLst>
                  <a:path w="35560" h="40004">
                    <a:moveTo>
                      <a:pt x="17678" y="39776"/>
                    </a:moveTo>
                    <a:lnTo>
                      <a:pt x="10801" y="38211"/>
                    </a:lnTo>
                    <a:lnTo>
                      <a:pt x="5181" y="33947"/>
                    </a:lnTo>
                    <a:lnTo>
                      <a:pt x="1390" y="27624"/>
                    </a:lnTo>
                    <a:lnTo>
                      <a:pt x="0" y="19888"/>
                    </a:lnTo>
                    <a:lnTo>
                      <a:pt x="1390" y="12151"/>
                    </a:lnTo>
                    <a:lnTo>
                      <a:pt x="5181" y="5829"/>
                    </a:lnTo>
                    <a:lnTo>
                      <a:pt x="10801" y="1564"/>
                    </a:lnTo>
                    <a:lnTo>
                      <a:pt x="17678" y="0"/>
                    </a:lnTo>
                    <a:lnTo>
                      <a:pt x="24555" y="1564"/>
                    </a:lnTo>
                    <a:lnTo>
                      <a:pt x="30175" y="5829"/>
                    </a:lnTo>
                    <a:lnTo>
                      <a:pt x="33966" y="12151"/>
                    </a:lnTo>
                    <a:lnTo>
                      <a:pt x="35356" y="19888"/>
                    </a:lnTo>
                    <a:lnTo>
                      <a:pt x="33966" y="27624"/>
                    </a:lnTo>
                    <a:lnTo>
                      <a:pt x="30175" y="33947"/>
                    </a:lnTo>
                    <a:lnTo>
                      <a:pt x="24555" y="38211"/>
                    </a:lnTo>
                    <a:lnTo>
                      <a:pt x="17678" y="39776"/>
                    </a:lnTo>
                    <a:close/>
                  </a:path>
                </a:pathLst>
              </a:custGeom>
              <a:ln w="4597">
                <a:solidFill>
                  <a:srgbClr val="000000"/>
                </a:solidFill>
              </a:ln>
            </p:spPr>
            <p:txBody>
              <a:bodyPr wrap="square" lIns="0" tIns="0" rIns="0" bIns="0" rtlCol="0"/>
              <a:lstStyle/>
              <a:p>
                <a:endParaRPr/>
              </a:p>
            </p:txBody>
          </p:sp>
          <p:sp>
            <p:nvSpPr>
              <p:cNvPr id="227" name="object 227"/>
              <p:cNvSpPr/>
              <p:nvPr/>
            </p:nvSpPr>
            <p:spPr>
              <a:xfrm>
                <a:off x="2205151" y="5171617"/>
                <a:ext cx="40005" cy="40005"/>
              </a:xfrm>
              <a:custGeom>
                <a:avLst/>
                <a:gdLst/>
                <a:ahLst/>
                <a:cxnLst/>
                <a:rect l="l" t="t" r="r" b="b"/>
                <a:pathLst>
                  <a:path w="40005" h="40004">
                    <a:moveTo>
                      <a:pt x="39776" y="19888"/>
                    </a:moveTo>
                    <a:lnTo>
                      <a:pt x="38211" y="12151"/>
                    </a:lnTo>
                    <a:lnTo>
                      <a:pt x="33947" y="5829"/>
                    </a:lnTo>
                    <a:lnTo>
                      <a:pt x="27624" y="1564"/>
                    </a:lnTo>
                    <a:lnTo>
                      <a:pt x="19888" y="0"/>
                    </a:lnTo>
                    <a:lnTo>
                      <a:pt x="12151" y="1564"/>
                    </a:lnTo>
                    <a:lnTo>
                      <a:pt x="5829" y="5829"/>
                    </a:lnTo>
                    <a:lnTo>
                      <a:pt x="1564" y="12151"/>
                    </a:lnTo>
                    <a:lnTo>
                      <a:pt x="0" y="19888"/>
                    </a:lnTo>
                    <a:lnTo>
                      <a:pt x="1564" y="27624"/>
                    </a:lnTo>
                    <a:lnTo>
                      <a:pt x="5829" y="33947"/>
                    </a:lnTo>
                    <a:lnTo>
                      <a:pt x="12151" y="38211"/>
                    </a:lnTo>
                    <a:lnTo>
                      <a:pt x="19888" y="39776"/>
                    </a:lnTo>
                    <a:lnTo>
                      <a:pt x="27624" y="38211"/>
                    </a:lnTo>
                    <a:lnTo>
                      <a:pt x="33947" y="33947"/>
                    </a:lnTo>
                    <a:lnTo>
                      <a:pt x="38211" y="27624"/>
                    </a:lnTo>
                    <a:lnTo>
                      <a:pt x="39776" y="19888"/>
                    </a:lnTo>
                    <a:close/>
                  </a:path>
                </a:pathLst>
              </a:custGeom>
              <a:solidFill>
                <a:srgbClr val="000000"/>
              </a:solidFill>
            </p:spPr>
            <p:txBody>
              <a:bodyPr wrap="square" lIns="0" tIns="0" rIns="0" bIns="0" rtlCol="0"/>
              <a:lstStyle/>
              <a:p>
                <a:endParaRPr/>
              </a:p>
            </p:txBody>
          </p:sp>
          <p:sp>
            <p:nvSpPr>
              <p:cNvPr id="228" name="object 228"/>
              <p:cNvSpPr/>
              <p:nvPr/>
            </p:nvSpPr>
            <p:spPr>
              <a:xfrm>
                <a:off x="2208123" y="5173065"/>
                <a:ext cx="35560" cy="35560"/>
              </a:xfrm>
              <a:custGeom>
                <a:avLst/>
                <a:gdLst/>
                <a:ahLst/>
                <a:cxnLst/>
                <a:rect l="l" t="t" r="r" b="b"/>
                <a:pathLst>
                  <a:path w="35560" h="35560">
                    <a:moveTo>
                      <a:pt x="17678" y="35356"/>
                    </a:moveTo>
                    <a:lnTo>
                      <a:pt x="7924" y="35356"/>
                    </a:lnTo>
                    <a:lnTo>
                      <a:pt x="0" y="27432"/>
                    </a:lnTo>
                    <a:lnTo>
                      <a:pt x="0" y="17678"/>
                    </a:lnTo>
                    <a:lnTo>
                      <a:pt x="0" y="7924"/>
                    </a:lnTo>
                    <a:lnTo>
                      <a:pt x="7924" y="0"/>
                    </a:lnTo>
                    <a:lnTo>
                      <a:pt x="17678" y="0"/>
                    </a:lnTo>
                    <a:lnTo>
                      <a:pt x="27431" y="0"/>
                    </a:lnTo>
                    <a:lnTo>
                      <a:pt x="35356" y="7924"/>
                    </a:lnTo>
                    <a:lnTo>
                      <a:pt x="35356" y="17678"/>
                    </a:lnTo>
                    <a:lnTo>
                      <a:pt x="35356" y="27432"/>
                    </a:lnTo>
                    <a:lnTo>
                      <a:pt x="27431" y="35356"/>
                    </a:lnTo>
                    <a:lnTo>
                      <a:pt x="17678" y="35356"/>
                    </a:lnTo>
                    <a:close/>
                  </a:path>
                </a:pathLst>
              </a:custGeom>
              <a:ln w="4597">
                <a:solidFill>
                  <a:srgbClr val="000000"/>
                </a:solidFill>
              </a:ln>
            </p:spPr>
            <p:txBody>
              <a:bodyPr wrap="square" lIns="0" tIns="0" rIns="0" bIns="0" rtlCol="0"/>
              <a:lstStyle/>
              <a:p>
                <a:endParaRPr/>
              </a:p>
            </p:txBody>
          </p:sp>
          <p:pic>
            <p:nvPicPr>
              <p:cNvPr id="229" name="object 229"/>
              <p:cNvPicPr/>
              <p:nvPr/>
            </p:nvPicPr>
            <p:blipFill>
              <a:blip r:embed="rId17" cstate="print"/>
              <a:stretch>
                <a:fillRect/>
              </a:stretch>
            </p:blipFill>
            <p:spPr>
              <a:xfrm>
                <a:off x="2351366" y="4768761"/>
                <a:ext cx="247561" cy="190423"/>
              </a:xfrm>
              <a:prstGeom prst="rect">
                <a:avLst/>
              </a:prstGeom>
            </p:spPr>
          </p:pic>
          <p:sp>
            <p:nvSpPr>
              <p:cNvPr id="230" name="object 230"/>
              <p:cNvSpPr/>
              <p:nvPr/>
            </p:nvSpPr>
            <p:spPr>
              <a:xfrm>
                <a:off x="2572512" y="4750993"/>
                <a:ext cx="97155" cy="442595"/>
              </a:xfrm>
              <a:custGeom>
                <a:avLst/>
                <a:gdLst/>
                <a:ahLst/>
                <a:cxnLst/>
                <a:rect l="l" t="t" r="r" b="b"/>
                <a:pathLst>
                  <a:path w="97155" h="442595">
                    <a:moveTo>
                      <a:pt x="97129" y="437629"/>
                    </a:moveTo>
                    <a:lnTo>
                      <a:pt x="29883" y="38366"/>
                    </a:lnTo>
                    <a:lnTo>
                      <a:pt x="30683" y="38214"/>
                    </a:lnTo>
                    <a:lnTo>
                      <a:pt x="37719" y="33947"/>
                    </a:lnTo>
                    <a:lnTo>
                      <a:pt x="42456" y="27635"/>
                    </a:lnTo>
                    <a:lnTo>
                      <a:pt x="44196" y="19888"/>
                    </a:lnTo>
                    <a:lnTo>
                      <a:pt x="42456" y="12153"/>
                    </a:lnTo>
                    <a:lnTo>
                      <a:pt x="37719" y="5829"/>
                    </a:lnTo>
                    <a:lnTo>
                      <a:pt x="30683" y="1574"/>
                    </a:lnTo>
                    <a:lnTo>
                      <a:pt x="22098" y="0"/>
                    </a:lnTo>
                    <a:lnTo>
                      <a:pt x="13500" y="1574"/>
                    </a:lnTo>
                    <a:lnTo>
                      <a:pt x="6477" y="5829"/>
                    </a:lnTo>
                    <a:lnTo>
                      <a:pt x="1727" y="12153"/>
                    </a:lnTo>
                    <a:lnTo>
                      <a:pt x="0" y="19888"/>
                    </a:lnTo>
                    <a:lnTo>
                      <a:pt x="1727" y="27635"/>
                    </a:lnTo>
                    <a:lnTo>
                      <a:pt x="6477" y="33959"/>
                    </a:lnTo>
                    <a:lnTo>
                      <a:pt x="13500" y="38214"/>
                    </a:lnTo>
                    <a:lnTo>
                      <a:pt x="22098" y="39776"/>
                    </a:lnTo>
                    <a:lnTo>
                      <a:pt x="24663" y="39319"/>
                    </a:lnTo>
                    <a:lnTo>
                      <a:pt x="92532" y="442226"/>
                    </a:lnTo>
                    <a:lnTo>
                      <a:pt x="97129" y="442226"/>
                    </a:lnTo>
                    <a:lnTo>
                      <a:pt x="97129" y="437629"/>
                    </a:lnTo>
                    <a:close/>
                  </a:path>
                </a:pathLst>
              </a:custGeom>
              <a:solidFill>
                <a:srgbClr val="000000"/>
              </a:solidFill>
            </p:spPr>
            <p:txBody>
              <a:bodyPr wrap="square" lIns="0" tIns="0" rIns="0" bIns="0" rtlCol="0"/>
              <a:lstStyle/>
              <a:p>
                <a:endParaRPr/>
              </a:p>
            </p:txBody>
          </p:sp>
          <p:sp>
            <p:nvSpPr>
              <p:cNvPr id="231" name="object 231"/>
              <p:cNvSpPr/>
              <p:nvPr/>
            </p:nvSpPr>
            <p:spPr>
              <a:xfrm>
                <a:off x="2573959" y="4753203"/>
                <a:ext cx="40005" cy="35560"/>
              </a:xfrm>
              <a:custGeom>
                <a:avLst/>
                <a:gdLst/>
                <a:ahLst/>
                <a:cxnLst/>
                <a:rect l="l" t="t" r="r" b="b"/>
                <a:pathLst>
                  <a:path w="40005" h="35560">
                    <a:moveTo>
                      <a:pt x="19888" y="35356"/>
                    </a:moveTo>
                    <a:lnTo>
                      <a:pt x="12151" y="33966"/>
                    </a:lnTo>
                    <a:lnTo>
                      <a:pt x="5829" y="30175"/>
                    </a:lnTo>
                    <a:lnTo>
                      <a:pt x="1564" y="24555"/>
                    </a:lnTo>
                    <a:lnTo>
                      <a:pt x="0" y="17678"/>
                    </a:lnTo>
                    <a:lnTo>
                      <a:pt x="1564" y="10801"/>
                    </a:lnTo>
                    <a:lnTo>
                      <a:pt x="5829" y="5181"/>
                    </a:lnTo>
                    <a:lnTo>
                      <a:pt x="12151" y="1390"/>
                    </a:lnTo>
                    <a:lnTo>
                      <a:pt x="19888" y="0"/>
                    </a:lnTo>
                    <a:lnTo>
                      <a:pt x="27624" y="1390"/>
                    </a:lnTo>
                    <a:lnTo>
                      <a:pt x="33947" y="5181"/>
                    </a:lnTo>
                    <a:lnTo>
                      <a:pt x="38211" y="10801"/>
                    </a:lnTo>
                    <a:lnTo>
                      <a:pt x="39776" y="17678"/>
                    </a:lnTo>
                    <a:lnTo>
                      <a:pt x="38211" y="24555"/>
                    </a:lnTo>
                    <a:lnTo>
                      <a:pt x="33947" y="30175"/>
                    </a:lnTo>
                    <a:lnTo>
                      <a:pt x="27624" y="33966"/>
                    </a:lnTo>
                    <a:lnTo>
                      <a:pt x="19888" y="35356"/>
                    </a:lnTo>
                    <a:close/>
                  </a:path>
                </a:pathLst>
              </a:custGeom>
              <a:ln w="4597">
                <a:solidFill>
                  <a:srgbClr val="000000"/>
                </a:solidFill>
              </a:ln>
            </p:spPr>
            <p:txBody>
              <a:bodyPr wrap="square" lIns="0" tIns="0" rIns="0" bIns="0" rtlCol="0"/>
              <a:lstStyle/>
              <a:p>
                <a:endParaRPr/>
              </a:p>
            </p:txBody>
          </p:sp>
          <p:pic>
            <p:nvPicPr>
              <p:cNvPr id="232" name="object 232"/>
              <p:cNvPicPr/>
              <p:nvPr/>
            </p:nvPicPr>
            <p:blipFill>
              <a:blip r:embed="rId18" cstate="print"/>
              <a:stretch>
                <a:fillRect/>
              </a:stretch>
            </p:blipFill>
            <p:spPr>
              <a:xfrm>
                <a:off x="2647111" y="5170766"/>
                <a:ext cx="190652" cy="208191"/>
              </a:xfrm>
              <a:prstGeom prst="rect">
                <a:avLst/>
              </a:prstGeom>
            </p:spPr>
          </p:pic>
          <p:pic>
            <p:nvPicPr>
              <p:cNvPr id="233" name="object 233"/>
              <p:cNvPicPr/>
              <p:nvPr/>
            </p:nvPicPr>
            <p:blipFill>
              <a:blip r:embed="rId19" cstate="print"/>
              <a:stretch>
                <a:fillRect/>
              </a:stretch>
            </p:blipFill>
            <p:spPr>
              <a:xfrm>
                <a:off x="2943440" y="4932286"/>
                <a:ext cx="97447" cy="79552"/>
              </a:xfrm>
              <a:prstGeom prst="rect">
                <a:avLst/>
              </a:prstGeom>
            </p:spPr>
          </p:pic>
          <p:sp>
            <p:nvSpPr>
              <p:cNvPr id="234" name="object 234"/>
              <p:cNvSpPr/>
              <p:nvPr/>
            </p:nvSpPr>
            <p:spPr>
              <a:xfrm>
                <a:off x="3018967" y="4914137"/>
                <a:ext cx="97155" cy="610870"/>
              </a:xfrm>
              <a:custGeom>
                <a:avLst/>
                <a:gdLst/>
                <a:ahLst/>
                <a:cxnLst/>
                <a:rect l="l" t="t" r="r" b="b"/>
                <a:pathLst>
                  <a:path w="97155" h="610870">
                    <a:moveTo>
                      <a:pt x="97053" y="605955"/>
                    </a:moveTo>
                    <a:lnTo>
                      <a:pt x="25095" y="43040"/>
                    </a:lnTo>
                    <a:lnTo>
                      <a:pt x="27622" y="42468"/>
                    </a:lnTo>
                    <a:lnTo>
                      <a:pt x="33947" y="37731"/>
                    </a:lnTo>
                    <a:lnTo>
                      <a:pt x="38201" y="30708"/>
                    </a:lnTo>
                    <a:lnTo>
                      <a:pt x="39776" y="22098"/>
                    </a:lnTo>
                    <a:lnTo>
                      <a:pt x="38201" y="13512"/>
                    </a:lnTo>
                    <a:lnTo>
                      <a:pt x="33947" y="6489"/>
                    </a:lnTo>
                    <a:lnTo>
                      <a:pt x="27622" y="1739"/>
                    </a:lnTo>
                    <a:lnTo>
                      <a:pt x="19888" y="0"/>
                    </a:lnTo>
                    <a:lnTo>
                      <a:pt x="12141" y="1739"/>
                    </a:lnTo>
                    <a:lnTo>
                      <a:pt x="5829" y="6477"/>
                    </a:lnTo>
                    <a:lnTo>
                      <a:pt x="1562" y="13512"/>
                    </a:lnTo>
                    <a:lnTo>
                      <a:pt x="0" y="22098"/>
                    </a:lnTo>
                    <a:lnTo>
                      <a:pt x="1562" y="30708"/>
                    </a:lnTo>
                    <a:lnTo>
                      <a:pt x="5829" y="37731"/>
                    </a:lnTo>
                    <a:lnTo>
                      <a:pt x="12141" y="42468"/>
                    </a:lnTo>
                    <a:lnTo>
                      <a:pt x="19888" y="44196"/>
                    </a:lnTo>
                    <a:lnTo>
                      <a:pt x="20053" y="44157"/>
                    </a:lnTo>
                    <a:lnTo>
                      <a:pt x="92456" y="610552"/>
                    </a:lnTo>
                    <a:lnTo>
                      <a:pt x="97053" y="610552"/>
                    </a:lnTo>
                    <a:lnTo>
                      <a:pt x="97053" y="605955"/>
                    </a:lnTo>
                    <a:close/>
                  </a:path>
                </a:pathLst>
              </a:custGeom>
              <a:solidFill>
                <a:srgbClr val="000000"/>
              </a:solidFill>
            </p:spPr>
            <p:txBody>
              <a:bodyPr wrap="square" lIns="0" tIns="0" rIns="0" bIns="0" rtlCol="0"/>
              <a:lstStyle/>
              <a:p>
                <a:endParaRPr/>
              </a:p>
            </p:txBody>
          </p:sp>
          <p:sp>
            <p:nvSpPr>
              <p:cNvPr id="235" name="object 235"/>
              <p:cNvSpPr/>
              <p:nvPr/>
            </p:nvSpPr>
            <p:spPr>
              <a:xfrm>
                <a:off x="3020415" y="4917109"/>
                <a:ext cx="35560" cy="40005"/>
              </a:xfrm>
              <a:custGeom>
                <a:avLst/>
                <a:gdLst/>
                <a:ahLst/>
                <a:cxnLst/>
                <a:rect l="l" t="t" r="r" b="b"/>
                <a:pathLst>
                  <a:path w="35560" h="40004">
                    <a:moveTo>
                      <a:pt x="17678" y="39776"/>
                    </a:moveTo>
                    <a:lnTo>
                      <a:pt x="10801" y="38211"/>
                    </a:lnTo>
                    <a:lnTo>
                      <a:pt x="5181" y="33947"/>
                    </a:lnTo>
                    <a:lnTo>
                      <a:pt x="1390" y="27624"/>
                    </a:lnTo>
                    <a:lnTo>
                      <a:pt x="0" y="19888"/>
                    </a:lnTo>
                    <a:lnTo>
                      <a:pt x="1390" y="12151"/>
                    </a:lnTo>
                    <a:lnTo>
                      <a:pt x="5181" y="5829"/>
                    </a:lnTo>
                    <a:lnTo>
                      <a:pt x="10801" y="1564"/>
                    </a:lnTo>
                    <a:lnTo>
                      <a:pt x="17678" y="0"/>
                    </a:lnTo>
                    <a:lnTo>
                      <a:pt x="24555" y="1564"/>
                    </a:lnTo>
                    <a:lnTo>
                      <a:pt x="30175" y="5829"/>
                    </a:lnTo>
                    <a:lnTo>
                      <a:pt x="33966" y="12151"/>
                    </a:lnTo>
                    <a:lnTo>
                      <a:pt x="35356" y="19888"/>
                    </a:lnTo>
                    <a:lnTo>
                      <a:pt x="33966" y="27624"/>
                    </a:lnTo>
                    <a:lnTo>
                      <a:pt x="30175" y="33947"/>
                    </a:lnTo>
                    <a:lnTo>
                      <a:pt x="24555" y="38211"/>
                    </a:lnTo>
                    <a:lnTo>
                      <a:pt x="17678" y="39776"/>
                    </a:lnTo>
                    <a:close/>
                  </a:path>
                </a:pathLst>
              </a:custGeom>
              <a:ln w="4597">
                <a:solidFill>
                  <a:srgbClr val="000000"/>
                </a:solidFill>
              </a:ln>
            </p:spPr>
            <p:txBody>
              <a:bodyPr wrap="square" lIns="0" tIns="0" rIns="0" bIns="0" rtlCol="0"/>
              <a:lstStyle/>
              <a:p>
                <a:endParaRPr/>
              </a:p>
            </p:txBody>
          </p:sp>
          <p:sp>
            <p:nvSpPr>
              <p:cNvPr id="236" name="object 236"/>
              <p:cNvSpPr/>
              <p:nvPr/>
            </p:nvSpPr>
            <p:spPr>
              <a:xfrm>
                <a:off x="3093643" y="5100230"/>
                <a:ext cx="97790" cy="441959"/>
              </a:xfrm>
              <a:custGeom>
                <a:avLst/>
                <a:gdLst/>
                <a:ahLst/>
                <a:cxnLst/>
                <a:rect l="l" t="t" r="r" b="b"/>
                <a:pathLst>
                  <a:path w="97789" h="441960">
                    <a:moveTo>
                      <a:pt x="97510" y="0"/>
                    </a:moveTo>
                    <a:lnTo>
                      <a:pt x="92913" y="0"/>
                    </a:lnTo>
                    <a:lnTo>
                      <a:pt x="20916" y="402310"/>
                    </a:lnTo>
                    <a:lnTo>
                      <a:pt x="19888" y="402094"/>
                    </a:lnTo>
                    <a:lnTo>
                      <a:pt x="12141" y="403669"/>
                    </a:lnTo>
                    <a:lnTo>
                      <a:pt x="5829" y="407924"/>
                    </a:lnTo>
                    <a:lnTo>
                      <a:pt x="1562" y="414248"/>
                    </a:lnTo>
                    <a:lnTo>
                      <a:pt x="0" y="421982"/>
                    </a:lnTo>
                    <a:lnTo>
                      <a:pt x="1562" y="429729"/>
                    </a:lnTo>
                    <a:lnTo>
                      <a:pt x="5829" y="436041"/>
                    </a:lnTo>
                    <a:lnTo>
                      <a:pt x="12141" y="440309"/>
                    </a:lnTo>
                    <a:lnTo>
                      <a:pt x="19888" y="441871"/>
                    </a:lnTo>
                    <a:lnTo>
                      <a:pt x="27622" y="440309"/>
                    </a:lnTo>
                    <a:lnTo>
                      <a:pt x="33947" y="436041"/>
                    </a:lnTo>
                    <a:lnTo>
                      <a:pt x="38201" y="429729"/>
                    </a:lnTo>
                    <a:lnTo>
                      <a:pt x="39776" y="421982"/>
                    </a:lnTo>
                    <a:lnTo>
                      <a:pt x="38201" y="414248"/>
                    </a:lnTo>
                    <a:lnTo>
                      <a:pt x="33947" y="407924"/>
                    </a:lnTo>
                    <a:lnTo>
                      <a:pt x="27622" y="403669"/>
                    </a:lnTo>
                    <a:lnTo>
                      <a:pt x="26149" y="403377"/>
                    </a:lnTo>
                    <a:lnTo>
                      <a:pt x="97510" y="4597"/>
                    </a:lnTo>
                    <a:lnTo>
                      <a:pt x="97510" y="0"/>
                    </a:lnTo>
                    <a:close/>
                  </a:path>
                </a:pathLst>
              </a:custGeom>
              <a:solidFill>
                <a:srgbClr val="000000"/>
              </a:solidFill>
            </p:spPr>
            <p:txBody>
              <a:bodyPr wrap="square" lIns="0" tIns="0" rIns="0" bIns="0" rtlCol="0"/>
              <a:lstStyle/>
              <a:p>
                <a:endParaRPr/>
              </a:p>
            </p:txBody>
          </p:sp>
          <p:sp>
            <p:nvSpPr>
              <p:cNvPr id="237" name="object 237"/>
              <p:cNvSpPr/>
              <p:nvPr/>
            </p:nvSpPr>
            <p:spPr>
              <a:xfrm>
                <a:off x="3096615" y="5504535"/>
                <a:ext cx="35560" cy="35560"/>
              </a:xfrm>
              <a:custGeom>
                <a:avLst/>
                <a:gdLst/>
                <a:ahLst/>
                <a:cxnLst/>
                <a:rect l="l" t="t" r="r" b="b"/>
                <a:pathLst>
                  <a:path w="35560" h="35560">
                    <a:moveTo>
                      <a:pt x="17678" y="35356"/>
                    </a:moveTo>
                    <a:lnTo>
                      <a:pt x="7924" y="35356"/>
                    </a:lnTo>
                    <a:lnTo>
                      <a:pt x="0" y="27432"/>
                    </a:lnTo>
                    <a:lnTo>
                      <a:pt x="0" y="17678"/>
                    </a:lnTo>
                    <a:lnTo>
                      <a:pt x="0" y="7924"/>
                    </a:lnTo>
                    <a:lnTo>
                      <a:pt x="7924" y="0"/>
                    </a:lnTo>
                    <a:lnTo>
                      <a:pt x="17678" y="0"/>
                    </a:lnTo>
                    <a:lnTo>
                      <a:pt x="27431" y="0"/>
                    </a:lnTo>
                    <a:lnTo>
                      <a:pt x="35356" y="7924"/>
                    </a:lnTo>
                    <a:lnTo>
                      <a:pt x="35356" y="17678"/>
                    </a:lnTo>
                    <a:lnTo>
                      <a:pt x="35356" y="27432"/>
                    </a:lnTo>
                    <a:lnTo>
                      <a:pt x="27431" y="35356"/>
                    </a:lnTo>
                    <a:lnTo>
                      <a:pt x="17678" y="35356"/>
                    </a:lnTo>
                    <a:close/>
                  </a:path>
                </a:pathLst>
              </a:custGeom>
              <a:ln w="4597">
                <a:solidFill>
                  <a:srgbClr val="000000"/>
                </a:solidFill>
              </a:ln>
            </p:spPr>
            <p:txBody>
              <a:bodyPr wrap="square" lIns="0" tIns="0" rIns="0" bIns="0" rtlCol="0"/>
              <a:lstStyle/>
              <a:p>
                <a:endParaRPr/>
              </a:p>
            </p:txBody>
          </p:sp>
          <p:sp>
            <p:nvSpPr>
              <p:cNvPr id="238" name="object 238"/>
              <p:cNvSpPr/>
              <p:nvPr/>
            </p:nvSpPr>
            <p:spPr>
              <a:xfrm>
                <a:off x="3165348" y="5083225"/>
                <a:ext cx="96520" cy="313690"/>
              </a:xfrm>
              <a:custGeom>
                <a:avLst/>
                <a:gdLst/>
                <a:ahLst/>
                <a:cxnLst/>
                <a:rect l="l" t="t" r="r" b="b"/>
                <a:pathLst>
                  <a:path w="96520" h="313689">
                    <a:moveTo>
                      <a:pt x="96520" y="308698"/>
                    </a:moveTo>
                    <a:lnTo>
                      <a:pt x="30911" y="38087"/>
                    </a:lnTo>
                    <a:lnTo>
                      <a:pt x="37719" y="33947"/>
                    </a:lnTo>
                    <a:lnTo>
                      <a:pt x="42456" y="27635"/>
                    </a:lnTo>
                    <a:lnTo>
                      <a:pt x="44196" y="19888"/>
                    </a:lnTo>
                    <a:lnTo>
                      <a:pt x="42456" y="12153"/>
                    </a:lnTo>
                    <a:lnTo>
                      <a:pt x="37719" y="5829"/>
                    </a:lnTo>
                    <a:lnTo>
                      <a:pt x="30695" y="1574"/>
                    </a:lnTo>
                    <a:lnTo>
                      <a:pt x="22098" y="0"/>
                    </a:lnTo>
                    <a:lnTo>
                      <a:pt x="13500" y="1574"/>
                    </a:lnTo>
                    <a:lnTo>
                      <a:pt x="6477" y="5829"/>
                    </a:lnTo>
                    <a:lnTo>
                      <a:pt x="1727" y="12153"/>
                    </a:lnTo>
                    <a:lnTo>
                      <a:pt x="0" y="19888"/>
                    </a:lnTo>
                    <a:lnTo>
                      <a:pt x="1727" y="27635"/>
                    </a:lnTo>
                    <a:lnTo>
                      <a:pt x="6477" y="33947"/>
                    </a:lnTo>
                    <a:lnTo>
                      <a:pt x="13500" y="38214"/>
                    </a:lnTo>
                    <a:lnTo>
                      <a:pt x="22098" y="39776"/>
                    </a:lnTo>
                    <a:lnTo>
                      <a:pt x="25463" y="39166"/>
                    </a:lnTo>
                    <a:lnTo>
                      <a:pt x="91922" y="313296"/>
                    </a:lnTo>
                    <a:lnTo>
                      <a:pt x="96520" y="313296"/>
                    </a:lnTo>
                    <a:lnTo>
                      <a:pt x="96520" y="308698"/>
                    </a:lnTo>
                    <a:close/>
                  </a:path>
                </a:pathLst>
              </a:custGeom>
              <a:solidFill>
                <a:srgbClr val="000000"/>
              </a:solidFill>
            </p:spPr>
            <p:txBody>
              <a:bodyPr wrap="square" lIns="0" tIns="0" rIns="0" bIns="0" rtlCol="0"/>
              <a:lstStyle/>
              <a:p>
                <a:endParaRPr/>
              </a:p>
            </p:txBody>
          </p:sp>
          <p:sp>
            <p:nvSpPr>
              <p:cNvPr id="239" name="object 239"/>
              <p:cNvSpPr/>
              <p:nvPr/>
            </p:nvSpPr>
            <p:spPr>
              <a:xfrm>
                <a:off x="3166795" y="5084673"/>
                <a:ext cx="40005" cy="35560"/>
              </a:xfrm>
              <a:custGeom>
                <a:avLst/>
                <a:gdLst/>
                <a:ahLst/>
                <a:cxnLst/>
                <a:rect l="l" t="t" r="r" b="b"/>
                <a:pathLst>
                  <a:path w="40005" h="35560">
                    <a:moveTo>
                      <a:pt x="19888" y="35356"/>
                    </a:moveTo>
                    <a:lnTo>
                      <a:pt x="12151" y="33966"/>
                    </a:lnTo>
                    <a:lnTo>
                      <a:pt x="5829" y="30175"/>
                    </a:lnTo>
                    <a:lnTo>
                      <a:pt x="1564" y="24555"/>
                    </a:lnTo>
                    <a:lnTo>
                      <a:pt x="0" y="17678"/>
                    </a:lnTo>
                    <a:lnTo>
                      <a:pt x="1564" y="10801"/>
                    </a:lnTo>
                    <a:lnTo>
                      <a:pt x="5829" y="5181"/>
                    </a:lnTo>
                    <a:lnTo>
                      <a:pt x="12151" y="1390"/>
                    </a:lnTo>
                    <a:lnTo>
                      <a:pt x="19888" y="0"/>
                    </a:lnTo>
                    <a:lnTo>
                      <a:pt x="27624" y="1390"/>
                    </a:lnTo>
                    <a:lnTo>
                      <a:pt x="33947" y="5181"/>
                    </a:lnTo>
                    <a:lnTo>
                      <a:pt x="38211" y="10801"/>
                    </a:lnTo>
                    <a:lnTo>
                      <a:pt x="39776" y="17678"/>
                    </a:lnTo>
                    <a:lnTo>
                      <a:pt x="38211" y="24555"/>
                    </a:lnTo>
                    <a:lnTo>
                      <a:pt x="33947" y="30175"/>
                    </a:lnTo>
                    <a:lnTo>
                      <a:pt x="27624" y="33966"/>
                    </a:lnTo>
                    <a:lnTo>
                      <a:pt x="19888" y="35356"/>
                    </a:lnTo>
                    <a:close/>
                  </a:path>
                </a:pathLst>
              </a:custGeom>
              <a:ln w="4597">
                <a:solidFill>
                  <a:srgbClr val="000000"/>
                </a:solidFill>
              </a:ln>
            </p:spPr>
            <p:txBody>
              <a:bodyPr wrap="square" lIns="0" tIns="0" rIns="0" bIns="0" rtlCol="0"/>
              <a:lstStyle/>
              <a:p>
                <a:endParaRPr/>
              </a:p>
            </p:txBody>
          </p:sp>
          <p:pic>
            <p:nvPicPr>
              <p:cNvPr id="240" name="object 240"/>
              <p:cNvPicPr/>
              <p:nvPr/>
            </p:nvPicPr>
            <p:blipFill>
              <a:blip r:embed="rId20" cstate="print"/>
              <a:stretch>
                <a:fillRect/>
              </a:stretch>
            </p:blipFill>
            <p:spPr>
              <a:xfrm>
                <a:off x="3239096" y="5246077"/>
                <a:ext cx="173037" cy="186296"/>
              </a:xfrm>
              <a:prstGeom prst="rect">
                <a:avLst/>
              </a:prstGeom>
            </p:spPr>
          </p:pic>
          <p:sp>
            <p:nvSpPr>
              <p:cNvPr id="241" name="object 241"/>
              <p:cNvSpPr/>
              <p:nvPr/>
            </p:nvSpPr>
            <p:spPr>
              <a:xfrm>
                <a:off x="3390061" y="4932286"/>
                <a:ext cx="97790" cy="335915"/>
              </a:xfrm>
              <a:custGeom>
                <a:avLst/>
                <a:gdLst/>
                <a:ahLst/>
                <a:cxnLst/>
                <a:rect l="l" t="t" r="r" b="b"/>
                <a:pathLst>
                  <a:path w="97789" h="335914">
                    <a:moveTo>
                      <a:pt x="97205" y="0"/>
                    </a:moveTo>
                    <a:lnTo>
                      <a:pt x="92608" y="0"/>
                    </a:lnTo>
                    <a:lnTo>
                      <a:pt x="21704" y="296100"/>
                    </a:lnTo>
                    <a:lnTo>
                      <a:pt x="19888" y="295719"/>
                    </a:lnTo>
                    <a:lnTo>
                      <a:pt x="12141" y="297294"/>
                    </a:lnTo>
                    <a:lnTo>
                      <a:pt x="5829" y="301548"/>
                    </a:lnTo>
                    <a:lnTo>
                      <a:pt x="1562" y="307873"/>
                    </a:lnTo>
                    <a:lnTo>
                      <a:pt x="0" y="315607"/>
                    </a:lnTo>
                    <a:lnTo>
                      <a:pt x="1562" y="323354"/>
                    </a:lnTo>
                    <a:lnTo>
                      <a:pt x="5829" y="329679"/>
                    </a:lnTo>
                    <a:lnTo>
                      <a:pt x="12141" y="333933"/>
                    </a:lnTo>
                    <a:lnTo>
                      <a:pt x="19888" y="335495"/>
                    </a:lnTo>
                    <a:lnTo>
                      <a:pt x="27622" y="333933"/>
                    </a:lnTo>
                    <a:lnTo>
                      <a:pt x="33947" y="329666"/>
                    </a:lnTo>
                    <a:lnTo>
                      <a:pt x="38201" y="323354"/>
                    </a:lnTo>
                    <a:lnTo>
                      <a:pt x="39776" y="315607"/>
                    </a:lnTo>
                    <a:lnTo>
                      <a:pt x="38201" y="307873"/>
                    </a:lnTo>
                    <a:lnTo>
                      <a:pt x="33947" y="301548"/>
                    </a:lnTo>
                    <a:lnTo>
                      <a:pt x="27622" y="297294"/>
                    </a:lnTo>
                    <a:lnTo>
                      <a:pt x="27139" y="297205"/>
                    </a:lnTo>
                    <a:lnTo>
                      <a:pt x="97205" y="4597"/>
                    </a:lnTo>
                    <a:lnTo>
                      <a:pt x="97205" y="0"/>
                    </a:lnTo>
                    <a:close/>
                  </a:path>
                </a:pathLst>
              </a:custGeom>
              <a:solidFill>
                <a:srgbClr val="000000"/>
              </a:solidFill>
            </p:spPr>
            <p:txBody>
              <a:bodyPr wrap="square" lIns="0" tIns="0" rIns="0" bIns="0" rtlCol="0"/>
              <a:lstStyle/>
              <a:p>
                <a:endParaRPr/>
              </a:p>
            </p:txBody>
          </p:sp>
          <p:sp>
            <p:nvSpPr>
              <p:cNvPr id="242" name="object 242"/>
              <p:cNvSpPr/>
              <p:nvPr/>
            </p:nvSpPr>
            <p:spPr>
              <a:xfrm>
                <a:off x="3392271" y="5230977"/>
                <a:ext cx="35560" cy="35560"/>
              </a:xfrm>
              <a:custGeom>
                <a:avLst/>
                <a:gdLst/>
                <a:ahLst/>
                <a:cxnLst/>
                <a:rect l="l" t="t" r="r" b="b"/>
                <a:pathLst>
                  <a:path w="35560" h="35560">
                    <a:moveTo>
                      <a:pt x="17678" y="35356"/>
                    </a:moveTo>
                    <a:lnTo>
                      <a:pt x="7924" y="35356"/>
                    </a:lnTo>
                    <a:lnTo>
                      <a:pt x="0" y="27432"/>
                    </a:lnTo>
                    <a:lnTo>
                      <a:pt x="0" y="17678"/>
                    </a:lnTo>
                    <a:lnTo>
                      <a:pt x="0" y="7924"/>
                    </a:lnTo>
                    <a:lnTo>
                      <a:pt x="7924" y="0"/>
                    </a:lnTo>
                    <a:lnTo>
                      <a:pt x="17678" y="0"/>
                    </a:lnTo>
                    <a:lnTo>
                      <a:pt x="27431" y="0"/>
                    </a:lnTo>
                    <a:lnTo>
                      <a:pt x="35356" y="7924"/>
                    </a:lnTo>
                    <a:lnTo>
                      <a:pt x="35356" y="17678"/>
                    </a:lnTo>
                    <a:lnTo>
                      <a:pt x="35356" y="27432"/>
                    </a:lnTo>
                    <a:lnTo>
                      <a:pt x="27431" y="35356"/>
                    </a:lnTo>
                    <a:lnTo>
                      <a:pt x="17678" y="35356"/>
                    </a:lnTo>
                    <a:close/>
                  </a:path>
                </a:pathLst>
              </a:custGeom>
              <a:ln w="4597">
                <a:solidFill>
                  <a:srgbClr val="000000"/>
                </a:solidFill>
              </a:ln>
            </p:spPr>
            <p:txBody>
              <a:bodyPr wrap="square" lIns="0" tIns="0" rIns="0" bIns="0" rtlCol="0"/>
              <a:lstStyle/>
              <a:p>
                <a:endParaRPr/>
              </a:p>
            </p:txBody>
          </p:sp>
          <p:sp>
            <p:nvSpPr>
              <p:cNvPr id="243" name="object 243"/>
              <p:cNvSpPr/>
              <p:nvPr/>
            </p:nvSpPr>
            <p:spPr>
              <a:xfrm>
                <a:off x="3461004" y="4914137"/>
                <a:ext cx="97155" cy="628650"/>
              </a:xfrm>
              <a:custGeom>
                <a:avLst/>
                <a:gdLst/>
                <a:ahLst/>
                <a:cxnLst/>
                <a:rect l="l" t="t" r="r" b="b"/>
                <a:pathLst>
                  <a:path w="97154" h="628650">
                    <a:moveTo>
                      <a:pt x="96977" y="623633"/>
                    </a:moveTo>
                    <a:lnTo>
                      <a:pt x="29133" y="42786"/>
                    </a:lnTo>
                    <a:lnTo>
                      <a:pt x="30695" y="42468"/>
                    </a:lnTo>
                    <a:lnTo>
                      <a:pt x="37719" y="37731"/>
                    </a:lnTo>
                    <a:lnTo>
                      <a:pt x="42456" y="30708"/>
                    </a:lnTo>
                    <a:lnTo>
                      <a:pt x="44196" y="22098"/>
                    </a:lnTo>
                    <a:lnTo>
                      <a:pt x="42456" y="13512"/>
                    </a:lnTo>
                    <a:lnTo>
                      <a:pt x="37719" y="6489"/>
                    </a:lnTo>
                    <a:lnTo>
                      <a:pt x="30695" y="1739"/>
                    </a:lnTo>
                    <a:lnTo>
                      <a:pt x="22098" y="0"/>
                    </a:lnTo>
                    <a:lnTo>
                      <a:pt x="13500" y="1739"/>
                    </a:lnTo>
                    <a:lnTo>
                      <a:pt x="6477" y="6477"/>
                    </a:lnTo>
                    <a:lnTo>
                      <a:pt x="1727" y="13512"/>
                    </a:lnTo>
                    <a:lnTo>
                      <a:pt x="0" y="22098"/>
                    </a:lnTo>
                    <a:lnTo>
                      <a:pt x="1727" y="30708"/>
                    </a:lnTo>
                    <a:lnTo>
                      <a:pt x="6477" y="37731"/>
                    </a:lnTo>
                    <a:lnTo>
                      <a:pt x="13500" y="42468"/>
                    </a:lnTo>
                    <a:lnTo>
                      <a:pt x="22098" y="44196"/>
                    </a:lnTo>
                    <a:lnTo>
                      <a:pt x="24117" y="43789"/>
                    </a:lnTo>
                    <a:lnTo>
                      <a:pt x="92379" y="628230"/>
                    </a:lnTo>
                    <a:lnTo>
                      <a:pt x="96977" y="628230"/>
                    </a:lnTo>
                    <a:lnTo>
                      <a:pt x="96977" y="623633"/>
                    </a:lnTo>
                    <a:close/>
                  </a:path>
                </a:pathLst>
              </a:custGeom>
              <a:solidFill>
                <a:srgbClr val="000000"/>
              </a:solidFill>
            </p:spPr>
            <p:txBody>
              <a:bodyPr wrap="square" lIns="0" tIns="0" rIns="0" bIns="0" rtlCol="0"/>
              <a:lstStyle/>
              <a:p>
                <a:endParaRPr/>
              </a:p>
            </p:txBody>
          </p:sp>
          <p:sp>
            <p:nvSpPr>
              <p:cNvPr id="244" name="object 244"/>
              <p:cNvSpPr/>
              <p:nvPr/>
            </p:nvSpPr>
            <p:spPr>
              <a:xfrm>
                <a:off x="3462451" y="4917109"/>
                <a:ext cx="40005" cy="40005"/>
              </a:xfrm>
              <a:custGeom>
                <a:avLst/>
                <a:gdLst/>
                <a:ahLst/>
                <a:cxnLst/>
                <a:rect l="l" t="t" r="r" b="b"/>
                <a:pathLst>
                  <a:path w="40004" h="40004">
                    <a:moveTo>
                      <a:pt x="19888" y="39776"/>
                    </a:moveTo>
                    <a:lnTo>
                      <a:pt x="12151" y="38211"/>
                    </a:lnTo>
                    <a:lnTo>
                      <a:pt x="5829" y="33947"/>
                    </a:lnTo>
                    <a:lnTo>
                      <a:pt x="1564" y="27624"/>
                    </a:lnTo>
                    <a:lnTo>
                      <a:pt x="0" y="19888"/>
                    </a:lnTo>
                    <a:lnTo>
                      <a:pt x="1564" y="12151"/>
                    </a:lnTo>
                    <a:lnTo>
                      <a:pt x="5829" y="5829"/>
                    </a:lnTo>
                    <a:lnTo>
                      <a:pt x="12151" y="1564"/>
                    </a:lnTo>
                    <a:lnTo>
                      <a:pt x="19888" y="0"/>
                    </a:lnTo>
                    <a:lnTo>
                      <a:pt x="27624" y="1564"/>
                    </a:lnTo>
                    <a:lnTo>
                      <a:pt x="33947" y="5829"/>
                    </a:lnTo>
                    <a:lnTo>
                      <a:pt x="38211" y="12151"/>
                    </a:lnTo>
                    <a:lnTo>
                      <a:pt x="39776" y="19888"/>
                    </a:lnTo>
                    <a:lnTo>
                      <a:pt x="38211" y="27624"/>
                    </a:lnTo>
                    <a:lnTo>
                      <a:pt x="33947" y="33947"/>
                    </a:lnTo>
                    <a:lnTo>
                      <a:pt x="27624" y="38211"/>
                    </a:lnTo>
                    <a:lnTo>
                      <a:pt x="19888" y="39776"/>
                    </a:lnTo>
                    <a:close/>
                  </a:path>
                </a:pathLst>
              </a:custGeom>
              <a:ln w="4597">
                <a:solidFill>
                  <a:srgbClr val="000000"/>
                </a:solidFill>
              </a:ln>
            </p:spPr>
            <p:txBody>
              <a:bodyPr wrap="square" lIns="0" tIns="0" rIns="0" bIns="0" rtlCol="0"/>
              <a:lstStyle/>
              <a:p>
                <a:endParaRPr/>
              </a:p>
            </p:txBody>
          </p:sp>
          <p:pic>
            <p:nvPicPr>
              <p:cNvPr id="245" name="object 245"/>
              <p:cNvPicPr/>
              <p:nvPr/>
            </p:nvPicPr>
            <p:blipFill>
              <a:blip r:embed="rId21" cstate="print"/>
              <a:stretch>
                <a:fillRect/>
              </a:stretch>
            </p:blipFill>
            <p:spPr>
              <a:xfrm>
                <a:off x="3535603" y="5426798"/>
                <a:ext cx="468756" cy="354495"/>
              </a:xfrm>
              <a:prstGeom prst="rect">
                <a:avLst/>
              </a:prstGeom>
            </p:spPr>
          </p:pic>
          <p:sp>
            <p:nvSpPr>
              <p:cNvPr id="246" name="object 246"/>
              <p:cNvSpPr/>
              <p:nvPr/>
            </p:nvSpPr>
            <p:spPr>
              <a:xfrm>
                <a:off x="3999763" y="5736653"/>
                <a:ext cx="80010" cy="278765"/>
              </a:xfrm>
              <a:custGeom>
                <a:avLst/>
                <a:gdLst/>
                <a:ahLst/>
                <a:cxnLst/>
                <a:rect l="l" t="t" r="r" b="b"/>
                <a:pathLst>
                  <a:path w="80010" h="278764">
                    <a:moveTo>
                      <a:pt x="79730" y="278612"/>
                    </a:moveTo>
                    <a:lnTo>
                      <a:pt x="79730" y="274015"/>
                    </a:lnTo>
                    <a:lnTo>
                      <a:pt x="4597" y="0"/>
                    </a:lnTo>
                    <a:lnTo>
                      <a:pt x="0" y="0"/>
                    </a:lnTo>
                    <a:lnTo>
                      <a:pt x="0" y="4597"/>
                    </a:lnTo>
                    <a:lnTo>
                      <a:pt x="75133" y="278612"/>
                    </a:lnTo>
                    <a:lnTo>
                      <a:pt x="79730" y="278612"/>
                    </a:lnTo>
                    <a:close/>
                  </a:path>
                </a:pathLst>
              </a:custGeom>
              <a:solidFill>
                <a:srgbClr val="000000"/>
              </a:solidFill>
            </p:spPr>
            <p:txBody>
              <a:bodyPr wrap="square" lIns="0" tIns="0" rIns="0" bIns="0" rtlCol="0"/>
              <a:lstStyle/>
              <a:p>
                <a:endParaRPr/>
              </a:p>
            </p:txBody>
          </p:sp>
          <p:pic>
            <p:nvPicPr>
              <p:cNvPr id="247" name="object 247"/>
              <p:cNvPicPr/>
              <p:nvPr/>
            </p:nvPicPr>
            <p:blipFill>
              <a:blip r:embed="rId22" cstate="print"/>
              <a:stretch>
                <a:fillRect/>
              </a:stretch>
            </p:blipFill>
            <p:spPr>
              <a:xfrm>
                <a:off x="4074896" y="4790859"/>
                <a:ext cx="4597" cy="1166952"/>
              </a:xfrm>
              <a:prstGeom prst="rect">
                <a:avLst/>
              </a:prstGeom>
            </p:spPr>
          </p:pic>
          <p:sp>
            <p:nvSpPr>
              <p:cNvPr id="248" name="object 248"/>
              <p:cNvSpPr/>
              <p:nvPr/>
            </p:nvSpPr>
            <p:spPr>
              <a:xfrm>
                <a:off x="3982135" y="5718733"/>
                <a:ext cx="40005" cy="40005"/>
              </a:xfrm>
              <a:custGeom>
                <a:avLst/>
                <a:gdLst/>
                <a:ahLst/>
                <a:cxnLst/>
                <a:rect l="l" t="t" r="r" b="b"/>
                <a:pathLst>
                  <a:path w="40004" h="40004">
                    <a:moveTo>
                      <a:pt x="39776" y="19888"/>
                    </a:moveTo>
                    <a:lnTo>
                      <a:pt x="38211" y="12151"/>
                    </a:lnTo>
                    <a:lnTo>
                      <a:pt x="33947" y="5829"/>
                    </a:lnTo>
                    <a:lnTo>
                      <a:pt x="27624" y="1564"/>
                    </a:lnTo>
                    <a:lnTo>
                      <a:pt x="19888" y="0"/>
                    </a:lnTo>
                    <a:lnTo>
                      <a:pt x="12151" y="1564"/>
                    </a:lnTo>
                    <a:lnTo>
                      <a:pt x="5829" y="5829"/>
                    </a:lnTo>
                    <a:lnTo>
                      <a:pt x="1564" y="12151"/>
                    </a:lnTo>
                    <a:lnTo>
                      <a:pt x="0" y="19888"/>
                    </a:lnTo>
                    <a:lnTo>
                      <a:pt x="1564" y="27624"/>
                    </a:lnTo>
                    <a:lnTo>
                      <a:pt x="5829" y="33947"/>
                    </a:lnTo>
                    <a:lnTo>
                      <a:pt x="12151" y="38211"/>
                    </a:lnTo>
                    <a:lnTo>
                      <a:pt x="19888" y="39776"/>
                    </a:lnTo>
                    <a:lnTo>
                      <a:pt x="27624" y="38211"/>
                    </a:lnTo>
                    <a:lnTo>
                      <a:pt x="33947" y="33947"/>
                    </a:lnTo>
                    <a:lnTo>
                      <a:pt x="38211" y="27624"/>
                    </a:lnTo>
                    <a:lnTo>
                      <a:pt x="39776" y="19888"/>
                    </a:lnTo>
                    <a:close/>
                  </a:path>
                </a:pathLst>
              </a:custGeom>
              <a:solidFill>
                <a:srgbClr val="000000"/>
              </a:solidFill>
            </p:spPr>
            <p:txBody>
              <a:bodyPr wrap="square" lIns="0" tIns="0" rIns="0" bIns="0" rtlCol="0"/>
              <a:lstStyle/>
              <a:p>
                <a:endParaRPr/>
              </a:p>
            </p:txBody>
          </p:sp>
          <p:sp>
            <p:nvSpPr>
              <p:cNvPr id="249" name="object 249"/>
              <p:cNvSpPr/>
              <p:nvPr/>
            </p:nvSpPr>
            <p:spPr>
              <a:xfrm>
                <a:off x="3984345" y="5721705"/>
                <a:ext cx="35560" cy="35560"/>
              </a:xfrm>
              <a:custGeom>
                <a:avLst/>
                <a:gdLst/>
                <a:ahLst/>
                <a:cxnLst/>
                <a:rect l="l" t="t" r="r" b="b"/>
                <a:pathLst>
                  <a:path w="35560" h="35560">
                    <a:moveTo>
                      <a:pt x="17678" y="35356"/>
                    </a:moveTo>
                    <a:lnTo>
                      <a:pt x="7924" y="35356"/>
                    </a:lnTo>
                    <a:lnTo>
                      <a:pt x="0" y="27431"/>
                    </a:lnTo>
                    <a:lnTo>
                      <a:pt x="0" y="17678"/>
                    </a:lnTo>
                    <a:lnTo>
                      <a:pt x="0" y="7924"/>
                    </a:lnTo>
                    <a:lnTo>
                      <a:pt x="7924" y="0"/>
                    </a:lnTo>
                    <a:lnTo>
                      <a:pt x="17678" y="0"/>
                    </a:lnTo>
                    <a:lnTo>
                      <a:pt x="27431" y="0"/>
                    </a:lnTo>
                    <a:lnTo>
                      <a:pt x="35356" y="7924"/>
                    </a:lnTo>
                    <a:lnTo>
                      <a:pt x="35356" y="17678"/>
                    </a:lnTo>
                    <a:lnTo>
                      <a:pt x="35356" y="27431"/>
                    </a:lnTo>
                    <a:lnTo>
                      <a:pt x="27431" y="35356"/>
                    </a:lnTo>
                    <a:lnTo>
                      <a:pt x="17678" y="35356"/>
                    </a:lnTo>
                    <a:close/>
                  </a:path>
                </a:pathLst>
              </a:custGeom>
              <a:ln w="4597">
                <a:solidFill>
                  <a:srgbClr val="000000"/>
                </a:solidFill>
              </a:ln>
            </p:spPr>
            <p:txBody>
              <a:bodyPr wrap="square" lIns="0" tIns="0" rIns="0" bIns="0" rtlCol="0"/>
              <a:lstStyle/>
              <a:p>
                <a:endParaRPr/>
              </a:p>
            </p:txBody>
          </p:sp>
          <p:sp>
            <p:nvSpPr>
              <p:cNvPr id="250" name="object 250"/>
              <p:cNvSpPr/>
              <p:nvPr/>
            </p:nvSpPr>
            <p:spPr>
              <a:xfrm>
                <a:off x="4052316" y="5718974"/>
                <a:ext cx="98425" cy="314325"/>
              </a:xfrm>
              <a:custGeom>
                <a:avLst/>
                <a:gdLst/>
                <a:ahLst/>
                <a:cxnLst/>
                <a:rect l="l" t="t" r="r" b="b"/>
                <a:pathLst>
                  <a:path w="98425" h="314325">
                    <a:moveTo>
                      <a:pt x="97891" y="0"/>
                    </a:moveTo>
                    <a:lnTo>
                      <a:pt x="93294" y="0"/>
                    </a:lnTo>
                    <a:lnTo>
                      <a:pt x="26644" y="274916"/>
                    </a:lnTo>
                    <a:lnTo>
                      <a:pt x="22098" y="274078"/>
                    </a:lnTo>
                    <a:lnTo>
                      <a:pt x="13500" y="275653"/>
                    </a:lnTo>
                    <a:lnTo>
                      <a:pt x="6477" y="279908"/>
                    </a:lnTo>
                    <a:lnTo>
                      <a:pt x="1727" y="286232"/>
                    </a:lnTo>
                    <a:lnTo>
                      <a:pt x="0" y="293966"/>
                    </a:lnTo>
                    <a:lnTo>
                      <a:pt x="1727" y="301713"/>
                    </a:lnTo>
                    <a:lnTo>
                      <a:pt x="6477" y="308025"/>
                    </a:lnTo>
                    <a:lnTo>
                      <a:pt x="13500" y="312293"/>
                    </a:lnTo>
                    <a:lnTo>
                      <a:pt x="22098" y="313855"/>
                    </a:lnTo>
                    <a:lnTo>
                      <a:pt x="30695" y="312293"/>
                    </a:lnTo>
                    <a:lnTo>
                      <a:pt x="37719" y="308025"/>
                    </a:lnTo>
                    <a:lnTo>
                      <a:pt x="42456" y="301713"/>
                    </a:lnTo>
                    <a:lnTo>
                      <a:pt x="44196" y="293966"/>
                    </a:lnTo>
                    <a:lnTo>
                      <a:pt x="42456" y="286232"/>
                    </a:lnTo>
                    <a:lnTo>
                      <a:pt x="37719" y="279908"/>
                    </a:lnTo>
                    <a:lnTo>
                      <a:pt x="31978" y="276440"/>
                    </a:lnTo>
                    <a:lnTo>
                      <a:pt x="97891" y="4584"/>
                    </a:lnTo>
                    <a:lnTo>
                      <a:pt x="97891" y="0"/>
                    </a:lnTo>
                    <a:close/>
                  </a:path>
                </a:pathLst>
              </a:custGeom>
              <a:solidFill>
                <a:srgbClr val="000000"/>
              </a:solidFill>
            </p:spPr>
            <p:txBody>
              <a:bodyPr wrap="square" lIns="0" tIns="0" rIns="0" bIns="0" rtlCol="0"/>
              <a:lstStyle/>
              <a:p>
                <a:endParaRPr/>
              </a:p>
            </p:txBody>
          </p:sp>
          <p:sp>
            <p:nvSpPr>
              <p:cNvPr id="251" name="object 251"/>
              <p:cNvSpPr/>
              <p:nvPr/>
            </p:nvSpPr>
            <p:spPr>
              <a:xfrm>
                <a:off x="4055287" y="5995263"/>
                <a:ext cx="40005" cy="35560"/>
              </a:xfrm>
              <a:custGeom>
                <a:avLst/>
                <a:gdLst/>
                <a:ahLst/>
                <a:cxnLst/>
                <a:rect l="l" t="t" r="r" b="b"/>
                <a:pathLst>
                  <a:path w="40004" h="35560">
                    <a:moveTo>
                      <a:pt x="19888" y="35356"/>
                    </a:moveTo>
                    <a:lnTo>
                      <a:pt x="12151" y="33966"/>
                    </a:lnTo>
                    <a:lnTo>
                      <a:pt x="5829" y="30175"/>
                    </a:lnTo>
                    <a:lnTo>
                      <a:pt x="1564" y="24555"/>
                    </a:lnTo>
                    <a:lnTo>
                      <a:pt x="0" y="17678"/>
                    </a:lnTo>
                    <a:lnTo>
                      <a:pt x="1564" y="10801"/>
                    </a:lnTo>
                    <a:lnTo>
                      <a:pt x="5829" y="5181"/>
                    </a:lnTo>
                    <a:lnTo>
                      <a:pt x="12151" y="1390"/>
                    </a:lnTo>
                    <a:lnTo>
                      <a:pt x="19888" y="0"/>
                    </a:lnTo>
                    <a:lnTo>
                      <a:pt x="27624" y="1390"/>
                    </a:lnTo>
                    <a:lnTo>
                      <a:pt x="33947" y="5181"/>
                    </a:lnTo>
                    <a:lnTo>
                      <a:pt x="38211" y="10801"/>
                    </a:lnTo>
                    <a:lnTo>
                      <a:pt x="39776" y="17678"/>
                    </a:lnTo>
                    <a:lnTo>
                      <a:pt x="38211" y="24555"/>
                    </a:lnTo>
                    <a:lnTo>
                      <a:pt x="33947" y="30175"/>
                    </a:lnTo>
                    <a:lnTo>
                      <a:pt x="27624" y="33966"/>
                    </a:lnTo>
                    <a:lnTo>
                      <a:pt x="19888" y="35356"/>
                    </a:lnTo>
                    <a:close/>
                  </a:path>
                </a:pathLst>
              </a:custGeom>
              <a:ln w="4597">
                <a:solidFill>
                  <a:srgbClr val="000000"/>
                </a:solidFill>
              </a:ln>
            </p:spPr>
            <p:txBody>
              <a:bodyPr wrap="square" lIns="0" tIns="0" rIns="0" bIns="0" rtlCol="0"/>
              <a:lstStyle/>
              <a:p>
                <a:endParaRPr/>
              </a:p>
            </p:txBody>
          </p:sp>
          <p:sp>
            <p:nvSpPr>
              <p:cNvPr id="252" name="object 252"/>
              <p:cNvSpPr/>
              <p:nvPr/>
            </p:nvSpPr>
            <p:spPr>
              <a:xfrm>
                <a:off x="4128439" y="5701969"/>
                <a:ext cx="40005" cy="40005"/>
              </a:xfrm>
              <a:custGeom>
                <a:avLst/>
                <a:gdLst/>
                <a:ahLst/>
                <a:cxnLst/>
                <a:rect l="l" t="t" r="r" b="b"/>
                <a:pathLst>
                  <a:path w="40004" h="40004">
                    <a:moveTo>
                      <a:pt x="39776" y="19888"/>
                    </a:moveTo>
                    <a:lnTo>
                      <a:pt x="38211" y="12151"/>
                    </a:lnTo>
                    <a:lnTo>
                      <a:pt x="33947" y="5829"/>
                    </a:lnTo>
                    <a:lnTo>
                      <a:pt x="27624" y="1564"/>
                    </a:lnTo>
                    <a:lnTo>
                      <a:pt x="19888" y="0"/>
                    </a:lnTo>
                    <a:lnTo>
                      <a:pt x="12151" y="1564"/>
                    </a:lnTo>
                    <a:lnTo>
                      <a:pt x="5829" y="5829"/>
                    </a:lnTo>
                    <a:lnTo>
                      <a:pt x="1564" y="12151"/>
                    </a:lnTo>
                    <a:lnTo>
                      <a:pt x="0" y="19888"/>
                    </a:lnTo>
                    <a:lnTo>
                      <a:pt x="1564" y="27624"/>
                    </a:lnTo>
                    <a:lnTo>
                      <a:pt x="5829" y="33947"/>
                    </a:lnTo>
                    <a:lnTo>
                      <a:pt x="12151" y="38211"/>
                    </a:lnTo>
                    <a:lnTo>
                      <a:pt x="19888" y="39776"/>
                    </a:lnTo>
                    <a:lnTo>
                      <a:pt x="27624" y="38211"/>
                    </a:lnTo>
                    <a:lnTo>
                      <a:pt x="33947" y="33947"/>
                    </a:lnTo>
                    <a:lnTo>
                      <a:pt x="38211" y="27624"/>
                    </a:lnTo>
                    <a:lnTo>
                      <a:pt x="39776" y="19888"/>
                    </a:lnTo>
                    <a:close/>
                  </a:path>
                </a:pathLst>
              </a:custGeom>
              <a:solidFill>
                <a:srgbClr val="000000"/>
              </a:solidFill>
            </p:spPr>
            <p:txBody>
              <a:bodyPr wrap="square" lIns="0" tIns="0" rIns="0" bIns="0" rtlCol="0"/>
              <a:lstStyle/>
              <a:p>
                <a:endParaRPr/>
              </a:p>
            </p:txBody>
          </p:sp>
          <p:sp>
            <p:nvSpPr>
              <p:cNvPr id="253" name="object 253"/>
              <p:cNvSpPr/>
              <p:nvPr/>
            </p:nvSpPr>
            <p:spPr>
              <a:xfrm>
                <a:off x="4129887" y="5703417"/>
                <a:ext cx="35560" cy="35560"/>
              </a:xfrm>
              <a:custGeom>
                <a:avLst/>
                <a:gdLst/>
                <a:ahLst/>
                <a:cxnLst/>
                <a:rect l="l" t="t" r="r" b="b"/>
                <a:pathLst>
                  <a:path w="35560" h="35560">
                    <a:moveTo>
                      <a:pt x="17678" y="35356"/>
                    </a:moveTo>
                    <a:lnTo>
                      <a:pt x="7924" y="35356"/>
                    </a:lnTo>
                    <a:lnTo>
                      <a:pt x="0" y="27431"/>
                    </a:lnTo>
                    <a:lnTo>
                      <a:pt x="0" y="17678"/>
                    </a:lnTo>
                    <a:lnTo>
                      <a:pt x="0" y="7924"/>
                    </a:lnTo>
                    <a:lnTo>
                      <a:pt x="7924" y="0"/>
                    </a:lnTo>
                    <a:lnTo>
                      <a:pt x="17678" y="0"/>
                    </a:lnTo>
                    <a:lnTo>
                      <a:pt x="27432" y="0"/>
                    </a:lnTo>
                    <a:lnTo>
                      <a:pt x="35356" y="7924"/>
                    </a:lnTo>
                    <a:lnTo>
                      <a:pt x="35356" y="17678"/>
                    </a:lnTo>
                    <a:lnTo>
                      <a:pt x="35356" y="27431"/>
                    </a:lnTo>
                    <a:lnTo>
                      <a:pt x="27432" y="35356"/>
                    </a:lnTo>
                    <a:lnTo>
                      <a:pt x="17678" y="35356"/>
                    </a:lnTo>
                    <a:close/>
                  </a:path>
                </a:pathLst>
              </a:custGeom>
              <a:ln w="4597">
                <a:solidFill>
                  <a:srgbClr val="000000"/>
                </a:solidFill>
              </a:ln>
            </p:spPr>
            <p:txBody>
              <a:bodyPr wrap="square" lIns="0" tIns="0" rIns="0" bIns="0" rtlCol="0"/>
              <a:lstStyle/>
              <a:p>
                <a:endParaRPr/>
              </a:p>
            </p:txBody>
          </p:sp>
          <p:pic>
            <p:nvPicPr>
              <p:cNvPr id="254" name="object 254"/>
              <p:cNvPicPr/>
              <p:nvPr/>
            </p:nvPicPr>
            <p:blipFill>
              <a:blip r:embed="rId23" cstate="print"/>
              <a:stretch>
                <a:fillRect/>
              </a:stretch>
            </p:blipFill>
            <p:spPr>
              <a:xfrm>
                <a:off x="4277791" y="5333911"/>
                <a:ext cx="411645" cy="464997"/>
              </a:xfrm>
              <a:prstGeom prst="rect">
                <a:avLst/>
              </a:prstGeom>
            </p:spPr>
          </p:pic>
          <p:pic>
            <p:nvPicPr>
              <p:cNvPr id="255" name="object 255"/>
              <p:cNvPicPr/>
              <p:nvPr/>
            </p:nvPicPr>
            <p:blipFill>
              <a:blip r:embed="rId24" cstate="print"/>
              <a:stretch>
                <a:fillRect/>
              </a:stretch>
            </p:blipFill>
            <p:spPr>
              <a:xfrm>
                <a:off x="4795100" y="5794082"/>
                <a:ext cx="393712" cy="238861"/>
              </a:xfrm>
              <a:prstGeom prst="rect">
                <a:avLst/>
              </a:prstGeom>
            </p:spPr>
          </p:pic>
          <p:sp>
            <p:nvSpPr>
              <p:cNvPr id="256" name="object 256"/>
              <p:cNvSpPr/>
              <p:nvPr/>
            </p:nvSpPr>
            <p:spPr>
              <a:xfrm>
                <a:off x="5166284" y="5736653"/>
                <a:ext cx="97790" cy="319405"/>
              </a:xfrm>
              <a:custGeom>
                <a:avLst/>
                <a:gdLst/>
                <a:ahLst/>
                <a:cxnLst/>
                <a:rect l="l" t="t" r="r" b="b"/>
                <a:pathLst>
                  <a:path w="97789" h="319404">
                    <a:moveTo>
                      <a:pt x="97663" y="0"/>
                    </a:moveTo>
                    <a:lnTo>
                      <a:pt x="93065" y="0"/>
                    </a:lnTo>
                    <a:lnTo>
                      <a:pt x="22148" y="275285"/>
                    </a:lnTo>
                    <a:lnTo>
                      <a:pt x="19888" y="274764"/>
                    </a:lnTo>
                    <a:lnTo>
                      <a:pt x="12141" y="276504"/>
                    </a:lnTo>
                    <a:lnTo>
                      <a:pt x="5816" y="281241"/>
                    </a:lnTo>
                    <a:lnTo>
                      <a:pt x="1562" y="288277"/>
                    </a:lnTo>
                    <a:lnTo>
                      <a:pt x="0" y="296862"/>
                    </a:lnTo>
                    <a:lnTo>
                      <a:pt x="1562" y="305460"/>
                    </a:lnTo>
                    <a:lnTo>
                      <a:pt x="5829" y="312483"/>
                    </a:lnTo>
                    <a:lnTo>
                      <a:pt x="12141" y="317233"/>
                    </a:lnTo>
                    <a:lnTo>
                      <a:pt x="19888" y="318960"/>
                    </a:lnTo>
                    <a:lnTo>
                      <a:pt x="27622" y="317233"/>
                    </a:lnTo>
                    <a:lnTo>
                      <a:pt x="33947" y="312483"/>
                    </a:lnTo>
                    <a:lnTo>
                      <a:pt x="38201" y="305460"/>
                    </a:lnTo>
                    <a:lnTo>
                      <a:pt x="39776" y="296862"/>
                    </a:lnTo>
                    <a:lnTo>
                      <a:pt x="38201" y="288277"/>
                    </a:lnTo>
                    <a:lnTo>
                      <a:pt x="33947" y="281241"/>
                    </a:lnTo>
                    <a:lnTo>
                      <a:pt x="27622" y="276517"/>
                    </a:lnTo>
                    <a:lnTo>
                      <a:pt x="97663" y="4597"/>
                    </a:lnTo>
                    <a:lnTo>
                      <a:pt x="97663" y="0"/>
                    </a:lnTo>
                    <a:close/>
                  </a:path>
                </a:pathLst>
              </a:custGeom>
              <a:solidFill>
                <a:srgbClr val="000000"/>
              </a:solidFill>
            </p:spPr>
            <p:txBody>
              <a:bodyPr wrap="square" lIns="0" tIns="0" rIns="0" bIns="0" rtlCol="0"/>
              <a:lstStyle/>
              <a:p>
                <a:endParaRPr/>
              </a:p>
            </p:txBody>
          </p:sp>
          <p:sp>
            <p:nvSpPr>
              <p:cNvPr id="257" name="object 257"/>
              <p:cNvSpPr/>
              <p:nvPr/>
            </p:nvSpPr>
            <p:spPr>
              <a:xfrm>
                <a:off x="5169255" y="6012865"/>
                <a:ext cx="35560" cy="40005"/>
              </a:xfrm>
              <a:custGeom>
                <a:avLst/>
                <a:gdLst/>
                <a:ahLst/>
                <a:cxnLst/>
                <a:rect l="l" t="t" r="r" b="b"/>
                <a:pathLst>
                  <a:path w="35560" h="40004">
                    <a:moveTo>
                      <a:pt x="17678" y="39776"/>
                    </a:moveTo>
                    <a:lnTo>
                      <a:pt x="10801" y="38211"/>
                    </a:lnTo>
                    <a:lnTo>
                      <a:pt x="5181" y="33947"/>
                    </a:lnTo>
                    <a:lnTo>
                      <a:pt x="1390" y="27624"/>
                    </a:lnTo>
                    <a:lnTo>
                      <a:pt x="0" y="19888"/>
                    </a:lnTo>
                    <a:lnTo>
                      <a:pt x="1390" y="12151"/>
                    </a:lnTo>
                    <a:lnTo>
                      <a:pt x="5181" y="5829"/>
                    </a:lnTo>
                    <a:lnTo>
                      <a:pt x="10801" y="1564"/>
                    </a:lnTo>
                    <a:lnTo>
                      <a:pt x="17678" y="0"/>
                    </a:lnTo>
                    <a:lnTo>
                      <a:pt x="24555" y="1564"/>
                    </a:lnTo>
                    <a:lnTo>
                      <a:pt x="30175" y="5829"/>
                    </a:lnTo>
                    <a:lnTo>
                      <a:pt x="33966" y="12151"/>
                    </a:lnTo>
                    <a:lnTo>
                      <a:pt x="35356" y="19888"/>
                    </a:lnTo>
                    <a:lnTo>
                      <a:pt x="33966" y="27624"/>
                    </a:lnTo>
                    <a:lnTo>
                      <a:pt x="30175" y="33947"/>
                    </a:lnTo>
                    <a:lnTo>
                      <a:pt x="24555" y="38211"/>
                    </a:lnTo>
                    <a:lnTo>
                      <a:pt x="17678" y="39776"/>
                    </a:lnTo>
                    <a:close/>
                  </a:path>
                </a:pathLst>
              </a:custGeom>
              <a:ln w="4597">
                <a:solidFill>
                  <a:srgbClr val="000000"/>
                </a:solidFill>
              </a:ln>
            </p:spPr>
            <p:txBody>
              <a:bodyPr wrap="square" lIns="0" tIns="0" rIns="0" bIns="0" rtlCol="0"/>
              <a:lstStyle/>
              <a:p>
                <a:endParaRPr/>
              </a:p>
            </p:txBody>
          </p:sp>
          <p:pic>
            <p:nvPicPr>
              <p:cNvPr id="258" name="object 258"/>
              <p:cNvPicPr/>
              <p:nvPr/>
            </p:nvPicPr>
            <p:blipFill>
              <a:blip r:embed="rId25" cstate="print"/>
              <a:stretch>
                <a:fillRect/>
              </a:stretch>
            </p:blipFill>
            <p:spPr>
              <a:xfrm>
                <a:off x="5237137" y="5718733"/>
                <a:ext cx="115316" cy="243992"/>
              </a:xfrm>
              <a:prstGeom prst="rect">
                <a:avLst/>
              </a:prstGeom>
            </p:spPr>
          </p:pic>
          <p:sp>
            <p:nvSpPr>
              <p:cNvPr id="259" name="object 259"/>
              <p:cNvSpPr/>
              <p:nvPr/>
            </p:nvSpPr>
            <p:spPr>
              <a:xfrm>
                <a:off x="5463463" y="5922949"/>
                <a:ext cx="40005" cy="40005"/>
              </a:xfrm>
              <a:custGeom>
                <a:avLst/>
                <a:gdLst/>
                <a:ahLst/>
                <a:cxnLst/>
                <a:rect l="l" t="t" r="r" b="b"/>
                <a:pathLst>
                  <a:path w="40004" h="40004">
                    <a:moveTo>
                      <a:pt x="39776" y="19888"/>
                    </a:moveTo>
                    <a:lnTo>
                      <a:pt x="38211" y="12151"/>
                    </a:lnTo>
                    <a:lnTo>
                      <a:pt x="33947" y="5829"/>
                    </a:lnTo>
                    <a:lnTo>
                      <a:pt x="27624" y="1564"/>
                    </a:lnTo>
                    <a:lnTo>
                      <a:pt x="19888" y="0"/>
                    </a:lnTo>
                    <a:lnTo>
                      <a:pt x="12151" y="1564"/>
                    </a:lnTo>
                    <a:lnTo>
                      <a:pt x="5829" y="5829"/>
                    </a:lnTo>
                    <a:lnTo>
                      <a:pt x="1564" y="12151"/>
                    </a:lnTo>
                    <a:lnTo>
                      <a:pt x="0" y="19888"/>
                    </a:lnTo>
                    <a:lnTo>
                      <a:pt x="1564" y="27624"/>
                    </a:lnTo>
                    <a:lnTo>
                      <a:pt x="5829" y="33947"/>
                    </a:lnTo>
                    <a:lnTo>
                      <a:pt x="12151" y="38211"/>
                    </a:lnTo>
                    <a:lnTo>
                      <a:pt x="19888" y="39776"/>
                    </a:lnTo>
                    <a:lnTo>
                      <a:pt x="27624" y="38211"/>
                    </a:lnTo>
                    <a:lnTo>
                      <a:pt x="33947" y="33947"/>
                    </a:lnTo>
                    <a:lnTo>
                      <a:pt x="38211" y="27624"/>
                    </a:lnTo>
                    <a:lnTo>
                      <a:pt x="39776" y="19888"/>
                    </a:lnTo>
                    <a:close/>
                  </a:path>
                </a:pathLst>
              </a:custGeom>
              <a:solidFill>
                <a:srgbClr val="000000"/>
              </a:solidFill>
            </p:spPr>
            <p:txBody>
              <a:bodyPr wrap="square" lIns="0" tIns="0" rIns="0" bIns="0" rtlCol="0"/>
              <a:lstStyle/>
              <a:p>
                <a:endParaRPr/>
              </a:p>
            </p:txBody>
          </p:sp>
          <p:sp>
            <p:nvSpPr>
              <p:cNvPr id="260" name="object 260"/>
              <p:cNvSpPr/>
              <p:nvPr/>
            </p:nvSpPr>
            <p:spPr>
              <a:xfrm>
                <a:off x="5464911" y="5924397"/>
                <a:ext cx="35560" cy="35560"/>
              </a:xfrm>
              <a:custGeom>
                <a:avLst/>
                <a:gdLst/>
                <a:ahLst/>
                <a:cxnLst/>
                <a:rect l="l" t="t" r="r" b="b"/>
                <a:pathLst>
                  <a:path w="35560" h="35560">
                    <a:moveTo>
                      <a:pt x="17678" y="35356"/>
                    </a:moveTo>
                    <a:lnTo>
                      <a:pt x="7924" y="35356"/>
                    </a:lnTo>
                    <a:lnTo>
                      <a:pt x="0" y="27432"/>
                    </a:lnTo>
                    <a:lnTo>
                      <a:pt x="0" y="17678"/>
                    </a:lnTo>
                    <a:lnTo>
                      <a:pt x="0" y="7924"/>
                    </a:lnTo>
                    <a:lnTo>
                      <a:pt x="7924" y="0"/>
                    </a:lnTo>
                    <a:lnTo>
                      <a:pt x="17678" y="0"/>
                    </a:lnTo>
                    <a:lnTo>
                      <a:pt x="27432" y="0"/>
                    </a:lnTo>
                    <a:lnTo>
                      <a:pt x="35356" y="7924"/>
                    </a:lnTo>
                    <a:lnTo>
                      <a:pt x="35356" y="17678"/>
                    </a:lnTo>
                    <a:lnTo>
                      <a:pt x="35356" y="27432"/>
                    </a:lnTo>
                    <a:lnTo>
                      <a:pt x="27432" y="35356"/>
                    </a:lnTo>
                    <a:lnTo>
                      <a:pt x="17678" y="35356"/>
                    </a:lnTo>
                    <a:close/>
                  </a:path>
                </a:pathLst>
              </a:custGeom>
              <a:ln w="4597">
                <a:solidFill>
                  <a:srgbClr val="000000"/>
                </a:solidFill>
              </a:ln>
            </p:spPr>
            <p:txBody>
              <a:bodyPr wrap="square" lIns="0" tIns="0" rIns="0" bIns="0" rtlCol="0"/>
              <a:lstStyle/>
              <a:p>
                <a:endParaRPr/>
              </a:p>
            </p:txBody>
          </p:sp>
          <p:sp>
            <p:nvSpPr>
              <p:cNvPr id="261" name="object 261"/>
              <p:cNvSpPr/>
              <p:nvPr/>
            </p:nvSpPr>
            <p:spPr>
              <a:xfrm>
                <a:off x="5608244" y="5356567"/>
                <a:ext cx="97790" cy="401955"/>
              </a:xfrm>
              <a:custGeom>
                <a:avLst/>
                <a:gdLst/>
                <a:ahLst/>
                <a:cxnLst/>
                <a:rect l="l" t="t" r="r" b="b"/>
                <a:pathLst>
                  <a:path w="97789" h="401954">
                    <a:moveTo>
                      <a:pt x="97663" y="0"/>
                    </a:moveTo>
                    <a:lnTo>
                      <a:pt x="93065" y="0"/>
                    </a:lnTo>
                    <a:lnTo>
                      <a:pt x="21412" y="362483"/>
                    </a:lnTo>
                    <a:lnTo>
                      <a:pt x="19888" y="362165"/>
                    </a:lnTo>
                    <a:lnTo>
                      <a:pt x="12141" y="363740"/>
                    </a:lnTo>
                    <a:lnTo>
                      <a:pt x="5829" y="367995"/>
                    </a:lnTo>
                    <a:lnTo>
                      <a:pt x="1562" y="374319"/>
                    </a:lnTo>
                    <a:lnTo>
                      <a:pt x="0" y="382054"/>
                    </a:lnTo>
                    <a:lnTo>
                      <a:pt x="1562" y="389801"/>
                    </a:lnTo>
                    <a:lnTo>
                      <a:pt x="5829" y="396125"/>
                    </a:lnTo>
                    <a:lnTo>
                      <a:pt x="12141" y="400380"/>
                    </a:lnTo>
                    <a:lnTo>
                      <a:pt x="19888" y="401942"/>
                    </a:lnTo>
                    <a:lnTo>
                      <a:pt x="27622" y="400380"/>
                    </a:lnTo>
                    <a:lnTo>
                      <a:pt x="33947" y="396113"/>
                    </a:lnTo>
                    <a:lnTo>
                      <a:pt x="38201" y="389801"/>
                    </a:lnTo>
                    <a:lnTo>
                      <a:pt x="39776" y="382054"/>
                    </a:lnTo>
                    <a:lnTo>
                      <a:pt x="38201" y="374319"/>
                    </a:lnTo>
                    <a:lnTo>
                      <a:pt x="33947" y="367995"/>
                    </a:lnTo>
                    <a:lnTo>
                      <a:pt x="27622" y="363740"/>
                    </a:lnTo>
                    <a:lnTo>
                      <a:pt x="26695" y="363562"/>
                    </a:lnTo>
                    <a:lnTo>
                      <a:pt x="97663" y="4597"/>
                    </a:lnTo>
                    <a:lnTo>
                      <a:pt x="97663" y="0"/>
                    </a:lnTo>
                    <a:close/>
                  </a:path>
                </a:pathLst>
              </a:custGeom>
              <a:solidFill>
                <a:srgbClr val="000000"/>
              </a:solidFill>
            </p:spPr>
            <p:txBody>
              <a:bodyPr wrap="square" lIns="0" tIns="0" rIns="0" bIns="0" rtlCol="0"/>
              <a:lstStyle/>
              <a:p>
                <a:endParaRPr/>
              </a:p>
            </p:txBody>
          </p:sp>
          <p:sp>
            <p:nvSpPr>
              <p:cNvPr id="262" name="object 262"/>
              <p:cNvSpPr/>
              <p:nvPr/>
            </p:nvSpPr>
            <p:spPr>
              <a:xfrm>
                <a:off x="5611215" y="5721705"/>
                <a:ext cx="35560" cy="35560"/>
              </a:xfrm>
              <a:custGeom>
                <a:avLst/>
                <a:gdLst/>
                <a:ahLst/>
                <a:cxnLst/>
                <a:rect l="l" t="t" r="r" b="b"/>
                <a:pathLst>
                  <a:path w="35560" h="35560">
                    <a:moveTo>
                      <a:pt x="17678" y="35356"/>
                    </a:moveTo>
                    <a:lnTo>
                      <a:pt x="7924" y="35356"/>
                    </a:lnTo>
                    <a:lnTo>
                      <a:pt x="0" y="27431"/>
                    </a:lnTo>
                    <a:lnTo>
                      <a:pt x="0" y="17678"/>
                    </a:lnTo>
                    <a:lnTo>
                      <a:pt x="0" y="7924"/>
                    </a:lnTo>
                    <a:lnTo>
                      <a:pt x="7924" y="0"/>
                    </a:lnTo>
                    <a:lnTo>
                      <a:pt x="17678" y="0"/>
                    </a:lnTo>
                    <a:lnTo>
                      <a:pt x="27432" y="0"/>
                    </a:lnTo>
                    <a:lnTo>
                      <a:pt x="35356" y="7924"/>
                    </a:lnTo>
                    <a:lnTo>
                      <a:pt x="35356" y="17678"/>
                    </a:lnTo>
                    <a:lnTo>
                      <a:pt x="35356" y="27431"/>
                    </a:lnTo>
                    <a:lnTo>
                      <a:pt x="27432" y="35356"/>
                    </a:lnTo>
                    <a:lnTo>
                      <a:pt x="17678" y="35356"/>
                    </a:lnTo>
                    <a:close/>
                  </a:path>
                </a:pathLst>
              </a:custGeom>
              <a:ln w="4597">
                <a:solidFill>
                  <a:srgbClr val="000000"/>
                </a:solidFill>
              </a:ln>
            </p:spPr>
            <p:txBody>
              <a:bodyPr wrap="square" lIns="0" tIns="0" rIns="0" bIns="0" rtlCol="0"/>
              <a:lstStyle/>
              <a:p>
                <a:endParaRPr/>
              </a:p>
            </p:txBody>
          </p:sp>
          <p:pic>
            <p:nvPicPr>
              <p:cNvPr id="263" name="object 263"/>
              <p:cNvPicPr/>
              <p:nvPr/>
            </p:nvPicPr>
            <p:blipFill>
              <a:blip r:embed="rId26" cstate="print"/>
              <a:stretch>
                <a:fillRect/>
              </a:stretch>
            </p:blipFill>
            <p:spPr>
              <a:xfrm>
                <a:off x="5683592" y="5333911"/>
                <a:ext cx="318427" cy="354495"/>
              </a:xfrm>
              <a:prstGeom prst="rect">
                <a:avLst/>
              </a:prstGeom>
            </p:spPr>
          </p:pic>
          <p:sp>
            <p:nvSpPr>
              <p:cNvPr id="264" name="object 264"/>
              <p:cNvSpPr/>
              <p:nvPr/>
            </p:nvSpPr>
            <p:spPr>
              <a:xfrm>
                <a:off x="5980100" y="5555665"/>
                <a:ext cx="53340" cy="716280"/>
              </a:xfrm>
              <a:custGeom>
                <a:avLst/>
                <a:gdLst/>
                <a:ahLst/>
                <a:cxnLst/>
                <a:rect l="l" t="t" r="r" b="b"/>
                <a:pathLst>
                  <a:path w="53339" h="716279">
                    <a:moveTo>
                      <a:pt x="52857" y="711339"/>
                    </a:moveTo>
                    <a:lnTo>
                      <a:pt x="22885" y="39179"/>
                    </a:lnTo>
                    <a:lnTo>
                      <a:pt x="27622" y="38214"/>
                    </a:lnTo>
                    <a:lnTo>
                      <a:pt x="33947" y="33947"/>
                    </a:lnTo>
                    <a:lnTo>
                      <a:pt x="38201" y="27635"/>
                    </a:lnTo>
                    <a:lnTo>
                      <a:pt x="39776" y="19888"/>
                    </a:lnTo>
                    <a:lnTo>
                      <a:pt x="38201" y="12153"/>
                    </a:lnTo>
                    <a:lnTo>
                      <a:pt x="33934" y="5829"/>
                    </a:lnTo>
                    <a:lnTo>
                      <a:pt x="27622" y="1574"/>
                    </a:lnTo>
                    <a:lnTo>
                      <a:pt x="19888" y="0"/>
                    </a:lnTo>
                    <a:lnTo>
                      <a:pt x="12141" y="1574"/>
                    </a:lnTo>
                    <a:lnTo>
                      <a:pt x="5816" y="5829"/>
                    </a:lnTo>
                    <a:lnTo>
                      <a:pt x="1562" y="12153"/>
                    </a:lnTo>
                    <a:lnTo>
                      <a:pt x="0" y="19888"/>
                    </a:lnTo>
                    <a:lnTo>
                      <a:pt x="1562" y="27635"/>
                    </a:lnTo>
                    <a:lnTo>
                      <a:pt x="5829" y="33959"/>
                    </a:lnTo>
                    <a:lnTo>
                      <a:pt x="12141" y="38214"/>
                    </a:lnTo>
                    <a:lnTo>
                      <a:pt x="18084" y="39420"/>
                    </a:lnTo>
                    <a:lnTo>
                      <a:pt x="48260" y="715937"/>
                    </a:lnTo>
                    <a:lnTo>
                      <a:pt x="52857" y="715937"/>
                    </a:lnTo>
                    <a:lnTo>
                      <a:pt x="52857" y="711339"/>
                    </a:lnTo>
                    <a:close/>
                  </a:path>
                </a:pathLst>
              </a:custGeom>
              <a:solidFill>
                <a:srgbClr val="000000"/>
              </a:solidFill>
            </p:spPr>
            <p:txBody>
              <a:bodyPr wrap="square" lIns="0" tIns="0" rIns="0" bIns="0" rtlCol="0"/>
              <a:lstStyle/>
              <a:p>
                <a:endParaRPr/>
              </a:p>
            </p:txBody>
          </p:sp>
          <p:sp>
            <p:nvSpPr>
              <p:cNvPr id="265" name="object 265"/>
              <p:cNvSpPr/>
              <p:nvPr/>
            </p:nvSpPr>
            <p:spPr>
              <a:xfrm>
                <a:off x="5981547" y="5557113"/>
                <a:ext cx="35560" cy="35560"/>
              </a:xfrm>
              <a:custGeom>
                <a:avLst/>
                <a:gdLst/>
                <a:ahLst/>
                <a:cxnLst/>
                <a:rect l="l" t="t" r="r" b="b"/>
                <a:pathLst>
                  <a:path w="35560" h="35560">
                    <a:moveTo>
                      <a:pt x="17678" y="35356"/>
                    </a:moveTo>
                    <a:lnTo>
                      <a:pt x="7924" y="35356"/>
                    </a:lnTo>
                    <a:lnTo>
                      <a:pt x="0" y="27432"/>
                    </a:lnTo>
                    <a:lnTo>
                      <a:pt x="0" y="17678"/>
                    </a:lnTo>
                    <a:lnTo>
                      <a:pt x="0" y="7924"/>
                    </a:lnTo>
                    <a:lnTo>
                      <a:pt x="7924" y="0"/>
                    </a:lnTo>
                    <a:lnTo>
                      <a:pt x="17678" y="0"/>
                    </a:lnTo>
                    <a:lnTo>
                      <a:pt x="27432" y="0"/>
                    </a:lnTo>
                    <a:lnTo>
                      <a:pt x="35356" y="7924"/>
                    </a:lnTo>
                    <a:lnTo>
                      <a:pt x="35356" y="17678"/>
                    </a:lnTo>
                    <a:lnTo>
                      <a:pt x="35356" y="27432"/>
                    </a:lnTo>
                    <a:lnTo>
                      <a:pt x="27432" y="35356"/>
                    </a:lnTo>
                    <a:lnTo>
                      <a:pt x="17678" y="35356"/>
                    </a:lnTo>
                    <a:close/>
                  </a:path>
                </a:pathLst>
              </a:custGeom>
              <a:ln w="4597">
                <a:solidFill>
                  <a:srgbClr val="000000"/>
                </a:solidFill>
              </a:ln>
            </p:spPr>
            <p:txBody>
              <a:bodyPr wrap="square" lIns="0" tIns="0" rIns="0" bIns="0" rtlCol="0"/>
              <a:lstStyle/>
              <a:p>
                <a:endParaRPr/>
              </a:p>
            </p:txBody>
          </p:sp>
          <p:sp>
            <p:nvSpPr>
              <p:cNvPr id="266" name="object 266"/>
              <p:cNvSpPr/>
              <p:nvPr/>
            </p:nvSpPr>
            <p:spPr>
              <a:xfrm>
                <a:off x="6126480" y="5665393"/>
                <a:ext cx="96520" cy="151130"/>
              </a:xfrm>
              <a:custGeom>
                <a:avLst/>
                <a:gdLst/>
                <a:ahLst/>
                <a:cxnLst/>
                <a:rect l="l" t="t" r="r" b="b"/>
                <a:pathLst>
                  <a:path w="96520" h="151129">
                    <a:moveTo>
                      <a:pt x="96520" y="146392"/>
                    </a:moveTo>
                    <a:lnTo>
                      <a:pt x="35293" y="35433"/>
                    </a:lnTo>
                    <a:lnTo>
                      <a:pt x="37719" y="33947"/>
                    </a:lnTo>
                    <a:lnTo>
                      <a:pt x="42456" y="27635"/>
                    </a:lnTo>
                    <a:lnTo>
                      <a:pt x="44196" y="19888"/>
                    </a:lnTo>
                    <a:lnTo>
                      <a:pt x="42456" y="12153"/>
                    </a:lnTo>
                    <a:lnTo>
                      <a:pt x="37719" y="5829"/>
                    </a:lnTo>
                    <a:lnTo>
                      <a:pt x="30695" y="1574"/>
                    </a:lnTo>
                    <a:lnTo>
                      <a:pt x="22098" y="0"/>
                    </a:lnTo>
                    <a:lnTo>
                      <a:pt x="13500" y="1574"/>
                    </a:lnTo>
                    <a:lnTo>
                      <a:pt x="6477" y="5829"/>
                    </a:lnTo>
                    <a:lnTo>
                      <a:pt x="1727" y="12153"/>
                    </a:lnTo>
                    <a:lnTo>
                      <a:pt x="0" y="19888"/>
                    </a:lnTo>
                    <a:lnTo>
                      <a:pt x="1727" y="27635"/>
                    </a:lnTo>
                    <a:lnTo>
                      <a:pt x="6464" y="33947"/>
                    </a:lnTo>
                    <a:lnTo>
                      <a:pt x="13500" y="38214"/>
                    </a:lnTo>
                    <a:lnTo>
                      <a:pt x="22098" y="39776"/>
                    </a:lnTo>
                    <a:lnTo>
                      <a:pt x="29781" y="38379"/>
                    </a:lnTo>
                    <a:lnTo>
                      <a:pt x="91922" y="150990"/>
                    </a:lnTo>
                    <a:lnTo>
                      <a:pt x="96520" y="150990"/>
                    </a:lnTo>
                    <a:lnTo>
                      <a:pt x="96520" y="146392"/>
                    </a:lnTo>
                    <a:close/>
                  </a:path>
                </a:pathLst>
              </a:custGeom>
              <a:solidFill>
                <a:srgbClr val="000000"/>
              </a:solidFill>
            </p:spPr>
            <p:txBody>
              <a:bodyPr wrap="square" lIns="0" tIns="0" rIns="0" bIns="0" rtlCol="0"/>
              <a:lstStyle/>
              <a:p>
                <a:endParaRPr/>
              </a:p>
            </p:txBody>
          </p:sp>
          <p:sp>
            <p:nvSpPr>
              <p:cNvPr id="267" name="object 267"/>
              <p:cNvSpPr/>
              <p:nvPr/>
            </p:nvSpPr>
            <p:spPr>
              <a:xfrm>
                <a:off x="6127927" y="5668365"/>
                <a:ext cx="40005" cy="35560"/>
              </a:xfrm>
              <a:custGeom>
                <a:avLst/>
                <a:gdLst/>
                <a:ahLst/>
                <a:cxnLst/>
                <a:rect l="l" t="t" r="r" b="b"/>
                <a:pathLst>
                  <a:path w="40004" h="35560">
                    <a:moveTo>
                      <a:pt x="19888" y="35356"/>
                    </a:moveTo>
                    <a:lnTo>
                      <a:pt x="12151" y="33966"/>
                    </a:lnTo>
                    <a:lnTo>
                      <a:pt x="5829" y="30175"/>
                    </a:lnTo>
                    <a:lnTo>
                      <a:pt x="1564" y="24555"/>
                    </a:lnTo>
                    <a:lnTo>
                      <a:pt x="0" y="17678"/>
                    </a:lnTo>
                    <a:lnTo>
                      <a:pt x="1564" y="10801"/>
                    </a:lnTo>
                    <a:lnTo>
                      <a:pt x="5829" y="5181"/>
                    </a:lnTo>
                    <a:lnTo>
                      <a:pt x="12151" y="1390"/>
                    </a:lnTo>
                    <a:lnTo>
                      <a:pt x="19888" y="0"/>
                    </a:lnTo>
                    <a:lnTo>
                      <a:pt x="27624" y="1390"/>
                    </a:lnTo>
                    <a:lnTo>
                      <a:pt x="33947" y="5181"/>
                    </a:lnTo>
                    <a:lnTo>
                      <a:pt x="38211" y="10801"/>
                    </a:lnTo>
                    <a:lnTo>
                      <a:pt x="39776" y="17678"/>
                    </a:lnTo>
                    <a:lnTo>
                      <a:pt x="38211" y="24555"/>
                    </a:lnTo>
                    <a:lnTo>
                      <a:pt x="33947" y="30175"/>
                    </a:lnTo>
                    <a:lnTo>
                      <a:pt x="27624" y="33966"/>
                    </a:lnTo>
                    <a:lnTo>
                      <a:pt x="19888" y="35356"/>
                    </a:lnTo>
                    <a:close/>
                  </a:path>
                </a:pathLst>
              </a:custGeom>
              <a:ln w="4597">
                <a:solidFill>
                  <a:srgbClr val="000000"/>
                </a:solidFill>
              </a:ln>
            </p:spPr>
            <p:txBody>
              <a:bodyPr wrap="square" lIns="0" tIns="0" rIns="0" bIns="0" rtlCol="0"/>
              <a:lstStyle/>
              <a:p>
                <a:endParaRPr/>
              </a:p>
            </p:txBody>
          </p:sp>
          <p:sp>
            <p:nvSpPr>
              <p:cNvPr id="268" name="object 268"/>
              <p:cNvSpPr/>
              <p:nvPr/>
            </p:nvSpPr>
            <p:spPr>
              <a:xfrm>
                <a:off x="6201079" y="5683618"/>
                <a:ext cx="97155" cy="150495"/>
              </a:xfrm>
              <a:custGeom>
                <a:avLst/>
                <a:gdLst/>
                <a:ahLst/>
                <a:cxnLst/>
                <a:rect l="l" t="t" r="r" b="b"/>
                <a:pathLst>
                  <a:path w="97154" h="150495">
                    <a:moveTo>
                      <a:pt x="97053" y="0"/>
                    </a:moveTo>
                    <a:lnTo>
                      <a:pt x="92456" y="0"/>
                    </a:lnTo>
                    <a:lnTo>
                      <a:pt x="26809" y="111975"/>
                    </a:lnTo>
                    <a:lnTo>
                      <a:pt x="19888" y="110553"/>
                    </a:lnTo>
                    <a:lnTo>
                      <a:pt x="12141" y="112128"/>
                    </a:lnTo>
                    <a:lnTo>
                      <a:pt x="5816" y="116382"/>
                    </a:lnTo>
                    <a:lnTo>
                      <a:pt x="1562" y="122707"/>
                    </a:lnTo>
                    <a:lnTo>
                      <a:pt x="0" y="130441"/>
                    </a:lnTo>
                    <a:lnTo>
                      <a:pt x="1562" y="138188"/>
                    </a:lnTo>
                    <a:lnTo>
                      <a:pt x="5829" y="144500"/>
                    </a:lnTo>
                    <a:lnTo>
                      <a:pt x="12141" y="148767"/>
                    </a:lnTo>
                    <a:lnTo>
                      <a:pt x="19888" y="150329"/>
                    </a:lnTo>
                    <a:lnTo>
                      <a:pt x="27622" y="148767"/>
                    </a:lnTo>
                    <a:lnTo>
                      <a:pt x="33947" y="144500"/>
                    </a:lnTo>
                    <a:lnTo>
                      <a:pt x="38201" y="138188"/>
                    </a:lnTo>
                    <a:lnTo>
                      <a:pt x="39776" y="130441"/>
                    </a:lnTo>
                    <a:lnTo>
                      <a:pt x="38201" y="122707"/>
                    </a:lnTo>
                    <a:lnTo>
                      <a:pt x="33947" y="116382"/>
                    </a:lnTo>
                    <a:lnTo>
                      <a:pt x="32207" y="115214"/>
                    </a:lnTo>
                    <a:lnTo>
                      <a:pt x="97053" y="4597"/>
                    </a:lnTo>
                    <a:lnTo>
                      <a:pt x="97053" y="0"/>
                    </a:lnTo>
                    <a:close/>
                  </a:path>
                </a:pathLst>
              </a:custGeom>
              <a:solidFill>
                <a:srgbClr val="000000"/>
              </a:solidFill>
            </p:spPr>
            <p:txBody>
              <a:bodyPr wrap="square" lIns="0" tIns="0" rIns="0" bIns="0" rtlCol="0"/>
              <a:lstStyle/>
              <a:p>
                <a:endParaRPr/>
              </a:p>
            </p:txBody>
          </p:sp>
          <p:sp>
            <p:nvSpPr>
              <p:cNvPr id="269" name="object 269"/>
              <p:cNvSpPr/>
              <p:nvPr/>
            </p:nvSpPr>
            <p:spPr>
              <a:xfrm>
                <a:off x="6202527" y="5796381"/>
                <a:ext cx="35560" cy="35560"/>
              </a:xfrm>
              <a:custGeom>
                <a:avLst/>
                <a:gdLst/>
                <a:ahLst/>
                <a:cxnLst/>
                <a:rect l="l" t="t" r="r" b="b"/>
                <a:pathLst>
                  <a:path w="35560" h="35560">
                    <a:moveTo>
                      <a:pt x="17678" y="35356"/>
                    </a:moveTo>
                    <a:lnTo>
                      <a:pt x="7924" y="35356"/>
                    </a:lnTo>
                    <a:lnTo>
                      <a:pt x="0" y="27431"/>
                    </a:lnTo>
                    <a:lnTo>
                      <a:pt x="0" y="17678"/>
                    </a:lnTo>
                    <a:lnTo>
                      <a:pt x="0" y="7924"/>
                    </a:lnTo>
                    <a:lnTo>
                      <a:pt x="7924" y="0"/>
                    </a:lnTo>
                    <a:lnTo>
                      <a:pt x="17678" y="0"/>
                    </a:lnTo>
                    <a:lnTo>
                      <a:pt x="27432" y="0"/>
                    </a:lnTo>
                    <a:lnTo>
                      <a:pt x="35356" y="7924"/>
                    </a:lnTo>
                    <a:lnTo>
                      <a:pt x="35356" y="17678"/>
                    </a:lnTo>
                    <a:lnTo>
                      <a:pt x="35356" y="27431"/>
                    </a:lnTo>
                    <a:lnTo>
                      <a:pt x="27432" y="35356"/>
                    </a:lnTo>
                    <a:lnTo>
                      <a:pt x="17678" y="35356"/>
                    </a:lnTo>
                    <a:close/>
                  </a:path>
                </a:pathLst>
              </a:custGeom>
              <a:ln w="4597">
                <a:solidFill>
                  <a:srgbClr val="000000"/>
                </a:solidFill>
              </a:ln>
            </p:spPr>
            <p:txBody>
              <a:bodyPr wrap="square" lIns="0" tIns="0" rIns="0" bIns="0" rtlCol="0"/>
              <a:lstStyle/>
              <a:p>
                <a:endParaRPr/>
              </a:p>
            </p:txBody>
          </p:sp>
          <p:sp>
            <p:nvSpPr>
              <p:cNvPr id="270" name="object 270"/>
              <p:cNvSpPr/>
              <p:nvPr/>
            </p:nvSpPr>
            <p:spPr>
              <a:xfrm>
                <a:off x="6275755" y="5665393"/>
                <a:ext cx="97790" cy="168910"/>
              </a:xfrm>
              <a:custGeom>
                <a:avLst/>
                <a:gdLst/>
                <a:ahLst/>
                <a:cxnLst/>
                <a:rect l="l" t="t" r="r" b="b"/>
                <a:pathLst>
                  <a:path w="97789" h="168910">
                    <a:moveTo>
                      <a:pt x="97510" y="164071"/>
                    </a:moveTo>
                    <a:lnTo>
                      <a:pt x="31369" y="35687"/>
                    </a:lnTo>
                    <a:lnTo>
                      <a:pt x="33947" y="33947"/>
                    </a:lnTo>
                    <a:lnTo>
                      <a:pt x="38201" y="27635"/>
                    </a:lnTo>
                    <a:lnTo>
                      <a:pt x="39776" y="19888"/>
                    </a:lnTo>
                    <a:lnTo>
                      <a:pt x="38201" y="12153"/>
                    </a:lnTo>
                    <a:lnTo>
                      <a:pt x="33947" y="5829"/>
                    </a:lnTo>
                    <a:lnTo>
                      <a:pt x="27622" y="1574"/>
                    </a:lnTo>
                    <a:lnTo>
                      <a:pt x="19888" y="0"/>
                    </a:lnTo>
                    <a:lnTo>
                      <a:pt x="12141" y="1574"/>
                    </a:lnTo>
                    <a:lnTo>
                      <a:pt x="5816" y="5829"/>
                    </a:lnTo>
                    <a:lnTo>
                      <a:pt x="1562" y="12153"/>
                    </a:lnTo>
                    <a:lnTo>
                      <a:pt x="0" y="19888"/>
                    </a:lnTo>
                    <a:lnTo>
                      <a:pt x="1562" y="27635"/>
                    </a:lnTo>
                    <a:lnTo>
                      <a:pt x="5829" y="33947"/>
                    </a:lnTo>
                    <a:lnTo>
                      <a:pt x="12141" y="38214"/>
                    </a:lnTo>
                    <a:lnTo>
                      <a:pt x="19888" y="39776"/>
                    </a:lnTo>
                    <a:lnTo>
                      <a:pt x="25882" y="38569"/>
                    </a:lnTo>
                    <a:lnTo>
                      <a:pt x="92913" y="168668"/>
                    </a:lnTo>
                    <a:lnTo>
                      <a:pt x="97510" y="168668"/>
                    </a:lnTo>
                    <a:lnTo>
                      <a:pt x="97510" y="164071"/>
                    </a:lnTo>
                    <a:close/>
                  </a:path>
                </a:pathLst>
              </a:custGeom>
              <a:solidFill>
                <a:srgbClr val="000000"/>
              </a:solidFill>
            </p:spPr>
            <p:txBody>
              <a:bodyPr wrap="square" lIns="0" tIns="0" rIns="0" bIns="0" rtlCol="0"/>
              <a:lstStyle/>
              <a:p>
                <a:endParaRPr/>
              </a:p>
            </p:txBody>
          </p:sp>
          <p:sp>
            <p:nvSpPr>
              <p:cNvPr id="271" name="object 271"/>
              <p:cNvSpPr/>
              <p:nvPr/>
            </p:nvSpPr>
            <p:spPr>
              <a:xfrm>
                <a:off x="6278727" y="5668365"/>
                <a:ext cx="35560" cy="35560"/>
              </a:xfrm>
              <a:custGeom>
                <a:avLst/>
                <a:gdLst/>
                <a:ahLst/>
                <a:cxnLst/>
                <a:rect l="l" t="t" r="r" b="b"/>
                <a:pathLst>
                  <a:path w="35560" h="35560">
                    <a:moveTo>
                      <a:pt x="17678" y="35356"/>
                    </a:moveTo>
                    <a:lnTo>
                      <a:pt x="7924" y="35356"/>
                    </a:lnTo>
                    <a:lnTo>
                      <a:pt x="0" y="27432"/>
                    </a:lnTo>
                    <a:lnTo>
                      <a:pt x="0" y="17678"/>
                    </a:lnTo>
                    <a:lnTo>
                      <a:pt x="0" y="7924"/>
                    </a:lnTo>
                    <a:lnTo>
                      <a:pt x="7924" y="0"/>
                    </a:lnTo>
                    <a:lnTo>
                      <a:pt x="17678" y="0"/>
                    </a:lnTo>
                    <a:lnTo>
                      <a:pt x="27432" y="0"/>
                    </a:lnTo>
                    <a:lnTo>
                      <a:pt x="35356" y="7924"/>
                    </a:lnTo>
                    <a:lnTo>
                      <a:pt x="35356" y="17678"/>
                    </a:lnTo>
                    <a:lnTo>
                      <a:pt x="35356" y="27432"/>
                    </a:lnTo>
                    <a:lnTo>
                      <a:pt x="27432" y="35356"/>
                    </a:lnTo>
                    <a:lnTo>
                      <a:pt x="17678" y="35356"/>
                    </a:lnTo>
                    <a:close/>
                  </a:path>
                </a:pathLst>
              </a:custGeom>
              <a:ln w="4597">
                <a:solidFill>
                  <a:srgbClr val="000000"/>
                </a:solidFill>
              </a:ln>
            </p:spPr>
            <p:txBody>
              <a:bodyPr wrap="square" lIns="0" tIns="0" rIns="0" bIns="0" rtlCol="0"/>
              <a:lstStyle/>
              <a:p>
                <a:endParaRPr/>
              </a:p>
            </p:txBody>
          </p:sp>
          <p:sp>
            <p:nvSpPr>
              <p:cNvPr id="272" name="object 272"/>
              <p:cNvSpPr/>
              <p:nvPr/>
            </p:nvSpPr>
            <p:spPr>
              <a:xfrm>
                <a:off x="6351194" y="5701296"/>
                <a:ext cx="97790" cy="150495"/>
              </a:xfrm>
              <a:custGeom>
                <a:avLst/>
                <a:gdLst/>
                <a:ahLst/>
                <a:cxnLst/>
                <a:rect l="l" t="t" r="r" b="b"/>
                <a:pathLst>
                  <a:path w="97789" h="150495">
                    <a:moveTo>
                      <a:pt x="97205" y="0"/>
                    </a:moveTo>
                    <a:lnTo>
                      <a:pt x="92608" y="0"/>
                    </a:lnTo>
                    <a:lnTo>
                      <a:pt x="27025" y="111861"/>
                    </a:lnTo>
                    <a:lnTo>
                      <a:pt x="19888" y="110401"/>
                    </a:lnTo>
                    <a:lnTo>
                      <a:pt x="12141" y="111975"/>
                    </a:lnTo>
                    <a:lnTo>
                      <a:pt x="5829" y="116230"/>
                    </a:lnTo>
                    <a:lnTo>
                      <a:pt x="1562" y="122555"/>
                    </a:lnTo>
                    <a:lnTo>
                      <a:pt x="0" y="130289"/>
                    </a:lnTo>
                    <a:lnTo>
                      <a:pt x="1562" y="138036"/>
                    </a:lnTo>
                    <a:lnTo>
                      <a:pt x="5829" y="144348"/>
                    </a:lnTo>
                    <a:lnTo>
                      <a:pt x="12141" y="148615"/>
                    </a:lnTo>
                    <a:lnTo>
                      <a:pt x="19888" y="150177"/>
                    </a:lnTo>
                    <a:lnTo>
                      <a:pt x="27622" y="148615"/>
                    </a:lnTo>
                    <a:lnTo>
                      <a:pt x="33947" y="144348"/>
                    </a:lnTo>
                    <a:lnTo>
                      <a:pt x="38201" y="138036"/>
                    </a:lnTo>
                    <a:lnTo>
                      <a:pt x="39776" y="130289"/>
                    </a:lnTo>
                    <a:lnTo>
                      <a:pt x="38201" y="122555"/>
                    </a:lnTo>
                    <a:lnTo>
                      <a:pt x="33947" y="116230"/>
                    </a:lnTo>
                    <a:lnTo>
                      <a:pt x="32372" y="115189"/>
                    </a:lnTo>
                    <a:lnTo>
                      <a:pt x="97205" y="4597"/>
                    </a:lnTo>
                    <a:lnTo>
                      <a:pt x="97205" y="0"/>
                    </a:lnTo>
                    <a:close/>
                  </a:path>
                </a:pathLst>
              </a:custGeom>
              <a:solidFill>
                <a:srgbClr val="000000"/>
              </a:solidFill>
            </p:spPr>
            <p:txBody>
              <a:bodyPr wrap="square" lIns="0" tIns="0" rIns="0" bIns="0" rtlCol="0"/>
              <a:lstStyle/>
              <a:p>
                <a:endParaRPr/>
              </a:p>
            </p:txBody>
          </p:sp>
          <p:sp>
            <p:nvSpPr>
              <p:cNvPr id="273" name="object 273"/>
              <p:cNvSpPr/>
              <p:nvPr/>
            </p:nvSpPr>
            <p:spPr>
              <a:xfrm>
                <a:off x="6353403" y="5813907"/>
                <a:ext cx="35560" cy="35560"/>
              </a:xfrm>
              <a:custGeom>
                <a:avLst/>
                <a:gdLst/>
                <a:ahLst/>
                <a:cxnLst/>
                <a:rect l="l" t="t" r="r" b="b"/>
                <a:pathLst>
                  <a:path w="35560" h="35560">
                    <a:moveTo>
                      <a:pt x="17678" y="35356"/>
                    </a:moveTo>
                    <a:lnTo>
                      <a:pt x="7924" y="35356"/>
                    </a:lnTo>
                    <a:lnTo>
                      <a:pt x="0" y="27431"/>
                    </a:lnTo>
                    <a:lnTo>
                      <a:pt x="0" y="17678"/>
                    </a:lnTo>
                    <a:lnTo>
                      <a:pt x="0" y="7924"/>
                    </a:lnTo>
                    <a:lnTo>
                      <a:pt x="7924" y="0"/>
                    </a:lnTo>
                    <a:lnTo>
                      <a:pt x="17678" y="0"/>
                    </a:lnTo>
                    <a:lnTo>
                      <a:pt x="27432" y="0"/>
                    </a:lnTo>
                    <a:lnTo>
                      <a:pt x="35356" y="7924"/>
                    </a:lnTo>
                    <a:lnTo>
                      <a:pt x="35356" y="17678"/>
                    </a:lnTo>
                    <a:lnTo>
                      <a:pt x="35356" y="27431"/>
                    </a:lnTo>
                    <a:lnTo>
                      <a:pt x="27432" y="35356"/>
                    </a:lnTo>
                    <a:lnTo>
                      <a:pt x="17678" y="35356"/>
                    </a:lnTo>
                    <a:close/>
                  </a:path>
                </a:pathLst>
              </a:custGeom>
              <a:ln w="4597">
                <a:solidFill>
                  <a:srgbClr val="000000"/>
                </a:solidFill>
              </a:ln>
            </p:spPr>
            <p:txBody>
              <a:bodyPr wrap="square" lIns="0" tIns="0" rIns="0" bIns="0" rtlCol="0"/>
              <a:lstStyle/>
              <a:p>
                <a:endParaRPr/>
              </a:p>
            </p:txBody>
          </p:sp>
          <p:sp>
            <p:nvSpPr>
              <p:cNvPr id="274" name="object 274"/>
              <p:cNvSpPr/>
              <p:nvPr/>
            </p:nvSpPr>
            <p:spPr>
              <a:xfrm>
                <a:off x="6422136" y="5683681"/>
                <a:ext cx="97155" cy="132715"/>
              </a:xfrm>
              <a:custGeom>
                <a:avLst/>
                <a:gdLst/>
                <a:ahLst/>
                <a:cxnLst/>
                <a:rect l="l" t="t" r="r" b="b"/>
                <a:pathLst>
                  <a:path w="97154" h="132714">
                    <a:moveTo>
                      <a:pt x="96977" y="128104"/>
                    </a:moveTo>
                    <a:lnTo>
                      <a:pt x="36995" y="34391"/>
                    </a:lnTo>
                    <a:lnTo>
                      <a:pt x="37719" y="33947"/>
                    </a:lnTo>
                    <a:lnTo>
                      <a:pt x="42456" y="27635"/>
                    </a:lnTo>
                    <a:lnTo>
                      <a:pt x="44196" y="19888"/>
                    </a:lnTo>
                    <a:lnTo>
                      <a:pt x="42456" y="12153"/>
                    </a:lnTo>
                    <a:lnTo>
                      <a:pt x="37719" y="5829"/>
                    </a:lnTo>
                    <a:lnTo>
                      <a:pt x="30695" y="1574"/>
                    </a:lnTo>
                    <a:lnTo>
                      <a:pt x="22098" y="0"/>
                    </a:lnTo>
                    <a:lnTo>
                      <a:pt x="13500" y="1574"/>
                    </a:lnTo>
                    <a:lnTo>
                      <a:pt x="6477" y="5829"/>
                    </a:lnTo>
                    <a:lnTo>
                      <a:pt x="1727" y="12153"/>
                    </a:lnTo>
                    <a:lnTo>
                      <a:pt x="0" y="19888"/>
                    </a:lnTo>
                    <a:lnTo>
                      <a:pt x="1727" y="27635"/>
                    </a:lnTo>
                    <a:lnTo>
                      <a:pt x="6477" y="33947"/>
                    </a:lnTo>
                    <a:lnTo>
                      <a:pt x="13500" y="38214"/>
                    </a:lnTo>
                    <a:lnTo>
                      <a:pt x="22098" y="39776"/>
                    </a:lnTo>
                    <a:lnTo>
                      <a:pt x="30695" y="38214"/>
                    </a:lnTo>
                    <a:lnTo>
                      <a:pt x="31559" y="37693"/>
                    </a:lnTo>
                    <a:lnTo>
                      <a:pt x="92367" y="132702"/>
                    </a:lnTo>
                    <a:lnTo>
                      <a:pt x="96977" y="132702"/>
                    </a:lnTo>
                    <a:lnTo>
                      <a:pt x="96977" y="128104"/>
                    </a:lnTo>
                    <a:close/>
                  </a:path>
                </a:pathLst>
              </a:custGeom>
              <a:solidFill>
                <a:srgbClr val="000000"/>
              </a:solidFill>
            </p:spPr>
            <p:txBody>
              <a:bodyPr wrap="square" lIns="0" tIns="0" rIns="0" bIns="0" rtlCol="0"/>
              <a:lstStyle/>
              <a:p>
                <a:endParaRPr/>
              </a:p>
            </p:txBody>
          </p:sp>
          <p:sp>
            <p:nvSpPr>
              <p:cNvPr id="275" name="object 275"/>
              <p:cNvSpPr/>
              <p:nvPr/>
            </p:nvSpPr>
            <p:spPr>
              <a:xfrm>
                <a:off x="6423583" y="5685891"/>
                <a:ext cx="40005" cy="35560"/>
              </a:xfrm>
              <a:custGeom>
                <a:avLst/>
                <a:gdLst/>
                <a:ahLst/>
                <a:cxnLst/>
                <a:rect l="l" t="t" r="r" b="b"/>
                <a:pathLst>
                  <a:path w="40004" h="35560">
                    <a:moveTo>
                      <a:pt x="19888" y="35356"/>
                    </a:moveTo>
                    <a:lnTo>
                      <a:pt x="12151" y="33966"/>
                    </a:lnTo>
                    <a:lnTo>
                      <a:pt x="5829" y="30175"/>
                    </a:lnTo>
                    <a:lnTo>
                      <a:pt x="1564" y="24555"/>
                    </a:lnTo>
                    <a:lnTo>
                      <a:pt x="0" y="17678"/>
                    </a:lnTo>
                    <a:lnTo>
                      <a:pt x="1564" y="10801"/>
                    </a:lnTo>
                    <a:lnTo>
                      <a:pt x="5829" y="5181"/>
                    </a:lnTo>
                    <a:lnTo>
                      <a:pt x="12151" y="1390"/>
                    </a:lnTo>
                    <a:lnTo>
                      <a:pt x="19888" y="0"/>
                    </a:lnTo>
                    <a:lnTo>
                      <a:pt x="27624" y="1390"/>
                    </a:lnTo>
                    <a:lnTo>
                      <a:pt x="33947" y="5181"/>
                    </a:lnTo>
                    <a:lnTo>
                      <a:pt x="38211" y="10801"/>
                    </a:lnTo>
                    <a:lnTo>
                      <a:pt x="39776" y="17678"/>
                    </a:lnTo>
                    <a:lnTo>
                      <a:pt x="38211" y="24555"/>
                    </a:lnTo>
                    <a:lnTo>
                      <a:pt x="33947" y="30175"/>
                    </a:lnTo>
                    <a:lnTo>
                      <a:pt x="27624" y="33966"/>
                    </a:lnTo>
                    <a:lnTo>
                      <a:pt x="19888" y="35356"/>
                    </a:lnTo>
                    <a:close/>
                  </a:path>
                </a:pathLst>
              </a:custGeom>
              <a:ln w="4597">
                <a:solidFill>
                  <a:srgbClr val="000000"/>
                </a:solidFill>
              </a:ln>
            </p:spPr>
            <p:txBody>
              <a:bodyPr wrap="square" lIns="0" tIns="0" rIns="0" bIns="0" rtlCol="0"/>
              <a:lstStyle/>
              <a:p>
                <a:endParaRPr/>
              </a:p>
            </p:txBody>
          </p:sp>
          <p:sp>
            <p:nvSpPr>
              <p:cNvPr id="276" name="object 276"/>
              <p:cNvSpPr/>
              <p:nvPr/>
            </p:nvSpPr>
            <p:spPr>
              <a:xfrm>
                <a:off x="6496735" y="5736653"/>
                <a:ext cx="97790" cy="97790"/>
              </a:xfrm>
              <a:custGeom>
                <a:avLst/>
                <a:gdLst/>
                <a:ahLst/>
                <a:cxnLst/>
                <a:rect l="l" t="t" r="r" b="b"/>
                <a:pathLst>
                  <a:path w="97790" h="97789">
                    <a:moveTo>
                      <a:pt x="97510" y="0"/>
                    </a:moveTo>
                    <a:lnTo>
                      <a:pt x="92913" y="0"/>
                    </a:lnTo>
                    <a:lnTo>
                      <a:pt x="31318" y="61582"/>
                    </a:lnTo>
                    <a:lnTo>
                      <a:pt x="27622" y="59093"/>
                    </a:lnTo>
                    <a:lnTo>
                      <a:pt x="19888" y="57518"/>
                    </a:lnTo>
                    <a:lnTo>
                      <a:pt x="12141" y="59093"/>
                    </a:lnTo>
                    <a:lnTo>
                      <a:pt x="5816" y="63347"/>
                    </a:lnTo>
                    <a:lnTo>
                      <a:pt x="1562" y="69672"/>
                    </a:lnTo>
                    <a:lnTo>
                      <a:pt x="0" y="77406"/>
                    </a:lnTo>
                    <a:lnTo>
                      <a:pt x="1562" y="85153"/>
                    </a:lnTo>
                    <a:lnTo>
                      <a:pt x="5816" y="91465"/>
                    </a:lnTo>
                    <a:lnTo>
                      <a:pt x="12141" y="95732"/>
                    </a:lnTo>
                    <a:lnTo>
                      <a:pt x="19888" y="97294"/>
                    </a:lnTo>
                    <a:lnTo>
                      <a:pt x="27622" y="95732"/>
                    </a:lnTo>
                    <a:lnTo>
                      <a:pt x="33947" y="91465"/>
                    </a:lnTo>
                    <a:lnTo>
                      <a:pt x="38201" y="85153"/>
                    </a:lnTo>
                    <a:lnTo>
                      <a:pt x="39776" y="77406"/>
                    </a:lnTo>
                    <a:lnTo>
                      <a:pt x="38201" y="69672"/>
                    </a:lnTo>
                    <a:lnTo>
                      <a:pt x="35877" y="66230"/>
                    </a:lnTo>
                    <a:lnTo>
                      <a:pt x="97510" y="4597"/>
                    </a:lnTo>
                    <a:lnTo>
                      <a:pt x="97510" y="0"/>
                    </a:lnTo>
                    <a:close/>
                  </a:path>
                </a:pathLst>
              </a:custGeom>
              <a:solidFill>
                <a:srgbClr val="000000"/>
              </a:solidFill>
            </p:spPr>
            <p:txBody>
              <a:bodyPr wrap="square" lIns="0" tIns="0" rIns="0" bIns="0" rtlCol="0"/>
              <a:lstStyle/>
              <a:p>
                <a:endParaRPr/>
              </a:p>
            </p:txBody>
          </p:sp>
          <p:sp>
            <p:nvSpPr>
              <p:cNvPr id="277" name="object 277"/>
              <p:cNvSpPr/>
              <p:nvPr/>
            </p:nvSpPr>
            <p:spPr>
              <a:xfrm>
                <a:off x="6499707" y="5796381"/>
                <a:ext cx="35560" cy="35560"/>
              </a:xfrm>
              <a:custGeom>
                <a:avLst/>
                <a:gdLst/>
                <a:ahLst/>
                <a:cxnLst/>
                <a:rect l="l" t="t" r="r" b="b"/>
                <a:pathLst>
                  <a:path w="35559" h="35560">
                    <a:moveTo>
                      <a:pt x="17678" y="35356"/>
                    </a:moveTo>
                    <a:lnTo>
                      <a:pt x="7924" y="35356"/>
                    </a:lnTo>
                    <a:lnTo>
                      <a:pt x="0" y="27431"/>
                    </a:lnTo>
                    <a:lnTo>
                      <a:pt x="0" y="17678"/>
                    </a:lnTo>
                    <a:lnTo>
                      <a:pt x="0" y="7924"/>
                    </a:lnTo>
                    <a:lnTo>
                      <a:pt x="7924" y="0"/>
                    </a:lnTo>
                    <a:lnTo>
                      <a:pt x="17678" y="0"/>
                    </a:lnTo>
                    <a:lnTo>
                      <a:pt x="27431" y="0"/>
                    </a:lnTo>
                    <a:lnTo>
                      <a:pt x="35356" y="7924"/>
                    </a:lnTo>
                    <a:lnTo>
                      <a:pt x="35356" y="17678"/>
                    </a:lnTo>
                    <a:lnTo>
                      <a:pt x="35356" y="27431"/>
                    </a:lnTo>
                    <a:lnTo>
                      <a:pt x="27431" y="35356"/>
                    </a:lnTo>
                    <a:lnTo>
                      <a:pt x="17678" y="35356"/>
                    </a:lnTo>
                    <a:close/>
                  </a:path>
                </a:pathLst>
              </a:custGeom>
              <a:ln w="4597">
                <a:solidFill>
                  <a:srgbClr val="000000"/>
                </a:solidFill>
              </a:ln>
            </p:spPr>
            <p:txBody>
              <a:bodyPr wrap="square" lIns="0" tIns="0" rIns="0" bIns="0" rtlCol="0"/>
              <a:lstStyle/>
              <a:p>
                <a:endParaRPr/>
              </a:p>
            </p:txBody>
          </p:sp>
          <p:sp>
            <p:nvSpPr>
              <p:cNvPr id="278" name="object 278"/>
              <p:cNvSpPr/>
              <p:nvPr/>
            </p:nvSpPr>
            <p:spPr>
              <a:xfrm>
                <a:off x="6572173" y="5718733"/>
                <a:ext cx="97790" cy="186055"/>
              </a:xfrm>
              <a:custGeom>
                <a:avLst/>
                <a:gdLst/>
                <a:ahLst/>
                <a:cxnLst/>
                <a:rect l="l" t="t" r="r" b="b"/>
                <a:pathLst>
                  <a:path w="97790" h="186054">
                    <a:moveTo>
                      <a:pt x="97205" y="181444"/>
                    </a:moveTo>
                    <a:lnTo>
                      <a:pt x="30492" y="36271"/>
                    </a:lnTo>
                    <a:lnTo>
                      <a:pt x="33947" y="33947"/>
                    </a:lnTo>
                    <a:lnTo>
                      <a:pt x="38201" y="27635"/>
                    </a:lnTo>
                    <a:lnTo>
                      <a:pt x="39776" y="19888"/>
                    </a:lnTo>
                    <a:lnTo>
                      <a:pt x="38201" y="12153"/>
                    </a:lnTo>
                    <a:lnTo>
                      <a:pt x="33934" y="5829"/>
                    </a:lnTo>
                    <a:lnTo>
                      <a:pt x="27622" y="1574"/>
                    </a:lnTo>
                    <a:lnTo>
                      <a:pt x="19875" y="0"/>
                    </a:lnTo>
                    <a:lnTo>
                      <a:pt x="12141" y="1574"/>
                    </a:lnTo>
                    <a:lnTo>
                      <a:pt x="5829" y="5829"/>
                    </a:lnTo>
                    <a:lnTo>
                      <a:pt x="1562" y="12153"/>
                    </a:lnTo>
                    <a:lnTo>
                      <a:pt x="0" y="19888"/>
                    </a:lnTo>
                    <a:lnTo>
                      <a:pt x="1562" y="27635"/>
                    </a:lnTo>
                    <a:lnTo>
                      <a:pt x="5829" y="33947"/>
                    </a:lnTo>
                    <a:lnTo>
                      <a:pt x="12141" y="38214"/>
                    </a:lnTo>
                    <a:lnTo>
                      <a:pt x="19875" y="39776"/>
                    </a:lnTo>
                    <a:lnTo>
                      <a:pt x="24930" y="38760"/>
                    </a:lnTo>
                    <a:lnTo>
                      <a:pt x="92608" y="186042"/>
                    </a:lnTo>
                    <a:lnTo>
                      <a:pt x="97205" y="186042"/>
                    </a:lnTo>
                    <a:lnTo>
                      <a:pt x="97205" y="181444"/>
                    </a:lnTo>
                    <a:close/>
                  </a:path>
                </a:pathLst>
              </a:custGeom>
              <a:solidFill>
                <a:srgbClr val="000000"/>
              </a:solidFill>
            </p:spPr>
            <p:txBody>
              <a:bodyPr wrap="square" lIns="0" tIns="0" rIns="0" bIns="0" rtlCol="0"/>
              <a:lstStyle/>
              <a:p>
                <a:endParaRPr/>
              </a:p>
            </p:txBody>
          </p:sp>
          <p:sp>
            <p:nvSpPr>
              <p:cNvPr id="279" name="object 279"/>
              <p:cNvSpPr/>
              <p:nvPr/>
            </p:nvSpPr>
            <p:spPr>
              <a:xfrm>
                <a:off x="6574383" y="5721705"/>
                <a:ext cx="35560" cy="35560"/>
              </a:xfrm>
              <a:custGeom>
                <a:avLst/>
                <a:gdLst/>
                <a:ahLst/>
                <a:cxnLst/>
                <a:rect l="l" t="t" r="r" b="b"/>
                <a:pathLst>
                  <a:path w="35559" h="35560">
                    <a:moveTo>
                      <a:pt x="17678" y="35356"/>
                    </a:moveTo>
                    <a:lnTo>
                      <a:pt x="7924" y="35356"/>
                    </a:lnTo>
                    <a:lnTo>
                      <a:pt x="0" y="27431"/>
                    </a:lnTo>
                    <a:lnTo>
                      <a:pt x="0" y="17678"/>
                    </a:lnTo>
                    <a:lnTo>
                      <a:pt x="0" y="7924"/>
                    </a:lnTo>
                    <a:lnTo>
                      <a:pt x="7924" y="0"/>
                    </a:lnTo>
                    <a:lnTo>
                      <a:pt x="17678" y="0"/>
                    </a:lnTo>
                    <a:lnTo>
                      <a:pt x="27431" y="0"/>
                    </a:lnTo>
                    <a:lnTo>
                      <a:pt x="35356" y="7924"/>
                    </a:lnTo>
                    <a:lnTo>
                      <a:pt x="35356" y="17678"/>
                    </a:lnTo>
                    <a:lnTo>
                      <a:pt x="35356" y="27431"/>
                    </a:lnTo>
                    <a:lnTo>
                      <a:pt x="27431" y="35356"/>
                    </a:lnTo>
                    <a:lnTo>
                      <a:pt x="17678" y="35356"/>
                    </a:lnTo>
                    <a:close/>
                  </a:path>
                </a:pathLst>
              </a:custGeom>
              <a:ln w="4597">
                <a:solidFill>
                  <a:srgbClr val="000000"/>
                </a:solidFill>
              </a:ln>
            </p:spPr>
            <p:txBody>
              <a:bodyPr wrap="square" lIns="0" tIns="0" rIns="0" bIns="0" rtlCol="0"/>
              <a:lstStyle/>
              <a:p>
                <a:endParaRPr/>
              </a:p>
            </p:txBody>
          </p:sp>
          <p:sp>
            <p:nvSpPr>
              <p:cNvPr id="280" name="object 280"/>
              <p:cNvSpPr/>
              <p:nvPr/>
            </p:nvSpPr>
            <p:spPr>
              <a:xfrm>
                <a:off x="6647599" y="5754331"/>
                <a:ext cx="97155" cy="172085"/>
              </a:xfrm>
              <a:custGeom>
                <a:avLst/>
                <a:gdLst/>
                <a:ahLst/>
                <a:cxnLst/>
                <a:rect l="l" t="t" r="r" b="b"/>
                <a:pathLst>
                  <a:path w="97154" h="172085">
                    <a:moveTo>
                      <a:pt x="96913" y="0"/>
                    </a:moveTo>
                    <a:lnTo>
                      <a:pt x="92316" y="0"/>
                    </a:lnTo>
                    <a:lnTo>
                      <a:pt x="25908" y="128905"/>
                    </a:lnTo>
                    <a:lnTo>
                      <a:pt x="19900" y="127546"/>
                    </a:lnTo>
                    <a:lnTo>
                      <a:pt x="12153" y="129286"/>
                    </a:lnTo>
                    <a:lnTo>
                      <a:pt x="5829" y="134023"/>
                    </a:lnTo>
                    <a:lnTo>
                      <a:pt x="1574" y="141058"/>
                    </a:lnTo>
                    <a:lnTo>
                      <a:pt x="0" y="149644"/>
                    </a:lnTo>
                    <a:lnTo>
                      <a:pt x="1574" y="158242"/>
                    </a:lnTo>
                    <a:lnTo>
                      <a:pt x="5842" y="165265"/>
                    </a:lnTo>
                    <a:lnTo>
                      <a:pt x="12153" y="170014"/>
                    </a:lnTo>
                    <a:lnTo>
                      <a:pt x="19900" y="171742"/>
                    </a:lnTo>
                    <a:lnTo>
                      <a:pt x="27635" y="170014"/>
                    </a:lnTo>
                    <a:lnTo>
                      <a:pt x="33959" y="165265"/>
                    </a:lnTo>
                    <a:lnTo>
                      <a:pt x="38214" y="158242"/>
                    </a:lnTo>
                    <a:lnTo>
                      <a:pt x="39789" y="149644"/>
                    </a:lnTo>
                    <a:lnTo>
                      <a:pt x="38214" y="141058"/>
                    </a:lnTo>
                    <a:lnTo>
                      <a:pt x="33959" y="134023"/>
                    </a:lnTo>
                    <a:lnTo>
                      <a:pt x="31267" y="132016"/>
                    </a:lnTo>
                    <a:lnTo>
                      <a:pt x="96913" y="4597"/>
                    </a:lnTo>
                    <a:lnTo>
                      <a:pt x="96913" y="0"/>
                    </a:lnTo>
                    <a:close/>
                  </a:path>
                </a:pathLst>
              </a:custGeom>
              <a:solidFill>
                <a:srgbClr val="000000"/>
              </a:solidFill>
            </p:spPr>
            <p:txBody>
              <a:bodyPr wrap="square" lIns="0" tIns="0" rIns="0" bIns="0" rtlCol="0"/>
              <a:lstStyle/>
              <a:p>
                <a:endParaRPr/>
              </a:p>
            </p:txBody>
          </p:sp>
          <p:sp>
            <p:nvSpPr>
              <p:cNvPr id="281" name="object 281"/>
              <p:cNvSpPr/>
              <p:nvPr/>
            </p:nvSpPr>
            <p:spPr>
              <a:xfrm>
                <a:off x="6649059" y="5884849"/>
                <a:ext cx="35560" cy="40005"/>
              </a:xfrm>
              <a:custGeom>
                <a:avLst/>
                <a:gdLst/>
                <a:ahLst/>
                <a:cxnLst/>
                <a:rect l="l" t="t" r="r" b="b"/>
                <a:pathLst>
                  <a:path w="35559" h="40004">
                    <a:moveTo>
                      <a:pt x="17678" y="39776"/>
                    </a:moveTo>
                    <a:lnTo>
                      <a:pt x="10801" y="38211"/>
                    </a:lnTo>
                    <a:lnTo>
                      <a:pt x="5181" y="33947"/>
                    </a:lnTo>
                    <a:lnTo>
                      <a:pt x="1390" y="27624"/>
                    </a:lnTo>
                    <a:lnTo>
                      <a:pt x="0" y="19888"/>
                    </a:lnTo>
                    <a:lnTo>
                      <a:pt x="1390" y="12151"/>
                    </a:lnTo>
                    <a:lnTo>
                      <a:pt x="5181" y="5829"/>
                    </a:lnTo>
                    <a:lnTo>
                      <a:pt x="10801" y="1564"/>
                    </a:lnTo>
                    <a:lnTo>
                      <a:pt x="17678" y="0"/>
                    </a:lnTo>
                    <a:lnTo>
                      <a:pt x="24555" y="1564"/>
                    </a:lnTo>
                    <a:lnTo>
                      <a:pt x="30175" y="5829"/>
                    </a:lnTo>
                    <a:lnTo>
                      <a:pt x="33966" y="12151"/>
                    </a:lnTo>
                    <a:lnTo>
                      <a:pt x="35356" y="19888"/>
                    </a:lnTo>
                    <a:lnTo>
                      <a:pt x="33966" y="27624"/>
                    </a:lnTo>
                    <a:lnTo>
                      <a:pt x="30175" y="33947"/>
                    </a:lnTo>
                    <a:lnTo>
                      <a:pt x="24555" y="38211"/>
                    </a:lnTo>
                    <a:lnTo>
                      <a:pt x="17678" y="39776"/>
                    </a:lnTo>
                    <a:close/>
                  </a:path>
                </a:pathLst>
              </a:custGeom>
              <a:ln w="4597">
                <a:solidFill>
                  <a:srgbClr val="000000"/>
                </a:solidFill>
              </a:ln>
            </p:spPr>
            <p:txBody>
              <a:bodyPr wrap="square" lIns="0" tIns="0" rIns="0" bIns="0" rtlCol="0"/>
              <a:lstStyle/>
              <a:p>
                <a:endParaRPr/>
              </a:p>
            </p:txBody>
          </p:sp>
          <p:sp>
            <p:nvSpPr>
              <p:cNvPr id="282" name="object 282"/>
              <p:cNvSpPr/>
              <p:nvPr/>
            </p:nvSpPr>
            <p:spPr>
              <a:xfrm>
                <a:off x="6717792" y="5737097"/>
                <a:ext cx="97790" cy="150495"/>
              </a:xfrm>
              <a:custGeom>
                <a:avLst/>
                <a:gdLst/>
                <a:ahLst/>
                <a:cxnLst/>
                <a:rect l="l" t="t" r="r" b="b"/>
                <a:pathLst>
                  <a:path w="97790" h="150495">
                    <a:moveTo>
                      <a:pt x="97434" y="145402"/>
                    </a:moveTo>
                    <a:lnTo>
                      <a:pt x="37884" y="37477"/>
                    </a:lnTo>
                    <a:lnTo>
                      <a:pt x="42456" y="30695"/>
                    </a:lnTo>
                    <a:lnTo>
                      <a:pt x="44196" y="22098"/>
                    </a:lnTo>
                    <a:lnTo>
                      <a:pt x="42456" y="13512"/>
                    </a:lnTo>
                    <a:lnTo>
                      <a:pt x="37719" y="6477"/>
                    </a:lnTo>
                    <a:lnTo>
                      <a:pt x="30695" y="1739"/>
                    </a:lnTo>
                    <a:lnTo>
                      <a:pt x="22098" y="0"/>
                    </a:lnTo>
                    <a:lnTo>
                      <a:pt x="13500" y="1739"/>
                    </a:lnTo>
                    <a:lnTo>
                      <a:pt x="6477" y="6477"/>
                    </a:lnTo>
                    <a:lnTo>
                      <a:pt x="1727" y="13512"/>
                    </a:lnTo>
                    <a:lnTo>
                      <a:pt x="0" y="22098"/>
                    </a:lnTo>
                    <a:lnTo>
                      <a:pt x="1727" y="30695"/>
                    </a:lnTo>
                    <a:lnTo>
                      <a:pt x="6477" y="37719"/>
                    </a:lnTo>
                    <a:lnTo>
                      <a:pt x="13500" y="42468"/>
                    </a:lnTo>
                    <a:lnTo>
                      <a:pt x="22098" y="44196"/>
                    </a:lnTo>
                    <a:lnTo>
                      <a:pt x="30695" y="42468"/>
                    </a:lnTo>
                    <a:lnTo>
                      <a:pt x="32740" y="41084"/>
                    </a:lnTo>
                    <a:lnTo>
                      <a:pt x="92837" y="149999"/>
                    </a:lnTo>
                    <a:lnTo>
                      <a:pt x="97434" y="149999"/>
                    </a:lnTo>
                    <a:lnTo>
                      <a:pt x="97434" y="145402"/>
                    </a:lnTo>
                    <a:close/>
                  </a:path>
                </a:pathLst>
              </a:custGeom>
              <a:solidFill>
                <a:srgbClr val="000000"/>
              </a:solidFill>
            </p:spPr>
            <p:txBody>
              <a:bodyPr wrap="square" lIns="0" tIns="0" rIns="0" bIns="0" rtlCol="0"/>
              <a:lstStyle/>
              <a:p>
                <a:endParaRPr/>
              </a:p>
            </p:txBody>
          </p:sp>
          <p:sp>
            <p:nvSpPr>
              <p:cNvPr id="283" name="object 283"/>
              <p:cNvSpPr/>
              <p:nvPr/>
            </p:nvSpPr>
            <p:spPr>
              <a:xfrm>
                <a:off x="6720763" y="5738545"/>
                <a:ext cx="40005" cy="40005"/>
              </a:xfrm>
              <a:custGeom>
                <a:avLst/>
                <a:gdLst/>
                <a:ahLst/>
                <a:cxnLst/>
                <a:rect l="l" t="t" r="r" b="b"/>
                <a:pathLst>
                  <a:path w="40004" h="40004">
                    <a:moveTo>
                      <a:pt x="19888" y="39776"/>
                    </a:moveTo>
                    <a:lnTo>
                      <a:pt x="12151" y="38211"/>
                    </a:lnTo>
                    <a:lnTo>
                      <a:pt x="5829" y="33947"/>
                    </a:lnTo>
                    <a:lnTo>
                      <a:pt x="1564" y="27624"/>
                    </a:lnTo>
                    <a:lnTo>
                      <a:pt x="0" y="19888"/>
                    </a:lnTo>
                    <a:lnTo>
                      <a:pt x="1564" y="12151"/>
                    </a:lnTo>
                    <a:lnTo>
                      <a:pt x="5829" y="5829"/>
                    </a:lnTo>
                    <a:lnTo>
                      <a:pt x="12151" y="1564"/>
                    </a:lnTo>
                    <a:lnTo>
                      <a:pt x="19888" y="0"/>
                    </a:lnTo>
                    <a:lnTo>
                      <a:pt x="27624" y="1564"/>
                    </a:lnTo>
                    <a:lnTo>
                      <a:pt x="33947" y="5829"/>
                    </a:lnTo>
                    <a:lnTo>
                      <a:pt x="38211" y="12151"/>
                    </a:lnTo>
                    <a:lnTo>
                      <a:pt x="39776" y="19888"/>
                    </a:lnTo>
                    <a:lnTo>
                      <a:pt x="38211" y="27624"/>
                    </a:lnTo>
                    <a:lnTo>
                      <a:pt x="33947" y="33947"/>
                    </a:lnTo>
                    <a:lnTo>
                      <a:pt x="27624" y="38211"/>
                    </a:lnTo>
                    <a:lnTo>
                      <a:pt x="19888" y="39776"/>
                    </a:lnTo>
                    <a:close/>
                  </a:path>
                </a:pathLst>
              </a:custGeom>
              <a:ln w="4597">
                <a:solidFill>
                  <a:srgbClr val="000000"/>
                </a:solidFill>
              </a:ln>
            </p:spPr>
            <p:txBody>
              <a:bodyPr wrap="square" lIns="0" tIns="0" rIns="0" bIns="0" rtlCol="0"/>
              <a:lstStyle/>
              <a:p>
                <a:endParaRPr/>
              </a:p>
            </p:txBody>
          </p:sp>
          <p:sp>
            <p:nvSpPr>
              <p:cNvPr id="284" name="object 284"/>
              <p:cNvSpPr/>
              <p:nvPr/>
            </p:nvSpPr>
            <p:spPr>
              <a:xfrm>
                <a:off x="6793154" y="5754331"/>
                <a:ext cx="97790" cy="150495"/>
              </a:xfrm>
              <a:custGeom>
                <a:avLst/>
                <a:gdLst/>
                <a:ahLst/>
                <a:cxnLst/>
                <a:rect l="l" t="t" r="r" b="b"/>
                <a:pathLst>
                  <a:path w="97790" h="150495">
                    <a:moveTo>
                      <a:pt x="97205" y="0"/>
                    </a:moveTo>
                    <a:lnTo>
                      <a:pt x="92608" y="0"/>
                    </a:lnTo>
                    <a:lnTo>
                      <a:pt x="26873" y="112141"/>
                    </a:lnTo>
                    <a:lnTo>
                      <a:pt x="19888" y="110705"/>
                    </a:lnTo>
                    <a:lnTo>
                      <a:pt x="12141" y="112280"/>
                    </a:lnTo>
                    <a:lnTo>
                      <a:pt x="5829" y="116535"/>
                    </a:lnTo>
                    <a:lnTo>
                      <a:pt x="1562" y="122859"/>
                    </a:lnTo>
                    <a:lnTo>
                      <a:pt x="0" y="130594"/>
                    </a:lnTo>
                    <a:lnTo>
                      <a:pt x="1562" y="138341"/>
                    </a:lnTo>
                    <a:lnTo>
                      <a:pt x="5829" y="144653"/>
                    </a:lnTo>
                    <a:lnTo>
                      <a:pt x="12141" y="148920"/>
                    </a:lnTo>
                    <a:lnTo>
                      <a:pt x="19888" y="150482"/>
                    </a:lnTo>
                    <a:lnTo>
                      <a:pt x="27622" y="148920"/>
                    </a:lnTo>
                    <a:lnTo>
                      <a:pt x="33947" y="144653"/>
                    </a:lnTo>
                    <a:lnTo>
                      <a:pt x="38201" y="138341"/>
                    </a:lnTo>
                    <a:lnTo>
                      <a:pt x="39776" y="130594"/>
                    </a:lnTo>
                    <a:lnTo>
                      <a:pt x="38201" y="122859"/>
                    </a:lnTo>
                    <a:lnTo>
                      <a:pt x="33947" y="116535"/>
                    </a:lnTo>
                    <a:lnTo>
                      <a:pt x="32245" y="115404"/>
                    </a:lnTo>
                    <a:lnTo>
                      <a:pt x="97205" y="4597"/>
                    </a:lnTo>
                    <a:lnTo>
                      <a:pt x="97205" y="0"/>
                    </a:lnTo>
                    <a:close/>
                  </a:path>
                </a:pathLst>
              </a:custGeom>
              <a:solidFill>
                <a:srgbClr val="000000"/>
              </a:solidFill>
            </p:spPr>
            <p:txBody>
              <a:bodyPr wrap="square" lIns="0" tIns="0" rIns="0" bIns="0" rtlCol="0"/>
              <a:lstStyle/>
              <a:p>
                <a:endParaRPr/>
              </a:p>
            </p:txBody>
          </p:sp>
          <p:sp>
            <p:nvSpPr>
              <p:cNvPr id="285" name="object 285"/>
              <p:cNvSpPr/>
              <p:nvPr/>
            </p:nvSpPr>
            <p:spPr>
              <a:xfrm>
                <a:off x="6795363" y="5866485"/>
                <a:ext cx="35560" cy="35560"/>
              </a:xfrm>
              <a:custGeom>
                <a:avLst/>
                <a:gdLst/>
                <a:ahLst/>
                <a:cxnLst/>
                <a:rect l="l" t="t" r="r" b="b"/>
                <a:pathLst>
                  <a:path w="35559" h="35560">
                    <a:moveTo>
                      <a:pt x="17678" y="35356"/>
                    </a:moveTo>
                    <a:lnTo>
                      <a:pt x="7924" y="35356"/>
                    </a:lnTo>
                    <a:lnTo>
                      <a:pt x="0" y="27432"/>
                    </a:lnTo>
                    <a:lnTo>
                      <a:pt x="0" y="17678"/>
                    </a:lnTo>
                    <a:lnTo>
                      <a:pt x="0" y="7924"/>
                    </a:lnTo>
                    <a:lnTo>
                      <a:pt x="7924" y="0"/>
                    </a:lnTo>
                    <a:lnTo>
                      <a:pt x="17678" y="0"/>
                    </a:lnTo>
                    <a:lnTo>
                      <a:pt x="27431" y="0"/>
                    </a:lnTo>
                    <a:lnTo>
                      <a:pt x="35356" y="7924"/>
                    </a:lnTo>
                    <a:lnTo>
                      <a:pt x="35356" y="17678"/>
                    </a:lnTo>
                    <a:lnTo>
                      <a:pt x="35356" y="27432"/>
                    </a:lnTo>
                    <a:lnTo>
                      <a:pt x="27431" y="35356"/>
                    </a:lnTo>
                    <a:lnTo>
                      <a:pt x="17678" y="35356"/>
                    </a:lnTo>
                    <a:close/>
                  </a:path>
                </a:pathLst>
              </a:custGeom>
              <a:ln w="4597">
                <a:solidFill>
                  <a:srgbClr val="000000"/>
                </a:solidFill>
              </a:ln>
            </p:spPr>
            <p:txBody>
              <a:bodyPr wrap="square" lIns="0" tIns="0" rIns="0" bIns="0" rtlCol="0"/>
              <a:lstStyle/>
              <a:p>
                <a:endParaRPr/>
              </a:p>
            </p:txBody>
          </p:sp>
          <p:sp>
            <p:nvSpPr>
              <p:cNvPr id="286" name="object 286"/>
              <p:cNvSpPr/>
              <p:nvPr/>
            </p:nvSpPr>
            <p:spPr>
              <a:xfrm>
                <a:off x="6868591" y="5737097"/>
                <a:ext cx="97155" cy="62230"/>
              </a:xfrm>
              <a:custGeom>
                <a:avLst/>
                <a:gdLst/>
                <a:ahLst/>
                <a:cxnLst/>
                <a:rect l="l" t="t" r="r" b="b"/>
                <a:pathLst>
                  <a:path w="97154" h="62229">
                    <a:moveTo>
                      <a:pt x="96901" y="57010"/>
                    </a:moveTo>
                    <a:lnTo>
                      <a:pt x="38989" y="26365"/>
                    </a:lnTo>
                    <a:lnTo>
                      <a:pt x="39776" y="22098"/>
                    </a:lnTo>
                    <a:lnTo>
                      <a:pt x="38201" y="13512"/>
                    </a:lnTo>
                    <a:lnTo>
                      <a:pt x="33947" y="6477"/>
                    </a:lnTo>
                    <a:lnTo>
                      <a:pt x="27622" y="1739"/>
                    </a:lnTo>
                    <a:lnTo>
                      <a:pt x="19888" y="0"/>
                    </a:lnTo>
                    <a:lnTo>
                      <a:pt x="12141" y="1739"/>
                    </a:lnTo>
                    <a:lnTo>
                      <a:pt x="5816" y="6477"/>
                    </a:lnTo>
                    <a:lnTo>
                      <a:pt x="1562" y="13512"/>
                    </a:lnTo>
                    <a:lnTo>
                      <a:pt x="0" y="22098"/>
                    </a:lnTo>
                    <a:lnTo>
                      <a:pt x="1562" y="30695"/>
                    </a:lnTo>
                    <a:lnTo>
                      <a:pt x="5816" y="37719"/>
                    </a:lnTo>
                    <a:lnTo>
                      <a:pt x="12141" y="42468"/>
                    </a:lnTo>
                    <a:lnTo>
                      <a:pt x="19888" y="44196"/>
                    </a:lnTo>
                    <a:lnTo>
                      <a:pt x="27622" y="42468"/>
                    </a:lnTo>
                    <a:lnTo>
                      <a:pt x="33947" y="37719"/>
                    </a:lnTo>
                    <a:lnTo>
                      <a:pt x="37160" y="32423"/>
                    </a:lnTo>
                    <a:lnTo>
                      <a:pt x="92303" y="61607"/>
                    </a:lnTo>
                    <a:lnTo>
                      <a:pt x="96901" y="61607"/>
                    </a:lnTo>
                    <a:lnTo>
                      <a:pt x="96901" y="57010"/>
                    </a:lnTo>
                    <a:close/>
                  </a:path>
                </a:pathLst>
              </a:custGeom>
              <a:solidFill>
                <a:srgbClr val="000000"/>
              </a:solidFill>
            </p:spPr>
            <p:txBody>
              <a:bodyPr wrap="square" lIns="0" tIns="0" rIns="0" bIns="0" rtlCol="0"/>
              <a:lstStyle/>
              <a:p>
                <a:endParaRPr/>
              </a:p>
            </p:txBody>
          </p:sp>
          <p:sp>
            <p:nvSpPr>
              <p:cNvPr id="287" name="object 287"/>
              <p:cNvSpPr/>
              <p:nvPr/>
            </p:nvSpPr>
            <p:spPr>
              <a:xfrm>
                <a:off x="6870039" y="5738545"/>
                <a:ext cx="35560" cy="40005"/>
              </a:xfrm>
              <a:custGeom>
                <a:avLst/>
                <a:gdLst/>
                <a:ahLst/>
                <a:cxnLst/>
                <a:rect l="l" t="t" r="r" b="b"/>
                <a:pathLst>
                  <a:path w="35559" h="40004">
                    <a:moveTo>
                      <a:pt x="17678" y="39776"/>
                    </a:moveTo>
                    <a:lnTo>
                      <a:pt x="10801" y="38211"/>
                    </a:lnTo>
                    <a:lnTo>
                      <a:pt x="5181" y="33947"/>
                    </a:lnTo>
                    <a:lnTo>
                      <a:pt x="1390" y="27624"/>
                    </a:lnTo>
                    <a:lnTo>
                      <a:pt x="0" y="19888"/>
                    </a:lnTo>
                    <a:lnTo>
                      <a:pt x="1390" y="12151"/>
                    </a:lnTo>
                    <a:lnTo>
                      <a:pt x="5181" y="5829"/>
                    </a:lnTo>
                    <a:lnTo>
                      <a:pt x="10801" y="1564"/>
                    </a:lnTo>
                    <a:lnTo>
                      <a:pt x="17678" y="0"/>
                    </a:lnTo>
                    <a:lnTo>
                      <a:pt x="24555" y="1564"/>
                    </a:lnTo>
                    <a:lnTo>
                      <a:pt x="30175" y="5829"/>
                    </a:lnTo>
                    <a:lnTo>
                      <a:pt x="33966" y="12151"/>
                    </a:lnTo>
                    <a:lnTo>
                      <a:pt x="35356" y="19888"/>
                    </a:lnTo>
                    <a:lnTo>
                      <a:pt x="33966" y="27624"/>
                    </a:lnTo>
                    <a:lnTo>
                      <a:pt x="30175" y="33947"/>
                    </a:lnTo>
                    <a:lnTo>
                      <a:pt x="24555" y="38211"/>
                    </a:lnTo>
                    <a:lnTo>
                      <a:pt x="17678" y="39776"/>
                    </a:lnTo>
                    <a:close/>
                  </a:path>
                </a:pathLst>
              </a:custGeom>
              <a:ln w="4597">
                <a:solidFill>
                  <a:srgbClr val="000000"/>
                </a:solidFill>
              </a:ln>
            </p:spPr>
            <p:txBody>
              <a:bodyPr wrap="square" lIns="0" tIns="0" rIns="0" bIns="0" rtlCol="0"/>
              <a:lstStyle/>
              <a:p>
                <a:endParaRPr/>
              </a:p>
            </p:txBody>
          </p:sp>
          <p:sp>
            <p:nvSpPr>
              <p:cNvPr id="288" name="object 288"/>
              <p:cNvSpPr/>
              <p:nvPr/>
            </p:nvSpPr>
            <p:spPr>
              <a:xfrm>
                <a:off x="6943267" y="5776645"/>
                <a:ext cx="97790" cy="57785"/>
              </a:xfrm>
              <a:custGeom>
                <a:avLst/>
                <a:gdLst/>
                <a:ahLst/>
                <a:cxnLst/>
                <a:rect l="l" t="t" r="r" b="b"/>
                <a:pathLst>
                  <a:path w="97790" h="57785">
                    <a:moveTo>
                      <a:pt x="97358" y="52819"/>
                    </a:moveTo>
                    <a:lnTo>
                      <a:pt x="38684" y="25222"/>
                    </a:lnTo>
                    <a:lnTo>
                      <a:pt x="39776" y="19888"/>
                    </a:lnTo>
                    <a:lnTo>
                      <a:pt x="38201" y="12153"/>
                    </a:lnTo>
                    <a:lnTo>
                      <a:pt x="33947" y="5829"/>
                    </a:lnTo>
                    <a:lnTo>
                      <a:pt x="27622" y="1574"/>
                    </a:lnTo>
                    <a:lnTo>
                      <a:pt x="19888" y="0"/>
                    </a:lnTo>
                    <a:lnTo>
                      <a:pt x="12141" y="1574"/>
                    </a:lnTo>
                    <a:lnTo>
                      <a:pt x="5829" y="5829"/>
                    </a:lnTo>
                    <a:lnTo>
                      <a:pt x="1562" y="12153"/>
                    </a:lnTo>
                    <a:lnTo>
                      <a:pt x="0" y="19888"/>
                    </a:lnTo>
                    <a:lnTo>
                      <a:pt x="1562" y="27635"/>
                    </a:lnTo>
                    <a:lnTo>
                      <a:pt x="5829" y="33947"/>
                    </a:lnTo>
                    <a:lnTo>
                      <a:pt x="12141" y="38214"/>
                    </a:lnTo>
                    <a:lnTo>
                      <a:pt x="19888" y="39776"/>
                    </a:lnTo>
                    <a:lnTo>
                      <a:pt x="27622" y="38214"/>
                    </a:lnTo>
                    <a:lnTo>
                      <a:pt x="33947" y="33947"/>
                    </a:lnTo>
                    <a:lnTo>
                      <a:pt x="36093" y="30759"/>
                    </a:lnTo>
                    <a:lnTo>
                      <a:pt x="92760" y="57416"/>
                    </a:lnTo>
                    <a:lnTo>
                      <a:pt x="97358" y="57416"/>
                    </a:lnTo>
                    <a:lnTo>
                      <a:pt x="97358" y="52819"/>
                    </a:lnTo>
                    <a:close/>
                  </a:path>
                </a:pathLst>
              </a:custGeom>
              <a:solidFill>
                <a:srgbClr val="000000"/>
              </a:solidFill>
            </p:spPr>
            <p:txBody>
              <a:bodyPr wrap="square" lIns="0" tIns="0" rIns="0" bIns="0" rtlCol="0"/>
              <a:lstStyle/>
              <a:p>
                <a:endParaRPr/>
              </a:p>
            </p:txBody>
          </p:sp>
          <p:sp>
            <p:nvSpPr>
              <p:cNvPr id="289" name="object 289"/>
              <p:cNvSpPr/>
              <p:nvPr/>
            </p:nvSpPr>
            <p:spPr>
              <a:xfrm>
                <a:off x="6945477" y="5778093"/>
                <a:ext cx="35560" cy="35560"/>
              </a:xfrm>
              <a:custGeom>
                <a:avLst/>
                <a:gdLst/>
                <a:ahLst/>
                <a:cxnLst/>
                <a:rect l="l" t="t" r="r" b="b"/>
                <a:pathLst>
                  <a:path w="35559" h="35560">
                    <a:moveTo>
                      <a:pt x="17678" y="35356"/>
                    </a:moveTo>
                    <a:lnTo>
                      <a:pt x="7924" y="35356"/>
                    </a:lnTo>
                    <a:lnTo>
                      <a:pt x="0" y="27431"/>
                    </a:lnTo>
                    <a:lnTo>
                      <a:pt x="0" y="17678"/>
                    </a:lnTo>
                    <a:lnTo>
                      <a:pt x="0" y="7924"/>
                    </a:lnTo>
                    <a:lnTo>
                      <a:pt x="7924" y="0"/>
                    </a:lnTo>
                    <a:lnTo>
                      <a:pt x="17678" y="0"/>
                    </a:lnTo>
                    <a:lnTo>
                      <a:pt x="27431" y="0"/>
                    </a:lnTo>
                    <a:lnTo>
                      <a:pt x="35356" y="7924"/>
                    </a:lnTo>
                    <a:lnTo>
                      <a:pt x="35356" y="17678"/>
                    </a:lnTo>
                    <a:lnTo>
                      <a:pt x="35356" y="27431"/>
                    </a:lnTo>
                    <a:lnTo>
                      <a:pt x="27431" y="35356"/>
                    </a:lnTo>
                    <a:lnTo>
                      <a:pt x="17678" y="35356"/>
                    </a:lnTo>
                    <a:close/>
                  </a:path>
                </a:pathLst>
              </a:custGeom>
              <a:ln w="4597">
                <a:solidFill>
                  <a:srgbClr val="000000"/>
                </a:solidFill>
              </a:ln>
            </p:spPr>
            <p:txBody>
              <a:bodyPr wrap="square" lIns="0" tIns="0" rIns="0" bIns="0" rtlCol="0"/>
              <a:lstStyle/>
              <a:p>
                <a:endParaRPr/>
              </a:p>
            </p:txBody>
          </p:sp>
          <p:sp>
            <p:nvSpPr>
              <p:cNvPr id="290" name="object 290"/>
              <p:cNvSpPr/>
              <p:nvPr/>
            </p:nvSpPr>
            <p:spPr>
              <a:xfrm>
                <a:off x="7013447" y="5811697"/>
                <a:ext cx="44450" cy="40005"/>
              </a:xfrm>
              <a:custGeom>
                <a:avLst/>
                <a:gdLst/>
                <a:ahLst/>
                <a:cxnLst/>
                <a:rect l="l" t="t" r="r" b="b"/>
                <a:pathLst>
                  <a:path w="44450" h="40004">
                    <a:moveTo>
                      <a:pt x="44196" y="19888"/>
                    </a:moveTo>
                    <a:lnTo>
                      <a:pt x="42459" y="12151"/>
                    </a:lnTo>
                    <a:lnTo>
                      <a:pt x="37723" y="5829"/>
                    </a:lnTo>
                    <a:lnTo>
                      <a:pt x="30699" y="1564"/>
                    </a:lnTo>
                    <a:lnTo>
                      <a:pt x="22098" y="0"/>
                    </a:lnTo>
                    <a:lnTo>
                      <a:pt x="13501" y="1564"/>
                    </a:lnTo>
                    <a:lnTo>
                      <a:pt x="6476" y="5829"/>
                    </a:lnTo>
                    <a:lnTo>
                      <a:pt x="1738" y="12151"/>
                    </a:lnTo>
                    <a:lnTo>
                      <a:pt x="0" y="19888"/>
                    </a:lnTo>
                    <a:lnTo>
                      <a:pt x="1738" y="27624"/>
                    </a:lnTo>
                    <a:lnTo>
                      <a:pt x="6476" y="33947"/>
                    </a:lnTo>
                    <a:lnTo>
                      <a:pt x="13501" y="38211"/>
                    </a:lnTo>
                    <a:lnTo>
                      <a:pt x="22098" y="39776"/>
                    </a:lnTo>
                    <a:lnTo>
                      <a:pt x="30699" y="38211"/>
                    </a:lnTo>
                    <a:lnTo>
                      <a:pt x="37723" y="33947"/>
                    </a:lnTo>
                    <a:lnTo>
                      <a:pt x="42459" y="27624"/>
                    </a:lnTo>
                    <a:lnTo>
                      <a:pt x="44196" y="19888"/>
                    </a:lnTo>
                    <a:close/>
                  </a:path>
                </a:pathLst>
              </a:custGeom>
              <a:solidFill>
                <a:srgbClr val="000000"/>
              </a:solidFill>
            </p:spPr>
            <p:txBody>
              <a:bodyPr wrap="square" lIns="0" tIns="0" rIns="0" bIns="0" rtlCol="0"/>
              <a:lstStyle/>
              <a:p>
                <a:endParaRPr/>
              </a:p>
            </p:txBody>
          </p:sp>
          <p:sp>
            <p:nvSpPr>
              <p:cNvPr id="291" name="object 291"/>
              <p:cNvSpPr/>
              <p:nvPr/>
            </p:nvSpPr>
            <p:spPr>
              <a:xfrm>
                <a:off x="7016419" y="5813907"/>
                <a:ext cx="40005" cy="35560"/>
              </a:xfrm>
              <a:custGeom>
                <a:avLst/>
                <a:gdLst/>
                <a:ahLst/>
                <a:cxnLst/>
                <a:rect l="l" t="t" r="r" b="b"/>
                <a:pathLst>
                  <a:path w="40004" h="35560">
                    <a:moveTo>
                      <a:pt x="19888" y="35356"/>
                    </a:moveTo>
                    <a:lnTo>
                      <a:pt x="12151" y="33966"/>
                    </a:lnTo>
                    <a:lnTo>
                      <a:pt x="5829" y="30175"/>
                    </a:lnTo>
                    <a:lnTo>
                      <a:pt x="1564" y="24555"/>
                    </a:lnTo>
                    <a:lnTo>
                      <a:pt x="0" y="17678"/>
                    </a:lnTo>
                    <a:lnTo>
                      <a:pt x="1564" y="10801"/>
                    </a:lnTo>
                    <a:lnTo>
                      <a:pt x="5829" y="5181"/>
                    </a:lnTo>
                    <a:lnTo>
                      <a:pt x="12151" y="1390"/>
                    </a:lnTo>
                    <a:lnTo>
                      <a:pt x="19888" y="0"/>
                    </a:lnTo>
                    <a:lnTo>
                      <a:pt x="27624" y="1390"/>
                    </a:lnTo>
                    <a:lnTo>
                      <a:pt x="33947" y="5181"/>
                    </a:lnTo>
                    <a:lnTo>
                      <a:pt x="38211" y="10801"/>
                    </a:lnTo>
                    <a:lnTo>
                      <a:pt x="39776" y="17678"/>
                    </a:lnTo>
                    <a:lnTo>
                      <a:pt x="38211" y="24555"/>
                    </a:lnTo>
                    <a:lnTo>
                      <a:pt x="33947" y="30175"/>
                    </a:lnTo>
                    <a:lnTo>
                      <a:pt x="27624" y="33966"/>
                    </a:lnTo>
                    <a:lnTo>
                      <a:pt x="19888" y="35356"/>
                    </a:lnTo>
                    <a:close/>
                  </a:path>
                </a:pathLst>
              </a:custGeom>
              <a:ln w="4597">
                <a:solidFill>
                  <a:srgbClr val="000000"/>
                </a:solidFill>
              </a:ln>
            </p:spPr>
            <p:txBody>
              <a:bodyPr wrap="square" lIns="0" tIns="0" rIns="0" bIns="0" rtlCol="0"/>
              <a:lstStyle/>
              <a:p>
                <a:endParaRPr/>
              </a:p>
            </p:txBody>
          </p:sp>
          <p:pic>
            <p:nvPicPr>
              <p:cNvPr id="292" name="object 292"/>
              <p:cNvPicPr/>
              <p:nvPr/>
            </p:nvPicPr>
            <p:blipFill>
              <a:blip r:embed="rId27" cstate="print"/>
              <a:stretch>
                <a:fillRect/>
              </a:stretch>
            </p:blipFill>
            <p:spPr>
              <a:xfrm>
                <a:off x="7385139" y="6156515"/>
                <a:ext cx="97447" cy="150634"/>
              </a:xfrm>
              <a:prstGeom prst="rect">
                <a:avLst/>
              </a:prstGeom>
            </p:spPr>
          </p:pic>
          <p:sp>
            <p:nvSpPr>
              <p:cNvPr id="293" name="object 293"/>
              <p:cNvSpPr/>
              <p:nvPr/>
            </p:nvSpPr>
            <p:spPr>
              <a:xfrm>
                <a:off x="7459904" y="5864821"/>
                <a:ext cx="98425" cy="314325"/>
              </a:xfrm>
              <a:custGeom>
                <a:avLst/>
                <a:gdLst/>
                <a:ahLst/>
                <a:cxnLst/>
                <a:rect l="l" t="t" r="r" b="b"/>
                <a:pathLst>
                  <a:path w="98425" h="314325">
                    <a:moveTo>
                      <a:pt x="97815" y="0"/>
                    </a:moveTo>
                    <a:lnTo>
                      <a:pt x="93218" y="0"/>
                    </a:lnTo>
                    <a:lnTo>
                      <a:pt x="22364" y="275043"/>
                    </a:lnTo>
                    <a:lnTo>
                      <a:pt x="19888" y="274535"/>
                    </a:lnTo>
                    <a:lnTo>
                      <a:pt x="12141" y="276110"/>
                    </a:lnTo>
                    <a:lnTo>
                      <a:pt x="5829" y="280365"/>
                    </a:lnTo>
                    <a:lnTo>
                      <a:pt x="1562" y="286689"/>
                    </a:lnTo>
                    <a:lnTo>
                      <a:pt x="0" y="294424"/>
                    </a:lnTo>
                    <a:lnTo>
                      <a:pt x="1562" y="302171"/>
                    </a:lnTo>
                    <a:lnTo>
                      <a:pt x="5829" y="308483"/>
                    </a:lnTo>
                    <a:lnTo>
                      <a:pt x="12141" y="312750"/>
                    </a:lnTo>
                    <a:lnTo>
                      <a:pt x="19888" y="314312"/>
                    </a:lnTo>
                    <a:lnTo>
                      <a:pt x="27622" y="312750"/>
                    </a:lnTo>
                    <a:lnTo>
                      <a:pt x="33947" y="308483"/>
                    </a:lnTo>
                    <a:lnTo>
                      <a:pt x="38201" y="302171"/>
                    </a:lnTo>
                    <a:lnTo>
                      <a:pt x="39776" y="294424"/>
                    </a:lnTo>
                    <a:lnTo>
                      <a:pt x="38201" y="286689"/>
                    </a:lnTo>
                    <a:lnTo>
                      <a:pt x="33947" y="280365"/>
                    </a:lnTo>
                    <a:lnTo>
                      <a:pt x="27838" y="276263"/>
                    </a:lnTo>
                    <a:lnTo>
                      <a:pt x="97815" y="4597"/>
                    </a:lnTo>
                    <a:lnTo>
                      <a:pt x="97815" y="0"/>
                    </a:lnTo>
                    <a:close/>
                  </a:path>
                </a:pathLst>
              </a:custGeom>
              <a:solidFill>
                <a:srgbClr val="000000"/>
              </a:solidFill>
            </p:spPr>
            <p:txBody>
              <a:bodyPr wrap="square" lIns="0" tIns="0" rIns="0" bIns="0" rtlCol="0"/>
              <a:lstStyle/>
              <a:p>
                <a:endParaRPr/>
              </a:p>
            </p:txBody>
          </p:sp>
          <p:sp>
            <p:nvSpPr>
              <p:cNvPr id="294" name="object 294"/>
              <p:cNvSpPr/>
              <p:nvPr/>
            </p:nvSpPr>
            <p:spPr>
              <a:xfrm>
                <a:off x="7462875" y="6140805"/>
                <a:ext cx="35560" cy="35560"/>
              </a:xfrm>
              <a:custGeom>
                <a:avLst/>
                <a:gdLst/>
                <a:ahLst/>
                <a:cxnLst/>
                <a:rect l="l" t="t" r="r" b="b"/>
                <a:pathLst>
                  <a:path w="35559" h="35560">
                    <a:moveTo>
                      <a:pt x="17678" y="35356"/>
                    </a:moveTo>
                    <a:lnTo>
                      <a:pt x="7924" y="35356"/>
                    </a:lnTo>
                    <a:lnTo>
                      <a:pt x="0" y="27431"/>
                    </a:lnTo>
                    <a:lnTo>
                      <a:pt x="0" y="17678"/>
                    </a:lnTo>
                    <a:lnTo>
                      <a:pt x="0" y="7924"/>
                    </a:lnTo>
                    <a:lnTo>
                      <a:pt x="7924" y="0"/>
                    </a:lnTo>
                    <a:lnTo>
                      <a:pt x="17678" y="0"/>
                    </a:lnTo>
                    <a:lnTo>
                      <a:pt x="27431" y="0"/>
                    </a:lnTo>
                    <a:lnTo>
                      <a:pt x="35356" y="7924"/>
                    </a:lnTo>
                    <a:lnTo>
                      <a:pt x="35356" y="17678"/>
                    </a:lnTo>
                    <a:lnTo>
                      <a:pt x="35356" y="27431"/>
                    </a:lnTo>
                    <a:lnTo>
                      <a:pt x="27431" y="35356"/>
                    </a:lnTo>
                    <a:lnTo>
                      <a:pt x="17678" y="35356"/>
                    </a:lnTo>
                    <a:close/>
                  </a:path>
                </a:pathLst>
              </a:custGeom>
              <a:ln w="4597">
                <a:solidFill>
                  <a:srgbClr val="000000"/>
                </a:solidFill>
              </a:ln>
            </p:spPr>
            <p:txBody>
              <a:bodyPr wrap="square" lIns="0" tIns="0" rIns="0" bIns="0" rtlCol="0"/>
              <a:lstStyle/>
              <a:p>
                <a:endParaRPr/>
              </a:p>
            </p:txBody>
          </p:sp>
          <p:pic>
            <p:nvPicPr>
              <p:cNvPr id="295" name="object 295"/>
              <p:cNvPicPr/>
              <p:nvPr/>
            </p:nvPicPr>
            <p:blipFill>
              <a:blip r:embed="rId28" cstate="print"/>
              <a:stretch>
                <a:fillRect/>
              </a:stretch>
            </p:blipFill>
            <p:spPr>
              <a:xfrm>
                <a:off x="7535252" y="5665939"/>
                <a:ext cx="97599" cy="221437"/>
              </a:xfrm>
              <a:prstGeom prst="rect">
                <a:avLst/>
              </a:prstGeom>
            </p:spPr>
          </p:pic>
          <p:sp>
            <p:nvSpPr>
              <p:cNvPr id="296" name="object 296"/>
              <p:cNvSpPr/>
              <p:nvPr/>
            </p:nvSpPr>
            <p:spPr>
              <a:xfrm>
                <a:off x="7606284" y="5648629"/>
                <a:ext cx="97790" cy="349250"/>
              </a:xfrm>
              <a:custGeom>
                <a:avLst/>
                <a:gdLst/>
                <a:ahLst/>
                <a:cxnLst/>
                <a:rect l="l" t="t" r="r" b="b"/>
                <a:pathLst>
                  <a:path w="97790" h="349250">
                    <a:moveTo>
                      <a:pt x="97282" y="344360"/>
                    </a:moveTo>
                    <a:lnTo>
                      <a:pt x="31038" y="37998"/>
                    </a:lnTo>
                    <a:lnTo>
                      <a:pt x="37719" y="33947"/>
                    </a:lnTo>
                    <a:lnTo>
                      <a:pt x="42456" y="27635"/>
                    </a:lnTo>
                    <a:lnTo>
                      <a:pt x="44196" y="19888"/>
                    </a:lnTo>
                    <a:lnTo>
                      <a:pt x="42456" y="12153"/>
                    </a:lnTo>
                    <a:lnTo>
                      <a:pt x="37719" y="5829"/>
                    </a:lnTo>
                    <a:lnTo>
                      <a:pt x="30683" y="1574"/>
                    </a:lnTo>
                    <a:lnTo>
                      <a:pt x="22098" y="0"/>
                    </a:lnTo>
                    <a:lnTo>
                      <a:pt x="13500" y="1574"/>
                    </a:lnTo>
                    <a:lnTo>
                      <a:pt x="6477" y="5829"/>
                    </a:lnTo>
                    <a:lnTo>
                      <a:pt x="1727" y="12153"/>
                    </a:lnTo>
                    <a:lnTo>
                      <a:pt x="0" y="19888"/>
                    </a:lnTo>
                    <a:lnTo>
                      <a:pt x="1727" y="27635"/>
                    </a:lnTo>
                    <a:lnTo>
                      <a:pt x="6477" y="33947"/>
                    </a:lnTo>
                    <a:lnTo>
                      <a:pt x="13500" y="38214"/>
                    </a:lnTo>
                    <a:lnTo>
                      <a:pt x="22098" y="39776"/>
                    </a:lnTo>
                    <a:lnTo>
                      <a:pt x="25692" y="39128"/>
                    </a:lnTo>
                    <a:lnTo>
                      <a:pt x="92684" y="348957"/>
                    </a:lnTo>
                    <a:lnTo>
                      <a:pt x="97282" y="348957"/>
                    </a:lnTo>
                    <a:lnTo>
                      <a:pt x="97282" y="344360"/>
                    </a:lnTo>
                    <a:close/>
                  </a:path>
                </a:pathLst>
              </a:custGeom>
              <a:solidFill>
                <a:srgbClr val="000000"/>
              </a:solidFill>
            </p:spPr>
            <p:txBody>
              <a:bodyPr wrap="square" lIns="0" tIns="0" rIns="0" bIns="0" rtlCol="0"/>
              <a:lstStyle/>
              <a:p>
                <a:endParaRPr/>
              </a:p>
            </p:txBody>
          </p:sp>
          <p:sp>
            <p:nvSpPr>
              <p:cNvPr id="297" name="object 297"/>
              <p:cNvSpPr/>
              <p:nvPr/>
            </p:nvSpPr>
            <p:spPr>
              <a:xfrm>
                <a:off x="7608493" y="5650077"/>
                <a:ext cx="40005" cy="35560"/>
              </a:xfrm>
              <a:custGeom>
                <a:avLst/>
                <a:gdLst/>
                <a:ahLst/>
                <a:cxnLst/>
                <a:rect l="l" t="t" r="r" b="b"/>
                <a:pathLst>
                  <a:path w="40004" h="35560">
                    <a:moveTo>
                      <a:pt x="19888" y="35356"/>
                    </a:moveTo>
                    <a:lnTo>
                      <a:pt x="12151" y="33966"/>
                    </a:lnTo>
                    <a:lnTo>
                      <a:pt x="5829" y="30175"/>
                    </a:lnTo>
                    <a:lnTo>
                      <a:pt x="1564" y="24555"/>
                    </a:lnTo>
                    <a:lnTo>
                      <a:pt x="0" y="17678"/>
                    </a:lnTo>
                    <a:lnTo>
                      <a:pt x="1564" y="10801"/>
                    </a:lnTo>
                    <a:lnTo>
                      <a:pt x="5829" y="5181"/>
                    </a:lnTo>
                    <a:lnTo>
                      <a:pt x="12151" y="1390"/>
                    </a:lnTo>
                    <a:lnTo>
                      <a:pt x="19888" y="0"/>
                    </a:lnTo>
                    <a:lnTo>
                      <a:pt x="27624" y="1390"/>
                    </a:lnTo>
                    <a:lnTo>
                      <a:pt x="33947" y="5181"/>
                    </a:lnTo>
                    <a:lnTo>
                      <a:pt x="38211" y="10801"/>
                    </a:lnTo>
                    <a:lnTo>
                      <a:pt x="39776" y="17678"/>
                    </a:lnTo>
                    <a:lnTo>
                      <a:pt x="38211" y="24555"/>
                    </a:lnTo>
                    <a:lnTo>
                      <a:pt x="33947" y="30175"/>
                    </a:lnTo>
                    <a:lnTo>
                      <a:pt x="27624" y="33966"/>
                    </a:lnTo>
                    <a:lnTo>
                      <a:pt x="19888" y="35356"/>
                    </a:lnTo>
                    <a:close/>
                  </a:path>
                </a:pathLst>
              </a:custGeom>
              <a:ln w="4597">
                <a:solidFill>
                  <a:srgbClr val="000000"/>
                </a:solidFill>
              </a:ln>
            </p:spPr>
            <p:txBody>
              <a:bodyPr wrap="square" lIns="0" tIns="0" rIns="0" bIns="0" rtlCol="0"/>
              <a:lstStyle/>
              <a:p>
                <a:endParaRPr/>
              </a:p>
            </p:txBody>
          </p:sp>
          <p:sp>
            <p:nvSpPr>
              <p:cNvPr id="298" name="object 298"/>
              <p:cNvSpPr/>
              <p:nvPr/>
            </p:nvSpPr>
            <p:spPr>
              <a:xfrm>
                <a:off x="7680883" y="5974765"/>
                <a:ext cx="40005" cy="40005"/>
              </a:xfrm>
              <a:custGeom>
                <a:avLst/>
                <a:gdLst/>
                <a:ahLst/>
                <a:cxnLst/>
                <a:rect l="l" t="t" r="r" b="b"/>
                <a:pathLst>
                  <a:path w="40004" h="40004">
                    <a:moveTo>
                      <a:pt x="39776" y="19888"/>
                    </a:moveTo>
                    <a:lnTo>
                      <a:pt x="38211" y="12151"/>
                    </a:lnTo>
                    <a:lnTo>
                      <a:pt x="33947" y="5829"/>
                    </a:lnTo>
                    <a:lnTo>
                      <a:pt x="27624" y="1564"/>
                    </a:lnTo>
                    <a:lnTo>
                      <a:pt x="19888" y="0"/>
                    </a:lnTo>
                    <a:lnTo>
                      <a:pt x="12151" y="1564"/>
                    </a:lnTo>
                    <a:lnTo>
                      <a:pt x="5829" y="5829"/>
                    </a:lnTo>
                    <a:lnTo>
                      <a:pt x="1564" y="12151"/>
                    </a:lnTo>
                    <a:lnTo>
                      <a:pt x="0" y="19888"/>
                    </a:lnTo>
                    <a:lnTo>
                      <a:pt x="1564" y="27624"/>
                    </a:lnTo>
                    <a:lnTo>
                      <a:pt x="5829" y="33947"/>
                    </a:lnTo>
                    <a:lnTo>
                      <a:pt x="12151" y="38211"/>
                    </a:lnTo>
                    <a:lnTo>
                      <a:pt x="19888" y="39776"/>
                    </a:lnTo>
                    <a:lnTo>
                      <a:pt x="27624" y="38211"/>
                    </a:lnTo>
                    <a:lnTo>
                      <a:pt x="33947" y="33947"/>
                    </a:lnTo>
                    <a:lnTo>
                      <a:pt x="38211" y="27624"/>
                    </a:lnTo>
                    <a:lnTo>
                      <a:pt x="39776" y="19888"/>
                    </a:lnTo>
                    <a:close/>
                  </a:path>
                </a:pathLst>
              </a:custGeom>
              <a:solidFill>
                <a:srgbClr val="000000"/>
              </a:solidFill>
            </p:spPr>
            <p:txBody>
              <a:bodyPr wrap="square" lIns="0" tIns="0" rIns="0" bIns="0" rtlCol="0"/>
              <a:lstStyle/>
              <a:p>
                <a:endParaRPr/>
              </a:p>
            </p:txBody>
          </p:sp>
          <p:sp>
            <p:nvSpPr>
              <p:cNvPr id="299" name="object 299"/>
              <p:cNvSpPr/>
              <p:nvPr/>
            </p:nvSpPr>
            <p:spPr>
              <a:xfrm>
                <a:off x="7683855" y="5977737"/>
                <a:ext cx="35560" cy="35560"/>
              </a:xfrm>
              <a:custGeom>
                <a:avLst/>
                <a:gdLst/>
                <a:ahLst/>
                <a:cxnLst/>
                <a:rect l="l" t="t" r="r" b="b"/>
                <a:pathLst>
                  <a:path w="35559" h="35560">
                    <a:moveTo>
                      <a:pt x="17678" y="35356"/>
                    </a:moveTo>
                    <a:lnTo>
                      <a:pt x="7924" y="35356"/>
                    </a:lnTo>
                    <a:lnTo>
                      <a:pt x="0" y="27432"/>
                    </a:lnTo>
                    <a:lnTo>
                      <a:pt x="0" y="17678"/>
                    </a:lnTo>
                    <a:lnTo>
                      <a:pt x="0" y="7924"/>
                    </a:lnTo>
                    <a:lnTo>
                      <a:pt x="7924" y="0"/>
                    </a:lnTo>
                    <a:lnTo>
                      <a:pt x="17678" y="0"/>
                    </a:lnTo>
                    <a:lnTo>
                      <a:pt x="27431" y="0"/>
                    </a:lnTo>
                    <a:lnTo>
                      <a:pt x="35356" y="7924"/>
                    </a:lnTo>
                    <a:lnTo>
                      <a:pt x="35356" y="17678"/>
                    </a:lnTo>
                    <a:lnTo>
                      <a:pt x="35356" y="27432"/>
                    </a:lnTo>
                    <a:lnTo>
                      <a:pt x="27431" y="35356"/>
                    </a:lnTo>
                    <a:lnTo>
                      <a:pt x="17678" y="35356"/>
                    </a:lnTo>
                    <a:close/>
                  </a:path>
                </a:pathLst>
              </a:custGeom>
              <a:ln w="4597">
                <a:solidFill>
                  <a:srgbClr val="000000"/>
                </a:solidFill>
              </a:ln>
            </p:spPr>
            <p:txBody>
              <a:bodyPr wrap="square" lIns="0" tIns="0" rIns="0" bIns="0" rtlCol="0"/>
              <a:lstStyle/>
              <a:p>
                <a:endParaRPr/>
              </a:p>
            </p:txBody>
          </p:sp>
          <p:sp>
            <p:nvSpPr>
              <p:cNvPr id="300" name="object 300"/>
              <p:cNvSpPr/>
              <p:nvPr/>
            </p:nvSpPr>
            <p:spPr>
              <a:xfrm>
                <a:off x="8199119" y="5683681"/>
                <a:ext cx="44450" cy="40005"/>
              </a:xfrm>
              <a:custGeom>
                <a:avLst/>
                <a:gdLst/>
                <a:ahLst/>
                <a:cxnLst/>
                <a:rect l="l" t="t" r="r" b="b"/>
                <a:pathLst>
                  <a:path w="44450" h="40004">
                    <a:moveTo>
                      <a:pt x="44196" y="19888"/>
                    </a:moveTo>
                    <a:lnTo>
                      <a:pt x="42459" y="12151"/>
                    </a:lnTo>
                    <a:lnTo>
                      <a:pt x="37723" y="5829"/>
                    </a:lnTo>
                    <a:lnTo>
                      <a:pt x="30699" y="1564"/>
                    </a:lnTo>
                    <a:lnTo>
                      <a:pt x="22098" y="0"/>
                    </a:lnTo>
                    <a:lnTo>
                      <a:pt x="13501" y="1564"/>
                    </a:lnTo>
                    <a:lnTo>
                      <a:pt x="6476" y="5829"/>
                    </a:lnTo>
                    <a:lnTo>
                      <a:pt x="1738" y="12151"/>
                    </a:lnTo>
                    <a:lnTo>
                      <a:pt x="0" y="19888"/>
                    </a:lnTo>
                    <a:lnTo>
                      <a:pt x="1738" y="27624"/>
                    </a:lnTo>
                    <a:lnTo>
                      <a:pt x="6476" y="33947"/>
                    </a:lnTo>
                    <a:lnTo>
                      <a:pt x="13501" y="38211"/>
                    </a:lnTo>
                    <a:lnTo>
                      <a:pt x="22098" y="39776"/>
                    </a:lnTo>
                    <a:lnTo>
                      <a:pt x="30699" y="38211"/>
                    </a:lnTo>
                    <a:lnTo>
                      <a:pt x="37723" y="33947"/>
                    </a:lnTo>
                    <a:lnTo>
                      <a:pt x="42459" y="27624"/>
                    </a:lnTo>
                    <a:lnTo>
                      <a:pt x="44196" y="19888"/>
                    </a:lnTo>
                    <a:close/>
                  </a:path>
                </a:pathLst>
              </a:custGeom>
              <a:solidFill>
                <a:srgbClr val="000000"/>
              </a:solidFill>
            </p:spPr>
            <p:txBody>
              <a:bodyPr wrap="square" lIns="0" tIns="0" rIns="0" bIns="0" rtlCol="0"/>
              <a:lstStyle/>
              <a:p>
                <a:endParaRPr/>
              </a:p>
            </p:txBody>
          </p:sp>
          <p:sp>
            <p:nvSpPr>
              <p:cNvPr id="301" name="object 301"/>
              <p:cNvSpPr/>
              <p:nvPr/>
            </p:nvSpPr>
            <p:spPr>
              <a:xfrm>
                <a:off x="8200567" y="5685891"/>
                <a:ext cx="40005" cy="35560"/>
              </a:xfrm>
              <a:custGeom>
                <a:avLst/>
                <a:gdLst/>
                <a:ahLst/>
                <a:cxnLst/>
                <a:rect l="l" t="t" r="r" b="b"/>
                <a:pathLst>
                  <a:path w="40004" h="35560">
                    <a:moveTo>
                      <a:pt x="19888" y="35356"/>
                    </a:moveTo>
                    <a:lnTo>
                      <a:pt x="12151" y="33966"/>
                    </a:lnTo>
                    <a:lnTo>
                      <a:pt x="5829" y="30175"/>
                    </a:lnTo>
                    <a:lnTo>
                      <a:pt x="1564" y="24555"/>
                    </a:lnTo>
                    <a:lnTo>
                      <a:pt x="0" y="17678"/>
                    </a:lnTo>
                    <a:lnTo>
                      <a:pt x="1564" y="10801"/>
                    </a:lnTo>
                    <a:lnTo>
                      <a:pt x="5829" y="5181"/>
                    </a:lnTo>
                    <a:lnTo>
                      <a:pt x="12151" y="1390"/>
                    </a:lnTo>
                    <a:lnTo>
                      <a:pt x="19888" y="0"/>
                    </a:lnTo>
                    <a:lnTo>
                      <a:pt x="27624" y="1390"/>
                    </a:lnTo>
                    <a:lnTo>
                      <a:pt x="33947" y="5181"/>
                    </a:lnTo>
                    <a:lnTo>
                      <a:pt x="38211" y="10801"/>
                    </a:lnTo>
                    <a:lnTo>
                      <a:pt x="39776" y="17678"/>
                    </a:lnTo>
                    <a:lnTo>
                      <a:pt x="38211" y="24555"/>
                    </a:lnTo>
                    <a:lnTo>
                      <a:pt x="33947" y="30175"/>
                    </a:lnTo>
                    <a:lnTo>
                      <a:pt x="27624" y="33966"/>
                    </a:lnTo>
                    <a:lnTo>
                      <a:pt x="19888" y="35356"/>
                    </a:lnTo>
                    <a:close/>
                  </a:path>
                </a:pathLst>
              </a:custGeom>
              <a:ln w="4597">
                <a:solidFill>
                  <a:srgbClr val="000000"/>
                </a:solidFill>
              </a:ln>
            </p:spPr>
            <p:txBody>
              <a:bodyPr wrap="square" lIns="0" tIns="0" rIns="0" bIns="0" rtlCol="0"/>
              <a:lstStyle/>
              <a:p>
                <a:endParaRPr/>
              </a:p>
            </p:txBody>
          </p:sp>
          <p:sp>
            <p:nvSpPr>
              <p:cNvPr id="302" name="object 302"/>
              <p:cNvSpPr/>
              <p:nvPr/>
            </p:nvSpPr>
            <p:spPr>
              <a:xfrm>
                <a:off x="8348396" y="5776645"/>
                <a:ext cx="40005" cy="40005"/>
              </a:xfrm>
              <a:custGeom>
                <a:avLst/>
                <a:gdLst/>
                <a:ahLst/>
                <a:cxnLst/>
                <a:rect l="l" t="t" r="r" b="b"/>
                <a:pathLst>
                  <a:path w="40004" h="40004">
                    <a:moveTo>
                      <a:pt x="39776" y="19888"/>
                    </a:moveTo>
                    <a:lnTo>
                      <a:pt x="38211" y="12151"/>
                    </a:lnTo>
                    <a:lnTo>
                      <a:pt x="33947" y="5829"/>
                    </a:lnTo>
                    <a:lnTo>
                      <a:pt x="27624" y="1564"/>
                    </a:lnTo>
                    <a:lnTo>
                      <a:pt x="19888" y="0"/>
                    </a:lnTo>
                    <a:lnTo>
                      <a:pt x="12151" y="1564"/>
                    </a:lnTo>
                    <a:lnTo>
                      <a:pt x="5829" y="5829"/>
                    </a:lnTo>
                    <a:lnTo>
                      <a:pt x="1564" y="12151"/>
                    </a:lnTo>
                    <a:lnTo>
                      <a:pt x="0" y="19888"/>
                    </a:lnTo>
                    <a:lnTo>
                      <a:pt x="1564" y="27624"/>
                    </a:lnTo>
                    <a:lnTo>
                      <a:pt x="5829" y="33947"/>
                    </a:lnTo>
                    <a:lnTo>
                      <a:pt x="12151" y="38211"/>
                    </a:lnTo>
                    <a:lnTo>
                      <a:pt x="19888" y="39776"/>
                    </a:lnTo>
                    <a:lnTo>
                      <a:pt x="27624" y="38211"/>
                    </a:lnTo>
                    <a:lnTo>
                      <a:pt x="33947" y="33947"/>
                    </a:lnTo>
                    <a:lnTo>
                      <a:pt x="38211" y="27624"/>
                    </a:lnTo>
                    <a:lnTo>
                      <a:pt x="39776" y="19888"/>
                    </a:lnTo>
                    <a:close/>
                  </a:path>
                </a:pathLst>
              </a:custGeom>
              <a:solidFill>
                <a:srgbClr val="000000"/>
              </a:solidFill>
            </p:spPr>
            <p:txBody>
              <a:bodyPr wrap="square" lIns="0" tIns="0" rIns="0" bIns="0" rtlCol="0"/>
              <a:lstStyle/>
              <a:p>
                <a:endParaRPr/>
              </a:p>
            </p:txBody>
          </p:sp>
          <p:sp>
            <p:nvSpPr>
              <p:cNvPr id="303" name="object 303"/>
              <p:cNvSpPr/>
              <p:nvPr/>
            </p:nvSpPr>
            <p:spPr>
              <a:xfrm>
                <a:off x="8351367" y="5778093"/>
                <a:ext cx="35560" cy="35560"/>
              </a:xfrm>
              <a:custGeom>
                <a:avLst/>
                <a:gdLst/>
                <a:ahLst/>
                <a:cxnLst/>
                <a:rect l="l" t="t" r="r" b="b"/>
                <a:pathLst>
                  <a:path w="35559" h="35560">
                    <a:moveTo>
                      <a:pt x="17678" y="35356"/>
                    </a:moveTo>
                    <a:lnTo>
                      <a:pt x="7924" y="35356"/>
                    </a:lnTo>
                    <a:lnTo>
                      <a:pt x="0" y="27431"/>
                    </a:lnTo>
                    <a:lnTo>
                      <a:pt x="0" y="17678"/>
                    </a:lnTo>
                    <a:lnTo>
                      <a:pt x="0" y="7924"/>
                    </a:lnTo>
                    <a:lnTo>
                      <a:pt x="7924" y="0"/>
                    </a:lnTo>
                    <a:lnTo>
                      <a:pt x="17678" y="0"/>
                    </a:lnTo>
                    <a:lnTo>
                      <a:pt x="27432" y="0"/>
                    </a:lnTo>
                    <a:lnTo>
                      <a:pt x="35356" y="7924"/>
                    </a:lnTo>
                    <a:lnTo>
                      <a:pt x="35356" y="17678"/>
                    </a:lnTo>
                    <a:lnTo>
                      <a:pt x="35356" y="27431"/>
                    </a:lnTo>
                    <a:lnTo>
                      <a:pt x="27432" y="35356"/>
                    </a:lnTo>
                    <a:lnTo>
                      <a:pt x="17678" y="35356"/>
                    </a:lnTo>
                    <a:close/>
                  </a:path>
                </a:pathLst>
              </a:custGeom>
              <a:ln w="4597">
                <a:solidFill>
                  <a:srgbClr val="000000"/>
                </a:solidFill>
              </a:ln>
            </p:spPr>
            <p:txBody>
              <a:bodyPr wrap="square" lIns="0" tIns="0" rIns="0" bIns="0" rtlCol="0"/>
              <a:lstStyle/>
              <a:p>
                <a:endParaRPr/>
              </a:p>
            </p:txBody>
          </p:sp>
          <p:sp>
            <p:nvSpPr>
              <p:cNvPr id="304" name="object 304"/>
              <p:cNvSpPr/>
              <p:nvPr/>
            </p:nvSpPr>
            <p:spPr>
              <a:xfrm>
                <a:off x="1626615" y="4927866"/>
                <a:ext cx="2673985" cy="1290955"/>
              </a:xfrm>
              <a:custGeom>
                <a:avLst/>
                <a:gdLst/>
                <a:ahLst/>
                <a:cxnLst/>
                <a:rect l="l" t="t" r="r" b="b"/>
                <a:pathLst>
                  <a:path w="2673985" h="1290954">
                    <a:moveTo>
                      <a:pt x="0" y="0"/>
                    </a:moveTo>
                    <a:lnTo>
                      <a:pt x="44195" y="813206"/>
                    </a:lnTo>
                  </a:path>
                  <a:path w="2673985" h="1290954">
                    <a:moveTo>
                      <a:pt x="150266" y="441960"/>
                    </a:moveTo>
                    <a:lnTo>
                      <a:pt x="110489" y="822045"/>
                    </a:lnTo>
                  </a:path>
                  <a:path w="2673985" h="1290954">
                    <a:moveTo>
                      <a:pt x="601065" y="274015"/>
                    </a:moveTo>
                    <a:lnTo>
                      <a:pt x="658520" y="994410"/>
                    </a:lnTo>
                  </a:path>
                  <a:path w="2673985" h="1290954">
                    <a:moveTo>
                      <a:pt x="742492" y="4419"/>
                    </a:moveTo>
                    <a:lnTo>
                      <a:pt x="707135" y="967892"/>
                    </a:lnTo>
                  </a:path>
                  <a:path w="2673985" h="1290954">
                    <a:moveTo>
                      <a:pt x="1188872" y="437540"/>
                    </a:moveTo>
                    <a:lnTo>
                      <a:pt x="1228648" y="1104900"/>
                    </a:lnTo>
                  </a:path>
                  <a:path w="2673985" h="1290954">
                    <a:moveTo>
                      <a:pt x="1343558" y="70713"/>
                    </a:moveTo>
                    <a:lnTo>
                      <a:pt x="1281683" y="1100480"/>
                    </a:lnTo>
                  </a:path>
                  <a:path w="2673985" h="1290954">
                    <a:moveTo>
                      <a:pt x="2528011" y="782269"/>
                    </a:moveTo>
                    <a:lnTo>
                      <a:pt x="2563368" y="1290523"/>
                    </a:lnTo>
                  </a:path>
                  <a:path w="2673985" h="1290954">
                    <a:moveTo>
                      <a:pt x="2673857" y="521512"/>
                    </a:moveTo>
                    <a:lnTo>
                      <a:pt x="2620822" y="1264005"/>
                    </a:lnTo>
                  </a:path>
                </a:pathLst>
              </a:custGeom>
              <a:ln w="4597">
                <a:solidFill>
                  <a:srgbClr val="000000"/>
                </a:solidFill>
                <a:prstDash val="dash"/>
              </a:ln>
            </p:spPr>
            <p:txBody>
              <a:bodyPr wrap="square" lIns="0" tIns="0" rIns="0" bIns="0" rtlCol="0"/>
              <a:lstStyle/>
              <a:p>
                <a:endParaRPr/>
              </a:p>
            </p:txBody>
          </p:sp>
          <p:sp>
            <p:nvSpPr>
              <p:cNvPr id="305" name="object 305"/>
              <p:cNvSpPr/>
              <p:nvPr/>
            </p:nvSpPr>
            <p:spPr>
              <a:xfrm>
                <a:off x="4662703" y="5789688"/>
                <a:ext cx="150495" cy="499745"/>
              </a:xfrm>
              <a:custGeom>
                <a:avLst/>
                <a:gdLst/>
                <a:ahLst/>
                <a:cxnLst/>
                <a:rect l="l" t="t" r="r" b="b"/>
                <a:pathLst>
                  <a:path w="150495" h="499745">
                    <a:moveTo>
                      <a:pt x="17856" y="490575"/>
                    </a:moveTo>
                    <a:lnTo>
                      <a:pt x="4597" y="0"/>
                    </a:lnTo>
                    <a:lnTo>
                      <a:pt x="0" y="0"/>
                    </a:lnTo>
                    <a:lnTo>
                      <a:pt x="13258" y="495173"/>
                    </a:lnTo>
                    <a:lnTo>
                      <a:pt x="17856" y="495173"/>
                    </a:lnTo>
                    <a:lnTo>
                      <a:pt x="17856" y="490575"/>
                    </a:lnTo>
                    <a:close/>
                  </a:path>
                  <a:path w="150495" h="499745">
                    <a:moveTo>
                      <a:pt x="150444" y="35356"/>
                    </a:moveTo>
                    <a:lnTo>
                      <a:pt x="145846" y="35356"/>
                    </a:lnTo>
                    <a:lnTo>
                      <a:pt x="106070" y="494995"/>
                    </a:lnTo>
                    <a:lnTo>
                      <a:pt x="106070" y="499592"/>
                    </a:lnTo>
                    <a:lnTo>
                      <a:pt x="110667" y="499592"/>
                    </a:lnTo>
                    <a:lnTo>
                      <a:pt x="150444" y="39954"/>
                    </a:lnTo>
                    <a:lnTo>
                      <a:pt x="150444" y="35356"/>
                    </a:lnTo>
                    <a:close/>
                  </a:path>
                </a:pathLst>
              </a:custGeom>
              <a:solidFill>
                <a:srgbClr val="000000"/>
              </a:solidFill>
            </p:spPr>
            <p:txBody>
              <a:bodyPr wrap="square" lIns="0" tIns="0" rIns="0" bIns="0" rtlCol="0"/>
              <a:lstStyle/>
              <a:p>
                <a:endParaRPr/>
              </a:p>
            </p:txBody>
          </p:sp>
          <p:sp>
            <p:nvSpPr>
              <p:cNvPr id="306" name="object 306"/>
              <p:cNvSpPr/>
              <p:nvPr/>
            </p:nvSpPr>
            <p:spPr>
              <a:xfrm>
                <a:off x="5480507" y="5758751"/>
                <a:ext cx="150495" cy="415925"/>
              </a:xfrm>
              <a:custGeom>
                <a:avLst/>
                <a:gdLst/>
                <a:ahLst/>
                <a:cxnLst/>
                <a:rect l="l" t="t" r="r" b="b"/>
                <a:pathLst>
                  <a:path w="150495" h="415925">
                    <a:moveTo>
                      <a:pt x="0" y="176784"/>
                    </a:moveTo>
                    <a:lnTo>
                      <a:pt x="30937" y="411022"/>
                    </a:lnTo>
                  </a:path>
                  <a:path w="150495" h="415925">
                    <a:moveTo>
                      <a:pt x="150266" y="0"/>
                    </a:moveTo>
                    <a:lnTo>
                      <a:pt x="110489" y="415442"/>
                    </a:lnTo>
                  </a:path>
                </a:pathLst>
              </a:custGeom>
              <a:ln w="4597">
                <a:solidFill>
                  <a:srgbClr val="000000"/>
                </a:solidFill>
                <a:prstDash val="dash"/>
              </a:ln>
            </p:spPr>
            <p:txBody>
              <a:bodyPr wrap="square" lIns="0" tIns="0" rIns="0" bIns="0" rtlCol="0"/>
              <a:lstStyle/>
              <a:p>
                <a:endParaRPr/>
              </a:p>
            </p:txBody>
          </p:sp>
          <p:sp>
            <p:nvSpPr>
              <p:cNvPr id="307" name="object 307"/>
              <p:cNvSpPr/>
              <p:nvPr/>
            </p:nvSpPr>
            <p:spPr>
              <a:xfrm>
                <a:off x="6099073" y="5692457"/>
                <a:ext cx="53340" cy="588010"/>
              </a:xfrm>
              <a:custGeom>
                <a:avLst/>
                <a:gdLst/>
                <a:ahLst/>
                <a:cxnLst/>
                <a:rect l="l" t="t" r="r" b="b"/>
                <a:pathLst>
                  <a:path w="53339" h="588010">
                    <a:moveTo>
                      <a:pt x="53212" y="4597"/>
                    </a:moveTo>
                    <a:lnTo>
                      <a:pt x="53212" y="0"/>
                    </a:lnTo>
                    <a:lnTo>
                      <a:pt x="48615" y="0"/>
                    </a:lnTo>
                    <a:lnTo>
                      <a:pt x="0" y="583387"/>
                    </a:lnTo>
                    <a:lnTo>
                      <a:pt x="0" y="587984"/>
                    </a:lnTo>
                    <a:lnTo>
                      <a:pt x="4597" y="587984"/>
                    </a:lnTo>
                    <a:lnTo>
                      <a:pt x="53212" y="4597"/>
                    </a:lnTo>
                    <a:close/>
                  </a:path>
                </a:pathLst>
              </a:custGeom>
              <a:solidFill>
                <a:srgbClr val="000000"/>
              </a:solidFill>
            </p:spPr>
            <p:txBody>
              <a:bodyPr wrap="square" lIns="0" tIns="0" rIns="0" bIns="0" rtlCol="0"/>
              <a:lstStyle/>
              <a:p>
                <a:endParaRPr/>
              </a:p>
            </p:txBody>
          </p:sp>
        </p:grpSp>
        <p:sp>
          <p:nvSpPr>
            <p:cNvPr id="308" name="object 308"/>
            <p:cNvSpPr txBox="1"/>
            <p:nvPr/>
          </p:nvSpPr>
          <p:spPr>
            <a:xfrm>
              <a:off x="1064255" y="3253950"/>
              <a:ext cx="192356" cy="3169285"/>
            </a:xfrm>
            <a:prstGeom prst="rect">
              <a:avLst/>
            </a:prstGeom>
          </p:spPr>
          <p:txBody>
            <a:bodyPr vert="vert270" wrap="square" lIns="0" tIns="12326" rIns="0" bIns="0" rtlCol="0">
              <a:spAutoFit/>
            </a:bodyPr>
            <a:lstStyle/>
            <a:p>
              <a:pPr marL="11206">
                <a:spcBef>
                  <a:spcPts val="97"/>
                </a:spcBef>
              </a:pPr>
              <a:r>
                <a:rPr sz="1103" dirty="0">
                  <a:latin typeface="Arial MT"/>
                  <a:cs typeface="Arial MT"/>
                </a:rPr>
                <a:t>Log</a:t>
              </a:r>
              <a:r>
                <a:rPr sz="1103" spc="97" dirty="0">
                  <a:latin typeface="Arial MT"/>
                  <a:cs typeface="Arial MT"/>
                </a:rPr>
                <a:t> </a:t>
              </a:r>
              <a:r>
                <a:rPr sz="1103" dirty="0">
                  <a:latin typeface="Arial MT"/>
                  <a:cs typeface="Arial MT"/>
                </a:rPr>
                <a:t>atomic</a:t>
              </a:r>
              <a:r>
                <a:rPr sz="1103" spc="97" dirty="0">
                  <a:latin typeface="Arial MT"/>
                  <a:cs typeface="Arial MT"/>
                </a:rPr>
                <a:t> </a:t>
              </a:r>
              <a:r>
                <a:rPr sz="1103" dirty="0">
                  <a:latin typeface="Arial MT"/>
                  <a:cs typeface="Arial MT"/>
                </a:rPr>
                <a:t>abundance</a:t>
              </a:r>
              <a:r>
                <a:rPr sz="1103" spc="101" dirty="0">
                  <a:latin typeface="Arial MT"/>
                  <a:cs typeface="Arial MT"/>
                </a:rPr>
                <a:t> </a:t>
              </a:r>
              <a:r>
                <a:rPr sz="1103" dirty="0">
                  <a:latin typeface="Arial MT"/>
                  <a:cs typeface="Arial MT"/>
                </a:rPr>
                <a:t>per</a:t>
              </a:r>
              <a:r>
                <a:rPr sz="1103" spc="106" dirty="0">
                  <a:latin typeface="Arial MT"/>
                  <a:cs typeface="Arial MT"/>
                </a:rPr>
                <a:t> </a:t>
              </a:r>
              <a:r>
                <a:rPr sz="1103" dirty="0">
                  <a:latin typeface="Arial MT"/>
                  <a:cs typeface="Arial MT"/>
                </a:rPr>
                <a:t>10</a:t>
              </a:r>
              <a:r>
                <a:rPr sz="1324" baseline="19444" dirty="0">
                  <a:latin typeface="Arial MT"/>
                  <a:cs typeface="Arial MT"/>
                </a:rPr>
                <a:t>6</a:t>
              </a:r>
              <a:r>
                <a:rPr sz="1324" spc="205" baseline="19444" dirty="0">
                  <a:latin typeface="Arial MT"/>
                  <a:cs typeface="Arial MT"/>
                </a:rPr>
                <a:t> </a:t>
              </a:r>
              <a:r>
                <a:rPr sz="1103" dirty="0">
                  <a:latin typeface="Arial MT"/>
                  <a:cs typeface="Arial MT"/>
                </a:rPr>
                <a:t>atoms</a:t>
              </a:r>
              <a:r>
                <a:rPr sz="1103" spc="88" dirty="0">
                  <a:latin typeface="Arial MT"/>
                  <a:cs typeface="Arial MT"/>
                </a:rPr>
                <a:t> </a:t>
              </a:r>
              <a:r>
                <a:rPr sz="1103" dirty="0">
                  <a:latin typeface="Arial MT"/>
                  <a:cs typeface="Arial MT"/>
                </a:rPr>
                <a:t>of</a:t>
              </a:r>
              <a:r>
                <a:rPr sz="1103" spc="101" dirty="0">
                  <a:latin typeface="Arial MT"/>
                  <a:cs typeface="Arial MT"/>
                </a:rPr>
                <a:t> </a:t>
              </a:r>
              <a:r>
                <a:rPr sz="1103" spc="-22" dirty="0">
                  <a:latin typeface="Arial MT"/>
                  <a:cs typeface="Arial MT"/>
                </a:rPr>
                <a:t>Si</a:t>
              </a:r>
              <a:endParaRPr sz="1103">
                <a:latin typeface="Arial MT"/>
                <a:cs typeface="Arial MT"/>
              </a:endParaRPr>
            </a:p>
          </p:txBody>
        </p:sp>
        <p:sp>
          <p:nvSpPr>
            <p:cNvPr id="309" name="object 309"/>
            <p:cNvSpPr txBox="1"/>
            <p:nvPr/>
          </p:nvSpPr>
          <p:spPr>
            <a:xfrm>
              <a:off x="5862402" y="4649781"/>
              <a:ext cx="1463040" cy="209669"/>
            </a:xfrm>
            <a:prstGeom prst="rect">
              <a:avLst/>
            </a:prstGeom>
          </p:spPr>
          <p:txBody>
            <a:bodyPr vert="horz" wrap="square" lIns="0" tIns="15128" rIns="0" bIns="0" rtlCol="0">
              <a:spAutoFit/>
            </a:bodyPr>
            <a:lstStyle/>
            <a:p>
              <a:pPr marL="11206">
                <a:spcBef>
                  <a:spcPts val="119"/>
                </a:spcBef>
              </a:pPr>
              <a:r>
                <a:rPr sz="1103" i="1" dirty="0">
                  <a:latin typeface="Arial"/>
                  <a:cs typeface="Arial"/>
                </a:rPr>
                <a:t>Cosmic</a:t>
              </a:r>
              <a:r>
                <a:rPr sz="1103" i="1" spc="180" dirty="0">
                  <a:latin typeface="Arial"/>
                  <a:cs typeface="Arial"/>
                </a:rPr>
                <a:t> </a:t>
              </a:r>
              <a:r>
                <a:rPr sz="1103" i="1" spc="-9" dirty="0">
                  <a:latin typeface="Arial"/>
                  <a:cs typeface="Arial"/>
                </a:rPr>
                <a:t>Abundance</a:t>
              </a:r>
              <a:endParaRPr sz="1103">
                <a:latin typeface="Arial"/>
                <a:cs typeface="Arial"/>
              </a:endParaRPr>
            </a:p>
          </p:txBody>
        </p:sp>
        <p:sp>
          <p:nvSpPr>
            <p:cNvPr id="310" name="object 310"/>
            <p:cNvSpPr txBox="1"/>
            <p:nvPr/>
          </p:nvSpPr>
          <p:spPr>
            <a:xfrm>
              <a:off x="8716981" y="4482858"/>
              <a:ext cx="164465" cy="1967573"/>
            </a:xfrm>
            <a:prstGeom prst="rect">
              <a:avLst/>
            </a:prstGeom>
          </p:spPr>
          <p:txBody>
            <a:bodyPr vert="horz" wrap="square" lIns="0" tIns="10646" rIns="0" bIns="0" rtlCol="0">
              <a:spAutoFit/>
            </a:bodyPr>
            <a:lstStyle/>
            <a:p>
              <a:pPr marL="12887">
                <a:lnSpc>
                  <a:spcPts val="1178"/>
                </a:lnSpc>
                <a:spcBef>
                  <a:spcPts val="84"/>
                </a:spcBef>
              </a:pPr>
              <a:r>
                <a:rPr sz="1015" spc="-44" dirty="0">
                  <a:latin typeface="Arial MT"/>
                  <a:cs typeface="Arial MT"/>
                </a:rPr>
                <a:t>7</a:t>
              </a:r>
              <a:endParaRPr sz="1015">
                <a:latin typeface="Arial MT"/>
                <a:cs typeface="Arial MT"/>
              </a:endParaRPr>
            </a:p>
            <a:p>
              <a:pPr marL="12327">
                <a:lnSpc>
                  <a:spcPts val="1178"/>
                </a:lnSpc>
              </a:pPr>
              <a:r>
                <a:rPr sz="1015" spc="-44" dirty="0">
                  <a:latin typeface="Arial MT"/>
                  <a:cs typeface="Arial MT"/>
                </a:rPr>
                <a:t>6</a:t>
              </a:r>
              <a:endParaRPr sz="1015">
                <a:latin typeface="Arial MT"/>
                <a:cs typeface="Arial MT"/>
              </a:endParaRPr>
            </a:p>
            <a:p>
              <a:pPr marL="11206">
                <a:spcBef>
                  <a:spcPts val="53"/>
                </a:spcBef>
              </a:pPr>
              <a:r>
                <a:rPr sz="1015" spc="-44" dirty="0">
                  <a:latin typeface="Arial MT"/>
                  <a:cs typeface="Arial MT"/>
                </a:rPr>
                <a:t>5</a:t>
              </a:r>
              <a:endParaRPr sz="1015">
                <a:latin typeface="Arial MT"/>
                <a:cs typeface="Arial MT"/>
              </a:endParaRPr>
            </a:p>
            <a:p>
              <a:pPr marL="13448">
                <a:lnSpc>
                  <a:spcPts val="1178"/>
                </a:lnSpc>
                <a:spcBef>
                  <a:spcPts val="53"/>
                </a:spcBef>
              </a:pPr>
              <a:r>
                <a:rPr sz="1015" spc="-44" dirty="0">
                  <a:latin typeface="Arial MT"/>
                  <a:cs typeface="Arial MT"/>
                </a:rPr>
                <a:t>4</a:t>
              </a:r>
              <a:endParaRPr sz="1015">
                <a:latin typeface="Arial MT"/>
                <a:cs typeface="Arial MT"/>
              </a:endParaRPr>
            </a:p>
            <a:p>
              <a:pPr marL="12887">
                <a:lnSpc>
                  <a:spcPts val="1143"/>
                </a:lnSpc>
              </a:pPr>
              <a:r>
                <a:rPr sz="1015" spc="-44" dirty="0">
                  <a:latin typeface="Arial MT"/>
                  <a:cs typeface="Arial MT"/>
                </a:rPr>
                <a:t>3</a:t>
              </a:r>
              <a:endParaRPr sz="1015">
                <a:latin typeface="Arial MT"/>
                <a:cs typeface="Arial MT"/>
              </a:endParaRPr>
            </a:p>
            <a:p>
              <a:pPr marL="12327">
                <a:lnSpc>
                  <a:spcPts val="1178"/>
                </a:lnSpc>
              </a:pPr>
              <a:r>
                <a:rPr sz="1015" spc="-44" dirty="0">
                  <a:latin typeface="Arial MT"/>
                  <a:cs typeface="Arial MT"/>
                </a:rPr>
                <a:t>2</a:t>
              </a:r>
              <a:endParaRPr sz="1015">
                <a:latin typeface="Arial MT"/>
                <a:cs typeface="Arial MT"/>
              </a:endParaRPr>
            </a:p>
            <a:p>
              <a:pPr marL="14568">
                <a:spcBef>
                  <a:spcPts val="49"/>
                </a:spcBef>
              </a:pPr>
              <a:r>
                <a:rPr sz="1015" spc="-44" dirty="0">
                  <a:latin typeface="Arial MT"/>
                  <a:cs typeface="Arial MT"/>
                </a:rPr>
                <a:t>1</a:t>
              </a:r>
              <a:endParaRPr sz="1015">
                <a:latin typeface="Arial MT"/>
                <a:cs typeface="Arial MT"/>
              </a:endParaRPr>
            </a:p>
            <a:p>
              <a:pPr marL="13448">
                <a:lnSpc>
                  <a:spcPts val="1187"/>
                </a:lnSpc>
                <a:spcBef>
                  <a:spcPts val="53"/>
                </a:spcBef>
              </a:pPr>
              <a:r>
                <a:rPr sz="1015" spc="-44" dirty="0">
                  <a:latin typeface="Arial MT"/>
                  <a:cs typeface="Arial MT"/>
                </a:rPr>
                <a:t>0</a:t>
              </a:r>
              <a:endParaRPr sz="1015">
                <a:latin typeface="Arial MT"/>
                <a:cs typeface="Arial MT"/>
              </a:endParaRPr>
            </a:p>
            <a:p>
              <a:pPr marL="11206">
                <a:lnSpc>
                  <a:spcPts val="1152"/>
                </a:lnSpc>
              </a:pPr>
              <a:r>
                <a:rPr sz="1015" dirty="0">
                  <a:latin typeface="Arial MT"/>
                  <a:cs typeface="Arial MT"/>
                </a:rPr>
                <a:t>-</a:t>
              </a:r>
              <a:r>
                <a:rPr sz="1015" spc="-44" dirty="0">
                  <a:latin typeface="Arial MT"/>
                  <a:cs typeface="Arial MT"/>
                </a:rPr>
                <a:t>1</a:t>
              </a:r>
              <a:endParaRPr sz="1015">
                <a:latin typeface="Arial MT"/>
                <a:cs typeface="Arial MT"/>
              </a:endParaRPr>
            </a:p>
            <a:p>
              <a:pPr marL="14008">
                <a:lnSpc>
                  <a:spcPts val="1178"/>
                </a:lnSpc>
              </a:pPr>
              <a:r>
                <a:rPr sz="1015" spc="-9" dirty="0">
                  <a:latin typeface="Arial MT"/>
                  <a:cs typeface="Arial MT"/>
                </a:rPr>
                <a:t>-</a:t>
              </a:r>
              <a:r>
                <a:rPr sz="1015" spc="-44" dirty="0">
                  <a:latin typeface="Arial MT"/>
                  <a:cs typeface="Arial MT"/>
                </a:rPr>
                <a:t>2</a:t>
              </a:r>
              <a:endParaRPr sz="1015">
                <a:latin typeface="Arial MT"/>
                <a:cs typeface="Arial MT"/>
              </a:endParaRPr>
            </a:p>
            <a:p>
              <a:pPr marL="12887">
                <a:spcBef>
                  <a:spcPts val="49"/>
                </a:spcBef>
              </a:pPr>
              <a:r>
                <a:rPr sz="1015" spc="-9" dirty="0">
                  <a:latin typeface="Arial MT"/>
                  <a:cs typeface="Arial MT"/>
                </a:rPr>
                <a:t>-</a:t>
              </a:r>
              <a:r>
                <a:rPr sz="1015" spc="-44" dirty="0">
                  <a:latin typeface="Arial MT"/>
                  <a:cs typeface="Arial MT"/>
                </a:rPr>
                <a:t>3</a:t>
              </a:r>
              <a:endParaRPr sz="1015">
                <a:latin typeface="Arial MT"/>
                <a:cs typeface="Arial MT"/>
              </a:endParaRPr>
            </a:p>
          </p:txBody>
        </p:sp>
        <p:sp>
          <p:nvSpPr>
            <p:cNvPr id="311" name="object 311"/>
            <p:cNvSpPr txBox="1"/>
            <p:nvPr/>
          </p:nvSpPr>
          <p:spPr>
            <a:xfrm>
              <a:off x="8097566" y="5687235"/>
              <a:ext cx="16129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Th</a:t>
              </a:r>
              <a:endParaRPr sz="750">
                <a:latin typeface="Arial MT"/>
                <a:cs typeface="Arial MT"/>
              </a:endParaRPr>
            </a:p>
          </p:txBody>
        </p:sp>
        <p:sp>
          <p:nvSpPr>
            <p:cNvPr id="312" name="object 312"/>
            <p:cNvSpPr txBox="1"/>
            <p:nvPr/>
          </p:nvSpPr>
          <p:spPr>
            <a:xfrm>
              <a:off x="8352710" y="5800951"/>
              <a:ext cx="105410"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U</a:t>
              </a:r>
              <a:endParaRPr sz="750">
                <a:latin typeface="Arial MT"/>
                <a:cs typeface="Arial MT"/>
              </a:endParaRPr>
            </a:p>
          </p:txBody>
        </p:sp>
        <p:sp>
          <p:nvSpPr>
            <p:cNvPr id="313" name="object 313"/>
            <p:cNvSpPr txBox="1"/>
            <p:nvPr/>
          </p:nvSpPr>
          <p:spPr>
            <a:xfrm>
              <a:off x="7664788" y="5658474"/>
              <a:ext cx="16383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Pb</a:t>
              </a:r>
              <a:endParaRPr sz="750">
                <a:latin typeface="Arial MT"/>
                <a:cs typeface="Arial MT"/>
              </a:endParaRPr>
            </a:p>
          </p:txBody>
        </p:sp>
        <p:sp>
          <p:nvSpPr>
            <p:cNvPr id="314" name="object 314"/>
            <p:cNvSpPr txBox="1"/>
            <p:nvPr/>
          </p:nvSpPr>
          <p:spPr>
            <a:xfrm>
              <a:off x="3899653" y="5971161"/>
              <a:ext cx="16383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Se</a:t>
              </a:r>
              <a:endParaRPr sz="750">
                <a:latin typeface="Arial MT"/>
                <a:cs typeface="Arial MT"/>
              </a:endParaRPr>
            </a:p>
          </p:txBody>
        </p:sp>
        <p:sp>
          <p:nvSpPr>
            <p:cNvPr id="315" name="object 315"/>
            <p:cNvSpPr txBox="1"/>
            <p:nvPr/>
          </p:nvSpPr>
          <p:spPr>
            <a:xfrm>
              <a:off x="1901575" y="5058083"/>
              <a:ext cx="105410"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C</a:t>
              </a:r>
              <a:endParaRPr sz="750">
                <a:latin typeface="Arial MT"/>
                <a:cs typeface="Arial MT"/>
              </a:endParaRPr>
            </a:p>
          </p:txBody>
        </p:sp>
        <p:sp>
          <p:nvSpPr>
            <p:cNvPr id="316" name="object 316"/>
            <p:cNvSpPr txBox="1"/>
            <p:nvPr/>
          </p:nvSpPr>
          <p:spPr>
            <a:xfrm>
              <a:off x="2181424" y="4607968"/>
              <a:ext cx="111760"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O</a:t>
              </a:r>
              <a:endParaRPr sz="750">
                <a:latin typeface="Arial MT"/>
                <a:cs typeface="Arial MT"/>
              </a:endParaRPr>
            </a:p>
          </p:txBody>
        </p:sp>
        <p:sp>
          <p:nvSpPr>
            <p:cNvPr id="317" name="object 317"/>
            <p:cNvSpPr txBox="1"/>
            <p:nvPr/>
          </p:nvSpPr>
          <p:spPr>
            <a:xfrm>
              <a:off x="2546483" y="4615780"/>
              <a:ext cx="12700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Si</a:t>
              </a:r>
              <a:endParaRPr sz="750">
                <a:latin typeface="Arial MT"/>
                <a:cs typeface="Arial MT"/>
              </a:endParaRPr>
            </a:p>
          </p:txBody>
        </p:sp>
        <p:sp>
          <p:nvSpPr>
            <p:cNvPr id="318" name="object 318"/>
            <p:cNvSpPr txBox="1"/>
            <p:nvPr/>
          </p:nvSpPr>
          <p:spPr>
            <a:xfrm>
              <a:off x="2976609" y="4771151"/>
              <a:ext cx="16700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Ca</a:t>
              </a:r>
              <a:endParaRPr sz="750">
                <a:latin typeface="Arial MT"/>
                <a:cs typeface="Arial MT"/>
              </a:endParaRPr>
            </a:p>
          </p:txBody>
        </p:sp>
        <p:sp>
          <p:nvSpPr>
            <p:cNvPr id="319" name="object 319"/>
            <p:cNvSpPr txBox="1"/>
            <p:nvPr/>
          </p:nvSpPr>
          <p:spPr>
            <a:xfrm>
              <a:off x="3384803" y="4767947"/>
              <a:ext cx="15494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Fe</a:t>
              </a:r>
              <a:endParaRPr sz="750">
                <a:latin typeface="Arial MT"/>
                <a:cs typeface="Arial MT"/>
              </a:endParaRPr>
            </a:p>
          </p:txBody>
        </p:sp>
        <p:sp>
          <p:nvSpPr>
            <p:cNvPr id="320" name="object 320"/>
            <p:cNvSpPr txBox="1"/>
            <p:nvPr/>
          </p:nvSpPr>
          <p:spPr>
            <a:xfrm>
              <a:off x="3142234" y="4936411"/>
              <a:ext cx="11747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Ti</a:t>
              </a:r>
              <a:endParaRPr sz="750">
                <a:latin typeface="Arial MT"/>
                <a:cs typeface="Arial MT"/>
              </a:endParaRPr>
            </a:p>
          </p:txBody>
        </p:sp>
        <p:sp>
          <p:nvSpPr>
            <p:cNvPr id="321" name="object 321"/>
            <p:cNvSpPr txBox="1"/>
            <p:nvPr/>
          </p:nvSpPr>
          <p:spPr>
            <a:xfrm>
              <a:off x="3773166" y="5281173"/>
              <a:ext cx="15494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Zn</a:t>
              </a:r>
              <a:endParaRPr sz="750">
                <a:latin typeface="Arial MT"/>
                <a:cs typeface="Arial MT"/>
              </a:endParaRPr>
            </a:p>
          </p:txBody>
        </p:sp>
        <p:sp>
          <p:nvSpPr>
            <p:cNvPr id="322" name="object 322"/>
            <p:cNvSpPr txBox="1"/>
            <p:nvPr/>
          </p:nvSpPr>
          <p:spPr>
            <a:xfrm>
              <a:off x="5178752" y="5545774"/>
              <a:ext cx="16383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Sn</a:t>
              </a:r>
              <a:endParaRPr sz="750">
                <a:latin typeface="Arial MT"/>
                <a:cs typeface="Arial MT"/>
              </a:endParaRPr>
            </a:p>
          </p:txBody>
        </p:sp>
        <p:sp>
          <p:nvSpPr>
            <p:cNvPr id="323" name="object 323"/>
            <p:cNvSpPr txBox="1"/>
            <p:nvPr/>
          </p:nvSpPr>
          <p:spPr>
            <a:xfrm>
              <a:off x="5513172" y="5251132"/>
              <a:ext cx="16065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Ba</a:t>
              </a:r>
              <a:endParaRPr sz="750">
                <a:latin typeface="Arial MT"/>
                <a:cs typeface="Arial MT"/>
              </a:endParaRPr>
            </a:p>
          </p:txBody>
        </p:sp>
        <p:sp>
          <p:nvSpPr>
            <p:cNvPr id="324" name="object 324"/>
            <p:cNvSpPr txBox="1"/>
            <p:nvPr/>
          </p:nvSpPr>
          <p:spPr>
            <a:xfrm>
              <a:off x="5934250" y="5391563"/>
              <a:ext cx="16700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Nd</a:t>
              </a:r>
              <a:endParaRPr sz="750">
                <a:latin typeface="Arial MT"/>
                <a:cs typeface="Arial MT"/>
              </a:endParaRPr>
            </a:p>
          </p:txBody>
        </p:sp>
        <p:sp>
          <p:nvSpPr>
            <p:cNvPr id="325" name="object 325"/>
            <p:cNvSpPr txBox="1"/>
            <p:nvPr/>
          </p:nvSpPr>
          <p:spPr>
            <a:xfrm>
              <a:off x="1679490" y="4864736"/>
              <a:ext cx="105410"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H</a:t>
              </a:r>
              <a:endParaRPr sz="750">
                <a:latin typeface="Arial MT"/>
                <a:cs typeface="Arial MT"/>
              </a:endParaRPr>
            </a:p>
          </p:txBody>
        </p:sp>
        <p:sp>
          <p:nvSpPr>
            <p:cNvPr id="326" name="object 326"/>
            <p:cNvSpPr txBox="1"/>
            <p:nvPr/>
          </p:nvSpPr>
          <p:spPr>
            <a:xfrm>
              <a:off x="1789659" y="5565662"/>
              <a:ext cx="16383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Be</a:t>
              </a:r>
              <a:endParaRPr sz="750">
                <a:latin typeface="Arial MT"/>
                <a:cs typeface="Arial MT"/>
              </a:endParaRPr>
            </a:p>
          </p:txBody>
        </p:sp>
        <p:sp>
          <p:nvSpPr>
            <p:cNvPr id="327" name="object 327"/>
            <p:cNvSpPr txBox="1"/>
            <p:nvPr/>
          </p:nvSpPr>
          <p:spPr>
            <a:xfrm>
              <a:off x="2640278" y="5260556"/>
              <a:ext cx="99695"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S</a:t>
              </a:r>
              <a:endParaRPr sz="750">
                <a:latin typeface="Arial MT"/>
                <a:cs typeface="Arial MT"/>
              </a:endParaRPr>
            </a:p>
          </p:txBody>
        </p:sp>
        <p:sp>
          <p:nvSpPr>
            <p:cNvPr id="328" name="object 328"/>
            <p:cNvSpPr txBox="1"/>
            <p:nvPr/>
          </p:nvSpPr>
          <p:spPr>
            <a:xfrm>
              <a:off x="4476932" y="5714791"/>
              <a:ext cx="18097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Mo</a:t>
              </a:r>
              <a:endParaRPr sz="750">
                <a:latin typeface="Arial MT"/>
                <a:cs typeface="Arial MT"/>
              </a:endParaRPr>
            </a:p>
          </p:txBody>
        </p:sp>
        <p:sp>
          <p:nvSpPr>
            <p:cNvPr id="329" name="object 329"/>
            <p:cNvSpPr txBox="1"/>
            <p:nvPr/>
          </p:nvSpPr>
          <p:spPr>
            <a:xfrm>
              <a:off x="7197779" y="6145371"/>
              <a:ext cx="455930" cy="146194"/>
            </a:xfrm>
            <a:prstGeom prst="rect">
              <a:avLst/>
            </a:prstGeom>
          </p:spPr>
          <p:txBody>
            <a:bodyPr vert="horz" wrap="square" lIns="0" tIns="13447" rIns="0" bIns="0" rtlCol="0">
              <a:spAutoFit/>
            </a:bodyPr>
            <a:lstStyle/>
            <a:p>
              <a:pPr marL="11206">
                <a:spcBef>
                  <a:spcPts val="106"/>
                </a:spcBef>
                <a:tabLst>
                  <a:tab pos="266154" algn="l"/>
                </a:tabLst>
              </a:pPr>
              <a:r>
                <a:rPr sz="750" spc="-22" dirty="0">
                  <a:latin typeface="Arial MT"/>
                  <a:cs typeface="Arial MT"/>
                </a:rPr>
                <a:t>Au</a:t>
              </a:r>
              <a:r>
                <a:rPr sz="750" dirty="0">
                  <a:latin typeface="Arial MT"/>
                  <a:cs typeface="Arial MT"/>
                </a:rPr>
                <a:t>	</a:t>
              </a:r>
              <a:r>
                <a:rPr sz="1125" spc="-33" baseline="3267" dirty="0">
                  <a:latin typeface="Arial MT"/>
                  <a:cs typeface="Arial MT"/>
                </a:rPr>
                <a:t>Hg</a:t>
              </a:r>
              <a:endParaRPr sz="1125" baseline="3267">
                <a:latin typeface="Arial MT"/>
                <a:cs typeface="Arial MT"/>
              </a:endParaRPr>
            </a:p>
          </p:txBody>
        </p:sp>
        <p:grpSp>
          <p:nvGrpSpPr>
            <p:cNvPr id="330" name="object 330"/>
            <p:cNvGrpSpPr/>
            <p:nvPr/>
          </p:nvGrpSpPr>
          <p:grpSpPr>
            <a:xfrm>
              <a:off x="3336823" y="3950804"/>
              <a:ext cx="4875530" cy="1521460"/>
              <a:chOff x="3336823" y="3950804"/>
              <a:chExt cx="4875530" cy="1521460"/>
            </a:xfrm>
          </p:grpSpPr>
          <p:pic>
            <p:nvPicPr>
              <p:cNvPr id="331" name="object 331"/>
              <p:cNvPicPr/>
              <p:nvPr/>
            </p:nvPicPr>
            <p:blipFill>
              <a:blip r:embed="rId29" cstate="print"/>
              <a:stretch>
                <a:fillRect/>
              </a:stretch>
            </p:blipFill>
            <p:spPr>
              <a:xfrm>
                <a:off x="3628517" y="4278185"/>
                <a:ext cx="4597" cy="1127175"/>
              </a:xfrm>
              <a:prstGeom prst="rect">
                <a:avLst/>
              </a:prstGeom>
            </p:spPr>
          </p:pic>
          <p:pic>
            <p:nvPicPr>
              <p:cNvPr id="332" name="object 332"/>
              <p:cNvPicPr/>
              <p:nvPr/>
            </p:nvPicPr>
            <p:blipFill>
              <a:blip r:embed="rId30" cstate="print"/>
              <a:stretch>
                <a:fillRect/>
              </a:stretch>
            </p:blipFill>
            <p:spPr>
              <a:xfrm>
                <a:off x="3336823" y="4366577"/>
                <a:ext cx="9016" cy="1012266"/>
              </a:xfrm>
              <a:prstGeom prst="rect">
                <a:avLst/>
              </a:prstGeom>
            </p:spPr>
          </p:pic>
          <p:pic>
            <p:nvPicPr>
              <p:cNvPr id="333" name="object 333"/>
              <p:cNvPicPr/>
              <p:nvPr/>
            </p:nvPicPr>
            <p:blipFill>
              <a:blip r:embed="rId31" cstate="print"/>
              <a:stretch>
                <a:fillRect/>
              </a:stretch>
            </p:blipFill>
            <p:spPr>
              <a:xfrm>
                <a:off x="3562223" y="4454969"/>
                <a:ext cx="4597" cy="1016685"/>
              </a:xfrm>
              <a:prstGeom prst="rect">
                <a:avLst/>
              </a:prstGeom>
            </p:spPr>
          </p:pic>
          <p:sp>
            <p:nvSpPr>
              <p:cNvPr id="334" name="object 334"/>
              <p:cNvSpPr/>
              <p:nvPr/>
            </p:nvSpPr>
            <p:spPr>
              <a:xfrm>
                <a:off x="8169833" y="3953344"/>
                <a:ext cx="40005" cy="35560"/>
              </a:xfrm>
              <a:custGeom>
                <a:avLst/>
                <a:gdLst/>
                <a:ahLst/>
                <a:cxnLst/>
                <a:rect l="l" t="t" r="r" b="b"/>
                <a:pathLst>
                  <a:path w="40004" h="35560">
                    <a:moveTo>
                      <a:pt x="39776" y="0"/>
                    </a:moveTo>
                    <a:lnTo>
                      <a:pt x="39776" y="35356"/>
                    </a:lnTo>
                    <a:lnTo>
                      <a:pt x="0" y="35356"/>
                    </a:lnTo>
                    <a:lnTo>
                      <a:pt x="0" y="0"/>
                    </a:lnTo>
                    <a:lnTo>
                      <a:pt x="39776" y="0"/>
                    </a:lnTo>
                    <a:close/>
                  </a:path>
                </a:pathLst>
              </a:custGeom>
              <a:ln w="4597">
                <a:solidFill>
                  <a:srgbClr val="000000"/>
                </a:solidFill>
              </a:ln>
            </p:spPr>
            <p:txBody>
              <a:bodyPr wrap="square" lIns="0" tIns="0" rIns="0" bIns="0" rtlCol="0"/>
              <a:lstStyle/>
              <a:p>
                <a:endParaRPr/>
              </a:p>
            </p:txBody>
          </p:sp>
          <p:sp>
            <p:nvSpPr>
              <p:cNvPr id="335" name="object 335"/>
              <p:cNvSpPr/>
              <p:nvPr/>
            </p:nvSpPr>
            <p:spPr>
              <a:xfrm>
                <a:off x="8167039" y="4671822"/>
                <a:ext cx="40005" cy="44450"/>
              </a:xfrm>
              <a:custGeom>
                <a:avLst/>
                <a:gdLst/>
                <a:ahLst/>
                <a:cxnLst/>
                <a:rect l="l" t="t" r="r" b="b"/>
                <a:pathLst>
                  <a:path w="40004" h="44450">
                    <a:moveTo>
                      <a:pt x="39776" y="22098"/>
                    </a:moveTo>
                    <a:lnTo>
                      <a:pt x="38211" y="13501"/>
                    </a:lnTo>
                    <a:lnTo>
                      <a:pt x="33947" y="6476"/>
                    </a:lnTo>
                    <a:lnTo>
                      <a:pt x="27624" y="1738"/>
                    </a:lnTo>
                    <a:lnTo>
                      <a:pt x="19888" y="0"/>
                    </a:lnTo>
                    <a:lnTo>
                      <a:pt x="12151" y="1738"/>
                    </a:lnTo>
                    <a:lnTo>
                      <a:pt x="5829" y="6476"/>
                    </a:lnTo>
                    <a:lnTo>
                      <a:pt x="1564" y="13501"/>
                    </a:lnTo>
                    <a:lnTo>
                      <a:pt x="0" y="22098"/>
                    </a:lnTo>
                    <a:lnTo>
                      <a:pt x="1564" y="30694"/>
                    </a:lnTo>
                    <a:lnTo>
                      <a:pt x="5829" y="37718"/>
                    </a:lnTo>
                    <a:lnTo>
                      <a:pt x="12151" y="42457"/>
                    </a:lnTo>
                    <a:lnTo>
                      <a:pt x="19888" y="44195"/>
                    </a:lnTo>
                    <a:lnTo>
                      <a:pt x="27624" y="42457"/>
                    </a:lnTo>
                    <a:lnTo>
                      <a:pt x="33947" y="37718"/>
                    </a:lnTo>
                    <a:lnTo>
                      <a:pt x="38211" y="30694"/>
                    </a:lnTo>
                    <a:lnTo>
                      <a:pt x="39776" y="22098"/>
                    </a:lnTo>
                    <a:close/>
                  </a:path>
                </a:pathLst>
              </a:custGeom>
              <a:solidFill>
                <a:srgbClr val="000000"/>
              </a:solidFill>
            </p:spPr>
            <p:txBody>
              <a:bodyPr wrap="square" lIns="0" tIns="0" rIns="0" bIns="0" rtlCol="0"/>
              <a:lstStyle/>
              <a:p>
                <a:endParaRPr/>
              </a:p>
            </p:txBody>
          </p:sp>
          <p:sp>
            <p:nvSpPr>
              <p:cNvPr id="336" name="object 336"/>
              <p:cNvSpPr/>
              <p:nvPr/>
            </p:nvSpPr>
            <p:spPr>
              <a:xfrm>
                <a:off x="8170011" y="4673269"/>
                <a:ext cx="35560" cy="40005"/>
              </a:xfrm>
              <a:custGeom>
                <a:avLst/>
                <a:gdLst/>
                <a:ahLst/>
                <a:cxnLst/>
                <a:rect l="l" t="t" r="r" b="b"/>
                <a:pathLst>
                  <a:path w="35559" h="40004">
                    <a:moveTo>
                      <a:pt x="17678" y="39776"/>
                    </a:moveTo>
                    <a:lnTo>
                      <a:pt x="10801" y="38211"/>
                    </a:lnTo>
                    <a:lnTo>
                      <a:pt x="5181" y="33947"/>
                    </a:lnTo>
                    <a:lnTo>
                      <a:pt x="1390" y="27624"/>
                    </a:lnTo>
                    <a:lnTo>
                      <a:pt x="0" y="19888"/>
                    </a:lnTo>
                    <a:lnTo>
                      <a:pt x="1390" y="12151"/>
                    </a:lnTo>
                    <a:lnTo>
                      <a:pt x="5181" y="5829"/>
                    </a:lnTo>
                    <a:lnTo>
                      <a:pt x="10801" y="1564"/>
                    </a:lnTo>
                    <a:lnTo>
                      <a:pt x="17678" y="0"/>
                    </a:lnTo>
                    <a:lnTo>
                      <a:pt x="24555" y="1564"/>
                    </a:lnTo>
                    <a:lnTo>
                      <a:pt x="30175" y="5829"/>
                    </a:lnTo>
                    <a:lnTo>
                      <a:pt x="33966" y="12151"/>
                    </a:lnTo>
                    <a:lnTo>
                      <a:pt x="35356" y="19888"/>
                    </a:lnTo>
                    <a:lnTo>
                      <a:pt x="33966" y="27624"/>
                    </a:lnTo>
                    <a:lnTo>
                      <a:pt x="30175" y="33947"/>
                    </a:lnTo>
                    <a:lnTo>
                      <a:pt x="24555" y="38211"/>
                    </a:lnTo>
                    <a:lnTo>
                      <a:pt x="17678" y="39776"/>
                    </a:lnTo>
                    <a:close/>
                  </a:path>
                </a:pathLst>
              </a:custGeom>
              <a:ln w="4597">
                <a:solidFill>
                  <a:srgbClr val="000000"/>
                </a:solidFill>
              </a:ln>
            </p:spPr>
            <p:txBody>
              <a:bodyPr wrap="square" lIns="0" tIns="0" rIns="0" bIns="0" rtlCol="0"/>
              <a:lstStyle/>
              <a:p>
                <a:endParaRPr/>
              </a:p>
            </p:txBody>
          </p:sp>
          <p:pic>
            <p:nvPicPr>
              <p:cNvPr id="337" name="object 337"/>
              <p:cNvPicPr/>
              <p:nvPr/>
            </p:nvPicPr>
            <p:blipFill>
              <a:blip r:embed="rId32" cstate="print"/>
              <a:stretch>
                <a:fillRect/>
              </a:stretch>
            </p:blipFill>
            <p:spPr>
              <a:xfrm>
                <a:off x="8180704" y="4013009"/>
                <a:ext cx="4597" cy="645439"/>
              </a:xfrm>
              <a:prstGeom prst="rect">
                <a:avLst/>
              </a:prstGeom>
            </p:spPr>
          </p:pic>
          <p:sp>
            <p:nvSpPr>
              <p:cNvPr id="338" name="object 338"/>
              <p:cNvSpPr/>
              <p:nvPr/>
            </p:nvSpPr>
            <p:spPr>
              <a:xfrm>
                <a:off x="8061553" y="4021848"/>
                <a:ext cx="93345" cy="309880"/>
              </a:xfrm>
              <a:custGeom>
                <a:avLst/>
                <a:gdLst/>
                <a:ahLst/>
                <a:cxnLst/>
                <a:rect l="l" t="t" r="r" b="b"/>
                <a:pathLst>
                  <a:path w="93345" h="309879">
                    <a:moveTo>
                      <a:pt x="92811" y="0"/>
                    </a:moveTo>
                    <a:lnTo>
                      <a:pt x="73821" y="17264"/>
                    </a:lnTo>
                    <a:lnTo>
                      <a:pt x="56902" y="32042"/>
                    </a:lnTo>
                    <a:lnTo>
                      <a:pt x="42469" y="48477"/>
                    </a:lnTo>
                    <a:lnTo>
                      <a:pt x="30937" y="70713"/>
                    </a:lnTo>
                    <a:lnTo>
                      <a:pt x="19542" y="111871"/>
                    </a:lnTo>
                    <a:lnTo>
                      <a:pt x="19335" y="151371"/>
                    </a:lnTo>
                    <a:lnTo>
                      <a:pt x="21614" y="192528"/>
                    </a:lnTo>
                    <a:lnTo>
                      <a:pt x="17678" y="238658"/>
                    </a:lnTo>
                    <a:lnTo>
                      <a:pt x="13673" y="257165"/>
                    </a:lnTo>
                    <a:lnTo>
                      <a:pt x="8839" y="274015"/>
                    </a:lnTo>
                    <a:lnTo>
                      <a:pt x="4005" y="290864"/>
                    </a:lnTo>
                    <a:lnTo>
                      <a:pt x="0" y="309372"/>
                    </a:lnTo>
                  </a:path>
                </a:pathLst>
              </a:custGeom>
              <a:ln w="3175">
                <a:solidFill>
                  <a:srgbClr val="000000"/>
                </a:solidFill>
              </a:ln>
            </p:spPr>
            <p:txBody>
              <a:bodyPr wrap="square" lIns="0" tIns="0" rIns="0" bIns="0" rtlCol="0"/>
              <a:lstStyle/>
              <a:p>
                <a:endParaRPr/>
              </a:p>
            </p:txBody>
          </p:sp>
          <p:sp>
            <p:nvSpPr>
              <p:cNvPr id="339" name="object 339"/>
              <p:cNvSpPr/>
              <p:nvPr/>
            </p:nvSpPr>
            <p:spPr>
              <a:xfrm>
                <a:off x="8057134" y="4335640"/>
                <a:ext cx="93345" cy="309880"/>
              </a:xfrm>
              <a:custGeom>
                <a:avLst/>
                <a:gdLst/>
                <a:ahLst/>
                <a:cxnLst/>
                <a:rect l="l" t="t" r="r" b="b"/>
                <a:pathLst>
                  <a:path w="93345" h="309879">
                    <a:moveTo>
                      <a:pt x="92811" y="309372"/>
                    </a:moveTo>
                    <a:lnTo>
                      <a:pt x="73821" y="292107"/>
                    </a:lnTo>
                    <a:lnTo>
                      <a:pt x="56902" y="277329"/>
                    </a:lnTo>
                    <a:lnTo>
                      <a:pt x="42469" y="260894"/>
                    </a:lnTo>
                    <a:lnTo>
                      <a:pt x="30937" y="238658"/>
                    </a:lnTo>
                    <a:lnTo>
                      <a:pt x="18921" y="197500"/>
                    </a:lnTo>
                    <a:lnTo>
                      <a:pt x="17678" y="158000"/>
                    </a:lnTo>
                    <a:lnTo>
                      <a:pt x="19750" y="116843"/>
                    </a:lnTo>
                    <a:lnTo>
                      <a:pt x="17678" y="70713"/>
                    </a:lnTo>
                    <a:lnTo>
                      <a:pt x="13673" y="52206"/>
                    </a:lnTo>
                    <a:lnTo>
                      <a:pt x="8839" y="35356"/>
                    </a:lnTo>
                    <a:lnTo>
                      <a:pt x="4005" y="18507"/>
                    </a:lnTo>
                    <a:lnTo>
                      <a:pt x="0" y="0"/>
                    </a:lnTo>
                  </a:path>
                </a:pathLst>
              </a:custGeom>
              <a:ln w="3175">
                <a:solidFill>
                  <a:srgbClr val="000000"/>
                </a:solidFill>
              </a:ln>
            </p:spPr>
            <p:txBody>
              <a:bodyPr wrap="square" lIns="0" tIns="0" rIns="0" bIns="0" rtlCol="0"/>
              <a:lstStyle/>
              <a:p>
                <a:endParaRPr/>
              </a:p>
            </p:txBody>
          </p:sp>
        </p:grpSp>
        <p:sp>
          <p:nvSpPr>
            <p:cNvPr id="340" name="object 340"/>
            <p:cNvSpPr txBox="1"/>
            <p:nvPr/>
          </p:nvSpPr>
          <p:spPr>
            <a:xfrm>
              <a:off x="6981992" y="5857950"/>
              <a:ext cx="130175"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W</a:t>
              </a:r>
              <a:endParaRPr sz="750">
                <a:latin typeface="Arial MT"/>
                <a:cs typeface="Arial MT"/>
              </a:endParaRPr>
            </a:p>
          </p:txBody>
        </p:sp>
        <p:sp>
          <p:nvSpPr>
            <p:cNvPr id="341" name="object 341"/>
            <p:cNvSpPr txBox="1"/>
            <p:nvPr/>
          </p:nvSpPr>
          <p:spPr>
            <a:xfrm>
              <a:off x="6166953" y="6042287"/>
              <a:ext cx="866140" cy="209669"/>
            </a:xfrm>
            <a:prstGeom prst="rect">
              <a:avLst/>
            </a:prstGeom>
          </p:spPr>
          <p:txBody>
            <a:bodyPr vert="horz" wrap="square" lIns="0" tIns="15128" rIns="0" bIns="0" rtlCol="0">
              <a:spAutoFit/>
            </a:bodyPr>
            <a:lstStyle/>
            <a:p>
              <a:pPr marL="11206">
                <a:spcBef>
                  <a:spcPts val="119"/>
                </a:spcBef>
              </a:pPr>
              <a:r>
                <a:rPr sz="1103" i="1" spc="-9" dirty="0">
                  <a:latin typeface="Arial"/>
                  <a:cs typeface="Arial"/>
                </a:rPr>
                <a:t>Abundance</a:t>
              </a:r>
              <a:endParaRPr sz="1103">
                <a:latin typeface="Arial"/>
                <a:cs typeface="Arial"/>
              </a:endParaRPr>
            </a:p>
          </p:txBody>
        </p:sp>
        <p:sp>
          <p:nvSpPr>
            <p:cNvPr id="342" name="object 342"/>
            <p:cNvSpPr txBox="1"/>
            <p:nvPr/>
          </p:nvSpPr>
          <p:spPr>
            <a:xfrm>
              <a:off x="6207605" y="5894379"/>
              <a:ext cx="548640" cy="209669"/>
            </a:xfrm>
            <a:prstGeom prst="rect">
              <a:avLst/>
            </a:prstGeom>
          </p:spPr>
          <p:txBody>
            <a:bodyPr vert="horz" wrap="square" lIns="0" tIns="15128" rIns="0" bIns="0" rtlCol="0">
              <a:spAutoFit/>
            </a:bodyPr>
            <a:lstStyle/>
            <a:p>
              <a:pPr marL="11206">
                <a:spcBef>
                  <a:spcPts val="119"/>
                </a:spcBef>
              </a:pPr>
              <a:r>
                <a:rPr sz="1103" i="1" spc="-9" dirty="0">
                  <a:latin typeface="Arial"/>
                  <a:cs typeface="Arial"/>
                </a:rPr>
                <a:t>Crustal</a:t>
              </a:r>
              <a:endParaRPr sz="1103">
                <a:latin typeface="Arial"/>
                <a:cs typeface="Arial"/>
              </a:endParaRPr>
            </a:p>
          </p:txBody>
        </p:sp>
        <p:sp>
          <p:nvSpPr>
            <p:cNvPr id="344" name="object 344"/>
            <p:cNvSpPr txBox="1"/>
            <p:nvPr/>
          </p:nvSpPr>
          <p:spPr>
            <a:xfrm>
              <a:off x="7033854" y="4113836"/>
              <a:ext cx="1026160" cy="475412"/>
            </a:xfrm>
            <a:prstGeom prst="rect">
              <a:avLst/>
            </a:prstGeom>
          </p:spPr>
          <p:txBody>
            <a:bodyPr vert="horz" wrap="square" lIns="0" tIns="31376" rIns="0" bIns="0" rtlCol="0">
              <a:spAutoFit/>
            </a:bodyPr>
            <a:lstStyle/>
            <a:p>
              <a:pPr marL="11206" marR="4483" indent="-13448" algn="ctr">
                <a:lnSpc>
                  <a:spcPct val="84200"/>
                </a:lnSpc>
                <a:spcBef>
                  <a:spcPts val="247"/>
                </a:spcBef>
              </a:pPr>
              <a:r>
                <a:rPr sz="750" dirty="0">
                  <a:latin typeface="Arial MT"/>
                  <a:cs typeface="Arial MT"/>
                </a:rPr>
                <a:t>Notable</a:t>
              </a:r>
              <a:r>
                <a:rPr sz="750" spc="40" dirty="0">
                  <a:latin typeface="Arial MT"/>
                  <a:cs typeface="Arial MT"/>
                </a:rPr>
                <a:t> </a:t>
              </a:r>
              <a:r>
                <a:rPr sz="750" spc="-9" dirty="0">
                  <a:latin typeface="Arial MT"/>
                  <a:cs typeface="Arial MT"/>
                </a:rPr>
                <a:t>crustal </a:t>
              </a:r>
              <a:r>
                <a:rPr sz="750" dirty="0">
                  <a:latin typeface="Arial MT"/>
                  <a:cs typeface="Arial MT"/>
                </a:rPr>
                <a:t>depletion</a:t>
              </a:r>
              <a:r>
                <a:rPr sz="750" spc="22" dirty="0">
                  <a:latin typeface="Arial MT"/>
                  <a:cs typeface="Arial MT"/>
                </a:rPr>
                <a:t> </a:t>
              </a:r>
              <a:r>
                <a:rPr sz="750" dirty="0">
                  <a:latin typeface="Arial MT"/>
                  <a:cs typeface="Arial MT"/>
                </a:rPr>
                <a:t>of</a:t>
              </a:r>
              <a:r>
                <a:rPr sz="750" spc="26" dirty="0">
                  <a:latin typeface="Arial MT"/>
                  <a:cs typeface="Arial MT"/>
                </a:rPr>
                <a:t> </a:t>
              </a:r>
              <a:r>
                <a:rPr sz="750" dirty="0">
                  <a:latin typeface="Arial MT"/>
                  <a:cs typeface="Arial MT"/>
                </a:rPr>
                <a:t>non-</a:t>
              </a:r>
              <a:r>
                <a:rPr sz="750" spc="-22" dirty="0">
                  <a:latin typeface="Arial MT"/>
                  <a:cs typeface="Arial MT"/>
                </a:rPr>
                <a:t>gas </a:t>
              </a:r>
              <a:r>
                <a:rPr sz="750" dirty="0">
                  <a:latin typeface="Arial MT"/>
                  <a:cs typeface="Arial MT"/>
                </a:rPr>
                <a:t>elements</a:t>
              </a:r>
              <a:r>
                <a:rPr sz="750" spc="53" dirty="0">
                  <a:latin typeface="Arial MT"/>
                  <a:cs typeface="Arial MT"/>
                </a:rPr>
                <a:t> </a:t>
              </a:r>
              <a:r>
                <a:rPr sz="750" dirty="0">
                  <a:latin typeface="Arial MT"/>
                  <a:cs typeface="Arial MT"/>
                </a:rPr>
                <a:t>relative</a:t>
              </a:r>
              <a:r>
                <a:rPr sz="750" spc="18" dirty="0">
                  <a:latin typeface="Arial MT"/>
                  <a:cs typeface="Arial MT"/>
                </a:rPr>
                <a:t> </a:t>
              </a:r>
              <a:r>
                <a:rPr sz="750" spc="-22" dirty="0">
                  <a:latin typeface="Arial MT"/>
                  <a:cs typeface="Arial MT"/>
                </a:rPr>
                <a:t>to </a:t>
              </a:r>
              <a:r>
                <a:rPr sz="750" dirty="0">
                  <a:latin typeface="Arial MT"/>
                  <a:cs typeface="Arial MT"/>
                </a:rPr>
                <a:t>cosmic</a:t>
              </a:r>
              <a:r>
                <a:rPr sz="750" spc="49" dirty="0">
                  <a:latin typeface="Arial MT"/>
                  <a:cs typeface="Arial MT"/>
                </a:rPr>
                <a:t> </a:t>
              </a:r>
              <a:r>
                <a:rPr sz="750" spc="-9" dirty="0">
                  <a:latin typeface="Arial MT"/>
                  <a:cs typeface="Arial MT"/>
                </a:rPr>
                <a:t>abundance</a:t>
              </a:r>
              <a:endParaRPr sz="750">
                <a:latin typeface="Arial MT"/>
                <a:cs typeface="Arial MT"/>
              </a:endParaRPr>
            </a:p>
          </p:txBody>
        </p:sp>
        <p:pic>
          <p:nvPicPr>
            <p:cNvPr id="345" name="object 345"/>
            <p:cNvPicPr/>
            <p:nvPr/>
          </p:nvPicPr>
          <p:blipFill>
            <a:blip r:embed="rId33" cstate="print"/>
            <a:stretch>
              <a:fillRect/>
            </a:stretch>
          </p:blipFill>
          <p:spPr>
            <a:xfrm>
              <a:off x="3920210" y="4799698"/>
              <a:ext cx="9016" cy="906195"/>
            </a:xfrm>
            <a:prstGeom prst="rect">
              <a:avLst/>
            </a:prstGeom>
          </p:spPr>
        </p:pic>
        <p:sp>
          <p:nvSpPr>
            <p:cNvPr id="346" name="object 346"/>
            <p:cNvSpPr txBox="1"/>
            <p:nvPr/>
          </p:nvSpPr>
          <p:spPr>
            <a:xfrm>
              <a:off x="3741883" y="5713212"/>
              <a:ext cx="17780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Ge</a:t>
              </a:r>
              <a:endParaRPr sz="750">
                <a:latin typeface="Arial MT"/>
                <a:cs typeface="Arial MT"/>
              </a:endParaRPr>
            </a:p>
          </p:txBody>
        </p:sp>
        <p:sp>
          <p:nvSpPr>
            <p:cNvPr id="347" name="object 347"/>
            <p:cNvSpPr txBox="1"/>
            <p:nvPr/>
          </p:nvSpPr>
          <p:spPr>
            <a:xfrm>
              <a:off x="1574081" y="5763861"/>
              <a:ext cx="239395" cy="146194"/>
            </a:xfrm>
            <a:prstGeom prst="rect">
              <a:avLst/>
            </a:prstGeom>
          </p:spPr>
          <p:txBody>
            <a:bodyPr vert="horz" wrap="square" lIns="0" tIns="13447" rIns="0" bIns="0" rtlCol="0">
              <a:spAutoFit/>
            </a:bodyPr>
            <a:lstStyle/>
            <a:p>
              <a:pPr marL="11206">
                <a:spcBef>
                  <a:spcPts val="106"/>
                </a:spcBef>
              </a:pPr>
              <a:r>
                <a:rPr sz="750" spc="-18" dirty="0">
                  <a:latin typeface="Arial MT"/>
                  <a:cs typeface="Arial MT"/>
                </a:rPr>
                <a:t>(He)</a:t>
              </a:r>
              <a:endParaRPr sz="750">
                <a:latin typeface="Arial MT"/>
                <a:cs typeface="Arial MT"/>
              </a:endParaRPr>
            </a:p>
          </p:txBody>
        </p:sp>
        <p:sp>
          <p:nvSpPr>
            <p:cNvPr id="348" name="object 348"/>
            <p:cNvSpPr txBox="1"/>
            <p:nvPr/>
          </p:nvSpPr>
          <p:spPr>
            <a:xfrm>
              <a:off x="2162815" y="5889642"/>
              <a:ext cx="239395" cy="146194"/>
            </a:xfrm>
            <a:prstGeom prst="rect">
              <a:avLst/>
            </a:prstGeom>
          </p:spPr>
          <p:txBody>
            <a:bodyPr vert="horz" wrap="square" lIns="0" tIns="13447" rIns="0" bIns="0" rtlCol="0">
              <a:spAutoFit/>
            </a:bodyPr>
            <a:lstStyle/>
            <a:p>
              <a:pPr marL="11206">
                <a:spcBef>
                  <a:spcPts val="106"/>
                </a:spcBef>
              </a:pPr>
              <a:r>
                <a:rPr sz="750" spc="-18" dirty="0">
                  <a:latin typeface="Arial MT"/>
                  <a:cs typeface="Arial MT"/>
                </a:rPr>
                <a:t>(Ne)</a:t>
              </a:r>
              <a:endParaRPr sz="750">
                <a:latin typeface="Arial MT"/>
                <a:cs typeface="Arial MT"/>
              </a:endParaRPr>
            </a:p>
          </p:txBody>
        </p:sp>
        <p:sp>
          <p:nvSpPr>
            <p:cNvPr id="349" name="object 349"/>
            <p:cNvSpPr txBox="1"/>
            <p:nvPr/>
          </p:nvSpPr>
          <p:spPr>
            <a:xfrm>
              <a:off x="4105693" y="6166332"/>
              <a:ext cx="1555115" cy="146194"/>
            </a:xfrm>
            <a:prstGeom prst="rect">
              <a:avLst/>
            </a:prstGeom>
          </p:spPr>
          <p:txBody>
            <a:bodyPr vert="horz" wrap="square" lIns="0" tIns="13447" rIns="0" bIns="0" rtlCol="0">
              <a:spAutoFit/>
            </a:bodyPr>
            <a:lstStyle/>
            <a:p>
              <a:pPr marL="11206">
                <a:spcBef>
                  <a:spcPts val="106"/>
                </a:spcBef>
                <a:tabLst>
                  <a:tab pos="1176120" algn="l"/>
                </a:tabLst>
              </a:pPr>
              <a:r>
                <a:rPr sz="750" spc="-18" dirty="0">
                  <a:latin typeface="Arial MT"/>
                  <a:cs typeface="Arial MT"/>
                </a:rPr>
                <a:t>(Kr)</a:t>
              </a:r>
              <a:r>
                <a:rPr sz="750" dirty="0">
                  <a:latin typeface="Arial MT"/>
                  <a:cs typeface="Arial MT"/>
                </a:rPr>
                <a:t>	</a:t>
              </a:r>
              <a:r>
                <a:rPr sz="750" spc="-18" dirty="0">
                  <a:latin typeface="Arial MT"/>
                  <a:cs typeface="Arial MT"/>
                </a:rPr>
                <a:t>(Xe)</a:t>
              </a:r>
              <a:endParaRPr sz="750">
                <a:latin typeface="Arial MT"/>
                <a:cs typeface="Arial MT"/>
              </a:endParaRPr>
            </a:p>
          </p:txBody>
        </p:sp>
        <p:sp>
          <p:nvSpPr>
            <p:cNvPr id="350" name="object 350"/>
            <p:cNvSpPr txBox="1"/>
            <p:nvPr/>
          </p:nvSpPr>
          <p:spPr>
            <a:xfrm>
              <a:off x="1673952" y="3106654"/>
              <a:ext cx="239395" cy="299869"/>
            </a:xfrm>
            <a:prstGeom prst="rect">
              <a:avLst/>
            </a:prstGeom>
          </p:spPr>
          <p:txBody>
            <a:bodyPr vert="horz" wrap="square" lIns="0" tIns="20731" rIns="0" bIns="0" rtlCol="0">
              <a:spAutoFit/>
            </a:bodyPr>
            <a:lstStyle/>
            <a:p>
              <a:pPr marL="11206">
                <a:spcBef>
                  <a:spcPts val="163"/>
                </a:spcBef>
              </a:pPr>
              <a:r>
                <a:rPr sz="750" spc="-44" dirty="0">
                  <a:latin typeface="Arial MT"/>
                  <a:cs typeface="Arial MT"/>
                </a:rPr>
                <a:t>H</a:t>
              </a:r>
              <a:endParaRPr sz="750">
                <a:latin typeface="Arial MT"/>
                <a:cs typeface="Arial MT"/>
              </a:endParaRPr>
            </a:p>
            <a:p>
              <a:pPr marL="74523">
                <a:spcBef>
                  <a:spcPts val="79"/>
                </a:spcBef>
              </a:pPr>
              <a:r>
                <a:rPr sz="750" spc="-22" dirty="0">
                  <a:latin typeface="Arial MT"/>
                  <a:cs typeface="Arial MT"/>
                </a:rPr>
                <a:t>He</a:t>
              </a:r>
              <a:endParaRPr sz="750">
                <a:latin typeface="Arial MT"/>
                <a:cs typeface="Arial MT"/>
              </a:endParaRPr>
            </a:p>
          </p:txBody>
        </p:sp>
        <p:sp>
          <p:nvSpPr>
            <p:cNvPr id="351" name="object 351"/>
            <p:cNvSpPr txBox="1"/>
            <p:nvPr/>
          </p:nvSpPr>
          <p:spPr>
            <a:xfrm>
              <a:off x="1903771" y="3566458"/>
              <a:ext cx="105410"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C</a:t>
              </a:r>
              <a:endParaRPr sz="750">
                <a:latin typeface="Arial MT"/>
                <a:cs typeface="Arial MT"/>
              </a:endParaRPr>
            </a:p>
          </p:txBody>
        </p:sp>
        <p:sp>
          <p:nvSpPr>
            <p:cNvPr id="352" name="object 352"/>
            <p:cNvSpPr txBox="1"/>
            <p:nvPr/>
          </p:nvSpPr>
          <p:spPr>
            <a:xfrm>
              <a:off x="2023102" y="5454368"/>
              <a:ext cx="105410"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N</a:t>
              </a:r>
              <a:endParaRPr sz="750">
                <a:latin typeface="Arial MT"/>
                <a:cs typeface="Arial MT"/>
              </a:endParaRPr>
            </a:p>
          </p:txBody>
        </p:sp>
        <p:sp>
          <p:nvSpPr>
            <p:cNvPr id="353" name="object 353"/>
            <p:cNvSpPr txBox="1"/>
            <p:nvPr/>
          </p:nvSpPr>
          <p:spPr>
            <a:xfrm>
              <a:off x="2094665" y="4359887"/>
              <a:ext cx="93345"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F</a:t>
              </a:r>
              <a:endParaRPr sz="750">
                <a:latin typeface="Arial MT"/>
                <a:cs typeface="Arial MT"/>
              </a:endParaRPr>
            </a:p>
          </p:txBody>
        </p:sp>
        <p:sp>
          <p:nvSpPr>
            <p:cNvPr id="354" name="object 354"/>
            <p:cNvSpPr txBox="1"/>
            <p:nvPr/>
          </p:nvSpPr>
          <p:spPr>
            <a:xfrm>
              <a:off x="2160981" y="3548172"/>
              <a:ext cx="111760"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O</a:t>
              </a:r>
              <a:endParaRPr sz="750">
                <a:latin typeface="Arial MT"/>
                <a:cs typeface="Arial MT"/>
              </a:endParaRPr>
            </a:p>
          </p:txBody>
        </p:sp>
        <p:sp>
          <p:nvSpPr>
            <p:cNvPr id="355" name="object 355"/>
            <p:cNvSpPr txBox="1"/>
            <p:nvPr/>
          </p:nvSpPr>
          <p:spPr>
            <a:xfrm>
              <a:off x="2014272" y="3897928"/>
              <a:ext cx="105410"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N</a:t>
              </a:r>
              <a:endParaRPr sz="750">
                <a:latin typeface="Arial MT"/>
                <a:cs typeface="Arial MT"/>
              </a:endParaRPr>
            </a:p>
          </p:txBody>
        </p:sp>
        <p:sp>
          <p:nvSpPr>
            <p:cNvPr id="356" name="object 356"/>
            <p:cNvSpPr txBox="1"/>
            <p:nvPr/>
          </p:nvSpPr>
          <p:spPr>
            <a:xfrm>
              <a:off x="2831412" y="3897442"/>
              <a:ext cx="13906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Ar</a:t>
              </a:r>
              <a:endParaRPr sz="750">
                <a:latin typeface="Arial MT"/>
                <a:cs typeface="Arial MT"/>
              </a:endParaRPr>
            </a:p>
          </p:txBody>
        </p:sp>
        <p:sp>
          <p:nvSpPr>
            <p:cNvPr id="357" name="object 357"/>
            <p:cNvSpPr txBox="1"/>
            <p:nvPr/>
          </p:nvSpPr>
          <p:spPr>
            <a:xfrm>
              <a:off x="3392713" y="3916612"/>
              <a:ext cx="15494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Fe</a:t>
              </a:r>
              <a:endParaRPr sz="750">
                <a:latin typeface="Arial MT"/>
                <a:cs typeface="Arial MT"/>
              </a:endParaRPr>
            </a:p>
          </p:txBody>
        </p:sp>
        <p:sp>
          <p:nvSpPr>
            <p:cNvPr id="358" name="object 358"/>
            <p:cNvSpPr txBox="1"/>
            <p:nvPr/>
          </p:nvSpPr>
          <p:spPr>
            <a:xfrm>
              <a:off x="3588136" y="3999336"/>
              <a:ext cx="13017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Ni</a:t>
              </a:r>
              <a:endParaRPr sz="750">
                <a:latin typeface="Arial MT"/>
                <a:cs typeface="Arial MT"/>
              </a:endParaRPr>
            </a:p>
          </p:txBody>
        </p:sp>
        <p:sp>
          <p:nvSpPr>
            <p:cNvPr id="359" name="object 359"/>
            <p:cNvSpPr txBox="1"/>
            <p:nvPr/>
          </p:nvSpPr>
          <p:spPr>
            <a:xfrm>
              <a:off x="3845191" y="4557288"/>
              <a:ext cx="17335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Ge</a:t>
              </a:r>
              <a:endParaRPr sz="750">
                <a:latin typeface="Arial MT"/>
                <a:cs typeface="Arial MT"/>
              </a:endParaRPr>
            </a:p>
          </p:txBody>
        </p:sp>
        <p:sp>
          <p:nvSpPr>
            <p:cNvPr id="360" name="object 360"/>
            <p:cNvSpPr txBox="1"/>
            <p:nvPr/>
          </p:nvSpPr>
          <p:spPr>
            <a:xfrm>
              <a:off x="4524329" y="4627626"/>
              <a:ext cx="13652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Zr</a:t>
              </a:r>
              <a:endParaRPr sz="750">
                <a:latin typeface="Arial MT"/>
                <a:cs typeface="Arial MT"/>
              </a:endParaRPr>
            </a:p>
          </p:txBody>
        </p:sp>
        <p:sp>
          <p:nvSpPr>
            <p:cNvPr id="361" name="object 361"/>
            <p:cNvSpPr txBox="1"/>
            <p:nvPr/>
          </p:nvSpPr>
          <p:spPr>
            <a:xfrm>
              <a:off x="5141924" y="4775274"/>
              <a:ext cx="16383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Sn</a:t>
              </a:r>
              <a:endParaRPr sz="750" dirty="0">
                <a:latin typeface="Arial MT"/>
                <a:cs typeface="Arial MT"/>
              </a:endParaRPr>
            </a:p>
          </p:txBody>
        </p:sp>
        <p:sp>
          <p:nvSpPr>
            <p:cNvPr id="362" name="object 362"/>
            <p:cNvSpPr txBox="1"/>
            <p:nvPr/>
          </p:nvSpPr>
          <p:spPr>
            <a:xfrm>
              <a:off x="5126687" y="5152641"/>
              <a:ext cx="11811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In</a:t>
              </a:r>
              <a:endParaRPr sz="750">
                <a:latin typeface="Arial MT"/>
                <a:cs typeface="Arial MT"/>
              </a:endParaRPr>
            </a:p>
          </p:txBody>
        </p:sp>
        <p:sp>
          <p:nvSpPr>
            <p:cNvPr id="363" name="object 363"/>
            <p:cNvSpPr txBox="1"/>
            <p:nvPr/>
          </p:nvSpPr>
          <p:spPr>
            <a:xfrm>
              <a:off x="5252414" y="5106744"/>
              <a:ext cx="16383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Sb</a:t>
              </a:r>
              <a:endParaRPr sz="750">
                <a:latin typeface="Arial MT"/>
                <a:cs typeface="Arial MT"/>
              </a:endParaRPr>
            </a:p>
          </p:txBody>
        </p:sp>
        <p:sp>
          <p:nvSpPr>
            <p:cNvPr id="364" name="object 364"/>
            <p:cNvSpPr txBox="1"/>
            <p:nvPr/>
          </p:nvSpPr>
          <p:spPr>
            <a:xfrm>
              <a:off x="7557600" y="4691666"/>
              <a:ext cx="16065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Pb</a:t>
              </a:r>
              <a:endParaRPr sz="750">
                <a:latin typeface="Arial MT"/>
                <a:cs typeface="Arial MT"/>
              </a:endParaRPr>
            </a:p>
          </p:txBody>
        </p:sp>
        <p:sp>
          <p:nvSpPr>
            <p:cNvPr id="365" name="object 365"/>
            <p:cNvSpPr txBox="1"/>
            <p:nvPr/>
          </p:nvSpPr>
          <p:spPr>
            <a:xfrm>
              <a:off x="7748339" y="5951219"/>
              <a:ext cx="12700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Bi</a:t>
              </a:r>
              <a:endParaRPr sz="750">
                <a:latin typeface="Arial MT"/>
                <a:cs typeface="Arial MT"/>
              </a:endParaRPr>
            </a:p>
          </p:txBody>
        </p:sp>
        <p:sp>
          <p:nvSpPr>
            <p:cNvPr id="366" name="object 366"/>
            <p:cNvSpPr txBox="1"/>
            <p:nvPr/>
          </p:nvSpPr>
          <p:spPr>
            <a:xfrm>
              <a:off x="7433664" y="5695457"/>
              <a:ext cx="12446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Tl</a:t>
              </a:r>
              <a:endParaRPr sz="750">
                <a:latin typeface="Arial MT"/>
                <a:cs typeface="Arial MT"/>
              </a:endParaRPr>
            </a:p>
          </p:txBody>
        </p:sp>
        <p:sp>
          <p:nvSpPr>
            <p:cNvPr id="367" name="object 367"/>
            <p:cNvSpPr txBox="1"/>
            <p:nvPr/>
          </p:nvSpPr>
          <p:spPr>
            <a:xfrm>
              <a:off x="7682420" y="5105970"/>
              <a:ext cx="12700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Bi</a:t>
              </a:r>
              <a:endParaRPr sz="750">
                <a:latin typeface="Arial MT"/>
                <a:cs typeface="Arial MT"/>
              </a:endParaRPr>
            </a:p>
          </p:txBody>
        </p:sp>
        <p:sp>
          <p:nvSpPr>
            <p:cNvPr id="368" name="object 368"/>
            <p:cNvSpPr txBox="1"/>
            <p:nvPr/>
          </p:nvSpPr>
          <p:spPr>
            <a:xfrm>
              <a:off x="7352552" y="4809989"/>
              <a:ext cx="132714"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Pt</a:t>
              </a:r>
              <a:endParaRPr sz="750">
                <a:latin typeface="Arial MT"/>
                <a:cs typeface="Arial MT"/>
              </a:endParaRPr>
            </a:p>
          </p:txBody>
        </p:sp>
        <p:sp>
          <p:nvSpPr>
            <p:cNvPr id="369" name="object 369"/>
            <p:cNvSpPr txBox="1"/>
            <p:nvPr/>
          </p:nvSpPr>
          <p:spPr>
            <a:xfrm>
              <a:off x="6212804" y="5516894"/>
              <a:ext cx="17335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Gd</a:t>
              </a:r>
              <a:endParaRPr sz="750">
                <a:latin typeface="Arial MT"/>
                <a:cs typeface="Arial MT"/>
              </a:endParaRPr>
            </a:p>
          </p:txBody>
        </p:sp>
        <p:sp>
          <p:nvSpPr>
            <p:cNvPr id="370" name="object 370"/>
            <p:cNvSpPr txBox="1"/>
            <p:nvPr/>
          </p:nvSpPr>
          <p:spPr>
            <a:xfrm>
              <a:off x="6551600" y="5548527"/>
              <a:ext cx="13906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Er</a:t>
              </a:r>
              <a:endParaRPr sz="750">
                <a:latin typeface="Arial MT"/>
                <a:cs typeface="Arial MT"/>
              </a:endParaRPr>
            </a:p>
          </p:txBody>
        </p:sp>
        <p:sp>
          <p:nvSpPr>
            <p:cNvPr id="371" name="object 371"/>
            <p:cNvSpPr txBox="1"/>
            <p:nvPr/>
          </p:nvSpPr>
          <p:spPr>
            <a:xfrm>
              <a:off x="6826720" y="5573940"/>
              <a:ext cx="13652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Hf</a:t>
              </a:r>
              <a:endParaRPr sz="750">
                <a:latin typeface="Arial MT"/>
                <a:cs typeface="Arial MT"/>
              </a:endParaRPr>
            </a:p>
          </p:txBody>
        </p:sp>
        <p:sp>
          <p:nvSpPr>
            <p:cNvPr id="372" name="object 372"/>
            <p:cNvSpPr txBox="1"/>
            <p:nvPr/>
          </p:nvSpPr>
          <p:spPr>
            <a:xfrm>
              <a:off x="6148488" y="5139515"/>
              <a:ext cx="16065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Eu</a:t>
              </a:r>
              <a:endParaRPr sz="750">
                <a:latin typeface="Arial MT"/>
                <a:cs typeface="Arial MT"/>
              </a:endParaRPr>
            </a:p>
          </p:txBody>
        </p:sp>
        <p:sp>
          <p:nvSpPr>
            <p:cNvPr id="373" name="object 373"/>
            <p:cNvSpPr txBox="1"/>
            <p:nvPr/>
          </p:nvSpPr>
          <p:spPr>
            <a:xfrm>
              <a:off x="6718384" y="5235045"/>
              <a:ext cx="14922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Lu</a:t>
              </a:r>
              <a:endParaRPr sz="750">
                <a:latin typeface="Arial MT"/>
                <a:cs typeface="Arial MT"/>
              </a:endParaRPr>
            </a:p>
          </p:txBody>
        </p:sp>
        <p:sp>
          <p:nvSpPr>
            <p:cNvPr id="374" name="object 374"/>
            <p:cNvSpPr txBox="1"/>
            <p:nvPr/>
          </p:nvSpPr>
          <p:spPr>
            <a:xfrm>
              <a:off x="1512149" y="6042451"/>
              <a:ext cx="7167245" cy="555759"/>
            </a:xfrm>
            <a:prstGeom prst="rect">
              <a:avLst/>
            </a:prstGeom>
          </p:spPr>
          <p:txBody>
            <a:bodyPr vert="horz" wrap="square" lIns="0" tIns="13447" rIns="0" bIns="0" rtlCol="0">
              <a:spAutoFit/>
            </a:bodyPr>
            <a:lstStyle/>
            <a:p>
              <a:pPr marL="1134096">
                <a:spcBef>
                  <a:spcPts val="106"/>
                </a:spcBef>
                <a:tabLst>
                  <a:tab pos="3045361" algn="l"/>
                </a:tabLst>
              </a:pPr>
              <a:r>
                <a:rPr sz="1125" spc="-26" baseline="3267" dirty="0">
                  <a:latin typeface="Arial MT"/>
                  <a:cs typeface="Arial MT"/>
                </a:rPr>
                <a:t>(Ar)</a:t>
              </a:r>
              <a:r>
                <a:rPr sz="1125" baseline="3267" dirty="0">
                  <a:latin typeface="Arial MT"/>
                  <a:cs typeface="Arial MT"/>
                </a:rPr>
                <a:t>	Ag</a:t>
              </a:r>
              <a:r>
                <a:rPr sz="1125" spc="410" baseline="3267" dirty="0">
                  <a:latin typeface="Arial MT"/>
                  <a:cs typeface="Arial MT"/>
                </a:rPr>
                <a:t> </a:t>
              </a:r>
              <a:r>
                <a:rPr sz="750" spc="-22" dirty="0">
                  <a:latin typeface="Arial MT"/>
                  <a:cs typeface="Arial MT"/>
                </a:rPr>
                <a:t>In</a:t>
              </a:r>
              <a:endParaRPr sz="750">
                <a:latin typeface="Arial MT"/>
                <a:cs typeface="Arial MT"/>
              </a:endParaRPr>
            </a:p>
            <a:p>
              <a:pPr>
                <a:spcBef>
                  <a:spcPts val="666"/>
                </a:spcBef>
              </a:pPr>
              <a:endParaRPr sz="750">
                <a:latin typeface="Arial MT"/>
                <a:cs typeface="Arial MT"/>
              </a:endParaRPr>
            </a:p>
            <a:p>
              <a:pPr marL="11206">
                <a:tabLst>
                  <a:tab pos="337315" algn="l"/>
                  <a:tab pos="612434" algn="l"/>
                  <a:tab pos="939103" algn="l"/>
                  <a:tab pos="1265212" algn="l"/>
                  <a:tab pos="1591880" algn="l"/>
                  <a:tab pos="1918549" algn="l"/>
                  <a:tab pos="2245218" algn="l"/>
                  <a:tab pos="2571887" algn="l"/>
                  <a:tab pos="2898555" algn="l"/>
                  <a:tab pos="3225225" algn="l"/>
                  <a:tab pos="3551894" algn="l"/>
                  <a:tab pos="3878002" algn="l"/>
                  <a:tab pos="4204671" algn="l"/>
                  <a:tab pos="4531340" algn="l"/>
                  <a:tab pos="4858009" algn="l"/>
                  <a:tab pos="5184678" algn="l"/>
                  <a:tab pos="5511347" algn="l"/>
                  <a:tab pos="5838016" algn="l"/>
                  <a:tab pos="6164685" algn="l"/>
                </a:tabLst>
              </a:pPr>
              <a:r>
                <a:rPr sz="1522" spc="-66" baseline="2415" dirty="0">
                  <a:latin typeface="Arial MT"/>
                  <a:cs typeface="Arial MT"/>
                </a:rPr>
                <a:t>0</a:t>
              </a:r>
              <a:r>
                <a:rPr sz="1522" baseline="2415" dirty="0">
                  <a:latin typeface="Arial MT"/>
                  <a:cs typeface="Arial MT"/>
                </a:rPr>
                <a:t>	</a:t>
              </a:r>
              <a:r>
                <a:rPr sz="1015" spc="-44" dirty="0">
                  <a:latin typeface="Arial MT"/>
                  <a:cs typeface="Arial MT"/>
                </a:rPr>
                <a:t>5</a:t>
              </a:r>
              <a:r>
                <a:rPr sz="1015" dirty="0">
                  <a:latin typeface="Arial MT"/>
                  <a:cs typeface="Arial MT"/>
                </a:rPr>
                <a:t>	</a:t>
              </a:r>
              <a:r>
                <a:rPr sz="1522" spc="-33" baseline="2415" dirty="0">
                  <a:latin typeface="Arial MT"/>
                  <a:cs typeface="Arial MT"/>
                </a:rPr>
                <a:t>10</a:t>
              </a:r>
              <a:r>
                <a:rPr sz="1522" baseline="2415" dirty="0">
                  <a:latin typeface="Arial MT"/>
                  <a:cs typeface="Arial MT"/>
                </a:rPr>
                <a:t>	</a:t>
              </a:r>
              <a:r>
                <a:rPr sz="1522" spc="-33" baseline="2415" dirty="0">
                  <a:latin typeface="Arial MT"/>
                  <a:cs typeface="Arial MT"/>
                </a:rPr>
                <a:t>15</a:t>
              </a:r>
              <a:r>
                <a:rPr sz="1522" baseline="2415" dirty="0">
                  <a:latin typeface="Arial MT"/>
                  <a:cs typeface="Arial MT"/>
                </a:rPr>
                <a:t>	</a:t>
              </a:r>
              <a:r>
                <a:rPr sz="1015" spc="-22" dirty="0">
                  <a:latin typeface="Arial MT"/>
                  <a:cs typeface="Arial MT"/>
                </a:rPr>
                <a:t>20</a:t>
              </a:r>
              <a:r>
                <a:rPr sz="1015" dirty="0">
                  <a:latin typeface="Arial MT"/>
                  <a:cs typeface="Arial MT"/>
                </a:rPr>
                <a:t>	</a:t>
              </a:r>
              <a:r>
                <a:rPr sz="1015" spc="-22" dirty="0">
                  <a:latin typeface="Arial MT"/>
                  <a:cs typeface="Arial MT"/>
                </a:rPr>
                <a:t>25</a:t>
              </a:r>
              <a:r>
                <a:rPr sz="1015" dirty="0">
                  <a:latin typeface="Arial MT"/>
                  <a:cs typeface="Arial MT"/>
                </a:rPr>
                <a:t>	</a:t>
              </a:r>
              <a:r>
                <a:rPr sz="1522" spc="-33" baseline="2415" dirty="0">
                  <a:latin typeface="Arial MT"/>
                  <a:cs typeface="Arial MT"/>
                </a:rPr>
                <a:t>30</a:t>
              </a:r>
              <a:r>
                <a:rPr sz="1522" baseline="2415" dirty="0">
                  <a:latin typeface="Arial MT"/>
                  <a:cs typeface="Arial MT"/>
                </a:rPr>
                <a:t>	</a:t>
              </a:r>
              <a:r>
                <a:rPr sz="1522" spc="-33" baseline="2415" dirty="0">
                  <a:latin typeface="Arial MT"/>
                  <a:cs typeface="Arial MT"/>
                </a:rPr>
                <a:t>35</a:t>
              </a:r>
              <a:r>
                <a:rPr sz="1522" baseline="2415" dirty="0">
                  <a:latin typeface="Arial MT"/>
                  <a:cs typeface="Arial MT"/>
                </a:rPr>
                <a:t>	</a:t>
              </a:r>
              <a:r>
                <a:rPr sz="1015" spc="-22" dirty="0">
                  <a:latin typeface="Arial MT"/>
                  <a:cs typeface="Arial MT"/>
                </a:rPr>
                <a:t>40</a:t>
              </a:r>
              <a:r>
                <a:rPr sz="1015" dirty="0">
                  <a:latin typeface="Arial MT"/>
                  <a:cs typeface="Arial MT"/>
                </a:rPr>
                <a:t>	</a:t>
              </a:r>
              <a:r>
                <a:rPr sz="1015" spc="-22" dirty="0">
                  <a:latin typeface="Arial MT"/>
                  <a:cs typeface="Arial MT"/>
                </a:rPr>
                <a:t>45</a:t>
              </a:r>
              <a:r>
                <a:rPr sz="1015" dirty="0">
                  <a:latin typeface="Arial MT"/>
                  <a:cs typeface="Arial MT"/>
                </a:rPr>
                <a:t>	</a:t>
              </a:r>
              <a:r>
                <a:rPr sz="1522" spc="-33" baseline="2415" dirty="0">
                  <a:latin typeface="Arial MT"/>
                  <a:cs typeface="Arial MT"/>
                </a:rPr>
                <a:t>50</a:t>
              </a:r>
              <a:r>
                <a:rPr sz="1522" baseline="2415" dirty="0">
                  <a:latin typeface="Arial MT"/>
                  <a:cs typeface="Arial MT"/>
                </a:rPr>
                <a:t>	</a:t>
              </a:r>
              <a:r>
                <a:rPr sz="1522" spc="-33" baseline="2415" dirty="0">
                  <a:latin typeface="Arial MT"/>
                  <a:cs typeface="Arial MT"/>
                </a:rPr>
                <a:t>55</a:t>
              </a:r>
              <a:r>
                <a:rPr sz="1522" baseline="2415" dirty="0">
                  <a:latin typeface="Arial MT"/>
                  <a:cs typeface="Arial MT"/>
                </a:rPr>
                <a:t>	</a:t>
              </a:r>
              <a:r>
                <a:rPr sz="1015" spc="-22" dirty="0">
                  <a:latin typeface="Arial MT"/>
                  <a:cs typeface="Arial MT"/>
                </a:rPr>
                <a:t>60</a:t>
              </a:r>
              <a:r>
                <a:rPr sz="1015" dirty="0">
                  <a:latin typeface="Arial MT"/>
                  <a:cs typeface="Arial MT"/>
                </a:rPr>
                <a:t>	</a:t>
              </a:r>
              <a:r>
                <a:rPr sz="1015" spc="-22" dirty="0">
                  <a:latin typeface="Arial MT"/>
                  <a:cs typeface="Arial MT"/>
                </a:rPr>
                <a:t>65</a:t>
              </a:r>
              <a:r>
                <a:rPr sz="1015" dirty="0">
                  <a:latin typeface="Arial MT"/>
                  <a:cs typeface="Arial MT"/>
                </a:rPr>
                <a:t>	</a:t>
              </a:r>
              <a:r>
                <a:rPr sz="1522" spc="-33" baseline="2415" dirty="0">
                  <a:latin typeface="Arial MT"/>
                  <a:cs typeface="Arial MT"/>
                </a:rPr>
                <a:t>70</a:t>
              </a:r>
              <a:r>
                <a:rPr sz="1522" baseline="2415" dirty="0">
                  <a:latin typeface="Arial MT"/>
                  <a:cs typeface="Arial MT"/>
                </a:rPr>
                <a:t>	</a:t>
              </a:r>
              <a:r>
                <a:rPr sz="1522" spc="-33" baseline="2415" dirty="0">
                  <a:latin typeface="Arial MT"/>
                  <a:cs typeface="Arial MT"/>
                </a:rPr>
                <a:t>75</a:t>
              </a:r>
              <a:r>
                <a:rPr sz="1522" baseline="2415" dirty="0">
                  <a:latin typeface="Arial MT"/>
                  <a:cs typeface="Arial MT"/>
                </a:rPr>
                <a:t>	</a:t>
              </a:r>
              <a:r>
                <a:rPr sz="1015" spc="-22" dirty="0">
                  <a:latin typeface="Arial MT"/>
                  <a:cs typeface="Arial MT"/>
                </a:rPr>
                <a:t>80</a:t>
              </a:r>
              <a:r>
                <a:rPr sz="1015" dirty="0">
                  <a:latin typeface="Arial MT"/>
                  <a:cs typeface="Arial MT"/>
                </a:rPr>
                <a:t>	</a:t>
              </a:r>
              <a:r>
                <a:rPr sz="1015" spc="-22" dirty="0">
                  <a:latin typeface="Arial MT"/>
                  <a:cs typeface="Arial MT"/>
                </a:rPr>
                <a:t>85</a:t>
              </a:r>
              <a:r>
                <a:rPr sz="1015" dirty="0">
                  <a:latin typeface="Arial MT"/>
                  <a:cs typeface="Arial MT"/>
                </a:rPr>
                <a:t>	</a:t>
              </a:r>
              <a:r>
                <a:rPr sz="1522" spc="-33" baseline="2415" dirty="0">
                  <a:latin typeface="Arial MT"/>
                  <a:cs typeface="Arial MT"/>
                </a:rPr>
                <a:t>90</a:t>
              </a:r>
              <a:r>
                <a:rPr sz="1522" baseline="2415" dirty="0">
                  <a:latin typeface="Arial MT"/>
                  <a:cs typeface="Arial MT"/>
                </a:rPr>
                <a:t>	</a:t>
              </a:r>
              <a:r>
                <a:rPr sz="1015" spc="-22" dirty="0">
                  <a:latin typeface="Arial MT"/>
                  <a:cs typeface="Arial MT"/>
                </a:rPr>
                <a:t>95</a:t>
              </a:r>
              <a:endParaRPr sz="1015">
                <a:latin typeface="Arial MT"/>
                <a:cs typeface="Arial MT"/>
              </a:endParaRPr>
            </a:p>
          </p:txBody>
        </p:sp>
        <p:sp>
          <p:nvSpPr>
            <p:cNvPr id="375" name="object 375"/>
            <p:cNvSpPr txBox="1"/>
            <p:nvPr/>
          </p:nvSpPr>
          <p:spPr>
            <a:xfrm>
              <a:off x="4729179" y="5637185"/>
              <a:ext cx="399415" cy="146194"/>
            </a:xfrm>
            <a:prstGeom prst="rect">
              <a:avLst/>
            </a:prstGeom>
          </p:spPr>
          <p:txBody>
            <a:bodyPr vert="horz" wrap="square" lIns="0" tIns="13447" rIns="0" bIns="0" rtlCol="0">
              <a:spAutoFit/>
            </a:bodyPr>
            <a:lstStyle/>
            <a:p>
              <a:pPr marL="33619">
                <a:spcBef>
                  <a:spcPts val="106"/>
                </a:spcBef>
              </a:pPr>
              <a:r>
                <a:rPr sz="750" dirty="0">
                  <a:latin typeface="Arial MT"/>
                  <a:cs typeface="Arial MT"/>
                </a:rPr>
                <a:t>Ru</a:t>
              </a:r>
              <a:r>
                <a:rPr sz="750" spc="128" dirty="0">
                  <a:latin typeface="Arial MT"/>
                  <a:cs typeface="Arial MT"/>
                </a:rPr>
                <a:t> </a:t>
              </a:r>
              <a:r>
                <a:rPr sz="1125" spc="-33" baseline="-22875" dirty="0">
                  <a:latin typeface="Arial MT"/>
                  <a:cs typeface="Arial MT"/>
                </a:rPr>
                <a:t>Pd</a:t>
              </a:r>
              <a:endParaRPr sz="1125" baseline="-22875">
                <a:latin typeface="Arial MT"/>
                <a:cs typeface="Arial MT"/>
              </a:endParaRPr>
            </a:p>
          </p:txBody>
        </p:sp>
        <p:sp>
          <p:nvSpPr>
            <p:cNvPr id="376" name="object 376"/>
            <p:cNvSpPr txBox="1"/>
            <p:nvPr/>
          </p:nvSpPr>
          <p:spPr>
            <a:xfrm>
              <a:off x="5687888" y="5546616"/>
              <a:ext cx="14922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La</a:t>
              </a:r>
              <a:endParaRPr sz="750">
                <a:latin typeface="Arial MT"/>
                <a:cs typeface="Arial MT"/>
              </a:endParaRPr>
            </a:p>
          </p:txBody>
        </p:sp>
        <p:sp>
          <p:nvSpPr>
            <p:cNvPr id="377" name="object 377"/>
            <p:cNvSpPr txBox="1"/>
            <p:nvPr/>
          </p:nvSpPr>
          <p:spPr>
            <a:xfrm>
              <a:off x="4231221" y="4828022"/>
              <a:ext cx="16700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Rb</a:t>
              </a:r>
              <a:endParaRPr sz="750">
                <a:latin typeface="Arial MT"/>
                <a:cs typeface="Arial MT"/>
              </a:endParaRPr>
            </a:p>
          </p:txBody>
        </p:sp>
        <p:sp>
          <p:nvSpPr>
            <p:cNvPr id="378" name="object 378"/>
            <p:cNvSpPr txBox="1"/>
            <p:nvPr/>
          </p:nvSpPr>
          <p:spPr>
            <a:xfrm>
              <a:off x="4143118" y="4510087"/>
              <a:ext cx="362585" cy="146194"/>
            </a:xfrm>
            <a:prstGeom prst="rect">
              <a:avLst/>
            </a:prstGeom>
          </p:spPr>
          <p:txBody>
            <a:bodyPr vert="horz" wrap="square" lIns="0" tIns="13447" rIns="0" bIns="0" rtlCol="0">
              <a:spAutoFit/>
            </a:bodyPr>
            <a:lstStyle/>
            <a:p>
              <a:pPr marL="33619">
                <a:spcBef>
                  <a:spcPts val="106"/>
                </a:spcBef>
              </a:pPr>
              <a:r>
                <a:rPr sz="750" dirty="0">
                  <a:latin typeface="Arial MT"/>
                  <a:cs typeface="Arial MT"/>
                </a:rPr>
                <a:t>Kr</a:t>
              </a:r>
              <a:r>
                <a:rPr sz="750" spc="251" dirty="0">
                  <a:latin typeface="Arial MT"/>
                  <a:cs typeface="Arial MT"/>
                </a:rPr>
                <a:t> </a:t>
              </a:r>
              <a:r>
                <a:rPr sz="1125" spc="-33" baseline="6535" dirty="0">
                  <a:latin typeface="Arial MT"/>
                  <a:cs typeface="Arial MT"/>
                </a:rPr>
                <a:t>Sr</a:t>
              </a:r>
              <a:endParaRPr sz="1125" baseline="6535">
                <a:latin typeface="Arial MT"/>
                <a:cs typeface="Arial MT"/>
              </a:endParaRPr>
            </a:p>
          </p:txBody>
        </p:sp>
        <p:sp>
          <p:nvSpPr>
            <p:cNvPr id="379" name="object 379"/>
            <p:cNvSpPr txBox="1"/>
            <p:nvPr/>
          </p:nvSpPr>
          <p:spPr>
            <a:xfrm>
              <a:off x="3769120" y="4388017"/>
              <a:ext cx="16129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Zn</a:t>
              </a:r>
              <a:endParaRPr sz="750" dirty="0">
                <a:latin typeface="Arial MT"/>
                <a:cs typeface="Arial MT"/>
              </a:endParaRPr>
            </a:p>
          </p:txBody>
        </p:sp>
        <p:sp>
          <p:nvSpPr>
            <p:cNvPr id="380" name="object 380"/>
            <p:cNvSpPr txBox="1"/>
            <p:nvPr/>
          </p:nvSpPr>
          <p:spPr>
            <a:xfrm>
              <a:off x="2419607" y="4929207"/>
              <a:ext cx="210185" cy="364202"/>
            </a:xfrm>
            <a:prstGeom prst="rect">
              <a:avLst/>
            </a:prstGeom>
          </p:spPr>
          <p:txBody>
            <a:bodyPr vert="horz" wrap="square" lIns="0" tIns="13447" rIns="0" bIns="0" rtlCol="0">
              <a:spAutoFit/>
            </a:bodyPr>
            <a:lstStyle/>
            <a:p>
              <a:pPr marR="30257" algn="r">
                <a:spcBef>
                  <a:spcPts val="106"/>
                </a:spcBef>
              </a:pPr>
              <a:r>
                <a:rPr sz="750" spc="-22" dirty="0">
                  <a:latin typeface="Arial MT"/>
                  <a:cs typeface="Arial MT"/>
                </a:rPr>
                <a:t>Mg</a:t>
              </a:r>
              <a:endParaRPr sz="750">
                <a:latin typeface="Arial MT"/>
                <a:cs typeface="Arial MT"/>
              </a:endParaRPr>
            </a:p>
            <a:p>
              <a:pPr marR="4483" algn="r">
                <a:spcBef>
                  <a:spcPts val="569"/>
                </a:spcBef>
              </a:pPr>
              <a:r>
                <a:rPr sz="750" spc="-44" dirty="0">
                  <a:latin typeface="Arial MT"/>
                  <a:cs typeface="Arial MT"/>
                </a:rPr>
                <a:t>P</a:t>
              </a:r>
              <a:endParaRPr sz="750">
                <a:latin typeface="Arial MT"/>
                <a:cs typeface="Arial MT"/>
              </a:endParaRPr>
            </a:p>
          </p:txBody>
        </p:sp>
        <p:sp>
          <p:nvSpPr>
            <p:cNvPr id="381" name="object 381"/>
            <p:cNvSpPr txBox="1"/>
            <p:nvPr/>
          </p:nvSpPr>
          <p:spPr>
            <a:xfrm>
              <a:off x="1636551" y="4534494"/>
              <a:ext cx="11239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Li</a:t>
              </a:r>
              <a:endParaRPr sz="750">
                <a:latin typeface="Arial MT"/>
                <a:cs typeface="Arial MT"/>
              </a:endParaRPr>
            </a:p>
          </p:txBody>
        </p:sp>
        <p:sp>
          <p:nvSpPr>
            <p:cNvPr id="382" name="object 382"/>
            <p:cNvSpPr txBox="1"/>
            <p:nvPr/>
          </p:nvSpPr>
          <p:spPr>
            <a:xfrm>
              <a:off x="1947879" y="4642520"/>
              <a:ext cx="99695"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B</a:t>
              </a:r>
              <a:endParaRPr sz="750">
                <a:latin typeface="Arial MT"/>
                <a:cs typeface="Arial MT"/>
              </a:endParaRPr>
            </a:p>
          </p:txBody>
        </p:sp>
        <p:sp>
          <p:nvSpPr>
            <p:cNvPr id="383" name="object 383"/>
            <p:cNvSpPr txBox="1"/>
            <p:nvPr/>
          </p:nvSpPr>
          <p:spPr>
            <a:xfrm>
              <a:off x="4665314" y="4728095"/>
              <a:ext cx="384175" cy="247931"/>
            </a:xfrm>
            <a:prstGeom prst="rect">
              <a:avLst/>
            </a:prstGeom>
          </p:spPr>
          <p:txBody>
            <a:bodyPr vert="horz" wrap="square" lIns="0" tIns="13447" rIns="0" bIns="0" rtlCol="0">
              <a:spAutoFit/>
            </a:bodyPr>
            <a:lstStyle/>
            <a:p>
              <a:pPr marL="11206">
                <a:lnSpc>
                  <a:spcPts val="833"/>
                </a:lnSpc>
                <a:spcBef>
                  <a:spcPts val="106"/>
                </a:spcBef>
              </a:pPr>
              <a:r>
                <a:rPr sz="750" spc="-22" dirty="0">
                  <a:latin typeface="Arial MT"/>
                  <a:cs typeface="Arial MT"/>
                </a:rPr>
                <a:t>Mo</a:t>
              </a:r>
              <a:endParaRPr sz="750">
                <a:latin typeface="Arial MT"/>
                <a:cs typeface="Arial MT"/>
              </a:endParaRPr>
            </a:p>
            <a:p>
              <a:pPr marL="205639">
                <a:lnSpc>
                  <a:spcPts val="833"/>
                </a:lnSpc>
              </a:pPr>
              <a:r>
                <a:rPr sz="750" spc="-22" dirty="0">
                  <a:latin typeface="Arial MT"/>
                  <a:cs typeface="Arial MT"/>
                </a:rPr>
                <a:t>Pd</a:t>
              </a:r>
              <a:endParaRPr sz="750">
                <a:latin typeface="Arial MT"/>
                <a:cs typeface="Arial MT"/>
              </a:endParaRPr>
            </a:p>
          </p:txBody>
        </p:sp>
        <p:sp>
          <p:nvSpPr>
            <p:cNvPr id="384" name="object 384"/>
            <p:cNvSpPr txBox="1"/>
            <p:nvPr/>
          </p:nvSpPr>
          <p:spPr>
            <a:xfrm>
              <a:off x="5686772" y="4792577"/>
              <a:ext cx="253365" cy="378736"/>
            </a:xfrm>
            <a:prstGeom prst="rect">
              <a:avLst/>
            </a:prstGeom>
          </p:spPr>
          <p:txBody>
            <a:bodyPr vert="horz" wrap="square" lIns="0" tIns="13447" rIns="0" bIns="0" rtlCol="0">
              <a:spAutoFit/>
            </a:bodyPr>
            <a:lstStyle/>
            <a:p>
              <a:pPr marL="90212">
                <a:spcBef>
                  <a:spcPts val="106"/>
                </a:spcBef>
              </a:pPr>
              <a:r>
                <a:rPr sz="750" spc="-22" dirty="0">
                  <a:latin typeface="Arial MT"/>
                  <a:cs typeface="Arial MT"/>
                </a:rPr>
                <a:t>Ba</a:t>
              </a:r>
              <a:endParaRPr sz="750">
                <a:latin typeface="Arial MT"/>
                <a:cs typeface="Arial MT"/>
              </a:endParaRPr>
            </a:p>
            <a:p>
              <a:pPr marL="11206">
                <a:spcBef>
                  <a:spcPts val="693"/>
                </a:spcBef>
              </a:pPr>
              <a:r>
                <a:rPr sz="750" spc="-22" dirty="0">
                  <a:latin typeface="Arial MT"/>
                  <a:cs typeface="Arial MT"/>
                </a:rPr>
                <a:t>La</a:t>
              </a:r>
              <a:endParaRPr sz="750">
                <a:latin typeface="Arial MT"/>
                <a:cs typeface="Arial MT"/>
              </a:endParaRPr>
            </a:p>
          </p:txBody>
        </p:sp>
        <p:sp>
          <p:nvSpPr>
            <p:cNvPr id="385" name="object 385"/>
            <p:cNvSpPr txBox="1"/>
            <p:nvPr/>
          </p:nvSpPr>
          <p:spPr>
            <a:xfrm>
              <a:off x="6359844" y="4821249"/>
              <a:ext cx="16065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Dy</a:t>
              </a:r>
              <a:endParaRPr sz="750">
                <a:latin typeface="Arial MT"/>
                <a:cs typeface="Arial MT"/>
              </a:endParaRPr>
            </a:p>
          </p:txBody>
        </p:sp>
        <p:sp>
          <p:nvSpPr>
            <p:cNvPr id="386" name="object 386"/>
            <p:cNvSpPr txBox="1"/>
            <p:nvPr/>
          </p:nvSpPr>
          <p:spPr>
            <a:xfrm>
              <a:off x="3017058" y="5526065"/>
              <a:ext cx="15494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Sc</a:t>
              </a:r>
              <a:endParaRPr sz="750">
                <a:latin typeface="Arial MT"/>
                <a:cs typeface="Arial MT"/>
              </a:endParaRPr>
            </a:p>
          </p:txBody>
        </p:sp>
        <p:sp>
          <p:nvSpPr>
            <p:cNvPr id="387" name="object 387"/>
            <p:cNvSpPr txBox="1"/>
            <p:nvPr/>
          </p:nvSpPr>
          <p:spPr>
            <a:xfrm>
              <a:off x="3202305" y="4588734"/>
              <a:ext cx="99695"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V</a:t>
              </a:r>
              <a:endParaRPr sz="750">
                <a:latin typeface="Arial MT"/>
                <a:cs typeface="Arial MT"/>
              </a:endParaRPr>
            </a:p>
          </p:txBody>
        </p:sp>
        <p:sp>
          <p:nvSpPr>
            <p:cNvPr id="388" name="object 388"/>
            <p:cNvSpPr txBox="1"/>
            <p:nvPr/>
          </p:nvSpPr>
          <p:spPr>
            <a:xfrm>
              <a:off x="3706526" y="4790952"/>
              <a:ext cx="17335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Ga</a:t>
              </a:r>
              <a:endParaRPr sz="750">
                <a:latin typeface="Arial MT"/>
                <a:cs typeface="Arial MT"/>
              </a:endParaRPr>
            </a:p>
          </p:txBody>
        </p:sp>
        <p:sp>
          <p:nvSpPr>
            <p:cNvPr id="389" name="object 389"/>
            <p:cNvSpPr txBox="1"/>
            <p:nvPr/>
          </p:nvSpPr>
          <p:spPr>
            <a:xfrm>
              <a:off x="3926015" y="4928678"/>
              <a:ext cx="157480"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As</a:t>
              </a:r>
              <a:endParaRPr sz="750">
                <a:latin typeface="Arial MT"/>
                <a:cs typeface="Arial MT"/>
              </a:endParaRPr>
            </a:p>
          </p:txBody>
        </p:sp>
        <p:sp>
          <p:nvSpPr>
            <p:cNvPr id="390" name="object 390"/>
            <p:cNvSpPr txBox="1"/>
            <p:nvPr/>
          </p:nvSpPr>
          <p:spPr>
            <a:xfrm>
              <a:off x="2288818" y="4157712"/>
              <a:ext cx="16700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Na</a:t>
              </a:r>
              <a:endParaRPr sz="750">
                <a:latin typeface="Arial MT"/>
                <a:cs typeface="Arial MT"/>
              </a:endParaRPr>
            </a:p>
          </p:txBody>
        </p:sp>
        <p:sp>
          <p:nvSpPr>
            <p:cNvPr id="391" name="object 391"/>
            <p:cNvSpPr txBox="1"/>
            <p:nvPr/>
          </p:nvSpPr>
          <p:spPr>
            <a:xfrm>
              <a:off x="2471359" y="4050879"/>
              <a:ext cx="166370" cy="362088"/>
            </a:xfrm>
            <a:prstGeom prst="rect">
              <a:avLst/>
            </a:prstGeom>
          </p:spPr>
          <p:txBody>
            <a:bodyPr vert="horz" wrap="square" lIns="0" tIns="10646" rIns="0" bIns="0" rtlCol="0">
              <a:spAutoFit/>
            </a:bodyPr>
            <a:lstStyle/>
            <a:p>
              <a:pPr marL="70041" marR="4483" indent="-59394">
                <a:lnSpc>
                  <a:spcPct val="141500"/>
                </a:lnSpc>
                <a:spcBef>
                  <a:spcPts val="84"/>
                </a:spcBef>
              </a:pPr>
              <a:r>
                <a:rPr sz="750" spc="-22" dirty="0">
                  <a:latin typeface="Arial MT"/>
                  <a:cs typeface="Arial MT"/>
                </a:rPr>
                <a:t>Al </a:t>
              </a:r>
              <a:r>
                <a:rPr sz="750" spc="-44" dirty="0">
                  <a:latin typeface="Arial MT"/>
                  <a:cs typeface="Arial MT"/>
                </a:rPr>
                <a:t>P</a:t>
              </a:r>
              <a:endParaRPr sz="750">
                <a:latin typeface="Arial MT"/>
                <a:cs typeface="Arial MT"/>
              </a:endParaRPr>
            </a:p>
          </p:txBody>
        </p:sp>
        <p:sp>
          <p:nvSpPr>
            <p:cNvPr id="392" name="object 392"/>
            <p:cNvSpPr txBox="1"/>
            <p:nvPr/>
          </p:nvSpPr>
          <p:spPr>
            <a:xfrm>
              <a:off x="2748422" y="4378659"/>
              <a:ext cx="13017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Cl</a:t>
              </a:r>
              <a:endParaRPr sz="750">
                <a:latin typeface="Arial MT"/>
                <a:cs typeface="Arial MT"/>
              </a:endParaRPr>
            </a:p>
          </p:txBody>
        </p:sp>
        <p:sp>
          <p:nvSpPr>
            <p:cNvPr id="393" name="object 393"/>
            <p:cNvSpPr txBox="1"/>
            <p:nvPr/>
          </p:nvSpPr>
          <p:spPr>
            <a:xfrm>
              <a:off x="2822595" y="4872704"/>
              <a:ext cx="99695" cy="146194"/>
            </a:xfrm>
            <a:prstGeom prst="rect">
              <a:avLst/>
            </a:prstGeom>
          </p:spPr>
          <p:txBody>
            <a:bodyPr vert="horz" wrap="square" lIns="0" tIns="13447" rIns="0" bIns="0" rtlCol="0">
              <a:spAutoFit/>
            </a:bodyPr>
            <a:lstStyle/>
            <a:p>
              <a:pPr marL="11206">
                <a:spcBef>
                  <a:spcPts val="106"/>
                </a:spcBef>
              </a:pPr>
              <a:r>
                <a:rPr sz="750" spc="-44" dirty="0">
                  <a:latin typeface="Arial MT"/>
                  <a:cs typeface="Arial MT"/>
                </a:rPr>
                <a:t>K</a:t>
              </a:r>
              <a:endParaRPr sz="750">
                <a:latin typeface="Arial MT"/>
                <a:cs typeface="Arial MT"/>
              </a:endParaRPr>
            </a:p>
          </p:txBody>
        </p:sp>
        <p:sp>
          <p:nvSpPr>
            <p:cNvPr id="394" name="object 394"/>
            <p:cNvSpPr txBox="1"/>
            <p:nvPr/>
          </p:nvSpPr>
          <p:spPr>
            <a:xfrm>
              <a:off x="3247331" y="5428948"/>
              <a:ext cx="577850" cy="218864"/>
            </a:xfrm>
            <a:prstGeom prst="rect">
              <a:avLst/>
            </a:prstGeom>
          </p:spPr>
          <p:txBody>
            <a:bodyPr vert="horz" wrap="square" lIns="0" tIns="13447" rIns="0" bIns="0" rtlCol="0">
              <a:spAutoFit/>
            </a:bodyPr>
            <a:lstStyle/>
            <a:p>
              <a:pPr marL="33619">
                <a:lnSpc>
                  <a:spcPts val="675"/>
                </a:lnSpc>
                <a:spcBef>
                  <a:spcPts val="106"/>
                </a:spcBef>
              </a:pPr>
              <a:r>
                <a:rPr sz="750" spc="-22" dirty="0">
                  <a:latin typeface="Arial MT"/>
                  <a:cs typeface="Arial MT"/>
                </a:rPr>
                <a:t>Cr</a:t>
              </a:r>
              <a:endParaRPr sz="750">
                <a:latin typeface="Arial MT"/>
                <a:cs typeface="Arial MT"/>
              </a:endParaRPr>
            </a:p>
            <a:p>
              <a:pPr marL="154649">
                <a:lnSpc>
                  <a:spcPts val="675"/>
                </a:lnSpc>
              </a:pPr>
              <a:r>
                <a:rPr sz="1125" baseline="-19607" dirty="0">
                  <a:latin typeface="Arial MT"/>
                  <a:cs typeface="Arial MT"/>
                </a:rPr>
                <a:t>Co</a:t>
              </a:r>
              <a:r>
                <a:rPr sz="1125" spc="556" baseline="-19607" dirty="0">
                  <a:latin typeface="Arial MT"/>
                  <a:cs typeface="Arial MT"/>
                </a:rPr>
                <a:t> </a:t>
              </a:r>
              <a:r>
                <a:rPr sz="750" spc="-22" dirty="0">
                  <a:latin typeface="Arial MT"/>
                  <a:cs typeface="Arial MT"/>
                </a:rPr>
                <a:t>Cu</a:t>
              </a:r>
              <a:endParaRPr sz="750">
                <a:latin typeface="Arial MT"/>
                <a:cs typeface="Arial MT"/>
              </a:endParaRPr>
            </a:p>
          </p:txBody>
        </p:sp>
        <p:sp>
          <p:nvSpPr>
            <p:cNvPr id="395" name="object 395"/>
            <p:cNvSpPr txBox="1"/>
            <p:nvPr/>
          </p:nvSpPr>
          <p:spPr>
            <a:xfrm>
              <a:off x="4094324" y="5519789"/>
              <a:ext cx="393065" cy="146194"/>
            </a:xfrm>
            <a:prstGeom prst="rect">
              <a:avLst/>
            </a:prstGeom>
          </p:spPr>
          <p:txBody>
            <a:bodyPr vert="horz" wrap="square" lIns="0" tIns="13447" rIns="0" bIns="0" rtlCol="0">
              <a:spAutoFit/>
            </a:bodyPr>
            <a:lstStyle/>
            <a:p>
              <a:pPr marL="11206">
                <a:spcBef>
                  <a:spcPts val="106"/>
                </a:spcBef>
                <a:tabLst>
                  <a:tab pos="270076" algn="l"/>
                </a:tabLst>
              </a:pPr>
              <a:r>
                <a:rPr sz="750" spc="-22" dirty="0">
                  <a:latin typeface="Arial MT"/>
                  <a:cs typeface="Arial MT"/>
                </a:rPr>
                <a:t>Br</a:t>
              </a:r>
              <a:r>
                <a:rPr sz="750" dirty="0">
                  <a:latin typeface="Arial MT"/>
                  <a:cs typeface="Arial MT"/>
                </a:rPr>
                <a:t>	</a:t>
              </a:r>
              <a:r>
                <a:rPr sz="750" spc="-44" dirty="0">
                  <a:latin typeface="Arial MT"/>
                  <a:cs typeface="Arial MT"/>
                </a:rPr>
                <a:t>Y</a:t>
              </a:r>
              <a:endParaRPr sz="750">
                <a:latin typeface="Arial MT"/>
                <a:cs typeface="Arial MT"/>
              </a:endParaRPr>
            </a:p>
          </p:txBody>
        </p:sp>
        <p:sp>
          <p:nvSpPr>
            <p:cNvPr id="396" name="object 396"/>
            <p:cNvSpPr txBox="1"/>
            <p:nvPr/>
          </p:nvSpPr>
          <p:spPr>
            <a:xfrm>
              <a:off x="4272218" y="4914825"/>
              <a:ext cx="379730" cy="396689"/>
            </a:xfrm>
            <a:prstGeom prst="rect">
              <a:avLst/>
            </a:prstGeom>
          </p:spPr>
          <p:txBody>
            <a:bodyPr vert="horz" wrap="square" lIns="0" tIns="67235" rIns="0" bIns="0" rtlCol="0">
              <a:spAutoFit/>
            </a:bodyPr>
            <a:lstStyle/>
            <a:p>
              <a:pPr marL="176502">
                <a:spcBef>
                  <a:spcPts val="529"/>
                </a:spcBef>
              </a:pPr>
              <a:r>
                <a:rPr sz="750" spc="-22" dirty="0">
                  <a:latin typeface="Arial MT"/>
                  <a:cs typeface="Arial MT"/>
                </a:rPr>
                <a:t>Nb</a:t>
              </a:r>
              <a:endParaRPr sz="750">
                <a:latin typeface="Arial MT"/>
                <a:cs typeface="Arial MT"/>
              </a:endParaRPr>
            </a:p>
            <a:p>
              <a:pPr marL="33619">
                <a:spcBef>
                  <a:spcPts val="441"/>
                </a:spcBef>
              </a:pPr>
              <a:r>
                <a:rPr sz="750" dirty="0">
                  <a:latin typeface="Arial MT"/>
                  <a:cs typeface="Arial MT"/>
                </a:rPr>
                <a:t>Sr</a:t>
              </a:r>
              <a:r>
                <a:rPr sz="750" spc="309" dirty="0">
                  <a:latin typeface="Arial MT"/>
                  <a:cs typeface="Arial MT"/>
                </a:rPr>
                <a:t> </a:t>
              </a:r>
              <a:r>
                <a:rPr sz="1125" spc="-33" baseline="-22875" dirty="0">
                  <a:latin typeface="Arial MT"/>
                  <a:cs typeface="Arial MT"/>
                </a:rPr>
                <a:t>Zr</a:t>
              </a:r>
              <a:endParaRPr sz="1125" baseline="-22875">
                <a:latin typeface="Arial MT"/>
                <a:cs typeface="Arial MT"/>
              </a:endParaRPr>
            </a:p>
          </p:txBody>
        </p:sp>
        <p:sp>
          <p:nvSpPr>
            <p:cNvPr id="397" name="object 397"/>
            <p:cNvSpPr txBox="1"/>
            <p:nvPr/>
          </p:nvSpPr>
          <p:spPr>
            <a:xfrm>
              <a:off x="7093674" y="5186750"/>
              <a:ext cx="16700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Re</a:t>
              </a:r>
              <a:endParaRPr sz="750">
                <a:latin typeface="Arial MT"/>
                <a:cs typeface="Arial MT"/>
              </a:endParaRPr>
            </a:p>
          </p:txBody>
        </p:sp>
        <p:sp>
          <p:nvSpPr>
            <p:cNvPr id="398" name="object 398"/>
            <p:cNvSpPr txBox="1"/>
            <p:nvPr/>
          </p:nvSpPr>
          <p:spPr>
            <a:xfrm>
              <a:off x="6838509" y="4874770"/>
              <a:ext cx="343535" cy="218864"/>
            </a:xfrm>
            <a:prstGeom prst="rect">
              <a:avLst/>
            </a:prstGeom>
          </p:spPr>
          <p:txBody>
            <a:bodyPr vert="horz" wrap="square" lIns="0" tIns="13447" rIns="0" bIns="0" rtlCol="0">
              <a:spAutoFit/>
            </a:bodyPr>
            <a:lstStyle/>
            <a:p>
              <a:pPr marL="162494">
                <a:lnSpc>
                  <a:spcPts val="737"/>
                </a:lnSpc>
                <a:spcBef>
                  <a:spcPts val="106"/>
                </a:spcBef>
              </a:pPr>
              <a:r>
                <a:rPr sz="750" spc="-22" dirty="0">
                  <a:latin typeface="Arial MT"/>
                  <a:cs typeface="Arial MT"/>
                </a:rPr>
                <a:t>Os</a:t>
              </a:r>
              <a:endParaRPr sz="750">
                <a:latin typeface="Arial MT"/>
                <a:cs typeface="Arial MT"/>
              </a:endParaRPr>
            </a:p>
            <a:p>
              <a:pPr marL="11206">
                <a:lnSpc>
                  <a:spcPts val="737"/>
                </a:lnSpc>
              </a:pPr>
              <a:r>
                <a:rPr sz="750" spc="-22" dirty="0">
                  <a:latin typeface="Arial MT"/>
                  <a:cs typeface="Arial MT"/>
                </a:rPr>
                <a:t>Hf</a:t>
              </a:r>
              <a:endParaRPr sz="750">
                <a:latin typeface="Arial MT"/>
                <a:cs typeface="Arial MT"/>
              </a:endParaRPr>
            </a:p>
          </p:txBody>
        </p:sp>
        <p:sp>
          <p:nvSpPr>
            <p:cNvPr id="399" name="object 399"/>
            <p:cNvSpPr txBox="1"/>
            <p:nvPr/>
          </p:nvSpPr>
          <p:spPr>
            <a:xfrm>
              <a:off x="7213324" y="5038273"/>
              <a:ext cx="93981"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Ir</a:t>
              </a:r>
              <a:endParaRPr sz="750">
                <a:latin typeface="Arial MT"/>
                <a:cs typeface="Arial MT"/>
              </a:endParaRPr>
            </a:p>
          </p:txBody>
        </p:sp>
        <p:pic>
          <p:nvPicPr>
            <p:cNvPr id="400" name="object 400"/>
            <p:cNvPicPr/>
            <p:nvPr/>
          </p:nvPicPr>
          <p:blipFill>
            <a:blip r:embed="rId34" cstate="print"/>
            <a:stretch>
              <a:fillRect/>
            </a:stretch>
          </p:blipFill>
          <p:spPr>
            <a:xfrm>
              <a:off x="5409615" y="4919027"/>
              <a:ext cx="4597" cy="1286281"/>
            </a:xfrm>
            <a:prstGeom prst="rect">
              <a:avLst/>
            </a:prstGeom>
          </p:spPr>
        </p:pic>
        <p:sp>
          <p:nvSpPr>
            <p:cNvPr id="401" name="object 401"/>
            <p:cNvSpPr txBox="1"/>
            <p:nvPr/>
          </p:nvSpPr>
          <p:spPr>
            <a:xfrm>
              <a:off x="5306448" y="4702715"/>
              <a:ext cx="353695" cy="146194"/>
            </a:xfrm>
            <a:prstGeom prst="rect">
              <a:avLst/>
            </a:prstGeom>
          </p:spPr>
          <p:txBody>
            <a:bodyPr vert="horz" wrap="square" lIns="0" tIns="13447" rIns="0" bIns="0" rtlCol="0">
              <a:spAutoFit/>
            </a:bodyPr>
            <a:lstStyle/>
            <a:p>
              <a:pPr marL="11206">
                <a:spcBef>
                  <a:spcPts val="106"/>
                </a:spcBef>
              </a:pPr>
              <a:r>
                <a:rPr sz="750" dirty="0">
                  <a:latin typeface="Arial MT"/>
                  <a:cs typeface="Arial MT"/>
                </a:rPr>
                <a:t>Te</a:t>
              </a:r>
              <a:r>
                <a:rPr sz="750" spc="238" dirty="0">
                  <a:latin typeface="Arial MT"/>
                  <a:cs typeface="Arial MT"/>
                </a:rPr>
                <a:t> </a:t>
              </a:r>
              <a:r>
                <a:rPr sz="750" spc="-22" dirty="0">
                  <a:latin typeface="Arial MT"/>
                  <a:cs typeface="Arial MT"/>
                </a:rPr>
                <a:t>Xe</a:t>
              </a:r>
              <a:endParaRPr sz="750">
                <a:latin typeface="Arial MT"/>
                <a:cs typeface="Arial MT"/>
              </a:endParaRPr>
            </a:p>
          </p:txBody>
        </p:sp>
        <p:sp>
          <p:nvSpPr>
            <p:cNvPr id="402" name="object 402"/>
            <p:cNvSpPr txBox="1"/>
            <p:nvPr/>
          </p:nvSpPr>
          <p:spPr>
            <a:xfrm>
              <a:off x="2173910" y="3762920"/>
              <a:ext cx="658495" cy="146194"/>
            </a:xfrm>
            <a:prstGeom prst="rect">
              <a:avLst/>
            </a:prstGeom>
          </p:spPr>
          <p:txBody>
            <a:bodyPr vert="horz" wrap="square" lIns="0" tIns="13447" rIns="0" bIns="0" rtlCol="0">
              <a:spAutoFit/>
            </a:bodyPr>
            <a:lstStyle/>
            <a:p>
              <a:pPr marL="33619">
                <a:spcBef>
                  <a:spcPts val="106"/>
                </a:spcBef>
              </a:pPr>
              <a:r>
                <a:rPr sz="750" dirty="0">
                  <a:latin typeface="Arial MT"/>
                  <a:cs typeface="Arial MT"/>
                </a:rPr>
                <a:t>Ne</a:t>
              </a:r>
              <a:r>
                <a:rPr sz="750" spc="13" dirty="0">
                  <a:latin typeface="Arial MT"/>
                  <a:cs typeface="Arial MT"/>
                </a:rPr>
                <a:t> </a:t>
              </a:r>
              <a:r>
                <a:rPr sz="750" dirty="0">
                  <a:latin typeface="Arial MT"/>
                  <a:cs typeface="Arial MT"/>
                </a:rPr>
                <a:t>Mg</a:t>
              </a:r>
              <a:r>
                <a:rPr sz="750" spc="-22" dirty="0">
                  <a:latin typeface="Arial MT"/>
                  <a:cs typeface="Arial MT"/>
                </a:rPr>
                <a:t> </a:t>
              </a:r>
              <a:r>
                <a:rPr sz="1125" baseline="3267" dirty="0">
                  <a:latin typeface="Arial MT"/>
                  <a:cs typeface="Arial MT"/>
                </a:rPr>
                <a:t>Si</a:t>
              </a:r>
              <a:r>
                <a:rPr sz="1125" spc="337" baseline="3267" dirty="0">
                  <a:latin typeface="Arial MT"/>
                  <a:cs typeface="Arial MT"/>
                </a:rPr>
                <a:t> </a:t>
              </a:r>
              <a:r>
                <a:rPr sz="1125" spc="-66" baseline="-39215" dirty="0">
                  <a:latin typeface="Arial MT"/>
                  <a:cs typeface="Arial MT"/>
                </a:rPr>
                <a:t>S</a:t>
              </a:r>
              <a:endParaRPr sz="1125" baseline="-39215">
                <a:latin typeface="Arial MT"/>
                <a:cs typeface="Arial MT"/>
              </a:endParaRPr>
            </a:p>
          </p:txBody>
        </p:sp>
        <p:sp>
          <p:nvSpPr>
            <p:cNvPr id="403" name="object 403"/>
            <p:cNvSpPr txBox="1"/>
            <p:nvPr/>
          </p:nvSpPr>
          <p:spPr>
            <a:xfrm>
              <a:off x="3036460" y="4000109"/>
              <a:ext cx="372110" cy="393270"/>
            </a:xfrm>
            <a:prstGeom prst="rect">
              <a:avLst/>
            </a:prstGeom>
          </p:spPr>
          <p:txBody>
            <a:bodyPr vert="horz" wrap="square" lIns="0" tIns="13447" rIns="0" bIns="0" rtlCol="0">
              <a:spAutoFit/>
            </a:bodyPr>
            <a:lstStyle/>
            <a:p>
              <a:pPr marL="11206">
                <a:lnSpc>
                  <a:spcPts val="869"/>
                </a:lnSpc>
                <a:spcBef>
                  <a:spcPts val="106"/>
                </a:spcBef>
              </a:pPr>
              <a:r>
                <a:rPr sz="750" spc="-22" dirty="0">
                  <a:latin typeface="Arial MT"/>
                  <a:cs typeface="Arial MT"/>
                </a:rPr>
                <a:t>Ca</a:t>
              </a:r>
              <a:endParaRPr sz="750">
                <a:latin typeface="Arial MT"/>
                <a:cs typeface="Arial MT"/>
              </a:endParaRPr>
            </a:p>
            <a:p>
              <a:pPr marL="214044">
                <a:lnSpc>
                  <a:spcPts val="833"/>
                </a:lnSpc>
              </a:pPr>
              <a:r>
                <a:rPr sz="750" spc="-22" dirty="0">
                  <a:latin typeface="Arial MT"/>
                  <a:cs typeface="Arial MT"/>
                </a:rPr>
                <a:t>Cr</a:t>
              </a:r>
              <a:endParaRPr sz="750">
                <a:latin typeface="Arial MT"/>
                <a:cs typeface="Arial MT"/>
              </a:endParaRPr>
            </a:p>
            <a:p>
              <a:pPr marL="81247">
                <a:lnSpc>
                  <a:spcPts val="865"/>
                </a:lnSpc>
              </a:pPr>
              <a:r>
                <a:rPr sz="750" spc="-22" dirty="0">
                  <a:latin typeface="Arial MT"/>
                  <a:cs typeface="Arial MT"/>
                </a:rPr>
                <a:t>Ti</a:t>
              </a:r>
              <a:endParaRPr sz="750">
                <a:latin typeface="Arial MT"/>
                <a:cs typeface="Arial MT"/>
              </a:endParaRPr>
            </a:p>
          </p:txBody>
        </p:sp>
        <p:sp>
          <p:nvSpPr>
            <p:cNvPr id="404" name="object 404"/>
            <p:cNvSpPr txBox="1"/>
            <p:nvPr/>
          </p:nvSpPr>
          <p:spPr>
            <a:xfrm>
              <a:off x="4015780" y="4593837"/>
              <a:ext cx="160655" cy="146194"/>
            </a:xfrm>
            <a:prstGeom prst="rect">
              <a:avLst/>
            </a:prstGeom>
          </p:spPr>
          <p:txBody>
            <a:bodyPr vert="horz" wrap="square" lIns="0" tIns="13447" rIns="0" bIns="0" rtlCol="0">
              <a:spAutoFit/>
            </a:bodyPr>
            <a:lstStyle/>
            <a:p>
              <a:pPr marL="11206">
                <a:spcBef>
                  <a:spcPts val="106"/>
                </a:spcBef>
              </a:pPr>
              <a:r>
                <a:rPr sz="750" spc="-22" dirty="0">
                  <a:latin typeface="Arial MT"/>
                  <a:cs typeface="Arial MT"/>
                </a:rPr>
                <a:t>Se</a:t>
              </a:r>
              <a:endParaRPr sz="750">
                <a:latin typeface="Arial MT"/>
                <a:cs typeface="Arial MT"/>
              </a:endParaRPr>
            </a:p>
          </p:txBody>
        </p:sp>
        <p:sp>
          <p:nvSpPr>
            <p:cNvPr id="405" name="object 405"/>
            <p:cNvSpPr txBox="1"/>
            <p:nvPr/>
          </p:nvSpPr>
          <p:spPr>
            <a:xfrm>
              <a:off x="1395566" y="6590327"/>
              <a:ext cx="7318375" cy="580235"/>
            </a:xfrm>
            <a:prstGeom prst="rect">
              <a:avLst/>
            </a:prstGeom>
          </p:spPr>
          <p:txBody>
            <a:bodyPr vert="horz" wrap="square" lIns="0" tIns="14007" rIns="0" bIns="0" rtlCol="0">
              <a:spAutoFit/>
            </a:bodyPr>
            <a:lstStyle/>
            <a:p>
              <a:pPr marR="72282" algn="ctr">
                <a:spcBef>
                  <a:spcPts val="110"/>
                </a:spcBef>
              </a:pPr>
              <a:r>
                <a:rPr sz="1235" dirty="0">
                  <a:latin typeface="Arial MT"/>
                  <a:cs typeface="Arial MT"/>
                </a:rPr>
                <a:t>Z</a:t>
              </a:r>
              <a:r>
                <a:rPr sz="1235" spc="97" dirty="0">
                  <a:latin typeface="Arial MT"/>
                  <a:cs typeface="Arial MT"/>
                </a:rPr>
                <a:t> </a:t>
              </a:r>
              <a:r>
                <a:rPr sz="1235" dirty="0">
                  <a:latin typeface="Arial MT"/>
                  <a:cs typeface="Arial MT"/>
                </a:rPr>
                <a:t>(atomic</a:t>
              </a:r>
              <a:r>
                <a:rPr sz="1235" spc="84" dirty="0">
                  <a:latin typeface="Arial MT"/>
                  <a:cs typeface="Arial MT"/>
                </a:rPr>
                <a:t> </a:t>
              </a:r>
              <a:r>
                <a:rPr sz="1235" spc="-9" dirty="0">
                  <a:latin typeface="Arial MT"/>
                  <a:cs typeface="Arial MT"/>
                </a:rPr>
                <a:t>number)</a:t>
              </a:r>
              <a:endParaRPr sz="1235" dirty="0">
                <a:latin typeface="Arial MT"/>
                <a:cs typeface="Arial MT"/>
              </a:endParaRPr>
            </a:p>
            <a:p>
              <a:pPr marL="11206" marR="1050047">
                <a:lnSpc>
                  <a:spcPts val="891"/>
                </a:lnSpc>
                <a:spcBef>
                  <a:spcPts val="609"/>
                </a:spcBef>
              </a:pPr>
              <a:r>
                <a:rPr sz="750" dirty="0">
                  <a:latin typeface="Arial MT"/>
                  <a:cs typeface="Arial MT"/>
                </a:rPr>
                <a:t>Cosmic</a:t>
              </a:r>
              <a:r>
                <a:rPr sz="750" spc="31" dirty="0">
                  <a:latin typeface="Arial MT"/>
                  <a:cs typeface="Arial MT"/>
                </a:rPr>
                <a:t> </a:t>
              </a:r>
              <a:r>
                <a:rPr sz="750" dirty="0">
                  <a:latin typeface="Arial MT"/>
                  <a:cs typeface="Arial MT"/>
                </a:rPr>
                <a:t>abundances</a:t>
              </a:r>
              <a:r>
                <a:rPr sz="750" spc="18" dirty="0">
                  <a:latin typeface="Arial MT"/>
                  <a:cs typeface="Arial MT"/>
                </a:rPr>
                <a:t> </a:t>
              </a:r>
              <a:r>
                <a:rPr sz="750" dirty="0">
                  <a:latin typeface="Arial MT"/>
                  <a:cs typeface="Arial MT"/>
                </a:rPr>
                <a:t>are</a:t>
              </a:r>
              <a:r>
                <a:rPr sz="750" spc="22" dirty="0">
                  <a:latin typeface="Arial MT"/>
                  <a:cs typeface="Arial MT"/>
                </a:rPr>
                <a:t> </a:t>
              </a:r>
              <a:r>
                <a:rPr sz="750" dirty="0">
                  <a:latin typeface="Arial MT"/>
                  <a:cs typeface="Arial MT"/>
                </a:rPr>
                <a:t>from</a:t>
              </a:r>
              <a:r>
                <a:rPr sz="750" spc="40" dirty="0">
                  <a:latin typeface="Arial MT"/>
                  <a:cs typeface="Arial MT"/>
                </a:rPr>
                <a:t> </a:t>
              </a:r>
              <a:r>
                <a:rPr sz="750" dirty="0">
                  <a:latin typeface="Arial MT"/>
                  <a:cs typeface="Arial MT"/>
                </a:rPr>
                <a:t>Ahrens,</a:t>
              </a:r>
              <a:r>
                <a:rPr sz="750" spc="18" dirty="0">
                  <a:latin typeface="Arial MT"/>
                  <a:cs typeface="Arial MT"/>
                </a:rPr>
                <a:t> </a:t>
              </a:r>
              <a:r>
                <a:rPr sz="750" dirty="0">
                  <a:latin typeface="Arial MT"/>
                  <a:cs typeface="Arial MT"/>
                </a:rPr>
                <a:t>L.H.,</a:t>
              </a:r>
              <a:r>
                <a:rPr sz="750" spc="35" dirty="0">
                  <a:latin typeface="Arial MT"/>
                  <a:cs typeface="Arial MT"/>
                </a:rPr>
                <a:t> </a:t>
              </a:r>
              <a:r>
                <a:rPr sz="750" dirty="0">
                  <a:latin typeface="Arial MT"/>
                  <a:cs typeface="Arial MT"/>
                </a:rPr>
                <a:t>1965,</a:t>
              </a:r>
              <a:r>
                <a:rPr sz="750" spc="4" dirty="0">
                  <a:latin typeface="Arial MT"/>
                  <a:cs typeface="Arial MT"/>
                </a:rPr>
                <a:t> </a:t>
              </a:r>
              <a:r>
                <a:rPr sz="750" i="1" dirty="0">
                  <a:latin typeface="Arial"/>
                  <a:cs typeface="Arial"/>
                </a:rPr>
                <a:t>Distribution</a:t>
              </a:r>
              <a:r>
                <a:rPr sz="750" i="1" spc="4" dirty="0">
                  <a:latin typeface="Arial"/>
                  <a:cs typeface="Arial"/>
                </a:rPr>
                <a:t> </a:t>
              </a:r>
              <a:r>
                <a:rPr sz="750" i="1" dirty="0">
                  <a:latin typeface="Arial"/>
                  <a:cs typeface="Arial"/>
                </a:rPr>
                <a:t>of</a:t>
              </a:r>
              <a:r>
                <a:rPr sz="750" i="1" spc="35" dirty="0">
                  <a:latin typeface="Arial"/>
                  <a:cs typeface="Arial"/>
                </a:rPr>
                <a:t> </a:t>
              </a:r>
              <a:r>
                <a:rPr sz="750" i="1" dirty="0">
                  <a:latin typeface="Arial"/>
                  <a:cs typeface="Arial"/>
                </a:rPr>
                <a:t>the</a:t>
              </a:r>
              <a:r>
                <a:rPr sz="750" i="1" spc="31" dirty="0">
                  <a:latin typeface="Arial"/>
                  <a:cs typeface="Arial"/>
                </a:rPr>
                <a:t> </a:t>
              </a:r>
              <a:r>
                <a:rPr sz="750" i="1" dirty="0">
                  <a:latin typeface="Arial"/>
                  <a:cs typeface="Arial"/>
                </a:rPr>
                <a:t>Elements</a:t>
              </a:r>
              <a:r>
                <a:rPr sz="750" i="1" spc="18" dirty="0">
                  <a:latin typeface="Arial"/>
                  <a:cs typeface="Arial"/>
                </a:rPr>
                <a:t> </a:t>
              </a:r>
              <a:r>
                <a:rPr sz="750" i="1" dirty="0">
                  <a:latin typeface="Arial"/>
                  <a:cs typeface="Arial"/>
                </a:rPr>
                <a:t>in</a:t>
              </a:r>
              <a:r>
                <a:rPr sz="750" i="1" spc="4" dirty="0">
                  <a:latin typeface="Arial"/>
                  <a:cs typeface="Arial"/>
                </a:rPr>
                <a:t> </a:t>
              </a:r>
              <a:r>
                <a:rPr sz="750" i="1" dirty="0">
                  <a:latin typeface="Arial"/>
                  <a:cs typeface="Arial"/>
                </a:rPr>
                <a:t>our</a:t>
              </a:r>
              <a:r>
                <a:rPr sz="750" i="1" spc="22" dirty="0">
                  <a:latin typeface="Arial"/>
                  <a:cs typeface="Arial"/>
                </a:rPr>
                <a:t> </a:t>
              </a:r>
              <a:r>
                <a:rPr sz="750" i="1" dirty="0">
                  <a:latin typeface="Arial"/>
                  <a:cs typeface="Arial"/>
                </a:rPr>
                <a:t>Planet:</a:t>
              </a:r>
              <a:r>
                <a:rPr sz="750" i="1" spc="40" dirty="0">
                  <a:latin typeface="Arial"/>
                  <a:cs typeface="Arial"/>
                </a:rPr>
                <a:t> </a:t>
              </a:r>
              <a:r>
                <a:rPr sz="750" dirty="0">
                  <a:latin typeface="Arial MT"/>
                  <a:cs typeface="Arial MT"/>
                </a:rPr>
                <a:t>New</a:t>
              </a:r>
              <a:r>
                <a:rPr sz="750" spc="31" dirty="0">
                  <a:latin typeface="Arial MT"/>
                  <a:cs typeface="Arial MT"/>
                </a:rPr>
                <a:t> </a:t>
              </a:r>
              <a:r>
                <a:rPr sz="750" dirty="0">
                  <a:latin typeface="Arial MT"/>
                  <a:cs typeface="Arial MT"/>
                </a:rPr>
                <a:t>York,</a:t>
              </a:r>
              <a:r>
                <a:rPr sz="750" spc="35" dirty="0">
                  <a:latin typeface="Arial MT"/>
                  <a:cs typeface="Arial MT"/>
                </a:rPr>
                <a:t> </a:t>
              </a:r>
              <a:r>
                <a:rPr sz="750" dirty="0">
                  <a:latin typeface="Arial MT"/>
                  <a:cs typeface="Arial MT"/>
                </a:rPr>
                <a:t>McGraw-Hill,</a:t>
              </a:r>
              <a:r>
                <a:rPr sz="750" spc="31" dirty="0">
                  <a:latin typeface="Arial MT"/>
                  <a:cs typeface="Arial MT"/>
                </a:rPr>
                <a:t> </a:t>
              </a:r>
              <a:r>
                <a:rPr sz="750" dirty="0">
                  <a:latin typeface="Arial MT"/>
                  <a:cs typeface="Arial MT"/>
                </a:rPr>
                <a:t>110</a:t>
              </a:r>
              <a:r>
                <a:rPr sz="750" spc="35" dirty="0">
                  <a:latin typeface="Arial MT"/>
                  <a:cs typeface="Arial MT"/>
                </a:rPr>
                <a:t> </a:t>
              </a:r>
              <a:r>
                <a:rPr sz="750" spc="-22" dirty="0">
                  <a:latin typeface="Arial MT"/>
                  <a:cs typeface="Arial MT"/>
                </a:rPr>
                <a:t>p.; </a:t>
              </a:r>
              <a:r>
                <a:rPr sz="750" dirty="0">
                  <a:latin typeface="Arial MT"/>
                  <a:cs typeface="Arial MT"/>
                </a:rPr>
                <a:t>Crustal</a:t>
              </a:r>
              <a:r>
                <a:rPr sz="750" spc="40" dirty="0">
                  <a:latin typeface="Arial MT"/>
                  <a:cs typeface="Arial MT"/>
                </a:rPr>
                <a:t> </a:t>
              </a:r>
              <a:r>
                <a:rPr sz="750" dirty="0">
                  <a:latin typeface="Arial MT"/>
                  <a:cs typeface="Arial MT"/>
                </a:rPr>
                <a:t>abundances</a:t>
              </a:r>
              <a:r>
                <a:rPr sz="750" spc="53" dirty="0">
                  <a:latin typeface="Arial MT"/>
                  <a:cs typeface="Arial MT"/>
                </a:rPr>
                <a:t> </a:t>
              </a:r>
              <a:r>
                <a:rPr sz="750" dirty="0">
                  <a:latin typeface="Arial MT"/>
                  <a:cs typeface="Arial MT"/>
                </a:rPr>
                <a:t>are</a:t>
              </a:r>
              <a:r>
                <a:rPr sz="750" spc="18" dirty="0">
                  <a:latin typeface="Arial MT"/>
                  <a:cs typeface="Arial MT"/>
                </a:rPr>
                <a:t> </a:t>
              </a:r>
              <a:r>
                <a:rPr sz="750" dirty="0">
                  <a:latin typeface="Arial MT"/>
                  <a:cs typeface="Arial MT"/>
                </a:rPr>
                <a:t>from</a:t>
              </a:r>
              <a:r>
                <a:rPr sz="750" spc="35" dirty="0">
                  <a:latin typeface="Arial MT"/>
                  <a:cs typeface="Arial MT"/>
                </a:rPr>
                <a:t> </a:t>
              </a:r>
              <a:r>
                <a:rPr sz="750" dirty="0">
                  <a:latin typeface="Arial MT"/>
                  <a:cs typeface="Arial MT"/>
                </a:rPr>
                <a:t>Krauskopf,</a:t>
              </a:r>
              <a:r>
                <a:rPr sz="750" spc="26" dirty="0">
                  <a:latin typeface="Arial MT"/>
                  <a:cs typeface="Arial MT"/>
                </a:rPr>
                <a:t> </a:t>
              </a:r>
              <a:r>
                <a:rPr sz="750" dirty="0">
                  <a:latin typeface="Arial MT"/>
                  <a:cs typeface="Arial MT"/>
                </a:rPr>
                <a:t>K.B., 1979,</a:t>
              </a:r>
              <a:r>
                <a:rPr sz="750" spc="35" dirty="0">
                  <a:latin typeface="Arial MT"/>
                  <a:cs typeface="Arial MT"/>
                </a:rPr>
                <a:t> </a:t>
              </a:r>
              <a:r>
                <a:rPr sz="750" i="1" dirty="0">
                  <a:latin typeface="Arial"/>
                  <a:cs typeface="Arial"/>
                </a:rPr>
                <a:t>Introduction</a:t>
              </a:r>
              <a:r>
                <a:rPr sz="750" i="1" spc="26" dirty="0">
                  <a:latin typeface="Arial"/>
                  <a:cs typeface="Arial"/>
                </a:rPr>
                <a:t> </a:t>
              </a:r>
              <a:r>
                <a:rPr sz="750" i="1" dirty="0">
                  <a:latin typeface="Arial"/>
                  <a:cs typeface="Arial"/>
                </a:rPr>
                <a:t>to</a:t>
              </a:r>
              <a:r>
                <a:rPr sz="750" i="1" spc="31" dirty="0">
                  <a:latin typeface="Arial"/>
                  <a:cs typeface="Arial"/>
                </a:rPr>
                <a:t> </a:t>
              </a:r>
              <a:r>
                <a:rPr sz="750" i="1" dirty="0">
                  <a:latin typeface="Arial"/>
                  <a:cs typeface="Arial"/>
                </a:rPr>
                <a:t>Geochemistry </a:t>
              </a:r>
              <a:r>
                <a:rPr sz="750" dirty="0">
                  <a:latin typeface="Arial MT"/>
                  <a:cs typeface="Arial MT"/>
                </a:rPr>
                <a:t>(2nd edn.):</a:t>
              </a:r>
              <a:r>
                <a:rPr sz="750" spc="18" dirty="0">
                  <a:latin typeface="Arial MT"/>
                  <a:cs typeface="Arial MT"/>
                </a:rPr>
                <a:t> </a:t>
              </a:r>
              <a:r>
                <a:rPr sz="750" dirty="0">
                  <a:latin typeface="Arial MT"/>
                  <a:cs typeface="Arial MT"/>
                </a:rPr>
                <a:t>New</a:t>
              </a:r>
              <a:r>
                <a:rPr sz="750" spc="31" dirty="0">
                  <a:latin typeface="Arial MT"/>
                  <a:cs typeface="Arial MT"/>
                </a:rPr>
                <a:t> </a:t>
              </a:r>
              <a:r>
                <a:rPr sz="750" dirty="0">
                  <a:latin typeface="Arial MT"/>
                  <a:cs typeface="Arial MT"/>
                </a:rPr>
                <a:t>York,</a:t>
              </a:r>
              <a:r>
                <a:rPr sz="750" spc="26" dirty="0">
                  <a:latin typeface="Arial MT"/>
                  <a:cs typeface="Arial MT"/>
                </a:rPr>
                <a:t> </a:t>
              </a:r>
              <a:r>
                <a:rPr sz="750" dirty="0">
                  <a:latin typeface="Arial MT"/>
                  <a:cs typeface="Arial MT"/>
                </a:rPr>
                <a:t>McGraw</a:t>
              </a:r>
              <a:r>
                <a:rPr sz="750" spc="31" dirty="0">
                  <a:latin typeface="Arial MT"/>
                  <a:cs typeface="Arial MT"/>
                </a:rPr>
                <a:t> </a:t>
              </a:r>
              <a:r>
                <a:rPr sz="750" dirty="0">
                  <a:latin typeface="Arial MT"/>
                  <a:cs typeface="Arial MT"/>
                </a:rPr>
                <a:t>Hill,</a:t>
              </a:r>
              <a:r>
                <a:rPr sz="750" spc="9" dirty="0">
                  <a:latin typeface="Arial MT"/>
                  <a:cs typeface="Arial MT"/>
                </a:rPr>
                <a:t> </a:t>
              </a:r>
              <a:r>
                <a:rPr sz="750" dirty="0">
                  <a:latin typeface="Arial MT"/>
                  <a:cs typeface="Arial MT"/>
                </a:rPr>
                <a:t>617</a:t>
              </a:r>
              <a:r>
                <a:rPr sz="750" spc="31" dirty="0">
                  <a:latin typeface="Arial MT"/>
                  <a:cs typeface="Arial MT"/>
                </a:rPr>
                <a:t> </a:t>
              </a:r>
              <a:r>
                <a:rPr sz="750" spc="-22" dirty="0">
                  <a:latin typeface="Arial MT"/>
                  <a:cs typeface="Arial MT"/>
                </a:rPr>
                <a:t>p.</a:t>
              </a:r>
              <a:endParaRPr sz="750" dirty="0">
                <a:latin typeface="Arial MT"/>
                <a:cs typeface="Arial MT"/>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A6622-FD20-4010-8821-E91EC95DE6AB}"/>
              </a:ext>
            </a:extLst>
          </p:cNvPr>
          <p:cNvSpPr>
            <a:spLocks noGrp="1"/>
          </p:cNvSpPr>
          <p:nvPr>
            <p:ph type="title"/>
          </p:nvPr>
        </p:nvSpPr>
        <p:spPr/>
        <p:txBody>
          <a:bodyPr/>
          <a:lstStyle/>
          <a:p>
            <a:endParaRPr lang="en-IN"/>
          </a:p>
        </p:txBody>
      </p:sp>
      <p:pic>
        <p:nvPicPr>
          <p:cNvPr id="4" name="Picture 4">
            <a:extLst>
              <a:ext uri="{FF2B5EF4-FFF2-40B4-BE49-F238E27FC236}">
                <a16:creationId xmlns:a16="http://schemas.microsoft.com/office/drawing/2014/main" id="{BE81B354-8B7F-4112-A847-11D59954CE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11" t="4417" r="7454" b="23283"/>
          <a:stretch>
            <a:fillRect/>
          </a:stretch>
        </p:blipFill>
        <p:spPr bwMode="auto">
          <a:xfrm>
            <a:off x="1752600" y="652839"/>
            <a:ext cx="5486400" cy="5984499"/>
          </a:xfrm>
          <a:prstGeom prst="rect">
            <a:avLst/>
          </a:prstGeom>
          <a:noFill/>
          <a:ln w="25400">
            <a:solidFill>
              <a:srgbClr val="00008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0876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4">
            <a:extLst>
              <a:ext uri="{FF2B5EF4-FFF2-40B4-BE49-F238E27FC236}">
                <a16:creationId xmlns:a16="http://schemas.microsoft.com/office/drawing/2014/main" id="{A7A55457-D5C3-41DD-AF33-A3633E80AB7A}"/>
              </a:ext>
            </a:extLst>
          </p:cNvPr>
          <p:cNvPicPr>
            <a:picLocks noChangeAspect="1" noChangeArrowheads="1"/>
          </p:cNvPicPr>
          <p:nvPr/>
        </p:nvPicPr>
        <p:blipFill>
          <a:blip r:embed="rId2">
            <a:lum bright="-12000"/>
            <a:extLst>
              <a:ext uri="{28A0092B-C50C-407E-A947-70E740481C1C}">
                <a14:useLocalDpi xmlns:a14="http://schemas.microsoft.com/office/drawing/2010/main" val="0"/>
              </a:ext>
            </a:extLst>
          </a:blip>
          <a:srcRect/>
          <a:stretch>
            <a:fillRect/>
          </a:stretch>
        </p:blipFill>
        <p:spPr bwMode="auto">
          <a:xfrm>
            <a:off x="76200" y="2057400"/>
            <a:ext cx="7315200" cy="4495800"/>
          </a:xfrm>
          <a:prstGeom prst="rect">
            <a:avLst/>
          </a:prstGeom>
          <a:noFill/>
          <a:extLst>
            <a:ext uri="{909E8E84-426E-40DD-AFC4-6F175D3DCCD1}">
              <a14:hiddenFill xmlns:a14="http://schemas.microsoft.com/office/drawing/2010/main">
                <a:solidFill>
                  <a:srgbClr val="FFFFFF"/>
                </a:solidFill>
              </a14:hiddenFill>
            </a:ext>
          </a:extLst>
        </p:spPr>
      </p:pic>
      <p:sp>
        <p:nvSpPr>
          <p:cNvPr id="24582" name="Line 6">
            <a:extLst>
              <a:ext uri="{FF2B5EF4-FFF2-40B4-BE49-F238E27FC236}">
                <a16:creationId xmlns:a16="http://schemas.microsoft.com/office/drawing/2014/main" id="{AE414A48-995C-406F-A204-A30CDD485C77}"/>
              </a:ext>
            </a:extLst>
          </p:cNvPr>
          <p:cNvSpPr>
            <a:spLocks noChangeShapeType="1"/>
          </p:cNvSpPr>
          <p:nvPr/>
        </p:nvSpPr>
        <p:spPr bwMode="auto">
          <a:xfrm flipH="1">
            <a:off x="5181600" y="1981200"/>
            <a:ext cx="1447800" cy="7620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4583" name="Line 7">
            <a:extLst>
              <a:ext uri="{FF2B5EF4-FFF2-40B4-BE49-F238E27FC236}">
                <a16:creationId xmlns:a16="http://schemas.microsoft.com/office/drawing/2014/main" id="{6222FE5F-BE49-45C1-9A19-C5C9F80FCE46}"/>
              </a:ext>
            </a:extLst>
          </p:cNvPr>
          <p:cNvSpPr>
            <a:spLocks noChangeShapeType="1"/>
          </p:cNvSpPr>
          <p:nvPr/>
        </p:nvSpPr>
        <p:spPr bwMode="auto">
          <a:xfrm flipH="1">
            <a:off x="4800600" y="3581400"/>
            <a:ext cx="2133600" cy="457200"/>
          </a:xfrm>
          <a:prstGeom prst="line">
            <a:avLst/>
          </a:prstGeom>
          <a:noFill/>
          <a:ln w="254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4584" name="Text Box 8">
            <a:extLst>
              <a:ext uri="{FF2B5EF4-FFF2-40B4-BE49-F238E27FC236}">
                <a16:creationId xmlns:a16="http://schemas.microsoft.com/office/drawing/2014/main" id="{CB637E6F-ECB6-46C7-8DEF-6BF14CB327ED}"/>
              </a:ext>
            </a:extLst>
          </p:cNvPr>
          <p:cNvSpPr txBox="1">
            <a:spLocks noChangeArrowheads="1"/>
          </p:cNvSpPr>
          <p:nvPr/>
        </p:nvSpPr>
        <p:spPr bwMode="auto">
          <a:xfrm>
            <a:off x="6629400" y="1752600"/>
            <a:ext cx="1981200" cy="422275"/>
          </a:xfrm>
          <a:prstGeom prst="rect">
            <a:avLst/>
          </a:prstGeom>
          <a:solidFill>
            <a:srgbClr val="FFFF99"/>
          </a:solidFill>
          <a:ln w="254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chemeClr val="tx1"/>
                </a:solidFill>
              </a:rPr>
              <a:t>MOHO - ~40km</a:t>
            </a:r>
          </a:p>
        </p:txBody>
      </p:sp>
      <p:sp>
        <p:nvSpPr>
          <p:cNvPr id="24585" name="Text Box 9">
            <a:extLst>
              <a:ext uri="{FF2B5EF4-FFF2-40B4-BE49-F238E27FC236}">
                <a16:creationId xmlns:a16="http://schemas.microsoft.com/office/drawing/2014/main" id="{1722EC76-A341-4F91-BCBA-84D18229224C}"/>
              </a:ext>
            </a:extLst>
          </p:cNvPr>
          <p:cNvSpPr txBox="1">
            <a:spLocks noChangeArrowheads="1"/>
          </p:cNvSpPr>
          <p:nvPr/>
        </p:nvSpPr>
        <p:spPr bwMode="auto">
          <a:xfrm>
            <a:off x="6934200" y="3200400"/>
            <a:ext cx="1676400" cy="1031875"/>
          </a:xfrm>
          <a:prstGeom prst="rect">
            <a:avLst/>
          </a:prstGeom>
          <a:solidFill>
            <a:srgbClr val="FFFF99"/>
          </a:solidFill>
          <a:ln w="254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solidFill>
                  <a:schemeClr val="tx1"/>
                </a:solidFill>
              </a:rPr>
              <a:t>Wiechert-Gutenberg discontinuity</a:t>
            </a:r>
            <a:endParaRPr lang="en-US" altLang="en-US" sz="2000" b="1" i="1">
              <a:effectLst>
                <a:outerShdw blurRad="38100" dist="38100" dir="2700000" algn="tl">
                  <a:srgbClr val="000000"/>
                </a:outerShdw>
              </a:effectLst>
            </a:endParaRPr>
          </a:p>
        </p:txBody>
      </p:sp>
      <p:sp>
        <p:nvSpPr>
          <p:cNvPr id="24586" name="Text Box 10">
            <a:extLst>
              <a:ext uri="{FF2B5EF4-FFF2-40B4-BE49-F238E27FC236}">
                <a16:creationId xmlns:a16="http://schemas.microsoft.com/office/drawing/2014/main" id="{5CC6532E-CB4B-4F66-BE27-E1491A7B19A0}"/>
              </a:ext>
            </a:extLst>
          </p:cNvPr>
          <p:cNvSpPr txBox="1">
            <a:spLocks noChangeArrowheads="1"/>
          </p:cNvSpPr>
          <p:nvPr/>
        </p:nvSpPr>
        <p:spPr bwMode="auto">
          <a:xfrm>
            <a:off x="4724400" y="1676400"/>
            <a:ext cx="1600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b="1" i="1">
                <a:effectLst>
                  <a:outerShdw blurRad="38100" dist="38100" dir="2700000" algn="tl">
                    <a:srgbClr val="C0C0C0"/>
                  </a:outerShdw>
                </a:effectLst>
              </a:rPr>
              <a:t>CRUST</a:t>
            </a:r>
          </a:p>
        </p:txBody>
      </p:sp>
      <p:sp>
        <p:nvSpPr>
          <p:cNvPr id="24587" name="Text Box 11">
            <a:extLst>
              <a:ext uri="{FF2B5EF4-FFF2-40B4-BE49-F238E27FC236}">
                <a16:creationId xmlns:a16="http://schemas.microsoft.com/office/drawing/2014/main" id="{7B041C59-1430-43B7-B852-14C9A194C9F5}"/>
              </a:ext>
            </a:extLst>
          </p:cNvPr>
          <p:cNvSpPr txBox="1">
            <a:spLocks noChangeArrowheads="1"/>
          </p:cNvSpPr>
          <p:nvPr/>
        </p:nvSpPr>
        <p:spPr bwMode="auto">
          <a:xfrm>
            <a:off x="3962400" y="5638800"/>
            <a:ext cx="1600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b="1" i="1">
                <a:effectLst>
                  <a:outerShdw blurRad="38100" dist="38100" dir="2700000" algn="tl">
                    <a:srgbClr val="C0C0C0"/>
                  </a:outerShdw>
                </a:effectLst>
              </a:rPr>
              <a:t>CORE</a:t>
            </a:r>
          </a:p>
        </p:txBody>
      </p:sp>
      <p:sp>
        <p:nvSpPr>
          <p:cNvPr id="24588" name="Rectangle 12">
            <a:extLst>
              <a:ext uri="{FF2B5EF4-FFF2-40B4-BE49-F238E27FC236}">
                <a16:creationId xmlns:a16="http://schemas.microsoft.com/office/drawing/2014/main" id="{1E7B5550-4EB7-4093-A228-2DF71793A550}"/>
              </a:ext>
            </a:extLst>
          </p:cNvPr>
          <p:cNvSpPr>
            <a:spLocks noGrp="1" noChangeArrowheads="1"/>
          </p:cNvSpPr>
          <p:nvPr>
            <p:ph type="title"/>
          </p:nvPr>
        </p:nvSpPr>
        <p:spPr>
          <a:xfrm>
            <a:off x="1143000" y="990600"/>
            <a:ext cx="7335838" cy="533400"/>
          </a:xfrm>
          <a:noFill/>
          <a:ln/>
        </p:spPr>
        <p:txBody>
          <a:bodyPr/>
          <a:lstStyle/>
          <a:p>
            <a:pPr algn="ctr"/>
            <a:r>
              <a:rPr lang="en-US" altLang="en-US" sz="36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3 Major Zones, 2 Transitions</a:t>
            </a:r>
          </a:p>
        </p:txBody>
      </p:sp>
      <p:sp>
        <p:nvSpPr>
          <p:cNvPr id="24589" name="Rectangle 13">
            <a:extLst>
              <a:ext uri="{FF2B5EF4-FFF2-40B4-BE49-F238E27FC236}">
                <a16:creationId xmlns:a16="http://schemas.microsoft.com/office/drawing/2014/main" id="{797948DB-05A1-47B5-BE77-4ACD0DAC57D0}"/>
              </a:ext>
            </a:extLst>
          </p:cNvPr>
          <p:cNvSpPr>
            <a:spLocks noChangeArrowheads="1"/>
          </p:cNvSpPr>
          <p:nvPr/>
        </p:nvSpPr>
        <p:spPr bwMode="auto">
          <a:xfrm>
            <a:off x="1150938" y="228600"/>
            <a:ext cx="745966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4400">
                <a:solidFill>
                  <a:schemeClr val="tx2"/>
                </a:solidFill>
                <a:latin typeface="Tahoma" panose="020B0604030504040204" pitchFamily="34" charset="0"/>
                <a:cs typeface="Arial" panose="020B0604020202020204" pitchFamily="34" charset="0"/>
              </a:defRPr>
            </a:lvl1pPr>
            <a:lvl2pPr>
              <a:defRPr sz="4400">
                <a:solidFill>
                  <a:schemeClr val="tx2"/>
                </a:solidFill>
                <a:latin typeface="Tahoma" panose="020B0604030504040204" pitchFamily="34" charset="0"/>
                <a:cs typeface="Arial" panose="020B0604020202020204" pitchFamily="34" charset="0"/>
              </a:defRPr>
            </a:lvl2pPr>
            <a:lvl3pPr>
              <a:defRPr sz="4400">
                <a:solidFill>
                  <a:schemeClr val="tx2"/>
                </a:solidFill>
                <a:latin typeface="Tahoma" panose="020B0604030504040204" pitchFamily="34" charset="0"/>
                <a:cs typeface="Arial" panose="020B0604020202020204" pitchFamily="34" charset="0"/>
              </a:defRPr>
            </a:lvl3pPr>
            <a:lvl4pPr>
              <a:defRPr sz="4400">
                <a:solidFill>
                  <a:schemeClr val="tx2"/>
                </a:solidFill>
                <a:latin typeface="Tahoma" panose="020B0604030504040204" pitchFamily="34" charset="0"/>
                <a:cs typeface="Arial" panose="020B0604020202020204" pitchFamily="34" charset="0"/>
              </a:defRPr>
            </a:lvl4pPr>
            <a:lvl5pPr>
              <a:defRPr sz="4400">
                <a:solidFill>
                  <a:schemeClr val="tx2"/>
                </a:solidFill>
                <a:latin typeface="Tahoma" panose="020B0604030504040204" pitchFamily="34" charset="0"/>
                <a:cs typeface="Arial" panose="020B0604020202020204" pitchFamily="34" charset="0"/>
              </a:defRPr>
            </a:lvl5pPr>
            <a:lvl6pPr marL="457200" fontAlgn="base">
              <a:spcBef>
                <a:spcPct val="0"/>
              </a:spcBef>
              <a:spcAft>
                <a:spcPct val="0"/>
              </a:spcAft>
              <a:defRPr sz="4400">
                <a:solidFill>
                  <a:schemeClr val="tx2"/>
                </a:solidFill>
                <a:latin typeface="Tahoma" panose="020B0604030504040204" pitchFamily="34" charset="0"/>
                <a:cs typeface="Arial" panose="020B0604020202020204" pitchFamily="34" charset="0"/>
              </a:defRPr>
            </a:lvl6pPr>
            <a:lvl7pPr marL="914400" fontAlgn="base">
              <a:spcBef>
                <a:spcPct val="0"/>
              </a:spcBef>
              <a:spcAft>
                <a:spcPct val="0"/>
              </a:spcAft>
              <a:defRPr sz="4400">
                <a:solidFill>
                  <a:schemeClr val="tx2"/>
                </a:solidFill>
                <a:latin typeface="Tahoma" panose="020B0604030504040204" pitchFamily="34" charset="0"/>
                <a:cs typeface="Arial" panose="020B0604020202020204" pitchFamily="34" charset="0"/>
              </a:defRPr>
            </a:lvl7pPr>
            <a:lvl8pPr marL="1371600" fontAlgn="base">
              <a:spcBef>
                <a:spcPct val="0"/>
              </a:spcBef>
              <a:spcAft>
                <a:spcPct val="0"/>
              </a:spcAft>
              <a:defRPr sz="4400">
                <a:solidFill>
                  <a:schemeClr val="tx2"/>
                </a:solidFill>
                <a:latin typeface="Tahoma" panose="020B0604030504040204" pitchFamily="34" charset="0"/>
                <a:cs typeface="Arial" panose="020B0604020202020204" pitchFamily="34" charset="0"/>
              </a:defRPr>
            </a:lvl8pPr>
            <a:lvl9pPr marL="1828800" fontAlgn="base">
              <a:spcBef>
                <a:spcPct val="0"/>
              </a:spcBef>
              <a:spcAft>
                <a:spcPct val="0"/>
              </a:spcAft>
              <a:defRPr sz="4400">
                <a:solidFill>
                  <a:schemeClr val="tx2"/>
                </a:solidFill>
                <a:latin typeface="Tahoma" panose="020B0604030504040204" pitchFamily="34" charset="0"/>
                <a:cs typeface="Arial" panose="020B0604020202020204" pitchFamily="34" charset="0"/>
              </a:defRPr>
            </a:lvl9pPr>
          </a:lstStyle>
          <a:p>
            <a:pPr algn="ctr"/>
            <a:r>
              <a:rPr lang="en-US" altLang="en-US" sz="3600" b="1">
                <a:effectLst>
                  <a:outerShdw blurRad="38100" dist="38100" dir="2700000" algn="tl">
                    <a:srgbClr val="C0C0C0"/>
                  </a:outerShdw>
                </a:effectLst>
                <a:latin typeface="Times New Roman" panose="02020603050405020304" pitchFamily="18" charset="0"/>
                <a:cs typeface="Times New Roman" panose="02020603050405020304" pitchFamily="18" charset="0"/>
              </a:rPr>
              <a:t>Earth’s Chemical Differentiation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4619</TotalTime>
  <Words>1061</Words>
  <Application>Microsoft Office PowerPoint</Application>
  <PresentationFormat>On-screen Show (4:3)</PresentationFormat>
  <Paragraphs>203</Paragraphs>
  <Slides>16</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Arial MT</vt:lpstr>
      <vt:lpstr>Calibri</vt:lpstr>
      <vt:lpstr>Helvetica</vt:lpstr>
      <vt:lpstr>Symbol</vt:lpstr>
      <vt:lpstr>Times New Roman</vt:lpstr>
      <vt:lpstr>Verdana</vt:lpstr>
      <vt:lpstr>Office Theme</vt:lpstr>
      <vt:lpstr>EES203: Geochemistry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Abundance of the Elements   The diagram below shows the relative abundance of the elements in the cosmos and in Earth’s crust. </vt:lpstr>
      <vt:lpstr>PowerPoint Presentation</vt:lpstr>
      <vt:lpstr>3 Major Zones, 2 Transitions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EES636: The quarternary period-environments, animals adaptations during the last 2.5 million years</dc:title>
  <dc:creator>shubhra sharma</dc:creator>
  <cp:lastModifiedBy>Dell</cp:lastModifiedBy>
  <cp:revision>57</cp:revision>
  <dcterms:created xsi:type="dcterms:W3CDTF">2025-01-06T08:54:24Z</dcterms:created>
  <dcterms:modified xsi:type="dcterms:W3CDTF">2025-01-18T05:45:46Z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2021-01-05T00:00:00Z</vt:filetime>
  </property>
  <property fmtid="{D5CDD505-2E9C-101B-9397-08002B2CF9AE}" pid="3" name="Creator">
    <vt:lpwstr>Microsoft® Office PowerPoint® 2007</vt:lpwstr>
  </property>
  <property fmtid="{D5CDD505-2E9C-101B-9397-08002B2CF9AE}" pid="4" name="LastSaved">
    <vt:filetime>2025-01-06T00:00:00Z</vt:filetime>
  </property>
  <property fmtid="{D5CDD505-2E9C-101B-9397-08002B2CF9AE}" pid="5" name="Producer">
    <vt:lpwstr>Microsoft® Office PowerPoint® 2007</vt:lpwstr>
  </property>
</Properties>
</file>