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94" r:id="rId3"/>
    <p:sldId id="295" r:id="rId4"/>
    <p:sldId id="299" r:id="rId5"/>
    <p:sldId id="262" r:id="rId6"/>
    <p:sldId id="296" r:id="rId7"/>
    <p:sldId id="301" r:id="rId8"/>
    <p:sldId id="300" r:id="rId9"/>
    <p:sldId id="302" r:id="rId10"/>
    <p:sldId id="260" r:id="rId11"/>
    <p:sldId id="261" r:id="rId12"/>
    <p:sldId id="293" r:id="rId13"/>
    <p:sldId id="298" r:id="rId14"/>
    <p:sldId id="281" r:id="rId15"/>
    <p:sldId id="303" r:id="rId16"/>
    <p:sldId id="304" r:id="rId17"/>
    <p:sldId id="305" r:id="rId18"/>
    <p:sldId id="306" r:id="rId19"/>
    <p:sldId id="307" r:id="rId20"/>
    <p:sldId id="308" r:id="rId21"/>
  </p:sldIdLst>
  <p:sldSz cx="9144000" cy="6858000" type="screen4x3"/>
  <p:notesSz cx="9144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p:cViewPr varScale="1">
        <p:scale>
          <a:sx n="61" d="100"/>
          <a:sy n="61" d="100"/>
        </p:scale>
        <p:origin x="1440" y="60"/>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1001674" y="16255"/>
            <a:ext cx="7140651" cy="635000"/>
          </a:xfrm>
          <a:prstGeom prst="rect">
            <a:avLst/>
          </a:prstGeom>
        </p:spPr>
        <p:txBody>
          <a:bodyPr wrap="square" lIns="0" tIns="0" rIns="0" bIns="0">
            <a:spAutoFit/>
          </a:bodyPr>
          <a:lstStyle>
            <a:lvl1pPr>
              <a:defRPr sz="4000" b="1" i="0">
                <a:solidFill>
                  <a:srgbClr val="F1F1F1"/>
                </a:solidFill>
                <a:latin typeface="Times New Roman"/>
                <a:cs typeface="Times New Roman"/>
              </a:defRPr>
            </a:lvl1pPr>
          </a:lstStyle>
          <a:p>
            <a:endParaRPr/>
          </a:p>
        </p:txBody>
      </p:sp>
      <p:sp>
        <p:nvSpPr>
          <p:cNvPr id="3" name="Holder 3"/>
          <p:cNvSpPr>
            <a:spLocks noGrp="1"/>
          </p:cNvSpPr>
          <p:nvPr>
            <p:ph type="subTitle" idx="4"/>
          </p:nvPr>
        </p:nvSpPr>
        <p:spPr>
          <a:xfrm>
            <a:off x="1371600" y="3840480"/>
            <a:ext cx="6400800" cy="1714500"/>
          </a:xfrm>
          <a:prstGeom prst="rect">
            <a:avLst/>
          </a:prstGeom>
        </p:spPr>
        <p:txBody>
          <a:bodyPr wrap="square" lIns="0" tIns="0" rIns="0" bIns="0">
            <a:spAutoFit/>
          </a:bodyPr>
          <a:lstStyle>
            <a:lvl1pPr>
              <a:defRPr sz="3200" b="0" i="1">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1/13/2025</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000" b="1" i="0">
                <a:solidFill>
                  <a:srgbClr val="F1F1F1"/>
                </a:solidFill>
                <a:latin typeface="Times New Roman"/>
                <a:cs typeface="Times New Roman"/>
              </a:defRPr>
            </a:lvl1pPr>
          </a:lstStyle>
          <a:p>
            <a:endParaRPr/>
          </a:p>
        </p:txBody>
      </p:sp>
      <p:sp>
        <p:nvSpPr>
          <p:cNvPr id="3" name="Holder 3"/>
          <p:cNvSpPr>
            <a:spLocks noGrp="1"/>
          </p:cNvSpPr>
          <p:nvPr>
            <p:ph type="body" idx="1"/>
          </p:nvPr>
        </p:nvSpPr>
        <p:spPr/>
        <p:txBody>
          <a:bodyPr lIns="0" tIns="0" rIns="0" bIns="0"/>
          <a:lstStyle>
            <a:lvl1pPr>
              <a:defRPr sz="3200" b="0" i="1">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1/13/2025</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000" b="1" i="0">
                <a:solidFill>
                  <a:srgbClr val="F1F1F1"/>
                </a:solidFill>
                <a:latin typeface="Times New Roman"/>
                <a:cs typeface="Times New Roman"/>
              </a:defRPr>
            </a:lvl1pPr>
          </a:lstStyle>
          <a:p>
            <a:endParaRPr/>
          </a:p>
        </p:txBody>
      </p:sp>
      <p:sp>
        <p:nvSpPr>
          <p:cNvPr id="3" name="Holder 3"/>
          <p:cNvSpPr>
            <a:spLocks noGrp="1"/>
          </p:cNvSpPr>
          <p:nvPr>
            <p:ph sz="half" idx="2"/>
          </p:nvPr>
        </p:nvSpPr>
        <p:spPr>
          <a:xfrm>
            <a:off x="457200" y="1577340"/>
            <a:ext cx="397764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577340"/>
            <a:ext cx="397764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1/13/2025</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000" b="1" i="0">
                <a:solidFill>
                  <a:srgbClr val="F1F1F1"/>
                </a:solidFill>
                <a:latin typeface="Times New Roman"/>
                <a:cs typeface="Times New Roman"/>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1/13/2025</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1/13/2025</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6000"/>
            </a:lvl1pPr>
          </a:lstStyle>
          <a:p>
            <a:r>
              <a:rPr lang="en-US" altLang="zh-CN"/>
              <a:t>Click to edit Master title style</a:t>
            </a:r>
            <a:endParaRPr lang="zh-CN" altLang="en-US"/>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ltLang="zh-CN"/>
              <a:t>Click to edit Master subtitle style</a:t>
            </a:r>
            <a:endParaRPr lang="zh-CN" altLang="en-US"/>
          </a:p>
        </p:txBody>
      </p:sp>
      <p:sp>
        <p:nvSpPr>
          <p:cNvPr id="4" name="Rectangle 4">
            <a:extLst>
              <a:ext uri="{FF2B5EF4-FFF2-40B4-BE49-F238E27FC236}">
                <a16:creationId xmlns:a16="http://schemas.microsoft.com/office/drawing/2014/main" id="{ED438B22-23E0-4B80-86D8-E2891C5EB701}"/>
              </a:ext>
            </a:extLst>
          </p:cNvPr>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5">
            <a:extLst>
              <a:ext uri="{FF2B5EF4-FFF2-40B4-BE49-F238E27FC236}">
                <a16:creationId xmlns:a16="http://schemas.microsoft.com/office/drawing/2014/main" id="{D94397BA-F628-4C9B-8942-E219B94117D2}"/>
              </a:ext>
            </a:extLst>
          </p:cNvPr>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6">
            <a:extLst>
              <a:ext uri="{FF2B5EF4-FFF2-40B4-BE49-F238E27FC236}">
                <a16:creationId xmlns:a16="http://schemas.microsoft.com/office/drawing/2014/main" id="{931CAF3D-9204-4431-8BBA-E6ED29EA4E9A}"/>
              </a:ext>
            </a:extLst>
          </p:cNvPr>
          <p:cNvSpPr>
            <a:spLocks noGrp="1" noChangeArrowheads="1"/>
          </p:cNvSpPr>
          <p:nvPr>
            <p:ph type="sldNum" sz="quarter" idx="12"/>
          </p:nvPr>
        </p:nvSpPr>
        <p:spPr>
          <a:ln/>
        </p:spPr>
        <p:txBody>
          <a:bodyPr/>
          <a:lstStyle>
            <a:lvl1pPr>
              <a:defRPr/>
            </a:lvl1pPr>
          </a:lstStyle>
          <a:p>
            <a:fld id="{85933B52-13C8-4BBF-B2CA-C0FDD1F33052}" type="slidenum">
              <a:rPr lang="en-US" altLang="zh-CN"/>
              <a:pPr/>
              <a:t>‹#›</a:t>
            </a:fld>
            <a:endParaRPr lang="en-US" altLang="zh-CN"/>
          </a:p>
        </p:txBody>
      </p:sp>
    </p:spTree>
    <p:extLst>
      <p:ext uri="{BB962C8B-B14F-4D97-AF65-F5344CB8AC3E}">
        <p14:creationId xmlns:p14="http://schemas.microsoft.com/office/powerpoint/2010/main" val="82042103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318617" y="16255"/>
            <a:ext cx="8506764" cy="635000"/>
          </a:xfrm>
          <a:prstGeom prst="rect">
            <a:avLst/>
          </a:prstGeom>
        </p:spPr>
        <p:txBody>
          <a:bodyPr wrap="square" lIns="0" tIns="0" rIns="0" bIns="0">
            <a:spAutoFit/>
          </a:bodyPr>
          <a:lstStyle>
            <a:lvl1pPr>
              <a:defRPr sz="4000" b="1" i="0">
                <a:solidFill>
                  <a:srgbClr val="F1F1F1"/>
                </a:solidFill>
                <a:latin typeface="Times New Roman"/>
                <a:cs typeface="Times New Roman"/>
              </a:defRPr>
            </a:lvl1pPr>
          </a:lstStyle>
          <a:p>
            <a:endParaRPr/>
          </a:p>
        </p:txBody>
      </p:sp>
      <p:sp>
        <p:nvSpPr>
          <p:cNvPr id="3" name="Holder 3"/>
          <p:cNvSpPr>
            <a:spLocks noGrp="1"/>
          </p:cNvSpPr>
          <p:nvPr>
            <p:ph type="body" idx="1"/>
          </p:nvPr>
        </p:nvSpPr>
        <p:spPr>
          <a:xfrm>
            <a:off x="307340" y="1314957"/>
            <a:ext cx="8263890" cy="4319270"/>
          </a:xfrm>
          <a:prstGeom prst="rect">
            <a:avLst/>
          </a:prstGeom>
        </p:spPr>
        <p:txBody>
          <a:bodyPr wrap="square" lIns="0" tIns="0" rIns="0" bIns="0">
            <a:spAutoFit/>
          </a:bodyPr>
          <a:lstStyle>
            <a:lvl1pPr>
              <a:defRPr sz="3200" b="0" i="1">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a:xfrm>
            <a:off x="3108960" y="6377940"/>
            <a:ext cx="2926080" cy="34290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457200" y="6377940"/>
            <a:ext cx="210312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1/13/2025</a:t>
            </a:fld>
            <a:endParaRPr lang="en-US"/>
          </a:p>
        </p:txBody>
      </p:sp>
      <p:sp>
        <p:nvSpPr>
          <p:cNvPr id="6" name="Holder 6"/>
          <p:cNvSpPr>
            <a:spLocks noGrp="1"/>
          </p:cNvSpPr>
          <p:nvPr>
            <p:ph type="sldNum" sz="quarter" idx="7"/>
          </p:nvPr>
        </p:nvSpPr>
        <p:spPr>
          <a:xfrm>
            <a:off x="6583680" y="6377940"/>
            <a:ext cx="210312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anoop@iisermohali.ac.in" TargetMode="Externa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Layout" Target="../slideLayouts/slideLayout2.xml"/><Relationship Id="rId4" Type="http://schemas.openxmlformats.org/officeDocument/2006/relationships/hyperlink" Target="https://www.researchgate.net/publication/260268251_Fuzzy_logic_modeling_for_hydrothermal_gold_mineralization_mapping_using_geochemical_geological_ASTER_imageries_and_other_geo-data_a_case_study_in_Central_Alborz_Iran?_tp=eyJjb250ZXh0Ijp7ImZpcnN0UGFnZSI6Il9kaXJlY3QiLCJwYWdlIjoicHVibGljYXRpb24ifX0" TargetMode="External"/></Relationships>
</file>

<file path=ppt/slides/_rels/slide8.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524000" y="1295400"/>
            <a:ext cx="7459345" cy="641201"/>
          </a:xfrm>
          <a:prstGeom prst="rect">
            <a:avLst/>
          </a:prstGeom>
        </p:spPr>
        <p:txBody>
          <a:bodyPr vert="horz" wrap="square" lIns="0" tIns="38100" rIns="0" bIns="0" rtlCol="0">
            <a:spAutoFit/>
          </a:bodyPr>
          <a:lstStyle/>
          <a:p>
            <a:pPr marL="1902460" marR="5080" indent="-1890395">
              <a:lnSpc>
                <a:spcPts val="4700"/>
              </a:lnSpc>
              <a:spcBef>
                <a:spcPts val="300"/>
              </a:spcBef>
            </a:pPr>
            <a:r>
              <a:rPr lang="en-IN" dirty="0">
                <a:solidFill>
                  <a:srgbClr val="000000"/>
                </a:solidFill>
              </a:rPr>
              <a:t>EES203: Geochemistry </a:t>
            </a:r>
            <a:endParaRPr b="0" spc="-10" dirty="0">
              <a:solidFill>
                <a:srgbClr val="000000"/>
              </a:solidFill>
              <a:latin typeface="Times New Roman"/>
              <a:cs typeface="Times New Roman"/>
            </a:endParaRPr>
          </a:p>
        </p:txBody>
      </p:sp>
      <p:sp>
        <p:nvSpPr>
          <p:cNvPr id="3" name="object 3"/>
          <p:cNvSpPr txBox="1"/>
          <p:nvPr/>
        </p:nvSpPr>
        <p:spPr>
          <a:xfrm>
            <a:off x="1555531" y="2133600"/>
            <a:ext cx="7848600" cy="1199046"/>
          </a:xfrm>
          <a:prstGeom prst="rect">
            <a:avLst/>
          </a:prstGeom>
        </p:spPr>
        <p:txBody>
          <a:bodyPr vert="horz" wrap="square" lIns="0" tIns="110490" rIns="0" bIns="0" rtlCol="0">
            <a:spAutoFit/>
          </a:bodyPr>
          <a:lstStyle/>
          <a:p>
            <a:pPr marL="12700">
              <a:lnSpc>
                <a:spcPct val="100000"/>
              </a:lnSpc>
              <a:spcBef>
                <a:spcPts val="765"/>
              </a:spcBef>
            </a:pPr>
            <a:r>
              <a:rPr sz="3200" dirty="0">
                <a:latin typeface="Times New Roman"/>
                <a:cs typeface="Times New Roman"/>
              </a:rPr>
              <a:t>Instructor:</a:t>
            </a:r>
            <a:r>
              <a:rPr sz="3200" spc="-235" dirty="0">
                <a:latin typeface="Times New Roman"/>
                <a:cs typeface="Times New Roman"/>
              </a:rPr>
              <a:t> </a:t>
            </a:r>
            <a:r>
              <a:rPr sz="3200" dirty="0">
                <a:latin typeface="Times New Roman"/>
                <a:cs typeface="Times New Roman"/>
              </a:rPr>
              <a:t>Anoop</a:t>
            </a:r>
            <a:r>
              <a:rPr sz="3200" spc="-195" dirty="0">
                <a:latin typeface="Times New Roman"/>
                <a:cs typeface="Times New Roman"/>
              </a:rPr>
              <a:t> </a:t>
            </a:r>
            <a:r>
              <a:rPr sz="3200" spc="-10" dirty="0">
                <a:latin typeface="Times New Roman"/>
                <a:cs typeface="Times New Roman"/>
              </a:rPr>
              <a:t>Ambili</a:t>
            </a:r>
            <a:endParaRPr lang="en-IN" sz="3200" spc="-10" dirty="0">
              <a:latin typeface="Times New Roman"/>
              <a:cs typeface="Times New Roman"/>
            </a:endParaRPr>
          </a:p>
          <a:p>
            <a:pPr marL="12700">
              <a:lnSpc>
                <a:spcPct val="100000"/>
              </a:lnSpc>
              <a:spcBef>
                <a:spcPts val="770"/>
              </a:spcBef>
            </a:pPr>
            <a:r>
              <a:rPr sz="3200" dirty="0">
                <a:latin typeface="Times New Roman"/>
                <a:cs typeface="Times New Roman"/>
              </a:rPr>
              <a:t>Email</a:t>
            </a:r>
            <a:r>
              <a:rPr sz="3200" spc="-35" dirty="0">
                <a:latin typeface="Times New Roman"/>
                <a:cs typeface="Times New Roman"/>
              </a:rPr>
              <a:t> </a:t>
            </a:r>
            <a:r>
              <a:rPr sz="3200" dirty="0">
                <a:latin typeface="Times New Roman"/>
                <a:cs typeface="Times New Roman"/>
              </a:rPr>
              <a:t>id: </a:t>
            </a:r>
            <a:r>
              <a:rPr sz="3200" spc="-10" dirty="0">
                <a:latin typeface="Times New Roman"/>
                <a:cs typeface="Times New Roman"/>
                <a:hlinkClick r:id="rId2"/>
              </a:rPr>
              <a:t>anoop@iisermohali.ac.in</a:t>
            </a:r>
            <a:endParaRPr sz="3200" dirty="0">
              <a:latin typeface="Times New Roman"/>
              <a:cs typeface="Times New Roman"/>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itle 1">
            <a:extLst>
              <a:ext uri="{FF2B5EF4-FFF2-40B4-BE49-F238E27FC236}">
                <a16:creationId xmlns:a16="http://schemas.microsoft.com/office/drawing/2014/main" id="{70E59E94-1612-4A86-9460-6356B8FDA36F}"/>
              </a:ext>
            </a:extLst>
          </p:cNvPr>
          <p:cNvSpPr>
            <a:spLocks noGrp="1"/>
          </p:cNvSpPr>
          <p:nvPr>
            <p:ph type="ctrTitle"/>
          </p:nvPr>
        </p:nvSpPr>
        <p:spPr>
          <a:xfrm>
            <a:off x="1066800" y="762000"/>
            <a:ext cx="6858000" cy="914400"/>
          </a:xfrm>
        </p:spPr>
        <p:txBody>
          <a:bodyPr/>
          <a:lstStyle/>
          <a:p>
            <a:pPr eaLnBrk="1" hangingPunct="1"/>
            <a:r>
              <a:rPr lang="en-US" altLang="zh-CN" sz="4000">
                <a:ea typeface="宋体" panose="02010600030101010101" pitchFamily="2" charset="-122"/>
              </a:rPr>
              <a:t>Geo-chemistry</a:t>
            </a:r>
            <a:endParaRPr lang="zh-CN" altLang="en-US" sz="4000">
              <a:ea typeface="宋体" panose="02010600030101010101" pitchFamily="2" charset="-122"/>
            </a:endParaRPr>
          </a:p>
        </p:txBody>
      </p:sp>
      <p:sp>
        <p:nvSpPr>
          <p:cNvPr id="3" name="Subtitle 2">
            <a:extLst>
              <a:ext uri="{FF2B5EF4-FFF2-40B4-BE49-F238E27FC236}">
                <a16:creationId xmlns:a16="http://schemas.microsoft.com/office/drawing/2014/main" id="{58B5D154-8045-44A1-88AA-8BA24B78BB7D}"/>
              </a:ext>
            </a:extLst>
          </p:cNvPr>
          <p:cNvSpPr>
            <a:spLocks noGrp="1"/>
          </p:cNvSpPr>
          <p:nvPr>
            <p:ph type="subTitle" idx="1"/>
          </p:nvPr>
        </p:nvSpPr>
        <p:spPr>
          <a:xfrm>
            <a:off x="362607" y="855068"/>
            <a:ext cx="8628994" cy="4624599"/>
          </a:xfrm>
        </p:spPr>
        <p:txBody>
          <a:bodyPr/>
          <a:lstStyle/>
          <a:p>
            <a:pPr eaLnBrk="1" hangingPunct="1">
              <a:lnSpc>
                <a:spcPct val="150000"/>
              </a:lnSpc>
            </a:pPr>
            <a:endParaRPr lang="en-US" altLang="zh-CN" sz="1800" b="1" dirty="0">
              <a:solidFill>
                <a:srgbClr val="FF0000"/>
              </a:solidFill>
              <a:ea typeface="宋体" panose="02010600030101010101" pitchFamily="2" charset="-122"/>
            </a:endParaRPr>
          </a:p>
          <a:p>
            <a:pPr eaLnBrk="1" hangingPunct="1">
              <a:lnSpc>
                <a:spcPct val="150000"/>
              </a:lnSpc>
            </a:pPr>
            <a:endParaRPr lang="en-US" altLang="zh-CN" sz="1800" b="1" dirty="0">
              <a:solidFill>
                <a:srgbClr val="FF0000"/>
              </a:solidFill>
              <a:ea typeface="宋体" panose="02010600030101010101" pitchFamily="2" charset="-122"/>
            </a:endParaRPr>
          </a:p>
          <a:p>
            <a:pPr algn="just" eaLnBrk="1" hangingPunct="1">
              <a:lnSpc>
                <a:spcPct val="200000"/>
              </a:lnSpc>
              <a:buFont typeface="Wingdings" panose="05000000000000000000" pitchFamily="2" charset="2"/>
              <a:buChar char="u"/>
            </a:pPr>
            <a:r>
              <a:rPr lang="en-US" altLang="zh-CN" sz="1800" b="1" i="0" dirty="0">
                <a:latin typeface="Arial" panose="020B0604020202020204" pitchFamily="34" charset="0"/>
                <a:ea typeface="宋体" panose="02010600030101010101" pitchFamily="2" charset="-122"/>
                <a:cs typeface="Arial" panose="020B0604020202020204" pitchFamily="34" charset="0"/>
              </a:rPr>
              <a:t>Geochemistry</a:t>
            </a:r>
            <a:r>
              <a:rPr lang="en-US" altLang="zh-CN" sz="1800" i="0" dirty="0">
                <a:latin typeface="Arial" panose="020B0604020202020204" pitchFamily="34" charset="0"/>
                <a:ea typeface="宋体" panose="02010600030101010101" pitchFamily="2" charset="-122"/>
                <a:cs typeface="Arial" panose="020B0604020202020204" pitchFamily="34" charset="0"/>
              </a:rPr>
              <a:t> is the </a:t>
            </a:r>
            <a:r>
              <a:rPr lang="en-US" altLang="zh-CN" sz="1800" i="0" dirty="0">
                <a:solidFill>
                  <a:srgbClr val="000000"/>
                </a:solidFill>
                <a:latin typeface="Arial" panose="020B0604020202020204" pitchFamily="34" charset="0"/>
                <a:ea typeface="宋体" panose="02010600030101010101" pitchFamily="2" charset="-122"/>
                <a:cs typeface="Arial" panose="020B0604020202020204" pitchFamily="34" charset="0"/>
              </a:rPr>
              <a:t>science</a:t>
            </a:r>
            <a:r>
              <a:rPr lang="en-US" altLang="zh-CN" sz="1800" i="0" dirty="0">
                <a:latin typeface="Arial" panose="020B0604020202020204" pitchFamily="34" charset="0"/>
                <a:ea typeface="宋体" panose="02010600030101010101" pitchFamily="2" charset="-122"/>
                <a:cs typeface="Arial" panose="020B0604020202020204" pitchFamily="34" charset="0"/>
              </a:rPr>
              <a:t> that uses the</a:t>
            </a:r>
            <a:r>
              <a:rPr lang="en-US" altLang="zh-CN" sz="1800" i="0" dirty="0">
                <a:solidFill>
                  <a:srgbClr val="0070C0"/>
                </a:solidFill>
                <a:latin typeface="Arial" panose="020B0604020202020204" pitchFamily="34" charset="0"/>
                <a:ea typeface="宋体" panose="02010600030101010101" pitchFamily="2" charset="-122"/>
                <a:cs typeface="Arial" panose="020B0604020202020204" pitchFamily="34" charset="0"/>
              </a:rPr>
              <a:t> tools and principles of chemistry </a:t>
            </a:r>
            <a:r>
              <a:rPr lang="en-US" altLang="zh-CN" sz="1800" i="0" dirty="0">
                <a:latin typeface="Arial" panose="020B0604020202020204" pitchFamily="34" charset="0"/>
                <a:ea typeface="宋体" panose="02010600030101010101" pitchFamily="2" charset="-122"/>
                <a:cs typeface="Arial" panose="020B0604020202020204" pitchFamily="34" charset="0"/>
              </a:rPr>
              <a:t>to explain the mechanisms behind </a:t>
            </a:r>
            <a:r>
              <a:rPr lang="en-US" altLang="zh-CN" sz="1800" i="0" dirty="0">
                <a:solidFill>
                  <a:srgbClr val="0070C0"/>
                </a:solidFill>
                <a:latin typeface="Arial" panose="020B0604020202020204" pitchFamily="34" charset="0"/>
                <a:ea typeface="宋体" panose="02010600030101010101" pitchFamily="2" charset="-122"/>
                <a:cs typeface="Arial" panose="020B0604020202020204" pitchFamily="34" charset="0"/>
              </a:rPr>
              <a:t>major geological systems such as the Earth's crust and its oceans.</a:t>
            </a:r>
          </a:p>
          <a:p>
            <a:pPr algn="just" eaLnBrk="1" hangingPunct="1">
              <a:lnSpc>
                <a:spcPct val="200000"/>
              </a:lnSpc>
              <a:buFont typeface="Wingdings" panose="05000000000000000000" pitchFamily="2" charset="2"/>
              <a:buChar char="u"/>
            </a:pPr>
            <a:r>
              <a:rPr lang="en-US" altLang="zh-CN" sz="1800" i="0" dirty="0">
                <a:solidFill>
                  <a:srgbClr val="000000"/>
                </a:solidFill>
                <a:latin typeface="Arial" panose="020B0604020202020204" pitchFamily="34" charset="0"/>
                <a:ea typeface="宋体" panose="02010600030101010101" pitchFamily="2" charset="-122"/>
                <a:cs typeface="Arial" panose="020B0604020202020204" pitchFamily="34" charset="0"/>
              </a:rPr>
              <a:t>The realm of geochemistry extends beyond the Earth, </a:t>
            </a:r>
            <a:r>
              <a:rPr lang="en-US" altLang="zh-CN" sz="1800" i="0" dirty="0">
                <a:solidFill>
                  <a:srgbClr val="0070C0"/>
                </a:solidFill>
                <a:latin typeface="Arial" panose="020B0604020202020204" pitchFamily="34" charset="0"/>
                <a:ea typeface="宋体" panose="02010600030101010101" pitchFamily="2" charset="-122"/>
                <a:cs typeface="Arial" panose="020B0604020202020204" pitchFamily="34" charset="0"/>
              </a:rPr>
              <a:t>encompassing the entire Solar System</a:t>
            </a:r>
            <a:r>
              <a:rPr lang="en-US" altLang="zh-CN" sz="1800" i="0" dirty="0">
                <a:solidFill>
                  <a:srgbClr val="000000"/>
                </a:solidFill>
                <a:latin typeface="Arial" panose="020B0604020202020204" pitchFamily="34" charset="0"/>
                <a:ea typeface="宋体" panose="02010600030101010101" pitchFamily="2" charset="-122"/>
                <a:cs typeface="Arial" panose="020B0604020202020204" pitchFamily="34" charset="0"/>
              </a:rPr>
              <a:t>, and has made important contributions to the understanding of a number of processes including </a:t>
            </a:r>
            <a:r>
              <a:rPr lang="en-US" altLang="zh-CN" sz="1800" i="0" dirty="0">
                <a:solidFill>
                  <a:srgbClr val="0070C0"/>
                </a:solidFill>
                <a:latin typeface="Arial" panose="020B0604020202020204" pitchFamily="34" charset="0"/>
                <a:ea typeface="宋体" panose="02010600030101010101" pitchFamily="2" charset="-122"/>
                <a:cs typeface="Arial" panose="020B0604020202020204" pitchFamily="34" charset="0"/>
              </a:rPr>
              <a:t>mantle convection, the formation of planets and the origins of granite and basalt</a:t>
            </a:r>
            <a:r>
              <a:rPr lang="en-US" altLang="zh-CN" sz="1800" dirty="0">
                <a:solidFill>
                  <a:srgbClr val="0070C0"/>
                </a:solidFill>
                <a:ea typeface="宋体" panose="02010600030101010101" pitchFamily="2" charset="-122"/>
              </a:rPr>
              <a:t>.</a:t>
            </a:r>
            <a:endParaRPr lang="en-US" altLang="zh-CN" sz="1800" b="1" dirty="0">
              <a:solidFill>
                <a:srgbClr val="0070C0"/>
              </a:solidFill>
              <a:ea typeface="宋体" panose="02010600030101010101" pitchFamily="2" charset="-122"/>
            </a:endParaRPr>
          </a:p>
        </p:txBody>
      </p:sp>
      <p:sp>
        <p:nvSpPr>
          <p:cNvPr id="5" name="TextBox 4">
            <a:extLst>
              <a:ext uri="{FF2B5EF4-FFF2-40B4-BE49-F238E27FC236}">
                <a16:creationId xmlns:a16="http://schemas.microsoft.com/office/drawing/2014/main" id="{1092A496-6792-4467-B26D-604F2A042D45}"/>
              </a:ext>
            </a:extLst>
          </p:cNvPr>
          <p:cNvSpPr txBox="1"/>
          <p:nvPr/>
        </p:nvSpPr>
        <p:spPr>
          <a:xfrm>
            <a:off x="457200" y="268804"/>
            <a:ext cx="4572000" cy="461665"/>
          </a:xfrm>
          <a:prstGeom prst="rect">
            <a:avLst/>
          </a:prstGeom>
          <a:noFill/>
        </p:spPr>
        <p:txBody>
          <a:bodyPr wrap="square">
            <a:spAutoFit/>
          </a:bodyPr>
          <a:lstStyle/>
          <a:p>
            <a:pPr eaLnBrk="1" hangingPunct="1"/>
            <a:r>
              <a:rPr lang="en-US" altLang="zh-CN" sz="2400" b="1"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Introduction of Geochemistry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E6775B9-B26F-40F3-8203-048CCB1ABCE8}"/>
              </a:ext>
            </a:extLst>
          </p:cNvPr>
          <p:cNvSpPr>
            <a:spLocks noGrp="1"/>
          </p:cNvSpPr>
          <p:nvPr>
            <p:ph idx="1"/>
          </p:nvPr>
        </p:nvSpPr>
        <p:spPr>
          <a:xfrm>
            <a:off x="228600" y="1066800"/>
            <a:ext cx="8686800" cy="4001095"/>
          </a:xfrm>
        </p:spPr>
        <p:txBody>
          <a:bodyPr/>
          <a:lstStyle/>
          <a:p>
            <a:pPr eaLnBrk="1" hangingPunct="1"/>
            <a:endParaRPr lang="en-US" altLang="zh-CN" sz="1800" dirty="0">
              <a:ea typeface="宋体" panose="02010600030101010101" pitchFamily="2" charset="-122"/>
            </a:endParaRPr>
          </a:p>
          <a:p>
            <a:pPr eaLnBrk="1" hangingPunct="1"/>
            <a:endParaRPr lang="en-US" altLang="zh-CN" sz="1800" dirty="0">
              <a:ea typeface="宋体" panose="02010600030101010101" pitchFamily="2" charset="-122"/>
            </a:endParaRPr>
          </a:p>
          <a:p>
            <a:pPr eaLnBrk="1" hangingPunct="1">
              <a:lnSpc>
                <a:spcPct val="200000"/>
              </a:lnSpc>
              <a:buFontTx/>
              <a:buNone/>
            </a:pPr>
            <a:r>
              <a:rPr lang="en-US" altLang="zh-CN" sz="1800" i="0" dirty="0">
                <a:latin typeface="Arial" panose="020B0604020202020204" pitchFamily="34" charset="0"/>
                <a:ea typeface="宋体" panose="02010600030101010101" pitchFamily="2" charset="-122"/>
                <a:cs typeface="Arial" panose="020B0604020202020204" pitchFamily="34" charset="0"/>
              </a:rPr>
              <a:t>The field of </a:t>
            </a:r>
            <a:r>
              <a:rPr lang="en-US" altLang="zh-CN" sz="1800" b="1" i="0" dirty="0">
                <a:latin typeface="Arial" panose="020B0604020202020204" pitchFamily="34" charset="0"/>
                <a:ea typeface="宋体" panose="02010600030101010101" pitchFamily="2" charset="-122"/>
                <a:cs typeface="Arial" panose="020B0604020202020204" pitchFamily="34" charset="0"/>
              </a:rPr>
              <a:t>geochemistry </a:t>
            </a:r>
            <a:r>
              <a:rPr lang="en-US" altLang="zh-CN" sz="1800" i="0" dirty="0">
                <a:latin typeface="Arial" panose="020B0604020202020204" pitchFamily="34" charset="0"/>
                <a:ea typeface="宋体" panose="02010600030101010101" pitchFamily="2" charset="-122"/>
                <a:cs typeface="Arial" panose="020B0604020202020204" pitchFamily="34" charset="0"/>
              </a:rPr>
              <a:t>involves</a:t>
            </a:r>
          </a:p>
          <a:p>
            <a:pPr eaLnBrk="1" hangingPunct="1">
              <a:lnSpc>
                <a:spcPct val="200000"/>
              </a:lnSpc>
              <a:buFontTx/>
              <a:buNone/>
            </a:pPr>
            <a:endParaRPr lang="en-US" altLang="zh-CN" sz="1800" i="0" dirty="0">
              <a:latin typeface="Arial" panose="020B0604020202020204" pitchFamily="34" charset="0"/>
              <a:ea typeface="宋体" panose="02010600030101010101" pitchFamily="2" charset="-122"/>
              <a:cs typeface="Arial" panose="020B0604020202020204" pitchFamily="34" charset="0"/>
            </a:endParaRPr>
          </a:p>
          <a:p>
            <a:pPr eaLnBrk="1" hangingPunct="1">
              <a:lnSpc>
                <a:spcPct val="200000"/>
              </a:lnSpc>
              <a:buFontTx/>
              <a:buNone/>
            </a:pPr>
            <a:r>
              <a:rPr lang="en-US" altLang="zh-CN" sz="2000" i="0" dirty="0">
                <a:latin typeface="Arial" panose="020B0604020202020204" pitchFamily="34" charset="0"/>
                <a:ea typeface="宋体" panose="02010600030101010101" pitchFamily="2" charset="-122"/>
                <a:cs typeface="Arial" panose="020B0604020202020204" pitchFamily="34" charset="0"/>
              </a:rPr>
              <a:t>Chemical Composition of Earth and Planets</a:t>
            </a:r>
          </a:p>
          <a:p>
            <a:pPr eaLnBrk="1" hangingPunct="1">
              <a:lnSpc>
                <a:spcPct val="200000"/>
              </a:lnSpc>
              <a:buFontTx/>
              <a:buNone/>
            </a:pPr>
            <a:r>
              <a:rPr lang="en-US" altLang="zh-CN" sz="2000" i="0" dirty="0">
                <a:latin typeface="Arial" panose="020B0604020202020204" pitchFamily="34" charset="0"/>
                <a:ea typeface="宋体" panose="02010600030101010101" pitchFamily="2" charset="-122"/>
                <a:cs typeface="Arial" panose="020B0604020202020204" pitchFamily="34" charset="0"/>
              </a:rPr>
              <a:t>Chemical Reactions in Natural Systems</a:t>
            </a:r>
            <a:br>
              <a:rPr lang="en-US" altLang="zh-CN" sz="2000" i="0" dirty="0">
                <a:latin typeface="Arial" panose="020B0604020202020204" pitchFamily="34" charset="0"/>
                <a:ea typeface="宋体" panose="02010600030101010101" pitchFamily="2" charset="-122"/>
                <a:cs typeface="Arial" panose="020B0604020202020204" pitchFamily="34" charset="0"/>
              </a:rPr>
            </a:br>
            <a:r>
              <a:rPr lang="en-US" altLang="zh-CN" sz="2000" i="0" dirty="0">
                <a:latin typeface="Arial" panose="020B0604020202020204" pitchFamily="34" charset="0"/>
                <a:ea typeface="宋体" panose="02010600030101010101" pitchFamily="2" charset="-122"/>
                <a:cs typeface="Arial" panose="020B0604020202020204" pitchFamily="34" charset="0"/>
              </a:rPr>
              <a:t>Elemental Cycles and Transport Mechanisms</a:t>
            </a:r>
            <a:endParaRPr lang="zh-CN" altLang="en-US" sz="2000" i="0" dirty="0">
              <a:latin typeface="Arial" panose="020B0604020202020204" pitchFamily="34" charset="0"/>
              <a:ea typeface="宋体" panose="02010600030101010101" pitchFamily="2" charset="-122"/>
              <a:cs typeface="Arial" panose="020B0604020202020204" pitchFamily="34" charset="0"/>
            </a:endParaRPr>
          </a:p>
          <a:p>
            <a:pPr eaLnBrk="1" hangingPunct="1">
              <a:buFontTx/>
              <a:buNone/>
            </a:pPr>
            <a:endParaRPr lang="zh-CN" altLang="en-US" dirty="0">
              <a:ea typeface="宋体" panose="02010600030101010101" pitchFamily="2" charset="-122"/>
            </a:endParaRPr>
          </a:p>
        </p:txBody>
      </p:sp>
      <p:sp>
        <p:nvSpPr>
          <p:cNvPr id="4" name="TextBox 3">
            <a:extLst>
              <a:ext uri="{FF2B5EF4-FFF2-40B4-BE49-F238E27FC236}">
                <a16:creationId xmlns:a16="http://schemas.microsoft.com/office/drawing/2014/main" id="{C8226E0C-2A66-4586-B22D-C33AF0FA0FF4}"/>
              </a:ext>
            </a:extLst>
          </p:cNvPr>
          <p:cNvSpPr txBox="1"/>
          <p:nvPr/>
        </p:nvSpPr>
        <p:spPr>
          <a:xfrm>
            <a:off x="31531" y="304800"/>
            <a:ext cx="4572000" cy="461665"/>
          </a:xfrm>
          <a:prstGeom prst="rect">
            <a:avLst/>
          </a:prstGeom>
          <a:noFill/>
        </p:spPr>
        <p:txBody>
          <a:bodyPr wrap="square">
            <a:spAutoFit/>
          </a:bodyPr>
          <a:lstStyle/>
          <a:p>
            <a:pPr eaLnBrk="1" hangingPunct="1"/>
            <a:r>
              <a:rPr lang="en-US" altLang="zh-CN" sz="2400" b="1"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Introduction of Geochemistry</a:t>
            </a:r>
          </a:p>
        </p:txBody>
      </p:sp>
    </p:spTree>
    <p:extLst>
      <p:ext uri="{BB962C8B-B14F-4D97-AF65-F5344CB8AC3E}">
        <p14:creationId xmlns:p14="http://schemas.microsoft.com/office/powerpoint/2010/main" val="24025647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6" name="Picture 65">
            <a:extLst>
              <a:ext uri="{FF2B5EF4-FFF2-40B4-BE49-F238E27FC236}">
                <a16:creationId xmlns:a16="http://schemas.microsoft.com/office/drawing/2014/main" id="{A9D574FE-DD34-4D9E-BE0B-16D23A9C2395}"/>
              </a:ext>
            </a:extLst>
          </p:cNvPr>
          <p:cNvPicPr>
            <a:picLocks noChangeAspect="1"/>
          </p:cNvPicPr>
          <p:nvPr/>
        </p:nvPicPr>
        <p:blipFill rotWithShape="1">
          <a:blip r:embed="rId2">
            <a:extLst>
              <a:ext uri="{28A0092B-C50C-407E-A947-70E740481C1C}">
                <a14:useLocalDpi xmlns:a14="http://schemas.microsoft.com/office/drawing/2010/main" val="0"/>
              </a:ext>
            </a:extLst>
          </a:blip>
          <a:srcRect l="13718" t="11463" r="18828" b="25556"/>
          <a:stretch/>
        </p:blipFill>
        <p:spPr>
          <a:xfrm>
            <a:off x="2285999" y="654061"/>
            <a:ext cx="5105401" cy="6168670"/>
          </a:xfrm>
          <a:prstGeom prst="rect">
            <a:avLst/>
          </a:prstGeom>
        </p:spPr>
      </p:pic>
      <p:sp>
        <p:nvSpPr>
          <p:cNvPr id="68" name="TextBox 67">
            <a:extLst>
              <a:ext uri="{FF2B5EF4-FFF2-40B4-BE49-F238E27FC236}">
                <a16:creationId xmlns:a16="http://schemas.microsoft.com/office/drawing/2014/main" id="{3BEE21A7-2DCC-42DC-80D1-A370DAF756EC}"/>
              </a:ext>
            </a:extLst>
          </p:cNvPr>
          <p:cNvSpPr txBox="1"/>
          <p:nvPr/>
        </p:nvSpPr>
        <p:spPr>
          <a:xfrm>
            <a:off x="34159" y="84666"/>
            <a:ext cx="4572000" cy="461665"/>
          </a:xfrm>
          <a:prstGeom prst="rect">
            <a:avLst/>
          </a:prstGeom>
          <a:noFill/>
        </p:spPr>
        <p:txBody>
          <a:bodyPr wrap="square">
            <a:spAutoFit/>
          </a:bodyPr>
          <a:lstStyle/>
          <a:p>
            <a:pPr eaLnBrk="1" hangingPunct="1"/>
            <a:r>
              <a:rPr lang="en-US" altLang="zh-CN" sz="2400" b="1"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Introduction of Geochemistry</a:t>
            </a:r>
          </a:p>
        </p:txBody>
      </p:sp>
    </p:spTree>
    <p:extLst>
      <p:ext uri="{BB962C8B-B14F-4D97-AF65-F5344CB8AC3E}">
        <p14:creationId xmlns:p14="http://schemas.microsoft.com/office/powerpoint/2010/main" val="24640285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EDFD6B8-5B3F-4FA6-A81A-77C5E0EFAD37}"/>
              </a:ext>
            </a:extLst>
          </p:cNvPr>
          <p:cNvSpPr>
            <a:spLocks noGrp="1"/>
          </p:cNvSpPr>
          <p:nvPr>
            <p:ph idx="1"/>
          </p:nvPr>
        </p:nvSpPr>
        <p:spPr>
          <a:xfrm>
            <a:off x="457200" y="1143000"/>
            <a:ext cx="8229600" cy="4647426"/>
          </a:xfrm>
        </p:spPr>
        <p:txBody>
          <a:bodyPr/>
          <a:lstStyle/>
          <a:p>
            <a:pPr marL="0" indent="0" algn="just" eaLnBrk="1" hangingPunct="1">
              <a:lnSpc>
                <a:spcPct val="150000"/>
              </a:lnSpc>
              <a:buFontTx/>
              <a:buNone/>
            </a:pPr>
            <a:r>
              <a:rPr lang="en-US" altLang="zh-CN" sz="1800" i="0" dirty="0">
                <a:ea typeface="宋体" panose="02010600030101010101" pitchFamily="2" charset="-122"/>
              </a:rPr>
              <a:t>Some questions </a:t>
            </a:r>
            <a:r>
              <a:rPr lang="en-US" altLang="zh-CN" sz="1800" b="1" i="0" dirty="0">
                <a:ea typeface="宋体" panose="02010600030101010101" pitchFamily="2" charset="-122"/>
              </a:rPr>
              <a:t>geochemistry</a:t>
            </a:r>
            <a:r>
              <a:rPr lang="en-US" altLang="zh-CN" sz="1800" i="0" dirty="0">
                <a:ea typeface="宋体" panose="02010600030101010101" pitchFamily="2" charset="-122"/>
              </a:rPr>
              <a:t> tries to answer include </a:t>
            </a:r>
          </a:p>
          <a:p>
            <a:pPr marL="0" indent="0" algn="just" eaLnBrk="1" hangingPunct="1">
              <a:lnSpc>
                <a:spcPct val="150000"/>
              </a:lnSpc>
            </a:pPr>
            <a:r>
              <a:rPr lang="en-US" altLang="zh-CN" sz="1800" i="0" dirty="0">
                <a:ea typeface="宋体" panose="02010600030101010101" pitchFamily="2" charset="-122"/>
              </a:rPr>
              <a:t>what elements are present in various soils and rocks in different locations? </a:t>
            </a:r>
          </a:p>
          <a:p>
            <a:pPr marL="0" indent="0" algn="just" eaLnBrk="1" hangingPunct="1">
              <a:lnSpc>
                <a:spcPct val="150000"/>
              </a:lnSpc>
            </a:pPr>
            <a:r>
              <a:rPr lang="en-US" altLang="zh-CN" sz="1800" i="0" dirty="0">
                <a:ea typeface="宋体" panose="02010600030101010101" pitchFamily="2" charset="-122"/>
              </a:rPr>
              <a:t>What can we learn from those differences? </a:t>
            </a:r>
          </a:p>
          <a:p>
            <a:pPr marL="0" indent="0" algn="just" eaLnBrk="1" hangingPunct="1">
              <a:lnSpc>
                <a:spcPct val="150000"/>
              </a:lnSpc>
            </a:pPr>
            <a:r>
              <a:rPr lang="en-US" altLang="zh-CN" sz="1800" i="0" dirty="0">
                <a:ea typeface="宋体" panose="02010600030101010101" pitchFamily="2" charset="-122"/>
              </a:rPr>
              <a:t>How are these soils and rocks changing, and how have they changed through the centuries? </a:t>
            </a:r>
          </a:p>
          <a:p>
            <a:pPr marL="0" indent="0" algn="just" eaLnBrk="1" hangingPunct="1">
              <a:lnSpc>
                <a:spcPct val="150000"/>
              </a:lnSpc>
            </a:pPr>
            <a:r>
              <a:rPr lang="en-US" altLang="zh-CN" sz="1800" i="0" dirty="0">
                <a:ea typeface="宋体" panose="02010600030101010101" pitchFamily="2" charset="-122"/>
              </a:rPr>
              <a:t>How do once-living things like plants and animals decompose after their deaths and what sorts of new things do they form as they interact with the environment (such as fossils or hydrocarbons)? </a:t>
            </a:r>
          </a:p>
          <a:p>
            <a:pPr marL="0" indent="0" algn="just" eaLnBrk="1" hangingPunct="1">
              <a:lnSpc>
                <a:spcPct val="150000"/>
              </a:lnSpc>
            </a:pPr>
            <a:r>
              <a:rPr lang="en-US" altLang="zh-CN" sz="1800" i="0" dirty="0">
                <a:ea typeface="宋体" panose="02010600030101010101" pitchFamily="2" charset="-122"/>
              </a:rPr>
              <a:t>How do these various processes affect the environment, and how does the environment, weather, and other influences affect them?</a:t>
            </a:r>
          </a:p>
          <a:p>
            <a:pPr marL="0" indent="0" eaLnBrk="1" hangingPunct="1"/>
            <a:endParaRPr lang="zh-CN" altLang="en-US" dirty="0">
              <a:ea typeface="宋体" panose="02010600030101010101" pitchFamily="2" charset="-122"/>
            </a:endParaRPr>
          </a:p>
        </p:txBody>
      </p:sp>
    </p:spTree>
    <p:extLst>
      <p:ext uri="{BB962C8B-B14F-4D97-AF65-F5344CB8AC3E}">
        <p14:creationId xmlns:p14="http://schemas.microsoft.com/office/powerpoint/2010/main" val="5922705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FDCBF0F-4F2B-48BB-9A8A-3A74D97B5059}"/>
              </a:ext>
            </a:extLst>
          </p:cNvPr>
          <p:cNvSpPr>
            <a:spLocks noGrp="1"/>
          </p:cNvSpPr>
          <p:nvPr>
            <p:ph idx="1"/>
          </p:nvPr>
        </p:nvSpPr>
        <p:spPr>
          <a:xfrm>
            <a:off x="457200" y="228600"/>
            <a:ext cx="8229600" cy="6601807"/>
          </a:xfrm>
        </p:spPr>
        <p:txBody>
          <a:bodyPr/>
          <a:lstStyle/>
          <a:p>
            <a:pPr marL="0" indent="0" eaLnBrk="1" hangingPunct="1">
              <a:buFontTx/>
              <a:buNone/>
            </a:pPr>
            <a:r>
              <a:rPr lang="en-US" altLang="zh-CN" sz="2400" dirty="0">
                <a:ea typeface="宋体" panose="02010600030101010101" pitchFamily="2" charset="-122"/>
              </a:rPr>
              <a:t>Some subsets of geochemistry are:</a:t>
            </a:r>
            <a:br>
              <a:rPr lang="en-US" altLang="zh-CN" sz="1800" dirty="0">
                <a:ea typeface="宋体" panose="02010600030101010101" pitchFamily="2" charset="-122"/>
              </a:rPr>
            </a:br>
            <a:endParaRPr lang="en-US" altLang="zh-CN" sz="1800" i="0" dirty="0">
              <a:ea typeface="宋体" panose="02010600030101010101" pitchFamily="2" charset="-122"/>
            </a:endParaRPr>
          </a:p>
          <a:p>
            <a:pPr marL="0" indent="0" algn="just" eaLnBrk="1" hangingPunct="1">
              <a:lnSpc>
                <a:spcPct val="150000"/>
              </a:lnSpc>
              <a:buFont typeface="Wingdings" panose="05000000000000000000" pitchFamily="2" charset="2"/>
              <a:buChar char="Ø"/>
            </a:pPr>
            <a:r>
              <a:rPr lang="en-US" altLang="zh-CN" sz="1800" b="1" i="0" dirty="0">
                <a:ea typeface="宋体" panose="02010600030101010101" pitchFamily="2" charset="-122"/>
              </a:rPr>
              <a:t>Isotope geochemistry </a:t>
            </a:r>
            <a:r>
              <a:rPr lang="en-US" altLang="zh-CN" sz="1800" i="0" dirty="0">
                <a:ea typeface="宋体" panose="02010600030101010101" pitchFamily="2" charset="-122"/>
              </a:rPr>
              <a:t>involves the determination of the relative and absolute concentrations of the elements and their isotopes in the Earth and on Earth's surface.</a:t>
            </a:r>
          </a:p>
          <a:p>
            <a:pPr marL="0" indent="0" algn="just" eaLnBrk="1" hangingPunct="1">
              <a:lnSpc>
                <a:spcPct val="150000"/>
              </a:lnSpc>
              <a:buFont typeface="Wingdings" panose="05000000000000000000" pitchFamily="2" charset="2"/>
              <a:buChar char="Ø"/>
            </a:pPr>
            <a:r>
              <a:rPr lang="en-US" altLang="zh-CN" sz="1800" b="1" i="0" dirty="0">
                <a:ea typeface="宋体" panose="02010600030101010101" pitchFamily="2" charset="-122"/>
              </a:rPr>
              <a:t>Cosmo chemistry</a:t>
            </a:r>
            <a:r>
              <a:rPr lang="en-US" altLang="zh-CN" sz="1800" i="0" dirty="0">
                <a:ea typeface="宋体" panose="02010600030101010101" pitchFamily="2" charset="-122"/>
              </a:rPr>
              <a:t>: Analysis of the distribution of elements and their isotopes in the cosmos.</a:t>
            </a:r>
          </a:p>
          <a:p>
            <a:pPr marL="0" indent="0" algn="just" eaLnBrk="1" hangingPunct="1">
              <a:lnSpc>
                <a:spcPct val="150000"/>
              </a:lnSpc>
              <a:buFont typeface="Wingdings" panose="05000000000000000000" pitchFamily="2" charset="2"/>
              <a:buChar char="Ø"/>
            </a:pPr>
            <a:r>
              <a:rPr lang="en-US" altLang="zh-CN" sz="1800" b="1" i="0" dirty="0">
                <a:ea typeface="宋体" panose="02010600030101010101" pitchFamily="2" charset="-122"/>
              </a:rPr>
              <a:t>Aqueous geochemistry</a:t>
            </a:r>
            <a:r>
              <a:rPr lang="en-US" altLang="zh-CN" sz="1800" i="0" dirty="0">
                <a:ea typeface="宋体" panose="02010600030101010101" pitchFamily="2" charset="-122"/>
              </a:rPr>
              <a:t> studies the role of various elements in watersheds, including copper, sulfur, mercury, and how elemental fluxes are exchanged through atmospheric-terrestrial-aquatic interactions.</a:t>
            </a:r>
            <a:endParaRPr lang="en-US" altLang="zh-CN" sz="1800" i="0" baseline="30000" dirty="0">
              <a:ea typeface="宋体" panose="02010600030101010101" pitchFamily="2" charset="-122"/>
            </a:endParaRPr>
          </a:p>
          <a:p>
            <a:pPr marL="0" indent="0" algn="just" eaLnBrk="1" hangingPunct="1">
              <a:lnSpc>
                <a:spcPct val="150000"/>
              </a:lnSpc>
              <a:buFont typeface="Wingdings" panose="05000000000000000000" pitchFamily="2" charset="2"/>
              <a:buChar char="Ø"/>
            </a:pPr>
            <a:r>
              <a:rPr lang="en-US" altLang="zh-CN" sz="1800" b="1" i="0" dirty="0">
                <a:ea typeface="宋体" panose="02010600030101010101" pitchFamily="2" charset="-122"/>
              </a:rPr>
              <a:t>Biogeochemistry</a:t>
            </a:r>
            <a:r>
              <a:rPr lang="en-US" altLang="zh-CN" sz="1800" i="0" dirty="0">
                <a:ea typeface="宋体" panose="02010600030101010101" pitchFamily="2" charset="-122"/>
              </a:rPr>
              <a:t>: Field of study focusing on the effect of life on the chemistry of the earth.</a:t>
            </a:r>
          </a:p>
          <a:p>
            <a:pPr marL="0" indent="0" algn="just" eaLnBrk="1" hangingPunct="1">
              <a:lnSpc>
                <a:spcPct val="150000"/>
              </a:lnSpc>
              <a:buFont typeface="Wingdings" panose="05000000000000000000" pitchFamily="2" charset="2"/>
              <a:buChar char="Ø"/>
            </a:pPr>
            <a:r>
              <a:rPr lang="en-US" altLang="zh-CN" sz="1800" b="1" i="0" dirty="0">
                <a:ea typeface="宋体" panose="02010600030101010101" pitchFamily="2" charset="-122"/>
              </a:rPr>
              <a:t>Organic geochemistry</a:t>
            </a:r>
            <a:r>
              <a:rPr lang="en-US" altLang="zh-CN" sz="1800" i="0" dirty="0">
                <a:ea typeface="宋体" panose="02010600030101010101" pitchFamily="2" charset="-122"/>
              </a:rPr>
              <a:t>: A study of the role of processes and compounds that are derived from living or once-living organisms.</a:t>
            </a:r>
          </a:p>
          <a:p>
            <a:pPr marL="0" indent="0" algn="just" eaLnBrk="1" hangingPunct="1">
              <a:lnSpc>
                <a:spcPct val="150000"/>
              </a:lnSpc>
              <a:buFont typeface="Wingdings" panose="05000000000000000000" pitchFamily="2" charset="2"/>
              <a:buChar char="Ø"/>
            </a:pPr>
            <a:r>
              <a:rPr lang="en-US" altLang="zh-CN" sz="1800" b="1" i="0" dirty="0">
                <a:ea typeface="宋体" panose="02010600030101010101" pitchFamily="2" charset="-122"/>
              </a:rPr>
              <a:t>Regional, environmental and exploration geochemistry</a:t>
            </a:r>
            <a:r>
              <a:rPr lang="en-US" altLang="zh-CN" sz="1800" i="0" dirty="0">
                <a:ea typeface="宋体" panose="02010600030101010101" pitchFamily="2" charset="-122"/>
              </a:rPr>
              <a:t>: Applications to</a:t>
            </a:r>
            <a:br>
              <a:rPr lang="en-US" altLang="zh-CN" sz="1800" i="0" dirty="0">
                <a:ea typeface="宋体" panose="02010600030101010101" pitchFamily="2" charset="-122"/>
              </a:rPr>
            </a:br>
            <a:r>
              <a:rPr lang="en-US" altLang="zh-CN" sz="1800" i="0" dirty="0">
                <a:ea typeface="宋体" panose="02010600030101010101" pitchFamily="2" charset="-122"/>
              </a:rPr>
              <a:t>environmental, hydrological and mineral exploration studies.</a:t>
            </a:r>
          </a:p>
          <a:p>
            <a:pPr marL="0" indent="0" eaLnBrk="1" hangingPunct="1">
              <a:buFontTx/>
              <a:buNone/>
            </a:pPr>
            <a:r>
              <a:rPr lang="en-US" altLang="zh-CN" sz="1800" i="0" dirty="0">
                <a:ea typeface="宋体" panose="02010600030101010101" pitchFamily="2" charset="-122"/>
              </a:rPr>
              <a:t> </a:t>
            </a:r>
            <a:br>
              <a:rPr lang="en-US" altLang="zh-CN" sz="1800" dirty="0">
                <a:ea typeface="宋体" panose="02010600030101010101" pitchFamily="2" charset="-122"/>
              </a:rPr>
            </a:br>
            <a:endParaRPr lang="zh-CN" altLang="en-US" sz="1800" dirty="0">
              <a:ea typeface="宋体" panose="02010600030101010101" pitchFamily="2" charset="-122"/>
            </a:endParaRPr>
          </a:p>
        </p:txBody>
      </p:sp>
    </p:spTree>
    <p:extLst>
      <p:ext uri="{BB962C8B-B14F-4D97-AF65-F5344CB8AC3E}">
        <p14:creationId xmlns:p14="http://schemas.microsoft.com/office/powerpoint/2010/main" val="4587382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261256-E884-4C33-9D25-0E190D3634FA}"/>
              </a:ext>
            </a:extLst>
          </p:cNvPr>
          <p:cNvSpPr>
            <a:spLocks noGrp="1"/>
          </p:cNvSpPr>
          <p:nvPr>
            <p:ph type="title"/>
          </p:nvPr>
        </p:nvSpPr>
        <p:spPr/>
        <p:txBody>
          <a:bodyPr/>
          <a:lstStyle/>
          <a:p>
            <a:endParaRPr lang="en-IN"/>
          </a:p>
        </p:txBody>
      </p:sp>
      <p:pic>
        <p:nvPicPr>
          <p:cNvPr id="16386" name="Picture 2">
            <a:extLst>
              <a:ext uri="{FF2B5EF4-FFF2-40B4-BE49-F238E27FC236}">
                <a16:creationId xmlns:a16="http://schemas.microsoft.com/office/drawing/2014/main" id="{F7541D86-7E2D-43DC-8CDF-14FB9FBA82F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97858" y="1295400"/>
            <a:ext cx="5277826" cy="4832509"/>
          </a:xfrm>
          <a:prstGeom prst="rect">
            <a:avLst/>
          </a:prstGeom>
          <a:noFill/>
          <a:extLst>
            <a:ext uri="{909E8E84-426E-40DD-AFC4-6F175D3DCCD1}">
              <a14:hiddenFill xmlns:a14="http://schemas.microsoft.com/office/drawing/2010/main">
                <a:solidFill>
                  <a:srgbClr val="FFFFFF"/>
                </a:solidFill>
              </a14:hiddenFill>
            </a:ext>
          </a:extLst>
        </p:spPr>
      </p:pic>
      <p:pic>
        <p:nvPicPr>
          <p:cNvPr id="16388" name="Picture 4">
            <a:extLst>
              <a:ext uri="{FF2B5EF4-FFF2-40B4-BE49-F238E27FC236}">
                <a16:creationId xmlns:a16="http://schemas.microsoft.com/office/drawing/2014/main" id="{C343F02A-3744-4A02-AD9A-DD9BA257623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847" y="1828800"/>
            <a:ext cx="3471041" cy="418735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95CA4D49-444A-41C1-AD74-251D43E1D64A}"/>
              </a:ext>
            </a:extLst>
          </p:cNvPr>
          <p:cNvSpPr txBox="1"/>
          <p:nvPr/>
        </p:nvSpPr>
        <p:spPr>
          <a:xfrm>
            <a:off x="34159" y="84666"/>
            <a:ext cx="4572000" cy="461665"/>
          </a:xfrm>
          <a:prstGeom prst="rect">
            <a:avLst/>
          </a:prstGeom>
          <a:noFill/>
        </p:spPr>
        <p:txBody>
          <a:bodyPr wrap="square">
            <a:spAutoFit/>
          </a:bodyPr>
          <a:lstStyle/>
          <a:p>
            <a:pPr eaLnBrk="1" hangingPunct="1"/>
            <a:r>
              <a:rPr lang="en-US" altLang="zh-CN" sz="2400" b="1"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Application of Geochemistry</a:t>
            </a:r>
          </a:p>
        </p:txBody>
      </p:sp>
      <p:sp>
        <p:nvSpPr>
          <p:cNvPr id="8" name="TextBox 7">
            <a:extLst>
              <a:ext uri="{FF2B5EF4-FFF2-40B4-BE49-F238E27FC236}">
                <a16:creationId xmlns:a16="http://schemas.microsoft.com/office/drawing/2014/main" id="{64385C11-6ACF-41B5-814E-57A7BC082D1A}"/>
              </a:ext>
            </a:extLst>
          </p:cNvPr>
          <p:cNvSpPr txBox="1"/>
          <p:nvPr/>
        </p:nvSpPr>
        <p:spPr>
          <a:xfrm>
            <a:off x="166533" y="923157"/>
            <a:ext cx="4603530" cy="369332"/>
          </a:xfrm>
          <a:prstGeom prst="rect">
            <a:avLst/>
          </a:prstGeom>
          <a:noFill/>
        </p:spPr>
        <p:txBody>
          <a:bodyPr wrap="square">
            <a:spAutoFit/>
          </a:bodyPr>
          <a:lstStyle/>
          <a:p>
            <a:r>
              <a:rPr lang="en-US" b="1" i="0" u="sng" dirty="0">
                <a:effectLst/>
                <a:latin typeface="Manrope Var"/>
                <a:hlinkClick r:id="rId4"/>
              </a:rPr>
              <a:t>Central Alborz, Iran</a:t>
            </a:r>
            <a:endParaRPr lang="en-IN" dirty="0"/>
          </a:p>
        </p:txBody>
      </p:sp>
    </p:spTree>
    <p:extLst>
      <p:ext uri="{BB962C8B-B14F-4D97-AF65-F5344CB8AC3E}">
        <p14:creationId xmlns:p14="http://schemas.microsoft.com/office/powerpoint/2010/main" val="20819181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362" name="Picture 2">
            <a:extLst>
              <a:ext uri="{FF2B5EF4-FFF2-40B4-BE49-F238E27FC236}">
                <a16:creationId xmlns:a16="http://schemas.microsoft.com/office/drawing/2014/main" id="{02C498D4-0AD6-4088-A5F6-B65C70571BC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2920" y="2133600"/>
            <a:ext cx="8819684" cy="332422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8B70349-8353-4FBD-9F65-DDC135259C3E}"/>
              </a:ext>
            </a:extLst>
          </p:cNvPr>
          <p:cNvSpPr txBox="1"/>
          <p:nvPr/>
        </p:nvSpPr>
        <p:spPr>
          <a:xfrm>
            <a:off x="34159" y="168748"/>
            <a:ext cx="4572000" cy="461665"/>
          </a:xfrm>
          <a:prstGeom prst="rect">
            <a:avLst/>
          </a:prstGeom>
          <a:noFill/>
        </p:spPr>
        <p:txBody>
          <a:bodyPr wrap="square">
            <a:spAutoFit/>
          </a:bodyPr>
          <a:lstStyle/>
          <a:p>
            <a:pPr eaLnBrk="1" hangingPunct="1"/>
            <a:r>
              <a:rPr lang="en-US" altLang="zh-CN" sz="2400" b="1"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Application of Geochemistry</a:t>
            </a:r>
          </a:p>
        </p:txBody>
      </p:sp>
      <p:sp>
        <p:nvSpPr>
          <p:cNvPr id="7" name="TextBox 6">
            <a:extLst>
              <a:ext uri="{FF2B5EF4-FFF2-40B4-BE49-F238E27FC236}">
                <a16:creationId xmlns:a16="http://schemas.microsoft.com/office/drawing/2014/main" id="{66CFDCE8-A0D8-43F0-91DF-98C9CCE97C3A}"/>
              </a:ext>
            </a:extLst>
          </p:cNvPr>
          <p:cNvSpPr txBox="1"/>
          <p:nvPr/>
        </p:nvSpPr>
        <p:spPr>
          <a:xfrm>
            <a:off x="5486400" y="6248400"/>
            <a:ext cx="4603530" cy="369332"/>
          </a:xfrm>
          <a:prstGeom prst="rect">
            <a:avLst/>
          </a:prstGeom>
          <a:noFill/>
        </p:spPr>
        <p:txBody>
          <a:bodyPr wrap="square">
            <a:spAutoFit/>
          </a:bodyPr>
          <a:lstStyle/>
          <a:p>
            <a:pPr eaLnBrk="1" hangingPunct="1"/>
            <a:r>
              <a:rPr lang="en-US" altLang="zh-CN" sz="1800" b="1"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Source: Wang et al., 2023</a:t>
            </a:r>
          </a:p>
        </p:txBody>
      </p:sp>
    </p:spTree>
    <p:extLst>
      <p:ext uri="{BB962C8B-B14F-4D97-AF65-F5344CB8AC3E}">
        <p14:creationId xmlns:p14="http://schemas.microsoft.com/office/powerpoint/2010/main" val="3368580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410" name="Picture 2">
            <a:extLst>
              <a:ext uri="{FF2B5EF4-FFF2-40B4-BE49-F238E27FC236}">
                <a16:creationId xmlns:a16="http://schemas.microsoft.com/office/drawing/2014/main" id="{B251691A-A514-422D-A94D-C6E8AA2587F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0063"/>
          <a:stretch/>
        </p:blipFill>
        <p:spPr bwMode="auto">
          <a:xfrm>
            <a:off x="304800" y="1219200"/>
            <a:ext cx="8005052" cy="485466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07395DC-9AA9-4E25-9D3E-A40F3A2A4C4E}"/>
              </a:ext>
            </a:extLst>
          </p:cNvPr>
          <p:cNvSpPr txBox="1"/>
          <p:nvPr/>
        </p:nvSpPr>
        <p:spPr>
          <a:xfrm>
            <a:off x="34159" y="84665"/>
            <a:ext cx="4572000" cy="461665"/>
          </a:xfrm>
          <a:prstGeom prst="rect">
            <a:avLst/>
          </a:prstGeom>
          <a:noFill/>
        </p:spPr>
        <p:txBody>
          <a:bodyPr wrap="square">
            <a:spAutoFit/>
          </a:bodyPr>
          <a:lstStyle/>
          <a:p>
            <a:pPr eaLnBrk="1" hangingPunct="1"/>
            <a:r>
              <a:rPr lang="en-US" altLang="zh-CN" sz="2400" b="1"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Application of Geochemistry</a:t>
            </a:r>
          </a:p>
        </p:txBody>
      </p:sp>
    </p:spTree>
    <p:extLst>
      <p:ext uri="{BB962C8B-B14F-4D97-AF65-F5344CB8AC3E}">
        <p14:creationId xmlns:p14="http://schemas.microsoft.com/office/powerpoint/2010/main" val="22380146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22B58F7-18B2-4F2A-A9CD-FA30A8169955}"/>
              </a:ext>
            </a:extLst>
          </p:cNvPr>
          <p:cNvSpPr>
            <a:spLocks noGrp="1"/>
          </p:cNvSpPr>
          <p:nvPr>
            <p:ph idx="1"/>
          </p:nvPr>
        </p:nvSpPr>
        <p:spPr>
          <a:xfrm>
            <a:off x="297596" y="1019804"/>
            <a:ext cx="8263890" cy="4103688"/>
          </a:xfrm>
        </p:spPr>
        <p:txBody>
          <a:bodyPr/>
          <a:lstStyle/>
          <a:p>
            <a:pPr algn="just" eaLnBrk="1" hangingPunct="1">
              <a:lnSpc>
                <a:spcPct val="150000"/>
              </a:lnSpc>
            </a:pPr>
            <a:r>
              <a:rPr lang="en-US" altLang="zh-CN" sz="1800" i="0" dirty="0">
                <a:solidFill>
                  <a:srgbClr val="000000"/>
                </a:solidFill>
                <a:latin typeface="Arial" panose="020B0604020202020204" pitchFamily="34" charset="0"/>
                <a:ea typeface="宋体" panose="02010600030101010101" pitchFamily="2" charset="-122"/>
                <a:cs typeface="Arial" panose="020B0604020202020204" pitchFamily="34" charset="0"/>
              </a:rPr>
              <a:t>The term </a:t>
            </a:r>
            <a:r>
              <a:rPr lang="en-US" altLang="zh-CN" sz="1800" b="1" i="0" dirty="0">
                <a:solidFill>
                  <a:srgbClr val="000000"/>
                </a:solidFill>
                <a:latin typeface="Arial" panose="020B0604020202020204" pitchFamily="34" charset="0"/>
                <a:ea typeface="宋体" panose="02010600030101010101" pitchFamily="2" charset="-122"/>
                <a:cs typeface="Arial" panose="020B0604020202020204" pitchFamily="34" charset="0"/>
              </a:rPr>
              <a:t>geochemistry</a:t>
            </a:r>
            <a:r>
              <a:rPr lang="en-US" altLang="zh-CN" sz="1800" i="0" dirty="0">
                <a:solidFill>
                  <a:srgbClr val="000000"/>
                </a:solidFill>
                <a:latin typeface="Arial" panose="020B0604020202020204" pitchFamily="34" charset="0"/>
                <a:ea typeface="宋体" panose="02010600030101010101" pitchFamily="2" charset="-122"/>
                <a:cs typeface="Arial" panose="020B0604020202020204" pitchFamily="34" charset="0"/>
              </a:rPr>
              <a:t> was first used by the Swiss-German chemist </a:t>
            </a:r>
            <a:r>
              <a:rPr lang="en-US" altLang="zh-CN" sz="1800" i="0" dirty="0">
                <a:solidFill>
                  <a:srgbClr val="0070C0"/>
                </a:solidFill>
                <a:latin typeface="Arial" panose="020B0604020202020204" pitchFamily="34" charset="0"/>
                <a:ea typeface="宋体" panose="02010600030101010101" pitchFamily="2" charset="-122"/>
                <a:cs typeface="Arial" panose="020B0604020202020204" pitchFamily="34" charset="0"/>
              </a:rPr>
              <a:t>Christian Friedrich Schönbein in 1838</a:t>
            </a:r>
            <a:r>
              <a:rPr lang="en-US" altLang="zh-CN" sz="1800" i="0" dirty="0">
                <a:solidFill>
                  <a:srgbClr val="000000"/>
                </a:solidFill>
                <a:latin typeface="Arial" panose="020B0604020202020204" pitchFamily="34" charset="0"/>
                <a:ea typeface="宋体" panose="02010600030101010101" pitchFamily="2" charset="-122"/>
                <a:cs typeface="Arial" panose="020B0604020202020204" pitchFamily="34" charset="0"/>
              </a:rPr>
              <a:t>: "a comparative geochemistry ought to be launched, before geochemistry can become geology, and before the mystery of the genesis of our planets and their inorganic matter may be revealed. "However, for the rest of the century the more common term was "chemical geology", and there was little contact between geologists and chemists.</a:t>
            </a:r>
          </a:p>
          <a:p>
            <a:pPr algn="just" eaLnBrk="1" hangingPunct="1">
              <a:lnSpc>
                <a:spcPct val="150000"/>
              </a:lnSpc>
            </a:pPr>
            <a:endParaRPr lang="en-US" altLang="zh-CN" sz="1800" i="0" dirty="0">
              <a:solidFill>
                <a:srgbClr val="000000"/>
              </a:solidFill>
              <a:latin typeface="Arial" panose="020B0604020202020204" pitchFamily="34" charset="0"/>
              <a:ea typeface="宋体" panose="02010600030101010101" pitchFamily="2" charset="-122"/>
              <a:cs typeface="Arial" panose="020B0604020202020204" pitchFamily="34" charset="0"/>
            </a:endParaRPr>
          </a:p>
          <a:p>
            <a:pPr algn="just" eaLnBrk="1" hangingPunct="1">
              <a:lnSpc>
                <a:spcPct val="150000"/>
              </a:lnSpc>
            </a:pPr>
            <a:r>
              <a:rPr lang="en-US" altLang="zh-CN" sz="1800" i="0" dirty="0">
                <a:latin typeface="Arial" panose="020B0604020202020204" pitchFamily="34" charset="0"/>
                <a:ea typeface="宋体" panose="02010600030101010101" pitchFamily="2" charset="-122"/>
                <a:cs typeface="Arial" panose="020B0604020202020204" pitchFamily="34" charset="0"/>
              </a:rPr>
              <a:t>Geochemistry emerged as a separate discipline after major laboratories were established, starting with the </a:t>
            </a:r>
            <a:r>
              <a:rPr lang="en-US" altLang="zh-CN" sz="1800" i="0" dirty="0">
                <a:solidFill>
                  <a:srgbClr val="002060"/>
                </a:solidFill>
                <a:latin typeface="Arial" panose="020B0604020202020204" pitchFamily="34" charset="0"/>
                <a:ea typeface="宋体" panose="02010600030101010101" pitchFamily="2" charset="-122"/>
                <a:cs typeface="Arial" panose="020B0604020202020204" pitchFamily="34" charset="0"/>
              </a:rPr>
              <a:t>United States Geological Survey (USGS) in 1884, and began systematic surveys of the chemistry of rocks and minerals</a:t>
            </a:r>
            <a:r>
              <a:rPr lang="en-US" altLang="zh-CN" sz="1800" i="0" dirty="0">
                <a:latin typeface="Arial" panose="020B0604020202020204" pitchFamily="34" charset="0"/>
                <a:ea typeface="宋体" panose="02010600030101010101" pitchFamily="2" charset="-122"/>
                <a:cs typeface="Arial" panose="020B0604020202020204" pitchFamily="34" charset="0"/>
              </a:rPr>
              <a:t>. </a:t>
            </a:r>
            <a:endParaRPr lang="zh-CN" altLang="en-US" sz="1800" i="0" dirty="0">
              <a:solidFill>
                <a:srgbClr val="000000"/>
              </a:solidFill>
              <a:latin typeface="Arial" panose="020B0604020202020204" pitchFamily="34" charset="0"/>
              <a:ea typeface="宋体" panose="02010600030101010101" pitchFamily="2" charset="-122"/>
              <a:cs typeface="Arial" panose="020B0604020202020204" pitchFamily="34" charset="0"/>
            </a:endParaRPr>
          </a:p>
        </p:txBody>
      </p:sp>
      <p:sp>
        <p:nvSpPr>
          <p:cNvPr id="4" name="TextBox 3">
            <a:extLst>
              <a:ext uri="{FF2B5EF4-FFF2-40B4-BE49-F238E27FC236}">
                <a16:creationId xmlns:a16="http://schemas.microsoft.com/office/drawing/2014/main" id="{D1DFC59B-067A-4568-8B46-5D6C0803469D}"/>
              </a:ext>
            </a:extLst>
          </p:cNvPr>
          <p:cNvSpPr txBox="1"/>
          <p:nvPr/>
        </p:nvSpPr>
        <p:spPr>
          <a:xfrm>
            <a:off x="297596" y="152400"/>
            <a:ext cx="4572000" cy="461665"/>
          </a:xfrm>
          <a:prstGeom prst="rect">
            <a:avLst/>
          </a:prstGeom>
          <a:noFill/>
        </p:spPr>
        <p:txBody>
          <a:bodyPr wrap="square">
            <a:spAutoFit/>
          </a:bodyPr>
          <a:lstStyle/>
          <a:p>
            <a:pPr eaLnBrk="1" hangingPunct="1"/>
            <a:r>
              <a:rPr lang="en-US" altLang="zh-CN" sz="2400" b="1"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History of Geochemistry</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Content Placeholder 2">
            <a:extLst>
              <a:ext uri="{FF2B5EF4-FFF2-40B4-BE49-F238E27FC236}">
                <a16:creationId xmlns:a16="http://schemas.microsoft.com/office/drawing/2014/main" id="{03FF09F4-1C45-4BAB-AC68-2D9BCFAAD716}"/>
              </a:ext>
            </a:extLst>
          </p:cNvPr>
          <p:cNvSpPr>
            <a:spLocks noGrp="1"/>
          </p:cNvSpPr>
          <p:nvPr>
            <p:ph idx="1"/>
          </p:nvPr>
        </p:nvSpPr>
        <p:spPr>
          <a:xfrm>
            <a:off x="446690" y="1066800"/>
            <a:ext cx="8229600" cy="5350183"/>
          </a:xfrm>
        </p:spPr>
        <p:txBody>
          <a:bodyPr/>
          <a:lstStyle/>
          <a:p>
            <a:pPr algn="just" eaLnBrk="1" hangingPunct="1">
              <a:lnSpc>
                <a:spcPct val="150000"/>
              </a:lnSpc>
            </a:pPr>
            <a:r>
              <a:rPr lang="en-US" altLang="zh-CN" sz="1800" i="0" dirty="0">
                <a:latin typeface="Arial" panose="020B0604020202020204" pitchFamily="34" charset="0"/>
                <a:ea typeface="宋体" panose="02010600030101010101" pitchFamily="2" charset="-122"/>
                <a:cs typeface="Arial" panose="020B0604020202020204" pitchFamily="34" charset="0"/>
              </a:rPr>
              <a:t>The composition of meteorites was investigated and compared to terrestrial rocks as early as 1850. In 1901, </a:t>
            </a:r>
            <a:r>
              <a:rPr lang="en-US" altLang="zh-CN" sz="1800" i="0" dirty="0">
                <a:solidFill>
                  <a:srgbClr val="002060"/>
                </a:solidFill>
                <a:latin typeface="Arial" panose="020B0604020202020204" pitchFamily="34" charset="0"/>
                <a:ea typeface="宋体" panose="02010600030101010101" pitchFamily="2" charset="-122"/>
                <a:cs typeface="Arial" panose="020B0604020202020204" pitchFamily="34" charset="0"/>
              </a:rPr>
              <a:t>Oliver C. Farrington </a:t>
            </a:r>
            <a:r>
              <a:rPr lang="en-US" altLang="zh-CN" sz="1800" i="0" dirty="0">
                <a:latin typeface="Arial" panose="020B0604020202020204" pitchFamily="34" charset="0"/>
                <a:ea typeface="宋体" panose="02010600030101010101" pitchFamily="2" charset="-122"/>
                <a:cs typeface="Arial" panose="020B0604020202020204" pitchFamily="34" charset="0"/>
              </a:rPr>
              <a:t>hypothesised that, although there were differences, </a:t>
            </a:r>
            <a:r>
              <a:rPr lang="en-US" altLang="zh-CN" sz="1800" i="0" dirty="0">
                <a:solidFill>
                  <a:srgbClr val="0070C0"/>
                </a:solidFill>
                <a:latin typeface="Arial" panose="020B0604020202020204" pitchFamily="34" charset="0"/>
                <a:ea typeface="宋体" panose="02010600030101010101" pitchFamily="2" charset="-122"/>
                <a:cs typeface="Arial" panose="020B0604020202020204" pitchFamily="34" charset="0"/>
              </a:rPr>
              <a:t>the relative abundances should still be the same</a:t>
            </a:r>
            <a:r>
              <a:rPr lang="en-US" altLang="zh-CN" sz="1800" i="0" dirty="0">
                <a:latin typeface="Arial" panose="020B0604020202020204" pitchFamily="34" charset="0"/>
                <a:ea typeface="宋体" panose="02010600030101010101" pitchFamily="2" charset="-122"/>
                <a:cs typeface="Arial" panose="020B0604020202020204" pitchFamily="34" charset="0"/>
              </a:rPr>
              <a:t>. This was the beginnings of </a:t>
            </a:r>
            <a:r>
              <a:rPr lang="en-US" altLang="zh-CN" sz="1800" i="0" dirty="0">
                <a:solidFill>
                  <a:srgbClr val="002060"/>
                </a:solidFill>
                <a:latin typeface="Arial" panose="020B0604020202020204" pitchFamily="34" charset="0"/>
                <a:ea typeface="宋体" panose="02010600030101010101" pitchFamily="2" charset="-122"/>
                <a:cs typeface="Arial" panose="020B0604020202020204" pitchFamily="34" charset="0"/>
              </a:rPr>
              <a:t>the field of cosmochemistry </a:t>
            </a:r>
            <a:r>
              <a:rPr lang="en-US" altLang="zh-CN" sz="1800" i="0" dirty="0">
                <a:latin typeface="Arial" panose="020B0604020202020204" pitchFamily="34" charset="0"/>
                <a:ea typeface="宋体" panose="02010600030101010101" pitchFamily="2" charset="-122"/>
                <a:cs typeface="Arial" panose="020B0604020202020204" pitchFamily="34" charset="0"/>
              </a:rPr>
              <a:t>and has contributed much of what we know about the formation of the Earth and the Solar System.</a:t>
            </a:r>
          </a:p>
          <a:p>
            <a:pPr algn="just" eaLnBrk="1" hangingPunct="1">
              <a:lnSpc>
                <a:spcPct val="150000"/>
              </a:lnSpc>
            </a:pPr>
            <a:endParaRPr lang="en-US" altLang="zh-CN" sz="1800" dirty="0">
              <a:latin typeface="Arial" panose="020B0604020202020204" pitchFamily="34" charset="0"/>
              <a:ea typeface="宋体" panose="02010600030101010101" pitchFamily="2" charset="-122"/>
              <a:cs typeface="Arial" panose="020B0604020202020204" pitchFamily="34" charset="0"/>
            </a:endParaRPr>
          </a:p>
          <a:p>
            <a:pPr algn="just" eaLnBrk="1" hangingPunct="1">
              <a:lnSpc>
                <a:spcPct val="150000"/>
              </a:lnSpc>
            </a:pPr>
            <a:r>
              <a:rPr lang="en-US" altLang="zh-CN" sz="1800" i="0" dirty="0">
                <a:latin typeface="Arial" panose="020B0604020202020204" pitchFamily="34" charset="0"/>
                <a:ea typeface="宋体" panose="02010600030101010101" pitchFamily="2" charset="-122"/>
                <a:cs typeface="Arial" panose="020B0604020202020204" pitchFamily="34" charset="0"/>
              </a:rPr>
              <a:t>In the early 20th century, </a:t>
            </a:r>
            <a:r>
              <a:rPr lang="en-US" altLang="zh-CN" sz="1800" i="0" dirty="0">
                <a:solidFill>
                  <a:srgbClr val="0070C0"/>
                </a:solidFill>
                <a:latin typeface="Arial" panose="020B0604020202020204" pitchFamily="34" charset="0"/>
                <a:ea typeface="宋体" panose="02010600030101010101" pitchFamily="2" charset="-122"/>
                <a:cs typeface="Arial" panose="020B0604020202020204" pitchFamily="34" charset="0"/>
              </a:rPr>
              <a:t>Max von Laue and William L. Bragg showed that X-ray scattering could be used to determine the structures of crystals</a:t>
            </a:r>
            <a:r>
              <a:rPr lang="en-US" altLang="zh-CN" sz="1800" i="0" dirty="0">
                <a:latin typeface="Arial" panose="020B0604020202020204" pitchFamily="34" charset="0"/>
                <a:ea typeface="宋体" panose="02010600030101010101" pitchFamily="2" charset="-122"/>
                <a:cs typeface="Arial" panose="020B0604020202020204" pitchFamily="34" charset="0"/>
              </a:rPr>
              <a:t>. In the 1920s and 1930s, Victor Goldschmidt and associates at the University of Oslo applied these methods to many common minerals and formulated a set of rules for how elements are grouped. Goldschmidt published this work in the series </a:t>
            </a:r>
            <a:r>
              <a:rPr lang="en-US" altLang="zh-CN" sz="1800" i="0" dirty="0" err="1">
                <a:latin typeface="Arial" panose="020B0604020202020204" pitchFamily="34" charset="0"/>
                <a:ea typeface="宋体" panose="02010600030101010101" pitchFamily="2" charset="-122"/>
                <a:cs typeface="Arial" panose="020B0604020202020204" pitchFamily="34" charset="0"/>
              </a:rPr>
              <a:t>Geochemische</a:t>
            </a:r>
            <a:r>
              <a:rPr lang="en-US" altLang="zh-CN" sz="1800" i="0" dirty="0">
                <a:latin typeface="Arial" panose="020B0604020202020204" pitchFamily="34" charset="0"/>
                <a:ea typeface="宋体" panose="02010600030101010101" pitchFamily="2" charset="-122"/>
                <a:cs typeface="Arial" panose="020B0604020202020204" pitchFamily="34" charset="0"/>
              </a:rPr>
              <a:t> </a:t>
            </a:r>
            <a:r>
              <a:rPr lang="en-US" altLang="zh-CN" sz="1800" i="0" dirty="0" err="1">
                <a:latin typeface="Arial" panose="020B0604020202020204" pitchFamily="34" charset="0"/>
                <a:ea typeface="宋体" panose="02010600030101010101" pitchFamily="2" charset="-122"/>
                <a:cs typeface="Arial" panose="020B0604020202020204" pitchFamily="34" charset="0"/>
              </a:rPr>
              <a:t>Verteilungsgesetze</a:t>
            </a:r>
            <a:r>
              <a:rPr lang="en-US" altLang="zh-CN" sz="1800" i="0" dirty="0">
                <a:latin typeface="Arial" panose="020B0604020202020204" pitchFamily="34" charset="0"/>
                <a:ea typeface="宋体" panose="02010600030101010101" pitchFamily="2" charset="-122"/>
                <a:cs typeface="Arial" panose="020B0604020202020204" pitchFamily="34" charset="0"/>
              </a:rPr>
              <a:t> der </a:t>
            </a:r>
            <a:r>
              <a:rPr lang="en-US" altLang="zh-CN" sz="1800" i="0" dirty="0" err="1">
                <a:latin typeface="Arial" panose="020B0604020202020204" pitchFamily="34" charset="0"/>
                <a:ea typeface="宋体" panose="02010600030101010101" pitchFamily="2" charset="-122"/>
                <a:cs typeface="Arial" panose="020B0604020202020204" pitchFamily="34" charset="0"/>
              </a:rPr>
              <a:t>Elemente</a:t>
            </a:r>
            <a:r>
              <a:rPr lang="en-US" altLang="zh-CN" sz="1800" i="0" dirty="0">
                <a:latin typeface="Arial" panose="020B0604020202020204" pitchFamily="34" charset="0"/>
                <a:ea typeface="宋体" panose="02010600030101010101" pitchFamily="2" charset="-122"/>
                <a:cs typeface="Arial" panose="020B0604020202020204" pitchFamily="34" charset="0"/>
              </a:rPr>
              <a:t> [Geochemical Laws of the Distribution of Elements].</a:t>
            </a:r>
            <a:endParaRPr lang="zh-CN" altLang="en-US" sz="1800" i="0" dirty="0">
              <a:latin typeface="Arial" panose="020B0604020202020204" pitchFamily="34" charset="0"/>
              <a:ea typeface="宋体" panose="02010600030101010101" pitchFamily="2" charset="-122"/>
              <a:cs typeface="Arial" panose="020B0604020202020204" pitchFamily="34" charset="0"/>
            </a:endParaRPr>
          </a:p>
        </p:txBody>
      </p:sp>
      <p:sp>
        <p:nvSpPr>
          <p:cNvPr id="3" name="TextBox 2">
            <a:extLst>
              <a:ext uri="{FF2B5EF4-FFF2-40B4-BE49-F238E27FC236}">
                <a16:creationId xmlns:a16="http://schemas.microsoft.com/office/drawing/2014/main" id="{4A857670-A126-4B8C-A7FE-6A87CB80FD5F}"/>
              </a:ext>
            </a:extLst>
          </p:cNvPr>
          <p:cNvSpPr txBox="1"/>
          <p:nvPr/>
        </p:nvSpPr>
        <p:spPr>
          <a:xfrm>
            <a:off x="457200" y="163700"/>
            <a:ext cx="4572000" cy="461665"/>
          </a:xfrm>
          <a:prstGeom prst="rect">
            <a:avLst/>
          </a:prstGeom>
          <a:noFill/>
        </p:spPr>
        <p:txBody>
          <a:bodyPr wrap="square">
            <a:spAutoFit/>
          </a:bodyPr>
          <a:lstStyle/>
          <a:p>
            <a:pPr eaLnBrk="1" hangingPunct="1"/>
            <a:r>
              <a:rPr lang="en-US" altLang="zh-CN" sz="2400" b="1"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History of Geochemistry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64" name="Text Box 8">
            <a:extLst>
              <a:ext uri="{FF2B5EF4-FFF2-40B4-BE49-F238E27FC236}">
                <a16:creationId xmlns:a16="http://schemas.microsoft.com/office/drawing/2014/main" id="{9BE92F12-4FF7-410F-9BCF-8BA5EF14AF92}"/>
              </a:ext>
            </a:extLst>
          </p:cNvPr>
          <p:cNvSpPr txBox="1">
            <a:spLocks noChangeArrowheads="1"/>
          </p:cNvSpPr>
          <p:nvPr/>
        </p:nvSpPr>
        <p:spPr bwMode="auto">
          <a:xfrm>
            <a:off x="176048" y="1066800"/>
            <a:ext cx="8489731" cy="5113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gn="just">
              <a:lnSpc>
                <a:spcPct val="150000"/>
              </a:lnSpc>
              <a:buFont typeface="Arial" panose="020B0604020202020204" pitchFamily="34" charset="0"/>
              <a:buChar char="•"/>
            </a:pPr>
            <a:r>
              <a:rPr lang="en-US" altLang="en-US" sz="2000" b="1" dirty="0">
                <a:solidFill>
                  <a:srgbClr val="008000"/>
                </a:solidFill>
                <a:effectLst>
                  <a:outerShdw blurRad="38100" dist="38100" dir="2700000" algn="tl">
                    <a:srgbClr val="C0C0C0"/>
                  </a:outerShdw>
                </a:effectLst>
              </a:rPr>
              <a:t>Clark,</a:t>
            </a:r>
            <a:r>
              <a:rPr lang="en-US" altLang="en-US" sz="2000" dirty="0">
                <a:solidFill>
                  <a:srgbClr val="008000"/>
                </a:solidFill>
                <a:effectLst>
                  <a:outerShdw blurRad="38100" dist="38100" dir="2700000" algn="tl">
                    <a:srgbClr val="C0C0C0"/>
                  </a:outerShdw>
                </a:effectLst>
              </a:rPr>
              <a:t> who was a chief chemist of the US. Geological Survey from 1884 to 1925, has contributed very much to the science "geochemistry".</a:t>
            </a:r>
            <a:r>
              <a:rPr lang="en-US" altLang="en-US" sz="2000" dirty="0">
                <a:effectLst>
                  <a:outerShdw blurRad="38100" dist="38100" dir="2700000" algn="tl">
                    <a:srgbClr val="C0C0C0"/>
                  </a:outerShdw>
                </a:effectLst>
              </a:rPr>
              <a:t>  </a:t>
            </a:r>
            <a:endParaRPr lang="en-US" altLang="en-US" sz="2000" dirty="0">
              <a:solidFill>
                <a:schemeClr val="tx2"/>
              </a:solidFill>
              <a:effectLst>
                <a:outerShdw blurRad="38100" dist="38100" dir="2700000" algn="tl">
                  <a:srgbClr val="C0C0C0"/>
                </a:outerShdw>
              </a:effectLst>
            </a:endParaRPr>
          </a:p>
          <a:p>
            <a:pPr marL="342900" indent="-342900" algn="just">
              <a:lnSpc>
                <a:spcPct val="150000"/>
              </a:lnSpc>
              <a:buFont typeface="Arial" panose="020B0604020202020204" pitchFamily="34" charset="0"/>
              <a:buChar char="•"/>
            </a:pPr>
            <a:r>
              <a:rPr lang="en-US" altLang="en-US" sz="2000" dirty="0">
                <a:solidFill>
                  <a:schemeClr val="tx2"/>
                </a:solidFill>
                <a:effectLst>
                  <a:outerShdw blurRad="38100" dist="38100" dir="2700000" algn="tl">
                    <a:srgbClr val="C0C0C0"/>
                  </a:outerShdw>
                </a:effectLst>
              </a:rPr>
              <a:t>The modern science of geochemistry can be dated back to Clark who published a very large number of chemical analyses of the various rocks in the earth's crust</a:t>
            </a:r>
            <a:r>
              <a:rPr lang="en-US" altLang="en-US" sz="2000" dirty="0">
                <a:effectLst>
                  <a:outerShdw blurRad="38100" dist="38100" dir="2700000" algn="tl">
                    <a:srgbClr val="C0C0C0"/>
                  </a:outerShdw>
                </a:effectLst>
              </a:rPr>
              <a:t>.  </a:t>
            </a:r>
          </a:p>
          <a:p>
            <a:pPr marL="342900" indent="-342900" algn="just">
              <a:lnSpc>
                <a:spcPct val="150000"/>
              </a:lnSpc>
              <a:buFont typeface="Arial" panose="020B0604020202020204" pitchFamily="34" charset="0"/>
              <a:buChar char="•"/>
            </a:pPr>
            <a:r>
              <a:rPr lang="en-US" altLang="en-US" sz="2000" dirty="0">
                <a:solidFill>
                  <a:schemeClr val="tx1"/>
                </a:solidFill>
                <a:effectLst>
                  <a:outerShdw blurRad="38100" dist="38100" dir="2700000" algn="tl">
                    <a:srgbClr val="C0C0C0"/>
                  </a:outerShdw>
                </a:effectLst>
              </a:rPr>
              <a:t>He computed averages for each common rock type and studied the mutual abundance and distribution of many major and minor elements</a:t>
            </a:r>
          </a:p>
          <a:p>
            <a:pPr marL="342900" indent="-342900" algn="just">
              <a:lnSpc>
                <a:spcPct val="150000"/>
              </a:lnSpc>
              <a:buFont typeface="Arial" panose="020B0604020202020204" pitchFamily="34" charset="0"/>
              <a:buChar char="•"/>
            </a:pPr>
            <a:r>
              <a:rPr lang="en-US" altLang="zh-CN" sz="2000" i="0" dirty="0">
                <a:latin typeface="Arial" panose="020B0604020202020204" pitchFamily="34" charset="0"/>
                <a:ea typeface="宋体" panose="02010600030101010101" pitchFamily="2" charset="-122"/>
                <a:cs typeface="Arial" panose="020B0604020202020204" pitchFamily="34" charset="0"/>
              </a:rPr>
              <a:t>He noted that the elements generally decrease in abundance as their atomic weights increase, and summarized the work on elemental abundance in The Data of Geochemistry</a:t>
            </a:r>
            <a:r>
              <a:rPr lang="en-US" altLang="en-US" sz="2000" dirty="0">
                <a:solidFill>
                  <a:schemeClr val="tx1"/>
                </a:solidFill>
                <a:effectLst>
                  <a:outerShdw blurRad="38100" dist="38100" dir="2700000" algn="tl">
                    <a:srgbClr val="C0C0C0"/>
                  </a:outerShdw>
                </a:effectLst>
              </a:rPr>
              <a:t>. </a:t>
            </a:r>
          </a:p>
        </p:txBody>
      </p:sp>
      <p:sp>
        <p:nvSpPr>
          <p:cNvPr id="4" name="TextBox 3">
            <a:extLst>
              <a:ext uri="{FF2B5EF4-FFF2-40B4-BE49-F238E27FC236}">
                <a16:creationId xmlns:a16="http://schemas.microsoft.com/office/drawing/2014/main" id="{4011CF58-7775-499D-B0B7-31879E83362D}"/>
              </a:ext>
            </a:extLst>
          </p:cNvPr>
          <p:cNvSpPr txBox="1"/>
          <p:nvPr/>
        </p:nvSpPr>
        <p:spPr>
          <a:xfrm>
            <a:off x="457200" y="163700"/>
            <a:ext cx="4572000" cy="461665"/>
          </a:xfrm>
          <a:prstGeom prst="rect">
            <a:avLst/>
          </a:prstGeom>
          <a:noFill/>
        </p:spPr>
        <p:txBody>
          <a:bodyPr wrap="square">
            <a:spAutoFit/>
          </a:bodyPr>
          <a:lstStyle/>
          <a:p>
            <a:pPr eaLnBrk="1" hangingPunct="1"/>
            <a:r>
              <a:rPr lang="en-US" altLang="zh-CN" sz="2400" b="1"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History of Geochemistry</a:t>
            </a:r>
          </a:p>
        </p:txBody>
      </p:sp>
    </p:spTree>
    <p:extLst>
      <p:ext uri="{BB962C8B-B14F-4D97-AF65-F5344CB8AC3E}">
        <p14:creationId xmlns:p14="http://schemas.microsoft.com/office/powerpoint/2010/main" val="2338098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6E2C491-3230-470E-BF3C-D07D3C114B57}"/>
              </a:ext>
            </a:extLst>
          </p:cNvPr>
          <p:cNvSpPr txBox="1"/>
          <p:nvPr/>
        </p:nvSpPr>
        <p:spPr>
          <a:xfrm>
            <a:off x="318617" y="1655150"/>
            <a:ext cx="8506764" cy="3884397"/>
          </a:xfrm>
          <a:prstGeom prst="rect">
            <a:avLst/>
          </a:prstGeom>
          <a:noFill/>
        </p:spPr>
        <p:txBody>
          <a:bodyPr wrap="square">
            <a:spAutoFit/>
          </a:bodyPr>
          <a:lstStyle/>
          <a:p>
            <a:pPr algn="just">
              <a:lnSpc>
                <a:spcPct val="200000"/>
              </a:lnSpc>
            </a:pPr>
            <a:r>
              <a:rPr lang="en-US" altLang="en-US" sz="1800" b="1" dirty="0">
                <a:effectLst>
                  <a:outerShdw blurRad="38100" dist="38100" dir="2700000" algn="tl">
                    <a:srgbClr val="C0C0C0"/>
                  </a:outerShdw>
                </a:effectLst>
              </a:rPr>
              <a:t>Goldschmidt</a:t>
            </a:r>
            <a:r>
              <a:rPr lang="en-US" altLang="en-US" sz="1800" dirty="0">
                <a:effectLst>
                  <a:outerShdw blurRad="38100" dist="38100" dir="2700000" algn="tl">
                    <a:srgbClr val="C0C0C0"/>
                  </a:outerShdw>
                </a:effectLst>
              </a:rPr>
              <a:t> (1888 - 1947) contributed significantly to the roles </a:t>
            </a:r>
            <a:r>
              <a:rPr lang="en-US" altLang="en-US" sz="1800" dirty="0">
                <a:solidFill>
                  <a:srgbClr val="0070C0"/>
                </a:solidFill>
                <a:effectLst>
                  <a:outerShdw blurRad="38100" dist="38100" dir="2700000" algn="tl">
                    <a:srgbClr val="C0C0C0"/>
                  </a:outerShdw>
                </a:effectLst>
              </a:rPr>
              <a:t>of ionic size, coordination and atomic substitution in crystal lattices</a:t>
            </a:r>
            <a:r>
              <a:rPr lang="en-US" altLang="en-US" sz="1800" dirty="0">
                <a:effectLst>
                  <a:outerShdw blurRad="38100" dist="38100" dir="2700000" algn="tl">
                    <a:srgbClr val="C0C0C0"/>
                  </a:outerShdw>
                </a:effectLst>
              </a:rPr>
              <a:t>. He gave a practical definition for the science geochemistry, as it deals with: </a:t>
            </a:r>
          </a:p>
          <a:p>
            <a:pPr algn="just">
              <a:lnSpc>
                <a:spcPct val="200000"/>
              </a:lnSpc>
            </a:pPr>
            <a:r>
              <a:rPr lang="en-US" altLang="en-US" sz="1800" dirty="0">
                <a:effectLst>
                  <a:outerShdw blurRad="38100" dist="38100" dir="2700000" algn="tl">
                    <a:srgbClr val="C0C0C0"/>
                  </a:outerShdw>
                </a:effectLst>
              </a:rPr>
              <a:t>1) the abundance of elements in rock, mineral or crystal,  </a:t>
            </a:r>
          </a:p>
          <a:p>
            <a:pPr algn="just">
              <a:lnSpc>
                <a:spcPct val="200000"/>
              </a:lnSpc>
            </a:pPr>
            <a:r>
              <a:rPr lang="en-US" altLang="en-US" sz="1800" dirty="0">
                <a:effectLst>
                  <a:outerShdw blurRad="38100" dist="38100" dir="2700000" algn="tl">
                    <a:srgbClr val="C0C0C0"/>
                  </a:outerShdw>
                </a:effectLst>
              </a:rPr>
              <a:t>2) the distribution of the elements, and </a:t>
            </a:r>
          </a:p>
          <a:p>
            <a:pPr algn="just">
              <a:lnSpc>
                <a:spcPct val="200000"/>
              </a:lnSpc>
            </a:pPr>
            <a:r>
              <a:rPr lang="en-US" altLang="en-US" sz="1800" dirty="0">
                <a:effectLst>
                  <a:outerShdw blurRad="38100" dist="38100" dir="2700000" algn="tl">
                    <a:srgbClr val="C0C0C0"/>
                  </a:outerShdw>
                </a:effectLst>
              </a:rPr>
              <a:t>3) laws governing the abundance and distribution of elements in rock, mineral or crystal.</a:t>
            </a:r>
            <a:r>
              <a:rPr lang="en-US" altLang="en-US" sz="1800" i="1" dirty="0">
                <a:effectLst>
                  <a:outerShdw blurRad="38100" dist="38100" dir="2700000" algn="tl">
                    <a:srgbClr val="C0C0C0"/>
                  </a:outerShdw>
                </a:effectLst>
              </a:rPr>
              <a:t>  </a:t>
            </a:r>
          </a:p>
        </p:txBody>
      </p:sp>
      <p:sp>
        <p:nvSpPr>
          <p:cNvPr id="6" name="TextBox 5">
            <a:extLst>
              <a:ext uri="{FF2B5EF4-FFF2-40B4-BE49-F238E27FC236}">
                <a16:creationId xmlns:a16="http://schemas.microsoft.com/office/drawing/2014/main" id="{7496D452-9042-41FF-A000-C5C3FEE5C702}"/>
              </a:ext>
            </a:extLst>
          </p:cNvPr>
          <p:cNvSpPr txBox="1"/>
          <p:nvPr/>
        </p:nvSpPr>
        <p:spPr>
          <a:xfrm>
            <a:off x="457200" y="163700"/>
            <a:ext cx="4572000" cy="461665"/>
          </a:xfrm>
          <a:prstGeom prst="rect">
            <a:avLst/>
          </a:prstGeom>
          <a:noFill/>
        </p:spPr>
        <p:txBody>
          <a:bodyPr wrap="square">
            <a:spAutoFit/>
          </a:bodyPr>
          <a:lstStyle/>
          <a:p>
            <a:pPr eaLnBrk="1" hangingPunct="1"/>
            <a:r>
              <a:rPr lang="en-US" altLang="zh-CN" sz="2400" b="1"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History of Geochemistry</a:t>
            </a:r>
          </a:p>
        </p:txBody>
      </p:sp>
    </p:spTree>
    <p:extLst>
      <p:ext uri="{BB962C8B-B14F-4D97-AF65-F5344CB8AC3E}">
        <p14:creationId xmlns:p14="http://schemas.microsoft.com/office/powerpoint/2010/main" val="21036826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2" name="AutoShape 4">
            <a:extLst>
              <a:ext uri="{FF2B5EF4-FFF2-40B4-BE49-F238E27FC236}">
                <a16:creationId xmlns:a16="http://schemas.microsoft.com/office/drawing/2014/main" id="{D7D0E25E-4707-4EA5-ADCF-E778A1A66835}"/>
              </a:ext>
            </a:extLst>
          </p:cNvPr>
          <p:cNvSpPr>
            <a:spLocks noChangeArrowheads="1"/>
          </p:cNvSpPr>
          <p:nvPr/>
        </p:nvSpPr>
        <p:spPr bwMode="auto">
          <a:xfrm>
            <a:off x="609600" y="3429000"/>
            <a:ext cx="2438400" cy="2209800"/>
          </a:xfrm>
          <a:prstGeom prst="roundRect">
            <a:avLst>
              <a:gd name="adj" fmla="val 16667"/>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a:p>
        </p:txBody>
      </p:sp>
      <p:sp>
        <p:nvSpPr>
          <p:cNvPr id="32773" name="Rectangle 5">
            <a:extLst>
              <a:ext uri="{FF2B5EF4-FFF2-40B4-BE49-F238E27FC236}">
                <a16:creationId xmlns:a16="http://schemas.microsoft.com/office/drawing/2014/main" id="{BA5758E8-70EC-4FA3-8573-3018A96F9B3A}"/>
              </a:ext>
            </a:extLst>
          </p:cNvPr>
          <p:cNvSpPr>
            <a:spLocks noChangeArrowheads="1"/>
          </p:cNvSpPr>
          <p:nvPr/>
        </p:nvSpPr>
        <p:spPr bwMode="auto">
          <a:xfrm>
            <a:off x="609600" y="2514600"/>
            <a:ext cx="2438400" cy="1219200"/>
          </a:xfrm>
          <a:prstGeom prst="rect">
            <a:avLst/>
          </a:prstGeom>
          <a:solidFill>
            <a:srgbClr val="FF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a:p>
        </p:txBody>
      </p:sp>
      <p:sp>
        <p:nvSpPr>
          <p:cNvPr id="32774" name="Rectangle 6">
            <a:extLst>
              <a:ext uri="{FF2B5EF4-FFF2-40B4-BE49-F238E27FC236}">
                <a16:creationId xmlns:a16="http://schemas.microsoft.com/office/drawing/2014/main" id="{A90CD434-E133-41B9-8029-62462AB9D566}"/>
              </a:ext>
            </a:extLst>
          </p:cNvPr>
          <p:cNvSpPr>
            <a:spLocks noChangeArrowheads="1"/>
          </p:cNvSpPr>
          <p:nvPr/>
        </p:nvSpPr>
        <p:spPr bwMode="auto">
          <a:xfrm>
            <a:off x="609600" y="3733800"/>
            <a:ext cx="2438400" cy="762000"/>
          </a:xfrm>
          <a:prstGeom prst="rect">
            <a:avLst/>
          </a:prstGeom>
          <a:solidFill>
            <a:schemeClr val="accent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a:p>
        </p:txBody>
      </p:sp>
      <p:sp>
        <p:nvSpPr>
          <p:cNvPr id="32776" name="Text Box 8">
            <a:extLst>
              <a:ext uri="{FF2B5EF4-FFF2-40B4-BE49-F238E27FC236}">
                <a16:creationId xmlns:a16="http://schemas.microsoft.com/office/drawing/2014/main" id="{8E62113F-D603-461F-8753-6D6CE0C33BD1}"/>
              </a:ext>
            </a:extLst>
          </p:cNvPr>
          <p:cNvSpPr txBox="1">
            <a:spLocks noChangeArrowheads="1"/>
          </p:cNvSpPr>
          <p:nvPr/>
        </p:nvSpPr>
        <p:spPr bwMode="auto">
          <a:xfrm>
            <a:off x="381000" y="533400"/>
            <a:ext cx="8458200" cy="954088"/>
          </a:xfrm>
          <a:prstGeom prst="rect">
            <a:avLst/>
          </a:prstGeom>
          <a:solidFill>
            <a:srgbClr val="FFFF99"/>
          </a:solidFill>
          <a:ln w="38100" cmpd="dbl">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marL="174625" indent="-161925">
              <a:defRPr>
                <a:solidFill>
                  <a:schemeClr val="tx1"/>
                </a:solidFill>
                <a:latin typeface="Arial" panose="020B0604020202020204" pitchFamily="34" charset="0"/>
                <a:cs typeface="Arial" panose="020B0604020202020204" pitchFamily="34" charset="0"/>
              </a:defRPr>
            </a:lvl1pPr>
            <a:lvl2pPr marL="862013">
              <a:defRPr>
                <a:solidFill>
                  <a:schemeClr val="tx1"/>
                </a:solidFill>
                <a:latin typeface="Arial" panose="020B0604020202020204" pitchFamily="34" charset="0"/>
                <a:cs typeface="Arial" panose="020B0604020202020204" pitchFamily="34" charset="0"/>
              </a:defRPr>
            </a:lvl2pPr>
            <a:lvl3pPr marL="976313">
              <a:defRPr>
                <a:solidFill>
                  <a:schemeClr val="tx1"/>
                </a:solidFill>
                <a:latin typeface="Arial" panose="020B0604020202020204" pitchFamily="34" charset="0"/>
                <a:cs typeface="Arial" panose="020B0604020202020204" pitchFamily="34" charset="0"/>
              </a:defRPr>
            </a:lvl3pPr>
            <a:lvl4pPr>
              <a:defRPr>
                <a:solidFill>
                  <a:schemeClr val="tx1"/>
                </a:solidFill>
                <a:latin typeface="Arial" panose="020B0604020202020204" pitchFamily="34" charset="0"/>
                <a:cs typeface="Arial" panose="020B0604020202020204" pitchFamily="34" charset="0"/>
              </a:defRPr>
            </a:lvl4pPr>
            <a:lvl5pPr>
              <a:defRPr>
                <a:solidFill>
                  <a:schemeClr val="tx1"/>
                </a:solidFill>
                <a:latin typeface="Arial" panose="020B0604020202020204" pitchFamily="34" charset="0"/>
                <a:cs typeface="Arial" panose="020B0604020202020204" pitchFamily="34" charset="0"/>
              </a:defRPr>
            </a:lvl5pPr>
            <a:lvl6pPr fontAlgn="base">
              <a:spcBef>
                <a:spcPct val="0"/>
              </a:spcBef>
              <a:spcAft>
                <a:spcPct val="0"/>
              </a:spcAft>
              <a:defRPr>
                <a:solidFill>
                  <a:schemeClr val="tx1"/>
                </a:solidFill>
                <a:latin typeface="Arial" panose="020B0604020202020204" pitchFamily="34" charset="0"/>
                <a:cs typeface="Arial" panose="020B0604020202020204" pitchFamily="34" charset="0"/>
              </a:defRPr>
            </a:lvl6pPr>
            <a:lvl7pPr fontAlgn="base">
              <a:spcBef>
                <a:spcPct val="0"/>
              </a:spcBef>
              <a:spcAft>
                <a:spcPct val="0"/>
              </a:spcAft>
              <a:defRPr>
                <a:solidFill>
                  <a:schemeClr val="tx1"/>
                </a:solidFill>
                <a:latin typeface="Arial" panose="020B0604020202020204" pitchFamily="34" charset="0"/>
                <a:cs typeface="Arial" panose="020B0604020202020204" pitchFamily="34" charset="0"/>
              </a:defRPr>
            </a:lvl7pPr>
            <a:lvl8pPr fontAlgn="base">
              <a:spcBef>
                <a:spcPct val="0"/>
              </a:spcBef>
              <a:spcAft>
                <a:spcPct val="0"/>
              </a:spcAft>
              <a:defRPr>
                <a:solidFill>
                  <a:schemeClr val="tx1"/>
                </a:solidFill>
                <a:latin typeface="Arial" panose="020B0604020202020204" pitchFamily="34" charset="0"/>
                <a:cs typeface="Arial" panose="020B0604020202020204" pitchFamily="34" charset="0"/>
              </a:defRPr>
            </a:lvl8pPr>
            <a:lvl9pPr fontAlgn="base">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0" hangingPunct="0">
              <a:spcBef>
                <a:spcPct val="50000"/>
              </a:spcBef>
            </a:pPr>
            <a:r>
              <a:rPr lang="en-US" altLang="en-US" sz="1800" dirty="0">
                <a:latin typeface="Times New Roman" panose="02020603050405020304" pitchFamily="18" charset="0"/>
                <a:cs typeface="Times New Roman" panose="02020603050405020304" pitchFamily="18" charset="0"/>
              </a:rPr>
              <a:t>  In the classification scheme of Goldschmidt, elements are divided according to how they partition between coexisting silicate liquid, sulfide liquid, metallic liquid, and gas phase…defined by examining </a:t>
            </a:r>
            <a:r>
              <a:rPr lang="en-US" altLang="en-US" sz="1800" dirty="0">
                <a:solidFill>
                  <a:srgbClr val="0070C0"/>
                </a:solidFill>
                <a:latin typeface="Times New Roman" panose="02020603050405020304" pitchFamily="18" charset="0"/>
                <a:cs typeface="Times New Roman" panose="02020603050405020304" pitchFamily="18" charset="0"/>
              </a:rPr>
              <a:t>ore smelting slags and meteorites</a:t>
            </a:r>
          </a:p>
        </p:txBody>
      </p:sp>
      <p:sp>
        <p:nvSpPr>
          <p:cNvPr id="32777" name="Freeform 9">
            <a:extLst>
              <a:ext uri="{FF2B5EF4-FFF2-40B4-BE49-F238E27FC236}">
                <a16:creationId xmlns:a16="http://schemas.microsoft.com/office/drawing/2014/main" id="{9B65EA8E-43A5-40E6-ABDD-CAF0EFAF604E}"/>
              </a:ext>
            </a:extLst>
          </p:cNvPr>
          <p:cNvSpPr>
            <a:spLocks/>
          </p:cNvSpPr>
          <p:nvPr/>
        </p:nvSpPr>
        <p:spPr bwMode="auto">
          <a:xfrm>
            <a:off x="850900" y="1752600"/>
            <a:ext cx="2032000" cy="673100"/>
          </a:xfrm>
          <a:custGeom>
            <a:avLst/>
            <a:gdLst>
              <a:gd name="T0" fmla="*/ 64 w 1280"/>
              <a:gd name="T1" fmla="*/ 96 h 424"/>
              <a:gd name="T2" fmla="*/ 136 w 1280"/>
              <a:gd name="T3" fmla="*/ 32 h 424"/>
              <a:gd name="T4" fmla="*/ 224 w 1280"/>
              <a:gd name="T5" fmla="*/ 24 h 424"/>
              <a:gd name="T6" fmla="*/ 256 w 1280"/>
              <a:gd name="T7" fmla="*/ 56 h 424"/>
              <a:gd name="T8" fmla="*/ 256 w 1280"/>
              <a:gd name="T9" fmla="*/ 96 h 424"/>
              <a:gd name="T10" fmla="*/ 256 w 1280"/>
              <a:gd name="T11" fmla="*/ 144 h 424"/>
              <a:gd name="T12" fmla="*/ 272 w 1280"/>
              <a:gd name="T13" fmla="*/ 144 h 424"/>
              <a:gd name="T14" fmla="*/ 312 w 1280"/>
              <a:gd name="T15" fmla="*/ 88 h 424"/>
              <a:gd name="T16" fmla="*/ 344 w 1280"/>
              <a:gd name="T17" fmla="*/ 56 h 424"/>
              <a:gd name="T18" fmla="*/ 432 w 1280"/>
              <a:gd name="T19" fmla="*/ 8 h 424"/>
              <a:gd name="T20" fmla="*/ 480 w 1280"/>
              <a:gd name="T21" fmla="*/ 8 h 424"/>
              <a:gd name="T22" fmla="*/ 520 w 1280"/>
              <a:gd name="T23" fmla="*/ 32 h 424"/>
              <a:gd name="T24" fmla="*/ 576 w 1280"/>
              <a:gd name="T25" fmla="*/ 88 h 424"/>
              <a:gd name="T26" fmla="*/ 584 w 1280"/>
              <a:gd name="T27" fmla="*/ 128 h 424"/>
              <a:gd name="T28" fmla="*/ 632 w 1280"/>
              <a:gd name="T29" fmla="*/ 80 h 424"/>
              <a:gd name="T30" fmla="*/ 688 w 1280"/>
              <a:gd name="T31" fmla="*/ 40 h 424"/>
              <a:gd name="T32" fmla="*/ 760 w 1280"/>
              <a:gd name="T33" fmla="*/ 16 h 424"/>
              <a:gd name="T34" fmla="*/ 832 w 1280"/>
              <a:gd name="T35" fmla="*/ 24 h 424"/>
              <a:gd name="T36" fmla="*/ 848 w 1280"/>
              <a:gd name="T37" fmla="*/ 64 h 424"/>
              <a:gd name="T38" fmla="*/ 832 w 1280"/>
              <a:gd name="T39" fmla="*/ 104 h 424"/>
              <a:gd name="T40" fmla="*/ 848 w 1280"/>
              <a:gd name="T41" fmla="*/ 104 h 424"/>
              <a:gd name="T42" fmla="*/ 928 w 1280"/>
              <a:gd name="T43" fmla="*/ 72 h 424"/>
              <a:gd name="T44" fmla="*/ 1008 w 1280"/>
              <a:gd name="T45" fmla="*/ 80 h 424"/>
              <a:gd name="T46" fmla="*/ 1056 w 1280"/>
              <a:gd name="T47" fmla="*/ 96 h 424"/>
              <a:gd name="T48" fmla="*/ 1064 w 1280"/>
              <a:gd name="T49" fmla="*/ 128 h 424"/>
              <a:gd name="T50" fmla="*/ 1064 w 1280"/>
              <a:gd name="T51" fmla="*/ 136 h 424"/>
              <a:gd name="T52" fmla="*/ 1128 w 1280"/>
              <a:gd name="T53" fmla="*/ 112 h 424"/>
              <a:gd name="T54" fmla="*/ 1208 w 1280"/>
              <a:gd name="T55" fmla="*/ 112 h 424"/>
              <a:gd name="T56" fmla="*/ 1264 w 1280"/>
              <a:gd name="T57" fmla="*/ 152 h 424"/>
              <a:gd name="T58" fmla="*/ 1256 w 1280"/>
              <a:gd name="T59" fmla="*/ 304 h 424"/>
              <a:gd name="T60" fmla="*/ 1176 w 1280"/>
              <a:gd name="T61" fmla="*/ 384 h 424"/>
              <a:gd name="T62" fmla="*/ 1112 w 1280"/>
              <a:gd name="T63" fmla="*/ 384 h 424"/>
              <a:gd name="T64" fmla="*/ 1056 w 1280"/>
              <a:gd name="T65" fmla="*/ 368 h 424"/>
              <a:gd name="T66" fmla="*/ 1032 w 1280"/>
              <a:gd name="T67" fmla="*/ 320 h 424"/>
              <a:gd name="T68" fmla="*/ 1016 w 1280"/>
              <a:gd name="T69" fmla="*/ 344 h 424"/>
              <a:gd name="T70" fmla="*/ 1008 w 1280"/>
              <a:gd name="T71" fmla="*/ 368 h 424"/>
              <a:gd name="T72" fmla="*/ 936 w 1280"/>
              <a:gd name="T73" fmla="*/ 392 h 424"/>
              <a:gd name="T74" fmla="*/ 872 w 1280"/>
              <a:gd name="T75" fmla="*/ 360 h 424"/>
              <a:gd name="T76" fmla="*/ 856 w 1280"/>
              <a:gd name="T77" fmla="*/ 312 h 424"/>
              <a:gd name="T78" fmla="*/ 824 w 1280"/>
              <a:gd name="T79" fmla="*/ 376 h 424"/>
              <a:gd name="T80" fmla="*/ 760 w 1280"/>
              <a:gd name="T81" fmla="*/ 408 h 424"/>
              <a:gd name="T82" fmla="*/ 664 w 1280"/>
              <a:gd name="T83" fmla="*/ 400 h 424"/>
              <a:gd name="T84" fmla="*/ 616 w 1280"/>
              <a:gd name="T85" fmla="*/ 376 h 424"/>
              <a:gd name="T86" fmla="*/ 592 w 1280"/>
              <a:gd name="T87" fmla="*/ 384 h 424"/>
              <a:gd name="T88" fmla="*/ 560 w 1280"/>
              <a:gd name="T89" fmla="*/ 408 h 424"/>
              <a:gd name="T90" fmla="*/ 480 w 1280"/>
              <a:gd name="T91" fmla="*/ 424 h 424"/>
              <a:gd name="T92" fmla="*/ 440 w 1280"/>
              <a:gd name="T93" fmla="*/ 376 h 424"/>
              <a:gd name="T94" fmla="*/ 448 w 1280"/>
              <a:gd name="T95" fmla="*/ 344 h 424"/>
              <a:gd name="T96" fmla="*/ 368 w 1280"/>
              <a:gd name="T97" fmla="*/ 408 h 424"/>
              <a:gd name="T98" fmla="*/ 296 w 1280"/>
              <a:gd name="T99" fmla="*/ 424 h 424"/>
              <a:gd name="T100" fmla="*/ 232 w 1280"/>
              <a:gd name="T101" fmla="*/ 408 h 424"/>
              <a:gd name="T102" fmla="*/ 168 w 1280"/>
              <a:gd name="T103" fmla="*/ 344 h 424"/>
              <a:gd name="T104" fmla="*/ 152 w 1280"/>
              <a:gd name="T105" fmla="*/ 328 h 424"/>
              <a:gd name="T106" fmla="*/ 152 w 1280"/>
              <a:gd name="T107" fmla="*/ 352 h 424"/>
              <a:gd name="T108" fmla="*/ 112 w 1280"/>
              <a:gd name="T109" fmla="*/ 376 h 424"/>
              <a:gd name="T110" fmla="*/ 64 w 1280"/>
              <a:gd name="T111" fmla="*/ 368 h 424"/>
              <a:gd name="T112" fmla="*/ 24 w 1280"/>
              <a:gd name="T113" fmla="*/ 344 h 424"/>
              <a:gd name="T114" fmla="*/ 8 w 1280"/>
              <a:gd name="T115" fmla="*/ 312 h 424"/>
              <a:gd name="T116" fmla="*/ 0 w 1280"/>
              <a:gd name="T117" fmla="*/ 288 h 424"/>
              <a:gd name="T118" fmla="*/ 24 w 1280"/>
              <a:gd name="T119" fmla="*/ 264 h 424"/>
              <a:gd name="T120" fmla="*/ 56 w 1280"/>
              <a:gd name="T121" fmla="*/ 240 h 424"/>
              <a:gd name="T122" fmla="*/ 48 w 1280"/>
              <a:gd name="T123" fmla="*/ 224 h 424"/>
              <a:gd name="T124" fmla="*/ 24 w 1280"/>
              <a:gd name="T125" fmla="*/ 192 h 4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280" h="424">
                <a:moveTo>
                  <a:pt x="32" y="176"/>
                </a:moveTo>
                <a:lnTo>
                  <a:pt x="40" y="136"/>
                </a:lnTo>
                <a:lnTo>
                  <a:pt x="64" y="96"/>
                </a:lnTo>
                <a:lnTo>
                  <a:pt x="96" y="56"/>
                </a:lnTo>
                <a:lnTo>
                  <a:pt x="136" y="32"/>
                </a:lnTo>
                <a:lnTo>
                  <a:pt x="136" y="32"/>
                </a:lnTo>
                <a:lnTo>
                  <a:pt x="168" y="24"/>
                </a:lnTo>
                <a:lnTo>
                  <a:pt x="208" y="24"/>
                </a:lnTo>
                <a:lnTo>
                  <a:pt x="224" y="24"/>
                </a:lnTo>
                <a:lnTo>
                  <a:pt x="240" y="32"/>
                </a:lnTo>
                <a:lnTo>
                  <a:pt x="256" y="40"/>
                </a:lnTo>
                <a:lnTo>
                  <a:pt x="256" y="56"/>
                </a:lnTo>
                <a:lnTo>
                  <a:pt x="256" y="56"/>
                </a:lnTo>
                <a:lnTo>
                  <a:pt x="256" y="80"/>
                </a:lnTo>
                <a:lnTo>
                  <a:pt x="256" y="96"/>
                </a:lnTo>
                <a:lnTo>
                  <a:pt x="256" y="120"/>
                </a:lnTo>
                <a:lnTo>
                  <a:pt x="256" y="144"/>
                </a:lnTo>
                <a:lnTo>
                  <a:pt x="256" y="144"/>
                </a:lnTo>
                <a:lnTo>
                  <a:pt x="256" y="152"/>
                </a:lnTo>
                <a:lnTo>
                  <a:pt x="256" y="152"/>
                </a:lnTo>
                <a:lnTo>
                  <a:pt x="272" y="144"/>
                </a:lnTo>
                <a:lnTo>
                  <a:pt x="280" y="128"/>
                </a:lnTo>
                <a:lnTo>
                  <a:pt x="296" y="112"/>
                </a:lnTo>
                <a:lnTo>
                  <a:pt x="312" y="88"/>
                </a:lnTo>
                <a:lnTo>
                  <a:pt x="328" y="72"/>
                </a:lnTo>
                <a:lnTo>
                  <a:pt x="344" y="56"/>
                </a:lnTo>
                <a:lnTo>
                  <a:pt x="344" y="56"/>
                </a:lnTo>
                <a:lnTo>
                  <a:pt x="376" y="32"/>
                </a:lnTo>
                <a:lnTo>
                  <a:pt x="416" y="16"/>
                </a:lnTo>
                <a:lnTo>
                  <a:pt x="432" y="8"/>
                </a:lnTo>
                <a:lnTo>
                  <a:pt x="448" y="0"/>
                </a:lnTo>
                <a:lnTo>
                  <a:pt x="464" y="0"/>
                </a:lnTo>
                <a:lnTo>
                  <a:pt x="480" y="8"/>
                </a:lnTo>
                <a:lnTo>
                  <a:pt x="480" y="8"/>
                </a:lnTo>
                <a:lnTo>
                  <a:pt x="496" y="16"/>
                </a:lnTo>
                <a:lnTo>
                  <a:pt x="520" y="32"/>
                </a:lnTo>
                <a:lnTo>
                  <a:pt x="536" y="48"/>
                </a:lnTo>
                <a:lnTo>
                  <a:pt x="560" y="64"/>
                </a:lnTo>
                <a:lnTo>
                  <a:pt x="576" y="88"/>
                </a:lnTo>
                <a:lnTo>
                  <a:pt x="592" y="104"/>
                </a:lnTo>
                <a:lnTo>
                  <a:pt x="592" y="120"/>
                </a:lnTo>
                <a:lnTo>
                  <a:pt x="584" y="128"/>
                </a:lnTo>
                <a:lnTo>
                  <a:pt x="584" y="128"/>
                </a:lnTo>
                <a:lnTo>
                  <a:pt x="608" y="112"/>
                </a:lnTo>
                <a:lnTo>
                  <a:pt x="632" y="80"/>
                </a:lnTo>
                <a:lnTo>
                  <a:pt x="664" y="56"/>
                </a:lnTo>
                <a:lnTo>
                  <a:pt x="688" y="40"/>
                </a:lnTo>
                <a:lnTo>
                  <a:pt x="688" y="40"/>
                </a:lnTo>
                <a:lnTo>
                  <a:pt x="712" y="32"/>
                </a:lnTo>
                <a:lnTo>
                  <a:pt x="736" y="24"/>
                </a:lnTo>
                <a:lnTo>
                  <a:pt x="760" y="16"/>
                </a:lnTo>
                <a:lnTo>
                  <a:pt x="784" y="16"/>
                </a:lnTo>
                <a:lnTo>
                  <a:pt x="808" y="24"/>
                </a:lnTo>
                <a:lnTo>
                  <a:pt x="832" y="24"/>
                </a:lnTo>
                <a:lnTo>
                  <a:pt x="840" y="40"/>
                </a:lnTo>
                <a:lnTo>
                  <a:pt x="848" y="64"/>
                </a:lnTo>
                <a:lnTo>
                  <a:pt x="848" y="64"/>
                </a:lnTo>
                <a:lnTo>
                  <a:pt x="840" y="80"/>
                </a:lnTo>
                <a:lnTo>
                  <a:pt x="840" y="88"/>
                </a:lnTo>
                <a:lnTo>
                  <a:pt x="832" y="104"/>
                </a:lnTo>
                <a:lnTo>
                  <a:pt x="832" y="120"/>
                </a:lnTo>
                <a:lnTo>
                  <a:pt x="832" y="120"/>
                </a:lnTo>
                <a:lnTo>
                  <a:pt x="848" y="104"/>
                </a:lnTo>
                <a:lnTo>
                  <a:pt x="872" y="88"/>
                </a:lnTo>
                <a:lnTo>
                  <a:pt x="904" y="72"/>
                </a:lnTo>
                <a:lnTo>
                  <a:pt x="928" y="72"/>
                </a:lnTo>
                <a:lnTo>
                  <a:pt x="928" y="72"/>
                </a:lnTo>
                <a:lnTo>
                  <a:pt x="968" y="72"/>
                </a:lnTo>
                <a:lnTo>
                  <a:pt x="1008" y="80"/>
                </a:lnTo>
                <a:lnTo>
                  <a:pt x="1032" y="80"/>
                </a:lnTo>
                <a:lnTo>
                  <a:pt x="1048" y="88"/>
                </a:lnTo>
                <a:lnTo>
                  <a:pt x="1056" y="96"/>
                </a:lnTo>
                <a:lnTo>
                  <a:pt x="1064" y="112"/>
                </a:lnTo>
                <a:lnTo>
                  <a:pt x="1064" y="112"/>
                </a:lnTo>
                <a:lnTo>
                  <a:pt x="1064" y="128"/>
                </a:lnTo>
                <a:lnTo>
                  <a:pt x="1064" y="136"/>
                </a:lnTo>
                <a:lnTo>
                  <a:pt x="1064" y="144"/>
                </a:lnTo>
                <a:lnTo>
                  <a:pt x="1064" y="136"/>
                </a:lnTo>
                <a:lnTo>
                  <a:pt x="1072" y="128"/>
                </a:lnTo>
                <a:lnTo>
                  <a:pt x="1096" y="120"/>
                </a:lnTo>
                <a:lnTo>
                  <a:pt x="1128" y="112"/>
                </a:lnTo>
                <a:lnTo>
                  <a:pt x="1176" y="112"/>
                </a:lnTo>
                <a:lnTo>
                  <a:pt x="1176" y="112"/>
                </a:lnTo>
                <a:lnTo>
                  <a:pt x="1208" y="112"/>
                </a:lnTo>
                <a:lnTo>
                  <a:pt x="1232" y="120"/>
                </a:lnTo>
                <a:lnTo>
                  <a:pt x="1256" y="128"/>
                </a:lnTo>
                <a:lnTo>
                  <a:pt x="1264" y="152"/>
                </a:lnTo>
                <a:lnTo>
                  <a:pt x="1280" y="200"/>
                </a:lnTo>
                <a:lnTo>
                  <a:pt x="1280" y="256"/>
                </a:lnTo>
                <a:lnTo>
                  <a:pt x="1256" y="304"/>
                </a:lnTo>
                <a:lnTo>
                  <a:pt x="1224" y="352"/>
                </a:lnTo>
                <a:lnTo>
                  <a:pt x="1200" y="368"/>
                </a:lnTo>
                <a:lnTo>
                  <a:pt x="1176" y="384"/>
                </a:lnTo>
                <a:lnTo>
                  <a:pt x="1144" y="384"/>
                </a:lnTo>
                <a:lnTo>
                  <a:pt x="1112" y="384"/>
                </a:lnTo>
                <a:lnTo>
                  <a:pt x="1112" y="384"/>
                </a:lnTo>
                <a:lnTo>
                  <a:pt x="1088" y="384"/>
                </a:lnTo>
                <a:lnTo>
                  <a:pt x="1072" y="376"/>
                </a:lnTo>
                <a:lnTo>
                  <a:pt x="1056" y="368"/>
                </a:lnTo>
                <a:lnTo>
                  <a:pt x="1048" y="360"/>
                </a:lnTo>
                <a:lnTo>
                  <a:pt x="1040" y="344"/>
                </a:lnTo>
                <a:lnTo>
                  <a:pt x="1032" y="320"/>
                </a:lnTo>
                <a:lnTo>
                  <a:pt x="1032" y="320"/>
                </a:lnTo>
                <a:lnTo>
                  <a:pt x="1024" y="336"/>
                </a:lnTo>
                <a:lnTo>
                  <a:pt x="1016" y="344"/>
                </a:lnTo>
                <a:lnTo>
                  <a:pt x="1016" y="352"/>
                </a:lnTo>
                <a:lnTo>
                  <a:pt x="1008" y="368"/>
                </a:lnTo>
                <a:lnTo>
                  <a:pt x="1008" y="368"/>
                </a:lnTo>
                <a:lnTo>
                  <a:pt x="984" y="376"/>
                </a:lnTo>
                <a:lnTo>
                  <a:pt x="960" y="384"/>
                </a:lnTo>
                <a:lnTo>
                  <a:pt x="936" y="392"/>
                </a:lnTo>
                <a:lnTo>
                  <a:pt x="912" y="384"/>
                </a:lnTo>
                <a:lnTo>
                  <a:pt x="912" y="384"/>
                </a:lnTo>
                <a:lnTo>
                  <a:pt x="872" y="360"/>
                </a:lnTo>
                <a:lnTo>
                  <a:pt x="856" y="344"/>
                </a:lnTo>
                <a:lnTo>
                  <a:pt x="848" y="328"/>
                </a:lnTo>
                <a:lnTo>
                  <a:pt x="856" y="312"/>
                </a:lnTo>
                <a:lnTo>
                  <a:pt x="856" y="312"/>
                </a:lnTo>
                <a:lnTo>
                  <a:pt x="840" y="352"/>
                </a:lnTo>
                <a:lnTo>
                  <a:pt x="824" y="376"/>
                </a:lnTo>
                <a:lnTo>
                  <a:pt x="800" y="400"/>
                </a:lnTo>
                <a:lnTo>
                  <a:pt x="760" y="408"/>
                </a:lnTo>
                <a:lnTo>
                  <a:pt x="760" y="408"/>
                </a:lnTo>
                <a:lnTo>
                  <a:pt x="728" y="416"/>
                </a:lnTo>
                <a:lnTo>
                  <a:pt x="696" y="408"/>
                </a:lnTo>
                <a:lnTo>
                  <a:pt x="664" y="400"/>
                </a:lnTo>
                <a:lnTo>
                  <a:pt x="632" y="384"/>
                </a:lnTo>
                <a:lnTo>
                  <a:pt x="632" y="384"/>
                </a:lnTo>
                <a:lnTo>
                  <a:pt x="616" y="376"/>
                </a:lnTo>
                <a:lnTo>
                  <a:pt x="608" y="376"/>
                </a:lnTo>
                <a:lnTo>
                  <a:pt x="600" y="384"/>
                </a:lnTo>
                <a:lnTo>
                  <a:pt x="592" y="384"/>
                </a:lnTo>
                <a:lnTo>
                  <a:pt x="584" y="400"/>
                </a:lnTo>
                <a:lnTo>
                  <a:pt x="560" y="408"/>
                </a:lnTo>
                <a:lnTo>
                  <a:pt x="560" y="408"/>
                </a:lnTo>
                <a:lnTo>
                  <a:pt x="528" y="424"/>
                </a:lnTo>
                <a:lnTo>
                  <a:pt x="496" y="424"/>
                </a:lnTo>
                <a:lnTo>
                  <a:pt x="480" y="424"/>
                </a:lnTo>
                <a:lnTo>
                  <a:pt x="464" y="416"/>
                </a:lnTo>
                <a:lnTo>
                  <a:pt x="456" y="400"/>
                </a:lnTo>
                <a:lnTo>
                  <a:pt x="440" y="376"/>
                </a:lnTo>
                <a:lnTo>
                  <a:pt x="440" y="376"/>
                </a:lnTo>
                <a:lnTo>
                  <a:pt x="440" y="360"/>
                </a:lnTo>
                <a:lnTo>
                  <a:pt x="448" y="344"/>
                </a:lnTo>
                <a:lnTo>
                  <a:pt x="448" y="344"/>
                </a:lnTo>
                <a:lnTo>
                  <a:pt x="408" y="376"/>
                </a:lnTo>
                <a:lnTo>
                  <a:pt x="368" y="408"/>
                </a:lnTo>
                <a:lnTo>
                  <a:pt x="344" y="416"/>
                </a:lnTo>
                <a:lnTo>
                  <a:pt x="320" y="424"/>
                </a:lnTo>
                <a:lnTo>
                  <a:pt x="296" y="424"/>
                </a:lnTo>
                <a:lnTo>
                  <a:pt x="272" y="416"/>
                </a:lnTo>
                <a:lnTo>
                  <a:pt x="272" y="416"/>
                </a:lnTo>
                <a:lnTo>
                  <a:pt x="232" y="408"/>
                </a:lnTo>
                <a:lnTo>
                  <a:pt x="208" y="392"/>
                </a:lnTo>
                <a:lnTo>
                  <a:pt x="184" y="368"/>
                </a:lnTo>
                <a:lnTo>
                  <a:pt x="168" y="344"/>
                </a:lnTo>
                <a:lnTo>
                  <a:pt x="168" y="344"/>
                </a:lnTo>
                <a:lnTo>
                  <a:pt x="160" y="336"/>
                </a:lnTo>
                <a:lnTo>
                  <a:pt x="152" y="328"/>
                </a:lnTo>
                <a:lnTo>
                  <a:pt x="152" y="336"/>
                </a:lnTo>
                <a:lnTo>
                  <a:pt x="152" y="344"/>
                </a:lnTo>
                <a:lnTo>
                  <a:pt x="152" y="352"/>
                </a:lnTo>
                <a:lnTo>
                  <a:pt x="144" y="368"/>
                </a:lnTo>
                <a:lnTo>
                  <a:pt x="128" y="376"/>
                </a:lnTo>
                <a:lnTo>
                  <a:pt x="112" y="376"/>
                </a:lnTo>
                <a:lnTo>
                  <a:pt x="112" y="376"/>
                </a:lnTo>
                <a:lnTo>
                  <a:pt x="88" y="376"/>
                </a:lnTo>
                <a:lnTo>
                  <a:pt x="64" y="368"/>
                </a:lnTo>
                <a:lnTo>
                  <a:pt x="40" y="360"/>
                </a:lnTo>
                <a:lnTo>
                  <a:pt x="24" y="344"/>
                </a:lnTo>
                <a:lnTo>
                  <a:pt x="24" y="344"/>
                </a:lnTo>
                <a:lnTo>
                  <a:pt x="24" y="328"/>
                </a:lnTo>
                <a:lnTo>
                  <a:pt x="16" y="320"/>
                </a:lnTo>
                <a:lnTo>
                  <a:pt x="8" y="312"/>
                </a:lnTo>
                <a:lnTo>
                  <a:pt x="8" y="296"/>
                </a:lnTo>
                <a:lnTo>
                  <a:pt x="8" y="296"/>
                </a:lnTo>
                <a:lnTo>
                  <a:pt x="0" y="288"/>
                </a:lnTo>
                <a:lnTo>
                  <a:pt x="8" y="280"/>
                </a:lnTo>
                <a:lnTo>
                  <a:pt x="16" y="272"/>
                </a:lnTo>
                <a:lnTo>
                  <a:pt x="24" y="264"/>
                </a:lnTo>
                <a:lnTo>
                  <a:pt x="40" y="248"/>
                </a:lnTo>
                <a:lnTo>
                  <a:pt x="56" y="240"/>
                </a:lnTo>
                <a:lnTo>
                  <a:pt x="56" y="240"/>
                </a:lnTo>
                <a:lnTo>
                  <a:pt x="64" y="232"/>
                </a:lnTo>
                <a:lnTo>
                  <a:pt x="56" y="224"/>
                </a:lnTo>
                <a:lnTo>
                  <a:pt x="48" y="224"/>
                </a:lnTo>
                <a:lnTo>
                  <a:pt x="40" y="216"/>
                </a:lnTo>
                <a:lnTo>
                  <a:pt x="32" y="200"/>
                </a:lnTo>
                <a:lnTo>
                  <a:pt x="24" y="192"/>
                </a:lnTo>
                <a:lnTo>
                  <a:pt x="24" y="184"/>
                </a:lnTo>
                <a:lnTo>
                  <a:pt x="32" y="176"/>
                </a:lnTo>
                <a:close/>
              </a:path>
            </a:pathLst>
          </a:custGeom>
          <a:gradFill rotWithShape="0">
            <a:gsLst>
              <a:gs pos="0">
                <a:srgbClr val="F5ECF3"/>
              </a:gs>
              <a:gs pos="100000">
                <a:srgbClr val="FFFF66"/>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IN"/>
          </a:p>
        </p:txBody>
      </p:sp>
      <p:sp>
        <p:nvSpPr>
          <p:cNvPr id="32778" name="Freeform 10">
            <a:extLst>
              <a:ext uri="{FF2B5EF4-FFF2-40B4-BE49-F238E27FC236}">
                <a16:creationId xmlns:a16="http://schemas.microsoft.com/office/drawing/2014/main" id="{12ED692B-D836-4446-AC1F-76BE4A4493BF}"/>
              </a:ext>
            </a:extLst>
          </p:cNvPr>
          <p:cNvSpPr>
            <a:spLocks/>
          </p:cNvSpPr>
          <p:nvPr/>
        </p:nvSpPr>
        <p:spPr bwMode="auto">
          <a:xfrm>
            <a:off x="850900" y="1752600"/>
            <a:ext cx="2032000" cy="673100"/>
          </a:xfrm>
          <a:custGeom>
            <a:avLst/>
            <a:gdLst>
              <a:gd name="T0" fmla="*/ 96 w 1280"/>
              <a:gd name="T1" fmla="*/ 56 h 424"/>
              <a:gd name="T2" fmla="*/ 168 w 1280"/>
              <a:gd name="T3" fmla="*/ 24 h 424"/>
              <a:gd name="T4" fmla="*/ 240 w 1280"/>
              <a:gd name="T5" fmla="*/ 32 h 424"/>
              <a:gd name="T6" fmla="*/ 256 w 1280"/>
              <a:gd name="T7" fmla="*/ 56 h 424"/>
              <a:gd name="T8" fmla="*/ 256 w 1280"/>
              <a:gd name="T9" fmla="*/ 120 h 424"/>
              <a:gd name="T10" fmla="*/ 256 w 1280"/>
              <a:gd name="T11" fmla="*/ 152 h 424"/>
              <a:gd name="T12" fmla="*/ 280 w 1280"/>
              <a:gd name="T13" fmla="*/ 128 h 424"/>
              <a:gd name="T14" fmla="*/ 328 w 1280"/>
              <a:gd name="T15" fmla="*/ 72 h 424"/>
              <a:gd name="T16" fmla="*/ 376 w 1280"/>
              <a:gd name="T17" fmla="*/ 32 h 424"/>
              <a:gd name="T18" fmla="*/ 448 w 1280"/>
              <a:gd name="T19" fmla="*/ 0 h 424"/>
              <a:gd name="T20" fmla="*/ 480 w 1280"/>
              <a:gd name="T21" fmla="*/ 8 h 424"/>
              <a:gd name="T22" fmla="*/ 536 w 1280"/>
              <a:gd name="T23" fmla="*/ 48 h 424"/>
              <a:gd name="T24" fmla="*/ 592 w 1280"/>
              <a:gd name="T25" fmla="*/ 104 h 424"/>
              <a:gd name="T26" fmla="*/ 584 w 1280"/>
              <a:gd name="T27" fmla="*/ 128 h 424"/>
              <a:gd name="T28" fmla="*/ 664 w 1280"/>
              <a:gd name="T29" fmla="*/ 56 h 424"/>
              <a:gd name="T30" fmla="*/ 712 w 1280"/>
              <a:gd name="T31" fmla="*/ 32 h 424"/>
              <a:gd name="T32" fmla="*/ 784 w 1280"/>
              <a:gd name="T33" fmla="*/ 16 h 424"/>
              <a:gd name="T34" fmla="*/ 840 w 1280"/>
              <a:gd name="T35" fmla="*/ 40 h 424"/>
              <a:gd name="T36" fmla="*/ 840 w 1280"/>
              <a:gd name="T37" fmla="*/ 80 h 424"/>
              <a:gd name="T38" fmla="*/ 832 w 1280"/>
              <a:gd name="T39" fmla="*/ 120 h 424"/>
              <a:gd name="T40" fmla="*/ 872 w 1280"/>
              <a:gd name="T41" fmla="*/ 88 h 424"/>
              <a:gd name="T42" fmla="*/ 928 w 1280"/>
              <a:gd name="T43" fmla="*/ 72 h 424"/>
              <a:gd name="T44" fmla="*/ 1032 w 1280"/>
              <a:gd name="T45" fmla="*/ 80 h 424"/>
              <a:gd name="T46" fmla="*/ 1064 w 1280"/>
              <a:gd name="T47" fmla="*/ 112 h 424"/>
              <a:gd name="T48" fmla="*/ 1064 w 1280"/>
              <a:gd name="T49" fmla="*/ 136 h 424"/>
              <a:gd name="T50" fmla="*/ 1072 w 1280"/>
              <a:gd name="T51" fmla="*/ 128 h 424"/>
              <a:gd name="T52" fmla="*/ 1176 w 1280"/>
              <a:gd name="T53" fmla="*/ 112 h 424"/>
              <a:gd name="T54" fmla="*/ 1232 w 1280"/>
              <a:gd name="T55" fmla="*/ 120 h 424"/>
              <a:gd name="T56" fmla="*/ 1280 w 1280"/>
              <a:gd name="T57" fmla="*/ 200 h 424"/>
              <a:gd name="T58" fmla="*/ 1224 w 1280"/>
              <a:gd name="T59" fmla="*/ 352 h 424"/>
              <a:gd name="T60" fmla="*/ 1144 w 1280"/>
              <a:gd name="T61" fmla="*/ 384 h 424"/>
              <a:gd name="T62" fmla="*/ 1088 w 1280"/>
              <a:gd name="T63" fmla="*/ 384 h 424"/>
              <a:gd name="T64" fmla="*/ 1048 w 1280"/>
              <a:gd name="T65" fmla="*/ 360 h 424"/>
              <a:gd name="T66" fmla="*/ 1032 w 1280"/>
              <a:gd name="T67" fmla="*/ 320 h 424"/>
              <a:gd name="T68" fmla="*/ 1016 w 1280"/>
              <a:gd name="T69" fmla="*/ 352 h 424"/>
              <a:gd name="T70" fmla="*/ 984 w 1280"/>
              <a:gd name="T71" fmla="*/ 376 h 424"/>
              <a:gd name="T72" fmla="*/ 912 w 1280"/>
              <a:gd name="T73" fmla="*/ 384 h 424"/>
              <a:gd name="T74" fmla="*/ 856 w 1280"/>
              <a:gd name="T75" fmla="*/ 344 h 424"/>
              <a:gd name="T76" fmla="*/ 856 w 1280"/>
              <a:gd name="T77" fmla="*/ 312 h 424"/>
              <a:gd name="T78" fmla="*/ 800 w 1280"/>
              <a:gd name="T79" fmla="*/ 400 h 424"/>
              <a:gd name="T80" fmla="*/ 728 w 1280"/>
              <a:gd name="T81" fmla="*/ 416 h 424"/>
              <a:gd name="T82" fmla="*/ 632 w 1280"/>
              <a:gd name="T83" fmla="*/ 384 h 424"/>
              <a:gd name="T84" fmla="*/ 608 w 1280"/>
              <a:gd name="T85" fmla="*/ 376 h 424"/>
              <a:gd name="T86" fmla="*/ 584 w 1280"/>
              <a:gd name="T87" fmla="*/ 400 h 424"/>
              <a:gd name="T88" fmla="*/ 528 w 1280"/>
              <a:gd name="T89" fmla="*/ 424 h 424"/>
              <a:gd name="T90" fmla="*/ 464 w 1280"/>
              <a:gd name="T91" fmla="*/ 416 h 424"/>
              <a:gd name="T92" fmla="*/ 440 w 1280"/>
              <a:gd name="T93" fmla="*/ 376 h 424"/>
              <a:gd name="T94" fmla="*/ 448 w 1280"/>
              <a:gd name="T95" fmla="*/ 344 h 424"/>
              <a:gd name="T96" fmla="*/ 344 w 1280"/>
              <a:gd name="T97" fmla="*/ 416 h 424"/>
              <a:gd name="T98" fmla="*/ 272 w 1280"/>
              <a:gd name="T99" fmla="*/ 416 h 424"/>
              <a:gd name="T100" fmla="*/ 208 w 1280"/>
              <a:gd name="T101" fmla="*/ 392 h 424"/>
              <a:gd name="T102" fmla="*/ 168 w 1280"/>
              <a:gd name="T103" fmla="*/ 344 h 424"/>
              <a:gd name="T104" fmla="*/ 152 w 1280"/>
              <a:gd name="T105" fmla="*/ 336 h 424"/>
              <a:gd name="T106" fmla="*/ 144 w 1280"/>
              <a:gd name="T107" fmla="*/ 368 h 424"/>
              <a:gd name="T108" fmla="*/ 112 w 1280"/>
              <a:gd name="T109" fmla="*/ 376 h 424"/>
              <a:gd name="T110" fmla="*/ 40 w 1280"/>
              <a:gd name="T111" fmla="*/ 360 h 424"/>
              <a:gd name="T112" fmla="*/ 24 w 1280"/>
              <a:gd name="T113" fmla="*/ 328 h 424"/>
              <a:gd name="T114" fmla="*/ 8 w 1280"/>
              <a:gd name="T115" fmla="*/ 296 h 424"/>
              <a:gd name="T116" fmla="*/ 8 w 1280"/>
              <a:gd name="T117" fmla="*/ 280 h 424"/>
              <a:gd name="T118" fmla="*/ 40 w 1280"/>
              <a:gd name="T119" fmla="*/ 248 h 424"/>
              <a:gd name="T120" fmla="*/ 64 w 1280"/>
              <a:gd name="T121" fmla="*/ 232 h 424"/>
              <a:gd name="T122" fmla="*/ 40 w 1280"/>
              <a:gd name="T123" fmla="*/ 216 h 424"/>
              <a:gd name="T124" fmla="*/ 24 w 1280"/>
              <a:gd name="T125" fmla="*/ 184 h 4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280" h="424">
                <a:moveTo>
                  <a:pt x="32" y="176"/>
                </a:moveTo>
                <a:lnTo>
                  <a:pt x="40" y="136"/>
                </a:lnTo>
                <a:lnTo>
                  <a:pt x="40" y="136"/>
                </a:lnTo>
                <a:lnTo>
                  <a:pt x="64" y="96"/>
                </a:lnTo>
                <a:lnTo>
                  <a:pt x="64" y="96"/>
                </a:lnTo>
                <a:lnTo>
                  <a:pt x="96" y="56"/>
                </a:lnTo>
                <a:lnTo>
                  <a:pt x="96" y="56"/>
                </a:lnTo>
                <a:lnTo>
                  <a:pt x="136" y="32"/>
                </a:lnTo>
                <a:lnTo>
                  <a:pt x="136" y="32"/>
                </a:lnTo>
                <a:lnTo>
                  <a:pt x="136" y="32"/>
                </a:lnTo>
                <a:lnTo>
                  <a:pt x="136" y="32"/>
                </a:lnTo>
                <a:lnTo>
                  <a:pt x="168" y="24"/>
                </a:lnTo>
                <a:lnTo>
                  <a:pt x="168" y="24"/>
                </a:lnTo>
                <a:lnTo>
                  <a:pt x="208" y="24"/>
                </a:lnTo>
                <a:lnTo>
                  <a:pt x="208" y="24"/>
                </a:lnTo>
                <a:lnTo>
                  <a:pt x="224" y="24"/>
                </a:lnTo>
                <a:lnTo>
                  <a:pt x="224" y="24"/>
                </a:lnTo>
                <a:lnTo>
                  <a:pt x="240" y="32"/>
                </a:lnTo>
                <a:lnTo>
                  <a:pt x="240" y="32"/>
                </a:lnTo>
                <a:lnTo>
                  <a:pt x="256" y="40"/>
                </a:lnTo>
                <a:lnTo>
                  <a:pt x="256" y="40"/>
                </a:lnTo>
                <a:lnTo>
                  <a:pt x="256" y="56"/>
                </a:lnTo>
                <a:lnTo>
                  <a:pt x="256" y="56"/>
                </a:lnTo>
                <a:lnTo>
                  <a:pt x="256" y="56"/>
                </a:lnTo>
                <a:lnTo>
                  <a:pt x="256" y="56"/>
                </a:lnTo>
                <a:lnTo>
                  <a:pt x="256" y="80"/>
                </a:lnTo>
                <a:lnTo>
                  <a:pt x="256" y="80"/>
                </a:lnTo>
                <a:lnTo>
                  <a:pt x="256" y="96"/>
                </a:lnTo>
                <a:lnTo>
                  <a:pt x="256" y="96"/>
                </a:lnTo>
                <a:lnTo>
                  <a:pt x="256" y="120"/>
                </a:lnTo>
                <a:lnTo>
                  <a:pt x="256" y="120"/>
                </a:lnTo>
                <a:lnTo>
                  <a:pt x="256" y="144"/>
                </a:lnTo>
                <a:lnTo>
                  <a:pt x="256" y="144"/>
                </a:lnTo>
                <a:lnTo>
                  <a:pt x="256" y="144"/>
                </a:lnTo>
                <a:lnTo>
                  <a:pt x="256" y="144"/>
                </a:lnTo>
                <a:lnTo>
                  <a:pt x="256" y="152"/>
                </a:lnTo>
                <a:lnTo>
                  <a:pt x="256" y="152"/>
                </a:lnTo>
                <a:lnTo>
                  <a:pt x="256" y="152"/>
                </a:lnTo>
                <a:lnTo>
                  <a:pt x="256" y="152"/>
                </a:lnTo>
                <a:lnTo>
                  <a:pt x="272" y="144"/>
                </a:lnTo>
                <a:lnTo>
                  <a:pt x="272" y="144"/>
                </a:lnTo>
                <a:lnTo>
                  <a:pt x="280" y="128"/>
                </a:lnTo>
                <a:lnTo>
                  <a:pt x="280" y="128"/>
                </a:lnTo>
                <a:lnTo>
                  <a:pt x="296" y="112"/>
                </a:lnTo>
                <a:lnTo>
                  <a:pt x="296" y="112"/>
                </a:lnTo>
                <a:lnTo>
                  <a:pt x="312" y="88"/>
                </a:lnTo>
                <a:lnTo>
                  <a:pt x="312" y="88"/>
                </a:lnTo>
                <a:lnTo>
                  <a:pt x="328" y="72"/>
                </a:lnTo>
                <a:lnTo>
                  <a:pt x="328" y="72"/>
                </a:lnTo>
                <a:lnTo>
                  <a:pt x="344" y="56"/>
                </a:lnTo>
                <a:lnTo>
                  <a:pt x="344" y="56"/>
                </a:lnTo>
                <a:lnTo>
                  <a:pt x="344" y="56"/>
                </a:lnTo>
                <a:lnTo>
                  <a:pt x="344" y="56"/>
                </a:lnTo>
                <a:lnTo>
                  <a:pt x="376" y="32"/>
                </a:lnTo>
                <a:lnTo>
                  <a:pt x="376" y="32"/>
                </a:lnTo>
                <a:lnTo>
                  <a:pt x="416" y="16"/>
                </a:lnTo>
                <a:lnTo>
                  <a:pt x="416" y="16"/>
                </a:lnTo>
                <a:lnTo>
                  <a:pt x="432" y="8"/>
                </a:lnTo>
                <a:lnTo>
                  <a:pt x="432" y="8"/>
                </a:lnTo>
                <a:lnTo>
                  <a:pt x="448" y="0"/>
                </a:lnTo>
                <a:lnTo>
                  <a:pt x="448" y="0"/>
                </a:lnTo>
                <a:lnTo>
                  <a:pt x="464" y="0"/>
                </a:lnTo>
                <a:lnTo>
                  <a:pt x="464" y="0"/>
                </a:lnTo>
                <a:lnTo>
                  <a:pt x="480" y="8"/>
                </a:lnTo>
                <a:lnTo>
                  <a:pt x="480" y="8"/>
                </a:lnTo>
                <a:lnTo>
                  <a:pt x="480" y="8"/>
                </a:lnTo>
                <a:lnTo>
                  <a:pt x="480" y="8"/>
                </a:lnTo>
                <a:lnTo>
                  <a:pt x="496" y="16"/>
                </a:lnTo>
                <a:lnTo>
                  <a:pt x="496" y="16"/>
                </a:lnTo>
                <a:lnTo>
                  <a:pt x="520" y="32"/>
                </a:lnTo>
                <a:lnTo>
                  <a:pt x="520" y="32"/>
                </a:lnTo>
                <a:lnTo>
                  <a:pt x="536" y="48"/>
                </a:lnTo>
                <a:lnTo>
                  <a:pt x="536" y="48"/>
                </a:lnTo>
                <a:lnTo>
                  <a:pt x="560" y="64"/>
                </a:lnTo>
                <a:lnTo>
                  <a:pt x="560" y="64"/>
                </a:lnTo>
                <a:lnTo>
                  <a:pt x="576" y="88"/>
                </a:lnTo>
                <a:lnTo>
                  <a:pt x="576" y="88"/>
                </a:lnTo>
                <a:lnTo>
                  <a:pt x="592" y="104"/>
                </a:lnTo>
                <a:lnTo>
                  <a:pt x="592" y="104"/>
                </a:lnTo>
                <a:lnTo>
                  <a:pt x="592" y="120"/>
                </a:lnTo>
                <a:lnTo>
                  <a:pt x="592" y="120"/>
                </a:lnTo>
                <a:lnTo>
                  <a:pt x="584" y="128"/>
                </a:lnTo>
                <a:lnTo>
                  <a:pt x="584" y="128"/>
                </a:lnTo>
                <a:lnTo>
                  <a:pt x="584" y="128"/>
                </a:lnTo>
                <a:lnTo>
                  <a:pt x="584" y="128"/>
                </a:lnTo>
                <a:lnTo>
                  <a:pt x="608" y="112"/>
                </a:lnTo>
                <a:lnTo>
                  <a:pt x="608" y="112"/>
                </a:lnTo>
                <a:lnTo>
                  <a:pt x="632" y="80"/>
                </a:lnTo>
                <a:lnTo>
                  <a:pt x="632" y="80"/>
                </a:lnTo>
                <a:lnTo>
                  <a:pt x="664" y="56"/>
                </a:lnTo>
                <a:lnTo>
                  <a:pt x="664" y="56"/>
                </a:lnTo>
                <a:lnTo>
                  <a:pt x="688" y="40"/>
                </a:lnTo>
                <a:lnTo>
                  <a:pt x="688" y="40"/>
                </a:lnTo>
                <a:lnTo>
                  <a:pt x="688" y="40"/>
                </a:lnTo>
                <a:lnTo>
                  <a:pt x="688" y="40"/>
                </a:lnTo>
                <a:lnTo>
                  <a:pt x="712" y="32"/>
                </a:lnTo>
                <a:lnTo>
                  <a:pt x="712" y="32"/>
                </a:lnTo>
                <a:lnTo>
                  <a:pt x="736" y="24"/>
                </a:lnTo>
                <a:lnTo>
                  <a:pt x="736" y="24"/>
                </a:lnTo>
                <a:lnTo>
                  <a:pt x="760" y="16"/>
                </a:lnTo>
                <a:lnTo>
                  <a:pt x="760" y="16"/>
                </a:lnTo>
                <a:lnTo>
                  <a:pt x="784" y="16"/>
                </a:lnTo>
                <a:lnTo>
                  <a:pt x="784" y="16"/>
                </a:lnTo>
                <a:lnTo>
                  <a:pt x="808" y="24"/>
                </a:lnTo>
                <a:lnTo>
                  <a:pt x="808" y="24"/>
                </a:lnTo>
                <a:lnTo>
                  <a:pt x="832" y="24"/>
                </a:lnTo>
                <a:lnTo>
                  <a:pt x="832" y="24"/>
                </a:lnTo>
                <a:lnTo>
                  <a:pt x="840" y="40"/>
                </a:lnTo>
                <a:lnTo>
                  <a:pt x="840" y="40"/>
                </a:lnTo>
                <a:lnTo>
                  <a:pt x="848" y="64"/>
                </a:lnTo>
                <a:lnTo>
                  <a:pt x="848" y="64"/>
                </a:lnTo>
                <a:lnTo>
                  <a:pt x="848" y="64"/>
                </a:lnTo>
                <a:lnTo>
                  <a:pt x="848" y="64"/>
                </a:lnTo>
                <a:lnTo>
                  <a:pt x="840" y="80"/>
                </a:lnTo>
                <a:lnTo>
                  <a:pt x="840" y="80"/>
                </a:lnTo>
                <a:lnTo>
                  <a:pt x="840" y="88"/>
                </a:lnTo>
                <a:lnTo>
                  <a:pt x="840" y="88"/>
                </a:lnTo>
                <a:lnTo>
                  <a:pt x="832" y="104"/>
                </a:lnTo>
                <a:lnTo>
                  <a:pt x="832" y="104"/>
                </a:lnTo>
                <a:lnTo>
                  <a:pt x="832" y="120"/>
                </a:lnTo>
                <a:lnTo>
                  <a:pt x="832" y="120"/>
                </a:lnTo>
                <a:lnTo>
                  <a:pt x="832" y="120"/>
                </a:lnTo>
                <a:lnTo>
                  <a:pt x="832" y="120"/>
                </a:lnTo>
                <a:lnTo>
                  <a:pt x="848" y="104"/>
                </a:lnTo>
                <a:lnTo>
                  <a:pt x="848" y="104"/>
                </a:lnTo>
                <a:lnTo>
                  <a:pt x="872" y="88"/>
                </a:lnTo>
                <a:lnTo>
                  <a:pt x="872" y="88"/>
                </a:lnTo>
                <a:lnTo>
                  <a:pt x="904" y="72"/>
                </a:lnTo>
                <a:lnTo>
                  <a:pt x="904" y="72"/>
                </a:lnTo>
                <a:lnTo>
                  <a:pt x="928" y="72"/>
                </a:lnTo>
                <a:lnTo>
                  <a:pt x="928" y="72"/>
                </a:lnTo>
                <a:lnTo>
                  <a:pt x="928" y="72"/>
                </a:lnTo>
                <a:lnTo>
                  <a:pt x="928" y="72"/>
                </a:lnTo>
                <a:lnTo>
                  <a:pt x="968" y="72"/>
                </a:lnTo>
                <a:lnTo>
                  <a:pt x="968" y="72"/>
                </a:lnTo>
                <a:lnTo>
                  <a:pt x="1008" y="80"/>
                </a:lnTo>
                <a:lnTo>
                  <a:pt x="1008" y="80"/>
                </a:lnTo>
                <a:lnTo>
                  <a:pt x="1032" y="80"/>
                </a:lnTo>
                <a:lnTo>
                  <a:pt x="1032" y="80"/>
                </a:lnTo>
                <a:lnTo>
                  <a:pt x="1048" y="88"/>
                </a:lnTo>
                <a:lnTo>
                  <a:pt x="1048" y="88"/>
                </a:lnTo>
                <a:lnTo>
                  <a:pt x="1056" y="96"/>
                </a:lnTo>
                <a:lnTo>
                  <a:pt x="1056" y="96"/>
                </a:lnTo>
                <a:lnTo>
                  <a:pt x="1064" y="112"/>
                </a:lnTo>
                <a:lnTo>
                  <a:pt x="1064" y="112"/>
                </a:lnTo>
                <a:lnTo>
                  <a:pt x="1064" y="112"/>
                </a:lnTo>
                <a:lnTo>
                  <a:pt x="1064" y="112"/>
                </a:lnTo>
                <a:lnTo>
                  <a:pt x="1064" y="128"/>
                </a:lnTo>
                <a:lnTo>
                  <a:pt x="1064" y="128"/>
                </a:lnTo>
                <a:lnTo>
                  <a:pt x="1064" y="136"/>
                </a:lnTo>
                <a:lnTo>
                  <a:pt x="1064" y="136"/>
                </a:lnTo>
                <a:lnTo>
                  <a:pt x="1064" y="144"/>
                </a:lnTo>
                <a:lnTo>
                  <a:pt x="1064" y="144"/>
                </a:lnTo>
                <a:lnTo>
                  <a:pt x="1064" y="136"/>
                </a:lnTo>
                <a:lnTo>
                  <a:pt x="1064" y="136"/>
                </a:lnTo>
                <a:lnTo>
                  <a:pt x="1072" y="128"/>
                </a:lnTo>
                <a:lnTo>
                  <a:pt x="1072" y="128"/>
                </a:lnTo>
                <a:lnTo>
                  <a:pt x="1096" y="120"/>
                </a:lnTo>
                <a:lnTo>
                  <a:pt x="1096" y="120"/>
                </a:lnTo>
                <a:lnTo>
                  <a:pt x="1128" y="112"/>
                </a:lnTo>
                <a:lnTo>
                  <a:pt x="1128" y="112"/>
                </a:lnTo>
                <a:lnTo>
                  <a:pt x="1176" y="112"/>
                </a:lnTo>
                <a:lnTo>
                  <a:pt x="1176" y="112"/>
                </a:lnTo>
                <a:lnTo>
                  <a:pt x="1176" y="112"/>
                </a:lnTo>
                <a:lnTo>
                  <a:pt x="1176" y="112"/>
                </a:lnTo>
                <a:lnTo>
                  <a:pt x="1208" y="112"/>
                </a:lnTo>
                <a:lnTo>
                  <a:pt x="1208" y="112"/>
                </a:lnTo>
                <a:lnTo>
                  <a:pt x="1232" y="120"/>
                </a:lnTo>
                <a:lnTo>
                  <a:pt x="1232" y="120"/>
                </a:lnTo>
                <a:lnTo>
                  <a:pt x="1256" y="128"/>
                </a:lnTo>
                <a:lnTo>
                  <a:pt x="1256" y="128"/>
                </a:lnTo>
                <a:lnTo>
                  <a:pt x="1264" y="152"/>
                </a:lnTo>
                <a:lnTo>
                  <a:pt x="1264" y="152"/>
                </a:lnTo>
                <a:lnTo>
                  <a:pt x="1280" y="200"/>
                </a:lnTo>
                <a:lnTo>
                  <a:pt x="1280" y="200"/>
                </a:lnTo>
                <a:lnTo>
                  <a:pt x="1280" y="256"/>
                </a:lnTo>
                <a:lnTo>
                  <a:pt x="1280" y="256"/>
                </a:lnTo>
                <a:lnTo>
                  <a:pt x="1256" y="304"/>
                </a:lnTo>
                <a:lnTo>
                  <a:pt x="1256" y="304"/>
                </a:lnTo>
                <a:lnTo>
                  <a:pt x="1224" y="352"/>
                </a:lnTo>
                <a:lnTo>
                  <a:pt x="1224" y="352"/>
                </a:lnTo>
                <a:lnTo>
                  <a:pt x="1200" y="368"/>
                </a:lnTo>
                <a:lnTo>
                  <a:pt x="1200" y="368"/>
                </a:lnTo>
                <a:lnTo>
                  <a:pt x="1176" y="384"/>
                </a:lnTo>
                <a:lnTo>
                  <a:pt x="1176" y="384"/>
                </a:lnTo>
                <a:lnTo>
                  <a:pt x="1144" y="384"/>
                </a:lnTo>
                <a:lnTo>
                  <a:pt x="1144" y="384"/>
                </a:lnTo>
                <a:lnTo>
                  <a:pt x="1112" y="384"/>
                </a:lnTo>
                <a:lnTo>
                  <a:pt x="1112" y="384"/>
                </a:lnTo>
                <a:lnTo>
                  <a:pt x="1112" y="384"/>
                </a:lnTo>
                <a:lnTo>
                  <a:pt x="1112" y="384"/>
                </a:lnTo>
                <a:lnTo>
                  <a:pt x="1088" y="384"/>
                </a:lnTo>
                <a:lnTo>
                  <a:pt x="1088" y="384"/>
                </a:lnTo>
                <a:lnTo>
                  <a:pt x="1072" y="376"/>
                </a:lnTo>
                <a:lnTo>
                  <a:pt x="1072" y="376"/>
                </a:lnTo>
                <a:lnTo>
                  <a:pt x="1056" y="368"/>
                </a:lnTo>
                <a:lnTo>
                  <a:pt x="1056" y="368"/>
                </a:lnTo>
                <a:lnTo>
                  <a:pt x="1048" y="360"/>
                </a:lnTo>
                <a:lnTo>
                  <a:pt x="1048" y="360"/>
                </a:lnTo>
                <a:lnTo>
                  <a:pt x="1040" y="344"/>
                </a:lnTo>
                <a:lnTo>
                  <a:pt x="1040" y="344"/>
                </a:lnTo>
                <a:lnTo>
                  <a:pt x="1032" y="320"/>
                </a:lnTo>
                <a:lnTo>
                  <a:pt x="1032" y="320"/>
                </a:lnTo>
                <a:lnTo>
                  <a:pt x="1032" y="320"/>
                </a:lnTo>
                <a:lnTo>
                  <a:pt x="1032" y="320"/>
                </a:lnTo>
                <a:lnTo>
                  <a:pt x="1024" y="336"/>
                </a:lnTo>
                <a:lnTo>
                  <a:pt x="1024" y="336"/>
                </a:lnTo>
                <a:lnTo>
                  <a:pt x="1016" y="344"/>
                </a:lnTo>
                <a:lnTo>
                  <a:pt x="1016" y="344"/>
                </a:lnTo>
                <a:lnTo>
                  <a:pt x="1016" y="352"/>
                </a:lnTo>
                <a:lnTo>
                  <a:pt x="1016" y="352"/>
                </a:lnTo>
                <a:lnTo>
                  <a:pt x="1008" y="368"/>
                </a:lnTo>
                <a:lnTo>
                  <a:pt x="1008" y="368"/>
                </a:lnTo>
                <a:lnTo>
                  <a:pt x="1008" y="368"/>
                </a:lnTo>
                <a:lnTo>
                  <a:pt x="1008" y="368"/>
                </a:lnTo>
                <a:lnTo>
                  <a:pt x="984" y="376"/>
                </a:lnTo>
                <a:lnTo>
                  <a:pt x="984" y="376"/>
                </a:lnTo>
                <a:lnTo>
                  <a:pt x="960" y="384"/>
                </a:lnTo>
                <a:lnTo>
                  <a:pt x="960" y="384"/>
                </a:lnTo>
                <a:lnTo>
                  <a:pt x="936" y="392"/>
                </a:lnTo>
                <a:lnTo>
                  <a:pt x="936" y="392"/>
                </a:lnTo>
                <a:lnTo>
                  <a:pt x="912" y="384"/>
                </a:lnTo>
                <a:lnTo>
                  <a:pt x="912" y="384"/>
                </a:lnTo>
                <a:lnTo>
                  <a:pt x="912" y="384"/>
                </a:lnTo>
                <a:lnTo>
                  <a:pt x="912" y="384"/>
                </a:lnTo>
                <a:lnTo>
                  <a:pt x="872" y="360"/>
                </a:lnTo>
                <a:lnTo>
                  <a:pt x="872" y="360"/>
                </a:lnTo>
                <a:lnTo>
                  <a:pt x="856" y="344"/>
                </a:lnTo>
                <a:lnTo>
                  <a:pt x="856" y="344"/>
                </a:lnTo>
                <a:lnTo>
                  <a:pt x="848" y="328"/>
                </a:lnTo>
                <a:lnTo>
                  <a:pt x="848" y="328"/>
                </a:lnTo>
                <a:lnTo>
                  <a:pt x="856" y="312"/>
                </a:lnTo>
                <a:lnTo>
                  <a:pt x="856" y="312"/>
                </a:lnTo>
                <a:lnTo>
                  <a:pt x="856" y="312"/>
                </a:lnTo>
                <a:lnTo>
                  <a:pt x="856" y="312"/>
                </a:lnTo>
                <a:lnTo>
                  <a:pt x="840" y="352"/>
                </a:lnTo>
                <a:lnTo>
                  <a:pt x="840" y="352"/>
                </a:lnTo>
                <a:lnTo>
                  <a:pt x="824" y="376"/>
                </a:lnTo>
                <a:lnTo>
                  <a:pt x="824" y="376"/>
                </a:lnTo>
                <a:lnTo>
                  <a:pt x="800" y="400"/>
                </a:lnTo>
                <a:lnTo>
                  <a:pt x="800" y="400"/>
                </a:lnTo>
                <a:lnTo>
                  <a:pt x="760" y="408"/>
                </a:lnTo>
                <a:lnTo>
                  <a:pt x="760" y="408"/>
                </a:lnTo>
                <a:lnTo>
                  <a:pt x="760" y="408"/>
                </a:lnTo>
                <a:lnTo>
                  <a:pt x="760" y="408"/>
                </a:lnTo>
                <a:lnTo>
                  <a:pt x="728" y="416"/>
                </a:lnTo>
                <a:lnTo>
                  <a:pt x="728" y="416"/>
                </a:lnTo>
                <a:lnTo>
                  <a:pt x="696" y="408"/>
                </a:lnTo>
                <a:lnTo>
                  <a:pt x="696" y="408"/>
                </a:lnTo>
                <a:lnTo>
                  <a:pt x="664" y="400"/>
                </a:lnTo>
                <a:lnTo>
                  <a:pt x="664" y="400"/>
                </a:lnTo>
                <a:lnTo>
                  <a:pt x="632" y="384"/>
                </a:lnTo>
                <a:lnTo>
                  <a:pt x="632" y="384"/>
                </a:lnTo>
                <a:lnTo>
                  <a:pt x="632" y="384"/>
                </a:lnTo>
                <a:lnTo>
                  <a:pt x="632" y="384"/>
                </a:lnTo>
                <a:lnTo>
                  <a:pt x="616" y="376"/>
                </a:lnTo>
                <a:lnTo>
                  <a:pt x="616" y="376"/>
                </a:lnTo>
                <a:lnTo>
                  <a:pt x="608" y="376"/>
                </a:lnTo>
                <a:lnTo>
                  <a:pt x="608" y="376"/>
                </a:lnTo>
                <a:lnTo>
                  <a:pt x="600" y="384"/>
                </a:lnTo>
                <a:lnTo>
                  <a:pt x="600" y="384"/>
                </a:lnTo>
                <a:lnTo>
                  <a:pt x="592" y="384"/>
                </a:lnTo>
                <a:lnTo>
                  <a:pt x="592" y="384"/>
                </a:lnTo>
                <a:lnTo>
                  <a:pt x="584" y="400"/>
                </a:lnTo>
                <a:lnTo>
                  <a:pt x="584" y="400"/>
                </a:lnTo>
                <a:lnTo>
                  <a:pt x="560" y="408"/>
                </a:lnTo>
                <a:lnTo>
                  <a:pt x="560" y="408"/>
                </a:lnTo>
                <a:lnTo>
                  <a:pt x="560" y="408"/>
                </a:lnTo>
                <a:lnTo>
                  <a:pt x="560" y="408"/>
                </a:lnTo>
                <a:lnTo>
                  <a:pt x="528" y="424"/>
                </a:lnTo>
                <a:lnTo>
                  <a:pt x="528" y="424"/>
                </a:lnTo>
                <a:lnTo>
                  <a:pt x="496" y="424"/>
                </a:lnTo>
                <a:lnTo>
                  <a:pt x="496" y="424"/>
                </a:lnTo>
                <a:lnTo>
                  <a:pt x="480" y="424"/>
                </a:lnTo>
                <a:lnTo>
                  <a:pt x="480" y="424"/>
                </a:lnTo>
                <a:lnTo>
                  <a:pt x="464" y="416"/>
                </a:lnTo>
                <a:lnTo>
                  <a:pt x="464" y="416"/>
                </a:lnTo>
                <a:lnTo>
                  <a:pt x="456" y="400"/>
                </a:lnTo>
                <a:lnTo>
                  <a:pt x="456" y="400"/>
                </a:lnTo>
                <a:lnTo>
                  <a:pt x="440" y="376"/>
                </a:lnTo>
                <a:lnTo>
                  <a:pt x="440" y="376"/>
                </a:lnTo>
                <a:lnTo>
                  <a:pt x="440" y="376"/>
                </a:lnTo>
                <a:lnTo>
                  <a:pt x="440" y="376"/>
                </a:lnTo>
                <a:lnTo>
                  <a:pt x="440" y="360"/>
                </a:lnTo>
                <a:lnTo>
                  <a:pt x="440" y="360"/>
                </a:lnTo>
                <a:lnTo>
                  <a:pt x="448" y="344"/>
                </a:lnTo>
                <a:lnTo>
                  <a:pt x="448" y="344"/>
                </a:lnTo>
                <a:lnTo>
                  <a:pt x="448" y="344"/>
                </a:lnTo>
                <a:lnTo>
                  <a:pt x="448" y="344"/>
                </a:lnTo>
                <a:lnTo>
                  <a:pt x="408" y="376"/>
                </a:lnTo>
                <a:lnTo>
                  <a:pt x="408" y="376"/>
                </a:lnTo>
                <a:lnTo>
                  <a:pt x="368" y="408"/>
                </a:lnTo>
                <a:lnTo>
                  <a:pt x="368" y="408"/>
                </a:lnTo>
                <a:lnTo>
                  <a:pt x="344" y="416"/>
                </a:lnTo>
                <a:lnTo>
                  <a:pt x="344" y="416"/>
                </a:lnTo>
                <a:lnTo>
                  <a:pt x="320" y="424"/>
                </a:lnTo>
                <a:lnTo>
                  <a:pt x="320" y="424"/>
                </a:lnTo>
                <a:lnTo>
                  <a:pt x="296" y="424"/>
                </a:lnTo>
                <a:lnTo>
                  <a:pt x="296" y="424"/>
                </a:lnTo>
                <a:lnTo>
                  <a:pt x="272" y="416"/>
                </a:lnTo>
                <a:lnTo>
                  <a:pt x="272" y="416"/>
                </a:lnTo>
                <a:lnTo>
                  <a:pt x="272" y="416"/>
                </a:lnTo>
                <a:lnTo>
                  <a:pt x="272" y="416"/>
                </a:lnTo>
                <a:lnTo>
                  <a:pt x="232" y="408"/>
                </a:lnTo>
                <a:lnTo>
                  <a:pt x="232" y="408"/>
                </a:lnTo>
                <a:lnTo>
                  <a:pt x="208" y="392"/>
                </a:lnTo>
                <a:lnTo>
                  <a:pt x="208" y="392"/>
                </a:lnTo>
                <a:lnTo>
                  <a:pt x="184" y="368"/>
                </a:lnTo>
                <a:lnTo>
                  <a:pt x="184" y="368"/>
                </a:lnTo>
                <a:lnTo>
                  <a:pt x="168" y="344"/>
                </a:lnTo>
                <a:lnTo>
                  <a:pt x="168" y="344"/>
                </a:lnTo>
                <a:lnTo>
                  <a:pt x="168" y="344"/>
                </a:lnTo>
                <a:lnTo>
                  <a:pt x="168" y="344"/>
                </a:lnTo>
                <a:lnTo>
                  <a:pt x="160" y="336"/>
                </a:lnTo>
                <a:lnTo>
                  <a:pt x="160" y="336"/>
                </a:lnTo>
                <a:lnTo>
                  <a:pt x="152" y="328"/>
                </a:lnTo>
                <a:lnTo>
                  <a:pt x="152" y="328"/>
                </a:lnTo>
                <a:lnTo>
                  <a:pt x="152" y="336"/>
                </a:lnTo>
                <a:lnTo>
                  <a:pt x="152" y="336"/>
                </a:lnTo>
                <a:lnTo>
                  <a:pt x="152" y="344"/>
                </a:lnTo>
                <a:lnTo>
                  <a:pt x="152" y="344"/>
                </a:lnTo>
                <a:lnTo>
                  <a:pt x="152" y="352"/>
                </a:lnTo>
                <a:lnTo>
                  <a:pt x="152" y="352"/>
                </a:lnTo>
                <a:lnTo>
                  <a:pt x="144" y="368"/>
                </a:lnTo>
                <a:lnTo>
                  <a:pt x="144" y="368"/>
                </a:lnTo>
                <a:lnTo>
                  <a:pt x="128" y="376"/>
                </a:lnTo>
                <a:lnTo>
                  <a:pt x="128" y="376"/>
                </a:lnTo>
                <a:lnTo>
                  <a:pt x="112" y="376"/>
                </a:lnTo>
                <a:lnTo>
                  <a:pt x="112" y="376"/>
                </a:lnTo>
                <a:lnTo>
                  <a:pt x="112" y="376"/>
                </a:lnTo>
                <a:lnTo>
                  <a:pt x="112" y="376"/>
                </a:lnTo>
                <a:lnTo>
                  <a:pt x="88" y="376"/>
                </a:lnTo>
                <a:lnTo>
                  <a:pt x="88" y="376"/>
                </a:lnTo>
                <a:lnTo>
                  <a:pt x="64" y="368"/>
                </a:lnTo>
                <a:lnTo>
                  <a:pt x="64" y="368"/>
                </a:lnTo>
                <a:lnTo>
                  <a:pt x="40" y="360"/>
                </a:lnTo>
                <a:lnTo>
                  <a:pt x="40" y="360"/>
                </a:lnTo>
                <a:lnTo>
                  <a:pt x="24" y="344"/>
                </a:lnTo>
                <a:lnTo>
                  <a:pt x="24" y="344"/>
                </a:lnTo>
                <a:lnTo>
                  <a:pt x="24" y="344"/>
                </a:lnTo>
                <a:lnTo>
                  <a:pt x="24" y="344"/>
                </a:lnTo>
                <a:lnTo>
                  <a:pt x="24" y="328"/>
                </a:lnTo>
                <a:lnTo>
                  <a:pt x="24" y="328"/>
                </a:lnTo>
                <a:lnTo>
                  <a:pt x="16" y="320"/>
                </a:lnTo>
                <a:lnTo>
                  <a:pt x="16" y="320"/>
                </a:lnTo>
                <a:lnTo>
                  <a:pt x="8" y="312"/>
                </a:lnTo>
                <a:lnTo>
                  <a:pt x="8" y="312"/>
                </a:lnTo>
                <a:lnTo>
                  <a:pt x="8" y="296"/>
                </a:lnTo>
                <a:lnTo>
                  <a:pt x="8" y="296"/>
                </a:lnTo>
                <a:lnTo>
                  <a:pt x="8" y="296"/>
                </a:lnTo>
                <a:lnTo>
                  <a:pt x="8" y="296"/>
                </a:lnTo>
                <a:lnTo>
                  <a:pt x="0" y="288"/>
                </a:lnTo>
                <a:lnTo>
                  <a:pt x="0" y="288"/>
                </a:lnTo>
                <a:lnTo>
                  <a:pt x="8" y="280"/>
                </a:lnTo>
                <a:lnTo>
                  <a:pt x="8" y="280"/>
                </a:lnTo>
                <a:lnTo>
                  <a:pt x="16" y="272"/>
                </a:lnTo>
                <a:lnTo>
                  <a:pt x="16" y="272"/>
                </a:lnTo>
                <a:lnTo>
                  <a:pt x="24" y="264"/>
                </a:lnTo>
                <a:lnTo>
                  <a:pt x="24" y="264"/>
                </a:lnTo>
                <a:lnTo>
                  <a:pt x="40" y="248"/>
                </a:lnTo>
                <a:lnTo>
                  <a:pt x="40" y="248"/>
                </a:lnTo>
                <a:lnTo>
                  <a:pt x="56" y="240"/>
                </a:lnTo>
                <a:lnTo>
                  <a:pt x="56" y="240"/>
                </a:lnTo>
                <a:lnTo>
                  <a:pt x="56" y="240"/>
                </a:lnTo>
                <a:lnTo>
                  <a:pt x="56" y="240"/>
                </a:lnTo>
                <a:lnTo>
                  <a:pt x="64" y="232"/>
                </a:lnTo>
                <a:lnTo>
                  <a:pt x="64" y="232"/>
                </a:lnTo>
                <a:lnTo>
                  <a:pt x="56" y="224"/>
                </a:lnTo>
                <a:lnTo>
                  <a:pt x="56" y="224"/>
                </a:lnTo>
                <a:lnTo>
                  <a:pt x="48" y="224"/>
                </a:lnTo>
                <a:lnTo>
                  <a:pt x="48" y="224"/>
                </a:lnTo>
                <a:lnTo>
                  <a:pt x="40" y="216"/>
                </a:lnTo>
                <a:lnTo>
                  <a:pt x="40" y="216"/>
                </a:lnTo>
                <a:lnTo>
                  <a:pt x="32" y="200"/>
                </a:lnTo>
                <a:lnTo>
                  <a:pt x="32" y="200"/>
                </a:lnTo>
                <a:lnTo>
                  <a:pt x="24" y="192"/>
                </a:lnTo>
                <a:lnTo>
                  <a:pt x="24" y="192"/>
                </a:lnTo>
                <a:lnTo>
                  <a:pt x="24" y="184"/>
                </a:lnTo>
                <a:lnTo>
                  <a:pt x="24" y="184"/>
                </a:lnTo>
                <a:lnTo>
                  <a:pt x="32" y="176"/>
                </a:lnTo>
                <a:lnTo>
                  <a:pt x="32" y="176"/>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prstDash val="solid"/>
                <a:round/>
                <a:headEnd/>
                <a:tailEnd/>
              </a14:hiddenLine>
            </a:ext>
          </a:extLst>
        </p:spPr>
        <p:txBody>
          <a:bodyPr/>
          <a:lstStyle/>
          <a:p>
            <a:endParaRPr lang="en-IN"/>
          </a:p>
        </p:txBody>
      </p:sp>
      <p:sp>
        <p:nvSpPr>
          <p:cNvPr id="32779" name="Rectangle 11">
            <a:extLst>
              <a:ext uri="{FF2B5EF4-FFF2-40B4-BE49-F238E27FC236}">
                <a16:creationId xmlns:a16="http://schemas.microsoft.com/office/drawing/2014/main" id="{43BD4DB6-46D9-4A19-A6CC-7DD17E32FECE}"/>
              </a:ext>
            </a:extLst>
          </p:cNvPr>
          <p:cNvSpPr>
            <a:spLocks noChangeArrowheads="1"/>
          </p:cNvSpPr>
          <p:nvPr/>
        </p:nvSpPr>
        <p:spPr bwMode="auto">
          <a:xfrm>
            <a:off x="1085850" y="3041650"/>
            <a:ext cx="135255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0" hangingPunct="0"/>
            <a:r>
              <a:rPr lang="en-US" altLang="en-US" sz="1800">
                <a:solidFill>
                  <a:srgbClr val="000000"/>
                </a:solidFill>
              </a:rPr>
              <a:t>Silicate Liquid</a:t>
            </a:r>
            <a:endParaRPr lang="en-US" altLang="en-US" sz="2400">
              <a:solidFill>
                <a:schemeClr val="tx1"/>
              </a:solidFill>
            </a:endParaRPr>
          </a:p>
        </p:txBody>
      </p:sp>
      <p:sp>
        <p:nvSpPr>
          <p:cNvPr id="32780" name="Rectangle 12">
            <a:extLst>
              <a:ext uri="{FF2B5EF4-FFF2-40B4-BE49-F238E27FC236}">
                <a16:creationId xmlns:a16="http://schemas.microsoft.com/office/drawing/2014/main" id="{BB25F2D0-554E-4A33-81E5-3E1EF3FCDF9D}"/>
              </a:ext>
            </a:extLst>
          </p:cNvPr>
          <p:cNvSpPr>
            <a:spLocks noChangeArrowheads="1"/>
          </p:cNvSpPr>
          <p:nvPr/>
        </p:nvSpPr>
        <p:spPr bwMode="auto">
          <a:xfrm>
            <a:off x="1111250" y="3956050"/>
            <a:ext cx="132715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0" hangingPunct="0"/>
            <a:r>
              <a:rPr lang="en-US" altLang="en-US" sz="1800">
                <a:solidFill>
                  <a:srgbClr val="000000"/>
                </a:solidFill>
              </a:rPr>
              <a:t>Sulfide Liquid</a:t>
            </a:r>
            <a:endParaRPr lang="en-US" altLang="en-US" sz="2400">
              <a:solidFill>
                <a:schemeClr val="tx1"/>
              </a:solidFill>
            </a:endParaRPr>
          </a:p>
        </p:txBody>
      </p:sp>
      <p:sp>
        <p:nvSpPr>
          <p:cNvPr id="32781" name="Rectangle 13">
            <a:extLst>
              <a:ext uri="{FF2B5EF4-FFF2-40B4-BE49-F238E27FC236}">
                <a16:creationId xmlns:a16="http://schemas.microsoft.com/office/drawing/2014/main" id="{6EB05C4F-2D48-47FE-80C1-B088574C8EEC}"/>
              </a:ext>
            </a:extLst>
          </p:cNvPr>
          <p:cNvSpPr>
            <a:spLocks noChangeArrowheads="1"/>
          </p:cNvSpPr>
          <p:nvPr/>
        </p:nvSpPr>
        <p:spPr bwMode="auto">
          <a:xfrm>
            <a:off x="1085850" y="4806950"/>
            <a:ext cx="142875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0" hangingPunct="0"/>
            <a:r>
              <a:rPr lang="en-US" altLang="en-US" sz="1800">
                <a:solidFill>
                  <a:schemeClr val="bg1"/>
                </a:solidFill>
              </a:rPr>
              <a:t>Metallic Liquid</a:t>
            </a:r>
            <a:endParaRPr lang="en-US" altLang="en-US" sz="2400">
              <a:solidFill>
                <a:schemeClr val="bg1"/>
              </a:solidFill>
            </a:endParaRPr>
          </a:p>
        </p:txBody>
      </p:sp>
      <p:sp>
        <p:nvSpPr>
          <p:cNvPr id="32782" name="Rectangle 14">
            <a:extLst>
              <a:ext uri="{FF2B5EF4-FFF2-40B4-BE49-F238E27FC236}">
                <a16:creationId xmlns:a16="http://schemas.microsoft.com/office/drawing/2014/main" id="{E4A96B3A-AD22-46C3-A20E-93D4A6E1674C}"/>
              </a:ext>
            </a:extLst>
          </p:cNvPr>
          <p:cNvSpPr>
            <a:spLocks noChangeArrowheads="1"/>
          </p:cNvSpPr>
          <p:nvPr/>
        </p:nvSpPr>
        <p:spPr bwMode="auto">
          <a:xfrm>
            <a:off x="1327150" y="1974850"/>
            <a:ext cx="100965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0" hangingPunct="0"/>
            <a:r>
              <a:rPr lang="en-US" altLang="en-US" sz="1800" b="1">
                <a:solidFill>
                  <a:srgbClr val="000066"/>
                </a:solidFill>
                <a:effectLst>
                  <a:outerShdw blurRad="38100" dist="38100" dir="2700000" algn="tl">
                    <a:srgbClr val="C0C0C0"/>
                  </a:outerShdw>
                </a:effectLst>
              </a:rPr>
              <a:t>Gas Phase</a:t>
            </a:r>
            <a:endParaRPr lang="en-US" altLang="en-US" sz="2400" b="1">
              <a:solidFill>
                <a:srgbClr val="000066"/>
              </a:solidFill>
              <a:effectLst>
                <a:outerShdw blurRad="38100" dist="38100" dir="2700000" algn="tl">
                  <a:srgbClr val="C0C0C0"/>
                </a:outerShdw>
              </a:effectLst>
            </a:endParaRPr>
          </a:p>
        </p:txBody>
      </p:sp>
      <p:sp>
        <p:nvSpPr>
          <p:cNvPr id="32783" name="Text Box 15">
            <a:extLst>
              <a:ext uri="{FF2B5EF4-FFF2-40B4-BE49-F238E27FC236}">
                <a16:creationId xmlns:a16="http://schemas.microsoft.com/office/drawing/2014/main" id="{E684D3C5-EBBF-4E87-A894-DE1829598855}"/>
              </a:ext>
            </a:extLst>
          </p:cNvPr>
          <p:cNvSpPr txBox="1">
            <a:spLocks noChangeArrowheads="1"/>
          </p:cNvSpPr>
          <p:nvPr/>
        </p:nvSpPr>
        <p:spPr bwMode="auto">
          <a:xfrm>
            <a:off x="3810000" y="4953000"/>
            <a:ext cx="1589088"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en-US" altLang="en-US" sz="2400">
                <a:solidFill>
                  <a:schemeClr val="tx1"/>
                </a:solidFill>
              </a:rPr>
              <a:t>Siderophile</a:t>
            </a:r>
          </a:p>
        </p:txBody>
      </p:sp>
      <p:sp>
        <p:nvSpPr>
          <p:cNvPr id="32784" name="Text Box 16">
            <a:extLst>
              <a:ext uri="{FF2B5EF4-FFF2-40B4-BE49-F238E27FC236}">
                <a16:creationId xmlns:a16="http://schemas.microsoft.com/office/drawing/2014/main" id="{22D5A291-B917-4982-829C-C19A494BB6ED}"/>
              </a:ext>
            </a:extLst>
          </p:cNvPr>
          <p:cNvSpPr txBox="1">
            <a:spLocks noChangeArrowheads="1"/>
          </p:cNvSpPr>
          <p:nvPr/>
        </p:nvSpPr>
        <p:spPr bwMode="auto">
          <a:xfrm>
            <a:off x="3810000" y="4038600"/>
            <a:ext cx="165417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en-US" altLang="en-US" sz="2400">
                <a:solidFill>
                  <a:schemeClr val="tx1"/>
                </a:solidFill>
              </a:rPr>
              <a:t>Chalcophile</a:t>
            </a:r>
          </a:p>
        </p:txBody>
      </p:sp>
      <p:sp>
        <p:nvSpPr>
          <p:cNvPr id="32785" name="Text Box 17">
            <a:extLst>
              <a:ext uri="{FF2B5EF4-FFF2-40B4-BE49-F238E27FC236}">
                <a16:creationId xmlns:a16="http://schemas.microsoft.com/office/drawing/2014/main" id="{F344022D-DAA3-4E28-BF4A-9FEA9099B637}"/>
              </a:ext>
            </a:extLst>
          </p:cNvPr>
          <p:cNvSpPr txBox="1">
            <a:spLocks noChangeArrowheads="1"/>
          </p:cNvSpPr>
          <p:nvPr/>
        </p:nvSpPr>
        <p:spPr bwMode="auto">
          <a:xfrm>
            <a:off x="3810000" y="2971800"/>
            <a:ext cx="145097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en-US" altLang="en-US" sz="2400">
                <a:solidFill>
                  <a:schemeClr val="tx1"/>
                </a:solidFill>
              </a:rPr>
              <a:t>Lithophile</a:t>
            </a:r>
          </a:p>
        </p:txBody>
      </p:sp>
      <p:sp>
        <p:nvSpPr>
          <p:cNvPr id="32786" name="Text Box 18">
            <a:extLst>
              <a:ext uri="{FF2B5EF4-FFF2-40B4-BE49-F238E27FC236}">
                <a16:creationId xmlns:a16="http://schemas.microsoft.com/office/drawing/2014/main" id="{045EFF44-6EAE-4CA0-B768-382AF406E75E}"/>
              </a:ext>
            </a:extLst>
          </p:cNvPr>
          <p:cNvSpPr txBox="1">
            <a:spLocks noChangeArrowheads="1"/>
          </p:cNvSpPr>
          <p:nvPr/>
        </p:nvSpPr>
        <p:spPr bwMode="auto">
          <a:xfrm>
            <a:off x="3810000" y="1905000"/>
            <a:ext cx="1487488"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en-US" altLang="en-US" sz="2400">
                <a:solidFill>
                  <a:schemeClr val="tx1"/>
                </a:solidFill>
              </a:rPr>
              <a:t>Atmophile</a:t>
            </a:r>
          </a:p>
        </p:txBody>
      </p:sp>
      <p:sp>
        <p:nvSpPr>
          <p:cNvPr id="32787" name="Line 19">
            <a:extLst>
              <a:ext uri="{FF2B5EF4-FFF2-40B4-BE49-F238E27FC236}">
                <a16:creationId xmlns:a16="http://schemas.microsoft.com/office/drawing/2014/main" id="{10BE5431-40DC-41FD-A2A7-19801BD7F5C4}"/>
              </a:ext>
            </a:extLst>
          </p:cNvPr>
          <p:cNvSpPr>
            <a:spLocks noChangeShapeType="1"/>
          </p:cNvSpPr>
          <p:nvPr/>
        </p:nvSpPr>
        <p:spPr bwMode="auto">
          <a:xfrm flipH="1">
            <a:off x="3276600" y="2249488"/>
            <a:ext cx="533400" cy="0"/>
          </a:xfrm>
          <a:prstGeom prst="line">
            <a:avLst/>
          </a:prstGeom>
          <a:noFill/>
          <a:ln w="381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a:p>
        </p:txBody>
      </p:sp>
      <p:sp>
        <p:nvSpPr>
          <p:cNvPr id="32788" name="Line 20">
            <a:extLst>
              <a:ext uri="{FF2B5EF4-FFF2-40B4-BE49-F238E27FC236}">
                <a16:creationId xmlns:a16="http://schemas.microsoft.com/office/drawing/2014/main" id="{7C139F36-873C-435E-BF1A-3172C3AC78EB}"/>
              </a:ext>
            </a:extLst>
          </p:cNvPr>
          <p:cNvSpPr>
            <a:spLocks noChangeShapeType="1"/>
          </p:cNvSpPr>
          <p:nvPr/>
        </p:nvSpPr>
        <p:spPr bwMode="auto">
          <a:xfrm flipH="1">
            <a:off x="3276600" y="3200400"/>
            <a:ext cx="533400" cy="0"/>
          </a:xfrm>
          <a:prstGeom prst="line">
            <a:avLst/>
          </a:prstGeom>
          <a:noFill/>
          <a:ln w="381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a:p>
        </p:txBody>
      </p:sp>
      <p:sp>
        <p:nvSpPr>
          <p:cNvPr id="32789" name="Line 21">
            <a:extLst>
              <a:ext uri="{FF2B5EF4-FFF2-40B4-BE49-F238E27FC236}">
                <a16:creationId xmlns:a16="http://schemas.microsoft.com/office/drawing/2014/main" id="{FA6FB601-4039-406B-B465-C60B03C13D3A}"/>
              </a:ext>
            </a:extLst>
          </p:cNvPr>
          <p:cNvSpPr>
            <a:spLocks noChangeShapeType="1"/>
          </p:cNvSpPr>
          <p:nvPr/>
        </p:nvSpPr>
        <p:spPr bwMode="auto">
          <a:xfrm flipH="1">
            <a:off x="3276600" y="4267200"/>
            <a:ext cx="533400" cy="0"/>
          </a:xfrm>
          <a:prstGeom prst="line">
            <a:avLst/>
          </a:prstGeom>
          <a:noFill/>
          <a:ln w="381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a:p>
        </p:txBody>
      </p:sp>
      <p:sp>
        <p:nvSpPr>
          <p:cNvPr id="32790" name="Line 22">
            <a:extLst>
              <a:ext uri="{FF2B5EF4-FFF2-40B4-BE49-F238E27FC236}">
                <a16:creationId xmlns:a16="http://schemas.microsoft.com/office/drawing/2014/main" id="{F2569C05-92E7-4F36-A126-496B0A3C72E4}"/>
              </a:ext>
            </a:extLst>
          </p:cNvPr>
          <p:cNvSpPr>
            <a:spLocks noChangeShapeType="1"/>
          </p:cNvSpPr>
          <p:nvPr/>
        </p:nvSpPr>
        <p:spPr bwMode="auto">
          <a:xfrm flipH="1">
            <a:off x="3276600" y="5181600"/>
            <a:ext cx="533400" cy="0"/>
          </a:xfrm>
          <a:prstGeom prst="line">
            <a:avLst/>
          </a:prstGeom>
          <a:noFill/>
          <a:ln w="381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a:p>
        </p:txBody>
      </p:sp>
      <p:sp>
        <p:nvSpPr>
          <p:cNvPr id="32791" name="Text Box 23">
            <a:extLst>
              <a:ext uri="{FF2B5EF4-FFF2-40B4-BE49-F238E27FC236}">
                <a16:creationId xmlns:a16="http://schemas.microsoft.com/office/drawing/2014/main" id="{BE0FADC5-955E-4805-BD0F-3321B4F70210}"/>
              </a:ext>
            </a:extLst>
          </p:cNvPr>
          <p:cNvSpPr txBox="1">
            <a:spLocks noChangeArrowheads="1"/>
          </p:cNvSpPr>
          <p:nvPr/>
        </p:nvSpPr>
        <p:spPr bwMode="auto">
          <a:xfrm>
            <a:off x="5791200" y="1981200"/>
            <a:ext cx="297180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spcBef>
                <a:spcPct val="50000"/>
              </a:spcBef>
            </a:pPr>
            <a:r>
              <a:rPr lang="en-US" altLang="en-US" sz="1800">
                <a:solidFill>
                  <a:schemeClr val="tx1"/>
                </a:solidFill>
              </a:rPr>
              <a:t>H, He, N, Noble gases</a:t>
            </a:r>
          </a:p>
        </p:txBody>
      </p:sp>
      <p:sp>
        <p:nvSpPr>
          <p:cNvPr id="32792" name="Text Box 24">
            <a:extLst>
              <a:ext uri="{FF2B5EF4-FFF2-40B4-BE49-F238E27FC236}">
                <a16:creationId xmlns:a16="http://schemas.microsoft.com/office/drawing/2014/main" id="{DEBE4BB4-9087-40C4-A575-DE3335111305}"/>
              </a:ext>
            </a:extLst>
          </p:cNvPr>
          <p:cNvSpPr txBox="1">
            <a:spLocks noChangeArrowheads="1"/>
          </p:cNvSpPr>
          <p:nvPr/>
        </p:nvSpPr>
        <p:spPr bwMode="auto">
          <a:xfrm>
            <a:off x="5791200" y="2667000"/>
            <a:ext cx="2971800" cy="11906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spcBef>
                <a:spcPct val="50000"/>
              </a:spcBef>
            </a:pPr>
            <a:r>
              <a:rPr lang="en-US" altLang="en-US" sz="1800">
                <a:solidFill>
                  <a:schemeClr val="tx1"/>
                </a:solidFill>
              </a:rPr>
              <a:t>Alkalis, Alkaline Earths, Halogens, B, O, Al, Si, Sc, Ti, V, Cr, Mn, Y, Zr, Nb, Lanthanides, Hf, Ta, Th, U</a:t>
            </a:r>
          </a:p>
        </p:txBody>
      </p:sp>
      <p:sp>
        <p:nvSpPr>
          <p:cNvPr id="32793" name="Text Box 25">
            <a:extLst>
              <a:ext uri="{FF2B5EF4-FFF2-40B4-BE49-F238E27FC236}">
                <a16:creationId xmlns:a16="http://schemas.microsoft.com/office/drawing/2014/main" id="{B62CF737-7750-483E-9AA1-744212993A3A}"/>
              </a:ext>
            </a:extLst>
          </p:cNvPr>
          <p:cNvSpPr txBox="1">
            <a:spLocks noChangeArrowheads="1"/>
          </p:cNvSpPr>
          <p:nvPr/>
        </p:nvSpPr>
        <p:spPr bwMode="auto">
          <a:xfrm>
            <a:off x="5791200" y="4038600"/>
            <a:ext cx="297180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spcBef>
                <a:spcPct val="50000"/>
              </a:spcBef>
            </a:pPr>
            <a:r>
              <a:rPr lang="en-US" altLang="en-US" sz="1800" dirty="0">
                <a:solidFill>
                  <a:schemeClr val="tx1"/>
                </a:solidFill>
              </a:rPr>
              <a:t>Cu, Zn, Ga, Ag, Cd, In, Hg, Tl, As, S, Sb, Se, Pb, Bi, Te</a:t>
            </a:r>
          </a:p>
        </p:txBody>
      </p:sp>
      <p:sp>
        <p:nvSpPr>
          <p:cNvPr id="32794" name="Text Box 26">
            <a:extLst>
              <a:ext uri="{FF2B5EF4-FFF2-40B4-BE49-F238E27FC236}">
                <a16:creationId xmlns:a16="http://schemas.microsoft.com/office/drawing/2014/main" id="{90C41411-E3B5-49F0-B2AD-D29998BEE7D8}"/>
              </a:ext>
            </a:extLst>
          </p:cNvPr>
          <p:cNvSpPr txBox="1">
            <a:spLocks noChangeArrowheads="1"/>
          </p:cNvSpPr>
          <p:nvPr/>
        </p:nvSpPr>
        <p:spPr bwMode="auto">
          <a:xfrm>
            <a:off x="5791200" y="5029200"/>
            <a:ext cx="312420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spcBef>
                <a:spcPct val="50000"/>
              </a:spcBef>
            </a:pPr>
            <a:r>
              <a:rPr lang="en-US" altLang="en-US" sz="1800" dirty="0">
                <a:solidFill>
                  <a:schemeClr val="tx1"/>
                </a:solidFill>
              </a:rPr>
              <a:t>Fe, Co, Ni, Ru, Rh, Pd, Os, Ir, Pt, Mo, Re, Au, C, P, Ge, Sn</a:t>
            </a:r>
          </a:p>
        </p:txBody>
      </p:sp>
      <p:sp>
        <p:nvSpPr>
          <p:cNvPr id="32796" name="Text Box 28">
            <a:extLst>
              <a:ext uri="{FF2B5EF4-FFF2-40B4-BE49-F238E27FC236}">
                <a16:creationId xmlns:a16="http://schemas.microsoft.com/office/drawing/2014/main" id="{4C1BEE51-026D-41C3-A676-1115CD3B1825}"/>
              </a:ext>
            </a:extLst>
          </p:cNvPr>
          <p:cNvSpPr txBox="1">
            <a:spLocks noChangeArrowheads="1"/>
          </p:cNvSpPr>
          <p:nvPr/>
        </p:nvSpPr>
        <p:spPr bwMode="auto">
          <a:xfrm>
            <a:off x="3124200" y="1524000"/>
            <a:ext cx="5715000" cy="404813"/>
          </a:xfrm>
          <a:prstGeom prst="rect">
            <a:avLst/>
          </a:prstGeom>
          <a:solidFill>
            <a:srgbClr val="FFFF99"/>
          </a:solidFill>
          <a:ln w="38100" cmpd="dbl">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spcBef>
                <a:spcPct val="50000"/>
              </a:spcBef>
            </a:pPr>
            <a:r>
              <a:rPr lang="en-US" altLang="en-US" sz="1800" dirty="0">
                <a:solidFill>
                  <a:schemeClr val="tx1"/>
                </a:solidFill>
              </a:rPr>
              <a:t>• Melting a chondrite gives 3 immiscible liquids plus vapor:</a:t>
            </a:r>
          </a:p>
        </p:txBody>
      </p:sp>
      <p:sp>
        <p:nvSpPr>
          <p:cNvPr id="32797" name="AutoShape 29">
            <a:extLst>
              <a:ext uri="{FF2B5EF4-FFF2-40B4-BE49-F238E27FC236}">
                <a16:creationId xmlns:a16="http://schemas.microsoft.com/office/drawing/2014/main" id="{7044E97C-B6C5-4F6E-883D-F47E50F9450C}"/>
              </a:ext>
            </a:extLst>
          </p:cNvPr>
          <p:cNvSpPr>
            <a:spLocks noChangeArrowheads="1"/>
          </p:cNvSpPr>
          <p:nvPr/>
        </p:nvSpPr>
        <p:spPr bwMode="auto">
          <a:xfrm>
            <a:off x="609600" y="2514600"/>
            <a:ext cx="2438400" cy="3124200"/>
          </a:xfrm>
          <a:prstGeom prst="roundRect">
            <a:avLst>
              <a:gd name="adj" fmla="val 16667"/>
            </a:avLst>
          </a:prstGeom>
          <a:noFill/>
          <a:ln w="381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a:p>
        </p:txBody>
      </p:sp>
      <p:sp>
        <p:nvSpPr>
          <p:cNvPr id="32798" name="Rectangle 30">
            <a:extLst>
              <a:ext uri="{FF2B5EF4-FFF2-40B4-BE49-F238E27FC236}">
                <a16:creationId xmlns:a16="http://schemas.microsoft.com/office/drawing/2014/main" id="{A0C2E15D-B256-4D04-8E0E-5C681943A5EA}"/>
              </a:ext>
            </a:extLst>
          </p:cNvPr>
          <p:cNvSpPr>
            <a:spLocks noChangeArrowheads="1"/>
          </p:cNvSpPr>
          <p:nvPr/>
        </p:nvSpPr>
        <p:spPr bwMode="auto">
          <a:xfrm>
            <a:off x="609600" y="2492375"/>
            <a:ext cx="2438400" cy="533400"/>
          </a:xfrm>
          <a:prstGeom prst="rect">
            <a:avLst/>
          </a:prstGeom>
          <a:solidFill>
            <a:srgbClr val="FF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a:p>
        </p:txBody>
      </p:sp>
      <p:sp>
        <p:nvSpPr>
          <p:cNvPr id="32799" name="Freeform 31">
            <a:extLst>
              <a:ext uri="{FF2B5EF4-FFF2-40B4-BE49-F238E27FC236}">
                <a16:creationId xmlns:a16="http://schemas.microsoft.com/office/drawing/2014/main" id="{0DD7CC17-28CF-45DB-8D6A-E0AEB83238C3}"/>
              </a:ext>
            </a:extLst>
          </p:cNvPr>
          <p:cNvSpPr>
            <a:spLocks/>
          </p:cNvSpPr>
          <p:nvPr/>
        </p:nvSpPr>
        <p:spPr bwMode="auto">
          <a:xfrm>
            <a:off x="403225" y="2365375"/>
            <a:ext cx="228600" cy="685800"/>
          </a:xfrm>
          <a:custGeom>
            <a:avLst/>
            <a:gdLst>
              <a:gd name="T0" fmla="*/ 144 w 160"/>
              <a:gd name="T1" fmla="*/ 240 h 240"/>
              <a:gd name="T2" fmla="*/ 144 w 160"/>
              <a:gd name="T3" fmla="*/ 144 h 240"/>
              <a:gd name="T4" fmla="*/ 144 w 160"/>
              <a:gd name="T5" fmla="*/ 48 h 240"/>
              <a:gd name="T6" fmla="*/ 48 w 160"/>
              <a:gd name="T7" fmla="*/ 0 h 240"/>
              <a:gd name="T8" fmla="*/ 0 w 160"/>
              <a:gd name="T9" fmla="*/ 48 h 240"/>
            </a:gdLst>
            <a:ahLst/>
            <a:cxnLst>
              <a:cxn ang="0">
                <a:pos x="T0" y="T1"/>
              </a:cxn>
              <a:cxn ang="0">
                <a:pos x="T2" y="T3"/>
              </a:cxn>
              <a:cxn ang="0">
                <a:pos x="T4" y="T5"/>
              </a:cxn>
              <a:cxn ang="0">
                <a:pos x="T6" y="T7"/>
              </a:cxn>
              <a:cxn ang="0">
                <a:pos x="T8" y="T9"/>
              </a:cxn>
            </a:cxnLst>
            <a:rect l="0" t="0" r="r" b="b"/>
            <a:pathLst>
              <a:path w="160" h="240">
                <a:moveTo>
                  <a:pt x="144" y="240"/>
                </a:moveTo>
                <a:cubicBezTo>
                  <a:pt x="144" y="208"/>
                  <a:pt x="144" y="176"/>
                  <a:pt x="144" y="144"/>
                </a:cubicBezTo>
                <a:cubicBezTo>
                  <a:pt x="144" y="112"/>
                  <a:pt x="160" y="72"/>
                  <a:pt x="144" y="48"/>
                </a:cubicBezTo>
                <a:cubicBezTo>
                  <a:pt x="128" y="24"/>
                  <a:pt x="72" y="0"/>
                  <a:pt x="48" y="0"/>
                </a:cubicBezTo>
                <a:cubicBezTo>
                  <a:pt x="24" y="0"/>
                  <a:pt x="12" y="24"/>
                  <a:pt x="0" y="48"/>
                </a:cubicBezTo>
              </a:path>
            </a:pathLst>
          </a:custGeom>
          <a:noFill/>
          <a:ln w="3810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a:p>
        </p:txBody>
      </p:sp>
      <p:sp>
        <p:nvSpPr>
          <p:cNvPr id="32800" name="Freeform 32">
            <a:extLst>
              <a:ext uri="{FF2B5EF4-FFF2-40B4-BE49-F238E27FC236}">
                <a16:creationId xmlns:a16="http://schemas.microsoft.com/office/drawing/2014/main" id="{B8E6DF82-E33A-48F3-B04C-2DBDB1ECDB2E}"/>
              </a:ext>
            </a:extLst>
          </p:cNvPr>
          <p:cNvSpPr>
            <a:spLocks/>
          </p:cNvSpPr>
          <p:nvPr/>
        </p:nvSpPr>
        <p:spPr bwMode="auto">
          <a:xfrm flipH="1">
            <a:off x="3025775" y="2362200"/>
            <a:ext cx="228600" cy="685800"/>
          </a:xfrm>
          <a:custGeom>
            <a:avLst/>
            <a:gdLst>
              <a:gd name="T0" fmla="*/ 144 w 160"/>
              <a:gd name="T1" fmla="*/ 240 h 240"/>
              <a:gd name="T2" fmla="*/ 144 w 160"/>
              <a:gd name="T3" fmla="*/ 144 h 240"/>
              <a:gd name="T4" fmla="*/ 144 w 160"/>
              <a:gd name="T5" fmla="*/ 48 h 240"/>
              <a:gd name="T6" fmla="*/ 48 w 160"/>
              <a:gd name="T7" fmla="*/ 0 h 240"/>
              <a:gd name="T8" fmla="*/ 0 w 160"/>
              <a:gd name="T9" fmla="*/ 48 h 240"/>
            </a:gdLst>
            <a:ahLst/>
            <a:cxnLst>
              <a:cxn ang="0">
                <a:pos x="T0" y="T1"/>
              </a:cxn>
              <a:cxn ang="0">
                <a:pos x="T2" y="T3"/>
              </a:cxn>
              <a:cxn ang="0">
                <a:pos x="T4" y="T5"/>
              </a:cxn>
              <a:cxn ang="0">
                <a:pos x="T6" y="T7"/>
              </a:cxn>
              <a:cxn ang="0">
                <a:pos x="T8" y="T9"/>
              </a:cxn>
            </a:cxnLst>
            <a:rect l="0" t="0" r="r" b="b"/>
            <a:pathLst>
              <a:path w="160" h="240">
                <a:moveTo>
                  <a:pt x="144" y="240"/>
                </a:moveTo>
                <a:cubicBezTo>
                  <a:pt x="144" y="208"/>
                  <a:pt x="144" y="176"/>
                  <a:pt x="144" y="144"/>
                </a:cubicBezTo>
                <a:cubicBezTo>
                  <a:pt x="144" y="112"/>
                  <a:pt x="160" y="72"/>
                  <a:pt x="144" y="48"/>
                </a:cubicBezTo>
                <a:cubicBezTo>
                  <a:pt x="128" y="24"/>
                  <a:pt x="72" y="0"/>
                  <a:pt x="48" y="0"/>
                </a:cubicBezTo>
                <a:cubicBezTo>
                  <a:pt x="24" y="0"/>
                  <a:pt x="12" y="24"/>
                  <a:pt x="0" y="48"/>
                </a:cubicBezTo>
              </a:path>
            </a:pathLst>
          </a:custGeom>
          <a:noFill/>
          <a:ln w="3810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a:p>
        </p:txBody>
      </p:sp>
    </p:spTree>
    <p:extLst>
      <p:ext uri="{BB962C8B-B14F-4D97-AF65-F5344CB8AC3E}">
        <p14:creationId xmlns:p14="http://schemas.microsoft.com/office/powerpoint/2010/main" val="39243021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24E8106F-00BC-4828-9919-A8D93E4CA150}"/>
              </a:ext>
            </a:extLst>
          </p:cNvPr>
          <p:cNvSpPr txBox="1"/>
          <p:nvPr/>
        </p:nvSpPr>
        <p:spPr>
          <a:xfrm>
            <a:off x="457201" y="1537672"/>
            <a:ext cx="8368180" cy="4196020"/>
          </a:xfrm>
          <a:prstGeom prst="rect">
            <a:avLst/>
          </a:prstGeom>
          <a:noFill/>
        </p:spPr>
        <p:txBody>
          <a:bodyPr wrap="square">
            <a:spAutoFit/>
          </a:bodyPr>
          <a:lstStyle/>
          <a:p>
            <a:pPr algn="just">
              <a:lnSpc>
                <a:spcPct val="150000"/>
              </a:lnSpc>
            </a:pPr>
            <a:r>
              <a:rPr lang="en-US" dirty="0"/>
              <a:t>In geochemistry, units of measurement include parts per million (ppm) and parts per billion (ppb): </a:t>
            </a:r>
          </a:p>
          <a:p>
            <a:pPr algn="just">
              <a:lnSpc>
                <a:spcPct val="150000"/>
              </a:lnSpc>
            </a:pPr>
            <a:r>
              <a:rPr lang="en-US" dirty="0"/>
              <a:t>Trace levels</a:t>
            </a:r>
          </a:p>
          <a:p>
            <a:pPr algn="just">
              <a:lnSpc>
                <a:spcPct val="150000"/>
              </a:lnSpc>
            </a:pPr>
            <a:r>
              <a:rPr lang="en-US" dirty="0"/>
              <a:t>Usually expressed in ppm or ppb, these are the concentrations of elements in a material that are below 0.1%. </a:t>
            </a:r>
          </a:p>
          <a:p>
            <a:pPr algn="just">
              <a:lnSpc>
                <a:spcPct val="150000"/>
              </a:lnSpc>
            </a:pPr>
            <a:r>
              <a:rPr lang="en-US" dirty="0"/>
              <a:t>Percentage oxides</a:t>
            </a:r>
          </a:p>
          <a:p>
            <a:pPr algn="just">
              <a:lnSpc>
                <a:spcPct val="150000"/>
              </a:lnSpc>
            </a:pPr>
            <a:endParaRPr lang="en-US" dirty="0"/>
          </a:p>
          <a:p>
            <a:pPr algn="just">
              <a:lnSpc>
                <a:spcPct val="150000"/>
              </a:lnSpc>
            </a:pPr>
            <a:r>
              <a:rPr lang="en-US" dirty="0"/>
              <a:t>These units are used to measure the concentrations of major and minor elements, such as SiO2, TiO2, Al2O3, Fe2O3, MnO, MgO, CaO, Na2O, K2O, and P2O5.</a:t>
            </a:r>
            <a:endParaRPr lang="en-IN" dirty="0"/>
          </a:p>
        </p:txBody>
      </p:sp>
      <p:sp>
        <p:nvSpPr>
          <p:cNvPr id="9" name="TextBox 8">
            <a:extLst>
              <a:ext uri="{FF2B5EF4-FFF2-40B4-BE49-F238E27FC236}">
                <a16:creationId xmlns:a16="http://schemas.microsoft.com/office/drawing/2014/main" id="{B86AE0C3-C69F-4D8D-BCC0-8B6F1FF6D90D}"/>
              </a:ext>
            </a:extLst>
          </p:cNvPr>
          <p:cNvSpPr txBox="1"/>
          <p:nvPr/>
        </p:nvSpPr>
        <p:spPr>
          <a:xfrm>
            <a:off x="762000" y="149089"/>
            <a:ext cx="7543800" cy="523220"/>
          </a:xfrm>
          <a:prstGeom prst="rect">
            <a:avLst/>
          </a:prstGeom>
          <a:noFill/>
        </p:spPr>
        <p:txBody>
          <a:bodyPr wrap="square">
            <a:spAutoFit/>
          </a:bodyPr>
          <a:lstStyle/>
          <a:p>
            <a:r>
              <a:rPr lang="en-US" sz="2800" dirty="0">
                <a:latin typeface="Arial" panose="020B0604020202020204" pitchFamily="34" charset="0"/>
                <a:cs typeface="Arial" panose="020B0604020202020204" pitchFamily="34" charset="0"/>
              </a:rPr>
              <a:t>Units of measurement in geochemistry </a:t>
            </a:r>
            <a:endParaRPr lang="en-IN" sz="28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416085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434" name="Picture 2">
            <a:extLst>
              <a:ext uri="{FF2B5EF4-FFF2-40B4-BE49-F238E27FC236}">
                <a16:creationId xmlns:a16="http://schemas.microsoft.com/office/drawing/2014/main" id="{4A982C7B-33AA-4997-AF89-CA1B88ABE40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95400" y="971550"/>
            <a:ext cx="6096000" cy="49149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BB8919D5-7A0F-474B-97ED-718AF65758E1}"/>
              </a:ext>
            </a:extLst>
          </p:cNvPr>
          <p:cNvSpPr txBox="1"/>
          <p:nvPr/>
        </p:nvSpPr>
        <p:spPr>
          <a:xfrm>
            <a:off x="762000" y="149089"/>
            <a:ext cx="7543800" cy="523220"/>
          </a:xfrm>
          <a:prstGeom prst="rect">
            <a:avLst/>
          </a:prstGeom>
          <a:noFill/>
        </p:spPr>
        <p:txBody>
          <a:bodyPr wrap="square">
            <a:spAutoFit/>
          </a:bodyPr>
          <a:lstStyle/>
          <a:p>
            <a:r>
              <a:rPr lang="en-US" sz="2800" dirty="0">
                <a:latin typeface="Arial" panose="020B0604020202020204" pitchFamily="34" charset="0"/>
                <a:cs typeface="Arial" panose="020B0604020202020204" pitchFamily="34" charset="0"/>
              </a:rPr>
              <a:t>Units of measurement in geochemistry </a:t>
            </a:r>
            <a:endParaRPr lang="en-IN" sz="28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4799504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506" name="Picture 2">
            <a:extLst>
              <a:ext uri="{FF2B5EF4-FFF2-40B4-BE49-F238E27FC236}">
                <a16:creationId xmlns:a16="http://schemas.microsoft.com/office/drawing/2014/main" id="{D8979AD1-AD57-4676-8D5F-BCF7A7788B2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627"/>
          <a:stretch/>
        </p:blipFill>
        <p:spPr bwMode="auto">
          <a:xfrm>
            <a:off x="21021" y="1539111"/>
            <a:ext cx="9031630" cy="432829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F21F1822-78FB-49B8-B150-2E1A247091A2}"/>
              </a:ext>
            </a:extLst>
          </p:cNvPr>
          <p:cNvSpPr txBox="1"/>
          <p:nvPr/>
        </p:nvSpPr>
        <p:spPr>
          <a:xfrm>
            <a:off x="76200" y="333755"/>
            <a:ext cx="7543800" cy="523220"/>
          </a:xfrm>
          <a:prstGeom prst="rect">
            <a:avLst/>
          </a:prstGeom>
          <a:noFill/>
        </p:spPr>
        <p:txBody>
          <a:bodyPr wrap="square">
            <a:spAutoFit/>
          </a:bodyPr>
          <a:lstStyle/>
          <a:p>
            <a:r>
              <a:rPr lang="en-US" sz="2800" dirty="0">
                <a:latin typeface="Arial" panose="020B0604020202020204" pitchFamily="34" charset="0"/>
                <a:cs typeface="Arial" panose="020B0604020202020204" pitchFamily="34" charset="0"/>
              </a:rPr>
              <a:t>Major and trace elements </a:t>
            </a:r>
            <a:endParaRPr lang="en-IN" sz="28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008575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530" name="Picture 2">
            <a:extLst>
              <a:ext uri="{FF2B5EF4-FFF2-40B4-BE49-F238E27FC236}">
                <a16:creationId xmlns:a16="http://schemas.microsoft.com/office/drawing/2014/main" id="{8BBFEA6A-BADD-4309-B1F0-C0F096622E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90800" y="783165"/>
            <a:ext cx="5715000" cy="602753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716B2A8-C9C1-4B51-A2BF-3FB980B02E45}"/>
              </a:ext>
            </a:extLst>
          </p:cNvPr>
          <p:cNvSpPr txBox="1"/>
          <p:nvPr/>
        </p:nvSpPr>
        <p:spPr>
          <a:xfrm>
            <a:off x="76200" y="47296"/>
            <a:ext cx="7543800" cy="523220"/>
          </a:xfrm>
          <a:prstGeom prst="rect">
            <a:avLst/>
          </a:prstGeom>
          <a:noFill/>
        </p:spPr>
        <p:txBody>
          <a:bodyPr wrap="square">
            <a:spAutoFit/>
          </a:bodyPr>
          <a:lstStyle/>
          <a:p>
            <a:r>
              <a:rPr lang="en-US" sz="2800" dirty="0">
                <a:latin typeface="Arial" panose="020B0604020202020204" pitchFamily="34" charset="0"/>
                <a:cs typeface="Arial" panose="020B0604020202020204" pitchFamily="34" charset="0"/>
              </a:rPr>
              <a:t>Major and trace elements </a:t>
            </a:r>
            <a:endParaRPr lang="en-IN" sz="28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9815024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Rectangle 2">
            <a:extLst>
              <a:ext uri="{FF2B5EF4-FFF2-40B4-BE49-F238E27FC236}">
                <a16:creationId xmlns:a16="http://schemas.microsoft.com/office/drawing/2014/main" id="{58E19950-DAA4-4832-8756-1BE539796DA2}"/>
              </a:ext>
            </a:extLst>
          </p:cNvPr>
          <p:cNvSpPr>
            <a:spLocks noGrp="1" noChangeArrowheads="1"/>
          </p:cNvSpPr>
          <p:nvPr>
            <p:ph type="title"/>
          </p:nvPr>
        </p:nvSpPr>
        <p:spPr bwMode="auto">
          <a:xfrm>
            <a:off x="0" y="762000"/>
            <a:ext cx="9144000" cy="6273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gn="l" rtl="0" eaLnBrk="0" fontAlgn="base" hangingPunct="0">
              <a:lnSpc>
                <a:spcPct val="150000"/>
              </a:lnSpc>
              <a:spcBef>
                <a:spcPct val="0"/>
              </a:spcBef>
              <a:spcAft>
                <a:spcPct val="0"/>
              </a:spcAft>
              <a:buFontTx/>
              <a:buChar char="•"/>
            </a:pPr>
            <a:r>
              <a:rPr kumimoji="0" lang="en-US" altLang="en-US" sz="1800" b="1" i="0" u="none" strike="noStrike" cap="none" normalizeH="0" baseline="0" dirty="0">
                <a:ln>
                  <a:noFill/>
                </a:ln>
                <a:solidFill>
                  <a:schemeClr val="tx1"/>
                </a:solidFill>
                <a:effectLst/>
                <a:latin typeface="Arial" panose="020B0604020202020204" pitchFamily="34" charset="0"/>
              </a:rPr>
              <a:t>Elemental Composition</a:t>
            </a:r>
            <a:r>
              <a:rPr kumimoji="0" lang="en-US" altLang="en-US" sz="1800" b="0" i="0" u="none" strike="noStrike" cap="none" normalizeH="0" baseline="0" dirty="0">
                <a:ln>
                  <a:noFill/>
                </a:ln>
                <a:solidFill>
                  <a:schemeClr val="tx1"/>
                </a:solidFill>
                <a:effectLst/>
                <a:latin typeface="Arial" panose="020B0604020202020204" pitchFamily="34" charset="0"/>
              </a:rPr>
              <a:t>: Quantification of the various elements, both major (e.g., Si, Fe, Ca) and trace (e.g., Cd, Pb, Zn), present in environmental matrices. This is crucial for determining natural and anthropogenic inputs into ecosystems.</a:t>
            </a:r>
            <a:br>
              <a:rPr kumimoji="0" lang="en-US" altLang="en-US" sz="1800" b="0" i="0" u="none" strike="noStrike" cap="none" normalizeH="0" baseline="0" dirty="0">
                <a:ln>
                  <a:noFill/>
                </a:ln>
                <a:solidFill>
                  <a:schemeClr val="tx1"/>
                </a:solidFill>
                <a:effectLst/>
                <a:latin typeface="Arial" panose="020B0604020202020204" pitchFamily="34" charset="0"/>
              </a:rPr>
            </a:br>
            <a:br>
              <a:rPr kumimoji="0" lang="en-US" altLang="en-US" sz="1800" b="0" i="0" u="none" strike="noStrike" cap="none" normalizeH="0" baseline="0" dirty="0">
                <a:ln>
                  <a:noFill/>
                </a:ln>
                <a:solidFill>
                  <a:schemeClr val="tx1"/>
                </a:solidFill>
                <a:effectLst/>
                <a:latin typeface="Arial" panose="020B0604020202020204" pitchFamily="34" charset="0"/>
              </a:rPr>
            </a:br>
            <a:r>
              <a:rPr kumimoji="0" lang="en-US" altLang="en-US" sz="1800" b="1" i="0" u="none" strike="noStrike" cap="none" normalizeH="0" baseline="0" dirty="0">
                <a:ln>
                  <a:noFill/>
                </a:ln>
                <a:solidFill>
                  <a:schemeClr val="tx1"/>
                </a:solidFill>
                <a:effectLst/>
                <a:latin typeface="Arial" panose="020B0604020202020204" pitchFamily="34" charset="0"/>
              </a:rPr>
              <a:t>Mineral Composition</a:t>
            </a:r>
            <a:r>
              <a:rPr kumimoji="0" lang="en-US" altLang="en-US" sz="1800" b="0" i="0" u="none" strike="noStrike" cap="none" normalizeH="0" baseline="0" dirty="0">
                <a:ln>
                  <a:noFill/>
                </a:ln>
                <a:solidFill>
                  <a:schemeClr val="tx1"/>
                </a:solidFill>
                <a:effectLst/>
                <a:latin typeface="Arial" panose="020B0604020202020204" pitchFamily="34" charset="0"/>
              </a:rPr>
              <a:t>: Identifies and quantifies minerals in rocks, soils, and sediments. Understanding mineralogical composition helps in tracing geochemical processes and weathering history.</a:t>
            </a:r>
            <a:br>
              <a:rPr kumimoji="0" lang="en-US" altLang="en-US" sz="1800" b="0" i="0" u="none" strike="noStrike" cap="none" normalizeH="0" baseline="0" dirty="0">
                <a:ln>
                  <a:noFill/>
                </a:ln>
                <a:solidFill>
                  <a:schemeClr val="tx1"/>
                </a:solidFill>
                <a:effectLst/>
                <a:latin typeface="Arial" panose="020B0604020202020204" pitchFamily="34"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Isotope Ratios</a:t>
            </a:r>
            <a:r>
              <a:rPr kumimoji="0" lang="en-US" altLang="en-US" sz="1800" b="0" i="0" u="none" strike="noStrike" cap="none" normalizeH="0" baseline="0" dirty="0">
                <a:ln>
                  <a:noFill/>
                </a:ln>
                <a:solidFill>
                  <a:schemeClr val="tx1"/>
                </a:solidFill>
                <a:effectLst/>
                <a:latin typeface="Arial" panose="020B0604020202020204" pitchFamily="34" charset="0"/>
              </a:rPr>
              <a:t>: Used for age dating (e.g., radiocarbon dating) and tracing sources of materials or pollutants (e.g., distinguishing between sources of carbon in environmental samples).</a:t>
            </a:r>
            <a:br>
              <a:rPr kumimoji="0" lang="en-US" altLang="en-US" sz="1800" b="0" i="0" u="none" strike="noStrike" cap="none" normalizeH="0" baseline="0" dirty="0">
                <a:ln>
                  <a:noFill/>
                </a:ln>
                <a:solidFill>
                  <a:schemeClr val="tx1"/>
                </a:solidFill>
                <a:effectLst/>
                <a:latin typeface="Arial" panose="020B0604020202020204" pitchFamily="34" charset="0"/>
              </a:rPr>
            </a:br>
            <a:br>
              <a:rPr kumimoji="0" lang="en-US" altLang="en-US" sz="1800" b="0" i="0" u="none" strike="noStrike" cap="none" normalizeH="0" baseline="0" dirty="0">
                <a:ln>
                  <a:noFill/>
                </a:ln>
                <a:solidFill>
                  <a:schemeClr val="tx1"/>
                </a:solidFill>
                <a:effectLst/>
                <a:latin typeface="Arial" panose="020B0604020202020204" pitchFamily="34" charset="0"/>
              </a:rPr>
            </a:br>
            <a:r>
              <a:rPr kumimoji="0" lang="en-US" altLang="en-US" sz="1800" b="1" i="0" u="none" strike="noStrike" cap="none" normalizeH="0" baseline="0" dirty="0">
                <a:ln>
                  <a:noFill/>
                </a:ln>
                <a:solidFill>
                  <a:schemeClr val="tx1"/>
                </a:solidFill>
                <a:effectLst/>
                <a:latin typeface="Arial" panose="020B0604020202020204" pitchFamily="34" charset="0"/>
              </a:rPr>
              <a:t>pH</a:t>
            </a:r>
            <a:r>
              <a:rPr kumimoji="0" lang="en-US" altLang="en-US" sz="1800" b="0" i="0" u="none" strike="noStrike" cap="none" normalizeH="0" baseline="0" dirty="0">
                <a:ln>
                  <a:noFill/>
                </a:ln>
                <a:solidFill>
                  <a:schemeClr val="tx1"/>
                </a:solidFill>
                <a:effectLst/>
                <a:latin typeface="Arial" panose="020B0604020202020204" pitchFamily="34" charset="0"/>
              </a:rPr>
              <a:t>: Measures the acidity or alkalinity of an environment, affecting many biological and chemical processes. It is essential in soil, water, and sediment quality assessments.</a:t>
            </a:r>
            <a:br>
              <a:rPr kumimoji="0" lang="en-US" altLang="en-US" sz="1800" b="0" i="0" u="none" strike="noStrike" cap="none" normalizeH="0" baseline="0" dirty="0">
                <a:ln>
                  <a:noFill/>
                </a:ln>
                <a:solidFill>
                  <a:schemeClr val="tx1"/>
                </a:solidFill>
                <a:effectLst/>
                <a:latin typeface="Arial" panose="020B0604020202020204" pitchFamily="34"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7" name="TextBox 56">
            <a:extLst>
              <a:ext uri="{FF2B5EF4-FFF2-40B4-BE49-F238E27FC236}">
                <a16:creationId xmlns:a16="http://schemas.microsoft.com/office/drawing/2014/main" id="{524F2EFB-61F5-400A-99EA-3EAB56527480}"/>
              </a:ext>
            </a:extLst>
          </p:cNvPr>
          <p:cNvSpPr txBox="1"/>
          <p:nvPr/>
        </p:nvSpPr>
        <p:spPr>
          <a:xfrm>
            <a:off x="76200" y="47296"/>
            <a:ext cx="7543800" cy="523220"/>
          </a:xfrm>
          <a:prstGeom prst="rect">
            <a:avLst/>
          </a:prstGeom>
          <a:noFill/>
        </p:spPr>
        <p:txBody>
          <a:bodyPr wrap="square">
            <a:spAutoFit/>
          </a:bodyPr>
          <a:lstStyle/>
          <a:p>
            <a:r>
              <a:rPr lang="en-IN" sz="2800" dirty="0">
                <a:latin typeface="Arial" panose="020B0604020202020204" pitchFamily="34" charset="0"/>
                <a:cs typeface="Arial" panose="020B0604020202020204" pitchFamily="34" charset="0"/>
              </a:rPr>
              <a:t>Geochemical variables</a:t>
            </a:r>
          </a:p>
        </p:txBody>
      </p:sp>
    </p:spTree>
    <p:extLst>
      <p:ext uri="{BB962C8B-B14F-4D97-AF65-F5344CB8AC3E}">
        <p14:creationId xmlns:p14="http://schemas.microsoft.com/office/powerpoint/2010/main" val="33972138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475F3A8-8FBF-42B3-B50C-82B2C271B726}"/>
              </a:ext>
            </a:extLst>
          </p:cNvPr>
          <p:cNvSpPr txBox="1"/>
          <p:nvPr/>
        </p:nvSpPr>
        <p:spPr>
          <a:xfrm>
            <a:off x="152399" y="762000"/>
            <a:ext cx="8839201" cy="4611519"/>
          </a:xfrm>
          <a:prstGeom prst="rect">
            <a:avLst/>
          </a:prstGeom>
          <a:noFill/>
        </p:spPr>
        <p:txBody>
          <a:bodyPr wrap="square">
            <a:spAutoFit/>
          </a:bodyPr>
          <a:lstStyle/>
          <a:p>
            <a:pPr marL="0" marR="0" lvl="0" indent="0" algn="just" defTabSz="914400" rtl="0" eaLnBrk="0" fontAlgn="base" latinLnBrk="0" hangingPunct="0">
              <a:lnSpc>
                <a:spcPct val="15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Redox Potential (Eh)</a:t>
            </a:r>
            <a:r>
              <a:rPr kumimoji="0" lang="en-US" altLang="en-US" sz="1800" b="0" i="0" u="none" strike="noStrike" cap="none" normalizeH="0" baseline="0" dirty="0">
                <a:ln>
                  <a:noFill/>
                </a:ln>
                <a:solidFill>
                  <a:schemeClr val="tx1"/>
                </a:solidFill>
                <a:effectLst/>
                <a:latin typeface="Arial" panose="020B0604020202020204" pitchFamily="34" charset="0"/>
              </a:rPr>
              <a:t>: Indicates the oxidative or reductive state of a system, influencing the mobility of elements, including pollutants and nutrients. Important in groundwater and soil studies.</a:t>
            </a:r>
          </a:p>
          <a:p>
            <a:pPr marL="0" marR="0" lvl="0" indent="0" algn="just" defTabSz="914400" rtl="0" eaLnBrk="0" fontAlgn="base" latinLnBrk="0" hangingPunct="0">
              <a:lnSpc>
                <a:spcPct val="150000"/>
              </a:lnSpc>
              <a:spcBef>
                <a:spcPct val="0"/>
              </a:spcBef>
              <a:spcAft>
                <a:spcPct val="0"/>
              </a:spcAft>
              <a:buClrTx/>
              <a:buSzTx/>
              <a:buFontTx/>
              <a:buChar char="•"/>
              <a:tabLst/>
            </a:pPr>
            <a:r>
              <a:rPr kumimoji="0" lang="en-US" altLang="en-US" sz="1800" b="1" i="0" u="none" strike="noStrike" cap="none" normalizeH="0" baseline="0">
                <a:ln>
                  <a:noFill/>
                </a:ln>
                <a:solidFill>
                  <a:schemeClr val="tx1"/>
                </a:solidFill>
                <a:effectLst/>
                <a:latin typeface="Arial" panose="020B0604020202020204" pitchFamily="34" charset="0"/>
              </a:rPr>
              <a:t>Total </a:t>
            </a:r>
            <a:r>
              <a:rPr kumimoji="0" lang="en-US" altLang="en-US" sz="1800" b="1" i="0" u="none" strike="noStrike" cap="none" normalizeH="0" baseline="0" dirty="0">
                <a:ln>
                  <a:noFill/>
                </a:ln>
                <a:solidFill>
                  <a:schemeClr val="tx1"/>
                </a:solidFill>
                <a:effectLst/>
                <a:latin typeface="Arial" panose="020B0604020202020204" pitchFamily="34" charset="0"/>
              </a:rPr>
              <a:t>Organic Carbon (TOC)</a:t>
            </a:r>
            <a:r>
              <a:rPr kumimoji="0" lang="en-US" altLang="en-US" sz="1800" b="0" i="0" u="none" strike="noStrike" cap="none" normalizeH="0" baseline="0" dirty="0">
                <a:ln>
                  <a:noFill/>
                </a:ln>
                <a:solidFill>
                  <a:schemeClr val="tx1"/>
                </a:solidFill>
                <a:effectLst/>
                <a:latin typeface="Arial" panose="020B0604020202020204" pitchFamily="34" charset="0"/>
              </a:rPr>
              <a:t>: Total amount of carbon in organic form within a system, often used as a measure of organic matter content and environmental health.</a:t>
            </a:r>
          </a:p>
          <a:p>
            <a:pPr marL="0" marR="0" lvl="0" indent="0" algn="just" defTabSz="914400" rtl="0" eaLnBrk="0" fontAlgn="base" latinLnBrk="0" hangingPunct="0">
              <a:lnSpc>
                <a:spcPct val="15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Nutrient Levels</a:t>
            </a:r>
            <a:r>
              <a:rPr kumimoji="0" lang="en-US" altLang="en-US" sz="1800" b="0" i="0" u="none" strike="noStrike" cap="none" normalizeH="0" baseline="0" dirty="0">
                <a:ln>
                  <a:noFill/>
                </a:ln>
                <a:solidFill>
                  <a:schemeClr val="tx1"/>
                </a:solidFill>
                <a:effectLst/>
                <a:latin typeface="Arial" panose="020B0604020202020204" pitchFamily="34" charset="0"/>
              </a:rPr>
              <a:t>: Concentrations of nutrients like nitrogen (N), phosphorus (P), and sulfur (S), which are key to understanding ecosystem productivity and health, as well as nutrient pollution.</a:t>
            </a:r>
          </a:p>
          <a:p>
            <a:pPr marL="0" marR="0" lvl="0" indent="0" algn="just" defTabSz="914400" rtl="0" eaLnBrk="0" fontAlgn="base" latinLnBrk="0" hangingPunct="0">
              <a:lnSpc>
                <a:spcPct val="15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Saturation Indices</a:t>
            </a:r>
            <a:r>
              <a:rPr kumimoji="0" lang="en-US" altLang="en-US" sz="1800" b="0" i="0" u="none" strike="noStrike" cap="none" normalizeH="0" baseline="0" dirty="0">
                <a:ln>
                  <a:noFill/>
                </a:ln>
                <a:solidFill>
                  <a:schemeClr val="tx1"/>
                </a:solidFill>
                <a:effectLst/>
                <a:latin typeface="Arial" panose="020B0604020202020204" pitchFamily="34" charset="0"/>
              </a:rPr>
              <a:t>: Indicates the tendency of a mineral to precipitate or dissolve in a given environment. This is important for understanding mineral deposition or the dissolution of minerals in water bodies.</a:t>
            </a:r>
          </a:p>
        </p:txBody>
      </p:sp>
      <p:sp>
        <p:nvSpPr>
          <p:cNvPr id="7" name="TextBox 6">
            <a:extLst>
              <a:ext uri="{FF2B5EF4-FFF2-40B4-BE49-F238E27FC236}">
                <a16:creationId xmlns:a16="http://schemas.microsoft.com/office/drawing/2014/main" id="{D5DAE049-9600-40CF-8D37-F335EF5DC868}"/>
              </a:ext>
            </a:extLst>
          </p:cNvPr>
          <p:cNvSpPr txBox="1"/>
          <p:nvPr/>
        </p:nvSpPr>
        <p:spPr>
          <a:xfrm>
            <a:off x="76200" y="47296"/>
            <a:ext cx="7543800" cy="523220"/>
          </a:xfrm>
          <a:prstGeom prst="rect">
            <a:avLst/>
          </a:prstGeom>
          <a:noFill/>
        </p:spPr>
        <p:txBody>
          <a:bodyPr wrap="square">
            <a:spAutoFit/>
          </a:bodyPr>
          <a:lstStyle/>
          <a:p>
            <a:r>
              <a:rPr lang="en-IN" sz="2800" dirty="0">
                <a:latin typeface="Arial" panose="020B0604020202020204" pitchFamily="34" charset="0"/>
                <a:cs typeface="Arial" panose="020B0604020202020204" pitchFamily="34" charset="0"/>
              </a:rPr>
              <a:t>Geochemical variables</a:t>
            </a:r>
          </a:p>
        </p:txBody>
      </p:sp>
    </p:spTree>
    <p:extLst>
      <p:ext uri="{BB962C8B-B14F-4D97-AF65-F5344CB8AC3E}">
        <p14:creationId xmlns:p14="http://schemas.microsoft.com/office/powerpoint/2010/main" val="256845755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526</TotalTime>
  <Words>1397</Words>
  <Application>Microsoft Office PowerPoint</Application>
  <PresentationFormat>On-screen Show (4:3)</PresentationFormat>
  <Paragraphs>86</Paragraphs>
  <Slides>20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Arial</vt:lpstr>
      <vt:lpstr>Manrope Var</vt:lpstr>
      <vt:lpstr>Times New Roman</vt:lpstr>
      <vt:lpstr>Wingdings</vt:lpstr>
      <vt:lpstr>Office Theme</vt:lpstr>
      <vt:lpstr>EES203: Geochemistry </vt:lpstr>
      <vt:lpstr>Geo-chemistry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Elemental Composition: Quantification of the various elements, both major (e.g., Si, Fe, Ca) and trace (e.g., Cd, Pb, Zn), present in environmental matrices. This is crucial for determining natural and anthropogenic inputs into ecosystems.  Mineral Composition: Identifies and quantifies minerals in rocks, soils, and sediments. Understanding mineralogical composition helps in tracing geochemical processes and weathering history.  Isotope Ratios: Used for age dating (e.g., radiocarbon dating) and tracing sources of materials or pollutants (e.g., distinguishing between sources of carbon in environmental samples).  pH: Measures the acidity or alkalinity of an environment, affecting many biological and chemical processes. It is essential in soil, water, and sediment quality assessments. </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EES636: The quarternary period-environments, animals adaptations during the last 2.5 million years</dc:title>
  <dc:creator>shubhra sharma</dc:creator>
  <cp:lastModifiedBy>Dell</cp:lastModifiedBy>
  <cp:revision>32</cp:revision>
  <dcterms:created xsi:type="dcterms:W3CDTF">2025-01-06T08:54:24Z</dcterms:created>
  <dcterms:modified xsi:type="dcterms:W3CDTF">2025-01-13T11:22:22Z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2021-01-05T00:00:00Z</vt:filetime>
  </property>
  <property fmtid="{D5CDD505-2E9C-101B-9397-08002B2CF9AE}" pid="3" name="Creator">
    <vt:lpwstr>Microsoft® Office PowerPoint® 2007</vt:lpwstr>
  </property>
  <property fmtid="{D5CDD505-2E9C-101B-9397-08002B2CF9AE}" pid="4" name="LastSaved">
    <vt:filetime>2025-01-06T00:00:00Z</vt:filetime>
  </property>
  <property fmtid="{D5CDD505-2E9C-101B-9397-08002B2CF9AE}" pid="5" name="Producer">
    <vt:lpwstr>Microsoft® Office PowerPoint® 2007</vt:lpwstr>
  </property>
</Properties>
</file>