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6" r:id="rId2"/>
    <p:sldId id="622" r:id="rId3"/>
    <p:sldId id="464" r:id="rId4"/>
    <p:sldId id="314" r:id="rId5"/>
    <p:sldId id="413" r:id="rId6"/>
    <p:sldId id="414" r:id="rId7"/>
    <p:sldId id="415" r:id="rId8"/>
    <p:sldId id="623" r:id="rId9"/>
    <p:sldId id="424" r:id="rId10"/>
    <p:sldId id="425" r:id="rId11"/>
    <p:sldId id="426" r:id="rId12"/>
    <p:sldId id="431" r:id="rId13"/>
    <p:sldId id="432" r:id="rId14"/>
    <p:sldId id="433" r:id="rId15"/>
    <p:sldId id="434" r:id="rId16"/>
    <p:sldId id="435" r:id="rId17"/>
    <p:sldId id="436" r:id="rId18"/>
    <p:sldId id="486" r:id="rId19"/>
    <p:sldId id="490" r:id="rId20"/>
    <p:sldId id="492" r:id="rId21"/>
    <p:sldId id="493" r:id="rId22"/>
    <p:sldId id="494" r:id="rId23"/>
    <p:sldId id="495" r:id="rId24"/>
    <p:sldId id="496" r:id="rId25"/>
    <p:sldId id="497" r:id="rId26"/>
    <p:sldId id="498" r:id="rId27"/>
    <p:sldId id="499" r:id="rId28"/>
    <p:sldId id="501" r:id="rId29"/>
    <p:sldId id="502" r:id="rId30"/>
    <p:sldId id="503" r:id="rId31"/>
    <p:sldId id="504" r:id="rId32"/>
    <p:sldId id="505" r:id="rId33"/>
    <p:sldId id="506" r:id="rId34"/>
    <p:sldId id="507" r:id="rId35"/>
    <p:sldId id="508" r:id="rId36"/>
    <p:sldId id="509" r:id="rId37"/>
    <p:sldId id="510" r:id="rId38"/>
    <p:sldId id="513" r:id="rId39"/>
    <p:sldId id="514" r:id="rId40"/>
    <p:sldId id="515" r:id="rId41"/>
    <p:sldId id="516" r:id="rId42"/>
    <p:sldId id="517" r:id="rId4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75" autoAdjust="0"/>
    <p:restoredTop sz="93690" autoAdjust="0"/>
  </p:normalViewPr>
  <p:slideViewPr>
    <p:cSldViewPr>
      <p:cViewPr varScale="1">
        <p:scale>
          <a:sx n="61" d="100"/>
          <a:sy n="61" d="100"/>
        </p:scale>
        <p:origin x="138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48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12BC94-826C-44CC-9139-4D8AF4CCD7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5DB217-5036-48E7-9F80-D8568EC4E5C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4495E4C6-17AD-4BA4-85ED-1CEF5353A859}" type="datetimeFigureOut">
              <a:rPr lang="en-IN"/>
              <a:pPr>
                <a:defRPr/>
              </a:pPr>
              <a:t>26-03-2025</a:t>
            </a:fld>
            <a:endParaRPr lang="en-IN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E099106-0BB6-43A6-A3E2-09D734B298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FBCB12F-E21B-4BB3-98A4-F84DE79422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B2BC49-BC64-4703-B80A-9476428F948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FD10B2-65DA-4A6A-9411-A7CE5F94A9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A50488F-DB6A-40AC-8FA4-772BF47F0323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F5A8C962-D915-4D9F-B961-031319A827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B19A5526-4A14-456F-89E3-BE4827FA2E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87A4CE63-ABBF-4899-8A3B-AEF5ED7F65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3946B05D-4808-4606-B436-91FD96115B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BEE118F-D257-4318-A3A2-EECA19410B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C97103C-CE56-4C35-B5D2-E932D10544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31569ED-472A-4591-B1C8-91A8AA55F4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1EFD36-5984-457D-BADD-B4A3F349C23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4979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C13EFD9-AB6D-434D-BC2E-8B73CC13FE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B0ED277-8375-4E95-B412-94EF1677FA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71C59AB-1EAD-4FD8-95DC-AD356CFA4F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6D8436-06A3-43A4-BA5B-8AF70AEB64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7548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924E2C6-9E75-43EE-99CD-453E04C865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5018E45-3328-444D-8796-75B3B701D1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16A509-F4A7-48F3-809D-CBD23ED80F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974763-CD29-4242-A606-D01C110AD1A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6014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060A66-D792-4197-A450-15640D1F3C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39D150-B008-4810-A642-BB58C29B57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ECF246-2CD9-4EFD-B3F8-DA766CBABF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343884-E97C-43AC-91BE-818B2A6132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2149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95DB130-3059-4B58-BDA5-BD072F56A8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754EE56-C6A2-4D14-AF3C-BAE635180F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24C1A1F-C41E-4454-A02E-BDE2567839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52C66B-8C25-4FE5-81EA-D279F10B6BD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1131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073D249-74BA-4FC7-9180-228CFD77E1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DD93F01-8B96-4D54-88E5-CA53B833D8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D2D4A28-53D6-497F-985F-B1CEC7D70C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ABF0EF-67B1-4AA0-81ED-91DE03744A4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3460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793C45B-F71B-46A7-A2A8-FEA3D83007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E0F0BA5-4205-4DA9-8FA1-D723A7B5DE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AB7F91C-3F88-4469-8440-DA0A8B7F57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39F030-B1DE-440E-85E3-A637DEB7A7C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8886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462272-BBA7-43EA-9594-79B56445FE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19C3EE-B0C4-43D8-8138-EBD6BB89F0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8D149F-91B7-4D2A-80E9-143AB91277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B7294A-24AF-420B-8505-410263194C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6298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011047-FFB1-4281-8AA7-C67D7FC172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A64777-0A6E-44A1-9A52-089347C955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066FD0-7FB1-4473-9F5A-052CDF76D2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4B33AA-D7D6-4AF9-8507-39A6605B27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2510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E3C6A4-4B1A-4C68-BC9E-108062B1B4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C1AA137-5DE1-4D94-A5C4-663255771B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A788E28-AD11-4AD1-9E0C-EB1CB0AB2E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07F969-126B-4625-93B3-22279DA28B6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355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9EFAED9-FCC2-4312-9DB9-099CCCC9F0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F9ABCCB-6606-4ED6-BC8F-C27228E260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B9E9A27-7F1E-4BB5-A7E3-48D09E2086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CD6217-5208-4DAE-8F2B-4AF241D0CE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08883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860734-F86E-485B-BE6F-D403DEB855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62688C-8C09-49D2-A3CF-4C4EFFBA9D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977806-7D51-41C3-94F1-95ECDE1BC9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EAD34F-7ECA-488C-A8FC-C0C1447E899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84702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endParaRPr lang="en-IN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6E3B21-9DDA-4FAF-8452-B0EFA960C3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FC52A2-EE11-4000-BC5D-3C13454682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ABEACE-6FB7-4B99-9A67-9CEBD7FFC9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2F27C2-0E5F-4AAB-8874-A93956E577B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830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E5B2030-82C9-44DC-877E-5851501067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9A63B46-2CC7-4C4C-B290-7BAAA1F63A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FAE760F-22F1-45C9-8239-30305B70D9B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D35B8D3-8F19-4A2C-AD58-BE3E89625A4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8A7449-CC58-4CEF-AE5E-3A0514B9DB2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5A6E29DF-0E91-4F06-8705-C054EB6BBD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noop@iisermohali.ac.in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oleObject" Target="../embeddings/oleObject1.bin"/><Relationship Id="rId7" Type="http://schemas.openxmlformats.org/officeDocument/2006/relationships/image" Target="../media/image6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8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2.w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8EF3740-78F8-4AF7-B9C0-B2112BDC18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1295400"/>
            <a:ext cx="7459663" cy="641350"/>
          </a:xfrm>
        </p:spPr>
        <p:txBody>
          <a:bodyPr lIns="0" tIns="38100" rIns="0" bIns="0">
            <a:spAutoFit/>
          </a:bodyPr>
          <a:lstStyle/>
          <a:p>
            <a:pPr marL="1901825" indent="-1889125">
              <a:lnSpc>
                <a:spcPts val="4700"/>
              </a:lnSpc>
              <a:spcBef>
                <a:spcPts val="300"/>
              </a:spcBef>
            </a:pPr>
            <a:r>
              <a:rPr lang="en-IN" altLang="en-US">
                <a:solidFill>
                  <a:srgbClr val="000000"/>
                </a:solidFill>
              </a:rPr>
              <a:t>EES203: Geochemistry </a:t>
            </a:r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56A1D54-95EB-4BB2-BAD9-B64ADC3C8E58}"/>
              </a:ext>
            </a:extLst>
          </p:cNvPr>
          <p:cNvSpPr txBox="1"/>
          <p:nvPr/>
        </p:nvSpPr>
        <p:spPr>
          <a:xfrm>
            <a:off x="1555750" y="2133600"/>
            <a:ext cx="7848600" cy="1198563"/>
          </a:xfrm>
          <a:prstGeom prst="rect">
            <a:avLst/>
          </a:prstGeom>
        </p:spPr>
        <p:txBody>
          <a:bodyPr lIns="0" tIns="110490" rIns="0" bIns="0">
            <a:spAutoFit/>
          </a:bodyPr>
          <a:lstStyle/>
          <a:p>
            <a:pPr marL="12700">
              <a:spcBef>
                <a:spcPts val="765"/>
              </a:spcBef>
              <a:defRPr/>
            </a:pPr>
            <a:r>
              <a:rPr sz="3200" dirty="0">
                <a:latin typeface="Times New Roman"/>
                <a:cs typeface="Times New Roman"/>
              </a:rPr>
              <a:t>Instructor:</a:t>
            </a:r>
            <a:r>
              <a:rPr sz="3200" spc="-2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Anoop</a:t>
            </a:r>
            <a:r>
              <a:rPr sz="3200" spc="-19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Ambili</a:t>
            </a:r>
            <a:endParaRPr lang="en-IN" sz="3200" spc="-10" dirty="0">
              <a:latin typeface="Times New Roman"/>
              <a:cs typeface="Times New Roman"/>
            </a:endParaRPr>
          </a:p>
          <a:p>
            <a:pPr marL="12700">
              <a:spcBef>
                <a:spcPts val="770"/>
              </a:spcBef>
              <a:defRPr/>
            </a:pPr>
            <a:r>
              <a:rPr sz="3200" dirty="0">
                <a:latin typeface="Times New Roman"/>
                <a:cs typeface="Times New Roman"/>
              </a:rPr>
              <a:t>Email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id: </a:t>
            </a:r>
            <a:r>
              <a:rPr sz="3200" spc="-10" dirty="0">
                <a:latin typeface="Times New Roman"/>
                <a:cs typeface="Times New Roman"/>
                <a:hlinkClick r:id="rId2"/>
              </a:rPr>
              <a:t>anoop@iisermohali.ac.in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CDC74B-4B88-4E67-9C9F-5A108246EF9A}"/>
              </a:ext>
            </a:extLst>
          </p:cNvPr>
          <p:cNvSpPr txBox="1"/>
          <p:nvPr/>
        </p:nvSpPr>
        <p:spPr>
          <a:xfrm>
            <a:off x="2133600" y="243840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chemeClr val="accent2"/>
                </a:solidFill>
                <a:cs typeface="Arial" panose="020B0604020202020204" pitchFamily="34" charset="0"/>
              </a:rPr>
              <a:t>Isotope geochemistry</a:t>
            </a:r>
          </a:p>
        </p:txBody>
      </p:sp>
    </p:spTree>
    <p:extLst>
      <p:ext uri="{BB962C8B-B14F-4D97-AF65-F5344CB8AC3E}">
        <p14:creationId xmlns:p14="http://schemas.microsoft.com/office/powerpoint/2010/main" val="2770207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>
            <a:extLst>
              <a:ext uri="{FF2B5EF4-FFF2-40B4-BE49-F238E27FC236}">
                <a16:creationId xmlns:a16="http://schemas.microsoft.com/office/drawing/2014/main" id="{F129C638-BF49-46DB-935E-33539BD320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5700" y="2565400"/>
            <a:ext cx="6818313" cy="257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400" dirty="0">
                <a:solidFill>
                  <a:schemeClr val="accent2"/>
                </a:solidFill>
              </a:rPr>
              <a:t>Stable Isotopes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4400" b="1" dirty="0">
              <a:solidFill>
                <a:schemeClr val="accent2"/>
              </a:solidFill>
            </a:endParaRPr>
          </a:p>
          <a:p>
            <a:pPr algn="ctr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dirty="0"/>
              <a:t>Principles of stable isotope fractionation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chemeClr val="accent2"/>
                </a:solidFill>
              </a:rPr>
              <a:t>				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chemeClr val="accent2"/>
                </a:solidFill>
              </a:rPr>
              <a:t>						</a:t>
            </a:r>
          </a:p>
        </p:txBody>
      </p:sp>
      <p:sp>
        <p:nvSpPr>
          <p:cNvPr id="4099" name="Text Box 3">
            <a:extLst>
              <a:ext uri="{FF2B5EF4-FFF2-40B4-BE49-F238E27FC236}">
                <a16:creationId xmlns:a16="http://schemas.microsoft.com/office/drawing/2014/main" id="{99FADBDD-17C9-4927-B771-7BCE6EE45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325" y="1630363"/>
            <a:ext cx="1841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AB03EAA-08C0-49A5-B45B-936ED28420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2192338" y="115888"/>
            <a:ext cx="7772401" cy="685800"/>
          </a:xfrm>
        </p:spPr>
        <p:txBody>
          <a:bodyPr/>
          <a:lstStyle/>
          <a:p>
            <a:r>
              <a:rPr lang="en-US" altLang="en-US" sz="3200">
                <a:solidFill>
                  <a:schemeClr val="accent2"/>
                </a:solidFill>
              </a:rPr>
              <a:t>Stable isotopes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339959F-0DAE-46B1-A5EF-914A32BE49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2924175"/>
            <a:ext cx="7772400" cy="4572000"/>
          </a:xfrm>
        </p:spPr>
        <p:txBody>
          <a:bodyPr/>
          <a:lstStyle/>
          <a:p>
            <a:r>
              <a:rPr lang="en-US" altLang="en-US" sz="2200"/>
              <a:t>Many elements of low atomic weight have two or more stable isotopes, e.g.:</a:t>
            </a:r>
          </a:p>
          <a:p>
            <a:pPr>
              <a:buFontTx/>
              <a:buNone/>
            </a:pPr>
            <a:r>
              <a:rPr lang="en-US" altLang="en-US" sz="2200"/>
              <a:t>	Hydrogen - H, D, T	Carbon - </a:t>
            </a:r>
            <a:r>
              <a:rPr lang="en-US" altLang="en-US" sz="2200" baseline="30000"/>
              <a:t>12</a:t>
            </a:r>
            <a:r>
              <a:rPr lang="en-US" altLang="en-US" sz="2200"/>
              <a:t>C, </a:t>
            </a:r>
            <a:r>
              <a:rPr lang="en-US" altLang="en-US" sz="2200" baseline="30000"/>
              <a:t>13</a:t>
            </a:r>
            <a:r>
              <a:rPr lang="en-US" altLang="en-US" sz="2200"/>
              <a:t>C</a:t>
            </a:r>
          </a:p>
          <a:p>
            <a:pPr>
              <a:buFontTx/>
              <a:buNone/>
            </a:pPr>
            <a:r>
              <a:rPr lang="en-US" altLang="en-US" sz="2200"/>
              <a:t>	Nitrogen - </a:t>
            </a:r>
            <a:r>
              <a:rPr lang="en-US" altLang="en-US" sz="2200" baseline="30000"/>
              <a:t>14</a:t>
            </a:r>
            <a:r>
              <a:rPr lang="en-US" altLang="en-US" sz="2200"/>
              <a:t>N, </a:t>
            </a:r>
            <a:r>
              <a:rPr lang="en-US" altLang="en-US" sz="2200" baseline="30000"/>
              <a:t>15</a:t>
            </a:r>
            <a:r>
              <a:rPr lang="en-US" altLang="en-US" sz="2200"/>
              <a:t>N		Oxygen - </a:t>
            </a:r>
            <a:r>
              <a:rPr lang="en-US" altLang="en-US" sz="2200" baseline="30000"/>
              <a:t>16</a:t>
            </a:r>
            <a:r>
              <a:rPr lang="en-US" altLang="en-US" sz="2200"/>
              <a:t>O, </a:t>
            </a:r>
            <a:r>
              <a:rPr lang="en-US" altLang="en-US" sz="2200" baseline="30000"/>
              <a:t>17</a:t>
            </a:r>
            <a:r>
              <a:rPr lang="en-US" altLang="en-US" sz="2200"/>
              <a:t>O, </a:t>
            </a:r>
            <a:r>
              <a:rPr lang="en-US" altLang="en-US" sz="2200" baseline="30000"/>
              <a:t>18</a:t>
            </a:r>
            <a:r>
              <a:rPr lang="en-US" altLang="en-US" sz="2200"/>
              <a:t>O</a:t>
            </a:r>
          </a:p>
          <a:p>
            <a:pPr>
              <a:buFontTx/>
              <a:buNone/>
            </a:pPr>
            <a:r>
              <a:rPr lang="en-US" altLang="en-US" sz="2200"/>
              <a:t>	Sulfur - </a:t>
            </a:r>
            <a:r>
              <a:rPr lang="en-US" altLang="en-US" sz="2200" baseline="30000"/>
              <a:t>32</a:t>
            </a:r>
            <a:r>
              <a:rPr lang="en-US" altLang="en-US" sz="2200"/>
              <a:t>S, </a:t>
            </a:r>
            <a:r>
              <a:rPr lang="en-US" altLang="en-US" sz="2200" baseline="30000"/>
              <a:t>33</a:t>
            </a:r>
            <a:r>
              <a:rPr lang="en-US" altLang="en-US" sz="2200"/>
              <a:t>S, </a:t>
            </a:r>
            <a:r>
              <a:rPr lang="en-US" altLang="en-US" sz="2200" baseline="30000"/>
              <a:t>34</a:t>
            </a:r>
            <a:r>
              <a:rPr lang="en-US" altLang="en-US" sz="2200"/>
              <a:t>S, </a:t>
            </a:r>
            <a:r>
              <a:rPr lang="en-US" altLang="en-US" sz="2200" baseline="30000"/>
              <a:t>35</a:t>
            </a:r>
            <a:r>
              <a:rPr lang="en-US" altLang="en-US" sz="2200"/>
              <a:t>S</a:t>
            </a:r>
          </a:p>
          <a:p>
            <a:pPr>
              <a:buFontTx/>
              <a:buNone/>
            </a:pPr>
            <a:endParaRPr lang="en-US" altLang="en-US" sz="2200"/>
          </a:p>
          <a:p>
            <a:pPr>
              <a:lnSpc>
                <a:spcPct val="150000"/>
              </a:lnSpc>
            </a:pPr>
            <a:r>
              <a:rPr lang="en-US" altLang="en-US" sz="2200"/>
              <a:t>The different masses cause isotopes to behave differently in physical and chemical processes. </a:t>
            </a:r>
          </a:p>
        </p:txBody>
      </p:sp>
      <p:sp>
        <p:nvSpPr>
          <p:cNvPr id="5124" name="Text Box 3">
            <a:extLst>
              <a:ext uri="{FF2B5EF4-FFF2-40B4-BE49-F238E27FC236}">
                <a16:creationId xmlns:a16="http://schemas.microsoft.com/office/drawing/2014/main" id="{58B51985-D67E-4913-93B4-B18D7826E7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052513"/>
            <a:ext cx="8066087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200" b="1"/>
              <a:t>Stable Isotope geochemistry </a:t>
            </a:r>
            <a:r>
              <a:rPr lang="en-US" altLang="en-US" sz="2200"/>
              <a:t>is concerned with variations of the isotopic compositions of elements arising from physicochemical processes.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6B6A6889-3E61-4052-B68B-CA4F0534D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2205038"/>
            <a:ext cx="583882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</a:rPr>
              <a:t>What are isotopes?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B37373E7-59EE-48B4-AF2C-DD39F9107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088" y="474663"/>
            <a:ext cx="8016875" cy="33855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</a:rPr>
              <a:t>History of Isotopy:</a:t>
            </a:r>
          </a:p>
          <a:p>
            <a:pPr>
              <a:defRPr/>
            </a:pPr>
            <a:endParaRPr lang="en-US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+mn-lt"/>
              </a:rPr>
              <a:t>1914 Fredrick Soddy proposed that any place on periodic table can be occupied by more than one kind of atom</a:t>
            </a:r>
          </a:p>
          <a:p>
            <a:pPr>
              <a:spcBef>
                <a:spcPct val="20000"/>
              </a:spcBef>
              <a:buFontTx/>
              <a:buChar char="•"/>
              <a:defRPr/>
            </a:pPr>
            <a:endParaRPr lang="en-US" dirty="0">
              <a:latin typeface="+mn-lt"/>
            </a:endParaRPr>
          </a:p>
          <a:p>
            <a:pPr lvl="1">
              <a:spcBef>
                <a:spcPct val="20000"/>
              </a:spcBef>
              <a:defRPr/>
            </a:pPr>
            <a:r>
              <a:rPr lang="en-US" dirty="0">
                <a:latin typeface="+mn-lt"/>
              </a:rPr>
              <a:t>He proposed </a:t>
            </a:r>
            <a:r>
              <a:rPr lang="en-US" b="1" i="1" dirty="0">
                <a:latin typeface="+mn-lt"/>
              </a:rPr>
              <a:t>isotope</a:t>
            </a:r>
            <a:r>
              <a:rPr lang="en-US" i="1" dirty="0">
                <a:latin typeface="+mn-lt"/>
              </a:rPr>
              <a:t> </a:t>
            </a:r>
            <a:r>
              <a:rPr lang="en-US" dirty="0">
                <a:latin typeface="+mn-lt"/>
              </a:rPr>
              <a:t>---- meaning “same place”</a:t>
            </a:r>
          </a:p>
          <a:p>
            <a:pPr lvl="1">
              <a:spcBef>
                <a:spcPct val="20000"/>
              </a:spcBef>
              <a:defRPr/>
            </a:pPr>
            <a:r>
              <a:rPr lang="en-US" b="1" dirty="0">
                <a:latin typeface="+mn-lt"/>
              </a:rPr>
              <a:t>Isotopes </a:t>
            </a:r>
            <a:r>
              <a:rPr lang="en-US" b="1" dirty="0">
                <a:latin typeface="+mn-lt"/>
                <a:sym typeface="Symbol" pitchFamily="18" charset="2"/>
              </a:rPr>
              <a:t> Nuclides </a:t>
            </a:r>
            <a:r>
              <a:rPr lang="en-US" dirty="0">
                <a:latin typeface="+mn-lt"/>
                <a:sym typeface="Symbol" pitchFamily="18" charset="2"/>
              </a:rPr>
              <a:t>of single element having different atomic weights</a:t>
            </a:r>
            <a:endParaRPr lang="en-US" dirty="0">
              <a:solidFill>
                <a:schemeClr val="tx2"/>
              </a:solidFill>
              <a:latin typeface="+mn-lt"/>
              <a:sym typeface="Symbol" pitchFamily="18" charset="2"/>
            </a:endParaRPr>
          </a:p>
          <a:p>
            <a:pPr lvl="1">
              <a:spcBef>
                <a:spcPct val="20000"/>
              </a:spcBef>
              <a:buFontTx/>
              <a:buChar char="–"/>
              <a:defRPr/>
            </a:pPr>
            <a:endParaRPr lang="en-US" dirty="0">
              <a:solidFill>
                <a:schemeClr val="tx2"/>
              </a:solidFill>
              <a:latin typeface="+mn-lt"/>
            </a:endParaRPr>
          </a:p>
          <a:p>
            <a:pPr>
              <a:spcBef>
                <a:spcPct val="20000"/>
              </a:spcBef>
              <a:buFontTx/>
              <a:buChar char="•"/>
              <a:defRPr/>
            </a:pPr>
            <a:r>
              <a:rPr lang="en-US" b="1" dirty="0">
                <a:solidFill>
                  <a:schemeClr val="accent2"/>
                </a:solidFill>
                <a:latin typeface="+mn-lt"/>
              </a:rPr>
              <a:t>Presently more than 2500 nuclides are known from ~110 elements</a:t>
            </a:r>
            <a:endParaRPr lang="en-US" sz="2000" b="1" dirty="0">
              <a:solidFill>
                <a:schemeClr val="hlink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7" descr="sm1">
            <a:extLst>
              <a:ext uri="{FF2B5EF4-FFF2-40B4-BE49-F238E27FC236}">
                <a16:creationId xmlns:a16="http://schemas.microsoft.com/office/drawing/2014/main" id="{152E5D3C-9CD4-4B97-AC76-584D7349E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280988"/>
            <a:ext cx="8382000" cy="634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9033" name="Oval 9">
            <a:extLst>
              <a:ext uri="{FF2B5EF4-FFF2-40B4-BE49-F238E27FC236}">
                <a16:creationId xmlns:a16="http://schemas.microsoft.com/office/drawing/2014/main" id="{A96DDDD8-C595-417F-BDA1-4A5F14725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8850" y="1828800"/>
            <a:ext cx="3556000" cy="4419600"/>
          </a:xfrm>
          <a:prstGeom prst="ellipse">
            <a:avLst/>
          </a:prstGeom>
          <a:noFill/>
          <a:ln w="28575">
            <a:solidFill>
              <a:srgbClr val="008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IN" altLang="en-US" sz="2400"/>
          </a:p>
        </p:txBody>
      </p:sp>
      <p:sp>
        <p:nvSpPr>
          <p:cNvPr id="8196" name="Rectangle 10">
            <a:extLst>
              <a:ext uri="{FF2B5EF4-FFF2-40B4-BE49-F238E27FC236}">
                <a16:creationId xmlns:a16="http://schemas.microsoft.com/office/drawing/2014/main" id="{AC6CFDAF-05E8-43F6-8F83-F50CA00A7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13" y="133350"/>
            <a:ext cx="8620125" cy="1093788"/>
          </a:xfrm>
          <a:prstGeom prst="rect">
            <a:avLst/>
          </a:pr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IN" altLang="en-US" sz="2400"/>
          </a:p>
        </p:txBody>
      </p:sp>
      <p:sp>
        <p:nvSpPr>
          <p:cNvPr id="129026" name="Text Box 2">
            <a:extLst>
              <a:ext uri="{FF2B5EF4-FFF2-40B4-BE49-F238E27FC236}">
                <a16:creationId xmlns:a16="http://schemas.microsoft.com/office/drawing/2014/main" id="{4E26B773-A26C-46E8-AB85-BAEAA9BFCE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563" y="77788"/>
            <a:ext cx="8410575" cy="58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 b="1" u="sng">
                <a:effectLst>
                  <a:outerShdw blurRad="38100" dist="38100" dir="2700000" algn="tl">
                    <a:srgbClr val="FFFFFF"/>
                  </a:outerShdw>
                </a:effectLst>
                <a:latin typeface="Comic Sans MS" charset="0"/>
              </a:rPr>
              <a:t>To be or not to be? - A stable isotope that is!</a:t>
            </a:r>
            <a:endParaRPr lang="en-US">
              <a:latin typeface="Comic Sans MS" charset="0"/>
            </a:endParaRPr>
          </a:p>
        </p:txBody>
      </p:sp>
      <p:sp>
        <p:nvSpPr>
          <p:cNvPr id="129032" name="Oval 8">
            <a:extLst>
              <a:ext uri="{FF2B5EF4-FFF2-40B4-BE49-F238E27FC236}">
                <a16:creationId xmlns:a16="http://schemas.microsoft.com/office/drawing/2014/main" id="{D44E1077-9C5D-4D87-952E-E03BA295E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7275" y="1249363"/>
            <a:ext cx="4419600" cy="4648200"/>
          </a:xfrm>
          <a:prstGeom prst="ellipse">
            <a:avLst/>
          </a:prstGeom>
          <a:noFill/>
          <a:ln w="28575">
            <a:solidFill>
              <a:srgbClr val="FF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I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9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9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33" grpId="0" animBg="1"/>
      <p:bldP spid="12903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67C9F7-FF64-4F70-AE06-1310B4E7A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52400"/>
            <a:ext cx="7358191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74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3F5A42EF-6E3A-4240-89EF-2891D9489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375" y="2133600"/>
            <a:ext cx="8477250" cy="1478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sz="32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</a:rPr>
              <a:t>What isotopes are used in geological applications?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842" name="Group 578">
            <a:extLst>
              <a:ext uri="{FF2B5EF4-FFF2-40B4-BE49-F238E27FC236}">
                <a16:creationId xmlns:a16="http://schemas.microsoft.com/office/drawing/2014/main" id="{34694DA5-6ACB-4388-A962-F1F85DE0642C}"/>
              </a:ext>
            </a:extLst>
          </p:cNvPr>
          <p:cNvGraphicFramePr>
            <a:graphicFrameLocks noGrp="1"/>
          </p:cNvGraphicFramePr>
          <p:nvPr/>
        </p:nvGraphicFramePr>
        <p:xfrm>
          <a:off x="215900" y="1338263"/>
          <a:ext cx="2714625" cy="5343518"/>
        </p:xfrm>
        <a:graphic>
          <a:graphicData uri="http://schemas.openxmlformats.org/drawingml/2006/table">
            <a:tbl>
              <a:tblPr/>
              <a:tblGrid>
                <a:gridCol w="1089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67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9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Element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Isotope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Abundance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Hydrogen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99.985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0.015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Carbon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98.89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1.11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Nitrogen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99.63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15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0.37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Oxygen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16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99.759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4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17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0.037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4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18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0.204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4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Magnesium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Mg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78.70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4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25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10.13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26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11.17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4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Silicon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28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92.21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4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29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4.70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4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30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3.09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1638" name="Group 374">
            <a:extLst>
              <a:ext uri="{FF2B5EF4-FFF2-40B4-BE49-F238E27FC236}">
                <a16:creationId xmlns:a16="http://schemas.microsoft.com/office/drawing/2014/main" id="{5823FC18-1396-4D25-AF33-3811F71CD4AD}"/>
              </a:ext>
            </a:extLst>
          </p:cNvPr>
          <p:cNvGraphicFramePr>
            <a:graphicFrameLocks noGrp="1"/>
          </p:cNvGraphicFramePr>
          <p:nvPr/>
        </p:nvGraphicFramePr>
        <p:xfrm>
          <a:off x="3325813" y="1322388"/>
          <a:ext cx="2597150" cy="5359407"/>
        </p:xfrm>
        <a:graphic>
          <a:graphicData uri="http://schemas.openxmlformats.org/drawingml/2006/table">
            <a:tbl>
              <a:tblPr/>
              <a:tblGrid>
                <a:gridCol w="979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Element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Isotope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Abundance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Sulfur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95.00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0.76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4.22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36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0.014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Chlorine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35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75.53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37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24.47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Potassium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39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93.10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40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0.0118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6.88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Calcium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40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96.97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0.64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0.145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2.06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46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0.0033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48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0.18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1669" name="Group 405">
            <a:extLst>
              <a:ext uri="{FF2B5EF4-FFF2-40B4-BE49-F238E27FC236}">
                <a16:creationId xmlns:a16="http://schemas.microsoft.com/office/drawing/2014/main" id="{72A466CE-1037-4AAF-A336-B8C60C4DE58A}"/>
              </a:ext>
            </a:extLst>
          </p:cNvPr>
          <p:cNvGraphicFramePr>
            <a:graphicFrameLocks noGrp="1"/>
          </p:cNvGraphicFramePr>
          <p:nvPr/>
        </p:nvGraphicFramePr>
        <p:xfrm>
          <a:off x="6367463" y="1322388"/>
          <a:ext cx="2565400" cy="5365757"/>
        </p:xfrm>
        <a:graphic>
          <a:graphicData uri="http://schemas.openxmlformats.org/drawingml/2006/table">
            <a:tbl>
              <a:tblPr/>
              <a:tblGrid>
                <a:gridCol w="96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4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Element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Isotope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Abundance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Iron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5.82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56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91.66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57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2.19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58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0.33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Copper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69.09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65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30.91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Zinc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48.89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66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27.81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67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4.11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68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18.57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70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0.62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Strontium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0.56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86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9.86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87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7.02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88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82.56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0452" name="Text Box 215">
            <a:extLst>
              <a:ext uri="{FF2B5EF4-FFF2-40B4-BE49-F238E27FC236}">
                <a16:creationId xmlns:a16="http://schemas.microsoft.com/office/drawing/2014/main" id="{C534FCB1-BAB4-4C20-A0D9-36491AEF7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763" y="-9525"/>
            <a:ext cx="869156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dirty="0"/>
              <a:t>Average terrestrial abundances of the stable isotopes of elements used commonly (</a:t>
            </a:r>
            <a:r>
              <a:rPr lang="en-US" altLang="en-US" sz="2400" b="1" dirty="0">
                <a:solidFill>
                  <a:srgbClr val="66CCFF"/>
                </a:solidFill>
                <a:sym typeface="Zapf Dingbats"/>
              </a:rPr>
              <a:t></a:t>
            </a:r>
            <a:r>
              <a:rPr lang="en-US" altLang="en-US" sz="2400" b="1" dirty="0">
                <a:sym typeface="Marlett" pitchFamily="2" charset="2"/>
              </a:rPr>
              <a:t>), occasionally (</a:t>
            </a:r>
            <a:r>
              <a:rPr lang="en-US" altLang="en-US" sz="2400" b="1" dirty="0">
                <a:solidFill>
                  <a:srgbClr val="66FF66"/>
                </a:solidFill>
                <a:sym typeface="Zapf Dingbats"/>
              </a:rPr>
              <a:t></a:t>
            </a:r>
            <a:r>
              <a:rPr lang="en-US" altLang="en-US" sz="2400" b="1" dirty="0">
                <a:sym typeface="Marlett" pitchFamily="2" charset="2"/>
              </a:rPr>
              <a:t>), and rarely (</a:t>
            </a:r>
            <a:r>
              <a:rPr lang="en-US" altLang="en-US" sz="2400" b="1" dirty="0">
                <a:solidFill>
                  <a:srgbClr val="FFFF00"/>
                </a:solidFill>
                <a:sym typeface="Zapf Dingbats"/>
              </a:rPr>
              <a:t></a:t>
            </a:r>
            <a:r>
              <a:rPr lang="en-US" altLang="en-US" sz="2400" b="1" dirty="0">
                <a:sym typeface="Marlett" pitchFamily="2" charset="2"/>
              </a:rPr>
              <a:t>) in geological studies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>
            <a:extLst>
              <a:ext uri="{FF2B5EF4-FFF2-40B4-BE49-F238E27FC236}">
                <a16:creationId xmlns:a16="http://schemas.microsoft.com/office/drawing/2014/main" id="{B4F3A83B-9CCD-43E0-9C29-0945A0320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82650"/>
            <a:ext cx="91440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 dirty="0">
                <a:latin typeface="+mn-lt"/>
              </a:rPr>
              <a:t>When we see this list of isotopes used in geological studies, note that it includes many of the most common isotopes in the solar system:</a:t>
            </a:r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id="{6C2B23AC-9E82-42D0-8A16-5AF9982CA623}"/>
              </a:ext>
            </a:extLst>
          </p:cNvPr>
          <p:cNvGrpSpPr>
            <a:grpSpLocks/>
          </p:cNvGrpSpPr>
          <p:nvPr/>
        </p:nvGrpSpPr>
        <p:grpSpPr bwMode="auto">
          <a:xfrm>
            <a:off x="114300" y="2635250"/>
            <a:ext cx="9144000" cy="3387725"/>
            <a:chOff x="72" y="1569"/>
            <a:chExt cx="5760" cy="2134"/>
          </a:xfrm>
        </p:grpSpPr>
        <p:sp>
          <p:nvSpPr>
            <p:cNvPr id="9220" name="Text Box 4">
              <a:extLst>
                <a:ext uri="{FF2B5EF4-FFF2-40B4-BE49-F238E27FC236}">
                  <a16:creationId xmlns:a16="http://schemas.microsoft.com/office/drawing/2014/main" id="{07F42A4B-13CF-4EA0-97DE-17984790EE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" y="1569"/>
              <a:ext cx="5760" cy="6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 b="1" dirty="0">
                  <a:latin typeface="+mn-lt"/>
                </a:rPr>
                <a:t>The </a:t>
              </a:r>
              <a:r>
                <a:rPr lang="en-US" sz="2000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rPr>
                <a:t>10</a:t>
              </a:r>
              <a:r>
                <a:rPr lang="en-US" sz="2000" b="1" dirty="0">
                  <a:latin typeface="+mn-lt"/>
                </a:rPr>
                <a:t> most common isotopes in the solar system are:</a:t>
              </a:r>
            </a:p>
            <a:p>
              <a:pPr>
                <a:defRPr/>
              </a:pPr>
              <a:endParaRPr lang="en-US" sz="2000" b="1" dirty="0">
                <a:latin typeface="+mn-lt"/>
              </a:endParaRPr>
            </a:p>
            <a:p>
              <a:pPr>
                <a:defRPr/>
              </a:pPr>
              <a:r>
                <a:rPr lang="en-US" sz="2000" b="1" dirty="0">
                  <a:solidFill>
                    <a:srgbClr val="D6009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rPr>
                <a:t>H</a:t>
              </a:r>
              <a:r>
                <a:rPr lang="en-US" sz="2000" b="1" dirty="0">
                  <a:latin typeface="+mn-lt"/>
                </a:rPr>
                <a:t> &gt;&gt; </a:t>
              </a:r>
              <a:r>
                <a:rPr lang="en-US" sz="2000" b="1" baseline="30000" dirty="0">
                  <a:latin typeface="+mn-lt"/>
                </a:rPr>
                <a:t>4</a:t>
              </a:r>
              <a:r>
                <a:rPr lang="en-US" sz="2000" b="1" dirty="0">
                  <a:latin typeface="+mn-lt"/>
                </a:rPr>
                <a:t>He &gt;&gt; </a:t>
              </a:r>
              <a:r>
                <a:rPr lang="en-US" sz="2000" b="1" baseline="30000" dirty="0">
                  <a:solidFill>
                    <a:srgbClr val="D6009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rPr>
                <a:t>16</a:t>
              </a:r>
              <a:r>
                <a:rPr lang="en-US" sz="2000" b="1" dirty="0">
                  <a:solidFill>
                    <a:srgbClr val="D6009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rPr>
                <a:t>O</a:t>
              </a:r>
              <a:r>
                <a:rPr lang="en-US" sz="2000" b="1" dirty="0">
                  <a:latin typeface="+mn-lt"/>
                </a:rPr>
                <a:t> &gt; </a:t>
              </a:r>
              <a:r>
                <a:rPr lang="en-US" sz="2000" b="1" baseline="30000" dirty="0">
                  <a:solidFill>
                    <a:srgbClr val="D6009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rPr>
                <a:t>12</a:t>
              </a:r>
              <a:r>
                <a:rPr lang="en-US" sz="2000" b="1" dirty="0">
                  <a:solidFill>
                    <a:srgbClr val="D6009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rPr>
                <a:t>C</a:t>
              </a:r>
              <a:r>
                <a:rPr lang="en-US" sz="2000" b="1" dirty="0">
                  <a:latin typeface="+mn-lt"/>
                </a:rPr>
                <a:t> &gt;&gt; </a:t>
              </a:r>
              <a:r>
                <a:rPr lang="en-US" sz="2000" b="1" baseline="30000" dirty="0">
                  <a:latin typeface="+mn-lt"/>
                </a:rPr>
                <a:t>20</a:t>
              </a:r>
              <a:r>
                <a:rPr lang="en-US" sz="2000" b="1" dirty="0">
                  <a:latin typeface="+mn-lt"/>
                </a:rPr>
                <a:t>Ne &gt; </a:t>
              </a:r>
              <a:r>
                <a:rPr lang="en-US" sz="2000" b="1" baseline="30000" dirty="0">
                  <a:solidFill>
                    <a:srgbClr val="D6009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rPr>
                <a:t>14</a:t>
              </a:r>
              <a:r>
                <a:rPr lang="en-US" sz="2000" b="1" dirty="0">
                  <a:solidFill>
                    <a:srgbClr val="D6009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rPr>
                <a:t>N</a:t>
              </a:r>
              <a:r>
                <a:rPr lang="en-US" sz="2000" b="1" dirty="0">
                  <a:latin typeface="+mn-lt"/>
                </a:rPr>
                <a:t> &gt; </a:t>
              </a:r>
              <a:r>
                <a:rPr lang="en-US" sz="2000" b="1" baseline="30000" dirty="0">
                  <a:latin typeface="+mn-lt"/>
                </a:rPr>
                <a:t>24</a:t>
              </a:r>
              <a:r>
                <a:rPr lang="en-US" sz="2000" b="1" dirty="0">
                  <a:latin typeface="+mn-lt"/>
                </a:rPr>
                <a:t>Mg &gt; </a:t>
              </a:r>
              <a:r>
                <a:rPr lang="en-US" sz="2000" b="1" baseline="30000" dirty="0">
                  <a:latin typeface="+mn-lt"/>
                </a:rPr>
                <a:t>28</a:t>
              </a:r>
              <a:r>
                <a:rPr lang="en-US" sz="2000" b="1" dirty="0">
                  <a:latin typeface="+mn-lt"/>
                </a:rPr>
                <a:t>Si &gt; </a:t>
              </a:r>
              <a:r>
                <a:rPr lang="en-US" sz="2000" b="1" baseline="30000" dirty="0">
                  <a:latin typeface="+mn-lt"/>
                </a:rPr>
                <a:t>56</a:t>
              </a:r>
              <a:r>
                <a:rPr lang="en-US" sz="2000" b="1" dirty="0">
                  <a:latin typeface="+mn-lt"/>
                </a:rPr>
                <a:t>Fe &gt; </a:t>
              </a:r>
              <a:r>
                <a:rPr lang="en-US" sz="2000" b="1" baseline="30000" dirty="0">
                  <a:solidFill>
                    <a:srgbClr val="D6009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rPr>
                <a:t>32</a:t>
              </a:r>
              <a:r>
                <a:rPr lang="en-US" sz="2000" b="1" dirty="0">
                  <a:solidFill>
                    <a:srgbClr val="D6009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</a:rPr>
                <a:t>S</a:t>
              </a:r>
            </a:p>
          </p:txBody>
        </p:sp>
        <p:sp>
          <p:nvSpPr>
            <p:cNvPr id="19464" name="Rectangle 6">
              <a:extLst>
                <a:ext uri="{FF2B5EF4-FFF2-40B4-BE49-F238E27FC236}">
                  <a16:creationId xmlns:a16="http://schemas.microsoft.com/office/drawing/2014/main" id="{9D2FB8EB-44B0-4033-9CCB-344324511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4" y="3063"/>
              <a:ext cx="3411" cy="6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 b="1" dirty="0">
                  <a:solidFill>
                    <a:srgbClr val="D60093"/>
                  </a:solidFill>
                  <a:latin typeface="+mn-lt"/>
                </a:rPr>
                <a:t>The isotopes we study occur throughout the solar system and are important in lots of processes!</a:t>
              </a:r>
            </a:p>
          </p:txBody>
        </p:sp>
        <p:sp>
          <p:nvSpPr>
            <p:cNvPr id="19465" name="AutoShape 11">
              <a:extLst>
                <a:ext uri="{FF2B5EF4-FFF2-40B4-BE49-F238E27FC236}">
                  <a16:creationId xmlns:a16="http://schemas.microsoft.com/office/drawing/2014/main" id="{10BCCFC2-2A7A-426F-A1DC-95B53C43C4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6" y="2518"/>
              <a:ext cx="560" cy="996"/>
            </a:xfrm>
            <a:prstGeom prst="upArrow">
              <a:avLst>
                <a:gd name="adj1" fmla="val 50000"/>
                <a:gd name="adj2" fmla="val 44464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IN" sz="2000">
                <a:latin typeface="+mn-lt"/>
              </a:endParaRP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820F6E48-0814-4A1F-A321-7ED6BCA8B368}"/>
              </a:ext>
            </a:extLst>
          </p:cNvPr>
          <p:cNvSpPr/>
          <p:nvPr/>
        </p:nvSpPr>
        <p:spPr>
          <a:xfrm>
            <a:off x="0" y="0"/>
            <a:ext cx="2954338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b="1" dirty="0">
                <a:latin typeface="+mn-lt"/>
              </a:rPr>
              <a:t>Common isotopes</a:t>
            </a: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</a:rPr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EB0E46B9-79A2-402A-9813-032DE981D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2819400"/>
            <a:ext cx="91440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</a:rPr>
              <a:t>Expressing differences in stable isotope abundance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45" name="Group 13">
            <a:extLst>
              <a:ext uri="{FF2B5EF4-FFF2-40B4-BE49-F238E27FC236}">
                <a16:creationId xmlns:a16="http://schemas.microsoft.com/office/drawing/2014/main" id="{8E0DB506-EFCC-401E-87B7-F44AE2DAD997}"/>
              </a:ext>
            </a:extLst>
          </p:cNvPr>
          <p:cNvGraphicFramePr>
            <a:graphicFrameLocks noGrp="1"/>
          </p:cNvGraphicFramePr>
          <p:nvPr/>
        </p:nvGraphicFramePr>
        <p:xfrm>
          <a:off x="530225" y="868363"/>
          <a:ext cx="3870325" cy="5583237"/>
        </p:xfrm>
        <a:graphic>
          <a:graphicData uri="http://schemas.openxmlformats.org/drawingml/2006/table">
            <a:tbl>
              <a:tblPr/>
              <a:tblGrid>
                <a:gridCol w="1300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0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59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Element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Isotope</a:t>
                      </a:r>
                    </a:p>
                  </a:txBody>
                  <a:tcPr marT="45725" marB="45725" vert="eaVert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Relative Abundance  (% atoms)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01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Hydrogen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(Deuterium)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H</a:t>
                      </a:r>
                      <a:r>
                        <a:rPr kumimoji="0" lang="en-US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H</a:t>
                      </a:r>
                      <a:r>
                        <a:rPr kumimoji="0" lang="en-US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2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 (D)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99.984        0.0156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85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Carbon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6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C</a:t>
                      </a:r>
                      <a:r>
                        <a:rPr kumimoji="0" lang="en-US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12 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6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C</a:t>
                      </a:r>
                      <a:r>
                        <a:rPr kumimoji="0" lang="en-US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13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98.892          1.108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01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Nitrogen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7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N</a:t>
                      </a:r>
                      <a:r>
                        <a:rPr kumimoji="0" lang="en-US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14 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7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N</a:t>
                      </a:r>
                      <a:r>
                        <a:rPr kumimoji="0" lang="en-US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99.635          0.365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685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Oxygen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8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O</a:t>
                      </a:r>
                      <a:r>
                        <a:rPr kumimoji="0" lang="en-US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16 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8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O</a:t>
                      </a:r>
                      <a:r>
                        <a:rPr kumimoji="0" lang="en-US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17 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8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O</a:t>
                      </a:r>
                      <a:r>
                        <a:rPr kumimoji="0" lang="en-US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18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99.759           0.037             0.204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" name="Group 39">
            <a:extLst>
              <a:ext uri="{FF2B5EF4-FFF2-40B4-BE49-F238E27FC236}">
                <a16:creationId xmlns:a16="http://schemas.microsoft.com/office/drawing/2014/main" id="{7EC5FF15-F421-41BC-9955-FB25F6E7E56D}"/>
              </a:ext>
            </a:extLst>
          </p:cNvPr>
          <p:cNvGrpSpPr>
            <a:grpSpLocks/>
          </p:cNvGrpSpPr>
          <p:nvPr/>
        </p:nvGrpSpPr>
        <p:grpSpPr bwMode="auto">
          <a:xfrm>
            <a:off x="4408488" y="3206750"/>
            <a:ext cx="4068762" cy="3009900"/>
            <a:chOff x="2777" y="2020"/>
            <a:chExt cx="2563" cy="1896"/>
          </a:xfrm>
        </p:grpSpPr>
        <p:sp>
          <p:nvSpPr>
            <p:cNvPr id="13343" name="Freeform 40">
              <a:extLst>
                <a:ext uri="{FF2B5EF4-FFF2-40B4-BE49-F238E27FC236}">
                  <a16:creationId xmlns:a16="http://schemas.microsoft.com/office/drawing/2014/main" id="{C78F53DB-6E42-4617-A829-BEFDAA7A67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2020"/>
              <a:ext cx="1324" cy="466"/>
            </a:xfrm>
            <a:custGeom>
              <a:avLst/>
              <a:gdLst>
                <a:gd name="T0" fmla="*/ 0 w 1324"/>
                <a:gd name="T1" fmla="*/ 96 h 466"/>
                <a:gd name="T2" fmla="*/ 896 w 1324"/>
                <a:gd name="T3" fmla="*/ 62 h 466"/>
                <a:gd name="T4" fmla="*/ 1324 w 1324"/>
                <a:gd name="T5" fmla="*/ 466 h 466"/>
                <a:gd name="T6" fmla="*/ 0 60000 65536"/>
                <a:gd name="T7" fmla="*/ 0 60000 65536"/>
                <a:gd name="T8" fmla="*/ 0 60000 65536"/>
                <a:gd name="T9" fmla="*/ 0 w 1324"/>
                <a:gd name="T10" fmla="*/ 0 h 466"/>
                <a:gd name="T11" fmla="*/ 1324 w 1324"/>
                <a:gd name="T12" fmla="*/ 466 h 4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24" h="466">
                  <a:moveTo>
                    <a:pt x="0" y="96"/>
                  </a:moveTo>
                  <a:cubicBezTo>
                    <a:pt x="149" y="90"/>
                    <a:pt x="675" y="0"/>
                    <a:pt x="896" y="62"/>
                  </a:cubicBezTo>
                  <a:cubicBezTo>
                    <a:pt x="1117" y="124"/>
                    <a:pt x="1235" y="382"/>
                    <a:pt x="1324" y="466"/>
                  </a:cubicBezTo>
                </a:path>
              </a:pathLst>
            </a:cu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13344" name="Group 41">
              <a:extLst>
                <a:ext uri="{FF2B5EF4-FFF2-40B4-BE49-F238E27FC236}">
                  <a16:creationId xmlns:a16="http://schemas.microsoft.com/office/drawing/2014/main" id="{62925D2C-E7C0-4D99-B347-3B66ECC58F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58" y="2605"/>
              <a:ext cx="256" cy="959"/>
              <a:chOff x="4654" y="2372"/>
              <a:chExt cx="256" cy="959"/>
            </a:xfrm>
          </p:grpSpPr>
          <p:sp>
            <p:nvSpPr>
              <p:cNvPr id="13361" name="Oval 42">
                <a:extLst>
                  <a:ext uri="{FF2B5EF4-FFF2-40B4-BE49-F238E27FC236}">
                    <a16:creationId xmlns:a16="http://schemas.microsoft.com/office/drawing/2014/main" id="{7BDDAC53-B646-4370-A046-D9AC7DF005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4" y="2372"/>
                <a:ext cx="256" cy="742"/>
              </a:xfrm>
              <a:prstGeom prst="ellipse">
                <a:avLst/>
              </a:prstGeom>
              <a:solidFill>
                <a:srgbClr val="66FF33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IN" altLang="en-US" sz="2400"/>
              </a:p>
            </p:txBody>
          </p:sp>
          <p:sp>
            <p:nvSpPr>
              <p:cNvPr id="13362" name="Line 43">
                <a:extLst>
                  <a:ext uri="{FF2B5EF4-FFF2-40B4-BE49-F238E27FC236}">
                    <a16:creationId xmlns:a16="http://schemas.microsoft.com/office/drawing/2014/main" id="{ED0B3A7E-B3C0-4ECC-8975-18A867C135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85" y="2532"/>
                <a:ext cx="0" cy="5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13363" name="Group 44">
                <a:extLst>
                  <a:ext uri="{FF2B5EF4-FFF2-40B4-BE49-F238E27FC236}">
                    <a16:creationId xmlns:a16="http://schemas.microsoft.com/office/drawing/2014/main" id="{5BE71DCB-7A6C-46B7-A4F7-764276C4999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2549"/>
                <a:ext cx="80" cy="534"/>
                <a:chOff x="4699" y="2549"/>
                <a:chExt cx="80" cy="534"/>
              </a:xfrm>
            </p:grpSpPr>
            <p:sp>
              <p:nvSpPr>
                <p:cNvPr id="13370" name="Line 45">
                  <a:extLst>
                    <a:ext uri="{FF2B5EF4-FFF2-40B4-BE49-F238E27FC236}">
                      <a16:creationId xmlns:a16="http://schemas.microsoft.com/office/drawing/2014/main" id="{790F314A-D80F-42AC-877B-FB51620D34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699" y="2549"/>
                  <a:ext cx="80" cy="13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3371" name="Line 46">
                  <a:extLst>
                    <a:ext uri="{FF2B5EF4-FFF2-40B4-BE49-F238E27FC236}">
                      <a16:creationId xmlns:a16="http://schemas.microsoft.com/office/drawing/2014/main" id="{4BB86CC0-7B46-4A58-AB72-3F79AF4501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699" y="2683"/>
                  <a:ext cx="80" cy="13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3372" name="Line 47">
                  <a:extLst>
                    <a:ext uri="{FF2B5EF4-FFF2-40B4-BE49-F238E27FC236}">
                      <a16:creationId xmlns:a16="http://schemas.microsoft.com/office/drawing/2014/main" id="{EDE36B66-0A62-45F0-820C-2D90B0075E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699" y="2817"/>
                  <a:ext cx="80" cy="13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3373" name="Line 48">
                  <a:extLst>
                    <a:ext uri="{FF2B5EF4-FFF2-40B4-BE49-F238E27FC236}">
                      <a16:creationId xmlns:a16="http://schemas.microsoft.com/office/drawing/2014/main" id="{56135E26-0C20-46D0-94E4-1A11A18EFD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699" y="2951"/>
                  <a:ext cx="80" cy="13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13364" name="Group 49">
                <a:extLst>
                  <a:ext uri="{FF2B5EF4-FFF2-40B4-BE49-F238E27FC236}">
                    <a16:creationId xmlns:a16="http://schemas.microsoft.com/office/drawing/2014/main" id="{18A9616A-D4B3-48EF-B32D-32BEAADCB6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4783" y="2555"/>
                <a:ext cx="80" cy="534"/>
                <a:chOff x="4699" y="2549"/>
                <a:chExt cx="80" cy="534"/>
              </a:xfrm>
            </p:grpSpPr>
            <p:sp>
              <p:nvSpPr>
                <p:cNvPr id="13366" name="Line 50">
                  <a:extLst>
                    <a:ext uri="{FF2B5EF4-FFF2-40B4-BE49-F238E27FC236}">
                      <a16:creationId xmlns:a16="http://schemas.microsoft.com/office/drawing/2014/main" id="{37BEE473-CFFB-4B3D-B8DE-C97D899D09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699" y="2549"/>
                  <a:ext cx="80" cy="13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3367" name="Line 51">
                  <a:extLst>
                    <a:ext uri="{FF2B5EF4-FFF2-40B4-BE49-F238E27FC236}">
                      <a16:creationId xmlns:a16="http://schemas.microsoft.com/office/drawing/2014/main" id="{441CB4D0-8BC9-4790-8E36-970C18C23E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699" y="2683"/>
                  <a:ext cx="80" cy="13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3368" name="Line 52">
                  <a:extLst>
                    <a:ext uri="{FF2B5EF4-FFF2-40B4-BE49-F238E27FC236}">
                      <a16:creationId xmlns:a16="http://schemas.microsoft.com/office/drawing/2014/main" id="{A8D4AF3B-368B-4634-B198-F3BB8F4E19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699" y="2817"/>
                  <a:ext cx="80" cy="13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3369" name="Line 53">
                  <a:extLst>
                    <a:ext uri="{FF2B5EF4-FFF2-40B4-BE49-F238E27FC236}">
                      <a16:creationId xmlns:a16="http://schemas.microsoft.com/office/drawing/2014/main" id="{89DD58E2-5975-476C-BC67-5FCB08F41C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699" y="2951"/>
                  <a:ext cx="80" cy="13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sp>
            <p:nvSpPr>
              <p:cNvPr id="13365" name="Line 54">
                <a:extLst>
                  <a:ext uri="{FF2B5EF4-FFF2-40B4-BE49-F238E27FC236}">
                    <a16:creationId xmlns:a16="http://schemas.microsoft.com/office/drawing/2014/main" id="{C2B9E354-8949-43E4-85E8-D1E03787AB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3120"/>
                <a:ext cx="0" cy="2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3345" name="Group 55">
              <a:extLst>
                <a:ext uri="{FF2B5EF4-FFF2-40B4-BE49-F238E27FC236}">
                  <a16:creationId xmlns:a16="http://schemas.microsoft.com/office/drawing/2014/main" id="{AC8E48FC-0076-4905-AB94-A7B257D1DA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32" y="2605"/>
              <a:ext cx="256" cy="959"/>
              <a:chOff x="3176" y="2553"/>
              <a:chExt cx="256" cy="959"/>
            </a:xfrm>
          </p:grpSpPr>
          <p:sp>
            <p:nvSpPr>
              <p:cNvPr id="13348" name="Oval 56">
                <a:extLst>
                  <a:ext uri="{FF2B5EF4-FFF2-40B4-BE49-F238E27FC236}">
                    <a16:creationId xmlns:a16="http://schemas.microsoft.com/office/drawing/2014/main" id="{3874EA96-FC6B-400F-A832-611B4837AE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76" y="2553"/>
                <a:ext cx="256" cy="74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IN" altLang="en-US" sz="2400"/>
              </a:p>
            </p:txBody>
          </p:sp>
          <p:sp>
            <p:nvSpPr>
              <p:cNvPr id="13349" name="Line 57">
                <a:extLst>
                  <a:ext uri="{FF2B5EF4-FFF2-40B4-BE49-F238E27FC236}">
                    <a16:creationId xmlns:a16="http://schemas.microsoft.com/office/drawing/2014/main" id="{C23408CC-E096-4084-BB92-21202E3484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07" y="2713"/>
                <a:ext cx="0" cy="5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13350" name="Group 58">
                <a:extLst>
                  <a:ext uri="{FF2B5EF4-FFF2-40B4-BE49-F238E27FC236}">
                    <a16:creationId xmlns:a16="http://schemas.microsoft.com/office/drawing/2014/main" id="{036EAE2A-432B-4C18-92BF-FC61986E26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21" y="2730"/>
                <a:ext cx="80" cy="534"/>
                <a:chOff x="4699" y="2549"/>
                <a:chExt cx="80" cy="534"/>
              </a:xfrm>
            </p:grpSpPr>
            <p:sp>
              <p:nvSpPr>
                <p:cNvPr id="13357" name="Line 59">
                  <a:extLst>
                    <a:ext uri="{FF2B5EF4-FFF2-40B4-BE49-F238E27FC236}">
                      <a16:creationId xmlns:a16="http://schemas.microsoft.com/office/drawing/2014/main" id="{A2094A31-96B8-4E85-B0CC-5272B48078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699" y="2549"/>
                  <a:ext cx="80" cy="13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3358" name="Line 60">
                  <a:extLst>
                    <a:ext uri="{FF2B5EF4-FFF2-40B4-BE49-F238E27FC236}">
                      <a16:creationId xmlns:a16="http://schemas.microsoft.com/office/drawing/2014/main" id="{F46E6BF3-3A64-4B08-9269-F5D6AB2D6E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699" y="2683"/>
                  <a:ext cx="80" cy="13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3359" name="Line 61">
                  <a:extLst>
                    <a:ext uri="{FF2B5EF4-FFF2-40B4-BE49-F238E27FC236}">
                      <a16:creationId xmlns:a16="http://schemas.microsoft.com/office/drawing/2014/main" id="{968C214A-50C8-43FF-9868-81B0CF4D5E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699" y="2817"/>
                  <a:ext cx="80" cy="13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3360" name="Line 62">
                  <a:extLst>
                    <a:ext uri="{FF2B5EF4-FFF2-40B4-BE49-F238E27FC236}">
                      <a16:creationId xmlns:a16="http://schemas.microsoft.com/office/drawing/2014/main" id="{8696D1EC-4D60-4197-9AFA-54251266EF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699" y="2951"/>
                  <a:ext cx="80" cy="13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13351" name="Group 63">
                <a:extLst>
                  <a:ext uri="{FF2B5EF4-FFF2-40B4-BE49-F238E27FC236}">
                    <a16:creationId xmlns:a16="http://schemas.microsoft.com/office/drawing/2014/main" id="{9E5D5A7D-9F2E-47A4-A46D-7997BDDAE8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3305" y="2736"/>
                <a:ext cx="80" cy="534"/>
                <a:chOff x="4699" y="2549"/>
                <a:chExt cx="80" cy="534"/>
              </a:xfrm>
            </p:grpSpPr>
            <p:sp>
              <p:nvSpPr>
                <p:cNvPr id="13353" name="Line 64">
                  <a:extLst>
                    <a:ext uri="{FF2B5EF4-FFF2-40B4-BE49-F238E27FC236}">
                      <a16:creationId xmlns:a16="http://schemas.microsoft.com/office/drawing/2014/main" id="{FDA9BC31-7AB1-4C00-BED2-0A2F9E566A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699" y="2549"/>
                  <a:ext cx="80" cy="13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3354" name="Line 65">
                  <a:extLst>
                    <a:ext uri="{FF2B5EF4-FFF2-40B4-BE49-F238E27FC236}">
                      <a16:creationId xmlns:a16="http://schemas.microsoft.com/office/drawing/2014/main" id="{00C56B67-0AAE-40F0-8286-873525687E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699" y="2683"/>
                  <a:ext cx="80" cy="13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3355" name="Line 66">
                  <a:extLst>
                    <a:ext uri="{FF2B5EF4-FFF2-40B4-BE49-F238E27FC236}">
                      <a16:creationId xmlns:a16="http://schemas.microsoft.com/office/drawing/2014/main" id="{8E130C0B-F4B1-4A67-A9DD-1BAEEA0A80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699" y="2817"/>
                  <a:ext cx="80" cy="13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3356" name="Line 67">
                  <a:extLst>
                    <a:ext uri="{FF2B5EF4-FFF2-40B4-BE49-F238E27FC236}">
                      <a16:creationId xmlns:a16="http://schemas.microsoft.com/office/drawing/2014/main" id="{CF3BB0D5-1658-4F42-A455-3E86AC9903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699" y="2951"/>
                  <a:ext cx="80" cy="13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sp>
            <p:nvSpPr>
              <p:cNvPr id="13352" name="Line 68">
                <a:extLst>
                  <a:ext uri="{FF2B5EF4-FFF2-40B4-BE49-F238E27FC236}">
                    <a16:creationId xmlns:a16="http://schemas.microsoft.com/office/drawing/2014/main" id="{C4CDA44E-5E90-4AF5-906A-9D79FECBE6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07" y="3301"/>
                <a:ext cx="0" cy="2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3346" name="Text Box 69">
              <a:extLst>
                <a:ext uri="{FF2B5EF4-FFF2-40B4-BE49-F238E27FC236}">
                  <a16:creationId xmlns:a16="http://schemas.microsoft.com/office/drawing/2014/main" id="{45A36BEE-3A9C-4EAA-AA28-A7CE57DECA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5" y="3627"/>
              <a:ext cx="91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/>
                <a:t>1.0860% </a:t>
              </a:r>
              <a:r>
                <a:rPr lang="en-US" altLang="en-US" sz="2400" baseline="30000"/>
                <a:t>13</a:t>
              </a:r>
              <a:r>
                <a:rPr lang="en-US" altLang="en-US" sz="2400"/>
                <a:t>C</a:t>
              </a:r>
            </a:p>
          </p:txBody>
        </p:sp>
        <p:sp>
          <p:nvSpPr>
            <p:cNvPr id="13347" name="Text Box 70">
              <a:extLst>
                <a:ext uri="{FF2B5EF4-FFF2-40B4-BE49-F238E27FC236}">
                  <a16:creationId xmlns:a16="http://schemas.microsoft.com/office/drawing/2014/main" id="{F29DF59E-C1A0-4A50-919D-3C762EF4EF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2" y="3657"/>
              <a:ext cx="91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/>
                <a:t>1.0805% </a:t>
              </a:r>
              <a:r>
                <a:rPr lang="en-US" altLang="en-US" sz="2400" baseline="30000"/>
                <a:t>13</a:t>
              </a:r>
              <a:r>
                <a:rPr lang="en-US" altLang="en-US" sz="2400"/>
                <a:t>C</a:t>
              </a:r>
            </a:p>
          </p:txBody>
        </p:sp>
      </p:grpSp>
      <p:sp>
        <p:nvSpPr>
          <p:cNvPr id="44103" name="Text Box 71">
            <a:extLst>
              <a:ext uri="{FF2B5EF4-FFF2-40B4-BE49-F238E27FC236}">
                <a16:creationId xmlns:a16="http://schemas.microsoft.com/office/drawing/2014/main" id="{51D52EA8-2E60-4B96-B614-5EFB82158E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8163" y="2566988"/>
            <a:ext cx="2416175" cy="411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u="sng">
                <a:solidFill>
                  <a:srgbClr val="4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</a:rPr>
              <a:t>Are these relevant?</a:t>
            </a:r>
            <a:endParaRPr lang="en-US">
              <a:latin typeface="Comic Sans MS" charset="0"/>
            </a:endParaRPr>
          </a:p>
        </p:txBody>
      </p:sp>
      <p:sp>
        <p:nvSpPr>
          <p:cNvPr id="44104" name="Text Box 72">
            <a:extLst>
              <a:ext uri="{FF2B5EF4-FFF2-40B4-BE49-F238E27FC236}">
                <a16:creationId xmlns:a16="http://schemas.microsoft.com/office/drawing/2014/main" id="{F4DEB6A1-69DB-4B7A-AB79-06AEB1F31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188913"/>
            <a:ext cx="3482975" cy="230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</a:rPr>
              <a:t>Absolute isotope abundances</a:t>
            </a:r>
          </a:p>
          <a:p>
            <a:pPr>
              <a:defRPr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</a:rPr>
              <a:t>are found at the third decimal</a:t>
            </a:r>
          </a:p>
          <a:p>
            <a:pPr>
              <a:defRPr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</a:rPr>
              <a:t>leading to small relative differences</a:t>
            </a:r>
            <a:endParaRPr lang="en-US" dirty="0">
              <a:latin typeface="Comic Sans MS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103" grpId="0" autoUpdateAnimBg="0"/>
      <p:bldP spid="44104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Text Box 2">
            <a:extLst>
              <a:ext uri="{FF2B5EF4-FFF2-40B4-BE49-F238E27FC236}">
                <a16:creationId xmlns:a16="http://schemas.microsoft.com/office/drawing/2014/main" id="{14B668A4-63EB-4770-8CE3-8EF3AD18F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1438"/>
            <a:ext cx="9144000" cy="207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800" b="1">
                <a:latin typeface="Comic Sans MS" charset="0"/>
              </a:rPr>
              <a:t>Stable isotope composition is expressed in </a:t>
            </a:r>
            <a:r>
              <a:rPr lang="en-US" sz="2800" b="1">
                <a:latin typeface="Symbol" pitchFamily="18" charset="2"/>
              </a:rPr>
              <a:t>d</a:t>
            </a:r>
            <a:r>
              <a:rPr lang="en-US" sz="2800" b="1">
                <a:latin typeface="Comic Sans MS" charset="0"/>
              </a:rPr>
              <a:t> (delta) notation:</a:t>
            </a:r>
          </a:p>
          <a:p>
            <a:pPr>
              <a:defRPr/>
            </a:pPr>
            <a:endParaRPr lang="en-US" sz="2800" b="1">
              <a:latin typeface="Comic Sans MS" charset="0"/>
            </a:endParaRPr>
          </a:p>
          <a:p>
            <a:pPr>
              <a:defRPr/>
            </a:pPr>
            <a:r>
              <a:rPr lang="en-US" sz="2800" b="1">
                <a:latin typeface="Symbol" pitchFamily="18" charset="2"/>
              </a:rPr>
              <a:t>d</a:t>
            </a:r>
            <a:r>
              <a:rPr lang="en-US" sz="2800" b="1">
                <a:latin typeface="Comic Sans MS" charset="0"/>
              </a:rPr>
              <a:t>R in </a:t>
            </a:r>
            <a:r>
              <a:rPr 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</a:rPr>
              <a:t>‰</a:t>
            </a:r>
            <a:r>
              <a:rPr lang="en-US" sz="2800" b="1">
                <a:latin typeface="Comic Sans MS" charset="0"/>
              </a:rPr>
              <a:t> =</a:t>
            </a:r>
            <a:endParaRPr lang="en-US" sz="2000" b="1">
              <a:latin typeface="Comic Sans MS" charset="0"/>
            </a:endParaRP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1EBBA00F-F27B-4606-BBB8-94913DFE5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3163" y="1196975"/>
            <a:ext cx="1179512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/>
              <a:t>R</a:t>
            </a:r>
            <a:r>
              <a:rPr lang="en-US" altLang="en-US" sz="2800" b="1" baseline="-25000"/>
              <a:t>sample</a:t>
            </a:r>
            <a:endParaRPr lang="en-US" altLang="en-US" sz="2800" b="1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351D1EAC-36F9-4309-A4FA-943F570FB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3050" y="1571625"/>
            <a:ext cx="2252663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/>
              <a:t>–1   x 1000</a:t>
            </a:r>
          </a:p>
        </p:txBody>
      </p:sp>
      <p:sp>
        <p:nvSpPr>
          <p:cNvPr id="14341" name="Rectangle 5">
            <a:extLst>
              <a:ext uri="{FF2B5EF4-FFF2-40B4-BE49-F238E27FC236}">
                <a16:creationId xmlns:a16="http://schemas.microsoft.com/office/drawing/2014/main" id="{132417DB-8223-4DE8-8F79-D25E6EA27C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3163" y="1916113"/>
            <a:ext cx="1436687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/>
              <a:t>R</a:t>
            </a:r>
            <a:r>
              <a:rPr lang="en-US" altLang="en-US" sz="2800" b="1" baseline="-25000"/>
              <a:t>standard</a:t>
            </a:r>
            <a:endParaRPr lang="en-US" altLang="en-US" sz="2800" b="1"/>
          </a:p>
        </p:txBody>
      </p:sp>
      <p:sp>
        <p:nvSpPr>
          <p:cNvPr id="14342" name="Line 6">
            <a:extLst>
              <a:ext uri="{FF2B5EF4-FFF2-40B4-BE49-F238E27FC236}">
                <a16:creationId xmlns:a16="http://schemas.microsoft.com/office/drawing/2014/main" id="{6F8B48BF-C6C5-4BC3-AA21-83A6A01CBD1D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8388" y="1843088"/>
            <a:ext cx="1528762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343" name="AutoShape 7">
            <a:extLst>
              <a:ext uri="{FF2B5EF4-FFF2-40B4-BE49-F238E27FC236}">
                <a16:creationId xmlns:a16="http://schemas.microsoft.com/office/drawing/2014/main" id="{4F868B2E-BDCA-44D0-BAEE-6D2CFE19D3B8}"/>
              </a:ext>
            </a:extLst>
          </p:cNvPr>
          <p:cNvSpPr>
            <a:spLocks/>
          </p:cNvSpPr>
          <p:nvPr/>
        </p:nvSpPr>
        <p:spPr bwMode="auto">
          <a:xfrm>
            <a:off x="4540250" y="1092200"/>
            <a:ext cx="165100" cy="1454150"/>
          </a:xfrm>
          <a:prstGeom prst="rightBracket">
            <a:avLst>
              <a:gd name="adj" fmla="val 73397"/>
            </a:avLst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IN" altLang="en-US" sz="2400"/>
          </a:p>
        </p:txBody>
      </p:sp>
      <p:sp>
        <p:nvSpPr>
          <p:cNvPr id="14344" name="AutoShape 8">
            <a:extLst>
              <a:ext uri="{FF2B5EF4-FFF2-40B4-BE49-F238E27FC236}">
                <a16:creationId xmlns:a16="http://schemas.microsoft.com/office/drawing/2014/main" id="{77C8B490-E0C7-440B-9FBC-8F6325447F3A}"/>
              </a:ext>
            </a:extLst>
          </p:cNvPr>
          <p:cNvSpPr>
            <a:spLocks/>
          </p:cNvSpPr>
          <p:nvPr/>
        </p:nvSpPr>
        <p:spPr bwMode="auto">
          <a:xfrm flipH="1">
            <a:off x="2135188" y="1101725"/>
            <a:ext cx="165100" cy="1454150"/>
          </a:xfrm>
          <a:prstGeom prst="rightBracket">
            <a:avLst>
              <a:gd name="adj" fmla="val 73397"/>
            </a:avLst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IN" altLang="en-US"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Text Box 3">
            <a:extLst>
              <a:ext uri="{FF2B5EF4-FFF2-40B4-BE49-F238E27FC236}">
                <a16:creationId xmlns:a16="http://schemas.microsoft.com/office/drawing/2014/main" id="{00146162-DD3D-4903-8EB7-1B74CB7FA4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1438"/>
            <a:ext cx="9144000" cy="207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800" b="1">
                <a:latin typeface="Comic Sans MS" charset="0"/>
              </a:rPr>
              <a:t>Stable isotope composition is expressed in </a:t>
            </a:r>
            <a:r>
              <a:rPr lang="en-US" sz="2800" b="1">
                <a:latin typeface="Symbol" pitchFamily="18" charset="2"/>
              </a:rPr>
              <a:t>d</a:t>
            </a:r>
            <a:r>
              <a:rPr lang="en-US" sz="2800" b="1">
                <a:latin typeface="Comic Sans MS" charset="0"/>
              </a:rPr>
              <a:t> (delta) notation:</a:t>
            </a:r>
          </a:p>
          <a:p>
            <a:pPr>
              <a:defRPr/>
            </a:pPr>
            <a:endParaRPr lang="en-US" sz="2800" b="1">
              <a:latin typeface="Comic Sans MS" charset="0"/>
            </a:endParaRPr>
          </a:p>
          <a:p>
            <a:pPr>
              <a:defRPr/>
            </a:pPr>
            <a:r>
              <a:rPr lang="en-US" sz="2800" b="1">
                <a:latin typeface="Symbol" pitchFamily="18" charset="2"/>
              </a:rPr>
              <a:t>d</a:t>
            </a:r>
            <a:r>
              <a:rPr lang="en-US" sz="2800" b="1">
                <a:latin typeface="Comic Sans MS" charset="0"/>
              </a:rPr>
              <a:t>R in </a:t>
            </a:r>
            <a:r>
              <a:rPr 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</a:rPr>
              <a:t>‰</a:t>
            </a:r>
            <a:r>
              <a:rPr lang="en-US" sz="2800" b="1">
                <a:latin typeface="Comic Sans MS" charset="0"/>
              </a:rPr>
              <a:t> =</a:t>
            </a:r>
            <a:endParaRPr lang="en-US" sz="2000" b="1">
              <a:latin typeface="Comic Sans MS" charset="0"/>
            </a:endParaRPr>
          </a:p>
        </p:txBody>
      </p:sp>
      <p:sp>
        <p:nvSpPr>
          <p:cNvPr id="15363" name="Rectangle 4">
            <a:extLst>
              <a:ext uri="{FF2B5EF4-FFF2-40B4-BE49-F238E27FC236}">
                <a16:creationId xmlns:a16="http://schemas.microsoft.com/office/drawing/2014/main" id="{5C3BB89D-3177-4EA2-A55E-230B4C1E3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3163" y="1196975"/>
            <a:ext cx="1179512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/>
              <a:t>R</a:t>
            </a:r>
            <a:r>
              <a:rPr lang="en-US" altLang="en-US" sz="2800" b="1" baseline="-25000"/>
              <a:t>sample</a:t>
            </a:r>
            <a:endParaRPr lang="en-US" altLang="en-US" sz="2800" b="1"/>
          </a:p>
        </p:txBody>
      </p:sp>
      <p:sp>
        <p:nvSpPr>
          <p:cNvPr id="15364" name="Rectangle 5">
            <a:extLst>
              <a:ext uri="{FF2B5EF4-FFF2-40B4-BE49-F238E27FC236}">
                <a16:creationId xmlns:a16="http://schemas.microsoft.com/office/drawing/2014/main" id="{D231D720-858A-45CE-93B6-BDB23CB77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3050" y="1571625"/>
            <a:ext cx="2252663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/>
              <a:t>–1   x 1000</a:t>
            </a:r>
          </a:p>
        </p:txBody>
      </p:sp>
      <p:sp>
        <p:nvSpPr>
          <p:cNvPr id="15365" name="Rectangle 6">
            <a:extLst>
              <a:ext uri="{FF2B5EF4-FFF2-40B4-BE49-F238E27FC236}">
                <a16:creationId xmlns:a16="http://schemas.microsoft.com/office/drawing/2014/main" id="{9B5699ED-7A94-4BDF-AA35-DC909D3BB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3163" y="1916113"/>
            <a:ext cx="1436687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/>
              <a:t>R</a:t>
            </a:r>
            <a:r>
              <a:rPr lang="en-US" altLang="en-US" sz="2800" b="1" baseline="-25000"/>
              <a:t>standard</a:t>
            </a:r>
            <a:endParaRPr lang="en-US" altLang="en-US" sz="2800" b="1"/>
          </a:p>
        </p:txBody>
      </p:sp>
      <p:sp>
        <p:nvSpPr>
          <p:cNvPr id="15366" name="Line 7">
            <a:extLst>
              <a:ext uri="{FF2B5EF4-FFF2-40B4-BE49-F238E27FC236}">
                <a16:creationId xmlns:a16="http://schemas.microsoft.com/office/drawing/2014/main" id="{CB6C331A-B20C-4211-BBC4-1D9883173FA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8388" y="1843088"/>
            <a:ext cx="1528762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367" name="AutoShape 8">
            <a:extLst>
              <a:ext uri="{FF2B5EF4-FFF2-40B4-BE49-F238E27FC236}">
                <a16:creationId xmlns:a16="http://schemas.microsoft.com/office/drawing/2014/main" id="{35990F6C-2343-417C-9326-19F125701A1D}"/>
              </a:ext>
            </a:extLst>
          </p:cNvPr>
          <p:cNvSpPr>
            <a:spLocks/>
          </p:cNvSpPr>
          <p:nvPr/>
        </p:nvSpPr>
        <p:spPr bwMode="auto">
          <a:xfrm>
            <a:off x="4540250" y="1092200"/>
            <a:ext cx="165100" cy="1454150"/>
          </a:xfrm>
          <a:prstGeom prst="rightBracket">
            <a:avLst>
              <a:gd name="adj" fmla="val 73397"/>
            </a:avLst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IN" altLang="en-US" sz="2400"/>
          </a:p>
        </p:txBody>
      </p:sp>
      <p:sp>
        <p:nvSpPr>
          <p:cNvPr id="15368" name="AutoShape 9">
            <a:extLst>
              <a:ext uri="{FF2B5EF4-FFF2-40B4-BE49-F238E27FC236}">
                <a16:creationId xmlns:a16="http://schemas.microsoft.com/office/drawing/2014/main" id="{A42BD079-7ABB-46A9-A84E-817FF069D5DC}"/>
              </a:ext>
            </a:extLst>
          </p:cNvPr>
          <p:cNvSpPr>
            <a:spLocks/>
          </p:cNvSpPr>
          <p:nvPr/>
        </p:nvSpPr>
        <p:spPr bwMode="auto">
          <a:xfrm flipH="1">
            <a:off x="2135188" y="1101725"/>
            <a:ext cx="165100" cy="1454150"/>
          </a:xfrm>
          <a:prstGeom prst="rightBracket">
            <a:avLst>
              <a:gd name="adj" fmla="val 73397"/>
            </a:avLst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IN" altLang="en-US" sz="2400"/>
          </a:p>
        </p:txBody>
      </p:sp>
      <p:sp>
        <p:nvSpPr>
          <p:cNvPr id="64522" name="Oval 10">
            <a:extLst>
              <a:ext uri="{FF2B5EF4-FFF2-40B4-BE49-F238E27FC236}">
                <a16:creationId xmlns:a16="http://schemas.microsoft.com/office/drawing/2014/main" id="{C62A40E7-EA63-497A-9794-2EFFE3AB33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8063" y="1049338"/>
            <a:ext cx="614362" cy="1708150"/>
          </a:xfrm>
          <a:prstGeom prst="ellipse">
            <a:avLst/>
          </a:prstGeom>
          <a:noFill/>
          <a:ln w="76200">
            <a:solidFill>
              <a:srgbClr val="66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IN" altLang="en-US" sz="2400"/>
          </a:p>
        </p:txBody>
      </p:sp>
      <p:grpSp>
        <p:nvGrpSpPr>
          <p:cNvPr id="2" name="Group 13">
            <a:extLst>
              <a:ext uri="{FF2B5EF4-FFF2-40B4-BE49-F238E27FC236}">
                <a16:creationId xmlns:a16="http://schemas.microsoft.com/office/drawing/2014/main" id="{D3CC9163-42B8-4353-B36A-0F370D8FD295}"/>
              </a:ext>
            </a:extLst>
          </p:cNvPr>
          <p:cNvGrpSpPr>
            <a:grpSpLocks/>
          </p:cNvGrpSpPr>
          <p:nvPr/>
        </p:nvGrpSpPr>
        <p:grpSpPr bwMode="auto">
          <a:xfrm>
            <a:off x="657225" y="2728913"/>
            <a:ext cx="8243888" cy="3929062"/>
            <a:chOff x="414" y="1719"/>
            <a:chExt cx="5193" cy="2475"/>
          </a:xfrm>
        </p:grpSpPr>
        <p:sp>
          <p:nvSpPr>
            <p:cNvPr id="15371" name="Oval 2">
              <a:extLst>
                <a:ext uri="{FF2B5EF4-FFF2-40B4-BE49-F238E27FC236}">
                  <a16:creationId xmlns:a16="http://schemas.microsoft.com/office/drawing/2014/main" id="{CEE9DA5C-ED57-4903-AB4A-844ABC970F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" y="2434"/>
              <a:ext cx="5193" cy="1760"/>
            </a:xfrm>
            <a:prstGeom prst="ellipse">
              <a:avLst/>
            </a:prstGeom>
            <a:solidFill>
              <a:srgbClr val="66CC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IN" altLang="en-US" sz="2400"/>
            </a:p>
          </p:txBody>
        </p:sp>
        <p:sp>
          <p:nvSpPr>
            <p:cNvPr id="64523" name="Rectangle 11">
              <a:extLst>
                <a:ext uri="{FF2B5EF4-FFF2-40B4-BE49-F238E27FC236}">
                  <a16:creationId xmlns:a16="http://schemas.microsoft.com/office/drawing/2014/main" id="{6C375C7C-D9E2-4B15-B63A-98BAE07B7D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" y="2822"/>
              <a:ext cx="4670" cy="1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R is the isotope ratio of the HEAVY / LIGHT isotopes in either your sample or a standard</a:t>
              </a:r>
            </a:p>
            <a:p>
              <a:pPr>
                <a:spcBef>
                  <a:spcPct val="50000"/>
                </a:spcBef>
                <a:defRPr/>
              </a:pPr>
              <a:r>
                <a:rPr lang="en-US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i.e. D/H, </a:t>
              </a:r>
              <a:r>
                <a:rPr lang="en-US" sz="2000" b="1" baseline="300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13</a:t>
              </a:r>
              <a:r>
                <a:rPr lang="en-US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C/</a:t>
              </a:r>
              <a:r>
                <a:rPr lang="en-US" sz="2000" b="1" baseline="300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12</a:t>
              </a:r>
              <a:r>
                <a:rPr lang="en-US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C , </a:t>
              </a:r>
              <a:r>
                <a:rPr lang="en-US" sz="2000" b="1" baseline="300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15</a:t>
              </a:r>
              <a:r>
                <a:rPr lang="en-US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N/</a:t>
              </a:r>
              <a:r>
                <a:rPr lang="en-US" sz="2000" b="1" baseline="300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14</a:t>
              </a:r>
              <a:r>
                <a:rPr lang="en-US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N , </a:t>
              </a:r>
              <a:r>
                <a:rPr lang="en-US" sz="2000" b="1" baseline="300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18</a:t>
              </a:r>
              <a:r>
                <a:rPr lang="en-US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O/</a:t>
              </a:r>
              <a:r>
                <a:rPr lang="en-US" sz="2000" b="1" baseline="300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16</a:t>
              </a:r>
              <a:r>
                <a:rPr lang="en-US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O</a:t>
              </a:r>
            </a:p>
            <a:p>
              <a:pPr>
                <a:spcBef>
                  <a:spcPct val="50000"/>
                </a:spcBef>
                <a:defRPr/>
              </a:pPr>
              <a:r>
                <a:rPr lang="en-US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and is a </a:t>
              </a:r>
              <a:r>
                <a:rPr lang="en-US" sz="2000" b="1">
                  <a:solidFill>
                    <a:srgbClr val="D6009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very small</a:t>
              </a:r>
              <a:r>
                <a:rPr lang="en-US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 number</a:t>
              </a:r>
              <a:endPara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</a:endParaRPr>
            </a:p>
          </p:txBody>
        </p:sp>
        <p:sp>
          <p:nvSpPr>
            <p:cNvPr id="15373" name="Freeform 12">
              <a:extLst>
                <a:ext uri="{FF2B5EF4-FFF2-40B4-BE49-F238E27FC236}">
                  <a16:creationId xmlns:a16="http://schemas.microsoft.com/office/drawing/2014/main" id="{E62838A3-417B-40BC-BF9A-C4FE430B9F59}"/>
                </a:ext>
              </a:extLst>
            </p:cNvPr>
            <p:cNvSpPr>
              <a:spLocks/>
            </p:cNvSpPr>
            <p:nvPr/>
          </p:nvSpPr>
          <p:spPr bwMode="auto">
            <a:xfrm>
              <a:off x="833" y="1719"/>
              <a:ext cx="706" cy="972"/>
            </a:xfrm>
            <a:custGeom>
              <a:avLst/>
              <a:gdLst>
                <a:gd name="T0" fmla="*/ 334 w 706"/>
                <a:gd name="T1" fmla="*/ 972 h 972"/>
                <a:gd name="T2" fmla="*/ 33 w 706"/>
                <a:gd name="T3" fmla="*/ 726 h 972"/>
                <a:gd name="T4" fmla="*/ 130 w 706"/>
                <a:gd name="T5" fmla="*/ 322 h 972"/>
                <a:gd name="T6" fmla="*/ 706 w 706"/>
                <a:gd name="T7" fmla="*/ 0 h 9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06"/>
                <a:gd name="T13" fmla="*/ 0 h 972"/>
                <a:gd name="T14" fmla="*/ 706 w 706"/>
                <a:gd name="T15" fmla="*/ 972 h 9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06" h="972">
                  <a:moveTo>
                    <a:pt x="334" y="972"/>
                  </a:moveTo>
                  <a:cubicBezTo>
                    <a:pt x="201" y="903"/>
                    <a:pt x="67" y="834"/>
                    <a:pt x="33" y="726"/>
                  </a:cubicBezTo>
                  <a:cubicBezTo>
                    <a:pt x="0" y="617"/>
                    <a:pt x="18" y="443"/>
                    <a:pt x="130" y="322"/>
                  </a:cubicBezTo>
                  <a:cubicBezTo>
                    <a:pt x="242" y="201"/>
                    <a:pt x="586" y="67"/>
                    <a:pt x="706" y="0"/>
                  </a:cubicBezTo>
                </a:path>
              </a:pathLst>
            </a:custGeom>
            <a:noFill/>
            <a:ln w="635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2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14">
            <a:extLst>
              <a:ext uri="{FF2B5EF4-FFF2-40B4-BE49-F238E27FC236}">
                <a16:creationId xmlns:a16="http://schemas.microsoft.com/office/drawing/2014/main" id="{95DC9596-9B7B-4564-A1E0-6DCEC26AF3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1438"/>
            <a:ext cx="9144000" cy="207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 dirty="0"/>
              <a:t>Stable isotope composition is expressed in </a:t>
            </a:r>
            <a:r>
              <a:rPr lang="en-US" altLang="en-US" sz="2800" b="1" dirty="0">
                <a:latin typeface="Symbol" panose="05050102010706020507" pitchFamily="18" charset="2"/>
              </a:rPr>
              <a:t>d</a:t>
            </a:r>
            <a:r>
              <a:rPr lang="en-US" altLang="en-US" sz="2800" b="1" dirty="0"/>
              <a:t> (delta) notation: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latin typeface="Symbol" panose="05050102010706020507" pitchFamily="18" charset="2"/>
              </a:rPr>
              <a:t>d</a:t>
            </a:r>
            <a:r>
              <a:rPr lang="en-US" altLang="en-US" sz="2800" b="1" dirty="0" err="1"/>
              <a:t>R</a:t>
            </a:r>
            <a:r>
              <a:rPr lang="en-US" altLang="en-US" sz="2800" b="1" dirty="0"/>
              <a:t> in </a:t>
            </a:r>
            <a:r>
              <a:rPr lang="en-US" altLang="en-US" sz="2800" b="1" dirty="0">
                <a:solidFill>
                  <a:srgbClr val="FF0000"/>
                </a:solidFill>
              </a:rPr>
              <a:t>‰</a:t>
            </a:r>
            <a:r>
              <a:rPr lang="en-US" altLang="en-US" sz="2800" b="1" dirty="0"/>
              <a:t> =</a:t>
            </a:r>
            <a:endParaRPr lang="en-US" altLang="en-US" sz="2000" b="1" dirty="0"/>
          </a:p>
        </p:txBody>
      </p:sp>
      <p:sp>
        <p:nvSpPr>
          <p:cNvPr id="16387" name="Rectangle 15">
            <a:extLst>
              <a:ext uri="{FF2B5EF4-FFF2-40B4-BE49-F238E27FC236}">
                <a16:creationId xmlns:a16="http://schemas.microsoft.com/office/drawing/2014/main" id="{1C049E33-7A91-416B-BAE9-6FBACC159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3163" y="1196975"/>
            <a:ext cx="1179512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/>
              <a:t>R</a:t>
            </a:r>
            <a:r>
              <a:rPr lang="en-US" altLang="en-US" sz="2800" b="1" baseline="-25000"/>
              <a:t>sample</a:t>
            </a:r>
            <a:endParaRPr lang="en-US" altLang="en-US" sz="2800" b="1"/>
          </a:p>
        </p:txBody>
      </p:sp>
      <p:sp>
        <p:nvSpPr>
          <p:cNvPr id="16388" name="Rectangle 16">
            <a:extLst>
              <a:ext uri="{FF2B5EF4-FFF2-40B4-BE49-F238E27FC236}">
                <a16:creationId xmlns:a16="http://schemas.microsoft.com/office/drawing/2014/main" id="{E014BCFB-20B1-4A9E-B6AC-13F103E47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3050" y="1571625"/>
            <a:ext cx="2252663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/>
              <a:t>–1   x 1000</a:t>
            </a:r>
          </a:p>
        </p:txBody>
      </p:sp>
      <p:sp>
        <p:nvSpPr>
          <p:cNvPr id="16389" name="Rectangle 17">
            <a:extLst>
              <a:ext uri="{FF2B5EF4-FFF2-40B4-BE49-F238E27FC236}">
                <a16:creationId xmlns:a16="http://schemas.microsoft.com/office/drawing/2014/main" id="{C055BF0A-E3A5-4589-B75D-12F42BE389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3163" y="1916113"/>
            <a:ext cx="1436687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/>
              <a:t>R</a:t>
            </a:r>
            <a:r>
              <a:rPr lang="en-US" altLang="en-US" sz="2800" b="1" baseline="-25000"/>
              <a:t>standard</a:t>
            </a:r>
            <a:endParaRPr lang="en-US" altLang="en-US" sz="2800" b="1"/>
          </a:p>
        </p:txBody>
      </p:sp>
      <p:sp>
        <p:nvSpPr>
          <p:cNvPr id="16390" name="Line 18">
            <a:extLst>
              <a:ext uri="{FF2B5EF4-FFF2-40B4-BE49-F238E27FC236}">
                <a16:creationId xmlns:a16="http://schemas.microsoft.com/office/drawing/2014/main" id="{9060D21A-87B7-42FD-9F1B-624011C0B43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8388" y="1843088"/>
            <a:ext cx="1528762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391" name="AutoShape 19">
            <a:extLst>
              <a:ext uri="{FF2B5EF4-FFF2-40B4-BE49-F238E27FC236}">
                <a16:creationId xmlns:a16="http://schemas.microsoft.com/office/drawing/2014/main" id="{3A4C1685-B7DA-46A9-B411-0F9164670B31}"/>
              </a:ext>
            </a:extLst>
          </p:cNvPr>
          <p:cNvSpPr>
            <a:spLocks/>
          </p:cNvSpPr>
          <p:nvPr/>
        </p:nvSpPr>
        <p:spPr bwMode="auto">
          <a:xfrm>
            <a:off x="4540250" y="1092200"/>
            <a:ext cx="165100" cy="1454150"/>
          </a:xfrm>
          <a:prstGeom prst="rightBracket">
            <a:avLst>
              <a:gd name="adj" fmla="val 73397"/>
            </a:avLst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IN" altLang="en-US" sz="2400"/>
          </a:p>
        </p:txBody>
      </p:sp>
      <p:sp>
        <p:nvSpPr>
          <p:cNvPr id="16392" name="AutoShape 20">
            <a:extLst>
              <a:ext uri="{FF2B5EF4-FFF2-40B4-BE49-F238E27FC236}">
                <a16:creationId xmlns:a16="http://schemas.microsoft.com/office/drawing/2014/main" id="{10F6AAD4-556C-4C36-9100-4BB8F39C17D7}"/>
              </a:ext>
            </a:extLst>
          </p:cNvPr>
          <p:cNvSpPr>
            <a:spLocks/>
          </p:cNvSpPr>
          <p:nvPr/>
        </p:nvSpPr>
        <p:spPr bwMode="auto">
          <a:xfrm flipH="1">
            <a:off x="2135188" y="1101725"/>
            <a:ext cx="165100" cy="1454150"/>
          </a:xfrm>
          <a:prstGeom prst="rightBracket">
            <a:avLst>
              <a:gd name="adj" fmla="val 73397"/>
            </a:avLst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IN" altLang="en-US" sz="2400"/>
          </a:p>
        </p:txBody>
      </p:sp>
      <p:sp>
        <p:nvSpPr>
          <p:cNvPr id="16393" name="Oval 21">
            <a:extLst>
              <a:ext uri="{FF2B5EF4-FFF2-40B4-BE49-F238E27FC236}">
                <a16:creationId xmlns:a16="http://schemas.microsoft.com/office/drawing/2014/main" id="{ABFD4884-0054-4984-9F3A-B862E2547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1851025"/>
            <a:ext cx="1812925" cy="841375"/>
          </a:xfrm>
          <a:prstGeom prst="ellipse">
            <a:avLst/>
          </a:prstGeom>
          <a:noFill/>
          <a:ln w="76200">
            <a:solidFill>
              <a:srgbClr val="66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IN" altLang="en-US" sz="2400"/>
          </a:p>
        </p:txBody>
      </p:sp>
      <p:grpSp>
        <p:nvGrpSpPr>
          <p:cNvPr id="2" name="Group 22">
            <a:extLst>
              <a:ext uri="{FF2B5EF4-FFF2-40B4-BE49-F238E27FC236}">
                <a16:creationId xmlns:a16="http://schemas.microsoft.com/office/drawing/2014/main" id="{330D4978-B6A8-45DD-BE8D-5CCD03F9EB9D}"/>
              </a:ext>
            </a:extLst>
          </p:cNvPr>
          <p:cNvGrpSpPr>
            <a:grpSpLocks/>
          </p:cNvGrpSpPr>
          <p:nvPr/>
        </p:nvGrpSpPr>
        <p:grpSpPr bwMode="auto">
          <a:xfrm>
            <a:off x="549275" y="2690813"/>
            <a:ext cx="8094663" cy="3989387"/>
            <a:chOff x="346" y="1695"/>
            <a:chExt cx="5099" cy="2513"/>
          </a:xfrm>
        </p:grpSpPr>
        <p:sp>
          <p:nvSpPr>
            <p:cNvPr id="16395" name="AutoShape 23">
              <a:extLst>
                <a:ext uri="{FF2B5EF4-FFF2-40B4-BE49-F238E27FC236}">
                  <a16:creationId xmlns:a16="http://schemas.microsoft.com/office/drawing/2014/main" id="{D4F41D59-CBB9-4DB0-AEA3-B1EE57165B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" y="2112"/>
              <a:ext cx="5061" cy="2096"/>
            </a:xfrm>
            <a:prstGeom prst="parallelogram">
              <a:avLst>
                <a:gd name="adj" fmla="val 9245"/>
              </a:avLst>
            </a:prstGeom>
            <a:solidFill>
              <a:srgbClr val="66CCFF"/>
            </a:solidFill>
            <a:ln w="508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IN" altLang="en-US" sz="2400"/>
            </a:p>
          </p:txBody>
        </p:sp>
        <p:sp>
          <p:nvSpPr>
            <p:cNvPr id="132120" name="Rectangle 24">
              <a:extLst>
                <a:ext uri="{FF2B5EF4-FFF2-40B4-BE49-F238E27FC236}">
                  <a16:creationId xmlns:a16="http://schemas.microsoft.com/office/drawing/2014/main" id="{50FBB069-970A-45DE-9E35-B3816A7EE3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" y="2133"/>
              <a:ext cx="4878" cy="20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Delta notation indicates the isotope ratio in your sample relative to a standard. </a:t>
              </a:r>
            </a:p>
            <a:p>
              <a:pPr>
                <a:spcBef>
                  <a:spcPct val="50000"/>
                </a:spcBef>
                <a:defRPr/>
              </a:pPr>
              <a:r>
                <a:rPr lang="en-US" sz="2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If the isotope ratio in your sample equals the standard, R</a:t>
              </a:r>
              <a:r>
                <a:rPr lang="en-US" sz="22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sample</a:t>
              </a:r>
              <a:r>
                <a:rPr lang="en-US" sz="2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/R</a:t>
              </a:r>
              <a:r>
                <a:rPr lang="en-US" sz="22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standard</a:t>
              </a:r>
              <a:r>
                <a:rPr lang="en-US" sz="2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 = 1 and </a:t>
              </a:r>
              <a:r>
                <a:rPr lang="en-US" sz="2200" b="1">
                  <a:latin typeface="Symbol" pitchFamily="18" charset="2"/>
                </a:rPr>
                <a:t>d</a:t>
              </a:r>
              <a:r>
                <a:rPr lang="en-US" sz="2200" b="1">
                  <a:latin typeface="Comic Sans MS" charset="0"/>
                </a:rPr>
                <a:t>R = </a:t>
              </a:r>
              <a:r>
                <a:rPr lang="en-US" sz="2200" b="1">
                  <a:solidFill>
                    <a:srgbClr val="FF0000"/>
                  </a:solidFill>
                  <a:latin typeface="Comic Sans MS" charset="0"/>
                </a:rPr>
                <a:t>0‰</a:t>
              </a:r>
              <a:endParaRPr lang="en-US" sz="2200" b="1">
                <a:latin typeface="Comic Sans MS" charset="0"/>
              </a:endParaRPr>
            </a:p>
            <a:p>
              <a:pPr>
                <a:spcBef>
                  <a:spcPct val="50000"/>
                </a:spcBef>
                <a:defRPr/>
              </a:pPr>
              <a:r>
                <a:rPr lang="en-US" sz="2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The International Atomic Energy Association (IAEA) maintains a set of standards used for stable isotope measurements.</a:t>
              </a:r>
              <a:r>
                <a:rPr 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 </a:t>
              </a:r>
            </a:p>
          </p:txBody>
        </p:sp>
        <p:sp>
          <p:nvSpPr>
            <p:cNvPr id="16397" name="Freeform 25">
              <a:extLst>
                <a:ext uri="{FF2B5EF4-FFF2-40B4-BE49-F238E27FC236}">
                  <a16:creationId xmlns:a16="http://schemas.microsoft.com/office/drawing/2014/main" id="{76F4F1BF-2C92-4B61-A603-E72383E6E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6" y="1695"/>
              <a:ext cx="1214" cy="414"/>
            </a:xfrm>
            <a:custGeom>
              <a:avLst/>
              <a:gdLst>
                <a:gd name="T0" fmla="*/ 1214 w 1214"/>
                <a:gd name="T1" fmla="*/ 414 h 414"/>
                <a:gd name="T2" fmla="*/ 913 w 1214"/>
                <a:gd name="T3" fmla="*/ 168 h 414"/>
                <a:gd name="T4" fmla="*/ 501 w 1214"/>
                <a:gd name="T5" fmla="*/ 218 h 414"/>
                <a:gd name="T6" fmla="*/ 0 w 1214"/>
                <a:gd name="T7" fmla="*/ 0 h 41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14"/>
                <a:gd name="T13" fmla="*/ 0 h 414"/>
                <a:gd name="T14" fmla="*/ 1214 w 1214"/>
                <a:gd name="T15" fmla="*/ 414 h 41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14" h="414">
                  <a:moveTo>
                    <a:pt x="1214" y="414"/>
                  </a:moveTo>
                  <a:cubicBezTo>
                    <a:pt x="1081" y="345"/>
                    <a:pt x="1032" y="201"/>
                    <a:pt x="913" y="168"/>
                  </a:cubicBezTo>
                  <a:cubicBezTo>
                    <a:pt x="794" y="135"/>
                    <a:pt x="653" y="246"/>
                    <a:pt x="501" y="218"/>
                  </a:cubicBezTo>
                  <a:cubicBezTo>
                    <a:pt x="349" y="190"/>
                    <a:pt x="104" y="45"/>
                    <a:pt x="0" y="0"/>
                  </a:cubicBezTo>
                </a:path>
              </a:pathLst>
            </a:custGeom>
            <a:noFill/>
            <a:ln w="635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Text Box 3">
            <a:extLst>
              <a:ext uri="{FF2B5EF4-FFF2-40B4-BE49-F238E27FC236}">
                <a16:creationId xmlns:a16="http://schemas.microsoft.com/office/drawing/2014/main" id="{DA636385-D365-4DFC-9921-4238C4B83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1438"/>
            <a:ext cx="9144000" cy="207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800" b="1">
                <a:latin typeface="Comic Sans MS" charset="0"/>
              </a:rPr>
              <a:t>Stable isotope composition is expressed in </a:t>
            </a:r>
            <a:r>
              <a:rPr lang="en-US" sz="2800" b="1">
                <a:latin typeface="Symbol" pitchFamily="18" charset="2"/>
              </a:rPr>
              <a:t>d</a:t>
            </a:r>
            <a:r>
              <a:rPr lang="en-US" sz="2800" b="1">
                <a:latin typeface="Comic Sans MS" charset="0"/>
              </a:rPr>
              <a:t> (delta) notation:</a:t>
            </a:r>
          </a:p>
          <a:p>
            <a:pPr>
              <a:defRPr/>
            </a:pPr>
            <a:endParaRPr lang="en-US" sz="2800" b="1">
              <a:latin typeface="Comic Sans MS" charset="0"/>
            </a:endParaRPr>
          </a:p>
          <a:p>
            <a:pPr>
              <a:defRPr/>
            </a:pPr>
            <a:r>
              <a:rPr lang="en-US" sz="2800" b="1">
                <a:latin typeface="Symbol" pitchFamily="18" charset="2"/>
              </a:rPr>
              <a:t>d</a:t>
            </a:r>
            <a:r>
              <a:rPr lang="en-US" sz="2800" b="1">
                <a:latin typeface="Comic Sans MS" charset="0"/>
              </a:rPr>
              <a:t>R in </a:t>
            </a:r>
            <a:r>
              <a:rPr 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</a:rPr>
              <a:t>‰</a:t>
            </a:r>
            <a:r>
              <a:rPr lang="en-US" sz="2800" b="1">
                <a:latin typeface="Comic Sans MS" charset="0"/>
              </a:rPr>
              <a:t> =</a:t>
            </a:r>
            <a:endParaRPr lang="en-US" sz="2000" b="1">
              <a:latin typeface="Comic Sans MS" charset="0"/>
            </a:endParaRPr>
          </a:p>
        </p:txBody>
      </p:sp>
      <p:sp>
        <p:nvSpPr>
          <p:cNvPr id="17411" name="Rectangle 4">
            <a:extLst>
              <a:ext uri="{FF2B5EF4-FFF2-40B4-BE49-F238E27FC236}">
                <a16:creationId xmlns:a16="http://schemas.microsoft.com/office/drawing/2014/main" id="{39DD56A9-2147-48AB-B621-44F7E1235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3163" y="1196975"/>
            <a:ext cx="1179512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/>
              <a:t>R</a:t>
            </a:r>
            <a:r>
              <a:rPr lang="en-US" altLang="en-US" sz="2800" b="1" baseline="-25000"/>
              <a:t>sample</a:t>
            </a:r>
            <a:endParaRPr lang="en-US" altLang="en-US" sz="2800" b="1"/>
          </a:p>
        </p:txBody>
      </p:sp>
      <p:sp>
        <p:nvSpPr>
          <p:cNvPr id="17412" name="Rectangle 5">
            <a:extLst>
              <a:ext uri="{FF2B5EF4-FFF2-40B4-BE49-F238E27FC236}">
                <a16:creationId xmlns:a16="http://schemas.microsoft.com/office/drawing/2014/main" id="{E7CAE793-D7D6-4568-A0E2-37EB81EA7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3050" y="1571625"/>
            <a:ext cx="2252663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/>
              <a:t>–1   x 1000</a:t>
            </a:r>
          </a:p>
        </p:txBody>
      </p:sp>
      <p:sp>
        <p:nvSpPr>
          <p:cNvPr id="17413" name="Rectangle 6">
            <a:extLst>
              <a:ext uri="{FF2B5EF4-FFF2-40B4-BE49-F238E27FC236}">
                <a16:creationId xmlns:a16="http://schemas.microsoft.com/office/drawing/2014/main" id="{641E1518-8FC5-455F-A3A5-D5A3202AB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3163" y="1916113"/>
            <a:ext cx="1436687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/>
              <a:t>R</a:t>
            </a:r>
            <a:r>
              <a:rPr lang="en-US" altLang="en-US" sz="2800" b="1" baseline="-25000"/>
              <a:t>standard</a:t>
            </a:r>
            <a:endParaRPr lang="en-US" altLang="en-US" sz="2800" b="1"/>
          </a:p>
        </p:txBody>
      </p:sp>
      <p:sp>
        <p:nvSpPr>
          <p:cNvPr id="17414" name="Line 7">
            <a:extLst>
              <a:ext uri="{FF2B5EF4-FFF2-40B4-BE49-F238E27FC236}">
                <a16:creationId xmlns:a16="http://schemas.microsoft.com/office/drawing/2014/main" id="{D7207D3B-CFD2-4CB4-8845-6E0CCE1CCB8D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8388" y="1843088"/>
            <a:ext cx="1528762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7415" name="AutoShape 8">
            <a:extLst>
              <a:ext uri="{FF2B5EF4-FFF2-40B4-BE49-F238E27FC236}">
                <a16:creationId xmlns:a16="http://schemas.microsoft.com/office/drawing/2014/main" id="{914AC1F2-F711-4398-99CD-6DC31DC407CD}"/>
              </a:ext>
            </a:extLst>
          </p:cNvPr>
          <p:cNvSpPr>
            <a:spLocks/>
          </p:cNvSpPr>
          <p:nvPr/>
        </p:nvSpPr>
        <p:spPr bwMode="auto">
          <a:xfrm>
            <a:off x="4540250" y="1092200"/>
            <a:ext cx="165100" cy="1454150"/>
          </a:xfrm>
          <a:prstGeom prst="rightBracket">
            <a:avLst>
              <a:gd name="adj" fmla="val 73397"/>
            </a:avLst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IN" altLang="en-US" sz="2400"/>
          </a:p>
        </p:txBody>
      </p:sp>
      <p:sp>
        <p:nvSpPr>
          <p:cNvPr id="17416" name="AutoShape 9">
            <a:extLst>
              <a:ext uri="{FF2B5EF4-FFF2-40B4-BE49-F238E27FC236}">
                <a16:creationId xmlns:a16="http://schemas.microsoft.com/office/drawing/2014/main" id="{7E63AFA1-22EA-4685-8CDC-DDF0C0172A56}"/>
              </a:ext>
            </a:extLst>
          </p:cNvPr>
          <p:cNvSpPr>
            <a:spLocks/>
          </p:cNvSpPr>
          <p:nvPr/>
        </p:nvSpPr>
        <p:spPr bwMode="auto">
          <a:xfrm flipH="1">
            <a:off x="2135188" y="1101725"/>
            <a:ext cx="165100" cy="1454150"/>
          </a:xfrm>
          <a:prstGeom prst="rightBracket">
            <a:avLst>
              <a:gd name="adj" fmla="val 73397"/>
            </a:avLst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IN" altLang="en-US" sz="2400"/>
          </a:p>
        </p:txBody>
      </p:sp>
      <p:sp>
        <p:nvSpPr>
          <p:cNvPr id="45066" name="Oval 10">
            <a:extLst>
              <a:ext uri="{FF2B5EF4-FFF2-40B4-BE49-F238E27FC236}">
                <a16:creationId xmlns:a16="http://schemas.microsoft.com/office/drawing/2014/main" id="{D228AE51-954B-41BE-9DA1-1303E6134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1341438"/>
            <a:ext cx="1063625" cy="958850"/>
          </a:xfrm>
          <a:prstGeom prst="ellipse">
            <a:avLst/>
          </a:prstGeom>
          <a:noFill/>
          <a:ln w="76200">
            <a:solidFill>
              <a:srgbClr val="66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IN" altLang="en-US" sz="2400"/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3F1C12C1-D43E-4A38-9D6B-7EC2CABE53AF}"/>
              </a:ext>
            </a:extLst>
          </p:cNvPr>
          <p:cNvGrpSpPr>
            <a:grpSpLocks/>
          </p:cNvGrpSpPr>
          <p:nvPr/>
        </p:nvGrpSpPr>
        <p:grpSpPr bwMode="auto">
          <a:xfrm>
            <a:off x="409575" y="2278063"/>
            <a:ext cx="8050213" cy="4360862"/>
            <a:chOff x="344" y="1435"/>
            <a:chExt cx="5071" cy="2747"/>
          </a:xfrm>
        </p:grpSpPr>
        <p:sp>
          <p:nvSpPr>
            <p:cNvPr id="17419" name="AutoShape 13">
              <a:extLst>
                <a:ext uri="{FF2B5EF4-FFF2-40B4-BE49-F238E27FC236}">
                  <a16:creationId xmlns:a16="http://schemas.microsoft.com/office/drawing/2014/main" id="{2CA18292-9188-4858-B964-DC3B4C9A6DF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44" y="2293"/>
              <a:ext cx="5071" cy="188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310 w 21600"/>
                <a:gd name="T13" fmla="*/ 3305 h 21600"/>
                <a:gd name="T14" fmla="*/ 18290 w 21600"/>
                <a:gd name="T15" fmla="*/ 18295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3015" y="21600"/>
                  </a:lnTo>
                  <a:lnTo>
                    <a:pt x="18585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CC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5067" name="Rectangle 11">
              <a:extLst>
                <a:ext uri="{FF2B5EF4-FFF2-40B4-BE49-F238E27FC236}">
                  <a16:creationId xmlns:a16="http://schemas.microsoft.com/office/drawing/2014/main" id="{7D4B1109-FC0B-4F62-AEFF-C0465A69F2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" y="2408"/>
              <a:ext cx="4671" cy="15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0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     Because R</a:t>
              </a:r>
              <a:r>
                <a:rPr lang="en-US" sz="2000" b="1" baseline="-250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sample</a:t>
              </a:r>
              <a:r>
                <a:rPr lang="en-US" sz="20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 never deviates much</a:t>
              </a:r>
            </a:p>
            <a:p>
              <a:pPr>
                <a:spcBef>
                  <a:spcPct val="50000"/>
                </a:spcBef>
                <a:defRPr/>
              </a:pPr>
              <a:r>
                <a:rPr lang="en-US" sz="20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    from R</a:t>
              </a:r>
              <a:r>
                <a:rPr lang="en-US" sz="2000" b="1" baseline="-250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standard</a:t>
              </a:r>
              <a:r>
                <a:rPr lang="en-US" sz="20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 (natural variation in isotope ratios is</a:t>
              </a:r>
            </a:p>
            <a:p>
              <a:pPr>
                <a:spcBef>
                  <a:spcPct val="50000"/>
                </a:spcBef>
                <a:defRPr/>
              </a:pPr>
              <a:r>
                <a:rPr lang="en-US" sz="20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    limited), [(R</a:t>
              </a:r>
              <a:r>
                <a:rPr lang="en-US" sz="2000" b="1" baseline="-250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sample </a:t>
              </a:r>
              <a:r>
                <a:rPr lang="en-US" sz="20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/</a:t>
              </a:r>
              <a:r>
                <a:rPr lang="en-US" sz="2000" b="1" baseline="-250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 </a:t>
              </a:r>
              <a:r>
                <a:rPr lang="en-US" sz="20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R</a:t>
              </a:r>
              <a:r>
                <a:rPr lang="en-US" sz="2000" b="1" baseline="-250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standard</a:t>
              </a:r>
              <a:r>
                <a:rPr lang="en-US" sz="20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)-1] is a small number.</a:t>
              </a:r>
            </a:p>
            <a:p>
              <a:pPr>
                <a:spcBef>
                  <a:spcPct val="50000"/>
                </a:spcBef>
                <a:defRPr/>
              </a:pPr>
              <a:r>
                <a:rPr lang="en-US" sz="20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  In order to make the variation more apparent, one   multiplies the value by 1000, thereby expressing the value in per mil (parts per thousand ; </a:t>
              </a:r>
              <a:r>
                <a:rPr lang="en-US" sz="20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‰</a:t>
              </a:r>
              <a:r>
                <a:rPr lang="en-US" sz="20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) notation</a:t>
              </a:r>
              <a:endPara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</a:endParaRPr>
            </a:p>
          </p:txBody>
        </p:sp>
        <p:sp>
          <p:nvSpPr>
            <p:cNvPr id="17421" name="Freeform 12">
              <a:extLst>
                <a:ext uri="{FF2B5EF4-FFF2-40B4-BE49-F238E27FC236}">
                  <a16:creationId xmlns:a16="http://schemas.microsoft.com/office/drawing/2014/main" id="{EED1F8EF-8487-4251-8193-B07B5A1539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8" y="1435"/>
              <a:ext cx="682" cy="850"/>
            </a:xfrm>
            <a:custGeom>
              <a:avLst/>
              <a:gdLst>
                <a:gd name="T0" fmla="*/ 467 w 682"/>
                <a:gd name="T1" fmla="*/ 850 h 850"/>
                <a:gd name="T2" fmla="*/ 618 w 682"/>
                <a:gd name="T3" fmla="*/ 539 h 850"/>
                <a:gd name="T4" fmla="*/ 80 w 682"/>
                <a:gd name="T5" fmla="*/ 406 h 850"/>
                <a:gd name="T6" fmla="*/ 136 w 682"/>
                <a:gd name="T7" fmla="*/ 0 h 8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2"/>
                <a:gd name="T13" fmla="*/ 0 h 850"/>
                <a:gd name="T14" fmla="*/ 682 w 682"/>
                <a:gd name="T15" fmla="*/ 850 h 8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2" h="850">
                  <a:moveTo>
                    <a:pt x="467" y="850"/>
                  </a:moveTo>
                  <a:cubicBezTo>
                    <a:pt x="492" y="798"/>
                    <a:pt x="682" y="613"/>
                    <a:pt x="618" y="539"/>
                  </a:cubicBezTo>
                  <a:cubicBezTo>
                    <a:pt x="554" y="465"/>
                    <a:pt x="160" y="496"/>
                    <a:pt x="80" y="406"/>
                  </a:cubicBezTo>
                  <a:cubicBezTo>
                    <a:pt x="0" y="316"/>
                    <a:pt x="124" y="85"/>
                    <a:pt x="136" y="0"/>
                  </a:cubicBezTo>
                </a:path>
              </a:pathLst>
            </a:custGeom>
            <a:noFill/>
            <a:ln w="635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ext Box 2">
            <a:extLst>
              <a:ext uri="{FF2B5EF4-FFF2-40B4-BE49-F238E27FC236}">
                <a16:creationId xmlns:a16="http://schemas.microsoft.com/office/drawing/2014/main" id="{2D52C3EA-D000-4722-B5E4-26DC786F66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25" y="111125"/>
            <a:ext cx="29225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</a:rPr>
              <a:t>The</a:t>
            </a:r>
            <a:r>
              <a:rPr lang="en-US" dirty="0">
                <a:latin typeface="Arial" pitchFamily="34" charset="0"/>
              </a:rPr>
              <a:t> </a:t>
            </a:r>
            <a:r>
              <a:rPr lang="en-US" dirty="0">
                <a:latin typeface="Symbol" pitchFamily="18" charset="2"/>
              </a:rPr>
              <a:t>d</a:t>
            </a:r>
            <a:r>
              <a:rPr lang="en-US" dirty="0">
                <a:latin typeface="Arial" pitchFamily="34" charset="0"/>
              </a:rPr>
              <a:t> </a:t>
            </a:r>
            <a:r>
              <a:rPr lang="en-US" dirty="0">
                <a:latin typeface="+mn-lt"/>
              </a:rPr>
              <a:t>(delta notation)</a:t>
            </a:r>
          </a:p>
        </p:txBody>
      </p:sp>
      <p:sp>
        <p:nvSpPr>
          <p:cNvPr id="14340" name="Text Box 3">
            <a:extLst>
              <a:ext uri="{FF2B5EF4-FFF2-40B4-BE49-F238E27FC236}">
                <a16:creationId xmlns:a16="http://schemas.microsoft.com/office/drawing/2014/main" id="{871712EA-C020-44C4-A41C-738379BEF0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854075"/>
            <a:ext cx="31019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dirty="0">
                <a:latin typeface="Symbol" pitchFamily="18" charset="2"/>
              </a:rPr>
              <a:t>d </a:t>
            </a:r>
            <a:r>
              <a:rPr lang="en-US" sz="1800" dirty="0">
                <a:latin typeface="+mn-lt"/>
              </a:rPr>
              <a:t>= [(</a:t>
            </a:r>
            <a:r>
              <a:rPr lang="en-US" sz="1800" dirty="0" err="1">
                <a:latin typeface="+mn-lt"/>
              </a:rPr>
              <a:t>R</a:t>
            </a:r>
            <a:r>
              <a:rPr lang="en-US" sz="1800" baseline="-25000" dirty="0" err="1">
                <a:latin typeface="+mn-lt"/>
              </a:rPr>
              <a:t>samp</a:t>
            </a:r>
            <a:r>
              <a:rPr lang="en-US" sz="1800" dirty="0">
                <a:latin typeface="+mn-lt"/>
              </a:rPr>
              <a:t> – </a:t>
            </a:r>
            <a:r>
              <a:rPr lang="en-US" sz="1800" dirty="0" err="1">
                <a:latin typeface="+mn-lt"/>
              </a:rPr>
              <a:t>R</a:t>
            </a:r>
            <a:r>
              <a:rPr lang="en-US" sz="1800" baseline="-25000" dirty="0" err="1">
                <a:latin typeface="+mn-lt"/>
              </a:rPr>
              <a:t>std</a:t>
            </a:r>
            <a:r>
              <a:rPr lang="en-US" sz="1800" dirty="0">
                <a:latin typeface="+mn-lt"/>
              </a:rPr>
              <a:t>) / </a:t>
            </a:r>
            <a:r>
              <a:rPr lang="en-US" sz="1800" dirty="0" err="1">
                <a:latin typeface="+mn-lt"/>
              </a:rPr>
              <a:t>R</a:t>
            </a:r>
            <a:r>
              <a:rPr lang="en-US" sz="1800" baseline="-25000" dirty="0" err="1">
                <a:latin typeface="+mn-lt"/>
              </a:rPr>
              <a:t>std</a:t>
            </a:r>
            <a:r>
              <a:rPr lang="en-US" sz="1800" dirty="0">
                <a:latin typeface="+mn-lt"/>
              </a:rPr>
              <a:t>] x 1000</a:t>
            </a:r>
          </a:p>
        </p:txBody>
      </p:sp>
      <p:sp>
        <p:nvSpPr>
          <p:cNvPr id="14341" name="Text Box 4">
            <a:extLst>
              <a:ext uri="{FF2B5EF4-FFF2-40B4-BE49-F238E27FC236}">
                <a16:creationId xmlns:a16="http://schemas.microsoft.com/office/drawing/2014/main" id="{DFAC16D1-E431-44DD-BAF1-522BF84D2E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692275"/>
            <a:ext cx="27876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dirty="0">
                <a:latin typeface="Symbol" pitchFamily="18" charset="2"/>
              </a:rPr>
              <a:t>d </a:t>
            </a:r>
            <a:r>
              <a:rPr lang="en-US" sz="1800" dirty="0">
                <a:latin typeface="+mn-lt"/>
              </a:rPr>
              <a:t>= [(</a:t>
            </a:r>
            <a:r>
              <a:rPr lang="en-US" sz="1800" dirty="0" err="1">
                <a:latin typeface="+mn-lt"/>
              </a:rPr>
              <a:t>R</a:t>
            </a:r>
            <a:r>
              <a:rPr lang="en-US" sz="1800" baseline="-25000" dirty="0" err="1">
                <a:latin typeface="+mn-lt"/>
              </a:rPr>
              <a:t>samp</a:t>
            </a:r>
            <a:r>
              <a:rPr lang="en-US" sz="1800" dirty="0">
                <a:latin typeface="+mn-lt"/>
              </a:rPr>
              <a:t> / </a:t>
            </a:r>
            <a:r>
              <a:rPr lang="en-US" sz="1800" dirty="0" err="1">
                <a:latin typeface="+mn-lt"/>
              </a:rPr>
              <a:t>R</a:t>
            </a:r>
            <a:r>
              <a:rPr lang="en-US" sz="1800" baseline="-25000" dirty="0" err="1">
                <a:latin typeface="+mn-lt"/>
              </a:rPr>
              <a:t>std</a:t>
            </a:r>
            <a:r>
              <a:rPr lang="en-US" sz="1800" dirty="0">
                <a:latin typeface="+mn-lt"/>
              </a:rPr>
              <a:t>) -1] x 1000</a:t>
            </a:r>
          </a:p>
        </p:txBody>
      </p:sp>
      <p:sp>
        <p:nvSpPr>
          <p:cNvPr id="14342" name="Text Box 5">
            <a:extLst>
              <a:ext uri="{FF2B5EF4-FFF2-40B4-BE49-F238E27FC236}">
                <a16:creationId xmlns:a16="http://schemas.microsoft.com/office/drawing/2014/main" id="{8AC78180-C41A-4849-AF41-22581BF25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311275"/>
            <a:ext cx="966788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dirty="0">
                <a:latin typeface="+mn-lt"/>
              </a:rPr>
              <a:t>same as </a:t>
            </a:r>
          </a:p>
        </p:txBody>
      </p:sp>
      <p:sp>
        <p:nvSpPr>
          <p:cNvPr id="14343" name="Text Box 6">
            <a:extLst>
              <a:ext uri="{FF2B5EF4-FFF2-40B4-BE49-F238E27FC236}">
                <a16:creationId xmlns:a16="http://schemas.microsoft.com/office/drawing/2014/main" id="{126F01FC-C0DD-4850-8F64-B7AE65505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349500"/>
            <a:ext cx="671195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dirty="0">
                <a:latin typeface="+mn-lt"/>
              </a:rPr>
              <a:t>Again R is the ratio of the heavy to light isotope, and measured with a </a:t>
            </a:r>
          </a:p>
          <a:p>
            <a:pPr>
              <a:defRPr/>
            </a:pPr>
            <a:r>
              <a:rPr lang="en-US" sz="1800" dirty="0">
                <a:latin typeface="+mn-lt"/>
              </a:rPr>
              <a:t>mass spectrometer.</a:t>
            </a:r>
          </a:p>
          <a:p>
            <a:pPr>
              <a:defRPr/>
            </a:pPr>
            <a:endParaRPr lang="en-US" sz="1800" dirty="0">
              <a:latin typeface="+mn-lt"/>
            </a:endParaRPr>
          </a:p>
          <a:p>
            <a:pPr>
              <a:defRPr/>
            </a:pPr>
            <a:r>
              <a:rPr lang="en-US" sz="1800" dirty="0" err="1">
                <a:latin typeface="+mn-lt"/>
              </a:rPr>
              <a:t>R</a:t>
            </a:r>
            <a:r>
              <a:rPr lang="en-US" sz="1800" baseline="-25000" dirty="0" err="1">
                <a:latin typeface="+mn-lt"/>
              </a:rPr>
              <a:t>std</a:t>
            </a:r>
            <a:r>
              <a:rPr lang="en-US" sz="1800" dirty="0">
                <a:latin typeface="+mn-lt"/>
              </a:rPr>
              <a:t> is element specific</a:t>
            </a:r>
          </a:p>
        </p:txBody>
      </p:sp>
      <p:graphicFrame>
        <p:nvGraphicFramePr>
          <p:cNvPr id="19463" name="Object 7">
            <a:extLst>
              <a:ext uri="{FF2B5EF4-FFF2-40B4-BE49-F238E27FC236}">
                <a16:creationId xmlns:a16="http://schemas.microsoft.com/office/drawing/2014/main" id="{CD6BF02B-048C-48D8-A3FE-D149B63A10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3505200"/>
          <a:ext cx="6096000" cy="277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Document" r:id="rId3" imgW="5715000" imgH="2609850" progId="">
                  <p:embed/>
                </p:oleObj>
              </mc:Choice>
              <mc:Fallback>
                <p:oleObj name="Document" r:id="rId3" imgW="5715000" imgH="2609850" progId="">
                  <p:embed/>
                  <p:pic>
                    <p:nvPicPr>
                      <p:cNvPr id="19463" name="Object 7">
                        <a:extLst>
                          <a:ext uri="{FF2B5EF4-FFF2-40B4-BE49-F238E27FC236}">
                            <a16:creationId xmlns:a16="http://schemas.microsoft.com/office/drawing/2014/main" id="{CD6BF02B-048C-48D8-A3FE-D149B63A10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505200"/>
                        <a:ext cx="6096000" cy="277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4" name="Rectangle 10">
            <a:extLst>
              <a:ext uri="{FF2B5EF4-FFF2-40B4-BE49-F238E27FC236}">
                <a16:creationId xmlns:a16="http://schemas.microsoft.com/office/drawing/2014/main" id="{A38B22C8-2A32-4FD9-8C03-6006902F3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1412875"/>
            <a:ext cx="2355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dirty="0">
                <a:latin typeface="+mn-lt"/>
              </a:rPr>
              <a:t>Units </a:t>
            </a:r>
            <a:r>
              <a:rPr lang="en-US" sz="1800" dirty="0">
                <a:solidFill>
                  <a:schemeClr val="accent2"/>
                </a:solidFill>
                <a:latin typeface="+mn-lt"/>
              </a:rPr>
              <a:t>are per mil “‰” </a:t>
            </a:r>
          </a:p>
        </p:txBody>
      </p:sp>
      <p:pic>
        <p:nvPicPr>
          <p:cNvPr id="19465" name="Picture 10" descr="http://meteorites.wustl.edu/id/canyon_diablo_2077m.jpg">
            <a:extLst>
              <a:ext uri="{FF2B5EF4-FFF2-40B4-BE49-F238E27FC236}">
                <a16:creationId xmlns:a16="http://schemas.microsoft.com/office/drawing/2014/main" id="{F9829039-DD79-4929-B798-111BFF857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5334000"/>
            <a:ext cx="180816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DF364AD-5531-4BF3-B92D-55DEC9C39888}"/>
              </a:ext>
            </a:extLst>
          </p:cNvPr>
          <p:cNvSpPr/>
          <p:nvPr/>
        </p:nvSpPr>
        <p:spPr>
          <a:xfrm>
            <a:off x="6629400" y="6477000"/>
            <a:ext cx="1905000" cy="2159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800" dirty="0">
                <a:solidFill>
                  <a:schemeClr val="bg1">
                    <a:lumMod val="65000"/>
                  </a:schemeClr>
                </a:solidFill>
              </a:rPr>
              <a:t>http://meteorites.wustl.edu/id/metal.htm</a:t>
            </a:r>
          </a:p>
        </p:txBody>
      </p:sp>
      <p:sp>
        <p:nvSpPr>
          <p:cNvPr id="19467" name="TextBox 10">
            <a:extLst>
              <a:ext uri="{FF2B5EF4-FFF2-40B4-BE49-F238E27FC236}">
                <a16:creationId xmlns:a16="http://schemas.microsoft.com/office/drawing/2014/main" id="{3560209F-1EB7-4AE9-9D9E-DDB34346A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5029200"/>
            <a:ext cx="29241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1">
                <a:solidFill>
                  <a:schemeClr val="accent2"/>
                </a:solidFill>
              </a:rPr>
              <a:t>FeS from Canyon Diablo Meteorite</a:t>
            </a:r>
          </a:p>
        </p:txBody>
      </p:sp>
      <p:pic>
        <p:nvPicPr>
          <p:cNvPr id="19468" name="Picture 12" descr="http://www.blackriverfossils.org/Portals/0/Product/paleobum/100_0999.JPG">
            <a:extLst>
              <a:ext uri="{FF2B5EF4-FFF2-40B4-BE49-F238E27FC236}">
                <a16:creationId xmlns:a16="http://schemas.microsoft.com/office/drawing/2014/main" id="{C71CF464-FB6A-4F3F-87EA-F501FD35F7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3200400"/>
            <a:ext cx="1828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57365E3-C805-47E1-83E1-177D91D1817F}"/>
              </a:ext>
            </a:extLst>
          </p:cNvPr>
          <p:cNvSpPr/>
          <p:nvPr/>
        </p:nvSpPr>
        <p:spPr>
          <a:xfrm>
            <a:off x="6324600" y="4572000"/>
            <a:ext cx="2286000" cy="3381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800" dirty="0">
                <a:solidFill>
                  <a:schemeClr val="bg1">
                    <a:lumMod val="65000"/>
                  </a:schemeClr>
                </a:solidFill>
              </a:rPr>
              <a:t>http://www.blackriverfossils.org/FlorenceCounty/tabid/53/TripReports/753/Default.aspx</a:t>
            </a:r>
          </a:p>
        </p:txBody>
      </p:sp>
      <p:sp>
        <p:nvSpPr>
          <p:cNvPr id="14350" name="TextBox 13">
            <a:extLst>
              <a:ext uri="{FF2B5EF4-FFF2-40B4-BE49-F238E27FC236}">
                <a16:creationId xmlns:a16="http://schemas.microsoft.com/office/drawing/2014/main" id="{AEFB630A-AA35-47C2-A5AE-EF8B74FA70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2971800"/>
            <a:ext cx="13716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1200" b="1" dirty="0">
                <a:solidFill>
                  <a:schemeClr val="accent2"/>
                </a:solidFill>
                <a:latin typeface="+mn-lt"/>
              </a:rPr>
              <a:t>PeeDee Belemnite</a:t>
            </a:r>
          </a:p>
        </p:txBody>
      </p:sp>
      <p:pic>
        <p:nvPicPr>
          <p:cNvPr id="2" name="Picture 14" descr="http://www.environment.gov.au/heritage/places/national/dinosaur-stampede/lark-quarry/images/print-belemnite.jpg">
            <a:extLst>
              <a:ext uri="{FF2B5EF4-FFF2-40B4-BE49-F238E27FC236}">
                <a16:creationId xmlns:a16="http://schemas.microsoft.com/office/drawing/2014/main" id="{8044A393-CE65-43B7-9D9B-B4510FE0C4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2819400"/>
            <a:ext cx="1095375" cy="96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72" name="Picture 16" descr="http://www.sustainablesushi.net/wp-content/uploads/2009/11/diving_ocean-7923871.jpg">
            <a:extLst>
              <a:ext uri="{FF2B5EF4-FFF2-40B4-BE49-F238E27FC236}">
                <a16:creationId xmlns:a16="http://schemas.microsoft.com/office/drawing/2014/main" id="{7C3A9390-529D-465B-A734-9F610C6DA5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419600"/>
            <a:ext cx="11430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73" name="TextBox 16">
            <a:extLst>
              <a:ext uri="{FF2B5EF4-FFF2-40B4-BE49-F238E27FC236}">
                <a16:creationId xmlns:a16="http://schemas.microsoft.com/office/drawing/2014/main" id="{10D3C9EB-4558-4FC5-9FAA-57161972AA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191000"/>
            <a:ext cx="1295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1">
                <a:solidFill>
                  <a:schemeClr val="accent2"/>
                </a:solidFill>
              </a:rPr>
              <a:t>SMOW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212D2B7-3482-4992-BE6F-FBD80189839C}"/>
              </a:ext>
            </a:extLst>
          </p:cNvPr>
          <p:cNvSpPr/>
          <p:nvPr/>
        </p:nvSpPr>
        <p:spPr>
          <a:xfrm>
            <a:off x="152400" y="5257800"/>
            <a:ext cx="1524000" cy="3381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800" dirty="0">
                <a:solidFill>
                  <a:schemeClr val="bg1">
                    <a:lumMod val="65000"/>
                  </a:schemeClr>
                </a:solidFill>
              </a:rPr>
              <a:t>http://www.sustainablesushi.net/tag/greenpeace/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837CF4A-021A-4D4D-AD29-E0E42A26A5CE}"/>
              </a:ext>
            </a:extLst>
          </p:cNvPr>
          <p:cNvSpPr/>
          <p:nvPr/>
        </p:nvSpPr>
        <p:spPr>
          <a:xfrm>
            <a:off x="0" y="6642100"/>
            <a:ext cx="5562600" cy="2159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800" dirty="0">
                <a:solidFill>
                  <a:schemeClr val="bg1">
                    <a:lumMod val="65000"/>
                  </a:schemeClr>
                </a:solidFill>
              </a:rPr>
              <a:t>Flying Belemnite: http://www.environment.gov.au/heritage/places/national/dinosaur-stampede/lark-quarry/environment-print.html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>
            <a:extLst>
              <a:ext uri="{FF2B5EF4-FFF2-40B4-BE49-F238E27FC236}">
                <a16:creationId xmlns:a16="http://schemas.microsoft.com/office/drawing/2014/main" id="{052631C0-4E2B-430E-BDB8-6EB3F4D1D2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88" y="1154113"/>
            <a:ext cx="9013825" cy="434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tabLst>
                <a:tab pos="179388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79388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793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793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793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793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793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793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79388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/>
              <a:t>Some other international standards of known </a:t>
            </a:r>
            <a:r>
              <a:rPr lang="en-US" altLang="en-US" sz="2400" b="1">
                <a:latin typeface="Symbol" panose="05050102010706020507" pitchFamily="18" charset="2"/>
              </a:rPr>
              <a:t>d</a:t>
            </a:r>
            <a:r>
              <a:rPr lang="en-US" altLang="en-US" sz="2400" b="1"/>
              <a:t> value: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b="1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/>
              <a:t>Standard Light Antarctic Precipitation (</a:t>
            </a:r>
            <a:r>
              <a:rPr lang="en-US" altLang="en-US" sz="2400" b="1">
                <a:solidFill>
                  <a:srgbClr val="FF0000"/>
                </a:solidFill>
              </a:rPr>
              <a:t>SLAP</a:t>
            </a:r>
            <a:r>
              <a:rPr lang="en-US" altLang="en-US" sz="2400" b="1"/>
              <a:t>) with values: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b="1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/>
              <a:t>			 </a:t>
            </a:r>
            <a:r>
              <a:rPr lang="en-US" altLang="en-US" sz="2400" b="1">
                <a:latin typeface="Symbol" panose="05050102010706020507" pitchFamily="18" charset="2"/>
              </a:rPr>
              <a:t>d</a:t>
            </a:r>
            <a:r>
              <a:rPr lang="en-US" altLang="en-US" sz="2400" b="1"/>
              <a:t>D = </a:t>
            </a:r>
            <a:r>
              <a:rPr lang="en-US" altLang="en-US" sz="2400" b="1">
                <a:solidFill>
                  <a:srgbClr val="FF0000"/>
                </a:solidFill>
              </a:rPr>
              <a:t>-428‰</a:t>
            </a:r>
            <a:r>
              <a:rPr lang="en-US" altLang="en-US" sz="2400" b="1"/>
              <a:t> 		 </a:t>
            </a:r>
            <a:r>
              <a:rPr lang="en-US" altLang="en-US" sz="2400" b="1">
                <a:latin typeface="Symbol" panose="05050102010706020507" pitchFamily="18" charset="2"/>
              </a:rPr>
              <a:t>d</a:t>
            </a:r>
            <a:r>
              <a:rPr lang="en-US" altLang="en-US" sz="2400" b="1" baseline="30000"/>
              <a:t>18</a:t>
            </a:r>
            <a:r>
              <a:rPr lang="en-US" altLang="en-US" sz="2400" b="1"/>
              <a:t>O = </a:t>
            </a:r>
            <a:r>
              <a:rPr lang="en-US" altLang="en-US" sz="2400" b="1">
                <a:solidFill>
                  <a:srgbClr val="FF0000"/>
                </a:solidFill>
              </a:rPr>
              <a:t>-55.5‰</a:t>
            </a:r>
            <a:endParaRPr lang="en-US" altLang="en-US" sz="24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b="1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/>
              <a:t>Greenland Icesheet Precipitation (</a:t>
            </a:r>
            <a:r>
              <a:rPr lang="en-US" altLang="en-US" sz="2400" b="1">
                <a:solidFill>
                  <a:srgbClr val="D60093"/>
                </a:solidFill>
              </a:rPr>
              <a:t>GISP</a:t>
            </a:r>
            <a:r>
              <a:rPr lang="en-US" altLang="en-US" sz="2400" b="1"/>
              <a:t>) with values: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b="1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/>
              <a:t>			 </a:t>
            </a:r>
            <a:r>
              <a:rPr lang="en-US" altLang="en-US" sz="2400" b="1">
                <a:latin typeface="Symbol" panose="05050102010706020507" pitchFamily="18" charset="2"/>
              </a:rPr>
              <a:t>d</a:t>
            </a:r>
            <a:r>
              <a:rPr lang="en-US" altLang="en-US" sz="2400" b="1"/>
              <a:t>D = </a:t>
            </a:r>
            <a:r>
              <a:rPr lang="en-US" altLang="en-US" sz="2400" b="1">
                <a:solidFill>
                  <a:srgbClr val="D60093"/>
                </a:solidFill>
              </a:rPr>
              <a:t>-189.7‰</a:t>
            </a:r>
            <a:r>
              <a:rPr lang="en-US" altLang="en-US" sz="2400" b="1"/>
              <a:t> 	 </a:t>
            </a:r>
            <a:r>
              <a:rPr lang="en-US" altLang="en-US" sz="2400" b="1">
                <a:latin typeface="Symbol" panose="05050102010706020507" pitchFamily="18" charset="2"/>
              </a:rPr>
              <a:t>d</a:t>
            </a:r>
            <a:r>
              <a:rPr lang="en-US" altLang="en-US" sz="2400" b="1" baseline="30000"/>
              <a:t>18</a:t>
            </a:r>
            <a:r>
              <a:rPr lang="en-US" altLang="en-US" sz="2400" b="1"/>
              <a:t>O = </a:t>
            </a:r>
            <a:r>
              <a:rPr lang="en-US" altLang="en-US" sz="2400" b="1">
                <a:solidFill>
                  <a:srgbClr val="D60093"/>
                </a:solidFill>
              </a:rPr>
              <a:t>-24.8‰</a:t>
            </a:r>
            <a:endParaRPr lang="en-US" altLang="en-US" sz="24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b="1"/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6B34E6B8-1E0B-477C-A1FA-21DCE0CA3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69400" cy="584200"/>
          </a:xfrm>
          <a:prstGeom prst="rect">
            <a:avLst/>
          </a:prstGeom>
          <a:solidFill>
            <a:srgbClr val="66CCFF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32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Comic Sans MS" charset="0"/>
              </a:rPr>
              <a:t>             Standards	</a:t>
            </a:r>
            <a:r>
              <a:rPr lang="en-US" sz="2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Comic Sans MS" charset="0"/>
              </a:rPr>
              <a:t>		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7">
            <a:extLst>
              <a:ext uri="{FF2B5EF4-FFF2-40B4-BE49-F238E27FC236}">
                <a16:creationId xmlns:a16="http://schemas.microsoft.com/office/drawing/2014/main" id="{E61F631B-B0A8-4ECB-9668-73D27AEF933F}"/>
              </a:ext>
            </a:extLst>
          </p:cNvPr>
          <p:cNvGrpSpPr>
            <a:grpSpLocks/>
          </p:cNvGrpSpPr>
          <p:nvPr/>
        </p:nvGrpSpPr>
        <p:grpSpPr bwMode="auto">
          <a:xfrm>
            <a:off x="1806575" y="4294188"/>
            <a:ext cx="406400" cy="1522412"/>
            <a:chOff x="4654" y="2372"/>
            <a:chExt cx="256" cy="959"/>
          </a:xfrm>
        </p:grpSpPr>
        <p:sp>
          <p:nvSpPr>
            <p:cNvPr id="25621" name="Oval 8">
              <a:extLst>
                <a:ext uri="{FF2B5EF4-FFF2-40B4-BE49-F238E27FC236}">
                  <a16:creationId xmlns:a16="http://schemas.microsoft.com/office/drawing/2014/main" id="{27B8CC36-B0FD-45A7-9553-1F4121B385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4" y="2372"/>
              <a:ext cx="256" cy="742"/>
            </a:xfrm>
            <a:prstGeom prst="ellipse">
              <a:avLst/>
            </a:prstGeom>
            <a:solidFill>
              <a:srgbClr val="66FF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IN" altLang="en-US" sz="2400"/>
            </a:p>
          </p:txBody>
        </p:sp>
        <p:sp>
          <p:nvSpPr>
            <p:cNvPr id="25622" name="Line 9">
              <a:extLst>
                <a:ext uri="{FF2B5EF4-FFF2-40B4-BE49-F238E27FC236}">
                  <a16:creationId xmlns:a16="http://schemas.microsoft.com/office/drawing/2014/main" id="{9E65E0F5-8FC2-41AE-B5F7-3549A334C5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85" y="2532"/>
              <a:ext cx="0" cy="5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25623" name="Group 10">
              <a:extLst>
                <a:ext uri="{FF2B5EF4-FFF2-40B4-BE49-F238E27FC236}">
                  <a16:creationId xmlns:a16="http://schemas.microsoft.com/office/drawing/2014/main" id="{35E80BFA-6C83-49CB-98E0-9A20F2DF6E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99" y="2549"/>
              <a:ext cx="80" cy="534"/>
              <a:chOff x="4699" y="2549"/>
              <a:chExt cx="80" cy="534"/>
            </a:xfrm>
          </p:grpSpPr>
          <p:sp>
            <p:nvSpPr>
              <p:cNvPr id="25630" name="Line 11">
                <a:extLst>
                  <a:ext uri="{FF2B5EF4-FFF2-40B4-BE49-F238E27FC236}">
                    <a16:creationId xmlns:a16="http://schemas.microsoft.com/office/drawing/2014/main" id="{4662FF3E-3047-4E61-B29E-60CB540852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699" y="2549"/>
                <a:ext cx="80" cy="1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631" name="Line 12">
                <a:extLst>
                  <a:ext uri="{FF2B5EF4-FFF2-40B4-BE49-F238E27FC236}">
                    <a16:creationId xmlns:a16="http://schemas.microsoft.com/office/drawing/2014/main" id="{C9C2BFE3-99B5-4708-AC4A-7656D76A3E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699" y="2683"/>
                <a:ext cx="80" cy="1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632" name="Line 13">
                <a:extLst>
                  <a:ext uri="{FF2B5EF4-FFF2-40B4-BE49-F238E27FC236}">
                    <a16:creationId xmlns:a16="http://schemas.microsoft.com/office/drawing/2014/main" id="{6D7ED104-6691-43FF-BF0A-65C2300737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699" y="2817"/>
                <a:ext cx="80" cy="1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633" name="Line 14">
                <a:extLst>
                  <a:ext uri="{FF2B5EF4-FFF2-40B4-BE49-F238E27FC236}">
                    <a16:creationId xmlns:a16="http://schemas.microsoft.com/office/drawing/2014/main" id="{E041368C-03D3-4610-BCCD-B5E9B79CBF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699" y="2951"/>
                <a:ext cx="80" cy="1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5624" name="Group 15">
              <a:extLst>
                <a:ext uri="{FF2B5EF4-FFF2-40B4-BE49-F238E27FC236}">
                  <a16:creationId xmlns:a16="http://schemas.microsoft.com/office/drawing/2014/main" id="{D041359B-C90C-4259-A18D-59E9689A0F53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4783" y="2555"/>
              <a:ext cx="80" cy="534"/>
              <a:chOff x="4699" y="2549"/>
              <a:chExt cx="80" cy="534"/>
            </a:xfrm>
          </p:grpSpPr>
          <p:sp>
            <p:nvSpPr>
              <p:cNvPr id="25626" name="Line 16">
                <a:extLst>
                  <a:ext uri="{FF2B5EF4-FFF2-40B4-BE49-F238E27FC236}">
                    <a16:creationId xmlns:a16="http://schemas.microsoft.com/office/drawing/2014/main" id="{30478CAF-8094-47C5-9BB0-97681E6A5B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699" y="2549"/>
                <a:ext cx="80" cy="1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627" name="Line 17">
                <a:extLst>
                  <a:ext uri="{FF2B5EF4-FFF2-40B4-BE49-F238E27FC236}">
                    <a16:creationId xmlns:a16="http://schemas.microsoft.com/office/drawing/2014/main" id="{304F337A-BDAD-442F-9078-327B53F41B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699" y="2683"/>
                <a:ext cx="80" cy="1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628" name="Line 18">
                <a:extLst>
                  <a:ext uri="{FF2B5EF4-FFF2-40B4-BE49-F238E27FC236}">
                    <a16:creationId xmlns:a16="http://schemas.microsoft.com/office/drawing/2014/main" id="{837BE6E6-48F2-433D-9030-8DD4ABAEF5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699" y="2817"/>
                <a:ext cx="80" cy="1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629" name="Line 19">
                <a:extLst>
                  <a:ext uri="{FF2B5EF4-FFF2-40B4-BE49-F238E27FC236}">
                    <a16:creationId xmlns:a16="http://schemas.microsoft.com/office/drawing/2014/main" id="{B35EBC87-B467-4608-8C07-9DF498878D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699" y="2951"/>
                <a:ext cx="80" cy="1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5625" name="Line 20">
              <a:extLst>
                <a:ext uri="{FF2B5EF4-FFF2-40B4-BE49-F238E27FC236}">
                  <a16:creationId xmlns:a16="http://schemas.microsoft.com/office/drawing/2014/main" id="{1DCEF31E-4F9D-4F18-9670-49C1AE90CC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3120"/>
              <a:ext cx="0" cy="21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603" name="Group 21">
            <a:extLst>
              <a:ext uri="{FF2B5EF4-FFF2-40B4-BE49-F238E27FC236}">
                <a16:creationId xmlns:a16="http://schemas.microsoft.com/office/drawing/2014/main" id="{B4A55589-0A0B-4EC3-A6EC-81CEFC0AFE58}"/>
              </a:ext>
            </a:extLst>
          </p:cNvPr>
          <p:cNvGrpSpPr>
            <a:grpSpLocks/>
          </p:cNvGrpSpPr>
          <p:nvPr/>
        </p:nvGrpSpPr>
        <p:grpSpPr bwMode="auto">
          <a:xfrm>
            <a:off x="1846263" y="2060575"/>
            <a:ext cx="406400" cy="1522413"/>
            <a:chOff x="3176" y="2553"/>
            <a:chExt cx="256" cy="959"/>
          </a:xfrm>
        </p:grpSpPr>
        <p:sp>
          <p:nvSpPr>
            <p:cNvPr id="25608" name="Oval 22">
              <a:extLst>
                <a:ext uri="{FF2B5EF4-FFF2-40B4-BE49-F238E27FC236}">
                  <a16:creationId xmlns:a16="http://schemas.microsoft.com/office/drawing/2014/main" id="{147F34A3-9237-4EB7-BE36-57EA0728B9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6" y="2553"/>
              <a:ext cx="256" cy="74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IN" altLang="en-US" sz="2400"/>
            </a:p>
          </p:txBody>
        </p:sp>
        <p:sp>
          <p:nvSpPr>
            <p:cNvPr id="25609" name="Line 23">
              <a:extLst>
                <a:ext uri="{FF2B5EF4-FFF2-40B4-BE49-F238E27FC236}">
                  <a16:creationId xmlns:a16="http://schemas.microsoft.com/office/drawing/2014/main" id="{CA8B5BAD-A022-4ACF-B2A2-E06F7B8FFD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07" y="2713"/>
              <a:ext cx="0" cy="5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25610" name="Group 24">
              <a:extLst>
                <a:ext uri="{FF2B5EF4-FFF2-40B4-BE49-F238E27FC236}">
                  <a16:creationId xmlns:a16="http://schemas.microsoft.com/office/drawing/2014/main" id="{699A06A7-D837-4602-9E77-58EA1AE0B3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1" y="2730"/>
              <a:ext cx="80" cy="534"/>
              <a:chOff x="4699" y="2549"/>
              <a:chExt cx="80" cy="534"/>
            </a:xfrm>
          </p:grpSpPr>
          <p:sp>
            <p:nvSpPr>
              <p:cNvPr id="25617" name="Line 25">
                <a:extLst>
                  <a:ext uri="{FF2B5EF4-FFF2-40B4-BE49-F238E27FC236}">
                    <a16:creationId xmlns:a16="http://schemas.microsoft.com/office/drawing/2014/main" id="{3E29AAA1-93A2-471A-9D67-D90419903D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699" y="2549"/>
                <a:ext cx="80" cy="1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618" name="Line 26">
                <a:extLst>
                  <a:ext uri="{FF2B5EF4-FFF2-40B4-BE49-F238E27FC236}">
                    <a16:creationId xmlns:a16="http://schemas.microsoft.com/office/drawing/2014/main" id="{C4620C3C-C8A3-44A7-9DC9-4FA820F0A8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699" y="2683"/>
                <a:ext cx="80" cy="1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619" name="Line 27">
                <a:extLst>
                  <a:ext uri="{FF2B5EF4-FFF2-40B4-BE49-F238E27FC236}">
                    <a16:creationId xmlns:a16="http://schemas.microsoft.com/office/drawing/2014/main" id="{4AC26E06-6984-4DA9-A5C8-BD10636584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699" y="2817"/>
                <a:ext cx="80" cy="1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620" name="Line 28">
                <a:extLst>
                  <a:ext uri="{FF2B5EF4-FFF2-40B4-BE49-F238E27FC236}">
                    <a16:creationId xmlns:a16="http://schemas.microsoft.com/office/drawing/2014/main" id="{85FC271D-C071-45D7-B1AE-EE0A91C391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699" y="2951"/>
                <a:ext cx="80" cy="1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5611" name="Group 29">
              <a:extLst>
                <a:ext uri="{FF2B5EF4-FFF2-40B4-BE49-F238E27FC236}">
                  <a16:creationId xmlns:a16="http://schemas.microsoft.com/office/drawing/2014/main" id="{497741AB-1FEB-4EF7-A98B-496202F75D66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3305" y="2736"/>
              <a:ext cx="80" cy="534"/>
              <a:chOff x="4699" y="2549"/>
              <a:chExt cx="80" cy="534"/>
            </a:xfrm>
          </p:grpSpPr>
          <p:sp>
            <p:nvSpPr>
              <p:cNvPr id="25613" name="Line 30">
                <a:extLst>
                  <a:ext uri="{FF2B5EF4-FFF2-40B4-BE49-F238E27FC236}">
                    <a16:creationId xmlns:a16="http://schemas.microsoft.com/office/drawing/2014/main" id="{32D38A46-2ADB-482C-A3AA-6F7992246E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699" y="2549"/>
                <a:ext cx="80" cy="1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614" name="Line 31">
                <a:extLst>
                  <a:ext uri="{FF2B5EF4-FFF2-40B4-BE49-F238E27FC236}">
                    <a16:creationId xmlns:a16="http://schemas.microsoft.com/office/drawing/2014/main" id="{E04D6BDA-23D5-4A94-BDF6-8672F7C5DB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699" y="2683"/>
                <a:ext cx="80" cy="1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615" name="Line 32">
                <a:extLst>
                  <a:ext uri="{FF2B5EF4-FFF2-40B4-BE49-F238E27FC236}">
                    <a16:creationId xmlns:a16="http://schemas.microsoft.com/office/drawing/2014/main" id="{F43588CF-24FC-4185-A892-23349CC666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699" y="2817"/>
                <a:ext cx="80" cy="1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616" name="Line 33">
                <a:extLst>
                  <a:ext uri="{FF2B5EF4-FFF2-40B4-BE49-F238E27FC236}">
                    <a16:creationId xmlns:a16="http://schemas.microsoft.com/office/drawing/2014/main" id="{55C3E496-A4A8-4E0A-9709-3F6A3BF7FD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699" y="2951"/>
                <a:ext cx="80" cy="1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5612" name="Line 34">
              <a:extLst>
                <a:ext uri="{FF2B5EF4-FFF2-40B4-BE49-F238E27FC236}">
                  <a16:creationId xmlns:a16="http://schemas.microsoft.com/office/drawing/2014/main" id="{DEA3A3DA-1B7D-43B7-B8C2-ABF9270045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7" y="3301"/>
              <a:ext cx="0" cy="21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5604" name="Text Box 35">
            <a:extLst>
              <a:ext uri="{FF2B5EF4-FFF2-40B4-BE49-F238E27FC236}">
                <a16:creationId xmlns:a16="http://schemas.microsoft.com/office/drawing/2014/main" id="{92734333-726F-4158-8711-CDD1D785F5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375" y="2593975"/>
            <a:ext cx="396557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1.0860% </a:t>
            </a:r>
            <a:r>
              <a:rPr lang="en-US" altLang="en-US" sz="2400" baseline="30000"/>
              <a:t>13</a:t>
            </a:r>
            <a:r>
              <a:rPr lang="en-US" altLang="en-US" sz="2400"/>
              <a:t>C = </a:t>
            </a:r>
            <a:r>
              <a:rPr lang="en-US" altLang="en-US" sz="2400" b="1">
                <a:solidFill>
                  <a:srgbClr val="FF0000"/>
                </a:solidFill>
                <a:latin typeface="Symbol" panose="05050102010706020507" pitchFamily="18" charset="2"/>
              </a:rPr>
              <a:t>d</a:t>
            </a:r>
            <a:r>
              <a:rPr lang="en-US" altLang="en-US" sz="2400" b="1" baseline="30000">
                <a:solidFill>
                  <a:srgbClr val="FF0000"/>
                </a:solidFill>
              </a:rPr>
              <a:t>13</a:t>
            </a:r>
            <a:r>
              <a:rPr lang="en-US" altLang="en-US" sz="2400" b="1">
                <a:solidFill>
                  <a:srgbClr val="FF0000"/>
                </a:solidFill>
              </a:rPr>
              <a:t>C -23‰</a:t>
            </a:r>
            <a:r>
              <a:rPr lang="en-US" altLang="en-US" sz="2400"/>
              <a:t> </a:t>
            </a:r>
          </a:p>
        </p:txBody>
      </p:sp>
      <p:sp>
        <p:nvSpPr>
          <p:cNvPr id="25605" name="Text Box 36">
            <a:extLst>
              <a:ext uri="{FF2B5EF4-FFF2-40B4-BE49-F238E27FC236}">
                <a16:creationId xmlns:a16="http://schemas.microsoft.com/office/drawing/2014/main" id="{63ED65B8-3DF3-4A76-9ED5-93E2FDE974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5788" y="4670425"/>
            <a:ext cx="400685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1.0805% </a:t>
            </a:r>
            <a:r>
              <a:rPr lang="en-US" altLang="en-US" sz="2400" baseline="30000"/>
              <a:t>13</a:t>
            </a:r>
            <a:r>
              <a:rPr lang="en-US" altLang="en-US" sz="2400"/>
              <a:t>C = </a:t>
            </a:r>
            <a:r>
              <a:rPr lang="en-US" altLang="en-US" sz="2400" b="1">
                <a:solidFill>
                  <a:srgbClr val="FF0000"/>
                </a:solidFill>
                <a:latin typeface="Symbol" panose="05050102010706020507" pitchFamily="18" charset="2"/>
              </a:rPr>
              <a:t>d</a:t>
            </a:r>
            <a:r>
              <a:rPr lang="en-US" altLang="en-US" sz="2400" b="1" baseline="30000">
                <a:solidFill>
                  <a:srgbClr val="FF0000"/>
                </a:solidFill>
              </a:rPr>
              <a:t>13</a:t>
            </a:r>
            <a:r>
              <a:rPr lang="en-US" altLang="en-US" sz="2400" b="1">
                <a:solidFill>
                  <a:srgbClr val="FF0000"/>
                </a:solidFill>
              </a:rPr>
              <a:t>C -28‰</a:t>
            </a:r>
            <a:r>
              <a:rPr lang="en-US" altLang="en-US" sz="2400" b="1"/>
              <a:t> </a:t>
            </a:r>
          </a:p>
        </p:txBody>
      </p:sp>
      <p:sp>
        <p:nvSpPr>
          <p:cNvPr id="25606" name="Rectangle 39">
            <a:extLst>
              <a:ext uri="{FF2B5EF4-FFF2-40B4-BE49-F238E27FC236}">
                <a16:creationId xmlns:a16="http://schemas.microsoft.com/office/drawing/2014/main" id="{0E175538-C7C7-431A-9103-411DEFD4B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52513"/>
            <a:ext cx="914400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en-US" sz="2400" b="1"/>
              <a:t>Those same two leaves have more interpretable isotope “values” in delta notation.</a:t>
            </a:r>
          </a:p>
        </p:txBody>
      </p:sp>
      <p:sp>
        <p:nvSpPr>
          <p:cNvPr id="25607" name="Rectangle 34">
            <a:extLst>
              <a:ext uri="{FF2B5EF4-FFF2-40B4-BE49-F238E27FC236}">
                <a16:creationId xmlns:a16="http://schemas.microsoft.com/office/drawing/2014/main" id="{900D3A08-837B-4099-8C41-8AF439204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" y="44450"/>
            <a:ext cx="1549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/>
              <a:t>delta notation</a:t>
            </a:r>
            <a:endParaRPr lang="en-US" altLang="en-US" sz="1600"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ext Box 2">
            <a:extLst>
              <a:ext uri="{FF2B5EF4-FFF2-40B4-BE49-F238E27FC236}">
                <a16:creationId xmlns:a16="http://schemas.microsoft.com/office/drawing/2014/main" id="{69B5D441-EB31-4BCD-9B8F-53769E23E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2492375"/>
            <a:ext cx="9864725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32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</a:rPr>
              <a:t>Using and referring to the delta values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>
            <a:extLst>
              <a:ext uri="{FF2B5EF4-FFF2-40B4-BE49-F238E27FC236}">
                <a16:creationId xmlns:a16="http://schemas.microsoft.com/office/drawing/2014/main" id="{F1D47C98-A99F-44AF-8A52-3179EAADC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" y="1292225"/>
            <a:ext cx="8966200" cy="200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 dirty="0">
                <a:latin typeface="Comic Sans MS" charset="0"/>
              </a:rPr>
              <a:t>a </a:t>
            </a:r>
            <a:r>
              <a:rPr lang="en-US" b="1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</a:rPr>
              <a:t>LIGHTER</a:t>
            </a:r>
            <a:r>
              <a:rPr lang="en-US" b="1" dirty="0">
                <a:latin typeface="Comic Sans MS" charset="0"/>
              </a:rPr>
              <a:t> sample contains more of the lighter isotope, </a:t>
            </a:r>
            <a:r>
              <a:rPr lang="en-US" b="1" dirty="0">
                <a:solidFill>
                  <a:srgbClr val="D60093"/>
                </a:solidFill>
                <a:latin typeface="Comic Sans MS" charset="0"/>
              </a:rPr>
              <a:t>relative to</a:t>
            </a:r>
            <a:r>
              <a:rPr lang="en-US" b="1" dirty="0">
                <a:latin typeface="Comic Sans MS" charset="0"/>
              </a:rPr>
              <a:t> another sample</a:t>
            </a:r>
          </a:p>
          <a:p>
            <a:pPr>
              <a:spcBef>
                <a:spcPct val="50000"/>
              </a:spcBef>
              <a:defRPr/>
            </a:pPr>
            <a:r>
              <a:rPr lang="en-US" b="1" dirty="0">
                <a:latin typeface="Comic Sans MS" charset="0"/>
              </a:rPr>
              <a:t>a </a:t>
            </a:r>
            <a:r>
              <a:rPr lang="en-US" b="1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</a:rPr>
              <a:t>HEAVIER</a:t>
            </a:r>
            <a:r>
              <a:rPr lang="en-US" b="1" dirty="0">
                <a:latin typeface="Comic Sans MS" charset="0"/>
              </a:rPr>
              <a:t> samples contains more of the heavier isotope, </a:t>
            </a:r>
            <a:r>
              <a:rPr lang="en-US" b="1" dirty="0">
                <a:solidFill>
                  <a:srgbClr val="D60093"/>
                </a:solidFill>
                <a:latin typeface="Comic Sans MS" charset="0"/>
              </a:rPr>
              <a:t>relative to</a:t>
            </a:r>
            <a:r>
              <a:rPr lang="en-US" b="1" dirty="0">
                <a:latin typeface="Comic Sans MS" charset="0"/>
              </a:rPr>
              <a:t> another sample</a:t>
            </a:r>
          </a:p>
        </p:txBody>
      </p:sp>
      <p:grpSp>
        <p:nvGrpSpPr>
          <p:cNvPr id="27651" name="Group 8">
            <a:extLst>
              <a:ext uri="{FF2B5EF4-FFF2-40B4-BE49-F238E27FC236}">
                <a16:creationId xmlns:a16="http://schemas.microsoft.com/office/drawing/2014/main" id="{05001ED3-5823-4347-A8BC-A4320A952536}"/>
              </a:ext>
            </a:extLst>
          </p:cNvPr>
          <p:cNvGrpSpPr>
            <a:grpSpLocks/>
          </p:cNvGrpSpPr>
          <p:nvPr/>
        </p:nvGrpSpPr>
        <p:grpSpPr bwMode="auto">
          <a:xfrm>
            <a:off x="142875" y="-4763"/>
            <a:ext cx="8623300" cy="3908426"/>
            <a:chOff x="90" y="-3"/>
            <a:chExt cx="5432" cy="2462"/>
          </a:xfrm>
        </p:grpSpPr>
        <p:sp>
          <p:nvSpPr>
            <p:cNvPr id="21506" name="Text Box 2">
              <a:extLst>
                <a:ext uri="{FF2B5EF4-FFF2-40B4-BE49-F238E27FC236}">
                  <a16:creationId xmlns:a16="http://schemas.microsoft.com/office/drawing/2014/main" id="{7F0D5FC5-7648-4E46-8A5E-D1CFA17F2F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" y="-3"/>
              <a:ext cx="5432" cy="419"/>
            </a:xfrm>
            <a:prstGeom prst="rect">
              <a:avLst/>
            </a:prstGeom>
            <a:solidFill>
              <a:srgbClr val="F0F0F0"/>
            </a:solidFill>
            <a:ln w="9525">
              <a:solidFill>
                <a:srgbClr val="FFFF66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60000"/>
                </a:lnSpc>
                <a:defRPr/>
              </a:pPr>
              <a:endParaRPr lang="en-US" sz="3200" b="1" dirty="0">
                <a:latin typeface="Comic Sans MS" charset="0"/>
              </a:endParaRPr>
            </a:p>
            <a:p>
              <a:pPr>
                <a:defRPr/>
              </a:pPr>
              <a:r>
                <a:rPr lang="en-US" b="1" u="sng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LIGHT vs. HEAVY SAMPLES</a:t>
              </a:r>
              <a:endParaRPr lang="en-US" sz="2000" b="1" dirty="0">
                <a:latin typeface="Comic Sans MS" charset="0"/>
              </a:endParaRPr>
            </a:p>
          </p:txBody>
        </p:sp>
        <p:sp>
          <p:nvSpPr>
            <p:cNvPr id="21508" name="Rectangle 4">
              <a:extLst>
                <a:ext uri="{FF2B5EF4-FFF2-40B4-BE49-F238E27FC236}">
                  <a16:creationId xmlns:a16="http://schemas.microsoft.com/office/drawing/2014/main" id="{FCF45083-3D41-4BFC-B30D-54A5AB29CB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" y="2127"/>
              <a:ext cx="3553" cy="332"/>
            </a:xfrm>
            <a:prstGeom prst="rect">
              <a:avLst/>
            </a:prstGeom>
            <a:solidFill>
              <a:srgbClr val="F0F0F0"/>
            </a:solidFill>
            <a:ln w="9525">
              <a:solidFill>
                <a:srgbClr val="FFFF66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1" u="sng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DEPLETED vs. ENRICHED SAMPLES</a:t>
              </a:r>
              <a:endParaRPr lang="en-US" b="1">
                <a:latin typeface="Comic Sans MS" charset="0"/>
              </a:endParaRPr>
            </a:p>
          </p:txBody>
        </p:sp>
      </p:grpSp>
      <p:sp>
        <p:nvSpPr>
          <p:cNvPr id="21509" name="Rectangle 5">
            <a:extLst>
              <a:ext uri="{FF2B5EF4-FFF2-40B4-BE49-F238E27FC236}">
                <a16:creationId xmlns:a16="http://schemas.microsoft.com/office/drawing/2014/main" id="{5A1A5402-1D95-427F-AD07-89B271E7C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4221163"/>
            <a:ext cx="9001125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 dirty="0">
                <a:latin typeface="Comic Sans MS" charset="0"/>
              </a:rPr>
              <a:t>a sample </a:t>
            </a:r>
            <a:r>
              <a:rPr lang="en-US" b="1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</a:rPr>
              <a:t>“DEPLETED” IN THE HEAVY ISOTOPE</a:t>
            </a:r>
            <a:r>
              <a:rPr lang="en-US" b="1" dirty="0">
                <a:latin typeface="Comic Sans MS" charset="0"/>
              </a:rPr>
              <a:t> contains less of the heavy isotope and more of the light isotope, </a:t>
            </a:r>
            <a:r>
              <a:rPr lang="en-US" b="1" dirty="0">
                <a:solidFill>
                  <a:srgbClr val="D60093"/>
                </a:solidFill>
                <a:latin typeface="Comic Sans MS" charset="0"/>
              </a:rPr>
              <a:t>relative to</a:t>
            </a:r>
            <a:r>
              <a:rPr lang="en-US" b="1" dirty="0">
                <a:latin typeface="Comic Sans MS" charset="0"/>
              </a:rPr>
              <a:t> another sample</a:t>
            </a:r>
          </a:p>
          <a:p>
            <a:pPr>
              <a:spcBef>
                <a:spcPct val="50000"/>
              </a:spcBef>
              <a:defRPr/>
            </a:pPr>
            <a:r>
              <a:rPr lang="en-US" b="1" dirty="0">
                <a:latin typeface="Comic Sans MS" charset="0"/>
              </a:rPr>
              <a:t>a sample </a:t>
            </a:r>
            <a:r>
              <a:rPr lang="en-US" b="1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</a:rPr>
              <a:t>“ENRICHED” IN THE LIGHT ISOTOPE</a:t>
            </a:r>
            <a:r>
              <a:rPr lang="en-US" b="1" dirty="0">
                <a:latin typeface="Comic Sans MS" charset="0"/>
              </a:rPr>
              <a:t> contains more of the light isotope and less of the heavy isotope, </a:t>
            </a:r>
            <a:r>
              <a:rPr lang="en-US" b="1" dirty="0">
                <a:solidFill>
                  <a:srgbClr val="D60093"/>
                </a:solidFill>
                <a:latin typeface="Comic Sans MS" charset="0"/>
              </a:rPr>
              <a:t>relative to</a:t>
            </a:r>
            <a:r>
              <a:rPr lang="en-US" b="1" dirty="0">
                <a:latin typeface="Comic Sans MS" charset="0"/>
              </a:rPr>
              <a:t> another sample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autoUpdateAnimBg="0"/>
      <p:bldP spid="21509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>
            <a:extLst>
              <a:ext uri="{FF2B5EF4-FFF2-40B4-BE49-F238E27FC236}">
                <a16:creationId xmlns:a16="http://schemas.microsoft.com/office/drawing/2014/main" id="{117BD930-630D-4046-908C-66D489E57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175" y="71438"/>
            <a:ext cx="8882063" cy="658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/>
              <a:t>Using the </a:t>
            </a:r>
            <a:r>
              <a:rPr lang="en-US" altLang="en-US">
                <a:latin typeface="Symbol" panose="05050102010706020507" pitchFamily="18" charset="2"/>
              </a:rPr>
              <a:t>d</a:t>
            </a:r>
            <a:r>
              <a:rPr lang="en-US" altLang="en-US"/>
              <a:t>D signature in H</a:t>
            </a:r>
            <a:r>
              <a:rPr lang="en-US" altLang="en-US" baseline="-25000"/>
              <a:t>2</a:t>
            </a:r>
            <a:r>
              <a:rPr lang="en-US" altLang="en-US"/>
              <a:t>O as an example:</a:t>
            </a:r>
          </a:p>
        </p:txBody>
      </p:sp>
      <p:grpSp>
        <p:nvGrpSpPr>
          <p:cNvPr id="28675" name="Group 3">
            <a:extLst>
              <a:ext uri="{FF2B5EF4-FFF2-40B4-BE49-F238E27FC236}">
                <a16:creationId xmlns:a16="http://schemas.microsoft.com/office/drawing/2014/main" id="{C0A660DA-B294-4367-87A4-2AEE4CF5D82B}"/>
              </a:ext>
            </a:extLst>
          </p:cNvPr>
          <p:cNvGrpSpPr>
            <a:grpSpLocks/>
          </p:cNvGrpSpPr>
          <p:nvPr/>
        </p:nvGrpSpPr>
        <p:grpSpPr bwMode="auto">
          <a:xfrm>
            <a:off x="1460500" y="1381125"/>
            <a:ext cx="225425" cy="4756150"/>
            <a:chOff x="236" y="1167"/>
            <a:chExt cx="142" cy="2996"/>
          </a:xfrm>
        </p:grpSpPr>
        <p:sp>
          <p:nvSpPr>
            <p:cNvPr id="28687" name="Line 4">
              <a:extLst>
                <a:ext uri="{FF2B5EF4-FFF2-40B4-BE49-F238E27FC236}">
                  <a16:creationId xmlns:a16="http://schemas.microsoft.com/office/drawing/2014/main" id="{37072A08-5709-499B-8027-0994FFC116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" y="1167"/>
              <a:ext cx="0" cy="299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28688" name="Group 5">
              <a:extLst>
                <a:ext uri="{FF2B5EF4-FFF2-40B4-BE49-F238E27FC236}">
                  <a16:creationId xmlns:a16="http://schemas.microsoft.com/office/drawing/2014/main" id="{0B8C3CD4-AB40-45B4-9542-DE93D437D9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7" y="1170"/>
              <a:ext cx="141" cy="2993"/>
              <a:chOff x="237" y="1170"/>
              <a:chExt cx="217" cy="2993"/>
            </a:xfrm>
          </p:grpSpPr>
          <p:sp>
            <p:nvSpPr>
              <p:cNvPr id="28689" name="Line 6">
                <a:extLst>
                  <a:ext uri="{FF2B5EF4-FFF2-40B4-BE49-F238E27FC236}">
                    <a16:creationId xmlns:a16="http://schemas.microsoft.com/office/drawing/2014/main" id="{F05090B1-3C3B-4F63-AB5D-8DC82BDFC3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7" y="1170"/>
                <a:ext cx="20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690" name="Line 7">
                <a:extLst>
                  <a:ext uri="{FF2B5EF4-FFF2-40B4-BE49-F238E27FC236}">
                    <a16:creationId xmlns:a16="http://schemas.microsoft.com/office/drawing/2014/main" id="{F0141228-4E65-43DD-84F7-1D768C2495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7" y="1383"/>
                <a:ext cx="20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691" name="Line 8">
                <a:extLst>
                  <a:ext uri="{FF2B5EF4-FFF2-40B4-BE49-F238E27FC236}">
                    <a16:creationId xmlns:a16="http://schemas.microsoft.com/office/drawing/2014/main" id="{B6EE5FE4-34E1-46AE-971E-532A1B19D2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7" y="1597"/>
                <a:ext cx="20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692" name="Line 9">
                <a:extLst>
                  <a:ext uri="{FF2B5EF4-FFF2-40B4-BE49-F238E27FC236}">
                    <a16:creationId xmlns:a16="http://schemas.microsoft.com/office/drawing/2014/main" id="{CAED6E8E-2B5A-4487-97CC-F88B38D604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7" y="1811"/>
                <a:ext cx="20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693" name="Line 10">
                <a:extLst>
                  <a:ext uri="{FF2B5EF4-FFF2-40B4-BE49-F238E27FC236}">
                    <a16:creationId xmlns:a16="http://schemas.microsoft.com/office/drawing/2014/main" id="{260C3EC5-5F88-4374-A319-F8D437269B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7" y="2025"/>
                <a:ext cx="20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694" name="Line 11">
                <a:extLst>
                  <a:ext uri="{FF2B5EF4-FFF2-40B4-BE49-F238E27FC236}">
                    <a16:creationId xmlns:a16="http://schemas.microsoft.com/office/drawing/2014/main" id="{098FDD60-FB37-4C92-B127-568104ACDD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7" y="2238"/>
                <a:ext cx="20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695" name="Line 12">
                <a:extLst>
                  <a:ext uri="{FF2B5EF4-FFF2-40B4-BE49-F238E27FC236}">
                    <a16:creationId xmlns:a16="http://schemas.microsoft.com/office/drawing/2014/main" id="{108E0167-5D6A-46AB-BFC3-8DADC3BD24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7" y="2452"/>
                <a:ext cx="20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696" name="Line 13">
                <a:extLst>
                  <a:ext uri="{FF2B5EF4-FFF2-40B4-BE49-F238E27FC236}">
                    <a16:creationId xmlns:a16="http://schemas.microsoft.com/office/drawing/2014/main" id="{936424FB-DB12-4771-9612-DA3B854CBD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7" y="2666"/>
                <a:ext cx="20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697" name="Line 14">
                <a:extLst>
                  <a:ext uri="{FF2B5EF4-FFF2-40B4-BE49-F238E27FC236}">
                    <a16:creationId xmlns:a16="http://schemas.microsoft.com/office/drawing/2014/main" id="{C28BD389-0AA8-4D53-98FD-BD0C2A5993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7" y="2880"/>
                <a:ext cx="20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698" name="Line 15">
                <a:extLst>
                  <a:ext uri="{FF2B5EF4-FFF2-40B4-BE49-F238E27FC236}">
                    <a16:creationId xmlns:a16="http://schemas.microsoft.com/office/drawing/2014/main" id="{CB13E0E2-B7DB-4FD4-AF76-E3569050A1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7" y="3094"/>
                <a:ext cx="20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699" name="Line 16">
                <a:extLst>
                  <a:ext uri="{FF2B5EF4-FFF2-40B4-BE49-F238E27FC236}">
                    <a16:creationId xmlns:a16="http://schemas.microsoft.com/office/drawing/2014/main" id="{11BF4E3E-69F3-4148-833A-9647C400E8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7" y="3307"/>
                <a:ext cx="20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700" name="Line 17">
                <a:extLst>
                  <a:ext uri="{FF2B5EF4-FFF2-40B4-BE49-F238E27FC236}">
                    <a16:creationId xmlns:a16="http://schemas.microsoft.com/office/drawing/2014/main" id="{2BBE6548-1DF2-45AE-B4FF-86BC060698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7" y="3521"/>
                <a:ext cx="20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701" name="Line 18">
                <a:extLst>
                  <a:ext uri="{FF2B5EF4-FFF2-40B4-BE49-F238E27FC236}">
                    <a16:creationId xmlns:a16="http://schemas.microsoft.com/office/drawing/2014/main" id="{F2F2EC6E-54B9-4A93-B58E-9640D1DDD4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7" y="3735"/>
                <a:ext cx="20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702" name="Line 19">
                <a:extLst>
                  <a:ext uri="{FF2B5EF4-FFF2-40B4-BE49-F238E27FC236}">
                    <a16:creationId xmlns:a16="http://schemas.microsoft.com/office/drawing/2014/main" id="{65AB167D-5A03-4900-8BFC-9E31AC5274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7" y="3949"/>
                <a:ext cx="20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703" name="Line 20">
                <a:extLst>
                  <a:ext uri="{FF2B5EF4-FFF2-40B4-BE49-F238E27FC236}">
                    <a16:creationId xmlns:a16="http://schemas.microsoft.com/office/drawing/2014/main" id="{FD321DD4-343C-49B5-BA17-14F03115FA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" y="4163"/>
                <a:ext cx="20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8676" name="Text Box 21">
            <a:extLst>
              <a:ext uri="{FF2B5EF4-FFF2-40B4-BE49-F238E27FC236}">
                <a16:creationId xmlns:a16="http://schemas.microsoft.com/office/drawing/2014/main" id="{C707A19B-0201-4E74-88D4-0A317DFF8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2838" y="1174750"/>
            <a:ext cx="369887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0</a:t>
            </a:r>
          </a:p>
        </p:txBody>
      </p:sp>
      <p:sp>
        <p:nvSpPr>
          <p:cNvPr id="28677" name="Text Box 22">
            <a:extLst>
              <a:ext uri="{FF2B5EF4-FFF2-40B4-BE49-F238E27FC236}">
                <a16:creationId xmlns:a16="http://schemas.microsoft.com/office/drawing/2014/main" id="{876FFC59-B253-427D-B6F6-FB4B155D9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363" y="3525838"/>
            <a:ext cx="86995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-200</a:t>
            </a:r>
          </a:p>
        </p:txBody>
      </p:sp>
      <p:sp>
        <p:nvSpPr>
          <p:cNvPr id="28678" name="Text Box 23">
            <a:extLst>
              <a:ext uri="{FF2B5EF4-FFF2-40B4-BE49-F238E27FC236}">
                <a16:creationId xmlns:a16="http://schemas.microsoft.com/office/drawing/2014/main" id="{1114A00A-41E7-40BE-B92C-094A9D6ACD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363" y="5876925"/>
            <a:ext cx="86995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-400</a:t>
            </a:r>
          </a:p>
        </p:txBody>
      </p:sp>
      <p:sp>
        <p:nvSpPr>
          <p:cNvPr id="28679" name="Text Box 24">
            <a:extLst>
              <a:ext uri="{FF2B5EF4-FFF2-40B4-BE49-F238E27FC236}">
                <a16:creationId xmlns:a16="http://schemas.microsoft.com/office/drawing/2014/main" id="{1B2BA936-538D-4EE5-BB55-923003216F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13" y="2360613"/>
            <a:ext cx="887412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Symbol" panose="05050102010706020507" pitchFamily="18" charset="2"/>
              </a:rPr>
              <a:t>d</a:t>
            </a:r>
            <a:r>
              <a:rPr lang="en-US" altLang="en-US" sz="2400"/>
              <a:t>D (‰)</a:t>
            </a:r>
          </a:p>
        </p:txBody>
      </p:sp>
      <p:sp>
        <p:nvSpPr>
          <p:cNvPr id="20505" name="Line 25">
            <a:extLst>
              <a:ext uri="{FF2B5EF4-FFF2-40B4-BE49-F238E27FC236}">
                <a16:creationId xmlns:a16="http://schemas.microsoft.com/office/drawing/2014/main" id="{D906E877-B0C4-4138-BA6F-57916C93C19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24100" y="1387475"/>
            <a:ext cx="0" cy="1724025"/>
          </a:xfrm>
          <a:prstGeom prst="line">
            <a:avLst/>
          </a:prstGeom>
          <a:noFill/>
          <a:ln w="88900">
            <a:solidFill>
              <a:srgbClr val="0066CC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0506" name="Text Box 26">
            <a:extLst>
              <a:ext uri="{FF2B5EF4-FFF2-40B4-BE49-F238E27FC236}">
                <a16:creationId xmlns:a16="http://schemas.microsoft.com/office/drawing/2014/main" id="{2B37618F-426B-4F6C-951E-6ECC74310E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6488" y="1792288"/>
            <a:ext cx="3930650" cy="136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Char char="Ø"/>
              <a:defRPr/>
            </a:pPr>
            <a:r>
              <a:rPr lang="en-US" b="1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</a:rPr>
              <a:t> isotopically </a:t>
            </a:r>
            <a:r>
              <a:rPr lang="en-US" b="1" u="sng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</a:rPr>
              <a:t>heavier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n-US" b="1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</a:rPr>
              <a:t> </a:t>
            </a:r>
            <a:r>
              <a:rPr lang="en-US" b="1" u="sng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</a:rPr>
              <a:t>enriched</a:t>
            </a:r>
            <a:r>
              <a:rPr lang="en-US" b="1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</a:rPr>
              <a:t> in D (</a:t>
            </a:r>
            <a:r>
              <a:rPr lang="en-US" b="1" baseline="3000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</a:rPr>
              <a:t>2</a:t>
            </a:r>
            <a:r>
              <a:rPr lang="en-US" b="1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</a:rPr>
              <a:t>H)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n-US" b="1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</a:rPr>
              <a:t> </a:t>
            </a:r>
            <a:r>
              <a:rPr lang="en-US" b="1" u="sng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</a:rPr>
              <a:t>depleted</a:t>
            </a:r>
            <a:r>
              <a:rPr lang="en-US" b="1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</a:rPr>
              <a:t> in H</a:t>
            </a:r>
          </a:p>
        </p:txBody>
      </p:sp>
      <p:sp>
        <p:nvSpPr>
          <p:cNvPr id="20507" name="Line 27">
            <a:extLst>
              <a:ext uri="{FF2B5EF4-FFF2-40B4-BE49-F238E27FC236}">
                <a16:creationId xmlns:a16="http://schemas.microsoft.com/office/drawing/2014/main" id="{8012BDF0-7849-4B45-81B3-693C5CBA25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24100" y="4387850"/>
            <a:ext cx="0" cy="1724025"/>
          </a:xfrm>
          <a:prstGeom prst="line">
            <a:avLst/>
          </a:prstGeom>
          <a:noFill/>
          <a:ln w="88900">
            <a:solidFill>
              <a:srgbClr val="0066CC"/>
            </a:solidFill>
            <a:round/>
            <a:headEnd type="triangle" w="lg" len="med"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0508" name="Text Box 28">
            <a:extLst>
              <a:ext uri="{FF2B5EF4-FFF2-40B4-BE49-F238E27FC236}">
                <a16:creationId xmlns:a16="http://schemas.microsoft.com/office/drawing/2014/main" id="{AC8B8447-57E4-4599-953B-2806A4F5C2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6488" y="4491038"/>
            <a:ext cx="3930650" cy="136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Char char="Ø"/>
              <a:defRPr/>
            </a:pPr>
            <a:r>
              <a:rPr lang="en-US" b="1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</a:rPr>
              <a:t> isotopically </a:t>
            </a:r>
            <a:r>
              <a:rPr lang="en-US" b="1" u="sng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</a:rPr>
              <a:t>lighter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n-US" b="1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</a:rPr>
              <a:t> </a:t>
            </a:r>
            <a:r>
              <a:rPr lang="en-US" b="1" u="sng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</a:rPr>
              <a:t>depleted</a:t>
            </a:r>
            <a:r>
              <a:rPr lang="en-US" b="1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</a:rPr>
              <a:t> in D (</a:t>
            </a:r>
            <a:r>
              <a:rPr lang="en-US" b="1" baseline="3000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</a:rPr>
              <a:t>2</a:t>
            </a:r>
            <a:r>
              <a:rPr lang="en-US" b="1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</a:rPr>
              <a:t>H)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n-US" b="1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</a:rPr>
              <a:t> </a:t>
            </a:r>
            <a:r>
              <a:rPr lang="en-US" b="1" u="sng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</a:rPr>
              <a:t>enriched</a:t>
            </a:r>
            <a:r>
              <a:rPr lang="en-US" b="1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</a:rPr>
              <a:t> in H</a:t>
            </a:r>
          </a:p>
        </p:txBody>
      </p:sp>
      <p:grpSp>
        <p:nvGrpSpPr>
          <p:cNvPr id="4" name="Group 31">
            <a:extLst>
              <a:ext uri="{FF2B5EF4-FFF2-40B4-BE49-F238E27FC236}">
                <a16:creationId xmlns:a16="http://schemas.microsoft.com/office/drawing/2014/main" id="{77CEB6F9-2AEF-4DFA-BB46-F8B02AF7B8AC}"/>
              </a:ext>
            </a:extLst>
          </p:cNvPr>
          <p:cNvGrpSpPr>
            <a:grpSpLocks/>
          </p:cNvGrpSpPr>
          <p:nvPr/>
        </p:nvGrpSpPr>
        <p:grpSpPr bwMode="auto">
          <a:xfrm>
            <a:off x="5827713" y="1735138"/>
            <a:ext cx="3316287" cy="4235450"/>
            <a:chOff x="3671" y="1093"/>
            <a:chExt cx="2089" cy="2668"/>
          </a:xfrm>
        </p:grpSpPr>
        <p:sp>
          <p:nvSpPr>
            <p:cNvPr id="20509" name="Text Box 29">
              <a:extLst>
                <a:ext uri="{FF2B5EF4-FFF2-40B4-BE49-F238E27FC236}">
                  <a16:creationId xmlns:a16="http://schemas.microsoft.com/office/drawing/2014/main" id="{A97D4782-F5DB-4615-A0F8-45C2958892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1" y="1093"/>
              <a:ext cx="2089" cy="1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 b="1">
                  <a:solidFill>
                    <a:srgbClr val="D6009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such values are found in warm climates, at low elevation and low latitudes, evaporated water</a:t>
              </a:r>
            </a:p>
          </p:txBody>
        </p:sp>
        <p:sp>
          <p:nvSpPr>
            <p:cNvPr id="20510" name="Text Box 30">
              <a:extLst>
                <a:ext uri="{FF2B5EF4-FFF2-40B4-BE49-F238E27FC236}">
                  <a16:creationId xmlns:a16="http://schemas.microsoft.com/office/drawing/2014/main" id="{8A6A444D-C917-46FE-B70C-7B4056928A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1" y="2811"/>
              <a:ext cx="2089" cy="9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 b="1">
                  <a:solidFill>
                    <a:srgbClr val="D6009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</a:rPr>
                <a:t>such values are found in cold climates, at high elevation and high latitudes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0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6" grpId="0" autoUpdateAnimBg="0"/>
      <p:bldP spid="20508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7">
            <a:extLst>
              <a:ext uri="{FF2B5EF4-FFF2-40B4-BE49-F238E27FC236}">
                <a16:creationId xmlns:a16="http://schemas.microsoft.com/office/drawing/2014/main" id="{43371BB8-F472-497B-9F85-B04A63B577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" y="1171575"/>
            <a:ext cx="7045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We define a measurement reporting convention (</a:t>
            </a:r>
            <a:r>
              <a:rPr lang="en-US" altLang="en-US" sz="2000">
                <a:latin typeface="Symbol" panose="05050102010706020507" pitchFamily="18" charset="2"/>
              </a:rPr>
              <a:t>d</a:t>
            </a:r>
            <a:r>
              <a:rPr lang="en-US" altLang="en-US" sz="2000"/>
              <a:t> or “delta” units):</a:t>
            </a:r>
          </a:p>
        </p:txBody>
      </p:sp>
      <p:sp>
        <p:nvSpPr>
          <p:cNvPr id="29699" name="Text Box 8">
            <a:extLst>
              <a:ext uri="{FF2B5EF4-FFF2-40B4-BE49-F238E27FC236}">
                <a16:creationId xmlns:a16="http://schemas.microsoft.com/office/drawing/2014/main" id="{030F5418-F8F7-44F8-BF0B-4D034BF04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92138"/>
            <a:ext cx="822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Each isotopic measurement is reported relative to a </a:t>
            </a:r>
            <a:r>
              <a:rPr lang="en-US" altLang="en-US" sz="2400" b="1"/>
              <a:t>standard</a:t>
            </a:r>
          </a:p>
        </p:txBody>
      </p:sp>
      <p:sp>
        <p:nvSpPr>
          <p:cNvPr id="29700" name="Text Box 10">
            <a:extLst>
              <a:ext uri="{FF2B5EF4-FFF2-40B4-BE49-F238E27FC236}">
                <a16:creationId xmlns:a16="http://schemas.microsoft.com/office/drawing/2014/main" id="{6106A720-CEB7-4B39-9BDA-5CBFBE5946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5805488"/>
            <a:ext cx="3128962" cy="711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Note that ‘deltas’ are named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after the heavy isotope</a:t>
            </a:r>
            <a:endParaRPr lang="en-US" altLang="en-US" sz="2000" b="1"/>
          </a:p>
        </p:txBody>
      </p:sp>
      <p:graphicFrame>
        <p:nvGraphicFramePr>
          <p:cNvPr id="29701" name="Object 11">
            <a:extLst>
              <a:ext uri="{FF2B5EF4-FFF2-40B4-BE49-F238E27FC236}">
                <a16:creationId xmlns:a16="http://schemas.microsoft.com/office/drawing/2014/main" id="{CE858E56-038C-4BA2-B47E-C614044A5B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1658938"/>
          <a:ext cx="6858000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Equation" r:id="rId3" imgW="4279900" imgH="482600" progId="Equation.3">
                  <p:embed/>
                </p:oleObj>
              </mc:Choice>
              <mc:Fallback>
                <p:oleObj name="Equation" r:id="rId3" imgW="4279900" imgH="482600" progId="Equation.3">
                  <p:embed/>
                  <p:pic>
                    <p:nvPicPr>
                      <p:cNvPr id="29701" name="Object 11">
                        <a:extLst>
                          <a:ext uri="{FF2B5EF4-FFF2-40B4-BE49-F238E27FC236}">
                            <a16:creationId xmlns:a16="http://schemas.microsoft.com/office/drawing/2014/main" id="{CE858E56-038C-4BA2-B47E-C614044A5B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658938"/>
                        <a:ext cx="6858000" cy="769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12">
            <a:extLst>
              <a:ext uri="{FF2B5EF4-FFF2-40B4-BE49-F238E27FC236}">
                <a16:creationId xmlns:a16="http://schemas.microsoft.com/office/drawing/2014/main" id="{103670AC-534C-4D0A-958E-D1AA465BF1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2573338"/>
          <a:ext cx="4275138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Equation" r:id="rId5" imgW="2667000" imgH="469900" progId="Equation.3">
                  <p:embed/>
                </p:oleObj>
              </mc:Choice>
              <mc:Fallback>
                <p:oleObj name="Equation" r:id="rId5" imgW="2667000" imgH="469900" progId="Equation.3">
                  <p:embed/>
                  <p:pic>
                    <p:nvPicPr>
                      <p:cNvPr id="29702" name="Object 12">
                        <a:extLst>
                          <a:ext uri="{FF2B5EF4-FFF2-40B4-BE49-F238E27FC236}">
                            <a16:creationId xmlns:a16="http://schemas.microsoft.com/office/drawing/2014/main" id="{103670AC-534C-4D0A-958E-D1AA465BF1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573338"/>
                        <a:ext cx="4275138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3" name="Object 13">
            <a:extLst>
              <a:ext uri="{FF2B5EF4-FFF2-40B4-BE49-F238E27FC236}">
                <a16:creationId xmlns:a16="http://schemas.microsoft.com/office/drawing/2014/main" id="{FBAC6353-8E62-447F-864F-6BC033DD04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3487738"/>
          <a:ext cx="366395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Equation" r:id="rId7" imgW="2286000" imgH="457200" progId="Equation.3">
                  <p:embed/>
                </p:oleObj>
              </mc:Choice>
              <mc:Fallback>
                <p:oleObj name="Equation" r:id="rId7" imgW="2286000" imgH="457200" progId="Equation.3">
                  <p:embed/>
                  <p:pic>
                    <p:nvPicPr>
                      <p:cNvPr id="29703" name="Object 13">
                        <a:extLst>
                          <a:ext uri="{FF2B5EF4-FFF2-40B4-BE49-F238E27FC236}">
                            <a16:creationId xmlns:a16="http://schemas.microsoft.com/office/drawing/2014/main" id="{FBAC6353-8E62-447F-864F-6BC033DD04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487738"/>
                        <a:ext cx="3663950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4" descr="E&amp;H_Chapter-05_Figure-02">
            <a:extLst>
              <a:ext uri="{FF2B5EF4-FFF2-40B4-BE49-F238E27FC236}">
                <a16:creationId xmlns:a16="http://schemas.microsoft.com/office/drawing/2014/main" id="{371F85FF-6768-4EEB-806F-8705804F87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108"/>
          <a:stretch>
            <a:fillRect/>
          </a:stretch>
        </p:blipFill>
        <p:spPr bwMode="auto">
          <a:xfrm>
            <a:off x="2730500" y="1524000"/>
            <a:ext cx="6413500" cy="435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3" name="Text Box 20">
            <a:extLst>
              <a:ext uri="{FF2B5EF4-FFF2-40B4-BE49-F238E27FC236}">
                <a16:creationId xmlns:a16="http://schemas.microsoft.com/office/drawing/2014/main" id="{189F3137-DB1D-41A3-9845-885C60834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828800"/>
            <a:ext cx="32004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</a:rPr>
              <a:t>1. Input as gases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</a:rPr>
              <a:t>2. Gases Ionized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</a:rPr>
              <a:t>3. Gases/ions accelerated in vacuum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</a:rPr>
              <a:t>4. Gases bent by magnetic field according to mass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</a:rPr>
              <a:t>5. Gases detected</a:t>
            </a:r>
          </a:p>
        </p:txBody>
      </p:sp>
      <p:sp>
        <p:nvSpPr>
          <p:cNvPr id="30724" name="Text Box 5">
            <a:extLst>
              <a:ext uri="{FF2B5EF4-FFF2-40B4-BE49-F238E27FC236}">
                <a16:creationId xmlns:a16="http://schemas.microsoft.com/office/drawing/2014/main" id="{E6712EA6-3983-485A-84A8-FE72DC8365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52400"/>
            <a:ext cx="74406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333399"/>
                </a:solidFill>
              </a:rPr>
              <a:t>Isotope Ratio Mass Spectrometer (IRMS)</a:t>
            </a:r>
          </a:p>
        </p:txBody>
      </p:sp>
      <p:sp>
        <p:nvSpPr>
          <p:cNvPr id="30725" name="TextBox 3">
            <a:extLst>
              <a:ext uri="{FF2B5EF4-FFF2-40B4-BE49-F238E27FC236}">
                <a16:creationId xmlns:a16="http://schemas.microsoft.com/office/drawing/2014/main" id="{FB3ED0A3-57D5-4C9E-A1D4-EE2404FEA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2895600"/>
            <a:ext cx="3571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1</a:t>
            </a:r>
            <a:r>
              <a:rPr lang="en-US" altLang="en-US" sz="180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30726" name="TextBox 14">
            <a:extLst>
              <a:ext uri="{FF2B5EF4-FFF2-40B4-BE49-F238E27FC236}">
                <a16:creationId xmlns:a16="http://schemas.microsoft.com/office/drawing/2014/main" id="{0A089D4E-6DBB-4F65-8EA8-D991181D2C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3657600"/>
            <a:ext cx="3571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2.</a:t>
            </a:r>
          </a:p>
        </p:txBody>
      </p:sp>
      <p:sp>
        <p:nvSpPr>
          <p:cNvPr id="30727" name="TextBox 15">
            <a:extLst>
              <a:ext uri="{FF2B5EF4-FFF2-40B4-BE49-F238E27FC236}">
                <a16:creationId xmlns:a16="http://schemas.microsoft.com/office/drawing/2014/main" id="{525845D1-D98A-4E55-B5C8-45313E969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3733800"/>
            <a:ext cx="3571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3</a:t>
            </a:r>
            <a:r>
              <a:rPr lang="en-US" altLang="en-US" sz="180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30728" name="TextBox 16">
            <a:extLst>
              <a:ext uri="{FF2B5EF4-FFF2-40B4-BE49-F238E27FC236}">
                <a16:creationId xmlns:a16="http://schemas.microsoft.com/office/drawing/2014/main" id="{6B5664FD-A588-4A6E-8D48-E823C291C2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4800600"/>
            <a:ext cx="3571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4.</a:t>
            </a:r>
          </a:p>
        </p:txBody>
      </p:sp>
      <p:sp>
        <p:nvSpPr>
          <p:cNvPr id="30729" name="TextBox 17">
            <a:extLst>
              <a:ext uri="{FF2B5EF4-FFF2-40B4-BE49-F238E27FC236}">
                <a16:creationId xmlns:a16="http://schemas.microsoft.com/office/drawing/2014/main" id="{A8ACEE3A-06DC-4129-8E54-469E79C5BA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3581400"/>
            <a:ext cx="3571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5.</a:t>
            </a:r>
          </a:p>
        </p:txBody>
      </p:sp>
      <p:sp>
        <p:nvSpPr>
          <p:cNvPr id="30730" name="TextBox 1">
            <a:extLst>
              <a:ext uri="{FF2B5EF4-FFF2-40B4-BE49-F238E27FC236}">
                <a16:creationId xmlns:a16="http://schemas.microsoft.com/office/drawing/2014/main" id="{EE26E336-177C-4307-A85C-8D491C414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" y="1354138"/>
            <a:ext cx="453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</a:rPr>
              <a:t>How we measure stable isotopes – the IRMS</a:t>
            </a:r>
          </a:p>
        </p:txBody>
      </p:sp>
      <p:sp>
        <p:nvSpPr>
          <p:cNvPr id="30731" name="TextBox 4">
            <a:extLst>
              <a:ext uri="{FF2B5EF4-FFF2-40B4-BE49-F238E27FC236}">
                <a16:creationId xmlns:a16="http://schemas.microsoft.com/office/drawing/2014/main" id="{4696B325-7397-47A0-A918-2C334EE86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486400"/>
            <a:ext cx="4114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</a:rPr>
              <a:t>Isotopes are measured as ratios of two isotopes.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</a:rPr>
              <a:t>Standards are run frequently to correct for instrument stability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>
            <a:extLst>
              <a:ext uri="{FF2B5EF4-FFF2-40B4-BE49-F238E27FC236}">
                <a16:creationId xmlns:a16="http://schemas.microsoft.com/office/drawing/2014/main" id="{7DBC7538-6D12-4B31-AED5-56EE4831D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492375"/>
            <a:ext cx="98647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</a:rPr>
              <a:t>Some causes of variation in stable isotope values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6">
            <a:extLst>
              <a:ext uri="{FF2B5EF4-FFF2-40B4-BE49-F238E27FC236}">
                <a16:creationId xmlns:a16="http://schemas.microsoft.com/office/drawing/2014/main" id="{E213C092-26E2-471C-BFEA-0BF38DD0FB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88913"/>
            <a:ext cx="9036050" cy="602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accent2"/>
                </a:solidFill>
              </a:rPr>
              <a:t>Fractionation</a:t>
            </a:r>
            <a:r>
              <a:rPr lang="en-US" altLang="en-US" sz="2400">
                <a:solidFill>
                  <a:schemeClr val="accent2"/>
                </a:solidFill>
              </a:rPr>
              <a:t>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en-US" sz="220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200"/>
              <a:t>Refers to the </a:t>
            </a:r>
            <a:r>
              <a:rPr lang="en-US" altLang="en-US" sz="2200">
                <a:solidFill>
                  <a:schemeClr val="accent2"/>
                </a:solidFill>
              </a:rPr>
              <a:t>change in an isotope ratio </a:t>
            </a:r>
            <a:r>
              <a:rPr lang="en-US" altLang="en-US" sz="2200"/>
              <a:t>that arises as a result of a chemical or physical process.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/>
          </a:p>
          <a:p>
            <a:pPr eaLnBrk="1" hangingPunct="1">
              <a:lnSpc>
                <a:spcPct val="30000"/>
              </a:lnSpc>
              <a:spcBef>
                <a:spcPct val="0"/>
              </a:spcBef>
              <a:buFontTx/>
              <a:buNone/>
            </a:pPr>
            <a:r>
              <a:rPr lang="en-US" altLang="en-US" sz="1600"/>
              <a:t>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u="sng"/>
              <a:t>Occurs during</a:t>
            </a:r>
            <a:r>
              <a:rPr lang="en-US" altLang="en-US" sz="2000"/>
              <a:t>: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/>
              <a:t>	- isotopic exchange reactions in which the isotopes are  redistributed among </a:t>
            </a:r>
            <a:r>
              <a:rPr lang="en-US" altLang="en-US" sz="2000">
                <a:solidFill>
                  <a:schemeClr val="accent2"/>
                </a:solidFill>
              </a:rPr>
              <a:t>different molecules containing that element  </a:t>
            </a:r>
            <a:r>
              <a:rPr lang="en-US" altLang="en-US" sz="2000"/>
              <a:t>(e.g., 1/2C</a:t>
            </a:r>
            <a:r>
              <a:rPr lang="en-US" altLang="en-US" sz="2000" baseline="30000"/>
              <a:t>16</a:t>
            </a:r>
            <a:r>
              <a:rPr lang="en-US" altLang="en-US" sz="2000"/>
              <a:t>O</a:t>
            </a:r>
            <a:r>
              <a:rPr lang="en-US" altLang="en-US" sz="2000" baseline="-25000"/>
              <a:t>2</a:t>
            </a:r>
            <a:r>
              <a:rPr lang="en-US" altLang="en-US" sz="2000"/>
              <a:t> + H</a:t>
            </a:r>
            <a:r>
              <a:rPr lang="en-US" altLang="en-US" sz="2000" baseline="-25000"/>
              <a:t>2</a:t>
            </a:r>
            <a:r>
              <a:rPr lang="en-US" altLang="en-US" sz="2000" baseline="30000"/>
              <a:t>18</a:t>
            </a:r>
            <a:r>
              <a:rPr lang="en-US" altLang="en-US" sz="2000"/>
              <a:t>O </a:t>
            </a:r>
            <a:r>
              <a:rPr lang="en-US" altLang="en-US" sz="2000">
                <a:sym typeface="Symbol" panose="05050102010706020507" pitchFamily="18" charset="2"/>
              </a:rPr>
              <a:t> </a:t>
            </a:r>
            <a:r>
              <a:rPr lang="en-US" altLang="en-US" sz="2000"/>
              <a:t>1/2C</a:t>
            </a:r>
            <a:r>
              <a:rPr lang="en-US" altLang="en-US" sz="2000" baseline="30000"/>
              <a:t>18</a:t>
            </a:r>
            <a:r>
              <a:rPr lang="en-US" altLang="en-US" sz="2000"/>
              <a:t>O</a:t>
            </a:r>
            <a:r>
              <a:rPr lang="en-US" altLang="en-US" sz="2000" baseline="-25000"/>
              <a:t>2</a:t>
            </a:r>
            <a:r>
              <a:rPr lang="en-US" altLang="en-US" sz="2000"/>
              <a:t> + H</a:t>
            </a:r>
            <a:r>
              <a:rPr lang="en-US" altLang="en-US" sz="2000" baseline="-25000"/>
              <a:t>2</a:t>
            </a:r>
            <a:r>
              <a:rPr lang="en-US" altLang="en-US" sz="2000" baseline="30000"/>
              <a:t>16</a:t>
            </a:r>
            <a:r>
              <a:rPr lang="en-US" altLang="en-US" sz="2000"/>
              <a:t>O)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/>
              <a:t>	- </a:t>
            </a:r>
            <a:r>
              <a:rPr lang="en-US" altLang="en-US" sz="2000">
                <a:solidFill>
                  <a:schemeClr val="accent2"/>
                </a:solidFill>
              </a:rPr>
              <a:t>unidirectional or incomplete reactions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accent2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/>
              <a:t>	- physical processes like </a:t>
            </a:r>
            <a:r>
              <a:rPr lang="en-US" altLang="en-US" sz="2000">
                <a:solidFill>
                  <a:schemeClr val="accent2"/>
                </a:solidFill>
              </a:rPr>
              <a:t>evaporation/condensation, melting/crystallization,   adsorption/desorption, diffusion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>
            <a:extLst>
              <a:ext uri="{FF2B5EF4-FFF2-40B4-BE49-F238E27FC236}">
                <a16:creationId xmlns:a16="http://schemas.microsoft.com/office/drawing/2014/main" id="{42CA5123-538A-40FE-8EFC-B8A69729D0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175" y="1001713"/>
            <a:ext cx="9013825" cy="1970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>
              <a:lnSpc>
                <a:spcPct val="150000"/>
              </a:lnSpc>
              <a:tabLst>
                <a:tab pos="179388" algn="l"/>
              </a:tabLst>
              <a:defRPr/>
            </a:pPr>
            <a:r>
              <a:rPr lang="en-US" b="1" dirty="0">
                <a:solidFill>
                  <a:srgbClr val="FF0000"/>
                </a:solidFill>
                <a:latin typeface="+mj-lt"/>
              </a:rPr>
              <a:t>Chemical properties</a:t>
            </a:r>
            <a:r>
              <a:rPr lang="en-US" b="1" dirty="0">
                <a:latin typeface="+mj-lt"/>
              </a:rPr>
              <a:t> of any element are largely determined by the number and configuration of electrons (e-)</a:t>
            </a:r>
          </a:p>
          <a:p>
            <a:pPr marL="914400" lvl="1" indent="-457200">
              <a:tabLst>
                <a:tab pos="179388" algn="l"/>
              </a:tabLst>
              <a:defRPr/>
            </a:pPr>
            <a:endParaRPr lang="en-US" b="1" dirty="0">
              <a:latin typeface="+mj-lt"/>
            </a:endParaRPr>
          </a:p>
          <a:p>
            <a:pPr marL="914400" lvl="1" indent="-457200">
              <a:buFont typeface="Wingdings" pitchFamily="2" charset="2"/>
              <a:buChar char="Ø"/>
              <a:tabLst>
                <a:tab pos="179388" algn="l"/>
              </a:tabLst>
              <a:defRPr/>
            </a:pPr>
            <a:r>
              <a:rPr lang="en-US" b="1" dirty="0">
                <a:latin typeface="+mj-lt"/>
                <a:sym typeface="Wingdings" pitchFamily="2" charset="2"/>
              </a:rPr>
              <a:t>Since isotopes have the same number and configuration of electrons . . . . . </a:t>
            </a:r>
          </a:p>
          <a:p>
            <a:pPr marL="914400" lvl="1" indent="-457200">
              <a:tabLst>
                <a:tab pos="179388" algn="l"/>
              </a:tabLst>
              <a:defRPr/>
            </a:pPr>
            <a:endParaRPr lang="en-US" sz="3200" b="1" u="sng" dirty="0">
              <a:solidFill>
                <a:srgbClr val="0066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charset="0"/>
            </a:endParaRP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F398D87F-1661-4242-BF18-96A0F0604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573463"/>
            <a:ext cx="8675687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14300" lvl="1"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sym typeface="Wingdings" pitchFamily="2" charset="2"/>
              </a:rPr>
              <a:t>Isotopes have the same </a:t>
            </a:r>
            <a:r>
              <a:rPr 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sym typeface="Wingdings" pitchFamily="2" charset="2"/>
              </a:rPr>
              <a:t>chemical properties</a:t>
            </a:r>
            <a:endParaRPr lang="en-US" sz="2000" dirty="0">
              <a:effectLst>
                <a:outerShdw blurRad="38100" dist="38100" dir="2700000" algn="tl">
                  <a:srgbClr val="C0C0C0"/>
                </a:outerShdw>
              </a:effectLst>
              <a:latin typeface="+mj-lt"/>
              <a:sym typeface="Wingdings" pitchFamily="2" charset="2"/>
            </a:endParaRPr>
          </a:p>
          <a:p>
            <a:pPr marL="114300" lvl="1">
              <a:buFont typeface="Wingdings" pitchFamily="2" charset="2"/>
              <a:buNone/>
              <a:defRPr/>
            </a:pPr>
            <a:endParaRPr lang="en-US" b="1" dirty="0">
              <a:effectLst>
                <a:outerShdw blurRad="38100" dist="38100" dir="2700000" algn="tl">
                  <a:srgbClr val="C0C0C0"/>
                </a:outerShdw>
              </a:effectLst>
              <a:latin typeface="+mj-lt"/>
              <a:sym typeface="Wingdings" pitchFamily="2" charset="2"/>
            </a:endParaRPr>
          </a:p>
          <a:p>
            <a:pPr marL="114300" lvl="1">
              <a:buFont typeface="Wingdings" pitchFamily="2" charset="2"/>
              <a:buNone/>
              <a:defRPr/>
            </a:pPr>
            <a:r>
              <a:rPr lang="en-US" b="1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sym typeface="Wingdings" pitchFamily="2" charset="2"/>
              </a:rPr>
              <a:t>13</a:t>
            </a: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sym typeface="Wingdings" pitchFamily="2" charset="2"/>
              </a:rPr>
              <a:t>CO</a:t>
            </a:r>
            <a:r>
              <a:rPr lang="en-US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sym typeface="Wingdings" pitchFamily="2" charset="2"/>
              </a:rPr>
              <a:t>2</a:t>
            </a: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sym typeface="Wingdings" pitchFamily="2" charset="2"/>
              </a:rPr>
              <a:t> is chemically identical to </a:t>
            </a:r>
            <a:r>
              <a:rPr lang="en-US" b="1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sym typeface="Wingdings" pitchFamily="2" charset="2"/>
              </a:rPr>
              <a:t>12</a:t>
            </a: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sym typeface="Wingdings" pitchFamily="2" charset="2"/>
              </a:rPr>
              <a:t>CO</a:t>
            </a:r>
            <a:r>
              <a:rPr lang="en-US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sym typeface="Wingdings" pitchFamily="2" charset="2"/>
              </a:rPr>
              <a:t>2</a:t>
            </a:r>
            <a:endParaRPr lang="en-US" sz="3200" b="1" u="sng" dirty="0">
              <a:solidFill>
                <a:srgbClr val="0066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sym typeface="Wingdings" pitchFamily="2" charset="2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AD5210-AFA6-4C37-9369-44F1DE1073FC}"/>
              </a:ext>
            </a:extLst>
          </p:cNvPr>
          <p:cNvSpPr/>
          <p:nvPr/>
        </p:nvSpPr>
        <p:spPr>
          <a:xfrm>
            <a:off x="179388" y="188913"/>
            <a:ext cx="992187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</a:rPr>
              <a:t>Isotopes</a:t>
            </a:r>
            <a:endParaRPr lang="en-US" sz="1600" b="1" dirty="0">
              <a:effectLst>
                <a:outerShdw blurRad="38100" dist="38100" dir="2700000" algn="tl">
                  <a:srgbClr val="FFFFFF"/>
                </a:outerShdw>
              </a:effectLst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>
            <a:extLst>
              <a:ext uri="{FF2B5EF4-FFF2-40B4-BE49-F238E27FC236}">
                <a16:creationId xmlns:a16="http://schemas.microsoft.com/office/drawing/2014/main" id="{25DD0988-BFC2-4861-8FA8-789335CBF3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052513"/>
            <a:ext cx="8496300" cy="170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>
              <a:lnSpc>
                <a:spcPct val="150000"/>
              </a:lnSpc>
              <a:tabLst>
                <a:tab pos="179388" algn="l"/>
              </a:tabLst>
              <a:defRPr/>
            </a:pP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sym typeface="Wingdings" pitchFamily="2" charset="2"/>
              </a:rPr>
              <a:t>1. </a:t>
            </a:r>
            <a:r>
              <a:rPr lang="en-US" b="1" u="sng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sym typeface="Wingdings" pitchFamily="2" charset="2"/>
              </a:rPr>
              <a:t>Isotopes have the same chemical properties</a:t>
            </a:r>
          </a:p>
          <a:p>
            <a:pPr marL="914400" lvl="1" indent="-457200">
              <a:lnSpc>
                <a:spcPct val="150000"/>
              </a:lnSpc>
              <a:tabLst>
                <a:tab pos="179388" algn="l"/>
              </a:tabLst>
              <a:defRPr/>
            </a:pPr>
            <a:endParaRPr lang="en-US" b="1" u="sng" dirty="0">
              <a:solidFill>
                <a:srgbClr val="0066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</a:endParaRPr>
          </a:p>
          <a:p>
            <a:pPr marL="457200" indent="-457200">
              <a:lnSpc>
                <a:spcPct val="150000"/>
              </a:lnSpc>
              <a:tabLst>
                <a:tab pos="179388" algn="l"/>
              </a:tabLst>
              <a:defRPr/>
            </a:pPr>
            <a:r>
              <a:rPr lang="en-US" b="1" dirty="0">
                <a:latin typeface="+mj-lt"/>
              </a:rPr>
              <a:t>2. However, isotopes differ in then number of neutrons, </a:t>
            </a:r>
            <a:r>
              <a:rPr lang="en-US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N</a:t>
            </a:r>
            <a:r>
              <a:rPr lang="en-US" b="1" dirty="0">
                <a:latin typeface="+mj-lt"/>
              </a:rPr>
              <a:t> they possess, and therefore </a:t>
            </a:r>
            <a:r>
              <a:rPr lang="en-US" b="1" u="sng" dirty="0">
                <a:solidFill>
                  <a:srgbClr val="0066CC"/>
                </a:solidFill>
                <a:latin typeface="+mj-lt"/>
              </a:rPr>
              <a:t>in mass</a:t>
            </a:r>
            <a:r>
              <a:rPr lang="en-US" b="1" dirty="0">
                <a:latin typeface="+mj-lt"/>
              </a:rPr>
              <a:t> </a:t>
            </a:r>
            <a:r>
              <a:rPr lang="en-US" b="1" dirty="0">
                <a:latin typeface="Comic Sans MS" charset="0"/>
              </a:rPr>
              <a:t>		</a:t>
            </a:r>
            <a:endParaRPr lang="en-US" b="1" u="sng" dirty="0">
              <a:solidFill>
                <a:srgbClr val="0066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charset="0"/>
              <a:sym typeface="Wingdings" pitchFamily="2" charset="2"/>
            </a:endParaRPr>
          </a:p>
        </p:txBody>
      </p:sp>
      <p:sp>
        <p:nvSpPr>
          <p:cNvPr id="30724" name="Text Box 4">
            <a:extLst>
              <a:ext uri="{FF2B5EF4-FFF2-40B4-BE49-F238E27FC236}">
                <a16:creationId xmlns:a16="http://schemas.microsoft.com/office/drawing/2014/main" id="{64A8E900-14B7-4F2B-BD00-1F9183C51C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3060700"/>
            <a:ext cx="7945437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3200" dirty="0">
                <a:solidFill>
                  <a:srgbClr val="D6009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How do </a:t>
            </a:r>
            <a:r>
              <a:rPr lang="en-US" sz="3200" u="sng" dirty="0">
                <a:solidFill>
                  <a:srgbClr val="D6009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mass</a:t>
            </a:r>
            <a:r>
              <a:rPr lang="en-US" sz="3200" dirty="0">
                <a:solidFill>
                  <a:srgbClr val="D6009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 differences lead to variation is isotope abundance?</a:t>
            </a:r>
            <a:endParaRPr lang="en-US" sz="4400" dirty="0">
              <a:solidFill>
                <a:srgbClr val="D60093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</a:endParaRPr>
          </a:p>
        </p:txBody>
      </p:sp>
      <p:sp>
        <p:nvSpPr>
          <p:cNvPr id="30727" name="Text Box 7">
            <a:extLst>
              <a:ext uri="{FF2B5EF4-FFF2-40B4-BE49-F238E27FC236}">
                <a16:creationId xmlns:a16="http://schemas.microsoft.com/office/drawing/2014/main" id="{E196C1EF-ED20-45B7-9695-141638C01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633913"/>
            <a:ext cx="7848600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800" dirty="0">
                <a:solidFill>
                  <a:srgbClr val="0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Mass differences influence chemical 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BEHAVIOR</a:t>
            </a:r>
            <a:endParaRPr lang="en-US" sz="2800" dirty="0">
              <a:solidFill>
                <a:srgbClr val="00008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</a:endParaRPr>
          </a:p>
          <a:p>
            <a:pPr>
              <a:defRPr/>
            </a:pPr>
            <a:r>
              <a:rPr lang="en-US" sz="2800" dirty="0">
                <a:solidFill>
                  <a:srgbClr val="0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in reactions or mixtures</a:t>
            </a:r>
            <a:endParaRPr lang="en-US" sz="2800" dirty="0">
              <a:solidFill>
                <a:srgbClr val="000080"/>
              </a:solidFill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7EEE0E-F8C2-4DB3-89A9-0897A7A32FE0}"/>
              </a:ext>
            </a:extLst>
          </p:cNvPr>
          <p:cNvSpPr/>
          <p:nvPr/>
        </p:nvSpPr>
        <p:spPr>
          <a:xfrm>
            <a:off x="179388" y="188913"/>
            <a:ext cx="992187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</a:rPr>
              <a:t>Isotopes</a:t>
            </a:r>
            <a:endParaRPr lang="en-US" sz="1600" b="1" dirty="0">
              <a:effectLst>
                <a:outerShdw blurRad="38100" dist="38100" dir="2700000" algn="tl">
                  <a:srgbClr val="FFFFFF"/>
                </a:outerShdw>
              </a:effectLst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4" grpId="0" autoUpdateAnimBg="0"/>
      <p:bldP spid="30727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8" name="Rectangle 12">
            <a:extLst>
              <a:ext uri="{FF2B5EF4-FFF2-40B4-BE49-F238E27FC236}">
                <a16:creationId xmlns:a16="http://schemas.microsoft.com/office/drawing/2014/main" id="{97787411-2992-46D1-A1C5-89E1B9A80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25488"/>
            <a:ext cx="85201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>
              <a:defRPr/>
            </a:pPr>
            <a:r>
              <a:rPr 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sym typeface="Wingdings" pitchFamily="2" charset="2"/>
              </a:rPr>
              <a:t>Differences in mass influence:</a:t>
            </a:r>
            <a:endParaRPr lang="en-US" sz="2800" b="1" u="sng" dirty="0">
              <a:effectLst>
                <a:outerShdw blurRad="38100" dist="38100" dir="2700000" algn="tl">
                  <a:srgbClr val="C0C0C0"/>
                </a:outerShdw>
              </a:effectLst>
              <a:latin typeface="+mj-lt"/>
              <a:sym typeface="Wingdings" pitchFamily="2" charset="2"/>
            </a:endParaRPr>
          </a:p>
        </p:txBody>
      </p:sp>
      <p:sp>
        <p:nvSpPr>
          <p:cNvPr id="36867" name="Rectangle 14">
            <a:extLst>
              <a:ext uri="{FF2B5EF4-FFF2-40B4-BE49-F238E27FC236}">
                <a16:creationId xmlns:a16="http://schemas.microsoft.com/office/drawing/2014/main" id="{A1E38E10-DCE9-4CC0-8884-39838A7A7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349500"/>
            <a:ext cx="8458200" cy="179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0066CC"/>
                </a:solidFill>
                <a:sym typeface="Wingdings" panose="05000000000000000000" pitchFamily="2" charset="2"/>
              </a:rPr>
              <a:t>Lighter isotopes react faster. Therefore different isotopes involved in a chemical reaction display differential representation in different phases of the reaction</a:t>
            </a: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C2409135-FE7E-408B-9DD2-5F89D5D7C7E5}"/>
              </a:ext>
            </a:extLst>
          </p:cNvPr>
          <p:cNvGrpSpPr>
            <a:grpSpLocks/>
          </p:cNvGrpSpPr>
          <p:nvPr/>
        </p:nvGrpSpPr>
        <p:grpSpPr bwMode="auto">
          <a:xfrm>
            <a:off x="0" y="4005263"/>
            <a:ext cx="9085263" cy="1993900"/>
            <a:chOff x="0" y="2259"/>
            <a:chExt cx="5723" cy="1256"/>
          </a:xfrm>
        </p:grpSpPr>
        <p:sp>
          <p:nvSpPr>
            <p:cNvPr id="86032" name="Rectangle 16">
              <a:extLst>
                <a:ext uri="{FF2B5EF4-FFF2-40B4-BE49-F238E27FC236}">
                  <a16:creationId xmlns:a16="http://schemas.microsoft.com/office/drawing/2014/main" id="{2D240891-6B1F-451F-9214-34A4E59C43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259"/>
              <a:ext cx="5445" cy="5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457200" indent="-457200">
                <a:spcBef>
                  <a:spcPct val="50000"/>
                </a:spcBef>
                <a:defRPr/>
              </a:pPr>
              <a:r>
                <a:rPr 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  <a:sym typeface="Wingdings" pitchFamily="2" charset="2"/>
                </a:rPr>
                <a:t>2. The </a:t>
              </a:r>
              <a:r>
                <a:rPr lang="en-US" b="1" dirty="0">
                  <a:solidFill>
                    <a:srgbClr val="D6009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  <a:sym typeface="Wingdings" pitchFamily="2" charset="2"/>
                </a:rPr>
                <a:t>PHYSIO-CHEMICAL</a:t>
              </a:r>
              <a:r>
                <a:rPr 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charset="0"/>
                  <a:sym typeface="Wingdings" pitchFamily="2" charset="2"/>
                </a:rPr>
                <a:t> properties of molecules composed of different isotopes</a:t>
              </a:r>
              <a:endParaRPr lang="en-US" b="1" dirty="0">
                <a:latin typeface="Comic Sans MS" charset="0"/>
                <a:sym typeface="Wingdings" pitchFamily="2" charset="2"/>
              </a:endParaRPr>
            </a:p>
          </p:txBody>
        </p:sp>
        <p:sp>
          <p:nvSpPr>
            <p:cNvPr id="36872" name="Rectangle 17">
              <a:extLst>
                <a:ext uri="{FF2B5EF4-FFF2-40B4-BE49-F238E27FC236}">
                  <a16:creationId xmlns:a16="http://schemas.microsoft.com/office/drawing/2014/main" id="{39A82E0E-7217-4796-8939-51B072DB6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2653"/>
              <a:ext cx="5291" cy="8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solidFill>
                    <a:srgbClr val="0066CC"/>
                  </a:solidFill>
                  <a:sym typeface="Wingdings" panose="05000000000000000000" pitchFamily="2" charset="2"/>
                </a:rPr>
                <a:t>That is, factors including vapor pressure, boiling temperature, freezing point, and melting point are affected by the isotope composition of a molecule. </a:t>
              </a:r>
            </a:p>
          </p:txBody>
        </p:sp>
      </p:grpSp>
      <p:sp>
        <p:nvSpPr>
          <p:cNvPr id="86034" name="Rectangle 18">
            <a:extLst>
              <a:ext uri="{FF2B5EF4-FFF2-40B4-BE49-F238E27FC236}">
                <a16:creationId xmlns:a16="http://schemas.microsoft.com/office/drawing/2014/main" id="{11C2B3C8-1252-4C45-A71E-9239DD99B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6589713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defRPr/>
            </a:pP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  <a:sym typeface="Wingdings" pitchFamily="2" charset="2"/>
              </a:rPr>
              <a:t>1. The </a:t>
            </a:r>
            <a:r>
              <a:rPr lang="en-US" b="1" dirty="0">
                <a:solidFill>
                  <a:srgbClr val="D6009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  <a:sym typeface="Wingdings" pitchFamily="2" charset="2"/>
              </a:rPr>
              <a:t>RATES</a:t>
            </a: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charset="0"/>
                <a:sym typeface="Wingdings" pitchFamily="2" charset="2"/>
              </a:rPr>
              <a:t> at which the isotopes react</a:t>
            </a:r>
            <a:endParaRPr lang="en-US" b="1" u="sng" dirty="0">
              <a:effectLst>
                <a:outerShdw blurRad="38100" dist="38100" dir="2700000" algn="tl">
                  <a:srgbClr val="C0C0C0"/>
                </a:outerShdw>
              </a:effectLst>
              <a:latin typeface="Comic Sans MS" charset="0"/>
              <a:sym typeface="Wingdings" pitchFamily="2" charset="2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026918-11B4-41AA-9705-54294A77FFBA}"/>
              </a:ext>
            </a:extLst>
          </p:cNvPr>
          <p:cNvSpPr/>
          <p:nvPr/>
        </p:nvSpPr>
        <p:spPr>
          <a:xfrm>
            <a:off x="0" y="0"/>
            <a:ext cx="3779838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</a:rPr>
              <a:t>Isotope mass effects</a:t>
            </a:r>
            <a:endParaRPr lang="en-IN" b="1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2" name="Rectangle 4">
            <a:extLst>
              <a:ext uri="{FF2B5EF4-FFF2-40B4-BE49-F238E27FC236}">
                <a16:creationId xmlns:a16="http://schemas.microsoft.com/office/drawing/2014/main" id="{6D4C9D9E-895D-4910-840C-A4069A60B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4005263"/>
            <a:ext cx="8683625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588" indent="-1588">
              <a:spcBef>
                <a:spcPct val="50000"/>
              </a:spcBef>
              <a:tabLst>
                <a:tab pos="461963" algn="l"/>
              </a:tabLst>
              <a:defRPr/>
            </a:pP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sym typeface="Wingdings" pitchFamily="2" charset="2"/>
              </a:rPr>
              <a:t>Fractionation can be caused by either </a:t>
            </a:r>
            <a:r>
              <a:rPr lang="en-US" b="1" dirty="0">
                <a:solidFill>
                  <a:srgbClr val="D6009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sym typeface="Wingdings" pitchFamily="2" charset="2"/>
              </a:rPr>
              <a:t>bi-directional</a:t>
            </a: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sym typeface="Wingdings" pitchFamily="2" charset="2"/>
              </a:rPr>
              <a:t> or </a:t>
            </a:r>
            <a:r>
              <a:rPr lang="en-US" b="1" dirty="0">
                <a:solidFill>
                  <a:srgbClr val="D6009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sym typeface="Wingdings" pitchFamily="2" charset="2"/>
              </a:rPr>
              <a:t>unidirectional </a:t>
            </a: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sym typeface="Wingdings" pitchFamily="2" charset="2"/>
              </a:rPr>
              <a:t>reactions</a:t>
            </a:r>
          </a:p>
        </p:txBody>
      </p:sp>
      <p:sp>
        <p:nvSpPr>
          <p:cNvPr id="114693" name="Rectangle 5">
            <a:extLst>
              <a:ext uri="{FF2B5EF4-FFF2-40B4-BE49-F238E27FC236}">
                <a16:creationId xmlns:a16="http://schemas.microsoft.com/office/drawing/2014/main" id="{4376DDD6-673B-40AE-B6D6-5C8B94AB5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052513"/>
            <a:ext cx="8829675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tabLst>
                <a:tab pos="461963" algn="l"/>
              </a:tabLst>
              <a:defRPr/>
            </a:pPr>
            <a:r>
              <a:rPr lang="en-US" b="1" dirty="0">
                <a:latin typeface="+mj-lt"/>
              </a:rPr>
              <a:t> Both the differences in </a:t>
            </a:r>
            <a:r>
              <a:rPr lang="en-US" b="1" dirty="0">
                <a:solidFill>
                  <a:srgbClr val="0066CC"/>
                </a:solidFill>
                <a:latin typeface="+mj-lt"/>
              </a:rPr>
              <a:t>physiochemical properties</a:t>
            </a:r>
            <a:r>
              <a:rPr lang="en-US" b="1" dirty="0">
                <a:latin typeface="+mj-lt"/>
              </a:rPr>
              <a:t> and </a:t>
            </a:r>
            <a:r>
              <a:rPr lang="en-US" b="1" dirty="0">
                <a:solidFill>
                  <a:srgbClr val="0066CC"/>
                </a:solidFill>
                <a:latin typeface="+mj-lt"/>
              </a:rPr>
              <a:t>reaction rates</a:t>
            </a:r>
            <a:r>
              <a:rPr lang="en-US" b="1" dirty="0">
                <a:latin typeface="+mj-lt"/>
              </a:rPr>
              <a:t> lead to the </a:t>
            </a:r>
            <a:r>
              <a:rPr lang="en-US" b="1" dirty="0">
                <a:solidFill>
                  <a:srgbClr val="D6009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redistribution </a:t>
            </a: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of</a:t>
            </a:r>
            <a:r>
              <a:rPr lang="en-US" b="1" dirty="0">
                <a:solidFill>
                  <a:srgbClr val="D6009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 isotopes</a:t>
            </a:r>
            <a:endParaRPr lang="en-US" b="1" dirty="0">
              <a:latin typeface="+mj-lt"/>
            </a:endParaRPr>
          </a:p>
        </p:txBody>
      </p:sp>
      <p:sp>
        <p:nvSpPr>
          <p:cNvPr id="114694" name="Rectangle 6">
            <a:extLst>
              <a:ext uri="{FF2B5EF4-FFF2-40B4-BE49-F238E27FC236}">
                <a16:creationId xmlns:a16="http://schemas.microsoft.com/office/drawing/2014/main" id="{105CF9DC-69F0-45C8-BD8D-75892D5B8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08275"/>
            <a:ext cx="880586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>
              <a:spcBef>
                <a:spcPct val="50000"/>
              </a:spcBef>
              <a:defRPr/>
            </a:pP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sym typeface="Wingdings" pitchFamily="2" charset="2"/>
              </a:rPr>
              <a:t>This process is known as</a:t>
            </a:r>
            <a:r>
              <a:rPr lang="en-US" b="1" dirty="0">
                <a:solidFill>
                  <a:srgbClr val="D6009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sym typeface="Wingdings" pitchFamily="2" charset="2"/>
              </a:rPr>
              <a:t> fractionation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9B80F3-033D-4AC6-A92B-5C8B296AD26D}"/>
              </a:ext>
            </a:extLst>
          </p:cNvPr>
          <p:cNvSpPr/>
          <p:nvPr/>
        </p:nvSpPr>
        <p:spPr>
          <a:xfrm>
            <a:off x="323850" y="260350"/>
            <a:ext cx="1677988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</a:rPr>
              <a:t>Fractionation</a:t>
            </a:r>
            <a:endParaRPr lang="en-IN" sz="20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2" grpId="0" autoUpdateAnimBg="0"/>
      <p:bldP spid="114693" grpId="0" autoUpdateAnimBg="0"/>
      <p:bldP spid="114694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23" name="Rectangle 7">
            <a:extLst>
              <a:ext uri="{FF2B5EF4-FFF2-40B4-BE49-F238E27FC236}">
                <a16:creationId xmlns:a16="http://schemas.microsoft.com/office/drawing/2014/main" id="{E4BF9BDB-7C44-4ABE-A302-5F850FDA7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833438"/>
            <a:ext cx="8229600" cy="6024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533400" indent="-533400">
              <a:lnSpc>
                <a:spcPct val="80000"/>
              </a:lnSpc>
              <a:spcBef>
                <a:spcPct val="20000"/>
              </a:spcBef>
              <a:buFontTx/>
              <a:buAutoNum type="arabicPeriod"/>
              <a:defRPr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Exchange/equilibrium </a:t>
            </a:r>
            <a:r>
              <a:rPr lang="en-US" b="1" dirty="0">
                <a:solidFill>
                  <a:srgbClr val="40008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[BI-directional]</a:t>
            </a:r>
            <a:endParaRPr lang="en-US" dirty="0"/>
          </a:p>
          <a:p>
            <a:pPr marL="990600" lvl="1" indent="-533400">
              <a:lnSpc>
                <a:spcPct val="8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dirty="0"/>
              <a:t>Complete back-reaction</a:t>
            </a:r>
          </a:p>
          <a:p>
            <a:pPr marL="990600" lvl="1" indent="-533400">
              <a:lnSpc>
                <a:spcPct val="8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dirty="0"/>
              <a:t>Product/reactant offset by constant fractionation factor</a:t>
            </a:r>
          </a:p>
          <a:p>
            <a:pPr marL="990600" lvl="1" indent="-533400">
              <a:lnSpc>
                <a:spcPct val="80000"/>
              </a:lnSpc>
              <a:spcBef>
                <a:spcPct val="20000"/>
              </a:spcBef>
              <a:buFontTx/>
              <a:buChar char="•"/>
              <a:defRPr/>
            </a:pPr>
            <a:endParaRPr lang="en-US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FontTx/>
              <a:buAutoNum type="arabicPeriod"/>
              <a:defRPr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Kinetic </a:t>
            </a:r>
            <a:r>
              <a:rPr lang="en-US" b="1" dirty="0">
                <a:solidFill>
                  <a:srgbClr val="40008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[UNI-directional] = “biological”</a:t>
            </a:r>
            <a:endParaRPr lang="en-US" dirty="0"/>
          </a:p>
          <a:p>
            <a:pPr marL="990600" lvl="1" indent="-533400">
              <a:lnSpc>
                <a:spcPct val="8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dirty="0"/>
              <a:t>Incomplete back-reaction (extreme case-Rayleigh distillation)</a:t>
            </a:r>
          </a:p>
          <a:p>
            <a:pPr marL="990600" lvl="1" indent="-533400">
              <a:lnSpc>
                <a:spcPct val="8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dirty="0"/>
              <a:t>Product and reactant </a:t>
            </a:r>
            <a:r>
              <a:rPr lang="el-GR" dirty="0">
                <a:cs typeface="Arial" charset="0"/>
              </a:rPr>
              <a:t>d</a:t>
            </a:r>
            <a:r>
              <a:rPr lang="en-US" dirty="0">
                <a:cs typeface="Arial" charset="0"/>
              </a:rPr>
              <a:t> can evolve in concert (closed system), or product composition determines reactant composition (open system)</a:t>
            </a:r>
          </a:p>
          <a:p>
            <a:pPr marL="990600" lvl="1" indent="-533400">
              <a:lnSpc>
                <a:spcPct val="80000"/>
              </a:lnSpc>
              <a:spcBef>
                <a:spcPct val="20000"/>
              </a:spcBef>
              <a:buFontTx/>
              <a:buChar char="•"/>
              <a:defRPr/>
            </a:pPr>
            <a:endParaRPr lang="en-US" dirty="0">
              <a:cs typeface="Arial" charset="0"/>
            </a:endParaRP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FontTx/>
              <a:buAutoNum type="arabicPeriod"/>
              <a:defRPr/>
            </a:pPr>
            <a:r>
              <a:rPr lang="en-US" b="1" dirty="0">
                <a:solidFill>
                  <a:srgbClr val="FF0000"/>
                </a:solidFill>
                <a:cs typeface="Arial" charset="0"/>
              </a:rPr>
              <a:t>Transport/Diffusion </a:t>
            </a:r>
            <a:r>
              <a:rPr lang="en-US" b="1" dirty="0">
                <a:solidFill>
                  <a:srgbClr val="40008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[UNI-directional]</a:t>
            </a:r>
            <a:endParaRPr lang="en-US" dirty="0">
              <a:cs typeface="Arial" charset="0"/>
            </a:endParaRPr>
          </a:p>
          <a:p>
            <a:pPr marL="990600" lvl="1" indent="-533400">
              <a:lnSpc>
                <a:spcPct val="8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dirty="0">
                <a:cs typeface="Arial" charset="0"/>
              </a:rPr>
              <a:t>Subset of </a:t>
            </a:r>
            <a:r>
              <a:rPr lang="en-US" u="sng" dirty="0">
                <a:cs typeface="Arial" charset="0"/>
              </a:rPr>
              <a:t>kinetic</a:t>
            </a:r>
            <a:r>
              <a:rPr lang="en-US" dirty="0">
                <a:cs typeface="Arial" charset="0"/>
              </a:rPr>
              <a:t> fractionation reactions involving flux along a concentration gradient</a:t>
            </a:r>
            <a:endParaRPr lang="el-GR" dirty="0">
              <a:cs typeface="Arial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2ABEFBF1-7472-404C-8E35-8C778D58F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2972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000066"/>
                </a:solidFill>
              </a:rPr>
              <a:t>Isotope Fractionation Processes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00" name="Text Box 4">
            <a:extLst>
              <a:ext uri="{FF2B5EF4-FFF2-40B4-BE49-F238E27FC236}">
                <a16:creationId xmlns:a16="http://schemas.microsoft.com/office/drawing/2014/main" id="{7FFEEB89-7E55-47F5-A12E-79492611F1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09550"/>
            <a:ext cx="8153400" cy="60944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en-US" b="1" dirty="0">
                <a:solidFill>
                  <a:srgbClr val="000066"/>
                </a:solidFill>
              </a:rPr>
              <a:t>Isotope Fractionation Processes</a:t>
            </a:r>
          </a:p>
          <a:p>
            <a:pPr marL="342900" indent="-342900" eaLnBrk="1" hangingPunct="1">
              <a:defRPr/>
            </a:pPr>
            <a:endParaRPr lang="en-US" sz="1800" dirty="0">
              <a:solidFill>
                <a:srgbClr val="000000"/>
              </a:solidFill>
            </a:endParaRPr>
          </a:p>
          <a:p>
            <a:pPr marL="342900" indent="-342900" eaLnBrk="1" hangingPunct="1">
              <a:buFontTx/>
              <a:buAutoNum type="arabicPeriod"/>
              <a:defRPr/>
            </a:pPr>
            <a:r>
              <a:rPr lang="en-US" b="1" dirty="0">
                <a:solidFill>
                  <a:srgbClr val="0070C0"/>
                </a:solidFill>
              </a:rPr>
              <a:t>Equilibrium Isotope effects</a:t>
            </a:r>
          </a:p>
          <a:p>
            <a:pPr eaLnBrk="1" hangingPunct="1">
              <a:defRPr/>
            </a:pPr>
            <a:endParaRPr lang="en-US" sz="180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en-US" sz="1800" dirty="0">
                <a:solidFill>
                  <a:srgbClr val="000000"/>
                </a:solidFill>
              </a:rPr>
              <a:t>Occurs in equilibrium reactions (reactions can go both ways) </a:t>
            </a:r>
            <a:r>
              <a:rPr lang="en-US" sz="1800" b="1" dirty="0">
                <a:solidFill>
                  <a:srgbClr val="000000"/>
                </a:solidFill>
              </a:rPr>
              <a:t>if the system is in equilibrium</a:t>
            </a:r>
            <a:endParaRPr lang="en-US" sz="180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en-US" sz="1800" dirty="0">
                <a:solidFill>
                  <a:srgbClr val="000000"/>
                </a:solidFill>
              </a:rPr>
              <a:t>	Chemical equilibrium</a:t>
            </a:r>
          </a:p>
          <a:p>
            <a:pPr eaLnBrk="1" hangingPunct="1">
              <a:defRPr/>
            </a:pPr>
            <a:r>
              <a:rPr lang="en-US" sz="1800" dirty="0">
                <a:solidFill>
                  <a:srgbClr val="000000"/>
                </a:solidFill>
              </a:rPr>
              <a:t>	Phase changes (closed system)</a:t>
            </a:r>
          </a:p>
          <a:p>
            <a:pPr eaLnBrk="1" hangingPunct="1">
              <a:defRPr/>
            </a:pPr>
            <a:endParaRPr lang="en-US" sz="180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endParaRPr lang="en-US" sz="180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endParaRPr lang="en-US" sz="180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en-US" sz="1800" dirty="0">
                <a:solidFill>
                  <a:srgbClr val="000000"/>
                </a:solidFill>
              </a:rPr>
              <a:t>Heavier isotope equilibrates into the compound or phase in which it is </a:t>
            </a:r>
            <a:r>
              <a:rPr lang="en-US" sz="1800" b="1" dirty="0">
                <a:solidFill>
                  <a:srgbClr val="000000"/>
                </a:solidFill>
              </a:rPr>
              <a:t>most stably bound</a:t>
            </a:r>
          </a:p>
          <a:p>
            <a:pPr eaLnBrk="1" hangingPunct="1">
              <a:defRPr/>
            </a:pPr>
            <a:r>
              <a:rPr lang="en-US" sz="1800" dirty="0">
                <a:solidFill>
                  <a:srgbClr val="000000"/>
                </a:solidFill>
              </a:rPr>
              <a:t>	Within a molecule (CO</a:t>
            </a:r>
            <a:r>
              <a:rPr lang="en-US" sz="1800" baseline="-25000" dirty="0">
                <a:solidFill>
                  <a:srgbClr val="000000"/>
                </a:solidFill>
              </a:rPr>
              <a:t>2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 err="1">
                <a:solidFill>
                  <a:srgbClr val="000000"/>
                </a:solidFill>
              </a:rPr>
              <a:t>vs</a:t>
            </a:r>
            <a:r>
              <a:rPr lang="en-US" sz="1800" dirty="0">
                <a:solidFill>
                  <a:srgbClr val="000000"/>
                </a:solidFill>
              </a:rPr>
              <a:t> HCO</a:t>
            </a:r>
            <a:r>
              <a:rPr lang="en-US" sz="1800" baseline="-25000" dirty="0">
                <a:solidFill>
                  <a:srgbClr val="000000"/>
                </a:solidFill>
              </a:rPr>
              <a:t>3</a:t>
            </a:r>
            <a:r>
              <a:rPr lang="en-US" sz="1800" baseline="30000" dirty="0">
                <a:solidFill>
                  <a:srgbClr val="000000"/>
                </a:solidFill>
              </a:rPr>
              <a:t>-</a:t>
            </a:r>
            <a:r>
              <a:rPr lang="en-US" sz="1800" dirty="0">
                <a:solidFill>
                  <a:srgbClr val="000000"/>
                </a:solidFill>
              </a:rPr>
              <a:t>)</a:t>
            </a:r>
          </a:p>
          <a:p>
            <a:pPr eaLnBrk="1" hangingPunct="1">
              <a:defRPr/>
            </a:pPr>
            <a:r>
              <a:rPr lang="en-US" sz="1800" dirty="0">
                <a:solidFill>
                  <a:srgbClr val="000000"/>
                </a:solidFill>
              </a:rPr>
              <a:t>	Between molecules (CO</a:t>
            </a:r>
            <a:r>
              <a:rPr lang="en-US" sz="1800" baseline="-25000" dirty="0">
                <a:solidFill>
                  <a:srgbClr val="000000"/>
                </a:solidFill>
              </a:rPr>
              <a:t>2(g) </a:t>
            </a:r>
            <a:r>
              <a:rPr lang="en-US" sz="1800" dirty="0" err="1">
                <a:solidFill>
                  <a:srgbClr val="000000"/>
                </a:solidFill>
              </a:rPr>
              <a:t>vs</a:t>
            </a:r>
            <a:r>
              <a:rPr lang="en-US" sz="1800" dirty="0">
                <a:solidFill>
                  <a:srgbClr val="000000"/>
                </a:solidFill>
              </a:rPr>
              <a:t> CO</a:t>
            </a:r>
            <a:r>
              <a:rPr lang="en-US" sz="1800" baseline="-25000" dirty="0">
                <a:solidFill>
                  <a:srgbClr val="000000"/>
                </a:solidFill>
              </a:rPr>
              <a:t>2(</a:t>
            </a:r>
            <a:r>
              <a:rPr lang="en-US" sz="1800" baseline="-25000" dirty="0" err="1">
                <a:solidFill>
                  <a:srgbClr val="000000"/>
                </a:solidFill>
              </a:rPr>
              <a:t>aq</a:t>
            </a:r>
            <a:r>
              <a:rPr lang="en-US" sz="1800" baseline="-25000" dirty="0">
                <a:solidFill>
                  <a:srgbClr val="000000"/>
                </a:solidFill>
              </a:rPr>
              <a:t>) </a:t>
            </a:r>
            <a:r>
              <a:rPr lang="en-US" sz="1800" dirty="0">
                <a:solidFill>
                  <a:srgbClr val="000000"/>
                </a:solidFill>
              </a:rPr>
              <a:t>)</a:t>
            </a:r>
          </a:p>
          <a:p>
            <a:pPr marL="342900" indent="-342900" eaLnBrk="1" hangingPunct="1">
              <a:defRPr/>
            </a:pPr>
            <a:endParaRPr lang="en-US" sz="1800" dirty="0">
              <a:solidFill>
                <a:srgbClr val="000000"/>
              </a:solidFill>
            </a:endParaRPr>
          </a:p>
          <a:p>
            <a:pPr marL="342900" indent="-342900" eaLnBrk="1" hangingPunct="1">
              <a:defRPr/>
            </a:pPr>
            <a:endParaRPr lang="en-US" sz="1800" dirty="0">
              <a:solidFill>
                <a:srgbClr val="CC0000"/>
              </a:solidFill>
            </a:endParaRPr>
          </a:p>
          <a:p>
            <a:pPr marL="342900" indent="-342900" eaLnBrk="1" hangingPunct="1">
              <a:defRPr/>
            </a:pPr>
            <a:r>
              <a:rPr lang="en-US" sz="1800" dirty="0">
                <a:solidFill>
                  <a:srgbClr val="CC0000"/>
                </a:solidFill>
              </a:rPr>
              <a:t>Differences in vibrational energy is the source of the fractionation.</a:t>
            </a:r>
          </a:p>
          <a:p>
            <a:pPr marL="342900" indent="-342900" eaLnBrk="1" hangingPunct="1">
              <a:defRPr/>
            </a:pPr>
            <a:endParaRPr lang="en-US" sz="1800" dirty="0">
              <a:solidFill>
                <a:srgbClr val="CC0000"/>
              </a:solidFill>
            </a:endParaRPr>
          </a:p>
          <a:p>
            <a:pPr marL="342900" indent="-342900" eaLnBrk="1" hangingPunct="1">
              <a:defRPr/>
            </a:pPr>
            <a:endParaRPr lang="en-US" sz="1800" dirty="0">
              <a:solidFill>
                <a:srgbClr val="CC0000"/>
              </a:solidFill>
            </a:endParaRPr>
          </a:p>
          <a:p>
            <a:pPr marL="342900" indent="-342900" eaLnBrk="1" hangingPunct="1">
              <a:defRPr/>
            </a:pPr>
            <a:r>
              <a:rPr lang="en-US" sz="1800" dirty="0">
                <a:solidFill>
                  <a:srgbClr val="CC0000"/>
                </a:solidFill>
              </a:rPr>
              <a:t>Heavier isotopes wind up in the compound where it is bound more strongly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0">
            <a:extLst>
              <a:ext uri="{FF2B5EF4-FFF2-40B4-BE49-F238E27FC236}">
                <a16:creationId xmlns:a16="http://schemas.microsoft.com/office/drawing/2014/main" id="{1A7FC061-219C-4308-B16F-6EDD57D62EA8}"/>
              </a:ext>
            </a:extLst>
          </p:cNvPr>
          <p:cNvGrpSpPr>
            <a:grpSpLocks/>
          </p:cNvGrpSpPr>
          <p:nvPr/>
        </p:nvGrpSpPr>
        <p:grpSpPr bwMode="auto">
          <a:xfrm>
            <a:off x="614363" y="1495425"/>
            <a:ext cx="6665912" cy="5173663"/>
            <a:chOff x="384" y="793"/>
            <a:chExt cx="4199" cy="3259"/>
          </a:xfrm>
        </p:grpSpPr>
        <p:sp>
          <p:nvSpPr>
            <p:cNvPr id="42010" name="Line 2">
              <a:extLst>
                <a:ext uri="{FF2B5EF4-FFF2-40B4-BE49-F238E27FC236}">
                  <a16:creationId xmlns:a16="http://schemas.microsoft.com/office/drawing/2014/main" id="{94841440-E20C-4E84-AB82-D5C0D49780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" y="793"/>
              <a:ext cx="0" cy="288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011" name="Line 3">
              <a:extLst>
                <a:ext uri="{FF2B5EF4-FFF2-40B4-BE49-F238E27FC236}">
                  <a16:creationId xmlns:a16="http://schemas.microsoft.com/office/drawing/2014/main" id="{F01AD477-4351-4696-B7DE-897B2C8AC7E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633" y="1732"/>
              <a:ext cx="0" cy="39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012" name="Text Box 4">
              <a:extLst>
                <a:ext uri="{FF2B5EF4-FFF2-40B4-BE49-F238E27FC236}">
                  <a16:creationId xmlns:a16="http://schemas.microsoft.com/office/drawing/2014/main" id="{3D00ED79-3E35-41F9-AD30-EE18402789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0" y="3821"/>
              <a:ext cx="13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b="1"/>
                <a:t>Interatomic distance</a:t>
              </a:r>
            </a:p>
          </p:txBody>
        </p:sp>
        <p:sp>
          <p:nvSpPr>
            <p:cNvPr id="42013" name="Text Box 5">
              <a:extLst>
                <a:ext uri="{FF2B5EF4-FFF2-40B4-BE49-F238E27FC236}">
                  <a16:creationId xmlns:a16="http://schemas.microsoft.com/office/drawing/2014/main" id="{339738D4-5D31-4C55-90B5-3306253545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382348">
              <a:off x="-60" y="2144"/>
              <a:ext cx="11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b="1"/>
                <a:t>Potential energy</a:t>
              </a:r>
            </a:p>
          </p:txBody>
        </p:sp>
      </p:grpSp>
      <p:sp>
        <p:nvSpPr>
          <p:cNvPr id="41987" name="Rectangle 6">
            <a:extLst>
              <a:ext uri="{FF2B5EF4-FFF2-40B4-BE49-F238E27FC236}">
                <a16:creationId xmlns:a16="http://schemas.microsoft.com/office/drawing/2014/main" id="{7165402F-AB3E-4E83-8682-38FF64D14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38" y="808038"/>
            <a:ext cx="9051925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/>
              <a:t>Isotope effect associated with zero-point energy</a:t>
            </a:r>
            <a:endParaRPr lang="en-US" altLang="en-US" sz="2400" b="1">
              <a:solidFill>
                <a:srgbClr val="0066CC"/>
              </a:solidFill>
            </a:endParaRPr>
          </a:p>
        </p:txBody>
      </p:sp>
      <p:sp>
        <p:nvSpPr>
          <p:cNvPr id="34823" name="Freeform 7">
            <a:extLst>
              <a:ext uri="{FF2B5EF4-FFF2-40B4-BE49-F238E27FC236}">
                <a16:creationId xmlns:a16="http://schemas.microsoft.com/office/drawing/2014/main" id="{63A70C70-0403-4CB3-AFF1-B0A566B67221}"/>
              </a:ext>
            </a:extLst>
          </p:cNvPr>
          <p:cNvSpPr>
            <a:spLocks/>
          </p:cNvSpPr>
          <p:nvPr/>
        </p:nvSpPr>
        <p:spPr bwMode="auto">
          <a:xfrm>
            <a:off x="1570038" y="1944688"/>
            <a:ext cx="6121400" cy="4278312"/>
          </a:xfrm>
          <a:custGeom>
            <a:avLst/>
            <a:gdLst>
              <a:gd name="T0" fmla="*/ 0 w 3856"/>
              <a:gd name="T1" fmla="*/ 2147483646 h 2695"/>
              <a:gd name="T2" fmla="*/ 2147483646 w 3856"/>
              <a:gd name="T3" fmla="*/ 2147483646 h 2695"/>
              <a:gd name="T4" fmla="*/ 2147483646 w 3856"/>
              <a:gd name="T5" fmla="*/ 2147483646 h 2695"/>
              <a:gd name="T6" fmla="*/ 2147483646 w 3856"/>
              <a:gd name="T7" fmla="*/ 2147483646 h 2695"/>
              <a:gd name="T8" fmla="*/ 2147483646 w 3856"/>
              <a:gd name="T9" fmla="*/ 2147483646 h 2695"/>
              <a:gd name="T10" fmla="*/ 2147483646 w 3856"/>
              <a:gd name="T11" fmla="*/ 2147483646 h 269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856"/>
              <a:gd name="T19" fmla="*/ 0 h 2695"/>
              <a:gd name="T20" fmla="*/ 3856 w 3856"/>
              <a:gd name="T21" fmla="*/ 2695 h 269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856" h="2695">
                <a:moveTo>
                  <a:pt x="0" y="89"/>
                </a:moveTo>
                <a:cubicBezTo>
                  <a:pt x="45" y="925"/>
                  <a:pt x="98" y="1753"/>
                  <a:pt x="236" y="2138"/>
                </a:cubicBezTo>
                <a:cubicBezTo>
                  <a:pt x="374" y="2523"/>
                  <a:pt x="568" y="2695"/>
                  <a:pt x="831" y="2402"/>
                </a:cubicBezTo>
                <a:cubicBezTo>
                  <a:pt x="1094" y="2109"/>
                  <a:pt x="1541" y="764"/>
                  <a:pt x="1813" y="382"/>
                </a:cubicBezTo>
                <a:cubicBezTo>
                  <a:pt x="2085" y="0"/>
                  <a:pt x="2120" y="157"/>
                  <a:pt x="2461" y="112"/>
                </a:cubicBezTo>
                <a:lnTo>
                  <a:pt x="3856" y="112"/>
                </a:lnTo>
              </a:path>
            </a:pathLst>
          </a:custGeom>
          <a:noFill/>
          <a:ln w="635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3" name="Group 33">
            <a:extLst>
              <a:ext uri="{FF2B5EF4-FFF2-40B4-BE49-F238E27FC236}">
                <a16:creationId xmlns:a16="http://schemas.microsoft.com/office/drawing/2014/main" id="{700A028A-2E15-4218-BBBC-1A61023706F2}"/>
              </a:ext>
            </a:extLst>
          </p:cNvPr>
          <p:cNvGrpSpPr>
            <a:grpSpLocks/>
          </p:cNvGrpSpPr>
          <p:nvPr/>
        </p:nvGrpSpPr>
        <p:grpSpPr bwMode="auto">
          <a:xfrm>
            <a:off x="2289175" y="5634038"/>
            <a:ext cx="4370388" cy="769937"/>
            <a:chOff x="1439" y="3400"/>
            <a:chExt cx="2753" cy="485"/>
          </a:xfrm>
        </p:grpSpPr>
        <p:sp>
          <p:nvSpPr>
            <p:cNvPr id="42008" name="Freeform 21">
              <a:extLst>
                <a:ext uri="{FF2B5EF4-FFF2-40B4-BE49-F238E27FC236}">
                  <a16:creationId xmlns:a16="http://schemas.microsoft.com/office/drawing/2014/main" id="{7F943F1D-52D7-4275-968B-BDA80AF16C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" y="3522"/>
              <a:ext cx="1225" cy="363"/>
            </a:xfrm>
            <a:custGeom>
              <a:avLst/>
              <a:gdLst>
                <a:gd name="T0" fmla="*/ 100 w 1225"/>
                <a:gd name="T1" fmla="*/ 159 h 363"/>
                <a:gd name="T2" fmla="*/ 100 w 1225"/>
                <a:gd name="T3" fmla="*/ 339 h 363"/>
                <a:gd name="T4" fmla="*/ 703 w 1225"/>
                <a:gd name="T5" fmla="*/ 15 h 363"/>
                <a:gd name="T6" fmla="*/ 595 w 1225"/>
                <a:gd name="T7" fmla="*/ 249 h 363"/>
                <a:gd name="T8" fmla="*/ 1225 w 1225"/>
                <a:gd name="T9" fmla="*/ 0 h 3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25"/>
                <a:gd name="T16" fmla="*/ 0 h 363"/>
                <a:gd name="T17" fmla="*/ 1225 w 1225"/>
                <a:gd name="T18" fmla="*/ 363 h 3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25" h="363">
                  <a:moveTo>
                    <a:pt x="100" y="159"/>
                  </a:moveTo>
                  <a:cubicBezTo>
                    <a:pt x="101" y="189"/>
                    <a:pt x="0" y="363"/>
                    <a:pt x="100" y="339"/>
                  </a:cubicBezTo>
                  <a:cubicBezTo>
                    <a:pt x="200" y="315"/>
                    <a:pt x="621" y="30"/>
                    <a:pt x="703" y="15"/>
                  </a:cubicBezTo>
                  <a:cubicBezTo>
                    <a:pt x="785" y="0"/>
                    <a:pt x="508" y="252"/>
                    <a:pt x="595" y="249"/>
                  </a:cubicBezTo>
                  <a:cubicBezTo>
                    <a:pt x="682" y="246"/>
                    <a:pt x="1094" y="52"/>
                    <a:pt x="1225" y="0"/>
                  </a:cubicBezTo>
                </a:path>
              </a:pathLst>
            </a:custGeom>
            <a:noFill/>
            <a:ln w="38100">
              <a:solidFill>
                <a:srgbClr val="FF00FF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842" name="Text Box 26">
              <a:extLst>
                <a:ext uri="{FF2B5EF4-FFF2-40B4-BE49-F238E27FC236}">
                  <a16:creationId xmlns:a16="http://schemas.microsoft.com/office/drawing/2014/main" id="{5617E190-7362-476C-A9CF-EB355713F8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3" y="3400"/>
              <a:ext cx="152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b="1">
                  <a:solidFill>
                    <a:srgbClr val="D6009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ABSOLUTE ZERO</a:t>
              </a:r>
            </a:p>
          </p:txBody>
        </p:sp>
      </p:grpSp>
      <p:grpSp>
        <p:nvGrpSpPr>
          <p:cNvPr id="4" name="Group 46">
            <a:extLst>
              <a:ext uri="{FF2B5EF4-FFF2-40B4-BE49-F238E27FC236}">
                <a16:creationId xmlns:a16="http://schemas.microsoft.com/office/drawing/2014/main" id="{899E20C2-F662-48CE-876A-89E470E7311E}"/>
              </a:ext>
            </a:extLst>
          </p:cNvPr>
          <p:cNvGrpSpPr>
            <a:grpSpLocks/>
          </p:cNvGrpSpPr>
          <p:nvPr/>
        </p:nvGrpSpPr>
        <p:grpSpPr bwMode="auto">
          <a:xfrm>
            <a:off x="1885950" y="4913313"/>
            <a:ext cx="7224713" cy="641350"/>
            <a:chOff x="1188" y="3095"/>
            <a:chExt cx="4551" cy="404"/>
          </a:xfrm>
        </p:grpSpPr>
        <p:grpSp>
          <p:nvGrpSpPr>
            <p:cNvPr id="42003" name="Group 45">
              <a:extLst>
                <a:ext uri="{FF2B5EF4-FFF2-40B4-BE49-F238E27FC236}">
                  <a16:creationId xmlns:a16="http://schemas.microsoft.com/office/drawing/2014/main" id="{431B338A-98A9-4D95-A905-2EEEFBA2FA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36" y="3095"/>
              <a:ext cx="1903" cy="404"/>
              <a:chOff x="3836" y="3095"/>
              <a:chExt cx="1903" cy="404"/>
            </a:xfrm>
          </p:grpSpPr>
          <p:sp>
            <p:nvSpPr>
              <p:cNvPr id="42006" name="AutoShape 18">
                <a:extLst>
                  <a:ext uri="{FF2B5EF4-FFF2-40B4-BE49-F238E27FC236}">
                    <a16:creationId xmlns:a16="http://schemas.microsoft.com/office/drawing/2014/main" id="{2C84F07E-EAC3-4862-87E8-16C05ADE40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6" y="3205"/>
                <a:ext cx="88" cy="199"/>
              </a:xfrm>
              <a:prstGeom prst="rightBrace">
                <a:avLst>
                  <a:gd name="adj1" fmla="val 18845"/>
                  <a:gd name="adj2" fmla="val 45727"/>
                </a:avLst>
              </a:prstGeom>
              <a:noFill/>
              <a:ln w="381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IN" altLang="en-US" sz="2400"/>
              </a:p>
            </p:txBody>
          </p:sp>
          <p:sp>
            <p:nvSpPr>
              <p:cNvPr id="34835" name="Text Box 19">
                <a:extLst>
                  <a:ext uri="{FF2B5EF4-FFF2-40B4-BE49-F238E27FC236}">
                    <a16:creationId xmlns:a16="http://schemas.microsoft.com/office/drawing/2014/main" id="{23976D97-F364-4D25-A738-F5AE706904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60" y="3095"/>
                <a:ext cx="1779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b="1">
                    <a:solidFill>
                      <a:srgbClr val="D60093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ZERO POINT ENERGY LEVELS (ZPEs)</a:t>
                </a:r>
              </a:p>
            </p:txBody>
          </p:sp>
        </p:grpSp>
        <p:sp>
          <p:nvSpPr>
            <p:cNvPr id="42004" name="Line 12">
              <a:extLst>
                <a:ext uri="{FF2B5EF4-FFF2-40B4-BE49-F238E27FC236}">
                  <a16:creationId xmlns:a16="http://schemas.microsoft.com/office/drawing/2014/main" id="{13FDA515-9F4A-4BD5-A677-CB74581469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8" y="3229"/>
              <a:ext cx="2067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005" name="Line 13">
              <a:extLst>
                <a:ext uri="{FF2B5EF4-FFF2-40B4-BE49-F238E27FC236}">
                  <a16:creationId xmlns:a16="http://schemas.microsoft.com/office/drawing/2014/main" id="{EFDA3874-BDEB-4058-AAA3-2731DBD72B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7" y="3409"/>
              <a:ext cx="253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34">
            <a:extLst>
              <a:ext uri="{FF2B5EF4-FFF2-40B4-BE49-F238E27FC236}">
                <a16:creationId xmlns:a16="http://schemas.microsoft.com/office/drawing/2014/main" id="{537EF24A-B23A-4C6D-8064-3103A4AE4415}"/>
              </a:ext>
            </a:extLst>
          </p:cNvPr>
          <p:cNvGrpSpPr>
            <a:grpSpLocks/>
          </p:cNvGrpSpPr>
          <p:nvPr/>
        </p:nvGrpSpPr>
        <p:grpSpPr bwMode="auto">
          <a:xfrm>
            <a:off x="1100138" y="4664075"/>
            <a:ext cx="1276350" cy="1204913"/>
            <a:chOff x="690" y="2789"/>
            <a:chExt cx="804" cy="759"/>
          </a:xfrm>
        </p:grpSpPr>
        <p:sp>
          <p:nvSpPr>
            <p:cNvPr id="34839" name="Rectangle 23">
              <a:extLst>
                <a:ext uri="{FF2B5EF4-FFF2-40B4-BE49-F238E27FC236}">
                  <a16:creationId xmlns:a16="http://schemas.microsoft.com/office/drawing/2014/main" id="{41264143-312B-4239-97F2-DB79C1D3B1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1" y="3124"/>
              <a:ext cx="45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1">
                  <a:solidFill>
                    <a:srgbClr val="0066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D-D</a:t>
              </a:r>
            </a:p>
          </p:txBody>
        </p:sp>
        <p:sp>
          <p:nvSpPr>
            <p:cNvPr id="34840" name="Rectangle 24">
              <a:extLst>
                <a:ext uri="{FF2B5EF4-FFF2-40B4-BE49-F238E27FC236}">
                  <a16:creationId xmlns:a16="http://schemas.microsoft.com/office/drawing/2014/main" id="{3F4F7D7F-939B-4894-89AE-EA72CD1A3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" y="2914"/>
              <a:ext cx="47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1">
                  <a:solidFill>
                    <a:srgbClr val="0066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H-H</a:t>
              </a:r>
            </a:p>
          </p:txBody>
        </p:sp>
        <p:sp>
          <p:nvSpPr>
            <p:cNvPr id="42001" name="Freeform 28">
              <a:extLst>
                <a:ext uri="{FF2B5EF4-FFF2-40B4-BE49-F238E27FC236}">
                  <a16:creationId xmlns:a16="http://schemas.microsoft.com/office/drawing/2014/main" id="{7437C4A8-ABBD-4999-8A26-5B52E3018344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" y="2789"/>
              <a:ext cx="414" cy="235"/>
            </a:xfrm>
            <a:custGeom>
              <a:avLst/>
              <a:gdLst>
                <a:gd name="T0" fmla="*/ 36 w 414"/>
                <a:gd name="T1" fmla="*/ 172 h 235"/>
                <a:gd name="T2" fmla="*/ 63 w 414"/>
                <a:gd name="T3" fmla="*/ 10 h 235"/>
                <a:gd name="T4" fmla="*/ 414 w 414"/>
                <a:gd name="T5" fmla="*/ 235 h 235"/>
                <a:gd name="T6" fmla="*/ 0 60000 65536"/>
                <a:gd name="T7" fmla="*/ 0 60000 65536"/>
                <a:gd name="T8" fmla="*/ 0 60000 65536"/>
                <a:gd name="T9" fmla="*/ 0 w 414"/>
                <a:gd name="T10" fmla="*/ 0 h 235"/>
                <a:gd name="T11" fmla="*/ 414 w 414"/>
                <a:gd name="T12" fmla="*/ 235 h 2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4" h="235">
                  <a:moveTo>
                    <a:pt x="36" y="172"/>
                  </a:moveTo>
                  <a:cubicBezTo>
                    <a:pt x="18" y="86"/>
                    <a:pt x="0" y="0"/>
                    <a:pt x="63" y="10"/>
                  </a:cubicBezTo>
                  <a:cubicBezTo>
                    <a:pt x="126" y="20"/>
                    <a:pt x="270" y="127"/>
                    <a:pt x="414" y="235"/>
                  </a:cubicBezTo>
                </a:path>
              </a:pathLst>
            </a:custGeom>
            <a:noFill/>
            <a:ln w="38100">
              <a:solidFill>
                <a:srgbClr val="0066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002" name="Freeform 29">
              <a:extLst>
                <a:ext uri="{FF2B5EF4-FFF2-40B4-BE49-F238E27FC236}">
                  <a16:creationId xmlns:a16="http://schemas.microsoft.com/office/drawing/2014/main" id="{AB4CA658-BB0D-4275-9B3C-C6F0B65662B4}"/>
                </a:ext>
              </a:extLst>
            </p:cNvPr>
            <p:cNvSpPr>
              <a:spLocks/>
            </p:cNvSpPr>
            <p:nvPr/>
          </p:nvSpPr>
          <p:spPr bwMode="auto">
            <a:xfrm>
              <a:off x="990" y="3312"/>
              <a:ext cx="504" cy="236"/>
            </a:xfrm>
            <a:custGeom>
              <a:avLst/>
              <a:gdLst>
                <a:gd name="T0" fmla="*/ 0 w 504"/>
                <a:gd name="T1" fmla="*/ 63 h 236"/>
                <a:gd name="T2" fmla="*/ 171 w 504"/>
                <a:gd name="T3" fmla="*/ 225 h 236"/>
                <a:gd name="T4" fmla="*/ 504 w 504"/>
                <a:gd name="T5" fmla="*/ 0 h 236"/>
                <a:gd name="T6" fmla="*/ 0 60000 65536"/>
                <a:gd name="T7" fmla="*/ 0 60000 65536"/>
                <a:gd name="T8" fmla="*/ 0 60000 65536"/>
                <a:gd name="T9" fmla="*/ 0 w 504"/>
                <a:gd name="T10" fmla="*/ 0 h 236"/>
                <a:gd name="T11" fmla="*/ 504 w 504"/>
                <a:gd name="T12" fmla="*/ 236 h 2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04" h="236">
                  <a:moveTo>
                    <a:pt x="0" y="63"/>
                  </a:moveTo>
                  <a:cubicBezTo>
                    <a:pt x="28" y="90"/>
                    <a:pt x="87" y="236"/>
                    <a:pt x="171" y="225"/>
                  </a:cubicBezTo>
                  <a:cubicBezTo>
                    <a:pt x="255" y="214"/>
                    <a:pt x="435" y="47"/>
                    <a:pt x="504" y="0"/>
                  </a:cubicBezTo>
                </a:path>
              </a:pathLst>
            </a:custGeom>
            <a:noFill/>
            <a:ln w="38100">
              <a:solidFill>
                <a:srgbClr val="0066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39">
            <a:extLst>
              <a:ext uri="{FF2B5EF4-FFF2-40B4-BE49-F238E27FC236}">
                <a16:creationId xmlns:a16="http://schemas.microsoft.com/office/drawing/2014/main" id="{54F1DD01-357B-4738-875E-BCE81B8C8B08}"/>
              </a:ext>
            </a:extLst>
          </p:cNvPr>
          <p:cNvGrpSpPr>
            <a:grpSpLocks/>
          </p:cNvGrpSpPr>
          <p:nvPr/>
        </p:nvGrpSpPr>
        <p:grpSpPr bwMode="auto">
          <a:xfrm>
            <a:off x="1822450" y="1695450"/>
            <a:ext cx="5411788" cy="422275"/>
            <a:chOff x="1145" y="919"/>
            <a:chExt cx="3409" cy="266"/>
          </a:xfrm>
        </p:grpSpPr>
        <p:sp>
          <p:nvSpPr>
            <p:cNvPr id="34838" name="Text Box 22">
              <a:extLst>
                <a:ext uri="{FF2B5EF4-FFF2-40B4-BE49-F238E27FC236}">
                  <a16:creationId xmlns:a16="http://schemas.microsoft.com/office/drawing/2014/main" id="{4680F6DE-E842-415E-A030-819AB7332F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5" y="919"/>
              <a:ext cx="179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b="1">
                  <a:solidFill>
                    <a:srgbClr val="D6009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DISSOCIATED ATOMS</a:t>
              </a:r>
            </a:p>
          </p:txBody>
        </p:sp>
        <p:sp>
          <p:nvSpPr>
            <p:cNvPr id="41997" name="Line 27">
              <a:extLst>
                <a:ext uri="{FF2B5EF4-FFF2-40B4-BE49-F238E27FC236}">
                  <a16:creationId xmlns:a16="http://schemas.microsoft.com/office/drawing/2014/main" id="{13A27D97-7930-4CEC-89AD-EED301EE39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6" y="1179"/>
              <a:ext cx="1674" cy="0"/>
            </a:xfrm>
            <a:prstGeom prst="line">
              <a:avLst/>
            </a:prstGeom>
            <a:noFill/>
            <a:ln w="25400">
              <a:solidFill>
                <a:srgbClr val="D60093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998" name="Line 38">
              <a:extLst>
                <a:ext uri="{FF2B5EF4-FFF2-40B4-BE49-F238E27FC236}">
                  <a16:creationId xmlns:a16="http://schemas.microsoft.com/office/drawing/2014/main" id="{A30787F1-70F6-4054-B348-F08A9CDC45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0" y="1185"/>
              <a:ext cx="1674" cy="0"/>
            </a:xfrm>
            <a:prstGeom prst="line">
              <a:avLst/>
            </a:prstGeom>
            <a:noFill/>
            <a:ln w="25400">
              <a:solidFill>
                <a:srgbClr val="D60093"/>
              </a:solidFill>
              <a:prstDash val="dash"/>
              <a:round/>
              <a:headEnd type="non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4859" name="Text Box 43">
            <a:extLst>
              <a:ext uri="{FF2B5EF4-FFF2-40B4-BE49-F238E27FC236}">
                <a16:creationId xmlns:a16="http://schemas.microsoft.com/office/drawing/2014/main" id="{4BED5D34-C8BE-44DE-B728-17E8F080CC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2350" y="2203450"/>
            <a:ext cx="3581400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/>
              <a:t>{Morse Potential Curve}</a:t>
            </a:r>
          </a:p>
        </p:txBody>
      </p:sp>
      <p:sp>
        <p:nvSpPr>
          <p:cNvPr id="34860" name="Text Box 44">
            <a:extLst>
              <a:ext uri="{FF2B5EF4-FFF2-40B4-BE49-F238E27FC236}">
                <a16:creationId xmlns:a16="http://schemas.microsoft.com/office/drawing/2014/main" id="{E7CEA5F0-FC1B-4692-B5A1-2C91D0A18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3060700"/>
            <a:ext cx="4065588" cy="10160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000" b="1" dirty="0">
                <a:solidFill>
                  <a:srgbClr val="4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Differences in ZPEs are the fundamental cause of equilibrium isotope fractionation</a:t>
            </a:r>
            <a:endParaRPr lang="en-US" dirty="0">
              <a:latin typeface="+mj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BC07351-4FFB-4D1F-BA5D-A20142ED4435}"/>
              </a:ext>
            </a:extLst>
          </p:cNvPr>
          <p:cNvSpPr/>
          <p:nvPr/>
        </p:nvSpPr>
        <p:spPr>
          <a:xfrm>
            <a:off x="0" y="188913"/>
            <a:ext cx="3757613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eaLnBrk="1" hangingPunct="1">
              <a:defRPr/>
            </a:pPr>
            <a:r>
              <a:rPr lang="en-US" b="1" dirty="0">
                <a:solidFill>
                  <a:schemeClr val="accent6"/>
                </a:solidFill>
              </a:rPr>
              <a:t>Equilibrium Isotope effects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59" grpId="0" autoUpdateAnimBg="0"/>
      <p:bldP spid="34860" grpId="0" animBg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0" name="Group 2">
            <a:extLst>
              <a:ext uri="{FF2B5EF4-FFF2-40B4-BE49-F238E27FC236}">
                <a16:creationId xmlns:a16="http://schemas.microsoft.com/office/drawing/2014/main" id="{2B0D77A9-3066-49D4-875D-EE365153E268}"/>
              </a:ext>
            </a:extLst>
          </p:cNvPr>
          <p:cNvGrpSpPr>
            <a:grpSpLocks/>
          </p:cNvGrpSpPr>
          <p:nvPr/>
        </p:nvGrpSpPr>
        <p:grpSpPr bwMode="auto">
          <a:xfrm>
            <a:off x="614363" y="1484313"/>
            <a:ext cx="6665912" cy="5173662"/>
            <a:chOff x="384" y="793"/>
            <a:chExt cx="4199" cy="3259"/>
          </a:xfrm>
        </p:grpSpPr>
        <p:sp>
          <p:nvSpPr>
            <p:cNvPr id="43034" name="Line 3">
              <a:extLst>
                <a:ext uri="{FF2B5EF4-FFF2-40B4-BE49-F238E27FC236}">
                  <a16:creationId xmlns:a16="http://schemas.microsoft.com/office/drawing/2014/main" id="{AC3F264C-DC81-4EDB-871E-7394B7C767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" y="793"/>
              <a:ext cx="0" cy="288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035" name="Line 4">
              <a:extLst>
                <a:ext uri="{FF2B5EF4-FFF2-40B4-BE49-F238E27FC236}">
                  <a16:creationId xmlns:a16="http://schemas.microsoft.com/office/drawing/2014/main" id="{3F5D0963-5D5F-458B-A9DF-33311995846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633" y="1732"/>
              <a:ext cx="0" cy="39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036" name="Text Box 5">
              <a:extLst>
                <a:ext uri="{FF2B5EF4-FFF2-40B4-BE49-F238E27FC236}">
                  <a16:creationId xmlns:a16="http://schemas.microsoft.com/office/drawing/2014/main" id="{AEFA3C71-500A-4766-9BA2-58EA7C745C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0" y="3821"/>
              <a:ext cx="13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b="1"/>
                <a:t>Interatomic distance</a:t>
              </a:r>
            </a:p>
          </p:txBody>
        </p:sp>
        <p:sp>
          <p:nvSpPr>
            <p:cNvPr id="43037" name="Text Box 6">
              <a:extLst>
                <a:ext uri="{FF2B5EF4-FFF2-40B4-BE49-F238E27FC236}">
                  <a16:creationId xmlns:a16="http://schemas.microsoft.com/office/drawing/2014/main" id="{AB42ADAB-3795-4803-AA3C-4F2041A347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382348">
              <a:off x="-60" y="2145"/>
              <a:ext cx="11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b="1"/>
                <a:t>Potential energy</a:t>
              </a:r>
            </a:p>
          </p:txBody>
        </p:sp>
      </p:grpSp>
      <p:sp>
        <p:nvSpPr>
          <p:cNvPr id="43011" name="Rectangle 7">
            <a:extLst>
              <a:ext uri="{FF2B5EF4-FFF2-40B4-BE49-F238E27FC236}">
                <a16:creationId xmlns:a16="http://schemas.microsoft.com/office/drawing/2014/main" id="{A5BFEE08-9EAA-4DEA-A85B-473BACF96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" y="696913"/>
            <a:ext cx="9051925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/>
              <a:t>Isotope effect associated with zero-point energy</a:t>
            </a:r>
            <a:endParaRPr lang="en-US" altLang="en-US" sz="2800" b="1">
              <a:solidFill>
                <a:srgbClr val="0066CC"/>
              </a:solidFill>
            </a:endParaRPr>
          </a:p>
        </p:txBody>
      </p:sp>
      <p:sp>
        <p:nvSpPr>
          <p:cNvPr id="43012" name="Freeform 8">
            <a:extLst>
              <a:ext uri="{FF2B5EF4-FFF2-40B4-BE49-F238E27FC236}">
                <a16:creationId xmlns:a16="http://schemas.microsoft.com/office/drawing/2014/main" id="{9A472335-40C2-4010-A96D-4B0A700AD9E8}"/>
              </a:ext>
            </a:extLst>
          </p:cNvPr>
          <p:cNvSpPr>
            <a:spLocks/>
          </p:cNvSpPr>
          <p:nvPr/>
        </p:nvSpPr>
        <p:spPr bwMode="auto">
          <a:xfrm>
            <a:off x="1570038" y="1933575"/>
            <a:ext cx="6121400" cy="4278313"/>
          </a:xfrm>
          <a:custGeom>
            <a:avLst/>
            <a:gdLst>
              <a:gd name="T0" fmla="*/ 0 w 3856"/>
              <a:gd name="T1" fmla="*/ 2147483646 h 2695"/>
              <a:gd name="T2" fmla="*/ 2147483646 w 3856"/>
              <a:gd name="T3" fmla="*/ 2147483646 h 2695"/>
              <a:gd name="T4" fmla="*/ 2147483646 w 3856"/>
              <a:gd name="T5" fmla="*/ 2147483646 h 2695"/>
              <a:gd name="T6" fmla="*/ 2147483646 w 3856"/>
              <a:gd name="T7" fmla="*/ 2147483646 h 2695"/>
              <a:gd name="T8" fmla="*/ 2147483646 w 3856"/>
              <a:gd name="T9" fmla="*/ 2147483646 h 2695"/>
              <a:gd name="T10" fmla="*/ 2147483646 w 3856"/>
              <a:gd name="T11" fmla="*/ 2147483646 h 269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856"/>
              <a:gd name="T19" fmla="*/ 0 h 2695"/>
              <a:gd name="T20" fmla="*/ 3856 w 3856"/>
              <a:gd name="T21" fmla="*/ 2695 h 269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856" h="2695">
                <a:moveTo>
                  <a:pt x="0" y="89"/>
                </a:moveTo>
                <a:cubicBezTo>
                  <a:pt x="45" y="925"/>
                  <a:pt x="98" y="1753"/>
                  <a:pt x="236" y="2138"/>
                </a:cubicBezTo>
                <a:cubicBezTo>
                  <a:pt x="374" y="2523"/>
                  <a:pt x="568" y="2695"/>
                  <a:pt x="831" y="2402"/>
                </a:cubicBezTo>
                <a:cubicBezTo>
                  <a:pt x="1094" y="2109"/>
                  <a:pt x="1541" y="764"/>
                  <a:pt x="1813" y="382"/>
                </a:cubicBezTo>
                <a:cubicBezTo>
                  <a:pt x="2085" y="0"/>
                  <a:pt x="2120" y="157"/>
                  <a:pt x="2461" y="112"/>
                </a:cubicBezTo>
                <a:lnTo>
                  <a:pt x="3856" y="112"/>
                </a:lnTo>
              </a:path>
            </a:pathLst>
          </a:custGeom>
          <a:noFill/>
          <a:ln w="635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3013" name="Line 16">
            <a:extLst>
              <a:ext uri="{FF2B5EF4-FFF2-40B4-BE49-F238E27FC236}">
                <a16:creationId xmlns:a16="http://schemas.microsoft.com/office/drawing/2014/main" id="{CC68696F-EE5D-49AE-BC0D-87D5C0FA359E}"/>
              </a:ext>
            </a:extLst>
          </p:cNvPr>
          <p:cNvSpPr>
            <a:spLocks noChangeShapeType="1"/>
          </p:cNvSpPr>
          <p:nvPr/>
        </p:nvSpPr>
        <p:spPr bwMode="auto">
          <a:xfrm>
            <a:off x="1897063" y="5114925"/>
            <a:ext cx="31623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3014" name="Line 17">
            <a:extLst>
              <a:ext uri="{FF2B5EF4-FFF2-40B4-BE49-F238E27FC236}">
                <a16:creationId xmlns:a16="http://schemas.microsoft.com/office/drawing/2014/main" id="{7106E6CC-FC6E-451A-AFAD-F606CA6838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1675" y="5400675"/>
            <a:ext cx="388302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43015" name="Group 18">
            <a:extLst>
              <a:ext uri="{FF2B5EF4-FFF2-40B4-BE49-F238E27FC236}">
                <a16:creationId xmlns:a16="http://schemas.microsoft.com/office/drawing/2014/main" id="{F5FA95ED-AFFA-4C2C-BC9E-02B1F27EC714}"/>
              </a:ext>
            </a:extLst>
          </p:cNvPr>
          <p:cNvGrpSpPr>
            <a:grpSpLocks/>
          </p:cNvGrpSpPr>
          <p:nvPr/>
        </p:nvGrpSpPr>
        <p:grpSpPr bwMode="auto">
          <a:xfrm>
            <a:off x="1100138" y="4652963"/>
            <a:ext cx="1276350" cy="1204912"/>
            <a:chOff x="690" y="2789"/>
            <a:chExt cx="804" cy="759"/>
          </a:xfrm>
        </p:grpSpPr>
        <p:sp>
          <p:nvSpPr>
            <p:cNvPr id="113683" name="Rectangle 19">
              <a:extLst>
                <a:ext uri="{FF2B5EF4-FFF2-40B4-BE49-F238E27FC236}">
                  <a16:creationId xmlns:a16="http://schemas.microsoft.com/office/drawing/2014/main" id="{8957F849-BB3D-4A03-A949-749717547A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1" y="3124"/>
              <a:ext cx="45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1">
                  <a:solidFill>
                    <a:srgbClr val="0066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D-D</a:t>
              </a:r>
            </a:p>
          </p:txBody>
        </p:sp>
        <p:sp>
          <p:nvSpPr>
            <p:cNvPr id="113684" name="Rectangle 20">
              <a:extLst>
                <a:ext uri="{FF2B5EF4-FFF2-40B4-BE49-F238E27FC236}">
                  <a16:creationId xmlns:a16="http://schemas.microsoft.com/office/drawing/2014/main" id="{32639AD8-6387-4D99-BCB3-DEC845ACBF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" y="2914"/>
              <a:ext cx="47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1">
                  <a:solidFill>
                    <a:srgbClr val="0066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H-H</a:t>
              </a:r>
            </a:p>
          </p:txBody>
        </p:sp>
        <p:sp>
          <p:nvSpPr>
            <p:cNvPr id="43032" name="Freeform 21">
              <a:extLst>
                <a:ext uri="{FF2B5EF4-FFF2-40B4-BE49-F238E27FC236}">
                  <a16:creationId xmlns:a16="http://schemas.microsoft.com/office/drawing/2014/main" id="{960CE74C-EF8D-44B1-A93F-A8D06FEDA52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" y="2789"/>
              <a:ext cx="414" cy="235"/>
            </a:xfrm>
            <a:custGeom>
              <a:avLst/>
              <a:gdLst>
                <a:gd name="T0" fmla="*/ 36 w 414"/>
                <a:gd name="T1" fmla="*/ 172 h 235"/>
                <a:gd name="T2" fmla="*/ 63 w 414"/>
                <a:gd name="T3" fmla="*/ 10 h 235"/>
                <a:gd name="T4" fmla="*/ 414 w 414"/>
                <a:gd name="T5" fmla="*/ 235 h 235"/>
                <a:gd name="T6" fmla="*/ 0 60000 65536"/>
                <a:gd name="T7" fmla="*/ 0 60000 65536"/>
                <a:gd name="T8" fmla="*/ 0 60000 65536"/>
                <a:gd name="T9" fmla="*/ 0 w 414"/>
                <a:gd name="T10" fmla="*/ 0 h 235"/>
                <a:gd name="T11" fmla="*/ 414 w 414"/>
                <a:gd name="T12" fmla="*/ 235 h 2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4" h="235">
                  <a:moveTo>
                    <a:pt x="36" y="172"/>
                  </a:moveTo>
                  <a:cubicBezTo>
                    <a:pt x="18" y="86"/>
                    <a:pt x="0" y="0"/>
                    <a:pt x="63" y="10"/>
                  </a:cubicBezTo>
                  <a:cubicBezTo>
                    <a:pt x="126" y="20"/>
                    <a:pt x="270" y="127"/>
                    <a:pt x="414" y="235"/>
                  </a:cubicBezTo>
                </a:path>
              </a:pathLst>
            </a:custGeom>
            <a:noFill/>
            <a:ln w="38100">
              <a:solidFill>
                <a:srgbClr val="0066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033" name="Freeform 22">
              <a:extLst>
                <a:ext uri="{FF2B5EF4-FFF2-40B4-BE49-F238E27FC236}">
                  <a16:creationId xmlns:a16="http://schemas.microsoft.com/office/drawing/2014/main" id="{EEDCA785-B1F9-489E-960D-9ADE3E78A3B9}"/>
                </a:ext>
              </a:extLst>
            </p:cNvPr>
            <p:cNvSpPr>
              <a:spLocks/>
            </p:cNvSpPr>
            <p:nvPr/>
          </p:nvSpPr>
          <p:spPr bwMode="auto">
            <a:xfrm>
              <a:off x="990" y="3312"/>
              <a:ext cx="504" cy="236"/>
            </a:xfrm>
            <a:custGeom>
              <a:avLst/>
              <a:gdLst>
                <a:gd name="T0" fmla="*/ 0 w 504"/>
                <a:gd name="T1" fmla="*/ 63 h 236"/>
                <a:gd name="T2" fmla="*/ 171 w 504"/>
                <a:gd name="T3" fmla="*/ 225 h 236"/>
                <a:gd name="T4" fmla="*/ 504 w 504"/>
                <a:gd name="T5" fmla="*/ 0 h 236"/>
                <a:gd name="T6" fmla="*/ 0 60000 65536"/>
                <a:gd name="T7" fmla="*/ 0 60000 65536"/>
                <a:gd name="T8" fmla="*/ 0 60000 65536"/>
                <a:gd name="T9" fmla="*/ 0 w 504"/>
                <a:gd name="T10" fmla="*/ 0 h 236"/>
                <a:gd name="T11" fmla="*/ 504 w 504"/>
                <a:gd name="T12" fmla="*/ 236 h 2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04" h="236">
                  <a:moveTo>
                    <a:pt x="0" y="63"/>
                  </a:moveTo>
                  <a:cubicBezTo>
                    <a:pt x="28" y="90"/>
                    <a:pt x="87" y="236"/>
                    <a:pt x="171" y="225"/>
                  </a:cubicBezTo>
                  <a:cubicBezTo>
                    <a:pt x="255" y="214"/>
                    <a:pt x="435" y="47"/>
                    <a:pt x="504" y="0"/>
                  </a:cubicBezTo>
                </a:path>
              </a:pathLst>
            </a:custGeom>
            <a:noFill/>
            <a:ln w="38100">
              <a:solidFill>
                <a:srgbClr val="0066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3691" name="Rectangle 27">
            <a:extLst>
              <a:ext uri="{FF2B5EF4-FFF2-40B4-BE49-F238E27FC236}">
                <a16:creationId xmlns:a16="http://schemas.microsoft.com/office/drawing/2014/main" id="{30D8A245-F7A1-4D4D-9C25-E470122F8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1113"/>
            <a:ext cx="9169400" cy="658813"/>
          </a:xfrm>
          <a:prstGeom prst="rect">
            <a:avLst/>
          </a:prstGeom>
          <a:solidFill>
            <a:srgbClr val="66CCFF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Comic Sans MS" charset="0"/>
              </a:rPr>
              <a:t>   Physio-chemical differences</a:t>
            </a:r>
            <a:r>
              <a:rPr 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Comic Sans MS" charset="0"/>
              </a:rPr>
              <a:t>	</a:t>
            </a:r>
          </a:p>
        </p:txBody>
      </p:sp>
      <p:sp>
        <p:nvSpPr>
          <p:cNvPr id="43017" name="Line 28">
            <a:extLst>
              <a:ext uri="{FF2B5EF4-FFF2-40B4-BE49-F238E27FC236}">
                <a16:creationId xmlns:a16="http://schemas.microsoft.com/office/drawing/2014/main" id="{8B69CBC5-6426-41E2-9032-536981F556FE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42938"/>
            <a:ext cx="9170988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43018" name="Group 29">
            <a:extLst>
              <a:ext uri="{FF2B5EF4-FFF2-40B4-BE49-F238E27FC236}">
                <a16:creationId xmlns:a16="http://schemas.microsoft.com/office/drawing/2014/main" id="{167BE7BE-F6ED-4339-B6C9-3828E63C4AD5}"/>
              </a:ext>
            </a:extLst>
          </p:cNvPr>
          <p:cNvGrpSpPr>
            <a:grpSpLocks/>
          </p:cNvGrpSpPr>
          <p:nvPr/>
        </p:nvGrpSpPr>
        <p:grpSpPr bwMode="auto">
          <a:xfrm>
            <a:off x="4451350" y="2143125"/>
            <a:ext cx="2008188" cy="3255963"/>
            <a:chOff x="2808" y="1208"/>
            <a:chExt cx="1265" cy="2051"/>
          </a:xfrm>
        </p:grpSpPr>
        <p:sp>
          <p:nvSpPr>
            <p:cNvPr id="43026" name="Line 30">
              <a:extLst>
                <a:ext uri="{FF2B5EF4-FFF2-40B4-BE49-F238E27FC236}">
                  <a16:creationId xmlns:a16="http://schemas.microsoft.com/office/drawing/2014/main" id="{8BDA1CE3-35D4-49EE-899F-64F8C67EB8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5" y="1208"/>
              <a:ext cx="0" cy="18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027" name="Line 31">
              <a:extLst>
                <a:ext uri="{FF2B5EF4-FFF2-40B4-BE49-F238E27FC236}">
                  <a16:creationId xmlns:a16="http://schemas.microsoft.com/office/drawing/2014/main" id="{F0C7F32C-E38A-47EF-B6FD-9FD2D60612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7" y="1208"/>
              <a:ext cx="0" cy="205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028" name="Text Box 32">
              <a:extLst>
                <a:ext uri="{FF2B5EF4-FFF2-40B4-BE49-F238E27FC236}">
                  <a16:creationId xmlns:a16="http://schemas.microsoft.com/office/drawing/2014/main" id="{B16F5240-7547-4FCD-BCC3-1088BB3BA1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8" y="2095"/>
              <a:ext cx="742" cy="2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b="1"/>
                <a:t>E</a:t>
              </a:r>
              <a:r>
                <a:rPr lang="en-US" altLang="en-US" sz="2400" b="1" baseline="-25000"/>
                <a:t>L </a:t>
              </a:r>
              <a:r>
                <a:rPr lang="en-US" altLang="en-US" sz="2400" b="1"/>
                <a:t>= 103.2</a:t>
              </a:r>
              <a:endParaRPr lang="en-US" altLang="en-US" sz="2400" b="1" baseline="-25000"/>
            </a:p>
          </p:txBody>
        </p:sp>
        <p:sp>
          <p:nvSpPr>
            <p:cNvPr id="43029" name="Text Box 33">
              <a:extLst>
                <a:ext uri="{FF2B5EF4-FFF2-40B4-BE49-F238E27FC236}">
                  <a16:creationId xmlns:a16="http://schemas.microsoft.com/office/drawing/2014/main" id="{1F477231-FD20-4E21-A18F-48FF97B35E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0" y="2552"/>
              <a:ext cx="753" cy="2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b="1"/>
                <a:t>E</a:t>
              </a:r>
              <a:r>
                <a:rPr lang="en-US" altLang="en-US" sz="2400" b="1" baseline="-25000"/>
                <a:t>H </a:t>
              </a:r>
              <a:r>
                <a:rPr lang="en-US" altLang="en-US" sz="2400" b="1"/>
                <a:t>= 105.3</a:t>
              </a:r>
              <a:endParaRPr lang="en-US" altLang="en-US" sz="2400" b="1" baseline="-25000"/>
            </a:p>
          </p:txBody>
        </p:sp>
      </p:grpSp>
      <p:sp>
        <p:nvSpPr>
          <p:cNvPr id="113698" name="Freeform 34">
            <a:extLst>
              <a:ext uri="{FF2B5EF4-FFF2-40B4-BE49-F238E27FC236}">
                <a16:creationId xmlns:a16="http://schemas.microsoft.com/office/drawing/2014/main" id="{24418872-5D52-46BB-A54B-33864F0ACBF2}"/>
              </a:ext>
            </a:extLst>
          </p:cNvPr>
          <p:cNvSpPr>
            <a:spLocks/>
          </p:cNvSpPr>
          <p:nvPr/>
        </p:nvSpPr>
        <p:spPr bwMode="auto">
          <a:xfrm>
            <a:off x="5094288" y="2668588"/>
            <a:ext cx="1538287" cy="590550"/>
          </a:xfrm>
          <a:custGeom>
            <a:avLst/>
            <a:gdLst>
              <a:gd name="T0" fmla="*/ 0 w 969"/>
              <a:gd name="T1" fmla="*/ 2147483646 h 372"/>
              <a:gd name="T2" fmla="*/ 2147483646 w 969"/>
              <a:gd name="T3" fmla="*/ 2147483646 h 372"/>
              <a:gd name="T4" fmla="*/ 2147483646 w 969"/>
              <a:gd name="T5" fmla="*/ 2147483646 h 372"/>
              <a:gd name="T6" fmla="*/ 2147483646 w 969"/>
              <a:gd name="T7" fmla="*/ 2147483646 h 372"/>
              <a:gd name="T8" fmla="*/ 2147483646 w 969"/>
              <a:gd name="T9" fmla="*/ 2147483646 h 3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69"/>
              <a:gd name="T16" fmla="*/ 0 h 372"/>
              <a:gd name="T17" fmla="*/ 969 w 969"/>
              <a:gd name="T18" fmla="*/ 372 h 3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69" h="372">
                <a:moveTo>
                  <a:pt x="0" y="171"/>
                </a:moveTo>
                <a:cubicBezTo>
                  <a:pt x="253" y="85"/>
                  <a:pt x="507" y="0"/>
                  <a:pt x="585" y="27"/>
                </a:cubicBezTo>
                <a:cubicBezTo>
                  <a:pt x="663" y="54"/>
                  <a:pt x="417" y="294"/>
                  <a:pt x="468" y="333"/>
                </a:cubicBezTo>
                <a:cubicBezTo>
                  <a:pt x="519" y="372"/>
                  <a:pt x="813" y="276"/>
                  <a:pt x="891" y="261"/>
                </a:cubicBezTo>
                <a:cubicBezTo>
                  <a:pt x="969" y="246"/>
                  <a:pt x="927" y="247"/>
                  <a:pt x="936" y="243"/>
                </a:cubicBezTo>
              </a:path>
            </a:pathLst>
          </a:custGeom>
          <a:noFill/>
          <a:ln w="50800">
            <a:solidFill>
              <a:srgbClr val="D60093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3699" name="Freeform 35">
            <a:extLst>
              <a:ext uri="{FF2B5EF4-FFF2-40B4-BE49-F238E27FC236}">
                <a16:creationId xmlns:a16="http://schemas.microsoft.com/office/drawing/2014/main" id="{3CD50AE3-0612-4764-BA5E-81F615651D3E}"/>
              </a:ext>
            </a:extLst>
          </p:cNvPr>
          <p:cNvSpPr>
            <a:spLocks/>
          </p:cNvSpPr>
          <p:nvPr/>
        </p:nvSpPr>
        <p:spPr bwMode="auto">
          <a:xfrm>
            <a:off x="5980113" y="3240088"/>
            <a:ext cx="657225" cy="700087"/>
          </a:xfrm>
          <a:custGeom>
            <a:avLst/>
            <a:gdLst>
              <a:gd name="T0" fmla="*/ 0 w 414"/>
              <a:gd name="T1" fmla="*/ 2147483646 h 441"/>
              <a:gd name="T2" fmla="*/ 2147483646 w 414"/>
              <a:gd name="T3" fmla="*/ 2147483646 h 441"/>
              <a:gd name="T4" fmla="*/ 2147483646 w 414"/>
              <a:gd name="T5" fmla="*/ 0 h 441"/>
              <a:gd name="T6" fmla="*/ 0 60000 65536"/>
              <a:gd name="T7" fmla="*/ 0 60000 65536"/>
              <a:gd name="T8" fmla="*/ 0 60000 65536"/>
              <a:gd name="T9" fmla="*/ 0 w 414"/>
              <a:gd name="T10" fmla="*/ 0 h 441"/>
              <a:gd name="T11" fmla="*/ 414 w 414"/>
              <a:gd name="T12" fmla="*/ 441 h 44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14" h="441">
                <a:moveTo>
                  <a:pt x="0" y="441"/>
                </a:moveTo>
                <a:cubicBezTo>
                  <a:pt x="55" y="413"/>
                  <a:pt x="264" y="343"/>
                  <a:pt x="333" y="270"/>
                </a:cubicBezTo>
                <a:cubicBezTo>
                  <a:pt x="402" y="197"/>
                  <a:pt x="397" y="56"/>
                  <a:pt x="414" y="0"/>
                </a:cubicBezTo>
              </a:path>
            </a:pathLst>
          </a:custGeom>
          <a:noFill/>
          <a:ln w="50800">
            <a:solidFill>
              <a:srgbClr val="D60093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3700" name="Text Box 36">
            <a:extLst>
              <a:ext uri="{FF2B5EF4-FFF2-40B4-BE49-F238E27FC236}">
                <a16:creationId xmlns:a16="http://schemas.microsoft.com/office/drawing/2014/main" id="{099B1122-BFED-4165-9D16-3F07DC3EDA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3688" y="2255838"/>
            <a:ext cx="2386012" cy="338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b="1">
                <a:solidFill>
                  <a:srgbClr val="D60093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THESE VALUES ARE THE AMOUNT OF ENERGY REQUIRED TO BREAK THE BOND; MORE ENERGY IS NEEDED TO BREAK THE D-D BOND THAN THE H-H BOND, LEADING TO ISOTOPE EFFECTS</a:t>
            </a:r>
          </a:p>
        </p:txBody>
      </p:sp>
      <p:grpSp>
        <p:nvGrpSpPr>
          <p:cNvPr id="43022" name="Group 37">
            <a:extLst>
              <a:ext uri="{FF2B5EF4-FFF2-40B4-BE49-F238E27FC236}">
                <a16:creationId xmlns:a16="http://schemas.microsoft.com/office/drawing/2014/main" id="{90132F23-06F0-4C23-A3ED-BB998E60592A}"/>
              </a:ext>
            </a:extLst>
          </p:cNvPr>
          <p:cNvGrpSpPr>
            <a:grpSpLocks/>
          </p:cNvGrpSpPr>
          <p:nvPr/>
        </p:nvGrpSpPr>
        <p:grpSpPr bwMode="auto">
          <a:xfrm>
            <a:off x="1822450" y="1684338"/>
            <a:ext cx="5411788" cy="422275"/>
            <a:chOff x="1145" y="919"/>
            <a:chExt cx="3409" cy="266"/>
          </a:xfrm>
        </p:grpSpPr>
        <p:sp>
          <p:nvSpPr>
            <p:cNvPr id="113702" name="Text Box 38">
              <a:extLst>
                <a:ext uri="{FF2B5EF4-FFF2-40B4-BE49-F238E27FC236}">
                  <a16:creationId xmlns:a16="http://schemas.microsoft.com/office/drawing/2014/main" id="{4677890D-6AC1-4066-8BD4-DFC725D638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5" y="919"/>
              <a:ext cx="179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b="1">
                  <a:solidFill>
                    <a:srgbClr val="D6009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DISSOCIATED ATOMS</a:t>
              </a:r>
            </a:p>
          </p:txBody>
        </p:sp>
        <p:sp>
          <p:nvSpPr>
            <p:cNvPr id="43024" name="Line 39">
              <a:extLst>
                <a:ext uri="{FF2B5EF4-FFF2-40B4-BE49-F238E27FC236}">
                  <a16:creationId xmlns:a16="http://schemas.microsoft.com/office/drawing/2014/main" id="{595EF8EB-BD3E-4C8E-856E-4649E657D1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6" y="1179"/>
              <a:ext cx="1674" cy="0"/>
            </a:xfrm>
            <a:prstGeom prst="line">
              <a:avLst/>
            </a:prstGeom>
            <a:noFill/>
            <a:ln w="25400">
              <a:solidFill>
                <a:srgbClr val="D60093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025" name="Line 40">
              <a:extLst>
                <a:ext uri="{FF2B5EF4-FFF2-40B4-BE49-F238E27FC236}">
                  <a16:creationId xmlns:a16="http://schemas.microsoft.com/office/drawing/2014/main" id="{6FF7EBE5-6BE0-486E-A234-10D354390E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0" y="1185"/>
              <a:ext cx="1674" cy="0"/>
            </a:xfrm>
            <a:prstGeom prst="line">
              <a:avLst/>
            </a:prstGeom>
            <a:noFill/>
            <a:ln w="25400">
              <a:solidFill>
                <a:srgbClr val="D60093"/>
              </a:solidFill>
              <a:prstDash val="dash"/>
              <a:round/>
              <a:headEnd type="non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13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13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3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3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700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EEED97E6-BB8B-4549-970C-0B858A771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" y="1173163"/>
            <a:ext cx="9129713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588" indent="-1588">
              <a:spcBef>
                <a:spcPct val="50000"/>
              </a:spcBef>
              <a:tabLst>
                <a:tab pos="461963" algn="l"/>
              </a:tabLst>
              <a:defRPr/>
            </a:pPr>
            <a:r>
              <a:rPr lang="en-US" b="1" dirty="0">
                <a:solidFill>
                  <a:srgbClr val="D6009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Wingdings" pitchFamily="2" charset="2"/>
              </a:rPr>
              <a:t></a:t>
            </a: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sym typeface="Wingdings" pitchFamily="2" charset="2"/>
              </a:rPr>
              <a:t> Differences in mass also influence the</a:t>
            </a:r>
            <a:r>
              <a:rPr lang="en-US" b="1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Wingdings" pitchFamily="2" charset="2"/>
              </a:rPr>
              <a:t> </a:t>
            </a:r>
            <a:r>
              <a:rPr lang="en-US" b="1" dirty="0">
                <a:solidFill>
                  <a:srgbClr val="D6009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Wingdings" pitchFamily="2" charset="2"/>
              </a:rPr>
              <a:t>RATES</a:t>
            </a:r>
            <a:r>
              <a:rPr lang="en-US" b="1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Wingdings" pitchFamily="2" charset="2"/>
              </a:rPr>
              <a:t> </a:t>
            </a: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sym typeface="Wingdings" pitchFamily="2" charset="2"/>
              </a:rPr>
              <a:t>at which the isotopes react</a:t>
            </a:r>
          </a:p>
        </p:txBody>
      </p:sp>
      <p:sp>
        <p:nvSpPr>
          <p:cNvPr id="89095" name="Rectangle 7">
            <a:extLst>
              <a:ext uri="{FF2B5EF4-FFF2-40B4-BE49-F238E27FC236}">
                <a16:creationId xmlns:a16="http://schemas.microsoft.com/office/drawing/2014/main" id="{4E424F93-D1F5-4819-A687-CA82F10CC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" y="2846388"/>
            <a:ext cx="9129713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588" indent="-1588">
              <a:spcBef>
                <a:spcPct val="50000"/>
              </a:spcBef>
              <a:tabLst>
                <a:tab pos="461963" algn="l"/>
              </a:tabLst>
              <a:defRPr/>
            </a:pPr>
            <a:r>
              <a:rPr lang="en-US" b="1" dirty="0">
                <a:solidFill>
                  <a:srgbClr val="D6009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Wingdings" pitchFamily="2" charset="2"/>
              </a:rPr>
              <a:t></a:t>
            </a: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sym typeface="Wingdings" pitchFamily="2" charset="2"/>
              </a:rPr>
              <a:t> The </a:t>
            </a:r>
            <a:r>
              <a:rPr lang="en-US" b="1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Wingdings" pitchFamily="2" charset="2"/>
              </a:rPr>
              <a:t>lighter</a:t>
            </a: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sym typeface="Wingdings" pitchFamily="2" charset="2"/>
              </a:rPr>
              <a:t> isotope reacts at a </a:t>
            </a:r>
            <a:r>
              <a:rPr lang="en-US" b="1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Wingdings" pitchFamily="2" charset="2"/>
              </a:rPr>
              <a:t>faster </a:t>
            </a: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sym typeface="Wingdings" pitchFamily="2" charset="2"/>
              </a:rPr>
              <a:t>rate, leading to a heavier d value in the remaining substrate relative to the product.</a:t>
            </a:r>
          </a:p>
        </p:txBody>
      </p:sp>
      <p:sp>
        <p:nvSpPr>
          <p:cNvPr id="89102" name="Rectangle 14">
            <a:extLst>
              <a:ext uri="{FF2B5EF4-FFF2-40B4-BE49-F238E27FC236}">
                <a16:creationId xmlns:a16="http://schemas.microsoft.com/office/drawing/2014/main" id="{06717366-03C1-4006-8249-6DCA0F0FC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4508500"/>
            <a:ext cx="8886825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588" indent="-1588">
              <a:spcBef>
                <a:spcPct val="50000"/>
              </a:spcBef>
              <a:buFont typeface="Wingdings" pitchFamily="2" charset="2"/>
              <a:buNone/>
              <a:tabLst>
                <a:tab pos="461963" algn="l"/>
              </a:tabLst>
              <a:defRPr/>
            </a:pP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sym typeface="Wingdings" pitchFamily="2" charset="2"/>
              </a:rPr>
              <a:t>-- Therefore, differences in </a:t>
            </a:r>
            <a:r>
              <a:rPr lang="en-US" b="1" dirty="0">
                <a:solidFill>
                  <a:srgbClr val="D6009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Wingdings" pitchFamily="2" charset="2"/>
              </a:rPr>
              <a:t>MASS</a:t>
            </a: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sym typeface="Wingdings" pitchFamily="2" charset="2"/>
              </a:rPr>
              <a:t> influence </a:t>
            </a:r>
            <a:r>
              <a:rPr lang="en-US" b="1" dirty="0">
                <a:solidFill>
                  <a:srgbClr val="D6009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Wingdings" pitchFamily="2" charset="2"/>
              </a:rPr>
              <a:t>RATES</a:t>
            </a:r>
            <a:r>
              <a:rPr lang="en-US" b="1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Wingdings" pitchFamily="2" charset="2"/>
              </a:rPr>
              <a:t> </a:t>
            </a: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sym typeface="Wingdings" pitchFamily="2" charset="2"/>
              </a:rPr>
              <a:t>and lead to </a:t>
            </a:r>
            <a:r>
              <a:rPr lang="en-US" b="1" dirty="0">
                <a:solidFill>
                  <a:srgbClr val="D6009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Wingdings" pitchFamily="2" charset="2"/>
              </a:rPr>
              <a:t>ISOTOPE FRACTIONATION</a:t>
            </a:r>
            <a:endParaRPr lang="en-US" b="1" dirty="0">
              <a:effectLst>
                <a:outerShdw blurRad="38100" dist="38100" dir="2700000" algn="tl">
                  <a:srgbClr val="C0C0C0"/>
                </a:outerShdw>
              </a:effectLst>
              <a:sym typeface="Wingdings" pitchFamily="2" charset="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91455F-27D8-47BC-9AD8-0FEE67E2CC12}"/>
              </a:ext>
            </a:extLst>
          </p:cNvPr>
          <p:cNvSpPr/>
          <p:nvPr/>
        </p:nvSpPr>
        <p:spPr>
          <a:xfrm>
            <a:off x="250825" y="260350"/>
            <a:ext cx="3878263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</a:rPr>
              <a:t>Reaction rate differences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9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0" grpId="0" autoUpdateAnimBg="0"/>
      <p:bldP spid="89095" grpId="0" autoUpdateAnimBg="0"/>
      <p:bldP spid="89102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12391B00-3ED5-4697-A9E4-0CD8AA5E08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772400" cy="3886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The heavy isotope forms a lower energy bond; it does not vibrate as violently. Therefore, it forms a stronger bond in the compound.</a:t>
            </a:r>
          </a:p>
          <a:p>
            <a:pPr>
              <a:lnSpc>
                <a:spcPct val="90000"/>
              </a:lnSpc>
            </a:pPr>
            <a:endParaRPr lang="en-US" altLang="en-US"/>
          </a:p>
          <a:p>
            <a:pPr>
              <a:lnSpc>
                <a:spcPct val="90000"/>
              </a:lnSpc>
            </a:pPr>
            <a:r>
              <a:rPr lang="en-US" altLang="en-US"/>
              <a:t>The Rule of Bigeleisen (1965) - The heavy isotope goes preferentially into the compound with the strongest bonds.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A2F299-9A89-49C9-8653-C75732ABE981}"/>
              </a:ext>
            </a:extLst>
          </p:cNvPr>
          <p:cNvSpPr/>
          <p:nvPr/>
        </p:nvSpPr>
        <p:spPr>
          <a:xfrm>
            <a:off x="179388" y="158750"/>
            <a:ext cx="3757612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eaLnBrk="1" hangingPunct="1">
              <a:defRPr/>
            </a:pPr>
            <a:r>
              <a:rPr lang="en-US" b="1" dirty="0">
                <a:solidFill>
                  <a:schemeClr val="accent6"/>
                </a:solidFill>
              </a:rPr>
              <a:t>Equilibrium Isotope effects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>
            <a:extLst>
              <a:ext uri="{FF2B5EF4-FFF2-40B4-BE49-F238E27FC236}">
                <a16:creationId xmlns:a16="http://schemas.microsoft.com/office/drawing/2014/main" id="{198134CE-EC87-473C-89A5-BE7A50FDA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908050"/>
            <a:ext cx="647858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sym typeface="Wingdings" pitchFamily="2" charset="2"/>
              </a:rPr>
              <a:t>Uni</a:t>
            </a:r>
            <a:r>
              <a:rPr 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sym typeface="Wingdings" pitchFamily="2" charset="2"/>
              </a:rPr>
              <a:t>-directional reactions</a:t>
            </a: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sym typeface="Wingdings" pitchFamily="2" charset="2"/>
              </a:rPr>
              <a:t> </a:t>
            </a:r>
          </a:p>
        </p:txBody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3D34F5B8-6E0C-4890-9BFF-5243D23052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16113"/>
            <a:ext cx="545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Arial" pitchFamily="34" charset="0"/>
              <a:buChar char="•"/>
              <a:defRPr/>
            </a:pPr>
            <a:r>
              <a:rPr lang="en-US" dirty="0">
                <a:latin typeface="+mj-lt"/>
              </a:rPr>
              <a:t> </a:t>
            </a: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sym typeface="Wingdings" pitchFamily="2" charset="2"/>
              </a:rPr>
              <a:t>Known as </a:t>
            </a:r>
            <a:r>
              <a:rPr lang="en-US" dirty="0">
                <a:solidFill>
                  <a:srgbClr val="D6009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sym typeface="Wingdings" pitchFamily="2" charset="2"/>
              </a:rPr>
              <a:t>KINETIC FRACTIONATION</a:t>
            </a:r>
          </a:p>
        </p:txBody>
      </p:sp>
      <p:sp>
        <p:nvSpPr>
          <p:cNvPr id="115717" name="Rectangle 5">
            <a:extLst>
              <a:ext uri="{FF2B5EF4-FFF2-40B4-BE49-F238E27FC236}">
                <a16:creationId xmlns:a16="http://schemas.microsoft.com/office/drawing/2014/main" id="{76AFEFB0-E3D5-4F1C-9127-A3C6B3254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81525"/>
            <a:ext cx="84201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Arial" pitchFamily="34" charset="0"/>
              <a:buChar char="•"/>
              <a:tabLst>
                <a:tab pos="395288" algn="l"/>
              </a:tabLst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sym typeface="Wingdings" pitchFamily="2" charset="2"/>
              </a:rPr>
              <a:t>Referred to as </a:t>
            </a:r>
            <a:r>
              <a:rPr lang="en-US" dirty="0">
                <a:solidFill>
                  <a:srgbClr val="D6009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sym typeface="Wingdings" pitchFamily="2" charset="2"/>
              </a:rPr>
              <a:t>DISCRIMINATION</a:t>
            </a: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sym typeface="Wingdings" pitchFamily="2" charset="2"/>
              </a:rPr>
              <a:t> if it is  biologically (enzyme mediated) fractionation</a:t>
            </a:r>
          </a:p>
        </p:txBody>
      </p:sp>
      <p:sp>
        <p:nvSpPr>
          <p:cNvPr id="115720" name="Rectangle 8">
            <a:extLst>
              <a:ext uri="{FF2B5EF4-FFF2-40B4-BE49-F238E27FC236}">
                <a16:creationId xmlns:a16="http://schemas.microsoft.com/office/drawing/2014/main" id="{E400DC28-C97D-4246-BA93-8485AD489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52738"/>
            <a:ext cx="91440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Arial" pitchFamily="34" charset="0"/>
              <a:buChar char="•"/>
              <a:tabLst>
                <a:tab pos="395288" algn="l"/>
              </a:tabLst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sym typeface="Wingdings" pitchFamily="2" charset="2"/>
              </a:rPr>
              <a:t>Differences in </a:t>
            </a:r>
            <a:r>
              <a:rPr lang="en-US" dirty="0" err="1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sym typeface="Wingdings" pitchFamily="2" charset="2"/>
              </a:rPr>
              <a:t>physio</a:t>
            </a:r>
            <a:r>
              <a:rPr lang="en-US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sym typeface="Wingdings" pitchFamily="2" charset="2"/>
              </a:rPr>
              <a:t>-chemical properties</a:t>
            </a: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sym typeface="Wingdings" pitchFamily="2" charset="2"/>
              </a:rPr>
              <a:t> and </a:t>
            </a:r>
            <a:r>
              <a:rPr lang="en-US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sym typeface="Wingdings" pitchFamily="2" charset="2"/>
              </a:rPr>
              <a:t>reaction rates</a:t>
            </a: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sym typeface="Wingdings" pitchFamily="2" charset="2"/>
              </a:rPr>
              <a:t> never result in </a:t>
            </a:r>
            <a:r>
              <a:rPr lang="en-US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sym typeface="Wingdings" pitchFamily="2" charset="2"/>
              </a:rPr>
              <a:t>uni</a:t>
            </a: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sym typeface="Wingdings" pitchFamily="2" charset="2"/>
              </a:rPr>
              <a:t>-directional exchange of isotopes (there is no back-reaction)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6EEF6D-BDF9-4DD3-9E43-6E387400271E}"/>
              </a:ext>
            </a:extLst>
          </p:cNvPr>
          <p:cNvSpPr/>
          <p:nvPr/>
        </p:nvSpPr>
        <p:spPr>
          <a:xfrm>
            <a:off x="250825" y="188913"/>
            <a:ext cx="1979613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</a:rPr>
              <a:t>Fractionation</a:t>
            </a:r>
            <a:endParaRPr lang="en-IN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5" grpId="0" autoUpdateAnimBg="0"/>
      <p:bldP spid="115717" grpId="0" autoUpdateAnimBg="0"/>
      <p:bldP spid="115720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4" name="Text Box 4">
            <a:extLst>
              <a:ext uri="{FF2B5EF4-FFF2-40B4-BE49-F238E27FC236}">
                <a16:creationId xmlns:a16="http://schemas.microsoft.com/office/drawing/2014/main" id="{F58B2A2E-F985-4771-96C0-AEC03968CD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79375"/>
            <a:ext cx="8991600" cy="62944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800" b="1" dirty="0">
                <a:solidFill>
                  <a:schemeClr val="accent6"/>
                </a:solidFill>
              </a:rPr>
              <a:t>2. Kinetic Fractionation</a:t>
            </a:r>
          </a:p>
          <a:p>
            <a:pPr eaLnBrk="1" hangingPunct="1">
              <a:defRPr/>
            </a:pPr>
            <a:endParaRPr lang="en-US" b="1" dirty="0">
              <a:solidFill>
                <a:srgbClr val="CC0000"/>
              </a:solidFill>
            </a:endParaRPr>
          </a:p>
          <a:p>
            <a:pPr eaLnBrk="1" hangingPunct="1">
              <a:defRPr/>
            </a:pPr>
            <a:r>
              <a:rPr lang="en-US" sz="2200" dirty="0">
                <a:solidFill>
                  <a:srgbClr val="000000"/>
                </a:solidFill>
              </a:rPr>
              <a:t>Occurs in 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sz="2200" b="1" dirty="0">
                <a:solidFill>
                  <a:srgbClr val="000000"/>
                </a:solidFill>
              </a:rPr>
              <a:t>	</a:t>
            </a:r>
            <a:r>
              <a:rPr lang="en-US" sz="2200" dirty="0">
                <a:solidFill>
                  <a:srgbClr val="000000"/>
                </a:solidFill>
              </a:rPr>
              <a:t>unidirectional (irreversible) reactions 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sz="2200" dirty="0">
                <a:solidFill>
                  <a:srgbClr val="000000"/>
                </a:solidFill>
              </a:rPr>
              <a:t>	reversible reactions that are not yet at equilibrium 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sz="2200" dirty="0">
                <a:solidFill>
                  <a:srgbClr val="000000"/>
                </a:solidFill>
              </a:rPr>
              <a:t>	diffusion or differential bond breaking</a:t>
            </a:r>
          </a:p>
          <a:p>
            <a:pPr eaLnBrk="1" hangingPunct="1">
              <a:defRPr/>
            </a:pPr>
            <a:endParaRPr lang="en-US" sz="2200" b="1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en-US" sz="2200" b="1" dirty="0">
                <a:solidFill>
                  <a:srgbClr val="000000"/>
                </a:solidFill>
              </a:rPr>
              <a:t>Heavier isotopes move more slowly </a:t>
            </a:r>
            <a:r>
              <a:rPr lang="en-US" sz="2200" dirty="0">
                <a:solidFill>
                  <a:srgbClr val="000000"/>
                </a:solidFill>
              </a:rPr>
              <a:t>(KE = ½ mv</a:t>
            </a:r>
            <a:r>
              <a:rPr lang="en-US" sz="2200" baseline="30000" dirty="0">
                <a:solidFill>
                  <a:srgbClr val="000000"/>
                </a:solidFill>
              </a:rPr>
              <a:t>2</a:t>
            </a:r>
            <a:r>
              <a:rPr lang="en-US" sz="2200" dirty="0">
                <a:solidFill>
                  <a:srgbClr val="000000"/>
                </a:solidFill>
              </a:rPr>
              <a:t>)</a:t>
            </a:r>
          </a:p>
          <a:p>
            <a:pPr eaLnBrk="1" hangingPunct="1">
              <a:defRPr/>
            </a:pPr>
            <a:endParaRPr lang="en-US" sz="220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en-US" sz="2200" dirty="0">
                <a:solidFill>
                  <a:srgbClr val="000000"/>
                </a:solidFill>
              </a:rPr>
              <a:t>	Therefore react more slowly</a:t>
            </a:r>
          </a:p>
          <a:p>
            <a:pPr eaLnBrk="1" hangingPunct="1">
              <a:defRPr/>
            </a:pPr>
            <a:endParaRPr lang="en-US" sz="220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en-US" sz="2200" b="1" dirty="0">
                <a:solidFill>
                  <a:srgbClr val="000000"/>
                </a:solidFill>
              </a:rPr>
              <a:t>Reaction products are depleted in the heavy isotope relative to the 	reactants  </a:t>
            </a:r>
          </a:p>
          <a:p>
            <a:pPr eaLnBrk="1" hangingPunct="1">
              <a:defRPr/>
            </a:pPr>
            <a:r>
              <a:rPr lang="en-US" sz="2200" dirty="0">
                <a:solidFill>
                  <a:srgbClr val="000000"/>
                </a:solidFill>
              </a:rPr>
              <a:t>All isotopes effects involving organic matter are kinetic</a:t>
            </a:r>
          </a:p>
          <a:p>
            <a:pPr eaLnBrk="1" hangingPunct="1">
              <a:defRPr/>
            </a:pPr>
            <a:endParaRPr lang="en-US" sz="1800" b="1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endParaRPr lang="en-US" sz="1800" b="1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endParaRPr lang="en-US" sz="18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4" name="Object 2">
            <a:extLst>
              <a:ext uri="{FF2B5EF4-FFF2-40B4-BE49-F238E27FC236}">
                <a16:creationId xmlns:a16="http://schemas.microsoft.com/office/drawing/2014/main" id="{50A965A5-07FD-47B2-BAA1-F096B0C4D4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2288" y="922338"/>
          <a:ext cx="10541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" name="Equation" r:id="rId3" imgW="710891" imgH="393529" progId="">
                  <p:embed/>
                </p:oleObj>
              </mc:Choice>
              <mc:Fallback>
                <p:oleObj name="Equation" r:id="rId3" imgW="710891" imgH="393529" progId="">
                  <p:embed/>
                  <p:pic>
                    <p:nvPicPr>
                      <p:cNvPr id="49154" name="Object 2">
                        <a:extLst>
                          <a:ext uri="{FF2B5EF4-FFF2-40B4-BE49-F238E27FC236}">
                            <a16:creationId xmlns:a16="http://schemas.microsoft.com/office/drawing/2014/main" id="{50A965A5-07FD-47B2-BAA1-F096B0C4D4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2288" y="922338"/>
                        <a:ext cx="1054100" cy="581025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5" name="Text Box 11">
            <a:extLst>
              <a:ext uri="{FF2B5EF4-FFF2-40B4-BE49-F238E27FC236}">
                <a16:creationId xmlns:a16="http://schemas.microsoft.com/office/drawing/2014/main" id="{253938C8-29E8-49BD-B5DA-E2710554B0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471613"/>
            <a:ext cx="6245225" cy="221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Consider two molecules of CO</a:t>
            </a:r>
            <a:r>
              <a:rPr lang="en-US" altLang="en-US" sz="1600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:  </a:t>
            </a:r>
            <a:r>
              <a:rPr lang="en-US" altLang="en-US" sz="1600" baseline="30000">
                <a:solidFill>
                  <a:srgbClr val="000000"/>
                </a:solidFill>
                <a:latin typeface="Arial" panose="020B0604020202020204" pitchFamily="34" charset="0"/>
              </a:rPr>
              <a:t>12</a:t>
            </a: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  <a:r>
              <a:rPr lang="en-US" altLang="en-US" sz="1600" baseline="30000">
                <a:solidFill>
                  <a:srgbClr val="000000"/>
                </a:solidFill>
                <a:latin typeface="Arial" panose="020B0604020202020204" pitchFamily="34" charset="0"/>
              </a:rPr>
              <a:t>16</a:t>
            </a: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O</a:t>
            </a:r>
            <a:r>
              <a:rPr lang="en-US" altLang="en-US" sz="1600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 (mass = 12 + 2*16 = 44)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			and </a:t>
            </a:r>
            <a:r>
              <a:rPr lang="en-US" altLang="en-US" sz="1600" baseline="30000">
                <a:solidFill>
                  <a:srgbClr val="000000"/>
                </a:solidFill>
                <a:latin typeface="Arial" panose="020B0604020202020204" pitchFamily="34" charset="0"/>
              </a:rPr>
              <a:t>13</a:t>
            </a: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  <a:r>
              <a:rPr lang="en-US" altLang="en-US" sz="1600" baseline="30000">
                <a:solidFill>
                  <a:srgbClr val="000000"/>
                </a:solidFill>
                <a:latin typeface="Arial" panose="020B0604020202020204" pitchFamily="34" charset="0"/>
              </a:rPr>
              <a:t>16</a:t>
            </a: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O</a:t>
            </a:r>
            <a:r>
              <a:rPr lang="en-US" altLang="en-US" sz="1600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n-US" altLang="en-US" sz="1600" baseline="300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(mass = 13 + 2*16 = 45)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	if their energies are the same, then: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	and the ratio of their velocities is: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 baseline="-25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49156" name="Object 3">
            <a:extLst>
              <a:ext uri="{FF2B5EF4-FFF2-40B4-BE49-F238E27FC236}">
                <a16:creationId xmlns:a16="http://schemas.microsoft.com/office/drawing/2014/main" id="{F69D6A26-8058-413A-A552-19D54F4543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16488" y="2112963"/>
          <a:ext cx="1712912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" name="Equation" r:id="rId5" imgW="1155700" imgH="393700" progId="">
                  <p:embed/>
                </p:oleObj>
              </mc:Choice>
              <mc:Fallback>
                <p:oleObj name="Equation" r:id="rId5" imgW="1155700" imgH="393700" progId="">
                  <p:embed/>
                  <p:pic>
                    <p:nvPicPr>
                      <p:cNvPr id="49156" name="Object 3">
                        <a:extLst>
                          <a:ext uri="{FF2B5EF4-FFF2-40B4-BE49-F238E27FC236}">
                            <a16:creationId xmlns:a16="http://schemas.microsoft.com/office/drawing/2014/main" id="{F69D6A26-8058-413A-A552-19D54F4543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6488" y="2112963"/>
                        <a:ext cx="1712912" cy="581025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7" name="Object 4">
            <a:extLst>
              <a:ext uri="{FF2B5EF4-FFF2-40B4-BE49-F238E27FC236}">
                <a16:creationId xmlns:a16="http://schemas.microsoft.com/office/drawing/2014/main" id="{E497863D-73A8-41B7-A1BA-E71CD8C2C6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60900" y="2790825"/>
          <a:ext cx="2882900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4" name="Equation" r:id="rId7" imgW="1943100" imgH="508000" progId="">
                  <p:embed/>
                </p:oleObj>
              </mc:Choice>
              <mc:Fallback>
                <p:oleObj name="Equation" r:id="rId7" imgW="1943100" imgH="508000" progId="">
                  <p:embed/>
                  <p:pic>
                    <p:nvPicPr>
                      <p:cNvPr id="49157" name="Object 4">
                        <a:extLst>
                          <a:ext uri="{FF2B5EF4-FFF2-40B4-BE49-F238E27FC236}">
                            <a16:creationId xmlns:a16="http://schemas.microsoft.com/office/drawing/2014/main" id="{E497863D-73A8-41B7-A1BA-E71CD8C2C6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0900" y="2790825"/>
                        <a:ext cx="2882900" cy="750888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5" name="Text Box 14">
            <a:extLst>
              <a:ext uri="{FF2B5EF4-FFF2-40B4-BE49-F238E27FC236}">
                <a16:creationId xmlns:a16="http://schemas.microsoft.com/office/drawing/2014/main" id="{1110D4FE-F8AF-4A39-B14B-AED5985271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860800"/>
            <a:ext cx="785018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1" dirty="0">
                <a:solidFill>
                  <a:srgbClr val="FF0000"/>
                </a:solidFill>
                <a:latin typeface="+mn-lt"/>
              </a:rPr>
              <a:t>SO… </a:t>
            </a:r>
            <a:r>
              <a:rPr lang="en-US" sz="1800" b="1" baseline="30000" dirty="0">
                <a:solidFill>
                  <a:srgbClr val="FF0000"/>
                </a:solidFill>
                <a:latin typeface="+mn-lt"/>
              </a:rPr>
              <a:t>12</a:t>
            </a:r>
            <a:r>
              <a:rPr lang="en-US" sz="1800" b="1" dirty="0">
                <a:solidFill>
                  <a:srgbClr val="FF0000"/>
                </a:solidFill>
                <a:latin typeface="+mn-lt"/>
              </a:rPr>
              <a:t>C</a:t>
            </a:r>
            <a:r>
              <a:rPr lang="en-US" sz="1800" b="1" baseline="30000" dirty="0">
                <a:solidFill>
                  <a:srgbClr val="FF0000"/>
                </a:solidFill>
                <a:latin typeface="+mn-lt"/>
              </a:rPr>
              <a:t>16</a:t>
            </a:r>
            <a:r>
              <a:rPr lang="en-US" sz="1800" b="1" dirty="0">
                <a:solidFill>
                  <a:srgbClr val="FF0000"/>
                </a:solidFill>
                <a:latin typeface="+mn-lt"/>
              </a:rPr>
              <a:t>O</a:t>
            </a:r>
            <a:r>
              <a:rPr lang="en-US" sz="1800" b="1" baseline="-25000" dirty="0">
                <a:solidFill>
                  <a:srgbClr val="FF0000"/>
                </a:solidFill>
                <a:latin typeface="+mn-lt"/>
              </a:rPr>
              <a:t>2</a:t>
            </a:r>
            <a:r>
              <a:rPr lang="en-US" sz="1800" b="1" dirty="0">
                <a:solidFill>
                  <a:srgbClr val="FF0000"/>
                </a:solidFill>
                <a:latin typeface="+mn-lt"/>
              </a:rPr>
              <a:t> can diffuse 1.1% further than </a:t>
            </a:r>
            <a:r>
              <a:rPr lang="en-US" sz="1800" b="1" baseline="30000" dirty="0">
                <a:solidFill>
                  <a:srgbClr val="FF0000"/>
                </a:solidFill>
                <a:latin typeface="+mn-lt"/>
              </a:rPr>
              <a:t>13</a:t>
            </a:r>
            <a:r>
              <a:rPr lang="en-US" sz="1800" b="1" dirty="0">
                <a:solidFill>
                  <a:srgbClr val="FF0000"/>
                </a:solidFill>
                <a:latin typeface="+mn-lt"/>
              </a:rPr>
              <a:t>C</a:t>
            </a:r>
            <a:r>
              <a:rPr lang="en-US" sz="1800" b="1" baseline="30000" dirty="0">
                <a:solidFill>
                  <a:srgbClr val="FF0000"/>
                </a:solidFill>
                <a:latin typeface="+mn-lt"/>
              </a:rPr>
              <a:t>16</a:t>
            </a:r>
            <a:r>
              <a:rPr lang="en-US" sz="1800" b="1" dirty="0">
                <a:solidFill>
                  <a:srgbClr val="FF0000"/>
                </a:solidFill>
                <a:latin typeface="+mn-lt"/>
              </a:rPr>
              <a:t>O</a:t>
            </a:r>
            <a:r>
              <a:rPr lang="en-US" sz="1800" b="1" baseline="-25000" dirty="0">
                <a:solidFill>
                  <a:srgbClr val="FF0000"/>
                </a:solidFill>
                <a:latin typeface="+mn-lt"/>
              </a:rPr>
              <a:t>2</a:t>
            </a:r>
            <a:r>
              <a:rPr lang="en-US" sz="1800" b="1" dirty="0">
                <a:solidFill>
                  <a:srgbClr val="FF0000"/>
                </a:solidFill>
                <a:latin typeface="+mn-lt"/>
              </a:rPr>
              <a:t> in a given amount of time</a:t>
            </a:r>
          </a:p>
        </p:txBody>
      </p:sp>
      <p:sp>
        <p:nvSpPr>
          <p:cNvPr id="49159" name="Text Box 16">
            <a:extLst>
              <a:ext uri="{FF2B5EF4-FFF2-40B4-BE49-F238E27FC236}">
                <a16:creationId xmlns:a16="http://schemas.microsoft.com/office/drawing/2014/main" id="{A5465070-C079-4DD1-B062-D032C4450A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2112963"/>
            <a:ext cx="18224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3333CC"/>
                </a:solidFill>
                <a:latin typeface="Arial" panose="020B0604020202020204" pitchFamily="34" charset="0"/>
              </a:rPr>
              <a:t>assuming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3333CC"/>
                </a:solidFill>
                <a:latin typeface="Arial" panose="020B0604020202020204" pitchFamily="34" charset="0"/>
              </a:rPr>
              <a:t>ideal gas</a:t>
            </a:r>
          </a:p>
        </p:txBody>
      </p:sp>
      <p:sp>
        <p:nvSpPr>
          <p:cNvPr id="7178" name="Text Box 17">
            <a:extLst>
              <a:ext uri="{FF2B5EF4-FFF2-40B4-BE49-F238E27FC236}">
                <a16:creationId xmlns:a16="http://schemas.microsoft.com/office/drawing/2014/main" id="{EE082D1D-546A-4B3A-9112-268F615B1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581525"/>
            <a:ext cx="731202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</a:rPr>
              <a:t>This can be observed as gas moves through a fine capillary tube (</a:t>
            </a:r>
            <a:r>
              <a:rPr lang="en-US" sz="1600" baseline="30000" dirty="0">
                <a:solidFill>
                  <a:srgbClr val="000000"/>
                </a:solidFill>
                <a:latin typeface="+mn-lt"/>
              </a:rPr>
              <a:t>12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C</a:t>
            </a:r>
            <a:r>
              <a:rPr lang="en-US" sz="1600" baseline="30000" dirty="0">
                <a:solidFill>
                  <a:srgbClr val="000000"/>
                </a:solidFill>
                <a:latin typeface="+mn-lt"/>
              </a:rPr>
              <a:t>16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O</a:t>
            </a:r>
            <a:r>
              <a:rPr lang="en-US" sz="1600" baseline="-25000" dirty="0">
                <a:solidFill>
                  <a:srgbClr val="000000"/>
                </a:solidFill>
                <a:latin typeface="+mn-lt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arrives first).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042649-DB2C-41EB-9C50-B056EDCCA906}"/>
              </a:ext>
            </a:extLst>
          </p:cNvPr>
          <p:cNvSpPr/>
          <p:nvPr/>
        </p:nvSpPr>
        <p:spPr>
          <a:xfrm>
            <a:off x="179388" y="188913"/>
            <a:ext cx="3317875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b="1" dirty="0">
                <a:solidFill>
                  <a:schemeClr val="accent6"/>
                </a:solidFill>
              </a:rPr>
              <a:t>2. Kinetic Fractionation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">
            <a:extLst>
              <a:ext uri="{FF2B5EF4-FFF2-40B4-BE49-F238E27FC236}">
                <a16:creationId xmlns:a16="http://schemas.microsoft.com/office/drawing/2014/main" id="{AC0D6905-A643-4DC8-96B0-770E61A66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0"/>
            <a:ext cx="8382000" cy="714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70C0"/>
                </a:solidFill>
              </a:rPr>
              <a:t>Examples of Kinetic Fractionation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200" b="1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b="1">
                <a:solidFill>
                  <a:srgbClr val="000000"/>
                </a:solidFill>
              </a:rPr>
              <a:t>1. Unidirectional reactions 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Example: 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Carbon fixation via photosynthesis: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aseline="30000">
                <a:solidFill>
                  <a:srgbClr val="000000"/>
                </a:solidFill>
              </a:rPr>
              <a:t>12</a:t>
            </a:r>
            <a:r>
              <a:rPr lang="en-US" altLang="en-US" sz="1800">
                <a:solidFill>
                  <a:srgbClr val="000000"/>
                </a:solidFill>
              </a:rPr>
              <a:t>CO</a:t>
            </a:r>
            <a:r>
              <a:rPr lang="en-US" altLang="en-US" sz="1800" baseline="-25000">
                <a:solidFill>
                  <a:srgbClr val="000000"/>
                </a:solidFill>
              </a:rPr>
              <a:t>2</a:t>
            </a:r>
            <a:r>
              <a:rPr lang="en-US" altLang="en-US" sz="1800">
                <a:solidFill>
                  <a:srgbClr val="000000"/>
                </a:solidFill>
              </a:rPr>
              <a:t>  +  H</a:t>
            </a:r>
            <a:r>
              <a:rPr lang="en-US" altLang="en-US" sz="1800" baseline="-25000">
                <a:solidFill>
                  <a:srgbClr val="000000"/>
                </a:solidFill>
              </a:rPr>
              <a:t>2</a:t>
            </a:r>
            <a:r>
              <a:rPr lang="en-US" altLang="en-US" sz="1800">
                <a:solidFill>
                  <a:srgbClr val="000000"/>
                </a:solidFill>
              </a:rPr>
              <a:t>O -&gt; </a:t>
            </a:r>
            <a:r>
              <a:rPr lang="en-US" altLang="en-US" sz="1800" baseline="30000">
                <a:solidFill>
                  <a:srgbClr val="000000"/>
                </a:solidFill>
              </a:rPr>
              <a:t>12</a:t>
            </a:r>
            <a:r>
              <a:rPr lang="en-US" altLang="en-US" sz="1800">
                <a:solidFill>
                  <a:srgbClr val="000000"/>
                </a:solidFill>
              </a:rPr>
              <a:t>CH</a:t>
            </a:r>
            <a:r>
              <a:rPr lang="en-US" altLang="en-US" sz="1800" baseline="-25000">
                <a:solidFill>
                  <a:srgbClr val="000000"/>
                </a:solidFill>
              </a:rPr>
              <a:t>2</a:t>
            </a:r>
            <a:r>
              <a:rPr lang="en-US" altLang="en-US" sz="1800">
                <a:solidFill>
                  <a:srgbClr val="000000"/>
                </a:solidFill>
              </a:rPr>
              <a:t>O  +  O</a:t>
            </a:r>
            <a:r>
              <a:rPr lang="en-US" altLang="en-US" sz="1800" baseline="-25000">
                <a:solidFill>
                  <a:srgbClr val="000000"/>
                </a:solidFill>
              </a:rPr>
              <a:t>2</a:t>
            </a:r>
            <a:r>
              <a:rPr lang="en-US" altLang="en-US" sz="1800">
                <a:solidFill>
                  <a:srgbClr val="000000"/>
                </a:solidFill>
              </a:rPr>
              <a:t>   </a:t>
            </a:r>
            <a:r>
              <a:rPr lang="en-US" altLang="en-US" sz="1800" b="1">
                <a:solidFill>
                  <a:srgbClr val="0070C0"/>
                </a:solidFill>
              </a:rPr>
              <a:t>Faste</a:t>
            </a:r>
            <a:r>
              <a:rPr lang="en-US" altLang="en-US" sz="1800">
                <a:solidFill>
                  <a:srgbClr val="0070C0"/>
                </a:solidFill>
              </a:rPr>
              <a:t>r</a:t>
            </a:r>
            <a:endParaRPr lang="en-US" altLang="en-US" sz="1800" b="1">
              <a:solidFill>
                <a:srgbClr val="0070C0"/>
              </a:solidFill>
            </a:endParaRP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aseline="30000">
                <a:solidFill>
                  <a:srgbClr val="000000"/>
                </a:solidFill>
              </a:rPr>
              <a:t>13</a:t>
            </a:r>
            <a:r>
              <a:rPr lang="en-US" altLang="en-US" sz="1800">
                <a:solidFill>
                  <a:srgbClr val="000000"/>
                </a:solidFill>
              </a:rPr>
              <a:t>CO</a:t>
            </a:r>
            <a:r>
              <a:rPr lang="en-US" altLang="en-US" sz="1800" baseline="-25000">
                <a:solidFill>
                  <a:srgbClr val="000000"/>
                </a:solidFill>
              </a:rPr>
              <a:t>2</a:t>
            </a:r>
            <a:r>
              <a:rPr lang="en-US" altLang="en-US" sz="1800">
                <a:solidFill>
                  <a:srgbClr val="000000"/>
                </a:solidFill>
              </a:rPr>
              <a:t>  +  H</a:t>
            </a:r>
            <a:r>
              <a:rPr lang="en-US" altLang="en-US" sz="1800" baseline="-25000">
                <a:solidFill>
                  <a:srgbClr val="000000"/>
                </a:solidFill>
              </a:rPr>
              <a:t>2</a:t>
            </a:r>
            <a:r>
              <a:rPr lang="en-US" altLang="en-US" sz="1800">
                <a:solidFill>
                  <a:srgbClr val="000000"/>
                </a:solidFill>
              </a:rPr>
              <a:t>O -&gt; </a:t>
            </a:r>
            <a:r>
              <a:rPr lang="en-US" altLang="en-US" sz="1800" baseline="30000">
                <a:solidFill>
                  <a:srgbClr val="000000"/>
                </a:solidFill>
              </a:rPr>
              <a:t>13</a:t>
            </a:r>
            <a:r>
              <a:rPr lang="en-US" altLang="en-US" sz="1800">
                <a:solidFill>
                  <a:srgbClr val="000000"/>
                </a:solidFill>
              </a:rPr>
              <a:t>CH</a:t>
            </a:r>
            <a:r>
              <a:rPr lang="en-US" altLang="en-US" sz="1800" baseline="-25000">
                <a:solidFill>
                  <a:srgbClr val="000000"/>
                </a:solidFill>
              </a:rPr>
              <a:t>2</a:t>
            </a:r>
            <a:r>
              <a:rPr lang="en-US" altLang="en-US" sz="1800">
                <a:solidFill>
                  <a:srgbClr val="000000"/>
                </a:solidFill>
              </a:rPr>
              <a:t>O  +  O</a:t>
            </a:r>
            <a:r>
              <a:rPr lang="en-US" altLang="en-US" sz="1800" baseline="-25000">
                <a:solidFill>
                  <a:srgbClr val="000000"/>
                </a:solidFill>
              </a:rPr>
              <a:t>2</a:t>
            </a:r>
            <a:r>
              <a:rPr lang="en-US" altLang="en-US" sz="1800">
                <a:solidFill>
                  <a:srgbClr val="000000"/>
                </a:solidFill>
              </a:rPr>
              <a:t>  </a:t>
            </a:r>
            <a:r>
              <a:rPr lang="en-US" altLang="en-US" sz="1800">
                <a:solidFill>
                  <a:srgbClr val="0070C0"/>
                </a:solidFill>
              </a:rPr>
              <a:t> </a:t>
            </a:r>
            <a:r>
              <a:rPr lang="en-US" altLang="en-US" sz="1800" b="1">
                <a:solidFill>
                  <a:srgbClr val="0070C0"/>
                </a:solidFill>
              </a:rPr>
              <a:t>slower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Organic matter gets </a:t>
            </a:r>
            <a:r>
              <a:rPr lang="en-US" altLang="en-US" sz="1800" b="1">
                <a:solidFill>
                  <a:srgbClr val="000000"/>
                </a:solidFill>
              </a:rPr>
              <a:t>depleted </a:t>
            </a:r>
            <a:r>
              <a:rPr lang="en-US" altLang="en-US" sz="1800">
                <a:solidFill>
                  <a:srgbClr val="000000"/>
                </a:solidFill>
              </a:rPr>
              <a:t>in </a:t>
            </a:r>
            <a:r>
              <a:rPr lang="en-US" altLang="en-US" sz="1800" baseline="30000">
                <a:solidFill>
                  <a:srgbClr val="000000"/>
                </a:solidFill>
              </a:rPr>
              <a:t>13</a:t>
            </a:r>
            <a:r>
              <a:rPr lang="en-US" altLang="en-US" sz="1800">
                <a:solidFill>
                  <a:srgbClr val="000000"/>
                </a:solidFill>
              </a:rPr>
              <a:t>C during photosynthesis (decreases in </a:t>
            </a:r>
            <a:r>
              <a:rPr lang="en-US" altLang="en-US" sz="1800">
                <a:solidFill>
                  <a:srgbClr val="000000"/>
                </a:solidFill>
                <a:latin typeface="Euclid Symbol"/>
                <a:sym typeface="Symbol" panose="05050102010706020507" pitchFamily="18" charset="2"/>
              </a:rPr>
              <a:t></a:t>
            </a:r>
            <a:r>
              <a:rPr lang="en-US" altLang="en-US" sz="1800" baseline="30000">
                <a:solidFill>
                  <a:srgbClr val="000000"/>
                </a:solidFill>
              </a:rPr>
              <a:t>13</a:t>
            </a:r>
            <a:r>
              <a:rPr lang="en-US" altLang="en-US" sz="1800">
                <a:solidFill>
                  <a:srgbClr val="000000"/>
                </a:solidFill>
              </a:rPr>
              <a:t>C)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660066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b="1">
                <a:solidFill>
                  <a:srgbClr val="000000"/>
                </a:solidFill>
              </a:rPr>
              <a:t>2. Reversible reactions that are not yet at equilibrium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Example</a:t>
            </a:r>
            <a:r>
              <a:rPr lang="en-US" altLang="en-US" sz="1800">
                <a:solidFill>
                  <a:srgbClr val="FF0000"/>
                </a:solidFill>
              </a:rPr>
              <a:t>:</a:t>
            </a:r>
            <a:r>
              <a:rPr lang="en-US" altLang="en-US" sz="1800">
                <a:solidFill>
                  <a:srgbClr val="000000"/>
                </a:solidFill>
              </a:rPr>
              <a:t>  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Evaporation of water vapor </a:t>
            </a:r>
            <a:r>
              <a:rPr lang="en-US" altLang="en-US" sz="1800" b="1">
                <a:solidFill>
                  <a:srgbClr val="000000"/>
                </a:solidFill>
              </a:rPr>
              <a:t>if not in equilibrium </a:t>
            </a:r>
            <a:r>
              <a:rPr lang="en-US" altLang="en-US" sz="1800">
                <a:solidFill>
                  <a:srgbClr val="000000"/>
                </a:solidFill>
              </a:rPr>
              <a:t>(net evaporation ie: N .Atlantic)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H</a:t>
            </a:r>
            <a:r>
              <a:rPr lang="en-US" altLang="en-US" sz="1800" baseline="-25000">
                <a:solidFill>
                  <a:srgbClr val="000000"/>
                </a:solidFill>
              </a:rPr>
              <a:t>2</a:t>
            </a:r>
            <a:r>
              <a:rPr lang="en-US" altLang="en-US" sz="1800" baseline="30000">
                <a:solidFill>
                  <a:srgbClr val="000000"/>
                </a:solidFill>
              </a:rPr>
              <a:t>16</a:t>
            </a:r>
            <a:r>
              <a:rPr lang="en-US" altLang="en-US" sz="1800">
                <a:solidFill>
                  <a:srgbClr val="000000"/>
                </a:solidFill>
              </a:rPr>
              <a:t>O</a:t>
            </a:r>
            <a:r>
              <a:rPr lang="en-US" altLang="en-US" sz="1800" baseline="-25000">
                <a:solidFill>
                  <a:srgbClr val="000000"/>
                </a:solidFill>
              </a:rPr>
              <a:t>(l)</a:t>
            </a:r>
            <a:r>
              <a:rPr lang="en-US" altLang="en-US" sz="1800">
                <a:solidFill>
                  <a:srgbClr val="000000"/>
                </a:solidFill>
              </a:rPr>
              <a:t> -&gt; H</a:t>
            </a:r>
            <a:r>
              <a:rPr lang="en-US" altLang="en-US" sz="1800" baseline="-25000">
                <a:solidFill>
                  <a:srgbClr val="000000"/>
                </a:solidFill>
              </a:rPr>
              <a:t>2</a:t>
            </a:r>
            <a:r>
              <a:rPr lang="en-US" altLang="en-US" sz="1800" baseline="30000">
                <a:solidFill>
                  <a:srgbClr val="000000"/>
                </a:solidFill>
              </a:rPr>
              <a:t>16</a:t>
            </a:r>
            <a:r>
              <a:rPr lang="en-US" altLang="en-US" sz="1800">
                <a:solidFill>
                  <a:srgbClr val="000000"/>
                </a:solidFill>
              </a:rPr>
              <a:t>O</a:t>
            </a:r>
            <a:r>
              <a:rPr lang="en-US" altLang="en-US" sz="1800" baseline="-25000">
                <a:solidFill>
                  <a:srgbClr val="000000"/>
                </a:solidFill>
              </a:rPr>
              <a:t>(g)</a:t>
            </a:r>
            <a:r>
              <a:rPr lang="en-US" altLang="en-US" sz="1800">
                <a:solidFill>
                  <a:srgbClr val="000000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</a:rPr>
              <a:t>faster</a:t>
            </a:r>
            <a:endParaRPr lang="en-US" altLang="en-US" sz="1800" b="1" baseline="-25000">
              <a:solidFill>
                <a:srgbClr val="000000"/>
              </a:solidFill>
            </a:endParaRP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H</a:t>
            </a:r>
            <a:r>
              <a:rPr lang="en-US" altLang="en-US" sz="1800" baseline="-25000">
                <a:solidFill>
                  <a:srgbClr val="000000"/>
                </a:solidFill>
              </a:rPr>
              <a:t>2</a:t>
            </a:r>
            <a:r>
              <a:rPr lang="en-US" altLang="en-US" sz="1800" baseline="30000">
                <a:solidFill>
                  <a:srgbClr val="000000"/>
                </a:solidFill>
              </a:rPr>
              <a:t>18</a:t>
            </a:r>
            <a:r>
              <a:rPr lang="en-US" altLang="en-US" sz="1800">
                <a:solidFill>
                  <a:srgbClr val="000000"/>
                </a:solidFill>
              </a:rPr>
              <a:t>O</a:t>
            </a:r>
            <a:r>
              <a:rPr lang="en-US" altLang="en-US" sz="1800" baseline="-25000">
                <a:solidFill>
                  <a:srgbClr val="000000"/>
                </a:solidFill>
              </a:rPr>
              <a:t>(l)</a:t>
            </a:r>
            <a:r>
              <a:rPr lang="en-US" altLang="en-US" sz="1800">
                <a:solidFill>
                  <a:srgbClr val="000000"/>
                </a:solidFill>
              </a:rPr>
              <a:t> -&gt; H</a:t>
            </a:r>
            <a:r>
              <a:rPr lang="en-US" altLang="en-US" sz="1800" baseline="-25000">
                <a:solidFill>
                  <a:srgbClr val="000000"/>
                </a:solidFill>
              </a:rPr>
              <a:t>2</a:t>
            </a:r>
            <a:r>
              <a:rPr lang="en-US" altLang="en-US" sz="1800" baseline="30000">
                <a:solidFill>
                  <a:srgbClr val="000000"/>
                </a:solidFill>
              </a:rPr>
              <a:t>18</a:t>
            </a:r>
            <a:r>
              <a:rPr lang="en-US" altLang="en-US" sz="1800">
                <a:solidFill>
                  <a:srgbClr val="000000"/>
                </a:solidFill>
              </a:rPr>
              <a:t>O</a:t>
            </a:r>
            <a:r>
              <a:rPr lang="en-US" altLang="en-US" sz="1800" baseline="-25000">
                <a:solidFill>
                  <a:srgbClr val="000000"/>
                </a:solidFill>
              </a:rPr>
              <a:t>(g)</a:t>
            </a:r>
            <a:r>
              <a:rPr lang="en-US" altLang="en-US" sz="1800">
                <a:solidFill>
                  <a:srgbClr val="000000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</a:rPr>
              <a:t>slower</a:t>
            </a:r>
            <a:endParaRPr lang="en-US" altLang="en-US" sz="1800" baseline="-25000">
              <a:solidFill>
                <a:srgbClr val="000000"/>
              </a:solidFill>
            </a:endParaRP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Water vapor gets </a:t>
            </a:r>
            <a:r>
              <a:rPr lang="en-US" altLang="en-US" sz="1800" b="1">
                <a:solidFill>
                  <a:srgbClr val="000000"/>
                </a:solidFill>
              </a:rPr>
              <a:t>depleted in </a:t>
            </a:r>
            <a:r>
              <a:rPr lang="en-US" altLang="en-US" sz="1800">
                <a:solidFill>
                  <a:srgbClr val="000000"/>
                </a:solidFill>
              </a:rPr>
              <a:t>18O during net evaporation (decreases in </a:t>
            </a:r>
            <a:r>
              <a:rPr lang="en-US" altLang="en-US" sz="1800">
                <a:solidFill>
                  <a:srgbClr val="000000"/>
                </a:solidFill>
                <a:latin typeface="Euclid Symbol"/>
                <a:sym typeface="Symbol" panose="05050102010706020507" pitchFamily="18" charset="2"/>
              </a:rPr>
              <a:t></a:t>
            </a:r>
            <a:r>
              <a:rPr lang="en-US" altLang="en-US" sz="1800" baseline="30000">
                <a:solidFill>
                  <a:srgbClr val="000000"/>
                </a:solidFill>
              </a:rPr>
              <a:t>18</a:t>
            </a:r>
            <a:r>
              <a:rPr lang="en-US" altLang="en-US" sz="1800">
                <a:solidFill>
                  <a:srgbClr val="000000"/>
                </a:solidFill>
              </a:rPr>
              <a:t>O)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b="1">
                <a:solidFill>
                  <a:srgbClr val="000000"/>
                </a:solidFill>
              </a:rPr>
              <a:t>3. Diffusion 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Example</a:t>
            </a:r>
            <a:r>
              <a:rPr lang="en-US" altLang="en-US" sz="1800">
                <a:solidFill>
                  <a:srgbClr val="FF0000"/>
                </a:solidFill>
              </a:rPr>
              <a:t>:</a:t>
            </a:r>
            <a:r>
              <a:rPr lang="en-US" altLang="en-US" sz="1800">
                <a:solidFill>
                  <a:srgbClr val="000000"/>
                </a:solidFill>
              </a:rPr>
              <a:t>  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Diffusion of H</a:t>
            </a:r>
            <a:r>
              <a:rPr lang="en-US" altLang="en-US" sz="1800" baseline="-25000">
                <a:solidFill>
                  <a:srgbClr val="000000"/>
                </a:solidFill>
              </a:rPr>
              <a:t>2</a:t>
            </a:r>
            <a:r>
              <a:rPr lang="en-US" altLang="en-US" sz="1800">
                <a:solidFill>
                  <a:srgbClr val="000000"/>
                </a:solidFill>
              </a:rPr>
              <a:t>Oacross a cell membrane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H</a:t>
            </a:r>
            <a:r>
              <a:rPr lang="en-US" altLang="en-US" sz="1800" baseline="-25000">
                <a:solidFill>
                  <a:srgbClr val="000000"/>
                </a:solidFill>
              </a:rPr>
              <a:t>2</a:t>
            </a:r>
            <a:r>
              <a:rPr lang="en-US" altLang="en-US" sz="1800" baseline="30000">
                <a:solidFill>
                  <a:srgbClr val="000000"/>
                </a:solidFill>
              </a:rPr>
              <a:t>16</a:t>
            </a:r>
            <a:r>
              <a:rPr lang="en-US" altLang="en-US" sz="1800">
                <a:solidFill>
                  <a:srgbClr val="000000"/>
                </a:solidFill>
              </a:rPr>
              <a:t>O</a:t>
            </a:r>
            <a:r>
              <a:rPr lang="en-US" altLang="en-US" sz="1800" baseline="-25000">
                <a:solidFill>
                  <a:srgbClr val="000000"/>
                </a:solidFill>
              </a:rPr>
              <a:t>(l)</a:t>
            </a:r>
            <a:r>
              <a:rPr lang="en-US" altLang="en-US" sz="1800">
                <a:solidFill>
                  <a:srgbClr val="000000"/>
                </a:solidFill>
              </a:rPr>
              <a:t> outside cell -&gt; H</a:t>
            </a:r>
            <a:r>
              <a:rPr lang="en-US" altLang="en-US" sz="1800" baseline="-25000">
                <a:solidFill>
                  <a:srgbClr val="000000"/>
                </a:solidFill>
              </a:rPr>
              <a:t>2</a:t>
            </a:r>
            <a:r>
              <a:rPr lang="en-US" altLang="en-US" sz="1800" baseline="30000">
                <a:solidFill>
                  <a:srgbClr val="000000"/>
                </a:solidFill>
              </a:rPr>
              <a:t>16</a:t>
            </a:r>
            <a:r>
              <a:rPr lang="en-US" altLang="en-US" sz="1800">
                <a:solidFill>
                  <a:srgbClr val="000000"/>
                </a:solidFill>
              </a:rPr>
              <a:t>O</a:t>
            </a:r>
            <a:r>
              <a:rPr lang="en-US" altLang="en-US" sz="1800" baseline="-25000">
                <a:solidFill>
                  <a:srgbClr val="000000"/>
                </a:solidFill>
              </a:rPr>
              <a:t>(l)</a:t>
            </a:r>
            <a:r>
              <a:rPr lang="en-US" altLang="en-US" sz="1800">
                <a:solidFill>
                  <a:srgbClr val="000000"/>
                </a:solidFill>
              </a:rPr>
              <a:t> inside cell  </a:t>
            </a:r>
            <a:r>
              <a:rPr lang="en-US" altLang="en-US" sz="1800" b="1">
                <a:solidFill>
                  <a:srgbClr val="000000"/>
                </a:solidFill>
              </a:rPr>
              <a:t>faster</a:t>
            </a:r>
            <a:endParaRPr lang="en-US" altLang="en-US" sz="1800" b="1" baseline="-25000">
              <a:solidFill>
                <a:srgbClr val="000000"/>
              </a:solidFill>
            </a:endParaRP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H</a:t>
            </a:r>
            <a:r>
              <a:rPr lang="en-US" altLang="en-US" sz="1800" baseline="-25000">
                <a:solidFill>
                  <a:srgbClr val="000000"/>
                </a:solidFill>
              </a:rPr>
              <a:t>2</a:t>
            </a:r>
            <a:r>
              <a:rPr lang="en-US" altLang="en-US" sz="1800" baseline="30000">
                <a:solidFill>
                  <a:srgbClr val="000000"/>
                </a:solidFill>
              </a:rPr>
              <a:t>18</a:t>
            </a:r>
            <a:r>
              <a:rPr lang="en-US" altLang="en-US" sz="1800">
                <a:solidFill>
                  <a:srgbClr val="000000"/>
                </a:solidFill>
              </a:rPr>
              <a:t>O</a:t>
            </a:r>
            <a:r>
              <a:rPr lang="en-US" altLang="en-US" sz="1800" baseline="-25000">
                <a:solidFill>
                  <a:srgbClr val="000000"/>
                </a:solidFill>
              </a:rPr>
              <a:t>(l)</a:t>
            </a:r>
            <a:r>
              <a:rPr lang="en-US" altLang="en-US" sz="1800">
                <a:solidFill>
                  <a:srgbClr val="000000"/>
                </a:solidFill>
              </a:rPr>
              <a:t> outside cell -&gt; H</a:t>
            </a:r>
            <a:r>
              <a:rPr lang="en-US" altLang="en-US" sz="1800" baseline="-25000">
                <a:solidFill>
                  <a:srgbClr val="000000"/>
                </a:solidFill>
              </a:rPr>
              <a:t>2</a:t>
            </a:r>
            <a:r>
              <a:rPr lang="en-US" altLang="en-US" sz="1800" baseline="30000">
                <a:solidFill>
                  <a:srgbClr val="000000"/>
                </a:solidFill>
              </a:rPr>
              <a:t>18</a:t>
            </a:r>
            <a:r>
              <a:rPr lang="en-US" altLang="en-US" sz="1800">
                <a:solidFill>
                  <a:srgbClr val="000000"/>
                </a:solidFill>
              </a:rPr>
              <a:t>O</a:t>
            </a:r>
            <a:r>
              <a:rPr lang="en-US" altLang="en-US" sz="1800" baseline="-25000">
                <a:solidFill>
                  <a:srgbClr val="000000"/>
                </a:solidFill>
              </a:rPr>
              <a:t>(l)</a:t>
            </a:r>
            <a:r>
              <a:rPr lang="en-US" altLang="en-US" sz="1800">
                <a:solidFill>
                  <a:srgbClr val="000000"/>
                </a:solidFill>
              </a:rPr>
              <a:t> inside cell  </a:t>
            </a:r>
            <a:r>
              <a:rPr lang="en-US" altLang="en-US" sz="1800" b="1">
                <a:solidFill>
                  <a:srgbClr val="000000"/>
                </a:solidFill>
              </a:rPr>
              <a:t>slower</a:t>
            </a:r>
            <a:endParaRPr lang="en-US" altLang="en-US" sz="1800" baseline="-25000">
              <a:solidFill>
                <a:srgbClr val="000000"/>
              </a:solidFill>
            </a:endParaRP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Water vapor gets depleted in </a:t>
            </a:r>
            <a:r>
              <a:rPr lang="en-US" altLang="en-US" sz="1800" b="1">
                <a:solidFill>
                  <a:srgbClr val="000000"/>
                </a:solidFill>
              </a:rPr>
              <a:t>18O during </a:t>
            </a:r>
            <a:r>
              <a:rPr lang="en-US" altLang="en-US" sz="1800">
                <a:solidFill>
                  <a:srgbClr val="000000"/>
                </a:solidFill>
              </a:rPr>
              <a:t>net evaporation (decreases in </a:t>
            </a:r>
            <a:r>
              <a:rPr lang="en-US" altLang="en-US" sz="1800">
                <a:solidFill>
                  <a:srgbClr val="000000"/>
                </a:solidFill>
                <a:latin typeface="Euclid Symbol"/>
                <a:sym typeface="Symbol" panose="05050102010706020507" pitchFamily="18" charset="2"/>
              </a:rPr>
              <a:t></a:t>
            </a:r>
            <a:r>
              <a:rPr lang="en-US" altLang="en-US" sz="1800" baseline="30000">
                <a:solidFill>
                  <a:srgbClr val="000000"/>
                </a:solidFill>
              </a:rPr>
              <a:t>18</a:t>
            </a:r>
            <a:r>
              <a:rPr lang="en-US" altLang="en-US" sz="1800">
                <a:solidFill>
                  <a:srgbClr val="000000"/>
                </a:solidFill>
              </a:rPr>
              <a:t>O)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000000"/>
              </a:solidFill>
            </a:endParaRPr>
          </a:p>
          <a:p>
            <a:pPr lvl="1"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>
            <a:extLst>
              <a:ext uri="{FF2B5EF4-FFF2-40B4-BE49-F238E27FC236}">
                <a16:creationId xmlns:a16="http://schemas.microsoft.com/office/drawing/2014/main" id="{808ED2C7-0C25-49FE-8CEA-B80A50577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79375"/>
            <a:ext cx="8991600" cy="49545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800" b="1" dirty="0">
                <a:solidFill>
                  <a:schemeClr val="accent6"/>
                </a:solidFill>
              </a:rPr>
              <a:t>Equilibrium Fractionation </a:t>
            </a:r>
            <a:r>
              <a:rPr lang="en-US" sz="2800" b="1" dirty="0" err="1">
                <a:solidFill>
                  <a:schemeClr val="accent6"/>
                </a:solidFill>
              </a:rPr>
              <a:t>vs</a:t>
            </a:r>
            <a:r>
              <a:rPr lang="en-US" sz="2800" b="1" dirty="0">
                <a:solidFill>
                  <a:schemeClr val="accent6"/>
                </a:solidFill>
              </a:rPr>
              <a:t> Kinetic Fractionation</a:t>
            </a:r>
          </a:p>
          <a:p>
            <a:pPr eaLnBrk="1" hangingPunct="1">
              <a:defRPr/>
            </a:pPr>
            <a:endParaRPr lang="en-US" b="1" dirty="0">
              <a:solidFill>
                <a:srgbClr val="CC0000"/>
              </a:solidFill>
            </a:endParaRPr>
          </a:p>
          <a:p>
            <a:pPr eaLnBrk="1" hangingPunct="1">
              <a:defRPr/>
            </a:pPr>
            <a:r>
              <a:rPr lang="en-US" sz="2200" dirty="0">
                <a:solidFill>
                  <a:srgbClr val="000000"/>
                </a:solidFill>
              </a:rPr>
              <a:t>The difference depends on the </a:t>
            </a:r>
            <a:r>
              <a:rPr lang="en-US" sz="2200" b="1" dirty="0">
                <a:solidFill>
                  <a:srgbClr val="000000"/>
                </a:solidFill>
              </a:rPr>
              <a:t>reason for the fractionation</a:t>
            </a:r>
          </a:p>
          <a:p>
            <a:pPr eaLnBrk="1" hangingPunct="1">
              <a:defRPr/>
            </a:pPr>
            <a:endParaRPr lang="en-US" sz="2200" b="1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endParaRPr lang="en-US" sz="220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en-US" sz="2200" dirty="0">
                <a:solidFill>
                  <a:srgbClr val="000000"/>
                </a:solidFill>
              </a:rPr>
              <a:t>Equilibrium fractionation occurs so that the total energy of the system is minimized via forming the most stable bonds possible</a:t>
            </a:r>
          </a:p>
          <a:p>
            <a:pPr eaLnBrk="1" hangingPunct="1">
              <a:defRPr/>
            </a:pPr>
            <a:r>
              <a:rPr lang="en-US" sz="2200" b="1" dirty="0">
                <a:solidFill>
                  <a:srgbClr val="000000"/>
                </a:solidFill>
              </a:rPr>
              <a:t>	Equilibrium is related to bond stability of the isotope</a:t>
            </a:r>
          </a:p>
          <a:p>
            <a:pPr eaLnBrk="1" hangingPunct="1">
              <a:defRPr/>
            </a:pPr>
            <a:endParaRPr lang="en-US" sz="220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endParaRPr lang="en-US" sz="220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en-US" sz="2200" dirty="0">
                <a:solidFill>
                  <a:srgbClr val="000000"/>
                </a:solidFill>
              </a:rPr>
              <a:t>Kinetic fractionation occurs because smaller molecules move faster than heavier molecules and therefore react more slowly</a:t>
            </a:r>
          </a:p>
          <a:p>
            <a:pPr eaLnBrk="1" hangingPunct="1">
              <a:defRPr/>
            </a:pPr>
            <a:r>
              <a:rPr lang="en-US" sz="2200" dirty="0">
                <a:solidFill>
                  <a:srgbClr val="000000"/>
                </a:solidFill>
              </a:rPr>
              <a:t>	</a:t>
            </a:r>
            <a:r>
              <a:rPr lang="en-US" sz="2200" b="1" dirty="0">
                <a:solidFill>
                  <a:srgbClr val="000000"/>
                </a:solidFill>
              </a:rPr>
              <a:t>Kinetic is related to the velocity of the isotope</a:t>
            </a:r>
          </a:p>
          <a:p>
            <a:pPr eaLnBrk="1" hangingPunct="1">
              <a:defRPr/>
            </a:pPr>
            <a:endParaRPr lang="en-US" sz="22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10156</TotalTime>
  <Words>2372</Words>
  <Application>Microsoft Office PowerPoint</Application>
  <PresentationFormat>On-screen Show (4:3)</PresentationFormat>
  <Paragraphs>432</Paragraphs>
  <Slides>42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42</vt:i4>
      </vt:variant>
    </vt:vector>
  </HeadingPairs>
  <TitlesOfParts>
    <vt:vector size="53" baseType="lpstr">
      <vt:lpstr>Arial</vt:lpstr>
      <vt:lpstr>Calibri</vt:lpstr>
      <vt:lpstr>Comic Sans MS</vt:lpstr>
      <vt:lpstr>Courier New</vt:lpstr>
      <vt:lpstr>Euclid Symbol</vt:lpstr>
      <vt:lpstr>Symbol</vt:lpstr>
      <vt:lpstr>Times New Roman</vt:lpstr>
      <vt:lpstr>Wingdings</vt:lpstr>
      <vt:lpstr>Default Design</vt:lpstr>
      <vt:lpstr>Document</vt:lpstr>
      <vt:lpstr>Equation</vt:lpstr>
      <vt:lpstr>EES203: Geochemistry </vt:lpstr>
      <vt:lpstr>PowerPoint Presentation</vt:lpstr>
      <vt:lpstr>PowerPoint Presentation</vt:lpstr>
      <vt:lpstr>Stable isotopes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njcu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dfreile</dc:creator>
  <cp:lastModifiedBy>Dell</cp:lastModifiedBy>
  <cp:revision>246</cp:revision>
  <dcterms:created xsi:type="dcterms:W3CDTF">2005-10-26T18:01:58Z</dcterms:created>
  <dcterms:modified xsi:type="dcterms:W3CDTF">2025-03-26T08:49:43Z</dcterms:modified>
</cp:coreProperties>
</file>