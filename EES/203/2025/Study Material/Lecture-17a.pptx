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56" r:id="rId2"/>
    <p:sldId id="261" r:id="rId3"/>
    <p:sldId id="275" r:id="rId4"/>
    <p:sldId id="274" r:id="rId5"/>
    <p:sldId id="271" r:id="rId6"/>
    <p:sldId id="276" r:id="rId7"/>
    <p:sldId id="260" r:id="rId8"/>
    <p:sldId id="265" r:id="rId9"/>
    <p:sldId id="266" r:id="rId10"/>
    <p:sldId id="284" r:id="rId11"/>
    <p:sldId id="1019" r:id="rId12"/>
    <p:sldId id="925" r:id="rId13"/>
    <p:sldId id="1008" r:id="rId14"/>
    <p:sldId id="1009" r:id="rId15"/>
    <p:sldId id="1010" r:id="rId16"/>
    <p:sldId id="1011" r:id="rId17"/>
    <p:sldId id="1012" r:id="rId18"/>
    <p:sldId id="1013" r:id="rId19"/>
    <p:sldId id="1014" r:id="rId20"/>
    <p:sldId id="1015" r:id="rId21"/>
    <p:sldId id="1016" r:id="rId22"/>
    <p:sldId id="1017" r:id="rId23"/>
    <p:sldId id="1018" r:id="rId24"/>
    <p:sldId id="1020" r:id="rId25"/>
    <p:sldId id="1021" r:id="rId26"/>
    <p:sldId id="1023" r:id="rId27"/>
    <p:sldId id="280" r:id="rId28"/>
    <p:sldId id="281" r:id="rId29"/>
    <p:sldId id="282" r:id="rId30"/>
    <p:sldId id="283" r:id="rId31"/>
    <p:sldId id="1022" r:id="rId32"/>
    <p:sldId id="286" r:id="rId33"/>
    <p:sldId id="287" r:id="rId34"/>
    <p:sldId id="1024" r:id="rId35"/>
    <p:sldId id="288" r:id="rId36"/>
    <p:sldId id="289" r:id="rId37"/>
    <p:sldId id="1025" r:id="rId38"/>
    <p:sldId id="1026" r:id="rId39"/>
    <p:sldId id="290" r:id="rId40"/>
    <p:sldId id="302" r:id="rId41"/>
    <p:sldId id="300" r:id="rId42"/>
    <p:sldId id="299" r:id="rId43"/>
    <p:sldId id="301" r:id="rId4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5" autoAdjust="0"/>
    <p:restoredTop sz="93690" autoAdjust="0"/>
  </p:normalViewPr>
  <p:slideViewPr>
    <p:cSldViewPr>
      <p:cViewPr>
        <p:scale>
          <a:sx n="90" d="100"/>
          <a:sy n="90" d="100"/>
        </p:scale>
        <p:origin x="548" y="-5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48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B12BC94-826C-44CC-9139-4D8AF4CCD7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DB217-5036-48E7-9F80-D8568EC4E5C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495E4C6-17AD-4BA4-85ED-1CEF5353A859}" type="datetimeFigureOut">
              <a:rPr lang="en-IN"/>
              <a:pPr>
                <a:defRPr/>
              </a:pPr>
              <a:t>02-04-2025</a:t>
            </a:fld>
            <a:endParaRPr lang="en-IN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099106-0BB6-43A6-A3E2-09D734B29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FBCB12F-E21B-4BB3-98A4-F84DE7942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2BC49-BC64-4703-B80A-9476428F948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D10B2-65DA-4A6A-9411-A7CE5F94A9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A50488F-DB6A-40AC-8FA4-772BF47F0323}" type="slidenum">
              <a:rPr lang="en-IN" altLang="en-US"/>
              <a:pPr>
                <a:defRPr/>
              </a:pPr>
              <a:t>‹#›</a:t>
            </a:fld>
            <a:endParaRPr lang="en-I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6844048-5BB3-4D54-B382-75055EB8B53F}" type="slidenum">
              <a:rPr lang="en-IN"/>
              <a:pPr/>
              <a:t>2</a:t>
            </a:fld>
            <a:endParaRPr lang="en-IN"/>
          </a:p>
        </p:txBody>
      </p:sp>
      <p:sp>
        <p:nvSpPr>
          <p:cNvPr id="39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17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E32B339-5ACC-4E1D-8851-4EA63AC88BB6}" type="slidenum">
              <a:rPr lang="en-IN"/>
              <a:pPr/>
              <a:t>7</a:t>
            </a:fld>
            <a:endParaRPr lang="en-IN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702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7A633B3-FD12-498C-81E4-5461858B622B}" type="slidenum">
              <a:rPr lang="en-IN"/>
              <a:pPr/>
              <a:t>8</a:t>
            </a:fld>
            <a:endParaRPr lang="en-IN"/>
          </a:p>
        </p:txBody>
      </p:sp>
      <p:sp>
        <p:nvSpPr>
          <p:cNvPr id="48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527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5D49DCD-AD3F-4CE4-A3A1-EB9407B20164}" type="slidenum">
              <a:rPr lang="en-IN"/>
              <a:pPr/>
              <a:t>9</a:t>
            </a:fld>
            <a:endParaRPr lang="en-IN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2504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b83a4499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cb83a4499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4607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>
            <a:extLst>
              <a:ext uri="{FF2B5EF4-FFF2-40B4-BE49-F238E27FC236}">
                <a16:creationId xmlns:a16="http://schemas.microsoft.com/office/drawing/2014/main" id="{6D56EEDC-07A8-40B9-B3B2-2D17D15E50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8435" name="Notes Placeholder 2">
            <a:extLst>
              <a:ext uri="{FF2B5EF4-FFF2-40B4-BE49-F238E27FC236}">
                <a16:creationId xmlns:a16="http://schemas.microsoft.com/office/drawing/2014/main" id="{FD1A2B21-2D2A-424B-A94D-2FBA58AC31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IN" altLang="en-US"/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5A2E1B60-166B-49CA-AF65-FCFBBF98F8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353BD95A-0734-4064-87CC-B6AB1D2E9A8B}" type="slidenum">
              <a:rPr lang="en-US" altLang="en-US" smtClean="0">
                <a:latin typeface="Calibri" panose="020F0502020204030204" pitchFamily="34" charset="0"/>
              </a:rPr>
              <a:pPr/>
              <a:t>12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816E70C0-B760-4923-95FC-1F0CC6A9949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D0BFC198-F625-4555-B8F2-8447567E680B}" type="slidenum">
              <a:rPr lang="en-US" altLang="en-US" smtClean="0"/>
              <a:pPr>
                <a:spcBef>
                  <a:spcPct val="0"/>
                </a:spcBef>
              </a:pPr>
              <a:t>13</a:t>
            </a:fld>
            <a:endParaRPr lang="en-US" altLang="en-US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70B14E9F-C5A6-4241-91BF-81065D725BC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DFFB7904-0476-46A7-BB24-DC185DD1D5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>
            <a:extLst>
              <a:ext uri="{FF2B5EF4-FFF2-40B4-BE49-F238E27FC236}">
                <a16:creationId xmlns:a16="http://schemas.microsoft.com/office/drawing/2014/main" id="{75877FEE-F6B9-42BC-8BFE-4698DA13A1F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B311B082-03F4-408B-8B18-1B6643AA05D3}" type="slidenum">
              <a:rPr lang="en-US" altLang="en-US" smtClean="0"/>
              <a:pPr>
                <a:spcBef>
                  <a:spcPct val="0"/>
                </a:spcBef>
              </a:pPr>
              <a:t>14</a:t>
            </a:fld>
            <a:endParaRPr lang="en-US" altLang="en-US"/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A471AD40-47FF-4C1C-9CA3-6C4DCC1314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1732BCEC-B678-44F5-A7D4-A1499A8C9F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>
            <a:extLst>
              <a:ext uri="{FF2B5EF4-FFF2-40B4-BE49-F238E27FC236}">
                <a16:creationId xmlns:a16="http://schemas.microsoft.com/office/drawing/2014/main" id="{D9F28B9F-99A5-408E-9A3A-02226A0319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886C83BB-0816-4D7E-9772-A66C3408AF91}" type="slidenum">
              <a:rPr lang="en-US" altLang="en-US" smtClean="0"/>
              <a:pPr>
                <a:spcBef>
                  <a:spcPct val="0"/>
                </a:spcBef>
              </a:pPr>
              <a:t>15</a:t>
            </a:fld>
            <a:endParaRPr lang="en-US" altLang="en-US"/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565454DC-DFF1-43C7-9AFC-54AC7D3C9EE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580" name="Rectangle 3">
            <a:extLst>
              <a:ext uri="{FF2B5EF4-FFF2-40B4-BE49-F238E27FC236}">
                <a16:creationId xmlns:a16="http://schemas.microsoft.com/office/drawing/2014/main" id="{4E675224-A6A6-437B-83CC-3CBBACFBC9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>
            <a:extLst>
              <a:ext uri="{FF2B5EF4-FFF2-40B4-BE49-F238E27FC236}">
                <a16:creationId xmlns:a16="http://schemas.microsoft.com/office/drawing/2014/main" id="{35D012EE-6458-4FE8-92AD-4AEC8318058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18A9B644-8C6B-46FF-82E3-8175F40C8A3E}" type="slidenum">
              <a:rPr lang="en-US" altLang="en-US" smtClean="0"/>
              <a:pPr>
                <a:spcBef>
                  <a:spcPct val="0"/>
                </a:spcBef>
              </a:pPr>
              <a:t>16</a:t>
            </a:fld>
            <a:endParaRPr lang="en-US" altLang="en-US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1AE4E465-3433-4DA4-85D5-A6732649980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E1006F30-9A54-4560-8C8F-09C9EC61F2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>
            <a:extLst>
              <a:ext uri="{FF2B5EF4-FFF2-40B4-BE49-F238E27FC236}">
                <a16:creationId xmlns:a16="http://schemas.microsoft.com/office/drawing/2014/main" id="{F8EDF5E5-B666-4E3F-A39B-C8C7D24D89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4D037C62-C4BE-4E77-98B7-79BAC91C4642}" type="slidenum">
              <a:rPr lang="en-US" altLang="en-US" smtClean="0"/>
              <a:pPr>
                <a:spcBef>
                  <a:spcPct val="0"/>
                </a:spcBef>
              </a:pPr>
              <a:t>17</a:t>
            </a:fld>
            <a:endParaRPr lang="en-US" altLang="en-US"/>
          </a:p>
        </p:txBody>
      </p:sp>
      <p:sp>
        <p:nvSpPr>
          <p:cNvPr id="28675" name="Rectangle 2">
            <a:extLst>
              <a:ext uri="{FF2B5EF4-FFF2-40B4-BE49-F238E27FC236}">
                <a16:creationId xmlns:a16="http://schemas.microsoft.com/office/drawing/2014/main" id="{649BD0FF-EAB7-46D1-A11C-431BE03F51E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CD583238-1EC8-41BA-A3C0-FBA73952ED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>
            <a:extLst>
              <a:ext uri="{FF2B5EF4-FFF2-40B4-BE49-F238E27FC236}">
                <a16:creationId xmlns:a16="http://schemas.microsoft.com/office/drawing/2014/main" id="{D2B32241-EB22-4F8C-91A0-70DBFF241C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4914BD43-5707-4204-9100-B98C547F118E}" type="slidenum">
              <a:rPr lang="en-US" altLang="en-US" smtClean="0"/>
              <a:pPr>
                <a:spcBef>
                  <a:spcPct val="0"/>
                </a:spcBef>
              </a:pPr>
              <a:t>18</a:t>
            </a:fld>
            <a:endParaRPr lang="en-US" altLang="en-US"/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014C2AF2-E55A-450B-B44F-57B0969A22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47067580-AB96-422E-9BDE-50DA352CC3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6C376205-9825-4018-8A11-1B0C4C98C42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E403E8C6-D324-4536-B7B5-E50E6EFC80BF}" type="slidenum">
              <a:rPr lang="en-US" altLang="en-US" smtClean="0"/>
              <a:pPr>
                <a:spcBef>
                  <a:spcPct val="0"/>
                </a:spcBef>
              </a:pPr>
              <a:t>19</a:t>
            </a:fld>
            <a:endParaRPr lang="en-US" altLang="en-US"/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F610D694-9E17-449F-8BFE-E049393EC9D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2" name="Rectangle 3">
            <a:extLst>
              <a:ext uri="{FF2B5EF4-FFF2-40B4-BE49-F238E27FC236}">
                <a16:creationId xmlns:a16="http://schemas.microsoft.com/office/drawing/2014/main" id="{E1FE8DF1-CCEE-44C6-960D-56955691C9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C7A6386D-DC1B-4348-BD26-98A510FC54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43B71391-B052-4E69-898A-83C3C97C0839}" type="slidenum">
              <a:rPr lang="en-US" altLang="en-US" smtClean="0"/>
              <a:pPr>
                <a:spcBef>
                  <a:spcPct val="0"/>
                </a:spcBef>
              </a:pPr>
              <a:t>20</a:t>
            </a:fld>
            <a:endParaRPr lang="en-US" altLang="en-US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346A3BA7-BD35-43D1-B484-BED71BFCFA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9ED72915-2DCA-4AB8-BA89-363A79799D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>
            <a:extLst>
              <a:ext uri="{FF2B5EF4-FFF2-40B4-BE49-F238E27FC236}">
                <a16:creationId xmlns:a16="http://schemas.microsoft.com/office/drawing/2014/main" id="{3397190A-C792-47DC-A469-7104D957CDF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CCB23135-A799-49B2-8E7E-AB08136F0060}" type="slidenum">
              <a:rPr lang="en-US" altLang="en-US" smtClean="0"/>
              <a:pPr>
                <a:spcBef>
                  <a:spcPct val="0"/>
                </a:spcBef>
              </a:pPr>
              <a:t>21</a:t>
            </a:fld>
            <a:endParaRPr lang="en-US" altLang="en-US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4BB630B8-C4EE-461F-B8F9-D94756E59E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2B869D71-6CE1-456E-B67D-570C3A0ECF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>
            <a:extLst>
              <a:ext uri="{FF2B5EF4-FFF2-40B4-BE49-F238E27FC236}">
                <a16:creationId xmlns:a16="http://schemas.microsoft.com/office/drawing/2014/main" id="{4A5CC7CA-A2A2-4C60-9DEA-E330FBF8EE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A270EA05-C749-44E5-AF61-155725888C7C}" type="slidenum">
              <a:rPr lang="en-US" altLang="en-US" smtClean="0"/>
              <a:pPr>
                <a:spcBef>
                  <a:spcPct val="0"/>
                </a:spcBef>
              </a:pPr>
              <a:t>22</a:t>
            </a:fld>
            <a:endParaRPr lang="en-US" altLang="en-US"/>
          </a:p>
        </p:txBody>
      </p:sp>
      <p:sp>
        <p:nvSpPr>
          <p:cNvPr id="38915" name="Rectangle 2">
            <a:extLst>
              <a:ext uri="{FF2B5EF4-FFF2-40B4-BE49-F238E27FC236}">
                <a16:creationId xmlns:a16="http://schemas.microsoft.com/office/drawing/2014/main" id="{E3454AE5-28E3-4359-8661-CF7555406A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8916" name="Rectangle 3">
            <a:extLst>
              <a:ext uri="{FF2B5EF4-FFF2-40B4-BE49-F238E27FC236}">
                <a16:creationId xmlns:a16="http://schemas.microsoft.com/office/drawing/2014/main" id="{AAB97037-7D07-4E75-BB67-4958BA2EE9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>
            <a:extLst>
              <a:ext uri="{FF2B5EF4-FFF2-40B4-BE49-F238E27FC236}">
                <a16:creationId xmlns:a16="http://schemas.microsoft.com/office/drawing/2014/main" id="{2C91B225-EA50-4E84-9ADA-BB5564C8D1F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D4C0F515-A1A5-42EF-A5A4-D6DA488FB45E}" type="slidenum">
              <a:rPr lang="en-US" altLang="en-US" smtClean="0"/>
              <a:pPr>
                <a:spcBef>
                  <a:spcPct val="0"/>
                </a:spcBef>
              </a:pPr>
              <a:t>23</a:t>
            </a:fld>
            <a:endParaRPr lang="en-US" altLang="en-US"/>
          </a:p>
        </p:txBody>
      </p:sp>
      <p:sp>
        <p:nvSpPr>
          <p:cNvPr id="40963" name="Rectangle 2">
            <a:extLst>
              <a:ext uri="{FF2B5EF4-FFF2-40B4-BE49-F238E27FC236}">
                <a16:creationId xmlns:a16="http://schemas.microsoft.com/office/drawing/2014/main" id="{3B5A3763-B478-4110-A334-ECED0209F7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64" name="Rectangle 3">
            <a:extLst>
              <a:ext uri="{FF2B5EF4-FFF2-40B4-BE49-F238E27FC236}">
                <a16:creationId xmlns:a16="http://schemas.microsoft.com/office/drawing/2014/main" id="{5FA467B1-F767-42B3-A56C-F1EB880A20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>
            <a:extLst>
              <a:ext uri="{FF2B5EF4-FFF2-40B4-BE49-F238E27FC236}">
                <a16:creationId xmlns:a16="http://schemas.microsoft.com/office/drawing/2014/main" id="{A68C908B-5E03-4885-A50D-F513602BDEF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DAB16A29-7DC1-4755-878A-FB444F0D0A1A}" type="slidenum">
              <a:rPr lang="en-US" altLang="en-US" smtClean="0"/>
              <a:pPr>
                <a:spcBef>
                  <a:spcPct val="0"/>
                </a:spcBef>
              </a:pPr>
              <a:t>24</a:t>
            </a:fld>
            <a:endParaRPr lang="en-US" altLang="en-US"/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D914F578-6052-449D-8D51-0B0DC16929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580" name="Rectangle 3">
            <a:extLst>
              <a:ext uri="{FF2B5EF4-FFF2-40B4-BE49-F238E27FC236}">
                <a16:creationId xmlns:a16="http://schemas.microsoft.com/office/drawing/2014/main" id="{4CB51D98-8A6E-4588-8FF4-7E92ED229E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US" altLang="en-US">
              <a:latin typeface="Times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EE118F-D257-4318-A3A2-EECA19410B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C97103C-CE56-4C35-B5D2-E932D10544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31569ED-472A-4591-B1C8-91A8AA55F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1EFD36-5984-457D-BADD-B4A3F349C2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497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C13EFD9-AB6D-434D-BC2E-8B73CC13F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B0ED277-8375-4E95-B412-94EF1677FA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71C59AB-1EAD-4FD8-95DC-AD356CFA4F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6D8436-06A3-43A4-BA5B-8AF70AEB64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754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24E2C6-9E75-43EE-99CD-453E04C865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5018E45-3328-444D-8796-75B3B701D1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A16A509-F4A7-48F3-809D-CBD23ED80F5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974763-CD29-4242-A606-D01C110AD1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14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060A66-D792-4197-A450-15640D1F3C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39D150-B008-4810-A642-BB58C29B57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ECF246-2CD9-4EFD-B3F8-DA766CBABFB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43884-E97C-43AC-91BE-818B2A6132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214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95DB130-3059-4B58-BDA5-BD072F56A8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754EE56-C6A2-4D14-AF3C-BAE635180F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24C1A1F-C41E-4454-A02E-BDE2567839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52C66B-8C25-4FE5-81EA-D279F10B6BD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113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073D249-74BA-4FC7-9180-228CFD77E1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DD93F01-8B96-4D54-88E5-CA53B833D8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D2D4A28-53D6-497F-985F-B1CEC7D70C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ABF0EF-67B1-4AA0-81ED-91DE03744A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3460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93C45B-F71B-46A7-A2A8-FEA3D83007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0F0BA5-4205-4DA9-8FA1-D723A7B5D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B7F91C-3F88-4469-8440-DA0A8B7F57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9F030-B1DE-440E-85E3-A637DEB7A7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888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62272-BBA7-43EA-9594-79B56445FE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19C3EE-B0C4-43D8-8138-EBD6BB89F08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8D149F-91B7-4D2A-80E9-143AB91277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B7294A-24AF-420B-8505-410263194C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29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11047-FFB1-4281-8AA7-C67D7FC172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A64777-0A6E-44A1-9A52-089347C955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066FD0-7FB1-4473-9F5A-052CDF76D2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4B33AA-D7D6-4AF9-8507-39A6605B27C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1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3E3C6A4-4B1A-4C68-BC9E-108062B1B4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C1AA137-5DE1-4D94-A5C4-663255771B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A788E28-AD11-4AD1-9E0C-EB1CB0AB2E0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07F969-126B-4625-93B3-22279DA2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355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EFAED9-FCC2-4312-9DB9-099CCCC9F0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F9ABCCB-6606-4ED6-BC8F-C27228E260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9E9A27-7F1E-4BB5-A7E3-48D09E2086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CD6217-5208-4DAE-8F2B-4AF241D0CE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0888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60734-F86E-485B-BE6F-D403DEB855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62688C-8C09-49D2-A3CF-4C4EFFBA9D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77806-7D51-41C3-94F1-95ECDE1BC9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EAD34F-7ECA-488C-A8FC-C0C1447E89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8470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IN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6E3B21-9DDA-4FAF-8452-B0EFA960C3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FC52A2-EE11-4000-BC5D-3C13454682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BEACE-6FB7-4B99-9A67-9CEBD7FFC9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27C2-0E5F-4AAB-8874-A93956E577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8300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1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E5B2030-82C9-44DC-877E-585150106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9A63B46-2CC7-4C4C-B290-7BAAA1F63A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FAE760F-22F1-45C9-8239-30305B70D9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D35B8D3-8F19-4A2C-AD58-BE3E89625A4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68A7449-CC58-4CEF-AE5E-3A0514B9DB2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A6E29DF-0E91-4F06-8705-C054EB6BBDC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anoop@iisermohali.ac.in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EF3740-78F8-4AF7-B9C0-B2112BDC18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1295400"/>
            <a:ext cx="7459663" cy="641350"/>
          </a:xfrm>
        </p:spPr>
        <p:txBody>
          <a:bodyPr lIns="0" tIns="38100" rIns="0" bIns="0">
            <a:spAutoFit/>
          </a:bodyPr>
          <a:lstStyle/>
          <a:p>
            <a:pPr marL="1901825" indent="-1889125">
              <a:lnSpc>
                <a:spcPts val="4700"/>
              </a:lnSpc>
              <a:spcBef>
                <a:spcPts val="300"/>
              </a:spcBef>
            </a:pPr>
            <a:r>
              <a:rPr lang="en-IN" altLang="en-US">
                <a:solidFill>
                  <a:srgbClr val="000000"/>
                </a:solidFill>
              </a:rPr>
              <a:t>EES203: Geochemistry </a:t>
            </a:r>
            <a:endParaRPr lang="en-US" alt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56A1D54-95EB-4BB2-BAD9-B64ADC3C8E58}"/>
              </a:ext>
            </a:extLst>
          </p:cNvPr>
          <p:cNvSpPr txBox="1"/>
          <p:nvPr/>
        </p:nvSpPr>
        <p:spPr>
          <a:xfrm>
            <a:off x="1555750" y="2133600"/>
            <a:ext cx="7848600" cy="1198563"/>
          </a:xfrm>
          <a:prstGeom prst="rect">
            <a:avLst/>
          </a:prstGeom>
        </p:spPr>
        <p:txBody>
          <a:bodyPr lIns="0" tIns="110490" rIns="0" bIns="0">
            <a:spAutoFit/>
          </a:bodyPr>
          <a:lstStyle/>
          <a:p>
            <a:pPr marL="12700">
              <a:spcBef>
                <a:spcPts val="765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Instructor:</a:t>
            </a:r>
            <a:r>
              <a:rPr sz="3200" spc="-2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Anoop</a:t>
            </a:r>
            <a:r>
              <a:rPr sz="3200" spc="-19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Ambili</a:t>
            </a:r>
            <a:endParaRPr lang="en-IN" sz="3200" spc="-10" dirty="0">
              <a:latin typeface="Times New Roman"/>
              <a:cs typeface="Times New Roman"/>
            </a:endParaRPr>
          </a:p>
          <a:p>
            <a:pPr marL="12700">
              <a:spcBef>
                <a:spcPts val="770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Email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id: </a:t>
            </a:r>
            <a:r>
              <a:rPr sz="3200" spc="-10" dirty="0">
                <a:latin typeface="Times New Roman"/>
                <a:cs typeface="Times New Roman"/>
                <a:hlinkClick r:id="rId2"/>
              </a:rPr>
              <a:t>anoop@iisermohali.ac.in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762000"/>
          </a:xfrm>
        </p:spPr>
        <p:txBody>
          <a:bodyPr/>
          <a:lstStyle/>
          <a:p>
            <a:r>
              <a:rPr lang="en-US" sz="3600" b="1" dirty="0">
                <a:latin typeface="Times New Roman" pitchFamily="18" charset="0"/>
              </a:rPr>
              <a:t>Isotopes of Strontium</a:t>
            </a:r>
            <a:endParaRPr lang="en-IN" sz="3600" b="1" dirty="0">
              <a:latin typeface="Times New Roman" pitchFamily="18" charset="0"/>
            </a:endParaRP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1143000"/>
            <a:ext cx="8610600" cy="4830763"/>
          </a:xfrm>
        </p:spPr>
        <p:txBody>
          <a:bodyPr/>
          <a:lstStyle/>
          <a:p>
            <a:pPr algn="just">
              <a:lnSpc>
                <a:spcPct val="150000"/>
              </a:lnSpc>
              <a:buFontTx/>
              <a:buNone/>
            </a:pPr>
            <a:r>
              <a:rPr lang="en-US" sz="2400" dirty="0">
                <a:latin typeface="Times New Roman" pitchFamily="18" charset="0"/>
              </a:rPr>
              <a:t>The alkali earth metal strontium has four stable naturally occurring isotopes:</a:t>
            </a:r>
          </a:p>
          <a:p>
            <a:pPr>
              <a:buFontTx/>
              <a:buNone/>
            </a:pPr>
            <a:endParaRPr lang="en-US" sz="2400" b="1" dirty="0">
              <a:latin typeface="Times New Roman" pitchFamily="18" charset="0"/>
            </a:endParaRPr>
          </a:p>
          <a:p>
            <a:pPr>
              <a:buFontTx/>
              <a:buNone/>
            </a:pPr>
            <a:r>
              <a:rPr lang="en-IN" sz="2400" b="1" baseline="30000" dirty="0">
                <a:latin typeface="Times New Roman" pitchFamily="18" charset="0"/>
              </a:rPr>
              <a:t>   </a:t>
            </a:r>
            <a:r>
              <a:rPr lang="en-IN" sz="2400" baseline="30000" dirty="0">
                <a:latin typeface="Times New Roman" pitchFamily="18" charset="0"/>
              </a:rPr>
              <a:t>~84</a:t>
            </a:r>
            <a:r>
              <a:rPr lang="en-IN" sz="2400" dirty="0">
                <a:latin typeface="Times New Roman" pitchFamily="18" charset="0"/>
              </a:rPr>
              <a:t>Sr (0.56%) </a:t>
            </a:r>
          </a:p>
          <a:p>
            <a:pPr>
              <a:buFontTx/>
              <a:buNone/>
            </a:pPr>
            <a:r>
              <a:rPr lang="en-IN" sz="2400" baseline="30000" dirty="0">
                <a:latin typeface="Times New Roman" pitchFamily="18" charset="0"/>
              </a:rPr>
              <a:t>   ~ 86</a:t>
            </a:r>
            <a:r>
              <a:rPr lang="en-IN" sz="2400" dirty="0">
                <a:latin typeface="Times New Roman" pitchFamily="18" charset="0"/>
              </a:rPr>
              <a:t>Sr (9.86%) </a:t>
            </a:r>
          </a:p>
          <a:p>
            <a:pPr>
              <a:buFontTx/>
              <a:buNone/>
            </a:pPr>
            <a:r>
              <a:rPr lang="en-IN" sz="2400" baseline="30000" dirty="0">
                <a:latin typeface="Times New Roman" pitchFamily="18" charset="0"/>
              </a:rPr>
              <a:t>    ~87</a:t>
            </a:r>
            <a:r>
              <a:rPr lang="en-IN" sz="2400" dirty="0">
                <a:latin typeface="Times New Roman" pitchFamily="18" charset="0"/>
              </a:rPr>
              <a:t>Sr (7.0%) and </a:t>
            </a:r>
          </a:p>
          <a:p>
            <a:pPr>
              <a:buFontTx/>
              <a:buNone/>
            </a:pPr>
            <a:r>
              <a:rPr lang="en-IN" sz="2400" baseline="30000" dirty="0">
                <a:latin typeface="Times New Roman" pitchFamily="18" charset="0"/>
              </a:rPr>
              <a:t>   ~88</a:t>
            </a:r>
            <a:r>
              <a:rPr lang="en-IN" sz="2400" dirty="0">
                <a:latin typeface="Times New Roman" pitchFamily="18" charset="0"/>
              </a:rPr>
              <a:t>Sr (82.58%) 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57600" y="1828800"/>
            <a:ext cx="5334000" cy="4464293"/>
            <a:chOff x="3810000" y="2362200"/>
            <a:chExt cx="5111750" cy="4236704"/>
          </a:xfrm>
        </p:grpSpPr>
        <p:grpSp>
          <p:nvGrpSpPr>
            <p:cNvPr id="8" name="Group 7"/>
            <p:cNvGrpSpPr/>
            <p:nvPr/>
          </p:nvGrpSpPr>
          <p:grpSpPr>
            <a:xfrm>
              <a:off x="3810000" y="2362200"/>
              <a:ext cx="4648200" cy="3352800"/>
              <a:chOff x="3810000" y="2362200"/>
              <a:chExt cx="4648200" cy="3352800"/>
            </a:xfrm>
          </p:grpSpPr>
          <p:pic>
            <p:nvPicPr>
              <p:cNvPr id="5" name="Picture 2" descr="Mass Spectrometry - Lessons - Blendspace"/>
              <p:cNvPicPr>
                <a:picLocks noChangeAspect="1" noChangeArrowheads="1"/>
              </p:cNvPicPr>
              <p:nvPr/>
            </p:nvPicPr>
            <p:blipFill>
              <a:blip r:embed="rId3" cstate="print"/>
              <a:srcRect l="18966" t="10495" b="9741"/>
              <a:stretch>
                <a:fillRect/>
              </a:stretch>
            </p:blipFill>
            <p:spPr bwMode="auto">
              <a:xfrm>
                <a:off x="4114800" y="2362200"/>
                <a:ext cx="4343400" cy="3124200"/>
              </a:xfrm>
              <a:prstGeom prst="rect">
                <a:avLst/>
              </a:prstGeom>
              <a:noFill/>
            </p:spPr>
          </p:pic>
          <p:sp>
            <p:nvSpPr>
              <p:cNvPr id="6" name="Rectangle 2"/>
              <p:cNvSpPr txBox="1">
                <a:spLocks noChangeArrowheads="1"/>
              </p:cNvSpPr>
              <p:nvPr/>
            </p:nvSpPr>
            <p:spPr>
              <a:xfrm>
                <a:off x="5105400" y="5334000"/>
                <a:ext cx="2286000" cy="38100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itchFamily="18" charset="0"/>
                    <a:ea typeface="+mj-ea"/>
                    <a:cs typeface="+mj-cs"/>
                  </a:rPr>
                  <a:t>Strontium isotopes</a:t>
                </a:r>
                <a:endParaRPr kumimoji="0" lang="en-IN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itchFamily="18" charset="0"/>
                  <a:ea typeface="+mj-ea"/>
                  <a:cs typeface="+mj-cs"/>
                </a:endParaRPr>
              </a:p>
            </p:txBody>
          </p:sp>
          <p:sp>
            <p:nvSpPr>
              <p:cNvPr id="7" name="Rectangle 2"/>
              <p:cNvSpPr txBox="1">
                <a:spLocks noChangeArrowheads="1"/>
              </p:cNvSpPr>
              <p:nvPr/>
            </p:nvSpPr>
            <p:spPr>
              <a:xfrm rot="16200000">
                <a:off x="2628900" y="3695700"/>
                <a:ext cx="2743200" cy="38100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itchFamily="18" charset="0"/>
                    <a:ea typeface="+mj-ea"/>
                    <a:cs typeface="+mj-cs"/>
                  </a:rPr>
                  <a:t>Relative abundance (%)</a:t>
                </a:r>
                <a:endParaRPr kumimoji="0" lang="en-IN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itchFamily="18" charset="0"/>
                  <a:ea typeface="+mj-ea"/>
                  <a:cs typeface="+mj-cs"/>
                </a:endParaRPr>
              </a:p>
            </p:txBody>
          </p:sp>
        </p:grp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477000" y="6248400"/>
              <a:ext cx="2444750" cy="3505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  <a:spcAft>
                  <a:spcPts val="500"/>
                </a:spcAft>
              </a:pPr>
              <a:r>
                <a:rPr lang="en-IN" dirty="0">
                  <a:latin typeface="Times New Roman" pitchFamily="18" charset="0"/>
                  <a:cs typeface="Times New Roman" pitchFamily="18" charset="0"/>
                </a:rPr>
                <a:t>McArthur et al., 2012</a:t>
              </a:r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25903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/>
          <p:cNvPicPr>
            <a:picLocks noChangeAspect="1" noChangeArrowheads="1"/>
          </p:cNvPicPr>
          <p:nvPr/>
        </p:nvPicPr>
        <p:blipFill>
          <a:blip r:embed="rId2" cstate="print"/>
          <a:srcRect l="2786" t="11277" r="53564" b="32252"/>
          <a:stretch>
            <a:fillRect/>
          </a:stretch>
        </p:blipFill>
        <p:spPr>
          <a:xfrm>
            <a:off x="152400" y="1143000"/>
            <a:ext cx="4377266" cy="3352800"/>
          </a:xfrm>
          <a:prstGeom prst="rect">
            <a:avLst/>
          </a:prstGeom>
          <a:noFill/>
          <a:ln/>
        </p:spPr>
      </p:pic>
      <p:pic>
        <p:nvPicPr>
          <p:cNvPr id="3" name="Picture 4"/>
          <p:cNvPicPr>
            <a:picLocks noChangeAspect="1" noChangeArrowheads="1"/>
          </p:cNvPicPr>
          <p:nvPr/>
        </p:nvPicPr>
        <p:blipFill>
          <a:blip r:embed="rId2" cstate="print"/>
          <a:srcRect l="46436" t="25395" b="8723"/>
          <a:stretch>
            <a:fillRect/>
          </a:stretch>
        </p:blipFill>
        <p:spPr>
          <a:xfrm>
            <a:off x="4191000" y="1371600"/>
            <a:ext cx="4775775" cy="3477855"/>
          </a:xfrm>
          <a:prstGeom prst="rect">
            <a:avLst/>
          </a:prstGeom>
          <a:noFill/>
          <a:ln/>
        </p:spPr>
      </p:pic>
      <p:sp>
        <p:nvSpPr>
          <p:cNvPr id="4" name="Rectangle 2"/>
          <p:cNvSpPr txBox="1">
            <a:spLocks noRot="1" noChangeArrowheads="1"/>
          </p:cNvSpPr>
          <p:nvPr/>
        </p:nvSpPr>
        <p:spPr>
          <a:xfrm>
            <a:off x="762000" y="4800600"/>
            <a:ext cx="41148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Fractionation of Rb/Sr between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upper mantle and continental crust</a:t>
            </a: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sp>
        <p:nvSpPr>
          <p:cNvPr id="5" name="Rectangle 2"/>
          <p:cNvSpPr txBox="1">
            <a:spLocks noRot="1" noChangeArrowheads="1"/>
          </p:cNvSpPr>
          <p:nvPr/>
        </p:nvSpPr>
        <p:spPr>
          <a:xfrm>
            <a:off x="5257800" y="4876800"/>
            <a:ext cx="3276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Evolution of  </a:t>
            </a:r>
            <a:r>
              <a:rPr lang="en-US" b="1" baseline="30000" dirty="0">
                <a:latin typeface="Times New Roman" pitchFamily="18" charset="0"/>
              </a:rPr>
              <a:t>87</a:t>
            </a:r>
            <a:r>
              <a:rPr lang="en-US" b="1" dirty="0">
                <a:latin typeface="Times New Roman" pitchFamily="18" charset="0"/>
              </a:rPr>
              <a:t>Sr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/ </a:t>
            </a:r>
            <a:r>
              <a:rPr lang="en-US" b="1" baseline="30000" dirty="0">
                <a:latin typeface="Times New Roman" pitchFamily="18" charset="0"/>
              </a:rPr>
              <a:t>86</a:t>
            </a:r>
            <a:r>
              <a:rPr lang="en-US" b="1" dirty="0">
                <a:latin typeface="Times New Roman" pitchFamily="18" charset="0"/>
              </a:rPr>
              <a:t>Sr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ratio from bulk earth ration since fractionation</a:t>
            </a: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7343507" y="6324600"/>
            <a:ext cx="180049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Elderfield, 1985  </a:t>
            </a:r>
          </a:p>
        </p:txBody>
      </p:sp>
      <p:sp>
        <p:nvSpPr>
          <p:cNvPr id="7" name="Rectangle 2"/>
          <p:cNvSpPr txBox="1">
            <a:spLocks noRot="1" noChangeArrowheads="1"/>
          </p:cNvSpPr>
          <p:nvPr/>
        </p:nvSpPr>
        <p:spPr>
          <a:xfrm>
            <a:off x="228600" y="0"/>
            <a:ext cx="8686800" cy="103505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Evolution of Strontium Isotope</a:t>
            </a:r>
            <a:r>
              <a:rPr kumimoji="0" lang="en-US" sz="36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ratios</a:t>
            </a:r>
            <a:b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</a:b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001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 txBox="1">
            <a:spLocks noRot="1" noChangeArrowheads="1"/>
          </p:cNvSpPr>
          <p:nvPr/>
        </p:nvSpPr>
        <p:spPr>
          <a:xfrm>
            <a:off x="381000" y="0"/>
            <a:ext cx="8458200" cy="88265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latin typeface="Times New Roman" pitchFamily="18" charset="0"/>
                <a:ea typeface="+mj-ea"/>
                <a:cs typeface="Times New Roman" pitchFamily="18" charset="0"/>
              </a:rPr>
              <a:t>G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eochemical</a:t>
            </a:r>
            <a:r>
              <a:rPr kumimoji="0" lang="en-US" sz="36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 cycle of strontium</a:t>
            </a: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7343507" y="6324600"/>
            <a:ext cx="180049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Elderfield, 1985  </a:t>
            </a:r>
          </a:p>
        </p:txBody>
      </p:sp>
      <p:pic>
        <p:nvPicPr>
          <p:cNvPr id="6" name="Google Shape;105;p18"/>
          <p:cNvPicPr preferRelativeResize="0"/>
          <p:nvPr/>
        </p:nvPicPr>
        <p:blipFill>
          <a:blip r:embed="rId2" cstate="print">
            <a:alphaModFix/>
          </a:blip>
          <a:stretch>
            <a:fillRect/>
          </a:stretch>
        </p:blipFill>
        <p:spPr>
          <a:xfrm>
            <a:off x="609600" y="1143000"/>
            <a:ext cx="8247625" cy="4419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34403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685800" y="304800"/>
            <a:ext cx="7924800" cy="838200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latin typeface="Times New Roman" pitchFamily="18" charset="0"/>
                <a:cs typeface="Times New Roman" pitchFamily="18" charset="0"/>
              </a:rPr>
              <a:t>Estimated values of Strontium Isotopes </a:t>
            </a:r>
            <a:br>
              <a:rPr lang="en-US" sz="3600" dirty="0"/>
            </a:br>
            <a:endParaRPr lang="en-IN" sz="3600" dirty="0"/>
          </a:p>
        </p:txBody>
      </p:sp>
      <p:sp>
        <p:nvSpPr>
          <p:cNvPr id="118789" name="Rectangle 5"/>
          <p:cNvSpPr>
            <a:spLocks noChangeArrowheads="1"/>
          </p:cNvSpPr>
          <p:nvPr/>
        </p:nvSpPr>
        <p:spPr bwMode="auto">
          <a:xfrm>
            <a:off x="611188" y="6145213"/>
            <a:ext cx="85328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r>
              <a:rPr lang="en-US" sz="1800">
                <a:latin typeface="Arial" pitchFamily="34" charset="0"/>
              </a:rPr>
              <a:t>       </a:t>
            </a:r>
            <a:endParaRPr lang="en-US" sz="1200">
              <a:latin typeface="Arial" pitchFamily="34" charset="0"/>
            </a:endParaRPr>
          </a:p>
        </p:txBody>
      </p:sp>
      <p:sp>
        <p:nvSpPr>
          <p:cNvPr id="1187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381000" y="762000"/>
            <a:ext cx="8458200" cy="4754563"/>
          </a:xfrm>
        </p:spPr>
        <p:txBody>
          <a:bodyPr/>
          <a:lstStyle/>
          <a:p>
            <a:pPr>
              <a:lnSpc>
                <a:spcPct val="150000"/>
              </a:lnSpc>
              <a:buFont typeface="Wingdings" pitchFamily="2" charset="2"/>
              <a:buNone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Primordial 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87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Sr/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86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 ratio  ~0.699</a:t>
            </a:r>
            <a:r>
              <a:rPr lang="en-IN" sz="2800" dirty="0">
                <a:latin typeface="Times New Roman" pitchFamily="18" charset="0"/>
                <a:cs typeface="Times New Roman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Strontium- depleted ocean basalts ~ 0.703</a:t>
            </a:r>
            <a:r>
              <a:rPr lang="en-IN" sz="2800" dirty="0">
                <a:latin typeface="Times New Roman" pitchFamily="18" charset="0"/>
                <a:cs typeface="Times New Roman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Strontium- enriched continental rocks ~0.701 to 0.740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Modern seawater has 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87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Sr/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86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  ~0.709</a:t>
            </a:r>
            <a:endParaRPr lang="en-IN" sz="28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448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0" y="304800"/>
            <a:ext cx="9144000" cy="1295400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Applicability of Strontium for chemostratigraphy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5288" y="1773238"/>
            <a:ext cx="8748712" cy="4094162"/>
          </a:xfrm>
        </p:spPr>
        <p:txBody>
          <a:bodyPr>
            <a:normAutofit fontScale="92500"/>
          </a:bodyPr>
          <a:lstStyle/>
          <a:p>
            <a:pPr marL="0" lvl="0" indent="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endParaRPr lang="en-US" sz="28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lnSpc>
                <a:spcPct val="90000"/>
              </a:lnSpc>
            </a:pP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Sr Ocean Residence Time (</a:t>
            </a:r>
            <a:r>
              <a:rPr lang="en-IN" sz="2800" kern="0" baseline="30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87</a:t>
            </a: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Sr): ~4 x 10</a:t>
            </a:r>
            <a:r>
              <a:rPr lang="en-IN" sz="2800" kern="0" baseline="30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6</a:t>
            </a: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yrs</a:t>
            </a:r>
          </a:p>
          <a:p>
            <a:pPr marL="0" lvl="0" indent="0" algn="just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   Ocean Mixing Time: ~10</a:t>
            </a:r>
            <a:r>
              <a:rPr lang="en-IN" sz="2800" kern="0" baseline="30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3</a:t>
            </a: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yrs</a:t>
            </a:r>
          </a:p>
          <a:p>
            <a:pPr marL="0" lvl="0" indent="0" algn="just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   Well-mixed with Sr at any point of time.</a:t>
            </a:r>
          </a:p>
          <a:p>
            <a:pPr marL="0" lvl="0" indent="0" algn="just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endParaRPr lang="en-IN" sz="2800" kern="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algn="just">
              <a:lnSpc>
                <a:spcPct val="16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Negligible/near about absent effects of isotope fractionation</a:t>
            </a:r>
          </a:p>
          <a:p>
            <a:pPr algn="just">
              <a:lnSpc>
                <a:spcPct val="90000"/>
              </a:lnSpc>
              <a:buNone/>
            </a:pPr>
            <a:endParaRPr lang="en-US" sz="28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lnSpc>
                <a:spcPct val="9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Absence of 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87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Rb in carbonate phase</a:t>
            </a:r>
            <a:r>
              <a:rPr lang="en-IN" sz="2800" dirty="0">
                <a:latin typeface="Times New Roman" pitchFamily="18" charset="0"/>
                <a:cs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4168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990600" y="76200"/>
            <a:ext cx="6553200" cy="685800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Strontium Isotope Stratigraphy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2400" y="1066800"/>
            <a:ext cx="8763000" cy="5105400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90000"/>
              </a:lnSpc>
            </a:pPr>
            <a:endParaRPr lang="en-IN" sz="800" dirty="0"/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r>
              <a:rPr lang="en-IN" sz="9600" dirty="0">
                <a:latin typeface="Times New Roman" pitchFamily="18" charset="0"/>
              </a:rPr>
              <a:t>Strontium isotope stratigraphy relies on recognised variations in the </a:t>
            </a:r>
            <a:r>
              <a:rPr lang="en-US" sz="9600" baseline="30000" dirty="0">
                <a:latin typeface="Times New Roman" pitchFamily="18" charset="0"/>
              </a:rPr>
              <a:t>87</a:t>
            </a:r>
            <a:r>
              <a:rPr lang="en-US" sz="9600" dirty="0">
                <a:latin typeface="Times New Roman" pitchFamily="18" charset="0"/>
              </a:rPr>
              <a:t>Sr/</a:t>
            </a:r>
            <a:r>
              <a:rPr lang="en-US" sz="9600" baseline="30000" dirty="0">
                <a:latin typeface="Times New Roman" pitchFamily="18" charset="0"/>
              </a:rPr>
              <a:t>86</a:t>
            </a:r>
            <a:r>
              <a:rPr lang="en-US" sz="9600" dirty="0">
                <a:latin typeface="Times New Roman" pitchFamily="18" charset="0"/>
              </a:rPr>
              <a:t>Sr</a:t>
            </a:r>
            <a:r>
              <a:rPr lang="en-IN" sz="9600" dirty="0">
                <a:latin typeface="Times New Roman" pitchFamily="18" charset="0"/>
              </a:rPr>
              <a:t> ratio of seawater over time.</a:t>
            </a:r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endParaRPr lang="en-IN" sz="9600" dirty="0">
              <a:latin typeface="Times New Roman" pitchFamily="18" charset="0"/>
            </a:endParaRPr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r>
              <a:rPr lang="en-IN" sz="9600" dirty="0">
                <a:latin typeface="Times New Roman" pitchFamily="18" charset="0"/>
              </a:rPr>
              <a:t>Using the more conventional biostratigraphic correlation techniques we can create high resolution stratigraphy of marine sedimentary sections.</a:t>
            </a:r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endParaRPr lang="en-IN" sz="9600" dirty="0">
              <a:latin typeface="Times New Roman" pitchFamily="18" charset="0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  <a:buFont typeface="Wingdings" pitchFamily="2" charset="2"/>
              <a:buChar char="Ø"/>
            </a:pPr>
            <a:r>
              <a:rPr lang="en-US" sz="9600" baseline="30000" dirty="0">
                <a:latin typeface="Times New Roman" pitchFamily="18" charset="0"/>
              </a:rPr>
              <a:t>87</a:t>
            </a:r>
            <a:r>
              <a:rPr lang="en-US" sz="9600" dirty="0">
                <a:latin typeface="Times New Roman" pitchFamily="18" charset="0"/>
              </a:rPr>
              <a:t>Sr/</a:t>
            </a:r>
            <a:r>
              <a:rPr lang="en-US" sz="9600" baseline="30000" dirty="0">
                <a:latin typeface="Times New Roman" pitchFamily="18" charset="0"/>
              </a:rPr>
              <a:t>86</a:t>
            </a:r>
            <a:r>
              <a:rPr lang="en-US" sz="9600" dirty="0">
                <a:latin typeface="Times New Roman" pitchFamily="18" charset="0"/>
              </a:rPr>
              <a:t>Sr in a mineral precipitated from seawater, such as biogenic carbonate, micrite or a marine-derived evaporite, can be used to determine depositional age by comparison to a empirical calibrated curve of </a:t>
            </a:r>
            <a:r>
              <a:rPr lang="en-US" sz="9600" baseline="30000" dirty="0">
                <a:latin typeface="Times New Roman" pitchFamily="18" charset="0"/>
              </a:rPr>
              <a:t>87</a:t>
            </a:r>
            <a:r>
              <a:rPr lang="en-US" sz="9600" dirty="0">
                <a:latin typeface="Times New Roman" pitchFamily="18" charset="0"/>
              </a:rPr>
              <a:t>Sr/</a:t>
            </a:r>
            <a:r>
              <a:rPr lang="en-US" sz="9600" baseline="30000" dirty="0">
                <a:latin typeface="Times New Roman" pitchFamily="18" charset="0"/>
              </a:rPr>
              <a:t>86</a:t>
            </a:r>
            <a:r>
              <a:rPr lang="en-US" sz="9600" dirty="0">
                <a:latin typeface="Times New Roman" pitchFamily="18" charset="0"/>
              </a:rPr>
              <a:t>Sr against time.</a:t>
            </a:r>
            <a:endParaRPr lang="en-IN" sz="9600" dirty="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56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274638"/>
            <a:ext cx="8763000" cy="1143000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Change in Isotope ratio throughout Phanerozoic time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7107" name="Picture 3"/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 cstate="print"/>
          <a:srcRect/>
          <a:stretch>
            <a:fillRect/>
          </a:stretch>
        </p:blipFill>
        <p:spPr>
          <a:xfrm>
            <a:off x="838200" y="1557338"/>
            <a:ext cx="7981950" cy="4288023"/>
          </a:xfrm>
        </p:spPr>
      </p:pic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7665916" y="6443246"/>
            <a:ext cx="132568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Veizer , 1989 </a:t>
            </a:r>
            <a:endParaRPr lang="en-IN" sz="16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293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0"/>
            <a:ext cx="8610600" cy="838200"/>
          </a:xfrm>
        </p:spPr>
        <p:txBody>
          <a:bodyPr>
            <a:normAutofit fontScale="90000"/>
          </a:bodyPr>
          <a:lstStyle/>
          <a:p>
            <a:r>
              <a:rPr lang="en-US" sz="3600" b="1" dirty="0" err="1">
                <a:latin typeface="Times New Roman" pitchFamily="18" charset="0"/>
                <a:cs typeface="Times New Roman" pitchFamily="18" charset="0"/>
              </a:rPr>
              <a:t>Lowess</a:t>
            </a:r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 curve and its use in Isotope Stratigraphy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915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49158" name="Rectangle 6"/>
          <p:cNvSpPr>
            <a:spLocks noChangeArrowheads="1"/>
          </p:cNvSpPr>
          <p:nvPr/>
        </p:nvSpPr>
        <p:spPr bwMode="auto">
          <a:xfrm>
            <a:off x="1219200" y="6477000"/>
            <a:ext cx="7924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IN" sz="1600" dirty="0">
                <a:latin typeface="Times New Roman" pitchFamily="18" charset="0"/>
                <a:cs typeface="Times New Roman" pitchFamily="18" charset="0"/>
              </a:rPr>
              <a:t>LOWESS fit for the period 0-610 Ma with 95% confidence bounds.  McArthur et al., 2001</a:t>
            </a:r>
          </a:p>
        </p:txBody>
      </p:sp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313" y="914401"/>
            <a:ext cx="8447087" cy="553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64465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>
            <a:spLocks noGrp="1"/>
          </p:cNvSpPr>
          <p:nvPr>
            <p:ph type="title"/>
          </p:nvPr>
        </p:nvSpPr>
        <p:spPr>
          <a:xfrm>
            <a:off x="0" y="76200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120" b="1" dirty="0">
                <a:latin typeface="Tahoma"/>
                <a:ea typeface="Tahoma"/>
                <a:cs typeface="Tahoma"/>
                <a:sym typeface="Tahoma"/>
              </a:rPr>
              <a:t>Ideal Materials for SIS</a:t>
            </a:r>
            <a:endParaRPr sz="3120" b="1" dirty="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4" name="Google Shape;134;p22"/>
          <p:cNvSpPr txBox="1">
            <a:spLocks noGrp="1"/>
          </p:cNvSpPr>
          <p:nvPr>
            <p:ph type="body" idx="1"/>
          </p:nvPr>
        </p:nvSpPr>
        <p:spPr>
          <a:xfrm>
            <a:off x="0" y="914400"/>
            <a:ext cx="6629400" cy="52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Samples must have high potential for retaining their original marine strontium isotope ratios.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High registance to Diagenesis. 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Shells of Mg Calcitic composition yields narrow uncertainty bands.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Secondary Alteration are found and diagnosed beforehand to avoid mistaken results.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Foraminiferal, Belemnite Guards and Bivalve Shells  etc.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 cstate="print">
            <a:alphaModFix/>
          </a:blip>
          <a:stretch>
            <a:fillRect/>
          </a:stretch>
        </p:blipFill>
        <p:spPr>
          <a:xfrm>
            <a:off x="6607454" y="990600"/>
            <a:ext cx="2276475" cy="227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2"/>
          <p:cNvPicPr preferRelativeResize="0"/>
          <p:nvPr/>
        </p:nvPicPr>
        <p:blipFill>
          <a:blip r:embed="rId4" cstate="print">
            <a:alphaModFix/>
          </a:blip>
          <a:stretch>
            <a:fillRect/>
          </a:stretch>
        </p:blipFill>
        <p:spPr>
          <a:xfrm>
            <a:off x="6621741" y="4098432"/>
            <a:ext cx="2247900" cy="19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2"/>
          <p:cNvSpPr txBox="1"/>
          <p:nvPr/>
        </p:nvSpPr>
        <p:spPr>
          <a:xfrm>
            <a:off x="6347400" y="3231166"/>
            <a:ext cx="27966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 dirty="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Bivalve shell</a:t>
            </a:r>
            <a:endParaRPr sz="1700"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6347388" y="6028832"/>
            <a:ext cx="27966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Belemnite</a:t>
            </a:r>
            <a:endParaRPr sz="1700"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196184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9E1944-7DBE-4094-854A-20B6542FF9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74" t="2754" r="6064"/>
          <a:stretch/>
        </p:blipFill>
        <p:spPr>
          <a:xfrm>
            <a:off x="1143000" y="1597572"/>
            <a:ext cx="7086601" cy="5382846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70A6D19D-A129-47DB-929A-EAA30D052E66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-762000" y="152400"/>
            <a:ext cx="10363200" cy="1295400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Applicability of Strontium for Weathering 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989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28A94C2-0502-4984-9056-AF9FC6118EC0}"/>
              </a:ext>
            </a:extLst>
          </p:cNvPr>
          <p:cNvGrpSpPr/>
          <p:nvPr/>
        </p:nvGrpSpPr>
        <p:grpSpPr>
          <a:xfrm>
            <a:off x="76200" y="730250"/>
            <a:ext cx="9067800" cy="4984750"/>
            <a:chOff x="76200" y="730250"/>
            <a:chExt cx="9067800" cy="4984750"/>
          </a:xfrm>
        </p:grpSpPr>
        <p:pic>
          <p:nvPicPr>
            <p:cNvPr id="17410" name="Picture 4" descr="C:\Documents and Settings\German\My Documents\Paleoclimate-Class\Radiocarbon\lect08_datingmethods.jpg">
              <a:extLst>
                <a:ext uri="{FF2B5EF4-FFF2-40B4-BE49-F238E27FC236}">
                  <a16:creationId xmlns:a16="http://schemas.microsoft.com/office/drawing/2014/main" id="{1004414D-D98D-403C-89AF-4F30E04764E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212"/>
            <a:stretch/>
          </p:blipFill>
          <p:spPr bwMode="auto">
            <a:xfrm>
              <a:off x="323850" y="730250"/>
              <a:ext cx="8820150" cy="4984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457ECE2F-4A6F-467E-B9B1-8AE6598B7AA1}"/>
                </a:ext>
              </a:extLst>
            </p:cNvPr>
            <p:cNvSpPr/>
            <p:nvPr/>
          </p:nvSpPr>
          <p:spPr>
            <a:xfrm>
              <a:off x="76200" y="1066800"/>
              <a:ext cx="4038600" cy="2743200"/>
            </a:xfrm>
            <a:prstGeom prst="ellipse">
              <a:avLst/>
            </a:prstGeom>
            <a:solidFill>
              <a:schemeClr val="accent1">
                <a:alpha val="27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>
            <a:extLst>
              <a:ext uri="{FF2B5EF4-FFF2-40B4-BE49-F238E27FC236}">
                <a16:creationId xmlns:a16="http://schemas.microsoft.com/office/drawing/2014/main" id="{5B092D29-7483-47D3-B051-50E039BF97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539750"/>
            <a:ext cx="3810000" cy="62484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284163" indent="-284163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C. How it works (radioactive decay)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1. Decay rates of radioactive atoms are constant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2. Unaffected by temperature, pressure, water, etc.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3. Half Life: time it takes for half the atoms of the parent isotope to decay, ranges from tens of billions of years to thousandths of a second.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Percentage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of parent atoms that decay in each half life is the same (50%)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actual number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of atoms that decay with each passing half-life continually decreases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FED16648-91D4-470B-8237-73F80C1C05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pic>
        <p:nvPicPr>
          <p:cNvPr id="19460" name="Picture 6" descr="raddecay2[1]">
            <a:extLst>
              <a:ext uri="{FF2B5EF4-FFF2-40B4-BE49-F238E27FC236}">
                <a16:creationId xmlns:a16="http://schemas.microsoft.com/office/drawing/2014/main" id="{2E0A14DD-F3F5-4302-AE9E-E9F48F660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838200"/>
            <a:ext cx="3992563" cy="472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Rectangle 7">
            <a:extLst>
              <a:ext uri="{FF2B5EF4-FFF2-40B4-BE49-F238E27FC236}">
                <a16:creationId xmlns:a16="http://schemas.microsoft.com/office/drawing/2014/main" id="{29FA1D59-8C49-4DD1-924C-F9AC09AAA9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42875"/>
            <a:ext cx="8834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Arial" panose="020B0604020202020204" pitchFamily="34" charset="0"/>
              </a:rPr>
              <a:t>Principles of  Radiometric Dating</a:t>
            </a:r>
          </a:p>
        </p:txBody>
      </p:sp>
      <p:sp>
        <p:nvSpPr>
          <p:cNvPr id="19462" name="Rectangle 8">
            <a:extLst>
              <a:ext uri="{FF2B5EF4-FFF2-40B4-BE49-F238E27FC236}">
                <a16:creationId xmlns:a16="http://schemas.microsoft.com/office/drawing/2014/main" id="{A6036D96-0466-4E14-BE14-AE6ACFAB2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791200"/>
            <a:ext cx="2667000" cy="641350"/>
          </a:xfrm>
          <a:prstGeom prst="rect">
            <a:avLst/>
          </a:prstGeom>
          <a:solidFill>
            <a:srgbClr val="FFCC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8000"/>
                </a:solidFill>
                <a:latin typeface="Arial" panose="020B0604020202020204" pitchFamily="34" charset="0"/>
              </a:rPr>
              <a:t>Increase in daughter = decrease in parent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2">
            <a:extLst>
              <a:ext uri="{FF2B5EF4-FFF2-40B4-BE49-F238E27FC236}">
                <a16:creationId xmlns:a16="http://schemas.microsoft.com/office/drawing/2014/main" id="{5B6DB145-3C66-463C-98AB-F13B5922C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533400"/>
            <a:ext cx="3657600" cy="5578475"/>
          </a:xfrm>
          <a:prstGeom prst="rect">
            <a:avLst/>
          </a:prstGeom>
          <a:solidFill>
            <a:srgbClr val="FFCC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7663" indent="-347663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AutoNum type="alphaUcPeriod" startAt="3"/>
            </a:pPr>
            <a:r>
              <a:rPr lang="en-US" altLang="en-US" sz="2000">
                <a:latin typeface="Arial" panose="020B0604020202020204" pitchFamily="34" charset="0"/>
              </a:rPr>
              <a:t>How it works (radioactive decay)</a:t>
            </a:r>
          </a:p>
          <a:p>
            <a:pPr eaLnBrk="1" hangingPunct="1">
              <a:spcBef>
                <a:spcPct val="0"/>
              </a:spcBef>
              <a:buFontTx/>
              <a:buAutoNum type="alphaUcPeriod" startAt="3"/>
            </a:pPr>
            <a:endParaRPr lang="en-US" altLang="en-US" sz="20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Arial" panose="020B0604020202020204" pitchFamily="34" charset="0"/>
              </a:rPr>
              <a:t>4. When mineral crystallizes (e.g., zircon mineral)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Arial" panose="020B0604020202020204" pitchFamily="34" charset="0"/>
              </a:rPr>
              <a:t>a. some amount of radioactive parent may get incorporated into the mineral structure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Arial" panose="020B0604020202020204" pitchFamily="34" charset="0"/>
              </a:rPr>
              <a:t>b. but daughter is different element and doesn’t “fit” in the structure (or inert and won’t combine), so at the time of formation there is 100% parent and 0% daughter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8E475BAC-18D9-4901-BF26-124F40932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pic>
        <p:nvPicPr>
          <p:cNvPr id="21508" name="Picture 5" descr="c08_08_10">
            <a:extLst>
              <a:ext uri="{FF2B5EF4-FFF2-40B4-BE49-F238E27FC236}">
                <a16:creationId xmlns:a16="http://schemas.microsoft.com/office/drawing/2014/main" id="{2B797C5A-01AA-418F-9949-3E86F7F3E333}"/>
              </a:ext>
            </a:extLst>
          </p:cNvPr>
          <p:cNvPicPr preferRelativeResize="0"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955675"/>
            <a:ext cx="5105400" cy="39973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509" name="Rectangle 7">
            <a:extLst>
              <a:ext uri="{FF2B5EF4-FFF2-40B4-BE49-F238E27FC236}">
                <a16:creationId xmlns:a16="http://schemas.microsoft.com/office/drawing/2014/main" id="{012EB5E1-87B9-4AD6-AADC-8E6709F5A3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228600"/>
            <a:ext cx="8834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Arial" panose="020B0604020202020204" pitchFamily="34" charset="0"/>
              </a:rPr>
              <a:t>I. Principles of Numerical Dating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5" descr="0819ageofrock[1]">
            <a:extLst>
              <a:ext uri="{FF2B5EF4-FFF2-40B4-BE49-F238E27FC236}">
                <a16:creationId xmlns:a16="http://schemas.microsoft.com/office/drawing/2014/main" id="{1B6456A6-FDAC-4ED5-9858-2CA7CB15E2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88"/>
          <a:stretch>
            <a:fillRect/>
          </a:stretch>
        </p:blipFill>
        <p:spPr bwMode="auto">
          <a:xfrm>
            <a:off x="304800" y="1450975"/>
            <a:ext cx="4876800" cy="4875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5" name="Rectangle 6">
            <a:extLst>
              <a:ext uri="{FF2B5EF4-FFF2-40B4-BE49-F238E27FC236}">
                <a16:creationId xmlns:a16="http://schemas.microsoft.com/office/drawing/2014/main" id="{CDF41C45-1EE0-40E5-9304-473EF2A06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58197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Principles of Numerical Dating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ext Box 2">
            <a:extLst>
              <a:ext uri="{FF2B5EF4-FFF2-40B4-BE49-F238E27FC236}">
                <a16:creationId xmlns:a16="http://schemas.microsoft.com/office/drawing/2014/main" id="{8BBF6655-722C-4BE3-A7A7-F6A507EE92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152400"/>
            <a:ext cx="3733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7663" indent="-347663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3BC579EF-4B19-446D-AB30-4F32D59DF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pic>
        <p:nvPicPr>
          <p:cNvPr id="25604" name="Picture 6" descr="FISSIONapatite">
            <a:extLst>
              <a:ext uri="{FF2B5EF4-FFF2-40B4-BE49-F238E27FC236}">
                <a16:creationId xmlns:a16="http://schemas.microsoft.com/office/drawing/2014/main" id="{5CB16641-9FA1-4880-904C-6345C3B37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" t="1234" r="980" b="1234"/>
          <a:stretch>
            <a:fillRect/>
          </a:stretch>
        </p:blipFill>
        <p:spPr bwMode="auto">
          <a:xfrm>
            <a:off x="228600" y="1219200"/>
            <a:ext cx="4419600" cy="441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605" name="Text Box 7">
            <a:extLst>
              <a:ext uri="{FF2B5EF4-FFF2-40B4-BE49-F238E27FC236}">
                <a16:creationId xmlns:a16="http://schemas.microsoft.com/office/drawing/2014/main" id="{20AB1F5B-0BA0-41BB-B9AB-384F44F58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685800"/>
            <a:ext cx="3840163" cy="5283200"/>
          </a:xfrm>
          <a:prstGeom prst="rect">
            <a:avLst/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altLang="en-US" sz="2000">
                <a:latin typeface="Arial" panose="020B0604020202020204" pitchFamily="34" charset="0"/>
              </a:rPr>
              <a:t>Radioactive isotopes are incorporated in minerals and rocks in a variety of ways.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endParaRPr lang="en-US" altLang="en-US" sz="20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altLang="en-US" sz="2000">
                <a:latin typeface="Arial" panose="020B0604020202020204" pitchFamily="34" charset="0"/>
              </a:rPr>
              <a:t>As minerals crystallize from magma, radioactive isotopes are included in mineral crystal structure.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endParaRPr lang="en-US" altLang="en-US" sz="20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altLang="en-US" sz="2000">
                <a:latin typeface="Arial" panose="020B0604020202020204" pitchFamily="34" charset="0"/>
              </a:rPr>
              <a:t>At the time of crystallization, only parent isotopes are included in the mineral.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endParaRPr lang="en-US" altLang="en-US" sz="20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altLang="en-US" sz="2000">
                <a:latin typeface="Arial" panose="020B0604020202020204" pitchFamily="34" charset="0"/>
              </a:rPr>
              <a:t>Radioactive parent isotopes then begin to decay producing daughter isotopes.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§"/>
            </a:pPr>
            <a:endParaRPr lang="en-US" altLang="en-US" sz="2000">
              <a:latin typeface="Arial" panose="020B0604020202020204" pitchFamily="34" charset="0"/>
            </a:endParaRPr>
          </a:p>
        </p:txBody>
      </p:sp>
      <p:sp>
        <p:nvSpPr>
          <p:cNvPr id="25606" name="Rectangle 8">
            <a:extLst>
              <a:ext uri="{FF2B5EF4-FFF2-40B4-BE49-F238E27FC236}">
                <a16:creationId xmlns:a16="http://schemas.microsoft.com/office/drawing/2014/main" id="{99972C7F-B828-4FC1-88C0-387526E925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228600"/>
            <a:ext cx="88344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Principles of Numerical Dating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ext Box 2">
            <a:extLst>
              <a:ext uri="{FF2B5EF4-FFF2-40B4-BE49-F238E27FC236}">
                <a16:creationId xmlns:a16="http://schemas.microsoft.com/office/drawing/2014/main" id="{76CD68C8-495C-4B0B-9651-0DFC1EECF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838200"/>
            <a:ext cx="3657600" cy="4708525"/>
          </a:xfrm>
          <a:prstGeom prst="rect">
            <a:avLst/>
          </a:prstGeom>
          <a:solidFill>
            <a:srgbClr val="CC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284163" indent="-227013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D. Dating Rocks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AutoNum type="arabicPeriod"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Igneous rocks – the best!  Dates when the minerals formed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</a:pP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2. Metamorphic: during metamorphism ions can migrate, so dating tells us when metamorphism ended.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3. Sedimentary rocks: more errors because it dates the age of the individual pieces, gives maximum age</a:t>
            </a:r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788ECB38-916F-4D8B-9EB6-527B040B2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pic>
        <p:nvPicPr>
          <p:cNvPr id="27652" name="Picture 5" descr="309850_p_08_21">
            <a:extLst>
              <a:ext uri="{FF2B5EF4-FFF2-40B4-BE49-F238E27FC236}">
                <a16:creationId xmlns:a16="http://schemas.microsoft.com/office/drawing/2014/main" id="{149B4FE9-07B8-4EC6-9042-F3D28ACD3B54}"/>
              </a:ext>
            </a:extLst>
          </p:cNvPr>
          <p:cNvPicPr preferRelativeResize="0"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838200"/>
            <a:ext cx="3971925" cy="5143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653" name="Rectangle 6">
            <a:extLst>
              <a:ext uri="{FF2B5EF4-FFF2-40B4-BE49-F238E27FC236}">
                <a16:creationId xmlns:a16="http://schemas.microsoft.com/office/drawing/2014/main" id="{19879EEB-2443-4390-9650-65E300FE61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228600"/>
            <a:ext cx="8834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>
                <a:latin typeface="Arial" panose="020B0604020202020204" pitchFamily="34" charset="0"/>
              </a:rPr>
              <a:t>I. Principles of Numerical Dating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3">
            <a:extLst>
              <a:ext uri="{FF2B5EF4-FFF2-40B4-BE49-F238E27FC236}">
                <a16:creationId xmlns:a16="http://schemas.microsoft.com/office/drawing/2014/main" id="{D243B011-5FD7-49CD-9B15-852B25A6E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</p:txBody>
      </p:sp>
      <p:pic>
        <p:nvPicPr>
          <p:cNvPr id="29699" name="Picture 5" descr="08_20a">
            <a:extLst>
              <a:ext uri="{FF2B5EF4-FFF2-40B4-BE49-F238E27FC236}">
                <a16:creationId xmlns:a16="http://schemas.microsoft.com/office/drawing/2014/main" id="{A6D90207-3D9B-4509-8B51-2ED11A70AC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401763"/>
            <a:ext cx="8534400" cy="3551237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</p:spPr>
      </p:pic>
      <p:sp>
        <p:nvSpPr>
          <p:cNvPr id="29700" name="Rectangle 7">
            <a:extLst>
              <a:ext uri="{FF2B5EF4-FFF2-40B4-BE49-F238E27FC236}">
                <a16:creationId xmlns:a16="http://schemas.microsoft.com/office/drawing/2014/main" id="{5F397522-0409-46C7-A8EB-8404CBA66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Principles of Numerical Dating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46" name="Picture 5" descr="08_20b">
            <a:extLst>
              <a:ext uri="{FF2B5EF4-FFF2-40B4-BE49-F238E27FC236}">
                <a16:creationId xmlns:a16="http://schemas.microsoft.com/office/drawing/2014/main" id="{2CD586AD-E293-4B5C-A629-CCBD46CF1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411288"/>
            <a:ext cx="8534400" cy="4456112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747" name="Rectangle 11">
            <a:extLst>
              <a:ext uri="{FF2B5EF4-FFF2-40B4-BE49-F238E27FC236}">
                <a16:creationId xmlns:a16="http://schemas.microsoft.com/office/drawing/2014/main" id="{1E0E9000-C620-4E11-8910-EC69BEC0F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latin typeface="Arial" panose="020B0604020202020204" pitchFamily="34" charset="0"/>
              </a:rPr>
              <a:t>I. Principles of Numerical Dating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94" name="Picture 5" descr="08_20c">
            <a:extLst>
              <a:ext uri="{FF2B5EF4-FFF2-40B4-BE49-F238E27FC236}">
                <a16:creationId xmlns:a16="http://schemas.microsoft.com/office/drawing/2014/main" id="{0F8A5CFB-5EAD-4DD6-9D84-AEBF2BE0F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838" y="1219200"/>
            <a:ext cx="7943850" cy="49037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5" name="Rectangle 12">
            <a:extLst>
              <a:ext uri="{FF2B5EF4-FFF2-40B4-BE49-F238E27FC236}">
                <a16:creationId xmlns:a16="http://schemas.microsoft.com/office/drawing/2014/main" id="{846F8621-A6CC-4781-88AB-0B0583119D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latin typeface="Arial" panose="020B0604020202020204" pitchFamily="34" charset="0"/>
              </a:rPr>
              <a:t>I. Principles of Numerical Dating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3">
            <a:extLst>
              <a:ext uri="{FF2B5EF4-FFF2-40B4-BE49-F238E27FC236}">
                <a16:creationId xmlns:a16="http://schemas.microsoft.com/office/drawing/2014/main" id="{D3E7E30C-68FA-47C7-91FC-6EDD08FA6A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</p:txBody>
      </p:sp>
      <p:pic>
        <p:nvPicPr>
          <p:cNvPr id="35843" name="Picture 5" descr="08_20d">
            <a:extLst>
              <a:ext uri="{FF2B5EF4-FFF2-40B4-BE49-F238E27FC236}">
                <a16:creationId xmlns:a16="http://schemas.microsoft.com/office/drawing/2014/main" id="{D78AA595-60A1-41BE-A789-F8CAF4C91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0" y="1216025"/>
            <a:ext cx="7724775" cy="4684713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ext Box 2">
            <a:extLst>
              <a:ext uri="{FF2B5EF4-FFF2-40B4-BE49-F238E27FC236}">
                <a16:creationId xmlns:a16="http://schemas.microsoft.com/office/drawing/2014/main" id="{3D9098EF-DDE0-480C-B0D5-5C3CCAB9CD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144463"/>
            <a:ext cx="3429000" cy="5908675"/>
          </a:xfrm>
          <a:prstGeom prst="rect">
            <a:avLst/>
          </a:prstGeom>
          <a:solidFill>
            <a:srgbClr val="CCE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228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latin typeface="Arial" panose="020B0604020202020204" pitchFamily="34" charset="0"/>
              </a:rPr>
              <a:t>Sources of Error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8000"/>
                </a:solidFill>
                <a:latin typeface="Arial" panose="020B0604020202020204" pitchFamily="34" charset="0"/>
              </a:rPr>
              <a:t>Groundwater</a:t>
            </a:r>
            <a:r>
              <a:rPr lang="en-US" altLang="en-US" sz="1800">
                <a:latin typeface="Arial" panose="020B0604020202020204" pitchFamily="34" charset="0"/>
              </a:rPr>
              <a:t> can bring in new ions and carry old ions away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chemeClr val="accent2"/>
                </a:solidFill>
                <a:latin typeface="Arial" panose="020B0604020202020204" pitchFamily="34" charset="0"/>
              </a:rPr>
              <a:t>Sample fractured and weathered rock</a:t>
            </a:r>
            <a:r>
              <a:rPr lang="en-US" altLang="en-US" sz="1800">
                <a:latin typeface="Arial" panose="020B0604020202020204" pitchFamily="34" charset="0"/>
              </a:rPr>
              <a:t>, makes the age of the rock too young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chemeClr val="accent2"/>
                </a:solidFill>
                <a:latin typeface="Arial" panose="020B0604020202020204" pitchFamily="34" charset="0"/>
              </a:rPr>
              <a:t>Very young rocks</a:t>
            </a:r>
            <a:r>
              <a:rPr lang="en-US" altLang="en-US" sz="1800">
                <a:latin typeface="Arial" panose="020B0604020202020204" pitchFamily="34" charset="0"/>
              </a:rPr>
              <a:t>: not enough time to accumulate daughter isotopes to be measured accurately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latin typeface="Arial" panose="020B0604020202020204" pitchFamily="34" charset="0"/>
              </a:rPr>
              <a:t>So we date many different samples and make sure the ages agree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latin typeface="Arial" panose="020B0604020202020204" pitchFamily="34" charset="0"/>
              </a:rPr>
              <a:t>We date using different dating methods to make sure they agree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68D5266F-3AEA-45D3-9F5A-8B845867F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</p:txBody>
      </p:sp>
      <p:pic>
        <p:nvPicPr>
          <p:cNvPr id="37892" name="Picture 5" descr="08_20b">
            <a:extLst>
              <a:ext uri="{FF2B5EF4-FFF2-40B4-BE49-F238E27FC236}">
                <a16:creationId xmlns:a16="http://schemas.microsoft.com/office/drawing/2014/main" id="{F5778F7B-6978-43A3-8DA4-4E851250D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1498600"/>
            <a:ext cx="5486400" cy="286385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893" name="Rectangle 7">
            <a:extLst>
              <a:ext uri="{FF2B5EF4-FFF2-40B4-BE49-F238E27FC236}">
                <a16:creationId xmlns:a16="http://schemas.microsoft.com/office/drawing/2014/main" id="{86A773EE-3E5F-4B3B-910B-6D35357FD0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latin typeface="Arial" panose="020B0604020202020204" pitchFamily="34" charset="0"/>
              </a:rPr>
              <a:t>Principles of Numerical Dating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3">
            <a:extLst>
              <a:ext uri="{FF2B5EF4-FFF2-40B4-BE49-F238E27FC236}">
                <a16:creationId xmlns:a16="http://schemas.microsoft.com/office/drawing/2014/main" id="{842F0B77-68D2-445B-9CFC-6B2ED43D74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76200"/>
            <a:ext cx="88344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Types of Isotope Dating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31CD5D9-77DA-4A22-AA8A-C2FBBDD35397}"/>
              </a:ext>
            </a:extLst>
          </p:cNvPr>
          <p:cNvGrpSpPr/>
          <p:nvPr/>
        </p:nvGrpSpPr>
        <p:grpSpPr>
          <a:xfrm>
            <a:off x="791397" y="962953"/>
            <a:ext cx="8077200" cy="3811262"/>
            <a:chOff x="791397" y="962953"/>
            <a:chExt cx="8077200" cy="3811262"/>
          </a:xfrm>
        </p:grpSpPr>
        <p:pic>
          <p:nvPicPr>
            <p:cNvPr id="39939" name="Picture 6" descr="image006[1]">
              <a:extLst>
                <a:ext uri="{FF2B5EF4-FFF2-40B4-BE49-F238E27FC236}">
                  <a16:creationId xmlns:a16="http://schemas.microsoft.com/office/drawing/2014/main" id="{3C4B18F2-4299-417E-821E-01B182D41E7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0615" r="3874" b="6403"/>
            <a:stretch/>
          </p:blipFill>
          <p:spPr bwMode="auto">
            <a:xfrm>
              <a:off x="791397" y="3486807"/>
              <a:ext cx="8077200" cy="1287408"/>
            </a:xfrm>
            <a:prstGeom prst="rect">
              <a:avLst/>
            </a:prstGeom>
            <a:solidFill>
              <a:srgbClr val="CCE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" name="Picture 6" descr="image006[1]">
              <a:extLst>
                <a:ext uri="{FF2B5EF4-FFF2-40B4-BE49-F238E27FC236}">
                  <a16:creationId xmlns:a16="http://schemas.microsoft.com/office/drawing/2014/main" id="{38BEF11B-7BAE-4643-89B8-495D8354DE5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874" b="54948"/>
            <a:stretch/>
          </p:blipFill>
          <p:spPr bwMode="auto">
            <a:xfrm>
              <a:off x="791397" y="962953"/>
              <a:ext cx="8077200" cy="2523854"/>
            </a:xfrm>
            <a:prstGeom prst="rect">
              <a:avLst/>
            </a:prstGeom>
            <a:solidFill>
              <a:srgbClr val="CCE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ext Box 2">
            <a:extLst>
              <a:ext uri="{FF2B5EF4-FFF2-40B4-BE49-F238E27FC236}">
                <a16:creationId xmlns:a16="http://schemas.microsoft.com/office/drawing/2014/main" id="{44600B6B-04A5-4AA9-BB16-059C493202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8724" y="495300"/>
            <a:ext cx="3429000" cy="3416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Radiocarbon dating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Naturally occurring isotope carbon-14 (</a:t>
            </a:r>
            <a:r>
              <a:rPr lang="en-US" altLang="en-US" sz="1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 to determine the age of carbonaceous materials up to about 50,000 years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(uncalibrated) radiocarbon ages are usually reported in radiocarbon years "Before Present" (BP)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555" name="Picture 5" descr="c08_08_11">
            <a:extLst>
              <a:ext uri="{FF2B5EF4-FFF2-40B4-BE49-F238E27FC236}">
                <a16:creationId xmlns:a16="http://schemas.microsoft.com/office/drawing/2014/main" id="{F5F235E8-8516-466C-9124-F9EDC6F224F1}"/>
              </a:ext>
            </a:extLst>
          </p:cNvPr>
          <p:cNvPicPr preferRelativeResize="0"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495300"/>
            <a:ext cx="5334000" cy="48815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C64290-6A5F-4B2F-895D-3E7890B32682}"/>
              </a:ext>
            </a:extLst>
          </p:cNvPr>
          <p:cNvSpPr txBox="1"/>
          <p:nvPr/>
        </p:nvSpPr>
        <p:spPr>
          <a:xfrm>
            <a:off x="2971800" y="2743200"/>
            <a:ext cx="3581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de-DE" altLang="en-US" sz="2400" b="1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Organic geochemistry</a:t>
            </a:r>
          </a:p>
        </p:txBody>
      </p:sp>
    </p:spTree>
    <p:extLst>
      <p:ext uri="{BB962C8B-B14F-4D97-AF65-F5344CB8AC3E}">
        <p14:creationId xmlns:p14="http://schemas.microsoft.com/office/powerpoint/2010/main" val="40094162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9D69E86-61E1-4855-8890-DD61FF7E5F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1143000"/>
            <a:ext cx="8686800" cy="36009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200000"/>
              </a:lnSpc>
              <a:spcAft>
                <a:spcPts val="800"/>
              </a:spcAft>
            </a:pPr>
            <a:r>
              <a:rPr lang="en-IN" sz="2000" dirty="0">
                <a:solidFill>
                  <a:schemeClr val="accent2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How do organic-rich deposits form? </a:t>
            </a:r>
          </a:p>
          <a:p>
            <a:pPr>
              <a:lnSpc>
                <a:spcPct val="200000"/>
              </a:lnSpc>
              <a:spcAft>
                <a:spcPts val="800"/>
              </a:spcAft>
            </a:pPr>
            <a:r>
              <a:rPr lang="en-IN" sz="2000" dirty="0">
                <a:solidFill>
                  <a:schemeClr val="accent2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 which environmental settings is organic matter predominantly deposited?</a:t>
            </a:r>
          </a:p>
          <a:p>
            <a:pPr>
              <a:lnSpc>
                <a:spcPct val="200000"/>
              </a:lnSpc>
              <a:spcAft>
                <a:spcPts val="800"/>
              </a:spcAft>
            </a:pPr>
            <a:r>
              <a:rPr lang="en-IN" sz="2000" dirty="0">
                <a:solidFill>
                  <a:schemeClr val="accent2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 What are the primary controlling factors influencing the deposition and preservation of organic matter in sedimentary environments?</a:t>
            </a:r>
          </a:p>
          <a:p>
            <a:pPr eaLnBrk="1" hangingPunct="1"/>
            <a:r>
              <a:rPr lang="de-DE" altLang="en-US" sz="2400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eaLnBrk="1" hangingPunct="1"/>
            <a:endParaRPr lang="de-DE" altLang="en-US" sz="2400" dirty="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17C43-D29E-4181-910B-349CA1821460}"/>
              </a:ext>
            </a:extLst>
          </p:cNvPr>
          <p:cNvSpPr txBox="1"/>
          <p:nvPr/>
        </p:nvSpPr>
        <p:spPr>
          <a:xfrm>
            <a:off x="622738" y="457200"/>
            <a:ext cx="3581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de-DE" altLang="en-US" sz="2400" b="1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Important questions</a:t>
            </a:r>
          </a:p>
        </p:txBody>
      </p:sp>
    </p:spTree>
    <p:extLst>
      <p:ext uri="{BB962C8B-B14F-4D97-AF65-F5344CB8AC3E}">
        <p14:creationId xmlns:p14="http://schemas.microsoft.com/office/powerpoint/2010/main" val="9428064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1D7BD5-88CB-4FF3-9058-AB0BB112CD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" y="533400"/>
            <a:ext cx="8991600" cy="4801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General condition for OM formation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High primary productivity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Low energy depositional environment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Absence of dilution by inputs of inorganic mineral matter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Presevation rather than degradation by detritivores and decomposers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3EED5-382C-41C9-AAAA-655DF64713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7048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Controls on primary production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de-DE" sz="20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Photosynthesis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           -Light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           -Water: </a:t>
            </a:r>
            <a:r>
              <a:rPr lang="en-US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provides a ready source of the hydrogen needed for aerobic photosynthesis</a:t>
            </a: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          - Temperature – solubility of CO</a:t>
            </a:r>
            <a:r>
              <a:rPr lang="de-DE" sz="2000" baseline="-25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2 </a:t>
            </a: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and inbit photosythesis by altering enzymes and cellular components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baseline="-25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           -Salinity: </a:t>
            </a:r>
            <a:r>
              <a:rPr lang="en-US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relatively few organisms can tolerate large fluctuations in salinity (e.g. where fresh water meets seawater in estuaries) and hypersaline conditions.</a:t>
            </a: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Box 2">
            <a:extLst>
              <a:ext uri="{FF2B5EF4-FFF2-40B4-BE49-F238E27FC236}">
                <a16:creationId xmlns:a16="http://schemas.microsoft.com/office/drawing/2014/main" id="{FD00964C-DCB6-477E-8F15-BDA4E5051F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" y="144434"/>
            <a:ext cx="89916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 sz="2400" b="1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  productivity</a:t>
            </a:r>
          </a:p>
          <a:p>
            <a:pPr eaLnBrk="1" hangingPunct="1"/>
            <a:endParaRPr lang="de-DE" altLang="en-US" sz="240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99" name="TextBox 3">
            <a:extLst>
              <a:ext uri="{FF2B5EF4-FFF2-40B4-BE49-F238E27FC236}">
                <a16:creationId xmlns:a16="http://schemas.microsoft.com/office/drawing/2014/main" id="{D5903155-593B-4E61-AFD6-3498345134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027738"/>
            <a:ext cx="89916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 sz="2000" b="1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Estimated primary productvity and biomass for various natural environments (sources: Whittaker and Likens 1975; DeVooys 1979)</a:t>
            </a:r>
          </a:p>
          <a:p>
            <a:pPr eaLnBrk="1" hangingPunct="1"/>
            <a:endParaRPr lang="de-DE" altLang="en-US" sz="240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647367-FC9F-4335-A909-FF3EB6D188E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70"/>
          <a:stretch/>
        </p:blipFill>
        <p:spPr>
          <a:xfrm>
            <a:off x="228600" y="1600199"/>
            <a:ext cx="8210934" cy="417767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Box 2">
            <a:extLst>
              <a:ext uri="{FF2B5EF4-FFF2-40B4-BE49-F238E27FC236}">
                <a16:creationId xmlns:a16="http://schemas.microsoft.com/office/drawing/2014/main" id="{389585B8-F64E-4C2F-890F-7F73D7B8FC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 sz="2400" b="1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Aquatic productvity</a:t>
            </a:r>
          </a:p>
          <a:p>
            <a:pPr eaLnBrk="1" hangingPunct="1"/>
            <a:endParaRPr lang="de-DE" altLang="en-US" sz="240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203AF3-3484-461B-9AC0-BD0410F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50" y="1447800"/>
            <a:ext cx="8794900" cy="298568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52A42C-0892-4195-9CFA-FE7D89F4E1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1662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Controls on primary production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2. Stratification of the water column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147" name="TextBox 2">
            <a:extLst>
              <a:ext uri="{FF2B5EF4-FFF2-40B4-BE49-F238E27FC236}">
                <a16:creationId xmlns:a16="http://schemas.microsoft.com/office/drawing/2014/main" id="{9685DB4F-508F-46A2-8520-70C116A919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5791200"/>
            <a:ext cx="8991600" cy="769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 sz="200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Stratification in Ocean and Lake system </a:t>
            </a:r>
          </a:p>
          <a:p>
            <a:pPr eaLnBrk="1" hangingPunct="1"/>
            <a:endParaRPr lang="de-DE" altLang="en-US" sz="240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7DCFCE-63DC-4B0C-91AB-4A543D0233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42" r="6205"/>
          <a:stretch/>
        </p:blipFill>
        <p:spPr>
          <a:xfrm>
            <a:off x="381000" y="1825023"/>
            <a:ext cx="8763000" cy="37222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A3F22C-CABE-4CFF-803A-E6ACB3FBC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1662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Controls on primary production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3. Light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195" name="TextBox 2">
            <a:extLst>
              <a:ext uri="{FF2B5EF4-FFF2-40B4-BE49-F238E27FC236}">
                <a16:creationId xmlns:a16="http://schemas.microsoft.com/office/drawing/2014/main" id="{36FA17B4-9060-43A8-B1AC-79585D4DD2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6172200"/>
            <a:ext cx="8991600" cy="10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 b="1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Relation between phytoplanktonic production, respiration and depth (ater Lalli and Parson, 1979) </a:t>
            </a:r>
          </a:p>
          <a:p>
            <a:pPr eaLnBrk="1" hangingPunct="1"/>
            <a:endParaRPr lang="de-DE" altLang="en-US" sz="240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A5609FDB-D440-4CDA-8C32-A6B52B861E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200" y="1524000"/>
            <a:ext cx="1676400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de-DE" altLang="en-US" b="1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euphotic zone</a:t>
            </a:r>
          </a:p>
        </p:txBody>
      </p:sp>
      <p:pic>
        <p:nvPicPr>
          <p:cNvPr id="8197" name="Picture 5" descr="img860.jpg">
            <a:extLst>
              <a:ext uri="{FF2B5EF4-FFF2-40B4-BE49-F238E27FC236}">
                <a16:creationId xmlns:a16="http://schemas.microsoft.com/office/drawing/2014/main" id="{EC6913D3-2A16-4D23-8063-E0DAD6FE57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04" t="12201" r="56664" b="56108"/>
          <a:stretch/>
        </p:blipFill>
        <p:spPr bwMode="auto">
          <a:xfrm>
            <a:off x="2555875" y="631825"/>
            <a:ext cx="4032250" cy="523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08B197-4374-41B1-B5EF-35F5260040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1662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Controls on primary production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4. Nutrients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220" name="TextBox 2">
            <a:extLst>
              <a:ext uri="{FF2B5EF4-FFF2-40B4-BE49-F238E27FC236}">
                <a16:creationId xmlns:a16="http://schemas.microsoft.com/office/drawing/2014/main" id="{7C7A08D6-6287-4CFE-8ADC-DDEBF0AEC6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6248400"/>
            <a:ext cx="8991600" cy="769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 sz="200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and availability of essential elements in the ocean </a:t>
            </a:r>
          </a:p>
          <a:p>
            <a:pPr eaLnBrk="1" hangingPunct="1"/>
            <a:endParaRPr lang="de-DE" altLang="en-US" sz="240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040E16-9F59-4DC7-835E-9E775C4C7B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778"/>
          <a:stretch/>
        </p:blipFill>
        <p:spPr>
          <a:xfrm>
            <a:off x="413657" y="1955204"/>
            <a:ext cx="7501942" cy="415250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D1E387-3347-433F-8088-794104181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315996"/>
            <a:ext cx="6070724" cy="654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8782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92D5EF-F629-46F9-8E1A-7D445232C6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1662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Controls on primary production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4. Nutrients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37785A-2279-4C58-A139-7C044E6682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600200"/>
            <a:ext cx="8991600" cy="5078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457200" indent="-4572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a) Low latitute ocean : Low productivity</a:t>
            </a:r>
          </a:p>
          <a:p>
            <a:pPr marL="457200" indent="-457200" fontAlgn="auto">
              <a:spcBef>
                <a:spcPts val="0"/>
              </a:spcBef>
              <a:spcAft>
                <a:spcPts val="0"/>
              </a:spcAft>
              <a:buFontTx/>
              <a:buAutoNum type="alphaLcParenR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spcBef>
                <a:spcPts val="0"/>
              </a:spcBef>
              <a:spcAft>
                <a:spcPts val="0"/>
              </a:spcAft>
              <a:buFontTx/>
              <a:buAutoNum type="alphaLcParenR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b) Mid-latitude oceans: spring phytoplankton bloom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c) High latitude oceans:  Light intensity available only during 5-6 months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                                       single large algal bloom during the summer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d) Startified lakes: spring phytoplankton bloom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91304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FEC43C-0525-4B7D-B289-F1C12C7184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7202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Spatial variation in marine primary production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The productvity is not uniform over the surface of oceans due to the effect of upwelling and downwelling on nutrient availabilty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The degree of flooding of continental margins is also important interms of the area of productive coastal waters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Nutrient supply from the land  (e.g., rivers)  contribute to th productvity of the shelf areas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2815A53-AC81-4F42-8A2C-DEF3253B6AFB}"/>
              </a:ext>
            </a:extLst>
          </p:cNvPr>
          <p:cNvSpPr txBox="1"/>
          <p:nvPr/>
        </p:nvSpPr>
        <p:spPr>
          <a:xfrm>
            <a:off x="152400" y="144517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8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Spatial variation in marine primary production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8BD56-CA3B-421A-A483-8FDA10A5A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014370"/>
            <a:ext cx="7797639" cy="559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807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4597C-1741-4E96-8C6D-9E8CFF7C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066800"/>
            <a:ext cx="8001000" cy="55110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642EA5-2C33-42CD-A8E2-159CE3F91BD8}"/>
              </a:ext>
            </a:extLst>
          </p:cNvPr>
          <p:cNvSpPr txBox="1"/>
          <p:nvPr/>
        </p:nvSpPr>
        <p:spPr>
          <a:xfrm>
            <a:off x="152400" y="144517"/>
            <a:ext cx="6629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8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Spatial variation in terrestrial productivity</a:t>
            </a:r>
          </a:p>
        </p:txBody>
      </p:sp>
    </p:spTree>
    <p:extLst>
      <p:ext uri="{BB962C8B-B14F-4D97-AF65-F5344CB8AC3E}">
        <p14:creationId xmlns:p14="http://schemas.microsoft.com/office/powerpoint/2010/main" val="35292465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7E1958-01AD-44FA-A7B4-79445FBBDC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314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Variation in higher plant populations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70A1C07C-EB59-4E5E-85DB-91E62757B8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5934075"/>
            <a:ext cx="8534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Approximate correlation of terrestrial biomes with temperature and precipitation  (after Whitaker 1975)</a:t>
            </a:r>
            <a:endParaRPr lang="en-IN" altLang="en-US">
              <a:latin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F9FFAB-B1F6-4CC4-B09E-74B032FC8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146"/>
          <a:stretch/>
        </p:blipFill>
        <p:spPr>
          <a:xfrm>
            <a:off x="2133600" y="992709"/>
            <a:ext cx="4602220" cy="459953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06308A-F3D6-4DD0-8D5D-3601213190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Depositional environment associated with accumulation of organic matter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   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4579" name="Picture 3" descr="figure 07-05.jpg                                               0000BD9EMacintosh HD                   ABA78158:">
            <a:extLst>
              <a:ext uri="{FF2B5EF4-FFF2-40B4-BE49-F238E27FC236}">
                <a16:creationId xmlns:a16="http://schemas.microsoft.com/office/drawing/2014/main" id="{DEA22E3E-554E-476F-93BA-CD6072981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049463"/>
            <a:ext cx="8350250" cy="4808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447398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1">
            <a:extLst>
              <a:ext uri="{FF2B5EF4-FFF2-40B4-BE49-F238E27FC236}">
                <a16:creationId xmlns:a16="http://schemas.microsoft.com/office/drawing/2014/main" id="{E5AD96B3-CF2B-4FCB-B915-08595B734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0"/>
            <a:ext cx="3470275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de-DE" altLang="en-US" sz="2400" b="1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Lacustrine environments</a:t>
            </a: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561594C2-4930-45A9-91CC-A31B716AD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066800"/>
            <a:ext cx="5257800" cy="1338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Char char="-"/>
            </a:pPr>
            <a:r>
              <a:rPr lang="de-DE" altLang="en-US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Closed and open lakes</a:t>
            </a:r>
          </a:p>
          <a:p>
            <a:pPr eaLnBrk="1" hangingPunct="1">
              <a:lnSpc>
                <a:spcPct val="150000"/>
              </a:lnSpc>
              <a:buFontTx/>
              <a:buChar char="-"/>
            </a:pPr>
            <a:endParaRPr lang="de-DE" altLang="en-US" dirty="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</a:pPr>
            <a:r>
              <a:rPr lang="de-DE" altLang="en-US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   Autochthonous and allochthonous OM  sources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Box 1">
            <a:extLst>
              <a:ext uri="{FF2B5EF4-FFF2-40B4-BE49-F238E27FC236}">
                <a16:creationId xmlns:a16="http://schemas.microsoft.com/office/drawing/2014/main" id="{63ABDA83-E859-499E-8ACA-3FA6C3AB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en-US" sz="2400" b="1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Depositional environment associated with accumulation of organic matter</a:t>
            </a:r>
          </a:p>
          <a:p>
            <a:pPr eaLnBrk="1" hangingPunct="1"/>
            <a:endParaRPr lang="de-DE" altLang="en-US" sz="2400" b="1" dirty="0">
              <a:solidFill>
                <a:srgbClr val="130D8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EADAF8-20B6-4E55-B08B-617D3398B69A}"/>
              </a:ext>
            </a:extLst>
          </p:cNvPr>
          <p:cNvGrpSpPr/>
          <p:nvPr/>
        </p:nvGrpSpPr>
        <p:grpSpPr>
          <a:xfrm>
            <a:off x="304800" y="1611165"/>
            <a:ext cx="8343900" cy="3570436"/>
            <a:chOff x="145093" y="1611164"/>
            <a:chExt cx="8503607" cy="3663183"/>
          </a:xfrm>
        </p:grpSpPr>
        <p:pic>
          <p:nvPicPr>
            <p:cNvPr id="21508" name="Picture 4" descr="img856.jpg">
              <a:extLst>
                <a:ext uri="{FF2B5EF4-FFF2-40B4-BE49-F238E27FC236}">
                  <a16:creationId xmlns:a16="http://schemas.microsoft.com/office/drawing/2014/main" id="{49191D38-8E55-4C93-A562-15D0E9E07A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48" t="67836" r="20010" b="10953"/>
            <a:stretch/>
          </p:blipFill>
          <p:spPr bwMode="auto">
            <a:xfrm>
              <a:off x="152400" y="1611164"/>
              <a:ext cx="8496300" cy="33118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BD64A00-2867-4CC4-BAD0-759DF948032B}"/>
                </a:ext>
              </a:extLst>
            </p:cNvPr>
            <p:cNvSpPr/>
            <p:nvPr/>
          </p:nvSpPr>
          <p:spPr>
            <a:xfrm rot="225367">
              <a:off x="145093" y="4601584"/>
              <a:ext cx="6363816" cy="6727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1507" name="Rectangle 3">
            <a:extLst>
              <a:ext uri="{FF2B5EF4-FFF2-40B4-BE49-F238E27FC236}">
                <a16:creationId xmlns:a16="http://schemas.microsoft.com/office/drawing/2014/main" id="{1C195692-30A0-479B-8D84-8AB0B75D2D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181600"/>
            <a:ext cx="9144000" cy="87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de-DE" altLang="en-US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Important oxygen depleted environmnt associated with deposition of organic rich sediments        </a:t>
            </a:r>
          </a:p>
          <a:p>
            <a:pPr eaLnBrk="1" hangingPunct="1">
              <a:lnSpc>
                <a:spcPct val="150000"/>
              </a:lnSpc>
            </a:pPr>
            <a:r>
              <a:rPr lang="de-DE" altLang="en-US" dirty="0">
                <a:solidFill>
                  <a:srgbClr val="130D8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(after Brooks et al. 1987)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3594E7-75FE-49A4-BED4-199B2C2203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152400"/>
            <a:ext cx="8991600" cy="664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400" b="1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Depositional environment associated with accumulation of organic matter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b="1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2. Coal forming mires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Accumulation of peat in mires requires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lphaLcParenR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Gradual and continous rise in groundwater table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lphaLcParenR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lphaLcParenR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Protection of mire against flooding by rivers and seas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lphaLcParenR"/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lphaLcParenR"/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Low relief hinterland limiting supply of fluvial sediments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de-DE" sz="2000" dirty="0">
                <a:solidFill>
                  <a:srgbClr val="130D8F"/>
                </a:solidFill>
                <a:latin typeface="Times New Roman" pitchFamily="18" charset="0"/>
                <a:cs typeface="Times New Roman" pitchFamily="18" charset="0"/>
              </a:rPr>
              <a:t>     </a:t>
            </a:r>
          </a:p>
          <a:p>
            <a:pPr marL="45720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de-DE" sz="20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2400" dirty="0">
              <a:solidFill>
                <a:srgbClr val="130D8F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15267</TotalTime>
  <Words>1280</Words>
  <Application>Microsoft Office PowerPoint</Application>
  <PresentationFormat>On-screen Show (4:3)</PresentationFormat>
  <Paragraphs>228</Paragraphs>
  <Slides>43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</vt:lpstr>
      <vt:lpstr>Calibri</vt:lpstr>
      <vt:lpstr>Tahoma</vt:lpstr>
      <vt:lpstr>Times</vt:lpstr>
      <vt:lpstr>Times New Roman</vt:lpstr>
      <vt:lpstr>Wingdings</vt:lpstr>
      <vt:lpstr>Default Design</vt:lpstr>
      <vt:lpstr>EES203: Geochemistry </vt:lpstr>
      <vt:lpstr>Isotopes of Strontium</vt:lpstr>
      <vt:lpstr>PowerPoint Presentation</vt:lpstr>
      <vt:lpstr>PowerPoint Presentation</vt:lpstr>
      <vt:lpstr>Estimated values of Strontium Isotopes  </vt:lpstr>
      <vt:lpstr>Applicability of Strontium for chemostratigraphy</vt:lpstr>
      <vt:lpstr>Strontium Isotope Stratigraphy</vt:lpstr>
      <vt:lpstr>Change in Isotope ratio throughout Phanerozoic time</vt:lpstr>
      <vt:lpstr>Lowess curve and its use in Isotope Stratigraphy</vt:lpstr>
      <vt:lpstr>Ideal Materials for SIS</vt:lpstr>
      <vt:lpstr>Applicability of Strontium for Weathering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njcu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dfreile</dc:creator>
  <cp:lastModifiedBy>Dell</cp:lastModifiedBy>
  <cp:revision>292</cp:revision>
  <dcterms:created xsi:type="dcterms:W3CDTF">2005-10-26T18:01:58Z</dcterms:created>
  <dcterms:modified xsi:type="dcterms:W3CDTF">2025-04-02T11:25:37Z</dcterms:modified>
</cp:coreProperties>
</file>