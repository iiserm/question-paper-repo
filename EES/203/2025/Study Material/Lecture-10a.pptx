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452" r:id="rId3"/>
    <p:sldId id="425" r:id="rId4"/>
    <p:sldId id="441" r:id="rId5"/>
    <p:sldId id="442" r:id="rId6"/>
    <p:sldId id="443" r:id="rId7"/>
    <p:sldId id="444" r:id="rId8"/>
    <p:sldId id="459" r:id="rId9"/>
    <p:sldId id="460" r:id="rId10"/>
    <p:sldId id="437" r:id="rId11"/>
    <p:sldId id="470" r:id="rId12"/>
    <p:sldId id="280" r:id="rId13"/>
    <p:sldId id="281" r:id="rId14"/>
    <p:sldId id="282" r:id="rId15"/>
    <p:sldId id="283" r:id="rId16"/>
    <p:sldId id="284" r:id="rId17"/>
    <p:sldId id="285" r:id="rId18"/>
    <p:sldId id="290" r:id="rId19"/>
    <p:sldId id="291" r:id="rId20"/>
    <p:sldId id="471" r:id="rId21"/>
    <p:sldId id="445" r:id="rId22"/>
    <p:sldId id="463" r:id="rId23"/>
    <p:sldId id="440" r:id="rId24"/>
    <p:sldId id="461" r:id="rId25"/>
    <p:sldId id="276" r:id="rId26"/>
    <p:sldId id="448" r:id="rId27"/>
    <p:sldId id="447" r:id="rId28"/>
    <p:sldId id="464" r:id="rId29"/>
    <p:sldId id="268" r:id="rId30"/>
    <p:sldId id="465" r:id="rId31"/>
    <p:sldId id="468" r:id="rId32"/>
    <p:sldId id="466" r:id="rId33"/>
    <p:sldId id="467" r:id="rId34"/>
    <p:sldId id="269" r:id="rId35"/>
    <p:sldId id="270" r:id="rId36"/>
    <p:sldId id="271" r:id="rId37"/>
    <p:sldId id="272" r:id="rId38"/>
    <p:sldId id="469" r:id="rId39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660"/>
  </p:normalViewPr>
  <p:slideViewPr>
    <p:cSldViewPr>
      <p:cViewPr varScale="1">
        <p:scale>
          <a:sx n="66" d="100"/>
          <a:sy n="66" d="100"/>
        </p:scale>
        <p:origin x="1280" y="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48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slide" Target="slides/slide17.xml" /><Relationship Id="rId26" Type="http://schemas.openxmlformats.org/officeDocument/2006/relationships/slide" Target="slides/slide25.xml" /><Relationship Id="rId39" Type="http://schemas.openxmlformats.org/officeDocument/2006/relationships/slide" Target="slides/slide38.xml" /><Relationship Id="rId3" Type="http://schemas.openxmlformats.org/officeDocument/2006/relationships/slide" Target="slides/slide2.xml" /><Relationship Id="rId21" Type="http://schemas.openxmlformats.org/officeDocument/2006/relationships/slide" Target="slides/slide20.xml" /><Relationship Id="rId34" Type="http://schemas.openxmlformats.org/officeDocument/2006/relationships/slide" Target="slides/slide33.xml" /><Relationship Id="rId42" Type="http://schemas.openxmlformats.org/officeDocument/2006/relationships/viewProps" Target="viewProps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slide" Target="slides/slide16.xml" /><Relationship Id="rId25" Type="http://schemas.openxmlformats.org/officeDocument/2006/relationships/slide" Target="slides/slide24.xml" /><Relationship Id="rId33" Type="http://schemas.openxmlformats.org/officeDocument/2006/relationships/slide" Target="slides/slide32.xml" /><Relationship Id="rId38" Type="http://schemas.openxmlformats.org/officeDocument/2006/relationships/slide" Target="slides/slide37.xml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0" Type="http://schemas.openxmlformats.org/officeDocument/2006/relationships/slide" Target="slides/slide19.xml" /><Relationship Id="rId29" Type="http://schemas.openxmlformats.org/officeDocument/2006/relationships/slide" Target="slides/slide28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24" Type="http://schemas.openxmlformats.org/officeDocument/2006/relationships/slide" Target="slides/slide23.xml" /><Relationship Id="rId32" Type="http://schemas.openxmlformats.org/officeDocument/2006/relationships/slide" Target="slides/slide31.xml" /><Relationship Id="rId37" Type="http://schemas.openxmlformats.org/officeDocument/2006/relationships/slide" Target="slides/slide36.xml" /><Relationship Id="rId40" Type="http://schemas.openxmlformats.org/officeDocument/2006/relationships/notesMaster" Target="notesMasters/notesMaster1.xml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23" Type="http://schemas.openxmlformats.org/officeDocument/2006/relationships/slide" Target="slides/slide22.xml" /><Relationship Id="rId28" Type="http://schemas.openxmlformats.org/officeDocument/2006/relationships/slide" Target="slides/slide27.xml" /><Relationship Id="rId36" Type="http://schemas.openxmlformats.org/officeDocument/2006/relationships/slide" Target="slides/slide35.xml" /><Relationship Id="rId10" Type="http://schemas.openxmlformats.org/officeDocument/2006/relationships/slide" Target="slides/slide9.xml" /><Relationship Id="rId19" Type="http://schemas.openxmlformats.org/officeDocument/2006/relationships/slide" Target="slides/slide18.xml" /><Relationship Id="rId31" Type="http://schemas.openxmlformats.org/officeDocument/2006/relationships/slide" Target="slides/slide30.xml" /><Relationship Id="rId44" Type="http://schemas.openxmlformats.org/officeDocument/2006/relationships/tableStyles" Target="tableStyles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Relationship Id="rId22" Type="http://schemas.openxmlformats.org/officeDocument/2006/relationships/slide" Target="slides/slide21.xml" /><Relationship Id="rId27" Type="http://schemas.openxmlformats.org/officeDocument/2006/relationships/slide" Target="slides/slide26.xml" /><Relationship Id="rId30" Type="http://schemas.openxmlformats.org/officeDocument/2006/relationships/slide" Target="slides/slide29.xml" /><Relationship Id="rId35" Type="http://schemas.openxmlformats.org/officeDocument/2006/relationships/slide" Target="slides/slide34.xml" /><Relationship Id="rId4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B12BC94-826C-44CC-9139-4D8AF4CCD75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5DB217-5036-48E7-9F80-D8568EC4E5C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fld id="{4495E4C6-17AD-4BA4-85ED-1CEF5353A859}" type="datetimeFigureOut">
              <a:rPr lang="en-IN"/>
              <a:pPr>
                <a:defRPr/>
              </a:pPr>
              <a:t>08-03-2025</a:t>
            </a:fld>
            <a:endParaRPr lang="en-IN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6E099106-0BB6-43A6-A3E2-09D734B298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FBCB12F-E21B-4BB3-98A4-F84DE79422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IN" noProof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B2BC49-BC64-4703-B80A-9476428F948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FD10B2-65DA-4A6A-9411-A7CE5F94A9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DA50488F-DB6A-40AC-8FA4-772BF47F0323}" type="slidenum">
              <a:rPr lang="en-IN" altLang="en-US"/>
              <a:pPr>
                <a:defRPr/>
              </a:pPr>
              <a:t>‹#›</a:t>
            </a:fld>
            <a:endParaRPr lang="en-I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2D09B151-F15B-4B7F-8EFC-E35667C2F83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6DDF6AE-860C-470C-B132-A3FA3D59A6FD}" type="slidenum">
              <a:rPr lang="en-US" altLang="en-US"/>
              <a:pPr/>
              <a:t>14</a:t>
            </a:fld>
            <a:endParaRPr lang="en-US" altLang="en-US"/>
          </a:p>
        </p:txBody>
      </p:sp>
      <p:sp>
        <p:nvSpPr>
          <p:cNvPr id="80898" name="Rectangle 2">
            <a:extLst>
              <a:ext uri="{FF2B5EF4-FFF2-40B4-BE49-F238E27FC236}">
                <a16:creationId xmlns:a16="http://schemas.microsoft.com/office/drawing/2014/main" id="{14C2F407-1FCA-490D-99BE-A4DE2ED2E52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0899" name="Rectangle 3">
            <a:extLst>
              <a:ext uri="{FF2B5EF4-FFF2-40B4-BE49-F238E27FC236}">
                <a16:creationId xmlns:a16="http://schemas.microsoft.com/office/drawing/2014/main" id="{B68DB715-0FAC-425D-982A-522CAF329F4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D = 1.0   No fractionation so C</a:t>
            </a:r>
            <a:r>
              <a:rPr lang="en-US" altLang="en-US" baseline="-25000"/>
              <a:t>L</a:t>
            </a:r>
            <a:r>
              <a:rPr lang="en-US" altLang="en-US"/>
              <a:t>/C</a:t>
            </a:r>
            <a:r>
              <a:rPr lang="en-US" altLang="en-US" baseline="-25000"/>
              <a:t>O</a:t>
            </a:r>
            <a:r>
              <a:rPr lang="en-US" altLang="en-US"/>
              <a:t> = 1 for all values of F</a:t>
            </a:r>
          </a:p>
        </p:txBody>
      </p:sp>
    </p:spTree>
    <p:extLst>
      <p:ext uri="{BB962C8B-B14F-4D97-AF65-F5344CB8AC3E}">
        <p14:creationId xmlns:p14="http://schemas.microsoft.com/office/powerpoint/2010/main" val="32388470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D8077E16-BD8C-48C1-AC85-C6A7A792ED7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050B265-EB43-466B-9A04-7BAAC0691E8E}" type="slidenum">
              <a:rPr lang="en-US" altLang="en-US"/>
              <a:pPr/>
              <a:t>15</a:t>
            </a:fld>
            <a:endParaRPr lang="en-US" altLang="en-US"/>
          </a:p>
        </p:txBody>
      </p:sp>
      <p:sp>
        <p:nvSpPr>
          <p:cNvPr id="82946" name="Rectangle 2">
            <a:extLst>
              <a:ext uri="{FF2B5EF4-FFF2-40B4-BE49-F238E27FC236}">
                <a16:creationId xmlns:a16="http://schemas.microsoft.com/office/drawing/2014/main" id="{1F0DA8B6-F450-4758-98B0-B2230242B62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2947" name="Rectangle 3">
            <a:extLst>
              <a:ext uri="{FF2B5EF4-FFF2-40B4-BE49-F238E27FC236}">
                <a16:creationId xmlns:a16="http://schemas.microsoft.com/office/drawing/2014/main" id="{E528047D-5F3D-4711-966B-E5E6AFBE0D0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b="1" dirty="0">
                <a:cs typeface="Times New Roman" panose="02020603050405020304" pitchFamily="18" charset="0"/>
              </a:rPr>
              <a:t>Values of F &gt; 0.4 unlikely for batch melting since greater amounts should separate and rise</a:t>
            </a:r>
            <a:r>
              <a:rPr lang="en-US" altLang="en-US" b="1" dirty="0"/>
              <a:t> </a:t>
            </a:r>
          </a:p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4449998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9BD5C805-A1E5-4C29-B596-DDD739285AD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EB6662C-574B-4A08-B481-10A05ABD2758}" type="slidenum">
              <a:rPr lang="en-US" altLang="en-US"/>
              <a:pPr/>
              <a:t>16</a:t>
            </a:fld>
            <a:endParaRPr lang="en-US" altLang="en-US"/>
          </a:p>
        </p:txBody>
      </p:sp>
      <p:sp>
        <p:nvSpPr>
          <p:cNvPr id="84994" name="Rectangle 2">
            <a:extLst>
              <a:ext uri="{FF2B5EF4-FFF2-40B4-BE49-F238E27FC236}">
                <a16:creationId xmlns:a16="http://schemas.microsoft.com/office/drawing/2014/main" id="{55B0102A-EF65-4552-B6D0-840013216E5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5" name="Rectangle 3">
            <a:extLst>
              <a:ext uri="{FF2B5EF4-FFF2-40B4-BE49-F238E27FC236}">
                <a16:creationId xmlns:a16="http://schemas.microsoft.com/office/drawing/2014/main" id="{DDB9AD4D-56CE-4868-8B42-2AA63C3766F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b="1">
                <a:cs typeface="Times New Roman" panose="02020603050405020304" pitchFamily="18" charset="0"/>
              </a:rPr>
              <a:t>Highly incompatible elements are greatly concentrated in the initial small fraction of melt that is produced by partial melting, and subsequently get diluted as F increases</a:t>
            </a:r>
            <a:r>
              <a:rPr lang="en-US" alt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2686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E07F9450-D7C0-45F4-8D2B-E482DBA800A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353A8A3-9522-4CE0-8C29-C43662AE9D07}" type="slidenum">
              <a:rPr lang="en-US" altLang="en-US"/>
              <a:pPr/>
              <a:t>17</a:t>
            </a:fld>
            <a:endParaRPr lang="en-US" altLang="en-US"/>
          </a:p>
        </p:txBody>
      </p:sp>
      <p:sp>
        <p:nvSpPr>
          <p:cNvPr id="87042" name="Rectangle 2">
            <a:extLst>
              <a:ext uri="{FF2B5EF4-FFF2-40B4-BE49-F238E27FC236}">
                <a16:creationId xmlns:a16="http://schemas.microsoft.com/office/drawing/2014/main" id="{773378DF-5BE6-4D32-A3CC-AD60683CFFA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7043" name="Rectangle 3">
            <a:extLst>
              <a:ext uri="{FF2B5EF4-FFF2-40B4-BE49-F238E27FC236}">
                <a16:creationId xmlns:a16="http://schemas.microsoft.com/office/drawing/2014/main" id="{630ABBB9-CD29-4DAA-B6CD-6F263BCE72F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All -&gt; 1.0 because all of the source is melted</a:t>
            </a:r>
          </a:p>
        </p:txBody>
      </p:sp>
    </p:spTree>
    <p:extLst>
      <p:ext uri="{BB962C8B-B14F-4D97-AF65-F5344CB8AC3E}">
        <p14:creationId xmlns:p14="http://schemas.microsoft.com/office/powerpoint/2010/main" val="40154680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0CBE352D-B207-48FA-80E7-1C586470921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F1B587BA-6BE4-4DC8-A26E-FDAF3CB5B78E}" type="slidenum">
              <a:rPr lang="en-US" altLang="en-US"/>
              <a:pPr/>
              <a:t>19</a:t>
            </a:fld>
            <a:endParaRPr lang="en-US" altLang="en-US"/>
          </a:p>
        </p:txBody>
      </p:sp>
      <p:sp>
        <p:nvSpPr>
          <p:cNvPr id="97282" name="Rectangle 2">
            <a:extLst>
              <a:ext uri="{FF2B5EF4-FFF2-40B4-BE49-F238E27FC236}">
                <a16:creationId xmlns:a16="http://schemas.microsoft.com/office/drawing/2014/main" id="{DA056804-ED2B-4F5C-AB0E-62C66CFF5DE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7283" name="Rectangle 3">
            <a:extLst>
              <a:ext uri="{FF2B5EF4-FFF2-40B4-BE49-F238E27FC236}">
                <a16:creationId xmlns:a16="http://schemas.microsoft.com/office/drawing/2014/main" id="{896708EA-6F8C-481A-B767-EDF46B5364F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>
                <a:cs typeface="Times New Roman" panose="02020603050405020304" pitchFamily="18" charset="0"/>
              </a:rPr>
              <a:t>Results:</a:t>
            </a:r>
          </a:p>
          <a:p>
            <a:r>
              <a:rPr lang="en-US" altLang="en-US">
                <a:cs typeface="Times New Roman" panose="02020603050405020304" pitchFamily="18" charset="0"/>
              </a:rPr>
              <a:t>Incompatible element Rb (no K minerals) strongly concentrated in the early small melt proportions (low F)</a:t>
            </a:r>
          </a:p>
          <a:p>
            <a:r>
              <a:rPr lang="en-US" altLang="en-US">
                <a:cs typeface="Times New Roman" panose="02020603050405020304" pitchFamily="18" charset="0"/>
              </a:rPr>
              <a:t>Thus </a:t>
            </a:r>
            <a:r>
              <a:rPr lang="en-US" altLang="en-US">
                <a:cs typeface="Times New Roman" panose="02020603050405020304" pitchFamily="18" charset="0"/>
                <a:sym typeface="Symbol" panose="05050102010706020507" pitchFamily="18" charset="2"/>
              </a:rPr>
              <a:t></a:t>
            </a:r>
            <a:r>
              <a:rPr lang="en-US" altLang="en-US">
                <a:cs typeface="Times New Roman" panose="02020603050405020304" pitchFamily="18" charset="0"/>
              </a:rPr>
              <a:t> a sensitive measure of the progress of fractional crystallization (at least until rock half melted)</a:t>
            </a:r>
          </a:p>
          <a:p>
            <a:r>
              <a:rPr lang="en-US" altLang="en-US">
                <a:cs typeface="Times New Roman" panose="02020603050405020304" pitchFamily="18" charset="0"/>
              </a:rPr>
              <a:t>As melting proceeds, the incompatible element is gradually diluted by more compatible ones</a:t>
            </a:r>
          </a:p>
          <a:p>
            <a:r>
              <a:rPr lang="en-US" altLang="en-US">
                <a:cs typeface="Times New Roman" panose="02020603050405020304" pitchFamily="18" charset="0"/>
              </a:rPr>
              <a:t>Since D(Sr) is close to 1.0, the </a:t>
            </a:r>
            <a:r>
              <a:rPr lang="en-US" altLang="en-US" b="1">
                <a:cs typeface="Times New Roman" panose="02020603050405020304" pitchFamily="18" charset="0"/>
              </a:rPr>
              <a:t>ratio</a:t>
            </a:r>
            <a:r>
              <a:rPr lang="en-US" altLang="en-US">
                <a:cs typeface="Times New Roman" panose="02020603050405020304" pitchFamily="18" charset="0"/>
              </a:rPr>
              <a:t> Rb/Sr vs. F is nearly the same as Rb alone</a:t>
            </a:r>
          </a:p>
          <a:p>
            <a:r>
              <a:rPr lang="en-US" altLang="en-US">
                <a:cs typeface="Times New Roman" panose="02020603050405020304" pitchFamily="18" charset="0"/>
              </a:rPr>
              <a:t>Any ratio of incompatible to compatible element should then be sensitive to the degree of partial melting (at least in the initial stages).</a:t>
            </a:r>
          </a:p>
          <a:p>
            <a:r>
              <a:rPr lang="en-US" altLang="en-US" b="1">
                <a:cs typeface="Times New Roman" panose="02020603050405020304" pitchFamily="18" charset="0"/>
              </a:rPr>
              <a:t>Important for Rb/Sr isotopic systems</a:t>
            </a:r>
          </a:p>
          <a:p>
            <a:r>
              <a:rPr lang="en-US" altLang="en-US" b="1">
                <a:cs typeface="Times New Roman" panose="02020603050405020304" pitchFamily="18" charset="0"/>
              </a:rPr>
              <a:t>	Note that can create a series of melts from a single source each with diff Rb/Sr</a:t>
            </a:r>
            <a:endParaRPr lang="en-US" altLang="en-US"/>
          </a:p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64241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BEE118F-D257-4318-A3A2-EECA19410BF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4C97103C-CE56-4C35-B5D2-E932D10544C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31569ED-472A-4591-B1C8-91A8AA55F43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91EFD36-5984-457D-BADD-B4A3F349C23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54979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C13EFD9-AB6D-434D-BC2E-8B73CC13FEA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4B0ED277-8375-4E95-B412-94EF1677FAD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71C59AB-1EAD-4FD8-95DC-AD356CFA4FC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96D8436-06A3-43A4-BA5B-8AF70AEB648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27548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924E2C6-9E75-43EE-99CD-453E04C8655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5018E45-3328-444D-8796-75B3B701D17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A16A509-F4A7-48F3-809D-CBD23ED80F5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3974763-CD29-4242-A606-D01C110AD1A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86014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060A66-D792-4197-A450-15640D1F3C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39D150-B008-4810-A642-BB58C29B576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ECF246-2CD9-4EFD-B3F8-DA766CBABFB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343884-E97C-43AC-91BE-818B2A6132A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32149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95DB130-3059-4B58-BDA5-BD072F56A81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9754EE56-C6A2-4D14-AF3C-BAE635180FF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E24C1A1F-C41E-4454-A02E-BDE2567839B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52C66B-8C25-4FE5-81EA-D279F10B6BD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11131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8073D249-74BA-4FC7-9180-228CFD77E1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2DD93F01-8B96-4D54-88E5-CA53B833D85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ED2D4A28-53D6-497F-985F-B1CEC7D70C4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9ABF0EF-67B1-4AA0-81ED-91DE03744A4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33460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3793C45B-F71B-46A7-A2A8-FEA3D830072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0E0F0BA5-4205-4DA9-8FA1-D723A7B5DE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B7F91C-3F88-4469-8440-DA0A8B7F576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139F030-B1DE-440E-85E3-A637DEB7A7C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48886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462272-BBA7-43EA-9594-79B56445FE8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19C3EE-B0C4-43D8-8138-EBD6BB89F08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8D149F-91B7-4D2A-80E9-143AB91277E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B7294A-24AF-420B-8505-410263194C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06298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IN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011047-FFB1-4281-8AA7-C67D7FC1720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A64777-0A6E-44A1-9A52-089347C9554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066FD0-7FB1-4473-9F5A-052CDF76D2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64B33AA-D7D6-4AF9-8507-39A6605B27C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72510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3E3C6A4-4B1A-4C68-BC9E-108062B1B4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C1AA137-5DE1-4D94-A5C4-663255771B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A788E28-AD11-4AD1-9E0C-EB1CB0AB2E0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707F969-126B-4625-93B3-22279DA28B6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355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9EFAED9-FCC2-4312-9DB9-099CCCC9F0C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F9ABCCB-6606-4ED6-BC8F-C27228E2609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B9E9A27-7F1E-4BB5-A7E3-48D09E2086F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BCD6217-5208-4DAE-8F2B-4AF241D0CE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508883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860734-F86E-485B-BE6F-D403DEB8552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62688C-8C09-49D2-A3CF-4C4EFFBA9D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977806-7D51-41C3-94F1-95ECDE1BC91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9EAD34F-7ECA-488C-A8FC-C0C1447E899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484702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 preserve="1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endParaRPr lang="en-IN" noProof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6E3B21-9DDA-4FAF-8452-B0EFA960C31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FC52A2-EE11-4000-BC5D-3C134546822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ABEACE-6FB7-4B99-9A67-9CEBD7FFC91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52F27C2-0E5F-4AAB-8874-A93956E577B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1830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13" Type="http://schemas.openxmlformats.org/officeDocument/2006/relationships/slideLayout" Target="../slideLayouts/slideLayout13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Relationship Id="rId14" Type="http://schemas.openxmlformats.org/officeDocument/2006/relationships/theme" Target="../theme/theme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8E5B2030-82C9-44DC-877E-5851501067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9A63B46-2CC7-4C4C-B290-7BAAA1F63AC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1FAE760F-22F1-45C9-8239-30305B70D9B2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1D35B8D3-8F19-4A2C-AD58-BE3E89625A4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068A7449-CC58-4CEF-AE5E-3A0514B9DB2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5A6E29DF-0E91-4F06-8705-C054EB6BBDC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anoop@iisermohali.ac.in" TargetMode="External" /><Relationship Id="rId1" Type="http://schemas.openxmlformats.org/officeDocument/2006/relationships/slideLayout" Target="../slideLayouts/slideLayout2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2.xml" 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 /><Relationship Id="rId1" Type="http://schemas.openxmlformats.org/officeDocument/2006/relationships/slideLayout" Target="../slideLayouts/slideLayout7.xml" 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 /><Relationship Id="rId1" Type="http://schemas.openxmlformats.org/officeDocument/2006/relationships/slideLayout" Target="../slideLayouts/slideLayout2.xml" 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 /><Relationship Id="rId1" Type="http://schemas.openxmlformats.org/officeDocument/2006/relationships/slideLayout" Target="../slideLayouts/slideLayout2.xml" 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 /><Relationship Id="rId1" Type="http://schemas.openxmlformats.org/officeDocument/2006/relationships/slideLayout" Target="../slideLayouts/slideLayout7.xml" 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 /><Relationship Id="rId1" Type="http://schemas.openxmlformats.org/officeDocument/2006/relationships/slideLayout" Target="../slideLayouts/slideLayout7.xml" 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 /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7.xml" 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 /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7.xml" 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 /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7.xml" 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 /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7.xml" 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 /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7.xml" 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 /><Relationship Id="rId1" Type="http://schemas.openxmlformats.org/officeDocument/2006/relationships/slideLayout" Target="../slideLayouts/slideLayout7.xml" 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 /><Relationship Id="rId1" Type="http://schemas.openxmlformats.org/officeDocument/2006/relationships/slideLayout" Target="../slideLayouts/slideLayout2.xml" 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 /><Relationship Id="rId1" Type="http://schemas.openxmlformats.org/officeDocument/2006/relationships/slideLayout" Target="../slideLayouts/slideLayout2.xml" 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 /><Relationship Id="rId1" Type="http://schemas.openxmlformats.org/officeDocument/2006/relationships/slideLayout" Target="../slideLayouts/slideLayout2.xml" 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 /><Relationship Id="rId1" Type="http://schemas.openxmlformats.org/officeDocument/2006/relationships/slideLayout" Target="../slideLayouts/slideLayout2.xml" 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 /><Relationship Id="rId1" Type="http://schemas.openxmlformats.org/officeDocument/2006/relationships/slideLayout" Target="../slideLayouts/slideLayout2.xml" 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 /><Relationship Id="rId1" Type="http://schemas.openxmlformats.org/officeDocument/2006/relationships/slideLayout" Target="../slideLayouts/slideLayout2.xml" 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 /><Relationship Id="rId1" Type="http://schemas.openxmlformats.org/officeDocument/2006/relationships/slideLayout" Target="../slideLayouts/slideLayout2.xml" 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 /><Relationship Id="rId1" Type="http://schemas.openxmlformats.org/officeDocument/2006/relationships/slideLayout" Target="../slideLayouts/slideLayout2.xml" 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 /><Relationship Id="rId1" Type="http://schemas.openxmlformats.org/officeDocument/2006/relationships/slideLayout" Target="../slideLayouts/slideLayout6.xml" 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 /><Relationship Id="rId1" Type="http://schemas.openxmlformats.org/officeDocument/2006/relationships/slideLayout" Target="../slideLayouts/slideLayout7.xml" 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 /><Relationship Id="rId1" Type="http://schemas.openxmlformats.org/officeDocument/2006/relationships/slideLayout" Target="../slideLayouts/slideLayout6.xml" 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 /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8EF3740-78F8-4AF7-B9C0-B2112BDC18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1295400"/>
            <a:ext cx="7459663" cy="641350"/>
          </a:xfrm>
        </p:spPr>
        <p:txBody>
          <a:bodyPr lIns="0" tIns="38100" rIns="0" bIns="0">
            <a:spAutoFit/>
          </a:bodyPr>
          <a:lstStyle/>
          <a:p>
            <a:pPr marL="1901825" indent="-1889125">
              <a:lnSpc>
                <a:spcPts val="4700"/>
              </a:lnSpc>
              <a:spcBef>
                <a:spcPts val="300"/>
              </a:spcBef>
            </a:pPr>
            <a:r>
              <a:rPr lang="en-IN" altLang="en-US">
                <a:solidFill>
                  <a:srgbClr val="000000"/>
                </a:solidFill>
              </a:rPr>
              <a:t>EES203: Geochemistry </a:t>
            </a:r>
            <a:endParaRPr lang="en-US" altLang="en-US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56A1D54-95EB-4BB2-BAD9-B64ADC3C8E58}"/>
              </a:ext>
            </a:extLst>
          </p:cNvPr>
          <p:cNvSpPr txBox="1"/>
          <p:nvPr/>
        </p:nvSpPr>
        <p:spPr>
          <a:xfrm>
            <a:off x="1555750" y="2133600"/>
            <a:ext cx="7848600" cy="1198563"/>
          </a:xfrm>
          <a:prstGeom prst="rect">
            <a:avLst/>
          </a:prstGeom>
        </p:spPr>
        <p:txBody>
          <a:bodyPr lIns="0" tIns="110490" rIns="0" bIns="0">
            <a:spAutoFit/>
          </a:bodyPr>
          <a:lstStyle/>
          <a:p>
            <a:pPr marL="12700">
              <a:spcBef>
                <a:spcPts val="765"/>
              </a:spcBef>
              <a:defRPr/>
            </a:pPr>
            <a:r>
              <a:rPr sz="3200" dirty="0">
                <a:latin typeface="Times New Roman"/>
                <a:cs typeface="Times New Roman"/>
              </a:rPr>
              <a:t>Instructor:</a:t>
            </a:r>
            <a:r>
              <a:rPr sz="3200" spc="-23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Anoop</a:t>
            </a:r>
            <a:r>
              <a:rPr sz="3200" spc="-195" dirty="0">
                <a:latin typeface="Times New Roman"/>
                <a:cs typeface="Times New Roman"/>
              </a:rPr>
              <a:t> </a:t>
            </a:r>
            <a:r>
              <a:rPr sz="3200" spc="-10" dirty="0">
                <a:latin typeface="Times New Roman"/>
                <a:cs typeface="Times New Roman"/>
              </a:rPr>
              <a:t>Ambili</a:t>
            </a:r>
            <a:endParaRPr lang="en-IN" sz="3200" spc="-10" dirty="0">
              <a:latin typeface="Times New Roman"/>
              <a:cs typeface="Times New Roman"/>
            </a:endParaRPr>
          </a:p>
          <a:p>
            <a:pPr marL="12700">
              <a:spcBef>
                <a:spcPts val="770"/>
              </a:spcBef>
              <a:defRPr/>
            </a:pPr>
            <a:r>
              <a:rPr sz="3200" dirty="0">
                <a:latin typeface="Times New Roman"/>
                <a:cs typeface="Times New Roman"/>
              </a:rPr>
              <a:t>Email</a:t>
            </a:r>
            <a:r>
              <a:rPr sz="3200" spc="-3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id: </a:t>
            </a:r>
            <a:r>
              <a:rPr sz="3200" spc="-10" dirty="0">
                <a:latin typeface="Times New Roman"/>
                <a:cs typeface="Times New Roman"/>
                <a:hlinkClick r:id="rId2"/>
              </a:rPr>
              <a:t>anoop@iisermohali.ac.in</a:t>
            </a:r>
            <a:endParaRPr sz="3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D44FE6-145C-4F1D-9C9C-A294100DB7E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773" t="9834" r="4968"/>
          <a:stretch/>
        </p:blipFill>
        <p:spPr>
          <a:xfrm>
            <a:off x="990600" y="1029111"/>
            <a:ext cx="6324600" cy="4799777"/>
          </a:xfrm>
          <a:prstGeom prst="rect">
            <a:avLst/>
          </a:prstGeom>
        </p:spPr>
      </p:pic>
      <p:sp>
        <p:nvSpPr>
          <p:cNvPr id="6" name="object 2">
            <a:extLst>
              <a:ext uri="{FF2B5EF4-FFF2-40B4-BE49-F238E27FC236}">
                <a16:creationId xmlns:a16="http://schemas.microsoft.com/office/drawing/2014/main" id="{6C78AC25-E6F6-4652-8155-759F18781F6B}"/>
              </a:ext>
            </a:extLst>
          </p:cNvPr>
          <p:cNvSpPr txBox="1"/>
          <p:nvPr/>
        </p:nvSpPr>
        <p:spPr>
          <a:xfrm>
            <a:off x="152400" y="0"/>
            <a:ext cx="8639811" cy="456535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12700" marR="5080">
              <a:lnSpc>
                <a:spcPts val="3300"/>
              </a:lnSpc>
              <a:spcBef>
                <a:spcPts val="260"/>
              </a:spcBef>
              <a:buClr>
                <a:srgbClr val="00CC00"/>
              </a:buClr>
              <a:buSzPct val="50000"/>
              <a:tabLst>
                <a:tab pos="355600" algn="l"/>
              </a:tabLst>
            </a:pPr>
            <a:r>
              <a:rPr lang="en-IN" sz="2800" dirty="0">
                <a:latin typeface="Times New Roman"/>
                <a:cs typeface="Times New Roman"/>
              </a:rPr>
              <a:t>Classification of primary basaltic magma</a:t>
            </a:r>
            <a:endParaRPr sz="28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06135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4316A-E549-4DE0-8D16-8882E9456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021" y="2209801"/>
            <a:ext cx="9122980" cy="1371600"/>
          </a:xfrm>
        </p:spPr>
        <p:txBody>
          <a:bodyPr/>
          <a:lstStyle/>
          <a:p>
            <a:pPr marL="0" indent="0" algn="ctr">
              <a:lnSpc>
                <a:spcPct val="150000"/>
              </a:lnSpc>
              <a:buNone/>
            </a:pPr>
            <a:r>
              <a:rPr lang="en-IN" b="1" dirty="0"/>
              <a:t>Elemental partioning during magmatic differentiation </a:t>
            </a:r>
          </a:p>
        </p:txBody>
      </p:sp>
    </p:spTree>
    <p:extLst>
      <p:ext uri="{BB962C8B-B14F-4D97-AF65-F5344CB8AC3E}">
        <p14:creationId xmlns:p14="http://schemas.microsoft.com/office/powerpoint/2010/main" val="602578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3">
            <a:extLst>
              <a:ext uri="{FF2B5EF4-FFF2-40B4-BE49-F238E27FC236}">
                <a16:creationId xmlns:a16="http://schemas.microsoft.com/office/drawing/2014/main" id="{3425F77F-D05F-450F-89A8-84256F25AE8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9100" y="228600"/>
            <a:ext cx="8305800" cy="6096000"/>
          </a:xfrm>
          <a:prstGeom prst="rect">
            <a:avLst/>
          </a:prstGeom>
        </p:spPr>
      </p:pic>
      <p:sp>
        <p:nvSpPr>
          <p:cNvPr id="3" name="object 2">
            <a:extLst>
              <a:ext uri="{FF2B5EF4-FFF2-40B4-BE49-F238E27FC236}">
                <a16:creationId xmlns:a16="http://schemas.microsoft.com/office/drawing/2014/main" id="{9BADE48E-C561-4497-9CE1-583B5388AEB7}"/>
              </a:ext>
            </a:extLst>
          </p:cNvPr>
          <p:cNvSpPr txBox="1">
            <a:spLocks/>
          </p:cNvSpPr>
          <p:nvPr/>
        </p:nvSpPr>
        <p:spPr>
          <a:xfrm>
            <a:off x="228600" y="76865"/>
            <a:ext cx="8229600" cy="456535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pitchFamily="34" charset="0"/>
              </a:defRPr>
            </a:lvl9pPr>
          </a:lstStyle>
          <a:p>
            <a:pPr marL="12700" marR="5080">
              <a:lnSpc>
                <a:spcPts val="3300"/>
              </a:lnSpc>
              <a:spcBef>
                <a:spcPts val="260"/>
              </a:spcBef>
              <a:buClr>
                <a:srgbClr val="00CC00"/>
              </a:buClr>
              <a:buSzPct val="50000"/>
              <a:tabLst>
                <a:tab pos="355600" algn="l"/>
              </a:tabLst>
            </a:pPr>
            <a:r>
              <a:rPr lang="en-IN" sz="2800" kern="0" dirty="0">
                <a:latin typeface="Times New Roman"/>
                <a:cs typeface="Times New Roman"/>
              </a:rPr>
              <a:t>Rare earth elements</a:t>
            </a:r>
          </a:p>
        </p:txBody>
      </p:sp>
    </p:spTree>
    <p:extLst>
      <p:ext uri="{BB962C8B-B14F-4D97-AF65-F5344CB8AC3E}">
        <p14:creationId xmlns:p14="http://schemas.microsoft.com/office/powerpoint/2010/main" val="1052478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>
            <a:extLst>
              <a:ext uri="{FF2B5EF4-FFF2-40B4-BE49-F238E27FC236}">
                <a16:creationId xmlns:a16="http://schemas.microsoft.com/office/drawing/2014/main" id="{A000CD84-8AA3-4321-ABC0-6B330BB8CD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8280975"/>
              </p:ext>
            </p:extLst>
          </p:nvPr>
        </p:nvGraphicFramePr>
        <p:xfrm>
          <a:off x="5196906" y="3392424"/>
          <a:ext cx="3278502" cy="252221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71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5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4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93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02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5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932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1320">
                <a:tc gridSpan="7">
                  <a:txBody>
                    <a:bodyPr/>
                    <a:lstStyle/>
                    <a:p>
                      <a:pPr marL="253365">
                        <a:lnSpc>
                          <a:spcPts val="960"/>
                        </a:lnSpc>
                      </a:pPr>
                      <a:r>
                        <a:rPr sz="800" b="1" dirty="0">
                          <a:latin typeface="Arial"/>
                          <a:cs typeface="Arial"/>
                        </a:rPr>
                        <a:t>Table</a:t>
                      </a:r>
                      <a:r>
                        <a:rPr sz="800" b="1" spc="26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800" b="1" dirty="0">
                          <a:latin typeface="Arial"/>
                          <a:cs typeface="Arial"/>
                        </a:rPr>
                        <a:t>9-1</a:t>
                      </a:r>
                      <a:r>
                        <a:rPr sz="800" dirty="0">
                          <a:latin typeface="Arial MT"/>
                          <a:cs typeface="Arial MT"/>
                        </a:rPr>
                        <a:t>.</a:t>
                      </a:r>
                      <a:r>
                        <a:rPr sz="800" spc="170" dirty="0">
                          <a:latin typeface="Arial MT"/>
                          <a:cs typeface="Arial MT"/>
                        </a:rPr>
                        <a:t>  </a:t>
                      </a:r>
                      <a:r>
                        <a:rPr sz="800" dirty="0">
                          <a:latin typeface="Arial MT"/>
                          <a:cs typeface="Arial MT"/>
                        </a:rPr>
                        <a:t>Partition</a:t>
                      </a:r>
                      <a:r>
                        <a:rPr sz="800" spc="18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800" dirty="0">
                          <a:latin typeface="Arial MT"/>
                          <a:cs typeface="Arial MT"/>
                        </a:rPr>
                        <a:t>Coefficients</a:t>
                      </a:r>
                      <a:r>
                        <a:rPr sz="800" spc="23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800" dirty="0">
                          <a:latin typeface="Arial MT"/>
                          <a:cs typeface="Arial MT"/>
                        </a:rPr>
                        <a:t>for</a:t>
                      </a:r>
                      <a:r>
                        <a:rPr sz="800" spc="1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800" dirty="0">
                          <a:latin typeface="Arial MT"/>
                          <a:cs typeface="Arial MT"/>
                        </a:rPr>
                        <a:t>some</a:t>
                      </a:r>
                      <a:r>
                        <a:rPr sz="800" spc="17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800" dirty="0">
                          <a:latin typeface="Arial MT"/>
                          <a:cs typeface="Arial MT"/>
                        </a:rPr>
                        <a:t>commonly</a:t>
                      </a:r>
                      <a:r>
                        <a:rPr sz="800" spc="23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800" spc="-20" dirty="0">
                          <a:latin typeface="Arial MT"/>
                          <a:cs typeface="Arial MT"/>
                        </a:rPr>
                        <a:t>used</a:t>
                      </a:r>
                      <a:endParaRPr sz="800">
                        <a:latin typeface="Arial MT"/>
                        <a:cs typeface="Arial MT"/>
                      </a:endParaRPr>
                    </a:p>
                    <a:p>
                      <a:pPr marL="786765">
                        <a:lnSpc>
                          <a:spcPct val="100000"/>
                        </a:lnSpc>
                        <a:spcBef>
                          <a:spcPts val="170"/>
                        </a:spcBef>
                      </a:pPr>
                      <a:r>
                        <a:rPr sz="700" dirty="0">
                          <a:latin typeface="Arial MT"/>
                          <a:cs typeface="Arial MT"/>
                        </a:rPr>
                        <a:t>trace</a:t>
                      </a:r>
                      <a:r>
                        <a:rPr sz="700" spc="15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700" spc="55" dirty="0">
                          <a:latin typeface="Arial MT"/>
                          <a:cs typeface="Arial MT"/>
                        </a:rPr>
                        <a:t>elem</a:t>
                      </a:r>
                      <a:r>
                        <a:rPr sz="700" spc="-3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ents</a:t>
                      </a:r>
                      <a:r>
                        <a:rPr sz="700" spc="2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in</a:t>
                      </a:r>
                      <a:r>
                        <a:rPr sz="700" spc="15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700" spc="50" dirty="0">
                          <a:latin typeface="Arial MT"/>
                          <a:cs typeface="Arial MT"/>
                        </a:rPr>
                        <a:t>bas</a:t>
                      </a:r>
                      <a:r>
                        <a:rPr sz="700" spc="-6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altic</a:t>
                      </a:r>
                      <a:r>
                        <a:rPr sz="700" spc="1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700" spc="55" dirty="0">
                          <a:latin typeface="Arial MT"/>
                          <a:cs typeface="Arial MT"/>
                        </a:rPr>
                        <a:t>and</a:t>
                      </a:r>
                      <a:r>
                        <a:rPr sz="700" spc="16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700" spc="60" dirty="0">
                          <a:latin typeface="Arial MT"/>
                          <a:cs typeface="Arial MT"/>
                        </a:rPr>
                        <a:t>andes</a:t>
                      </a:r>
                      <a:r>
                        <a:rPr sz="700" spc="-7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itic</a:t>
                      </a:r>
                      <a:r>
                        <a:rPr sz="700" spc="1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700" spc="-20" dirty="0">
                          <a:latin typeface="Arial MT"/>
                          <a:cs typeface="Arial MT"/>
                        </a:rPr>
                        <a:t>rocks</a:t>
                      </a:r>
                      <a:endParaRPr sz="7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2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B5B5B"/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75"/>
                        </a:spcBef>
                        <a:tabLst>
                          <a:tab pos="586740" algn="l"/>
                        </a:tabLst>
                      </a:pPr>
                      <a:r>
                        <a:rPr sz="700" b="1" spc="-10" dirty="0">
                          <a:latin typeface="Arial"/>
                          <a:cs typeface="Arial"/>
                        </a:rPr>
                        <a:t>Olivine</a:t>
                      </a:r>
                      <a:r>
                        <a:rPr sz="700" b="1" dirty="0">
                          <a:latin typeface="Arial"/>
                          <a:cs typeface="Arial"/>
                        </a:rPr>
                        <a:t>	</a:t>
                      </a:r>
                      <a:r>
                        <a:rPr sz="700" b="1" spc="-25" dirty="0">
                          <a:latin typeface="Arial"/>
                          <a:cs typeface="Arial"/>
                        </a:rPr>
                        <a:t>Opx</a:t>
                      </a:r>
                      <a:endParaRPr sz="7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>
                  <a:txBody>
                    <a:bodyPr/>
                    <a:lstStyle/>
                    <a:p>
                      <a:pPr marR="14604" algn="ctr"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r>
                        <a:rPr sz="700" b="1" spc="-25" dirty="0">
                          <a:latin typeface="Arial"/>
                          <a:cs typeface="Arial"/>
                        </a:rPr>
                        <a:t>Cpx</a:t>
                      </a:r>
                      <a:endParaRPr sz="7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>
                  <a:txBody>
                    <a:bodyPr/>
                    <a:lstStyle/>
                    <a:p>
                      <a:pPr marL="43180"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r>
                        <a:rPr sz="700" b="1" spc="-10" dirty="0">
                          <a:latin typeface="Arial"/>
                          <a:cs typeface="Arial"/>
                        </a:rPr>
                        <a:t>Garnet</a:t>
                      </a:r>
                      <a:endParaRPr sz="7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>
                  <a:txBody>
                    <a:bodyPr/>
                    <a:lstStyle/>
                    <a:p>
                      <a:pPr marR="77470" algn="r">
                        <a:lnSpc>
                          <a:spcPct val="100000"/>
                        </a:lnSpc>
                        <a:spcBef>
                          <a:spcPts val="75"/>
                        </a:spcBef>
                        <a:tabLst>
                          <a:tab pos="456565" algn="l"/>
                        </a:tabLst>
                      </a:pPr>
                      <a:r>
                        <a:rPr sz="700" b="1" spc="-20" dirty="0">
                          <a:latin typeface="Arial"/>
                          <a:cs typeface="Arial"/>
                        </a:rPr>
                        <a:t>Plag</a:t>
                      </a:r>
                      <a:r>
                        <a:rPr sz="700" b="1" dirty="0">
                          <a:latin typeface="Arial"/>
                          <a:cs typeface="Arial"/>
                        </a:rPr>
                        <a:t>	</a:t>
                      </a:r>
                      <a:r>
                        <a:rPr sz="700" b="1" spc="-20" dirty="0">
                          <a:latin typeface="Arial"/>
                          <a:cs typeface="Arial"/>
                        </a:rPr>
                        <a:t>Amph</a:t>
                      </a:r>
                      <a:endParaRPr sz="7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539">
                <a:tc rowSpan="5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700" spc="30" dirty="0">
                          <a:latin typeface="Arial MT"/>
                          <a:cs typeface="Arial MT"/>
                        </a:rPr>
                        <a:t>Rb</a:t>
                      </a:r>
                      <a:endParaRPr sz="700">
                        <a:latin typeface="Arial MT"/>
                        <a:cs typeface="Arial MT"/>
                      </a:endParaRPr>
                    </a:p>
                  </a:txBody>
                  <a:tcPr marL="0" marR="0" marT="698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solidFill>
                      <a:srgbClr val="5B5B5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15">
                  <a:txBody>
                    <a:bodyPr/>
                    <a:lstStyle/>
                    <a:p>
                      <a:pPr marR="9525" algn="r">
                        <a:lnSpc>
                          <a:spcPct val="100000"/>
                        </a:lnSpc>
                        <a:spcBef>
                          <a:spcPts val="55"/>
                        </a:spcBef>
                        <a:tabLst>
                          <a:tab pos="516255" algn="l"/>
                        </a:tabLst>
                      </a:pPr>
                      <a:r>
                        <a:rPr sz="700" spc="-10" dirty="0">
                          <a:latin typeface="Arial MT"/>
                          <a:cs typeface="Arial MT"/>
                        </a:rPr>
                        <a:t>0.006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30" dirty="0">
                          <a:latin typeface="Arial MT"/>
                          <a:cs typeface="Arial MT"/>
                        </a:rPr>
                        <a:t>0.02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9525" algn="r">
                        <a:lnSpc>
                          <a:spcPct val="100000"/>
                        </a:lnSpc>
                        <a:spcBef>
                          <a:spcPts val="200"/>
                        </a:spcBef>
                        <a:tabLst>
                          <a:tab pos="456565" algn="l"/>
                        </a:tabLst>
                      </a:pPr>
                      <a:r>
                        <a:rPr sz="700" spc="-20" dirty="0">
                          <a:latin typeface="Arial MT"/>
                          <a:cs typeface="Arial MT"/>
                        </a:rPr>
                        <a:t>0.01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30" dirty="0">
                          <a:latin typeface="Arial MT"/>
                          <a:cs typeface="Arial MT"/>
                        </a:rPr>
                        <a:t>0.01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9525" algn="r">
                        <a:lnSpc>
                          <a:spcPct val="100000"/>
                        </a:lnSpc>
                        <a:spcBef>
                          <a:spcPts val="204"/>
                        </a:spcBef>
                        <a:tabLst>
                          <a:tab pos="516255" algn="l"/>
                        </a:tabLst>
                      </a:pPr>
                      <a:r>
                        <a:rPr sz="700" spc="-10" dirty="0">
                          <a:latin typeface="Arial MT"/>
                          <a:cs typeface="Arial MT"/>
                        </a:rPr>
                        <a:t>0.006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30" dirty="0">
                          <a:latin typeface="Arial MT"/>
                          <a:cs typeface="Arial MT"/>
                        </a:rPr>
                        <a:t>0.12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16510" algn="r">
                        <a:lnSpc>
                          <a:spcPct val="100000"/>
                        </a:lnSpc>
                        <a:spcBef>
                          <a:spcPts val="204"/>
                        </a:spcBef>
                        <a:tabLst>
                          <a:tab pos="516255" algn="l"/>
                        </a:tabLst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14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-50" dirty="0">
                          <a:latin typeface="Arial MT"/>
                          <a:cs typeface="Arial MT"/>
                        </a:rPr>
                        <a:t>5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16510" algn="r">
                        <a:lnSpc>
                          <a:spcPct val="100000"/>
                        </a:lnSpc>
                        <a:spcBef>
                          <a:spcPts val="204"/>
                        </a:spcBef>
                        <a:tabLst>
                          <a:tab pos="481965" algn="l"/>
                        </a:tabLst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2.1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-25" dirty="0">
                          <a:latin typeface="Arial MT"/>
                          <a:cs typeface="Arial MT"/>
                        </a:rPr>
                        <a:t>10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26034" algn="r">
                        <a:lnSpc>
                          <a:spcPct val="100000"/>
                        </a:lnSpc>
                        <a:spcBef>
                          <a:spcPts val="204"/>
                        </a:spcBef>
                        <a:tabLst>
                          <a:tab pos="499745" algn="l"/>
                        </a:tabLst>
                      </a:pPr>
                      <a:r>
                        <a:rPr sz="700" spc="-10" dirty="0">
                          <a:latin typeface="Arial MT"/>
                          <a:cs typeface="Arial MT"/>
                        </a:rPr>
                        <a:t>0.007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i="1" spc="30" dirty="0">
                          <a:latin typeface="Arial"/>
                          <a:cs typeface="Arial"/>
                        </a:rPr>
                        <a:t>0.02</a:t>
                      </a:r>
                      <a:endParaRPr sz="700">
                        <a:latin typeface="Arial"/>
                        <a:cs typeface="Arial"/>
                      </a:endParaRPr>
                    </a:p>
                    <a:p>
                      <a:pPr marR="9525" algn="r">
                        <a:lnSpc>
                          <a:spcPct val="100000"/>
                        </a:lnSpc>
                        <a:spcBef>
                          <a:spcPts val="200"/>
                        </a:spcBef>
                        <a:tabLst>
                          <a:tab pos="516255" algn="l"/>
                        </a:tabLst>
                      </a:pPr>
                      <a:r>
                        <a:rPr sz="700" spc="-10" dirty="0">
                          <a:latin typeface="Arial MT"/>
                          <a:cs typeface="Arial MT"/>
                        </a:rPr>
                        <a:t>0.009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30" dirty="0">
                          <a:latin typeface="Arial MT"/>
                          <a:cs typeface="Arial MT"/>
                        </a:rPr>
                        <a:t>0.02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9525" algn="r">
                        <a:lnSpc>
                          <a:spcPct val="100000"/>
                        </a:lnSpc>
                        <a:spcBef>
                          <a:spcPts val="210"/>
                        </a:spcBef>
                        <a:tabLst>
                          <a:tab pos="516255" algn="l"/>
                        </a:tabLst>
                      </a:pPr>
                      <a:r>
                        <a:rPr sz="700" spc="-10" dirty="0">
                          <a:latin typeface="Arial MT"/>
                          <a:cs typeface="Arial MT"/>
                        </a:rPr>
                        <a:t>0.009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30" dirty="0">
                          <a:latin typeface="Arial MT"/>
                          <a:cs typeface="Arial MT"/>
                        </a:rPr>
                        <a:t>0.05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9525" algn="r">
                        <a:lnSpc>
                          <a:spcPct val="100000"/>
                        </a:lnSpc>
                        <a:spcBef>
                          <a:spcPts val="204"/>
                        </a:spcBef>
                        <a:tabLst>
                          <a:tab pos="516255" algn="l"/>
                        </a:tabLst>
                      </a:pPr>
                      <a:r>
                        <a:rPr sz="700" spc="-10" dirty="0">
                          <a:latin typeface="Arial MT"/>
                          <a:cs typeface="Arial MT"/>
                        </a:rPr>
                        <a:t>0.009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30" dirty="0">
                          <a:latin typeface="Arial MT"/>
                          <a:cs typeface="Arial MT"/>
                        </a:rPr>
                        <a:t>0.05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9525" algn="r">
                        <a:lnSpc>
                          <a:spcPct val="100000"/>
                        </a:lnSpc>
                        <a:spcBef>
                          <a:spcPts val="204"/>
                        </a:spcBef>
                        <a:tabLst>
                          <a:tab pos="516255" algn="l"/>
                        </a:tabLst>
                      </a:pPr>
                      <a:r>
                        <a:rPr sz="700" spc="-10" dirty="0">
                          <a:latin typeface="Arial MT"/>
                          <a:cs typeface="Arial MT"/>
                        </a:rPr>
                        <a:t>0.008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30" dirty="0">
                          <a:latin typeface="Arial MT"/>
                          <a:cs typeface="Arial MT"/>
                        </a:rPr>
                        <a:t>0.05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L="213995">
                        <a:lnSpc>
                          <a:spcPct val="100000"/>
                        </a:lnSpc>
                        <a:spcBef>
                          <a:spcPts val="204"/>
                        </a:spcBef>
                        <a:tabLst>
                          <a:tab pos="687705" algn="l"/>
                        </a:tabLst>
                      </a:pPr>
                      <a:r>
                        <a:rPr sz="700" i="1" spc="-20" dirty="0">
                          <a:latin typeface="Arial"/>
                          <a:cs typeface="Arial"/>
                        </a:rPr>
                        <a:t>0.01</a:t>
                      </a:r>
                      <a:r>
                        <a:rPr sz="700" i="1" dirty="0">
                          <a:latin typeface="Arial"/>
                          <a:cs typeface="Arial"/>
                        </a:rPr>
                        <a:t>	</a:t>
                      </a:r>
                      <a:r>
                        <a:rPr sz="700" spc="30" dirty="0">
                          <a:latin typeface="Arial MT"/>
                          <a:cs typeface="Arial MT"/>
                        </a:rPr>
                        <a:t>0.05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L="170815">
                        <a:lnSpc>
                          <a:spcPct val="100000"/>
                        </a:lnSpc>
                        <a:spcBef>
                          <a:spcPts val="204"/>
                        </a:spcBef>
                        <a:tabLst>
                          <a:tab pos="687705" algn="l"/>
                        </a:tabLst>
                      </a:pPr>
                      <a:r>
                        <a:rPr sz="700" spc="-10" dirty="0">
                          <a:latin typeface="Arial MT"/>
                          <a:cs typeface="Arial MT"/>
                        </a:rPr>
                        <a:t>0.013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30" dirty="0">
                          <a:latin typeface="Arial MT"/>
                          <a:cs typeface="Arial MT"/>
                        </a:rPr>
                        <a:t>0.31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L="170815">
                        <a:lnSpc>
                          <a:spcPct val="100000"/>
                        </a:lnSpc>
                        <a:spcBef>
                          <a:spcPts val="200"/>
                        </a:spcBef>
                        <a:tabLst>
                          <a:tab pos="687705" algn="l"/>
                        </a:tabLst>
                      </a:pPr>
                      <a:r>
                        <a:rPr sz="700" spc="-10" dirty="0">
                          <a:latin typeface="Arial MT"/>
                          <a:cs typeface="Arial MT"/>
                        </a:rPr>
                        <a:t>0.014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30" dirty="0">
                          <a:latin typeface="Arial MT"/>
                          <a:cs typeface="Arial MT"/>
                        </a:rPr>
                        <a:t>0.34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L="170815">
                        <a:lnSpc>
                          <a:spcPct val="100000"/>
                        </a:lnSpc>
                        <a:spcBef>
                          <a:spcPts val="204"/>
                        </a:spcBef>
                        <a:tabLst>
                          <a:tab pos="687705" algn="l"/>
                        </a:tabLst>
                      </a:pPr>
                      <a:r>
                        <a:rPr sz="700" spc="-10" dirty="0">
                          <a:latin typeface="Arial MT"/>
                          <a:cs typeface="Arial MT"/>
                        </a:rPr>
                        <a:t>0.016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30" dirty="0">
                          <a:latin typeface="Arial MT"/>
                          <a:cs typeface="Arial MT"/>
                        </a:rPr>
                        <a:t>0.11</a:t>
                      </a:r>
                      <a:endParaRPr sz="700">
                        <a:latin typeface="Arial MT"/>
                        <a:cs typeface="Arial MT"/>
                      </a:endParaRPr>
                    </a:p>
                  </a:txBody>
                  <a:tcPr marL="0" marR="0" marT="6985" marB="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rowSpan="15">
                  <a:txBody>
                    <a:bodyPr/>
                    <a:lstStyle/>
                    <a:p>
                      <a:pPr marR="41910" algn="r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700" spc="30" dirty="0">
                          <a:latin typeface="Arial MT"/>
                          <a:cs typeface="Arial MT"/>
                        </a:rPr>
                        <a:t>0.04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41910" algn="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700" spc="30" dirty="0">
                          <a:latin typeface="Arial MT"/>
                          <a:cs typeface="Arial MT"/>
                        </a:rPr>
                        <a:t>0.14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41910" algn="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700" spc="30" dirty="0">
                          <a:latin typeface="Arial MT"/>
                          <a:cs typeface="Arial MT"/>
                        </a:rPr>
                        <a:t>0.07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48895" algn="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2.6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48895" algn="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8.4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41910" algn="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700" spc="30" dirty="0">
                          <a:latin typeface="Arial MT"/>
                          <a:cs typeface="Arial MT"/>
                        </a:rPr>
                        <a:t>0.08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41910" algn="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700" spc="30" dirty="0">
                          <a:latin typeface="Arial MT"/>
                          <a:cs typeface="Arial MT"/>
                        </a:rPr>
                        <a:t>0.34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48895" algn="r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0.6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48895" algn="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0.9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48895" algn="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0.9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48895" algn="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700" spc="-50" dirty="0">
                          <a:latin typeface="Arial MT"/>
                          <a:cs typeface="Arial MT"/>
                        </a:rPr>
                        <a:t>1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48895" algn="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700" spc="-50" dirty="0">
                          <a:latin typeface="Arial MT"/>
                          <a:cs typeface="Arial MT"/>
                        </a:rPr>
                        <a:t>1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48895" algn="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0.2</a:t>
                      </a:r>
                      <a:endParaRPr sz="700">
                        <a:latin typeface="Arial MT"/>
                        <a:cs typeface="Arial MT"/>
                      </a:endParaRPr>
                    </a:p>
                    <a:p>
                      <a:pPr marR="41910" algn="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700" spc="30" dirty="0">
                          <a:latin typeface="Arial MT"/>
                          <a:cs typeface="Arial MT"/>
                        </a:rPr>
                        <a:t>0.82</a:t>
                      </a:r>
                      <a:endParaRPr sz="700">
                        <a:latin typeface="Arial MT"/>
                        <a:cs typeface="Arial MT"/>
                      </a:endParaRPr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rowSpan="15">
                  <a:txBody>
                    <a:bodyPr/>
                    <a:lstStyle/>
                    <a:p>
                      <a:pPr marR="9525" algn="r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700" spc="45" dirty="0">
                          <a:latin typeface="Arial MT"/>
                          <a:cs typeface="Arial MT"/>
                        </a:rPr>
                        <a:t>0.001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R="9525" algn="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700" spc="45" dirty="0">
                          <a:latin typeface="Arial MT"/>
                          <a:cs typeface="Arial MT"/>
                        </a:rPr>
                        <a:t>0.001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R="9525" algn="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700" spc="45" dirty="0">
                          <a:latin typeface="Arial MT"/>
                          <a:cs typeface="Arial MT"/>
                        </a:rPr>
                        <a:t>0.002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R="16510" algn="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0.4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R="9525" algn="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700" spc="30" dirty="0">
                          <a:latin typeface="Arial MT"/>
                          <a:cs typeface="Arial MT"/>
                        </a:rPr>
                        <a:t>0.17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R="9525" algn="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700" spc="30" dirty="0">
                          <a:latin typeface="Arial MT"/>
                          <a:cs typeface="Arial MT"/>
                        </a:rPr>
                        <a:t>0.05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R="9525" algn="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700" spc="30" dirty="0">
                          <a:latin typeface="Arial MT"/>
                          <a:cs typeface="Arial MT"/>
                        </a:rPr>
                        <a:t>0.05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R="16510" algn="r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sz="700" spc="-20" dirty="0">
                          <a:latin typeface="Arial MT"/>
                          <a:cs typeface="Arial MT"/>
                        </a:rPr>
                        <a:t>0.07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R="16510" algn="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700" spc="-20" dirty="0">
                          <a:latin typeface="Arial MT"/>
                          <a:cs typeface="Arial MT"/>
                        </a:rPr>
                        <a:t>0.06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R="16510" algn="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0.9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R="16510" algn="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5.6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R="16510" algn="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18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R="16510" algn="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30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R="9525" algn="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700" spc="45" dirty="0">
                          <a:latin typeface="Arial MT"/>
                          <a:cs typeface="Arial MT"/>
                        </a:rPr>
                        <a:t>35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rowSpan="15">
                  <a:txBody>
                    <a:bodyPr/>
                    <a:lstStyle/>
                    <a:p>
                      <a:pPr marL="371475">
                        <a:lnSpc>
                          <a:spcPct val="100000"/>
                        </a:lnSpc>
                        <a:spcBef>
                          <a:spcPts val="55"/>
                        </a:spcBef>
                        <a:tabLst>
                          <a:tab pos="828675" algn="l"/>
                        </a:tabLst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0.1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-25" dirty="0">
                          <a:latin typeface="Arial MT"/>
                          <a:cs typeface="Arial MT"/>
                        </a:rPr>
                        <a:t>0.3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L="372110">
                        <a:lnSpc>
                          <a:spcPct val="100000"/>
                        </a:lnSpc>
                        <a:spcBef>
                          <a:spcPts val="200"/>
                        </a:spcBef>
                        <a:tabLst>
                          <a:tab pos="769620" algn="l"/>
                        </a:tabLst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1.8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-20" dirty="0">
                          <a:latin typeface="Arial MT"/>
                          <a:cs typeface="Arial MT"/>
                        </a:rPr>
                        <a:t>0.57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L="312420">
                        <a:lnSpc>
                          <a:spcPct val="100000"/>
                        </a:lnSpc>
                        <a:spcBef>
                          <a:spcPts val="204"/>
                        </a:spcBef>
                        <a:tabLst>
                          <a:tab pos="769620" algn="l"/>
                        </a:tabLst>
                      </a:pPr>
                      <a:r>
                        <a:rPr sz="700" spc="-20" dirty="0">
                          <a:latin typeface="Arial MT"/>
                          <a:cs typeface="Arial MT"/>
                        </a:rPr>
                        <a:t>0.23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30" dirty="0">
                          <a:latin typeface="Arial MT"/>
                          <a:cs typeface="Arial MT"/>
                        </a:rPr>
                        <a:t>0.31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L="312420">
                        <a:lnSpc>
                          <a:spcPct val="100000"/>
                        </a:lnSpc>
                        <a:spcBef>
                          <a:spcPts val="204"/>
                        </a:spcBef>
                        <a:tabLst>
                          <a:tab pos="913130" algn="l"/>
                        </a:tabLst>
                      </a:pPr>
                      <a:r>
                        <a:rPr sz="700" spc="-20" dirty="0">
                          <a:latin typeface="Arial MT"/>
                          <a:cs typeface="Arial MT"/>
                        </a:rPr>
                        <a:t>0.01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-50" dirty="0">
                          <a:latin typeface="Arial MT"/>
                          <a:cs typeface="Arial MT"/>
                        </a:rPr>
                        <a:t>3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L="396875">
                        <a:lnSpc>
                          <a:spcPct val="100000"/>
                        </a:lnSpc>
                        <a:spcBef>
                          <a:spcPts val="204"/>
                        </a:spcBef>
                        <a:tabLst>
                          <a:tab pos="828675" algn="l"/>
                        </a:tabLst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10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-25" dirty="0">
                          <a:latin typeface="Arial MT"/>
                          <a:cs typeface="Arial MT"/>
                        </a:rPr>
                        <a:t>1.6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L="312420">
                        <a:lnSpc>
                          <a:spcPct val="100000"/>
                        </a:lnSpc>
                        <a:spcBef>
                          <a:spcPts val="204"/>
                        </a:spcBef>
                        <a:tabLst>
                          <a:tab pos="769620" algn="l"/>
                        </a:tabLst>
                      </a:pPr>
                      <a:r>
                        <a:rPr sz="700" spc="-20" dirty="0">
                          <a:latin typeface="Arial MT"/>
                          <a:cs typeface="Arial MT"/>
                        </a:rPr>
                        <a:t>0.14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30" dirty="0">
                          <a:latin typeface="Arial MT"/>
                          <a:cs typeface="Arial MT"/>
                        </a:rPr>
                        <a:t>0.27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L="312420">
                        <a:lnSpc>
                          <a:spcPct val="100000"/>
                        </a:lnSpc>
                        <a:spcBef>
                          <a:spcPts val="200"/>
                        </a:spcBef>
                        <a:tabLst>
                          <a:tab pos="769620" algn="l"/>
                        </a:tabLst>
                      </a:pPr>
                      <a:r>
                        <a:rPr sz="700" spc="-20" dirty="0">
                          <a:latin typeface="Arial MT"/>
                          <a:cs typeface="Arial MT"/>
                        </a:rPr>
                        <a:t>0.14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30" dirty="0">
                          <a:latin typeface="Arial MT"/>
                          <a:cs typeface="Arial MT"/>
                        </a:rPr>
                        <a:t>0.34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L="312420">
                        <a:lnSpc>
                          <a:spcPct val="100000"/>
                        </a:lnSpc>
                        <a:spcBef>
                          <a:spcPts val="210"/>
                        </a:spcBef>
                        <a:tabLst>
                          <a:tab pos="769620" algn="l"/>
                        </a:tabLst>
                      </a:pPr>
                      <a:r>
                        <a:rPr sz="700" spc="-20" dirty="0">
                          <a:latin typeface="Arial MT"/>
                          <a:cs typeface="Arial MT"/>
                        </a:rPr>
                        <a:t>0.08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-20" dirty="0">
                          <a:latin typeface="Arial MT"/>
                          <a:cs typeface="Arial MT"/>
                        </a:rPr>
                        <a:t>0.19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L="312420">
                        <a:lnSpc>
                          <a:spcPct val="100000"/>
                        </a:lnSpc>
                        <a:spcBef>
                          <a:spcPts val="204"/>
                        </a:spcBef>
                        <a:tabLst>
                          <a:tab pos="769620" algn="l"/>
                        </a:tabLst>
                      </a:pPr>
                      <a:r>
                        <a:rPr sz="700" spc="-20" dirty="0">
                          <a:latin typeface="Arial MT"/>
                          <a:cs typeface="Arial MT"/>
                        </a:rPr>
                        <a:t>0.08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-20" dirty="0">
                          <a:latin typeface="Arial MT"/>
                          <a:cs typeface="Arial MT"/>
                        </a:rPr>
                        <a:t>0.91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L="160020">
                        <a:lnSpc>
                          <a:spcPct val="100000"/>
                        </a:lnSpc>
                        <a:spcBef>
                          <a:spcPts val="204"/>
                        </a:spcBef>
                        <a:tabLst>
                          <a:tab pos="769620" algn="l"/>
                        </a:tabLst>
                      </a:pPr>
                      <a:r>
                        <a:rPr sz="700" spc="-10" dirty="0">
                          <a:latin typeface="Arial MT"/>
                          <a:cs typeface="Arial MT"/>
                        </a:rPr>
                        <a:t>0.1/1.5*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30" dirty="0">
                          <a:latin typeface="Arial MT"/>
                          <a:cs typeface="Arial MT"/>
                        </a:rPr>
                        <a:t>1.01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L="312420">
                        <a:lnSpc>
                          <a:spcPct val="100000"/>
                        </a:lnSpc>
                        <a:spcBef>
                          <a:spcPts val="204"/>
                        </a:spcBef>
                        <a:tabLst>
                          <a:tab pos="828675" algn="l"/>
                        </a:tabLst>
                      </a:pPr>
                      <a:r>
                        <a:rPr sz="700" spc="-20" dirty="0">
                          <a:latin typeface="Arial MT"/>
                          <a:cs typeface="Arial MT"/>
                        </a:rPr>
                        <a:t>0.03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-25" dirty="0">
                          <a:latin typeface="Arial MT"/>
                          <a:cs typeface="Arial MT"/>
                        </a:rPr>
                        <a:t>1.4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L="312420">
                        <a:lnSpc>
                          <a:spcPct val="100000"/>
                        </a:lnSpc>
                        <a:spcBef>
                          <a:spcPts val="204"/>
                        </a:spcBef>
                        <a:tabLst>
                          <a:tab pos="769620" algn="l"/>
                        </a:tabLst>
                      </a:pPr>
                      <a:r>
                        <a:rPr sz="700" spc="-20" dirty="0">
                          <a:latin typeface="Arial MT"/>
                          <a:cs typeface="Arial MT"/>
                        </a:rPr>
                        <a:t>0.08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-20" dirty="0">
                          <a:latin typeface="Arial MT"/>
                          <a:cs typeface="Arial MT"/>
                        </a:rPr>
                        <a:t>0.48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L="312420">
                        <a:lnSpc>
                          <a:spcPct val="100000"/>
                        </a:lnSpc>
                        <a:spcBef>
                          <a:spcPts val="200"/>
                        </a:spcBef>
                        <a:tabLst>
                          <a:tab pos="769620" algn="l"/>
                        </a:tabLst>
                      </a:pPr>
                      <a:r>
                        <a:rPr sz="700" spc="-20" dirty="0">
                          <a:latin typeface="Arial MT"/>
                          <a:cs typeface="Arial MT"/>
                        </a:rPr>
                        <a:t>0.07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-20" dirty="0">
                          <a:latin typeface="Arial MT"/>
                          <a:cs typeface="Arial MT"/>
                        </a:rPr>
                        <a:t>0.97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  <a:p>
                      <a:pPr marL="312420">
                        <a:lnSpc>
                          <a:spcPct val="100000"/>
                        </a:lnSpc>
                        <a:spcBef>
                          <a:spcPts val="204"/>
                        </a:spcBef>
                        <a:tabLst>
                          <a:tab pos="769620" algn="l"/>
                        </a:tabLst>
                      </a:pPr>
                      <a:r>
                        <a:rPr sz="700" spc="-20" dirty="0">
                          <a:latin typeface="Arial MT"/>
                          <a:cs typeface="Arial MT"/>
                        </a:rPr>
                        <a:t>0.08</a:t>
                      </a:r>
                      <a:r>
                        <a:rPr sz="700" dirty="0">
                          <a:latin typeface="Arial MT"/>
                          <a:cs typeface="Arial MT"/>
                        </a:rPr>
                        <a:t>	</a:t>
                      </a:r>
                      <a:r>
                        <a:rPr sz="700" spc="30" dirty="0">
                          <a:latin typeface="Arial MT"/>
                          <a:cs typeface="Arial MT"/>
                        </a:rPr>
                        <a:t>0.89</a:t>
                      </a:r>
                      <a:endParaRPr sz="700" dirty="0">
                        <a:latin typeface="Arial MT"/>
                        <a:cs typeface="Arial MT"/>
                      </a:endParaRPr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0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Sr</a:t>
                      </a:r>
                      <a:endParaRPr sz="700">
                        <a:latin typeface="Arial MT"/>
                        <a:cs typeface="Arial MT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20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Ba</a:t>
                      </a:r>
                      <a:endParaRPr sz="700">
                        <a:latin typeface="Arial MT"/>
                        <a:cs typeface="Arial MT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20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r>
                        <a:rPr sz="700" spc="25" dirty="0">
                          <a:latin typeface="Arial MT"/>
                          <a:cs typeface="Arial MT"/>
                        </a:rPr>
                        <a:t>Ni</a:t>
                      </a:r>
                      <a:endParaRPr sz="700">
                        <a:latin typeface="Arial MT"/>
                        <a:cs typeface="Arial MT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589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r>
                        <a:rPr sz="700" spc="25" dirty="0">
                          <a:latin typeface="Arial MT"/>
                          <a:cs typeface="Arial MT"/>
                        </a:rPr>
                        <a:t>Cr</a:t>
                      </a:r>
                      <a:endParaRPr sz="700">
                        <a:latin typeface="Arial MT"/>
                        <a:cs typeface="Arial MT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8905">
                <a:tc rowSpan="10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sz="700" spc="45" dirty="0">
                          <a:latin typeface="Arial MT"/>
                          <a:cs typeface="Arial MT"/>
                        </a:rPr>
                        <a:t>La</a:t>
                      </a:r>
                      <a:endParaRPr sz="700">
                        <a:latin typeface="Arial MT"/>
                        <a:cs typeface="Arial MT"/>
                      </a:endParaRPr>
                    </a:p>
                  </a:txBody>
                  <a:tcPr marL="0" marR="0" marT="635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solidFill>
                      <a:srgbClr val="5B5B5B"/>
                    </a:solidFill>
                  </a:tcPr>
                </a:tc>
                <a:tc rowSpan="9">
                  <a:txBody>
                    <a:bodyPr/>
                    <a:lstStyle/>
                    <a:p>
                      <a:pPr marL="7747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sz="800" dirty="0">
                          <a:latin typeface="Arial MT"/>
                          <a:cs typeface="Arial MT"/>
                        </a:rPr>
                        <a:t>Rare</a:t>
                      </a:r>
                      <a:r>
                        <a:rPr sz="8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800" dirty="0">
                          <a:latin typeface="Arial MT"/>
                          <a:cs typeface="Arial MT"/>
                        </a:rPr>
                        <a:t>Earth</a:t>
                      </a:r>
                      <a:r>
                        <a:rPr sz="8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800" spc="-10" dirty="0">
                          <a:latin typeface="Arial MT"/>
                          <a:cs typeface="Arial MT"/>
                        </a:rPr>
                        <a:t>Elements</a:t>
                      </a:r>
                      <a:endParaRPr sz="800">
                        <a:latin typeface="Arial MT"/>
                        <a:cs typeface="Arial MT"/>
                      </a:endParaRPr>
                    </a:p>
                  </a:txBody>
                  <a:tcPr marL="0" marR="0" marT="6350" marB="0" vert="vert27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271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r>
                        <a:rPr sz="700" spc="30" dirty="0">
                          <a:latin typeface="Arial MT"/>
                          <a:cs typeface="Arial MT"/>
                        </a:rPr>
                        <a:t>Ce</a:t>
                      </a:r>
                      <a:endParaRPr sz="700">
                        <a:latin typeface="Arial MT"/>
                        <a:cs typeface="Arial MT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350" marB="0" vert="vert27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271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700" spc="30" dirty="0">
                          <a:latin typeface="Arial MT"/>
                          <a:cs typeface="Arial MT"/>
                        </a:rPr>
                        <a:t>Nd</a:t>
                      </a:r>
                      <a:endParaRPr sz="700">
                        <a:latin typeface="Arial MT"/>
                        <a:cs typeface="Arial MT"/>
                      </a:endParaRPr>
                    </a:p>
                  </a:txBody>
                  <a:tcPr marL="0" marR="0" marT="1016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350" marB="0" vert="vert27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20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Sm</a:t>
                      </a:r>
                      <a:endParaRPr sz="700">
                        <a:latin typeface="Arial MT"/>
                        <a:cs typeface="Arial MT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350" marB="0" vert="vert27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20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Eu</a:t>
                      </a:r>
                      <a:endParaRPr sz="700">
                        <a:latin typeface="Arial MT"/>
                        <a:cs typeface="Arial MT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350" marB="0" vert="vert27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20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Tb</a:t>
                      </a:r>
                      <a:endParaRPr sz="700">
                        <a:latin typeface="Arial MT"/>
                        <a:cs typeface="Arial MT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350" marB="0" vert="vert27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20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Er</a:t>
                      </a:r>
                      <a:endParaRPr sz="700">
                        <a:latin typeface="Arial MT"/>
                        <a:cs typeface="Arial MT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350" marB="0" vert="vert27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20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r>
                        <a:rPr sz="700" spc="-25" dirty="0">
                          <a:latin typeface="Arial MT"/>
                          <a:cs typeface="Arial MT"/>
                        </a:rPr>
                        <a:t>Yb</a:t>
                      </a:r>
                      <a:endParaRPr sz="700">
                        <a:latin typeface="Arial MT"/>
                        <a:cs typeface="Arial MT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350" marB="0" vert="vert27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7747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ts val="430"/>
                        </a:lnSpc>
                        <a:spcBef>
                          <a:spcPts val="75"/>
                        </a:spcBef>
                      </a:pPr>
                      <a:r>
                        <a:rPr sz="700" spc="45" dirty="0">
                          <a:latin typeface="Arial MT"/>
                          <a:cs typeface="Arial MT"/>
                        </a:rPr>
                        <a:t>Lu</a:t>
                      </a:r>
                      <a:endParaRPr sz="700">
                        <a:latin typeface="Arial MT"/>
                        <a:cs typeface="Arial MT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350" marB="0" vert="vert27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841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5B5B5B"/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6985" marB="0"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5B5B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6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5B5B5B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650" spc="10" dirty="0">
                          <a:latin typeface="Arial MT"/>
                          <a:cs typeface="Arial MT"/>
                        </a:rPr>
                        <a:t>data</a:t>
                      </a:r>
                      <a:r>
                        <a:rPr sz="650" spc="15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650" spc="10" dirty="0">
                          <a:latin typeface="Arial MT"/>
                          <a:cs typeface="Arial MT"/>
                        </a:rPr>
                        <a:t>f</a:t>
                      </a:r>
                      <a:r>
                        <a:rPr sz="650" spc="-7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650" spc="10" dirty="0">
                          <a:latin typeface="Arial MT"/>
                          <a:cs typeface="Arial MT"/>
                        </a:rPr>
                        <a:t>rom</a:t>
                      </a:r>
                      <a:r>
                        <a:rPr sz="650" spc="7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650" spc="10" dirty="0">
                          <a:latin typeface="Arial MT"/>
                          <a:cs typeface="Arial MT"/>
                        </a:rPr>
                        <a:t>Henderson</a:t>
                      </a:r>
                      <a:r>
                        <a:rPr sz="650" spc="15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650" spc="-10" dirty="0">
                          <a:latin typeface="Arial MT"/>
                          <a:cs typeface="Arial MT"/>
                        </a:rPr>
                        <a:t>(1982)</a:t>
                      </a:r>
                      <a:endParaRPr sz="650">
                        <a:latin typeface="Arial MT"/>
                        <a:cs typeface="Arial MT"/>
                      </a:endParaRPr>
                    </a:p>
                  </a:txBody>
                  <a:tcPr marL="0" marR="0" marT="13335" marB="0">
                    <a:lnT w="9525">
                      <a:solidFill>
                        <a:srgbClr val="000000"/>
                      </a:solidFill>
                      <a:prstDash val="solid"/>
                    </a:lnT>
                    <a:solidFill>
                      <a:srgbClr val="5B5B5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7620" algn="ct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650" dirty="0">
                          <a:latin typeface="Arial MT"/>
                          <a:cs typeface="Arial MT"/>
                        </a:rPr>
                        <a:t>*</a:t>
                      </a:r>
                      <a:r>
                        <a:rPr sz="650" spc="3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650" spc="-10" dirty="0">
                          <a:latin typeface="Arial MT"/>
                          <a:cs typeface="Arial MT"/>
                        </a:rPr>
                        <a:t>Eu</a:t>
                      </a:r>
                      <a:r>
                        <a:rPr sz="600" spc="-15" baseline="27777" dirty="0">
                          <a:latin typeface="Arial MT"/>
                          <a:cs typeface="Arial MT"/>
                        </a:rPr>
                        <a:t>3+</a:t>
                      </a:r>
                      <a:r>
                        <a:rPr sz="650" spc="-10" dirty="0">
                          <a:latin typeface="Arial MT"/>
                          <a:cs typeface="Arial MT"/>
                        </a:rPr>
                        <a:t>/Eu</a:t>
                      </a:r>
                      <a:r>
                        <a:rPr sz="600" spc="-15" baseline="27777" dirty="0">
                          <a:latin typeface="Arial MT"/>
                          <a:cs typeface="Arial MT"/>
                        </a:rPr>
                        <a:t>2+</a:t>
                      </a:r>
                      <a:endParaRPr sz="600" baseline="27777">
                        <a:latin typeface="Arial MT"/>
                        <a:cs typeface="Arial MT"/>
                      </a:endParaRPr>
                    </a:p>
                  </a:txBody>
                  <a:tcPr marL="0" marR="0" marT="13335" marB="0">
                    <a:lnT w="9525">
                      <a:solidFill>
                        <a:srgbClr val="000000"/>
                      </a:solidFill>
                      <a:prstDash val="solid"/>
                    </a:lnT>
                    <a:solidFill>
                      <a:srgbClr val="5B5B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  <a:solidFill>
                      <a:srgbClr val="5B5B5B"/>
                    </a:solidFill>
                  </a:tcPr>
                </a:tc>
                <a:tc>
                  <a:txBody>
                    <a:bodyPr/>
                    <a:lstStyle/>
                    <a:p>
                      <a:pPr marR="111760" algn="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650" i="1" dirty="0">
                          <a:latin typeface="Arial"/>
                          <a:cs typeface="Arial"/>
                        </a:rPr>
                        <a:t>Italics</a:t>
                      </a:r>
                      <a:r>
                        <a:rPr sz="650" i="1" spc="4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650" dirty="0">
                          <a:latin typeface="Arial MT"/>
                          <a:cs typeface="Arial MT"/>
                        </a:rPr>
                        <a:t>are</a:t>
                      </a:r>
                      <a:r>
                        <a:rPr sz="650" spc="16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650" spc="-10" dirty="0">
                          <a:latin typeface="Arial MT"/>
                          <a:cs typeface="Arial MT"/>
                        </a:rPr>
                        <a:t>estimated</a:t>
                      </a:r>
                      <a:endParaRPr sz="650" dirty="0">
                        <a:latin typeface="Arial MT"/>
                        <a:cs typeface="Arial MT"/>
                      </a:endParaRPr>
                    </a:p>
                  </a:txBody>
                  <a:tcPr marL="0" marR="0" marT="13335" marB="0">
                    <a:lnT w="9525">
                      <a:solidFill>
                        <a:srgbClr val="000000"/>
                      </a:solidFill>
                      <a:prstDash val="solid"/>
                    </a:lnT>
                    <a:solidFill>
                      <a:srgbClr val="5B5B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object 3">
            <a:extLst>
              <a:ext uri="{FF2B5EF4-FFF2-40B4-BE49-F238E27FC236}">
                <a16:creationId xmlns:a16="http://schemas.microsoft.com/office/drawing/2014/main" id="{91CAFD4E-35DD-44BE-808F-0D81C380C30B}"/>
              </a:ext>
            </a:extLst>
          </p:cNvPr>
          <p:cNvSpPr txBox="1"/>
          <p:nvPr/>
        </p:nvSpPr>
        <p:spPr>
          <a:xfrm>
            <a:off x="381000" y="238188"/>
            <a:ext cx="9144000" cy="26708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26415" marR="5080" indent="-457200">
              <a:lnSpc>
                <a:spcPct val="120400"/>
              </a:lnSpc>
              <a:spcBef>
                <a:spcPts val="100"/>
              </a:spcBef>
            </a:pPr>
            <a:r>
              <a:rPr sz="2400" dirty="0">
                <a:latin typeface="+mj-lt"/>
                <a:cs typeface="Times New Roman"/>
              </a:rPr>
              <a:t>Contrasts</a:t>
            </a:r>
            <a:r>
              <a:rPr sz="2400" spc="-35" dirty="0">
                <a:latin typeface="+mj-lt"/>
                <a:cs typeface="Times New Roman"/>
              </a:rPr>
              <a:t> </a:t>
            </a:r>
            <a:r>
              <a:rPr sz="2400" dirty="0">
                <a:latin typeface="+mj-lt"/>
                <a:cs typeface="Times New Roman"/>
              </a:rPr>
              <a:t>and</a:t>
            </a:r>
            <a:r>
              <a:rPr sz="2400" spc="-35" dirty="0">
                <a:latin typeface="+mj-lt"/>
                <a:cs typeface="Times New Roman"/>
              </a:rPr>
              <a:t> </a:t>
            </a:r>
            <a:r>
              <a:rPr sz="2400" dirty="0">
                <a:latin typeface="+mj-lt"/>
                <a:cs typeface="Times New Roman"/>
              </a:rPr>
              <a:t>similarities</a:t>
            </a:r>
            <a:r>
              <a:rPr sz="2400" spc="-35" dirty="0">
                <a:latin typeface="+mj-lt"/>
                <a:cs typeface="Times New Roman"/>
              </a:rPr>
              <a:t> </a:t>
            </a:r>
            <a:r>
              <a:rPr sz="2400" dirty="0">
                <a:latin typeface="+mj-lt"/>
                <a:cs typeface="Times New Roman"/>
              </a:rPr>
              <a:t>in</a:t>
            </a:r>
            <a:r>
              <a:rPr sz="2400" spc="-35" dirty="0">
                <a:latin typeface="+mj-lt"/>
                <a:cs typeface="Times New Roman"/>
              </a:rPr>
              <a:t> </a:t>
            </a:r>
            <a:r>
              <a:rPr sz="2400" dirty="0">
                <a:latin typeface="+mj-lt"/>
                <a:cs typeface="Times New Roman"/>
              </a:rPr>
              <a:t>the</a:t>
            </a:r>
            <a:r>
              <a:rPr sz="2400" spc="-35" dirty="0">
                <a:latin typeface="+mj-lt"/>
                <a:cs typeface="Times New Roman"/>
              </a:rPr>
              <a:t> </a:t>
            </a:r>
            <a:r>
              <a:rPr sz="2400" dirty="0">
                <a:latin typeface="+mj-lt"/>
                <a:cs typeface="Times New Roman"/>
              </a:rPr>
              <a:t>D</a:t>
            </a:r>
            <a:r>
              <a:rPr sz="2400" spc="-35" dirty="0">
                <a:latin typeface="+mj-lt"/>
                <a:cs typeface="Times New Roman"/>
              </a:rPr>
              <a:t> </a:t>
            </a:r>
            <a:r>
              <a:rPr sz="2400" spc="-10" dirty="0">
                <a:latin typeface="+mj-lt"/>
                <a:cs typeface="Times New Roman"/>
              </a:rPr>
              <a:t>values: </a:t>
            </a:r>
            <a:r>
              <a:rPr sz="2400" dirty="0">
                <a:latin typeface="+mj-lt"/>
                <a:cs typeface="Times New Roman"/>
              </a:rPr>
              <a:t>All</a:t>
            </a:r>
            <a:r>
              <a:rPr sz="2400" spc="-25" dirty="0">
                <a:latin typeface="+mj-lt"/>
                <a:cs typeface="Times New Roman"/>
              </a:rPr>
              <a:t> </a:t>
            </a:r>
            <a:r>
              <a:rPr sz="2400" dirty="0">
                <a:latin typeface="+mj-lt"/>
                <a:cs typeface="Times New Roman"/>
              </a:rPr>
              <a:t>are</a:t>
            </a:r>
            <a:r>
              <a:rPr sz="2400" spc="-20" dirty="0">
                <a:latin typeface="+mj-lt"/>
                <a:cs typeface="Times New Roman"/>
              </a:rPr>
              <a:t> </a:t>
            </a:r>
            <a:r>
              <a:rPr sz="2400" spc="-10" dirty="0">
                <a:latin typeface="+mj-lt"/>
                <a:cs typeface="Times New Roman"/>
              </a:rPr>
              <a:t>incompatible</a:t>
            </a:r>
            <a:endParaRPr sz="2400" dirty="0">
              <a:latin typeface="+mj-lt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890"/>
              </a:spcBef>
            </a:pPr>
            <a:endParaRPr sz="2400" dirty="0">
              <a:latin typeface="+mj-lt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latin typeface="+mj-lt"/>
                <a:cs typeface="Times New Roman"/>
              </a:rPr>
              <a:t>Also </a:t>
            </a:r>
            <a:r>
              <a:rPr sz="2400" spc="-10" dirty="0">
                <a:latin typeface="+mj-lt"/>
                <a:cs typeface="Times New Roman"/>
              </a:rPr>
              <a:t>Note:</a:t>
            </a:r>
            <a:endParaRPr sz="2400" dirty="0">
              <a:latin typeface="+mj-lt"/>
              <a:cs typeface="Times New Roman"/>
            </a:endParaRPr>
          </a:p>
          <a:p>
            <a:pPr marL="203200" marR="2045970" indent="-190500">
              <a:lnSpc>
                <a:spcPct val="100000"/>
              </a:lnSpc>
              <a:spcBef>
                <a:spcPts val="650"/>
              </a:spcBef>
            </a:pPr>
            <a:r>
              <a:rPr sz="2400" dirty="0">
                <a:latin typeface="+mj-lt"/>
                <a:cs typeface="Times New Roman"/>
              </a:rPr>
              <a:t>HREE</a:t>
            </a:r>
            <a:r>
              <a:rPr sz="2400" spc="-45" dirty="0">
                <a:latin typeface="+mj-lt"/>
                <a:cs typeface="Times New Roman"/>
              </a:rPr>
              <a:t> </a:t>
            </a:r>
            <a:r>
              <a:rPr sz="2400" dirty="0">
                <a:latin typeface="+mj-lt"/>
                <a:cs typeface="Times New Roman"/>
              </a:rPr>
              <a:t>are</a:t>
            </a:r>
            <a:r>
              <a:rPr sz="2400" spc="-40" dirty="0">
                <a:latin typeface="+mj-lt"/>
                <a:cs typeface="Times New Roman"/>
              </a:rPr>
              <a:t> </a:t>
            </a:r>
            <a:r>
              <a:rPr sz="2400" spc="-20" dirty="0">
                <a:latin typeface="+mj-lt"/>
                <a:cs typeface="Times New Roman"/>
              </a:rPr>
              <a:t>less </a:t>
            </a:r>
            <a:r>
              <a:rPr sz="2400" spc="-10" dirty="0">
                <a:latin typeface="+mj-lt"/>
                <a:cs typeface="Times New Roman"/>
              </a:rPr>
              <a:t>incompatible</a:t>
            </a:r>
            <a:endParaRPr sz="2400" dirty="0">
              <a:latin typeface="+mj-lt"/>
              <a:cs typeface="Times New Roman"/>
            </a:endParaRPr>
          </a:p>
          <a:p>
            <a:pPr marL="203200" marR="2125980" indent="-76200">
              <a:lnSpc>
                <a:spcPct val="100000"/>
              </a:lnSpc>
              <a:spcBef>
                <a:spcPts val="640"/>
              </a:spcBef>
            </a:pPr>
            <a:r>
              <a:rPr sz="2400" spc="-10" dirty="0">
                <a:latin typeface="+mj-lt"/>
                <a:cs typeface="Times New Roman"/>
              </a:rPr>
              <a:t>Especially</a:t>
            </a:r>
            <a:r>
              <a:rPr sz="2400" spc="-5" dirty="0">
                <a:latin typeface="+mj-lt"/>
                <a:cs typeface="Times New Roman"/>
              </a:rPr>
              <a:t> </a:t>
            </a:r>
            <a:r>
              <a:rPr sz="2400" spc="-25" dirty="0">
                <a:latin typeface="+mj-lt"/>
                <a:cs typeface="Times New Roman"/>
              </a:rPr>
              <a:t>in </a:t>
            </a:r>
            <a:r>
              <a:rPr sz="2400" spc="-10" dirty="0">
                <a:latin typeface="+mj-lt"/>
                <a:cs typeface="Times New Roman"/>
              </a:rPr>
              <a:t>garnet</a:t>
            </a:r>
            <a:endParaRPr sz="2400" dirty="0">
              <a:latin typeface="+mj-lt"/>
              <a:cs typeface="Times New Roman"/>
            </a:endParaRPr>
          </a:p>
          <a:p>
            <a:pPr marL="203200" marR="1998980" indent="-190500">
              <a:lnSpc>
                <a:spcPct val="99000"/>
              </a:lnSpc>
              <a:spcBef>
                <a:spcPts val="690"/>
              </a:spcBef>
            </a:pPr>
            <a:r>
              <a:rPr sz="2400" dirty="0">
                <a:latin typeface="+mj-lt"/>
                <a:cs typeface="Times New Roman"/>
              </a:rPr>
              <a:t>Eu</a:t>
            </a:r>
            <a:r>
              <a:rPr sz="2400" spc="-15" dirty="0">
                <a:latin typeface="+mj-lt"/>
                <a:cs typeface="Times New Roman"/>
              </a:rPr>
              <a:t> </a:t>
            </a:r>
            <a:r>
              <a:rPr sz="2400" dirty="0">
                <a:latin typeface="+mj-lt"/>
                <a:cs typeface="Times New Roman"/>
              </a:rPr>
              <a:t>can</a:t>
            </a:r>
            <a:r>
              <a:rPr sz="2400" spc="-15" dirty="0">
                <a:latin typeface="+mj-lt"/>
                <a:cs typeface="Times New Roman"/>
              </a:rPr>
              <a:t> </a:t>
            </a:r>
            <a:r>
              <a:rPr sz="2400" spc="-35" dirty="0">
                <a:latin typeface="+mj-lt"/>
                <a:cs typeface="Times New Roman"/>
              </a:rPr>
              <a:t>2+ </a:t>
            </a:r>
            <a:r>
              <a:rPr sz="2400" dirty="0">
                <a:latin typeface="+mj-lt"/>
                <a:cs typeface="Times New Roman"/>
              </a:rPr>
              <a:t>which</a:t>
            </a:r>
            <a:r>
              <a:rPr sz="2400" spc="-35" dirty="0">
                <a:latin typeface="+mj-lt"/>
                <a:cs typeface="Times New Roman"/>
              </a:rPr>
              <a:t> </a:t>
            </a:r>
            <a:r>
              <a:rPr sz="2400" spc="-10" dirty="0">
                <a:latin typeface="+mj-lt"/>
                <a:cs typeface="Times New Roman"/>
              </a:rPr>
              <a:t>conc. </a:t>
            </a:r>
            <a:r>
              <a:rPr sz="2400" dirty="0">
                <a:latin typeface="+mj-lt"/>
                <a:cs typeface="Times New Roman"/>
              </a:rPr>
              <a:t>in</a:t>
            </a:r>
            <a:r>
              <a:rPr sz="2400" spc="-10" dirty="0">
                <a:latin typeface="+mj-lt"/>
                <a:cs typeface="Times New Roman"/>
              </a:rPr>
              <a:t> plagioclase</a:t>
            </a:r>
            <a:endParaRPr sz="2400" dirty="0">
              <a:latin typeface="+mj-lt"/>
              <a:cs typeface="Times New Roman"/>
            </a:endParaRPr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CE7D7E56-AC22-4E26-9193-C90943DE2D06}"/>
              </a:ext>
            </a:extLst>
          </p:cNvPr>
          <p:cNvSpPr/>
          <p:nvPr/>
        </p:nvSpPr>
        <p:spPr>
          <a:xfrm>
            <a:off x="6836157" y="4607814"/>
            <a:ext cx="437515" cy="0"/>
          </a:xfrm>
          <a:custGeom>
            <a:avLst/>
            <a:gdLst/>
            <a:ahLst/>
            <a:cxnLst/>
            <a:rect l="l" t="t" r="r" b="b"/>
            <a:pathLst>
              <a:path w="437514">
                <a:moveTo>
                  <a:pt x="0" y="0"/>
                </a:moveTo>
                <a:lnTo>
                  <a:pt x="437388" y="0"/>
                </a:lnTo>
              </a:path>
            </a:pathLst>
          </a:custGeom>
          <a:ln w="2819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3">
            <a:extLst>
              <a:ext uri="{FF2B5EF4-FFF2-40B4-BE49-F238E27FC236}">
                <a16:creationId xmlns:a16="http://schemas.microsoft.com/office/drawing/2014/main" id="{94BAAEDB-25D4-4E76-B87E-A1C457040F46}"/>
              </a:ext>
            </a:extLst>
          </p:cNvPr>
          <p:cNvSpPr txBox="1">
            <a:spLocks/>
          </p:cNvSpPr>
          <p:nvPr/>
        </p:nvSpPr>
        <p:spPr>
          <a:xfrm>
            <a:off x="7544561" y="9802411"/>
            <a:ext cx="175895" cy="2171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38100">
              <a:lnSpc>
                <a:spcPts val="1585"/>
              </a:lnSpc>
            </a:pPr>
            <a:fld id="{81D60167-4931-47E6-BA6A-407CBD079E47}" type="slidenum">
              <a:rPr lang="en-IN" spc="-50" smtClean="0"/>
              <a:pPr marL="38100">
                <a:lnSpc>
                  <a:spcPts val="1585"/>
                </a:lnSpc>
              </a:pPr>
              <a:t>5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1127079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ACA88-51D2-43DF-8C2B-7AB29BF75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1371600"/>
            <a:ext cx="6858000" cy="1143000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1019"/>
              </a:spcBef>
            </a:pPr>
            <a:r>
              <a:rPr lang="en-US" sz="3600" dirty="0">
                <a:latin typeface="Times New Roman"/>
                <a:cs typeface="Times New Roman"/>
              </a:rPr>
              <a:t>REE</a:t>
            </a:r>
            <a:r>
              <a:rPr lang="en-US" sz="3600" spc="-60" dirty="0">
                <a:latin typeface="Times New Roman"/>
                <a:cs typeface="Times New Roman"/>
              </a:rPr>
              <a:t> </a:t>
            </a:r>
            <a:r>
              <a:rPr lang="en-US" sz="3600" spc="-10" dirty="0">
                <a:latin typeface="Times New Roman"/>
                <a:cs typeface="Times New Roman"/>
              </a:rPr>
              <a:t>Diagrams</a:t>
            </a:r>
            <a:br>
              <a:rPr lang="en-US" sz="3600" spc="-10" dirty="0">
                <a:latin typeface="Times New Roman"/>
                <a:cs typeface="Times New Roman"/>
              </a:rPr>
            </a:br>
            <a:br>
              <a:rPr lang="en-US" sz="6000" dirty="0">
                <a:latin typeface="Times New Roman"/>
                <a:cs typeface="Times New Roman"/>
              </a:rPr>
            </a:br>
            <a:r>
              <a:rPr lang="en-US" sz="2400" dirty="0">
                <a:latin typeface="Times New Roman"/>
                <a:cs typeface="Times New Roman"/>
              </a:rPr>
              <a:t>Plots</a:t>
            </a:r>
            <a:r>
              <a:rPr lang="en-US" sz="2400" spc="-30" dirty="0">
                <a:latin typeface="Times New Roman"/>
                <a:cs typeface="Times New Roman"/>
              </a:rPr>
              <a:t> </a:t>
            </a:r>
            <a:r>
              <a:rPr lang="en-US" sz="2400" dirty="0">
                <a:latin typeface="Times New Roman"/>
                <a:cs typeface="Times New Roman"/>
              </a:rPr>
              <a:t>of</a:t>
            </a:r>
            <a:r>
              <a:rPr lang="en-US" sz="2400" spc="-30" dirty="0">
                <a:latin typeface="Times New Roman"/>
                <a:cs typeface="Times New Roman"/>
              </a:rPr>
              <a:t> </a:t>
            </a:r>
            <a:r>
              <a:rPr lang="en-US" sz="2400" spc="-10" dirty="0">
                <a:latin typeface="Times New Roman"/>
                <a:cs typeface="Times New Roman"/>
              </a:rPr>
              <a:t>concentration</a:t>
            </a:r>
            <a:r>
              <a:rPr lang="en-US" sz="2400" spc="-25" dirty="0">
                <a:latin typeface="Times New Roman"/>
                <a:cs typeface="Times New Roman"/>
              </a:rPr>
              <a:t> </a:t>
            </a:r>
            <a:r>
              <a:rPr lang="en-US" sz="2400" dirty="0">
                <a:latin typeface="Times New Roman"/>
                <a:cs typeface="Times New Roman"/>
              </a:rPr>
              <a:t>as</a:t>
            </a:r>
            <a:r>
              <a:rPr lang="en-US" sz="2400" spc="-30" dirty="0">
                <a:latin typeface="Times New Roman"/>
                <a:cs typeface="Times New Roman"/>
              </a:rPr>
              <a:t> </a:t>
            </a:r>
            <a:r>
              <a:rPr lang="en-US" sz="2400" dirty="0">
                <a:latin typeface="Times New Roman"/>
                <a:cs typeface="Times New Roman"/>
              </a:rPr>
              <a:t>the</a:t>
            </a:r>
            <a:r>
              <a:rPr lang="en-US" sz="2400" spc="-30" dirty="0">
                <a:latin typeface="Times New Roman"/>
                <a:cs typeface="Times New Roman"/>
              </a:rPr>
              <a:t> </a:t>
            </a:r>
            <a:r>
              <a:rPr lang="en-US" sz="2400" dirty="0">
                <a:latin typeface="Times New Roman"/>
                <a:cs typeface="Times New Roman"/>
              </a:rPr>
              <a:t>ordinate</a:t>
            </a:r>
            <a:r>
              <a:rPr lang="en-US" sz="2400" spc="-25" dirty="0">
                <a:latin typeface="Times New Roman"/>
                <a:cs typeface="Times New Roman"/>
              </a:rPr>
              <a:t> </a:t>
            </a:r>
            <a:r>
              <a:rPr lang="en-US" sz="2400" spc="-10" dirty="0">
                <a:latin typeface="Times New Roman"/>
                <a:cs typeface="Times New Roman"/>
              </a:rPr>
              <a:t>(y-axis) </a:t>
            </a:r>
            <a:r>
              <a:rPr lang="en-US" sz="2400" dirty="0">
                <a:latin typeface="Times New Roman"/>
                <a:cs typeface="Times New Roman"/>
              </a:rPr>
              <a:t>against</a:t>
            </a:r>
            <a:r>
              <a:rPr lang="en-US" sz="2400" spc="-65" dirty="0">
                <a:latin typeface="Times New Roman"/>
                <a:cs typeface="Times New Roman"/>
              </a:rPr>
              <a:t> </a:t>
            </a:r>
            <a:r>
              <a:rPr lang="en-US" sz="2400" dirty="0">
                <a:latin typeface="Times New Roman"/>
                <a:cs typeface="Times New Roman"/>
              </a:rPr>
              <a:t>increasing</a:t>
            </a:r>
            <a:r>
              <a:rPr lang="en-US" sz="2400" spc="-60" dirty="0">
                <a:latin typeface="Times New Roman"/>
                <a:cs typeface="Times New Roman"/>
              </a:rPr>
              <a:t> </a:t>
            </a:r>
            <a:r>
              <a:rPr lang="en-US" sz="2400" dirty="0">
                <a:latin typeface="Times New Roman"/>
                <a:cs typeface="Times New Roman"/>
              </a:rPr>
              <a:t>atomic</a:t>
            </a:r>
            <a:r>
              <a:rPr lang="en-US" sz="2400" spc="-60" dirty="0">
                <a:latin typeface="Times New Roman"/>
                <a:cs typeface="Times New Roman"/>
              </a:rPr>
              <a:t> </a:t>
            </a:r>
            <a:r>
              <a:rPr lang="en-US" sz="2400" spc="-10" dirty="0">
                <a:latin typeface="Times New Roman"/>
                <a:cs typeface="Times New Roman"/>
              </a:rPr>
              <a:t>number</a:t>
            </a:r>
            <a:br>
              <a:rPr lang="en-US" sz="2400" dirty="0">
                <a:latin typeface="Times New Roman"/>
                <a:cs typeface="Times New Roman"/>
              </a:rPr>
            </a:br>
            <a:r>
              <a:rPr lang="en-US" sz="2400" spc="-10" dirty="0">
                <a:latin typeface="MS Gothic"/>
                <a:cs typeface="MS Gothic"/>
              </a:rPr>
              <a:t>✦</a:t>
            </a:r>
            <a:r>
              <a:rPr lang="en-US" sz="2400" spc="-70" dirty="0">
                <a:latin typeface="Times New Roman"/>
                <a:cs typeface="Times New Roman"/>
              </a:rPr>
              <a:t> </a:t>
            </a:r>
            <a:r>
              <a:rPr lang="en-US" sz="2400" dirty="0">
                <a:latin typeface="Times New Roman"/>
                <a:cs typeface="Times New Roman"/>
              </a:rPr>
              <a:t>Degree</a:t>
            </a:r>
            <a:r>
              <a:rPr lang="en-US" sz="2400" spc="-70" dirty="0">
                <a:latin typeface="Times New Roman"/>
                <a:cs typeface="Times New Roman"/>
              </a:rPr>
              <a:t> </a:t>
            </a:r>
            <a:r>
              <a:rPr lang="en-US" sz="2400" dirty="0">
                <a:latin typeface="Times New Roman"/>
                <a:cs typeface="Times New Roman"/>
              </a:rPr>
              <a:t>of</a:t>
            </a:r>
            <a:r>
              <a:rPr lang="en-US" sz="2400" spc="-45" dirty="0">
                <a:latin typeface="Times New Roman"/>
                <a:cs typeface="Times New Roman"/>
              </a:rPr>
              <a:t> </a:t>
            </a:r>
            <a:r>
              <a:rPr lang="en-US" sz="2400" spc="-10" dirty="0">
                <a:latin typeface="Times New Roman"/>
                <a:cs typeface="Times New Roman"/>
              </a:rPr>
              <a:t>compatibility</a:t>
            </a:r>
            <a:r>
              <a:rPr lang="en-US" sz="2400" spc="-45" dirty="0">
                <a:latin typeface="Times New Roman"/>
                <a:cs typeface="Times New Roman"/>
              </a:rPr>
              <a:t> </a:t>
            </a:r>
            <a:r>
              <a:rPr lang="en-US" sz="2400" dirty="0">
                <a:latin typeface="Times New Roman"/>
                <a:cs typeface="Times New Roman"/>
              </a:rPr>
              <a:t>increases</a:t>
            </a:r>
            <a:r>
              <a:rPr lang="en-US" sz="2400" spc="-45" dirty="0">
                <a:latin typeface="Times New Roman"/>
                <a:cs typeface="Times New Roman"/>
              </a:rPr>
              <a:t> </a:t>
            </a:r>
            <a:r>
              <a:rPr lang="en-US" sz="2400" dirty="0">
                <a:latin typeface="Times New Roman"/>
                <a:cs typeface="Times New Roman"/>
              </a:rPr>
              <a:t>from</a:t>
            </a:r>
            <a:r>
              <a:rPr lang="en-US" sz="2400" spc="-45" dirty="0">
                <a:latin typeface="Times New Roman"/>
                <a:cs typeface="Times New Roman"/>
              </a:rPr>
              <a:t> </a:t>
            </a:r>
            <a:r>
              <a:rPr lang="en-US" sz="2400" spc="-20" dirty="0">
                <a:latin typeface="Times New Roman"/>
                <a:cs typeface="Times New Roman"/>
              </a:rPr>
              <a:t>left </a:t>
            </a:r>
            <a:r>
              <a:rPr lang="en-US" sz="2400" dirty="0">
                <a:latin typeface="Times New Roman"/>
                <a:cs typeface="Times New Roman"/>
              </a:rPr>
              <a:t>to</a:t>
            </a:r>
            <a:r>
              <a:rPr lang="en-US" sz="2400" spc="-50" dirty="0">
                <a:latin typeface="Times New Roman"/>
                <a:cs typeface="Times New Roman"/>
              </a:rPr>
              <a:t> </a:t>
            </a:r>
            <a:r>
              <a:rPr lang="en-US" sz="2400" dirty="0">
                <a:latin typeface="Times New Roman"/>
                <a:cs typeface="Times New Roman"/>
              </a:rPr>
              <a:t>right</a:t>
            </a:r>
            <a:r>
              <a:rPr lang="en-US" sz="2400" spc="-45" dirty="0">
                <a:latin typeface="Times New Roman"/>
                <a:cs typeface="Times New Roman"/>
              </a:rPr>
              <a:t> </a:t>
            </a:r>
            <a:r>
              <a:rPr lang="en-US" sz="2400" dirty="0">
                <a:latin typeface="Times New Roman"/>
                <a:cs typeface="Times New Roman"/>
              </a:rPr>
              <a:t>across</a:t>
            </a:r>
            <a:r>
              <a:rPr lang="en-US" sz="2400" spc="-45" dirty="0">
                <a:latin typeface="Times New Roman"/>
                <a:cs typeface="Times New Roman"/>
              </a:rPr>
              <a:t> </a:t>
            </a:r>
            <a:r>
              <a:rPr lang="en-US" sz="2400" dirty="0">
                <a:latin typeface="Times New Roman"/>
                <a:cs typeface="Times New Roman"/>
              </a:rPr>
              <a:t>the</a:t>
            </a:r>
            <a:r>
              <a:rPr lang="en-US" sz="2400" spc="-45" dirty="0">
                <a:latin typeface="Times New Roman"/>
                <a:cs typeface="Times New Roman"/>
              </a:rPr>
              <a:t> </a:t>
            </a:r>
            <a:r>
              <a:rPr lang="en-US" sz="2400" spc="-10" dirty="0">
                <a:latin typeface="Times New Roman"/>
                <a:cs typeface="Times New Roman"/>
              </a:rPr>
              <a:t>diagram</a:t>
            </a:r>
            <a:br>
              <a:rPr lang="en-US" sz="4400" dirty="0">
                <a:latin typeface="Times New Roman"/>
                <a:cs typeface="Times New Roman"/>
              </a:rPr>
            </a:br>
            <a:endParaRPr lang="en-IN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80129E0-1448-4A2C-ADC7-E1B07995B8DF}"/>
              </a:ext>
            </a:extLst>
          </p:cNvPr>
          <p:cNvGrpSpPr/>
          <p:nvPr/>
        </p:nvGrpSpPr>
        <p:grpSpPr>
          <a:xfrm>
            <a:off x="2819400" y="3048000"/>
            <a:ext cx="3605951" cy="2333027"/>
            <a:chOff x="2186094" y="7068730"/>
            <a:chExt cx="2997029" cy="1527010"/>
          </a:xfrm>
        </p:grpSpPr>
        <p:sp>
          <p:nvSpPr>
            <p:cNvPr id="5" name="object 6">
              <a:extLst>
                <a:ext uri="{FF2B5EF4-FFF2-40B4-BE49-F238E27FC236}">
                  <a16:creationId xmlns:a16="http://schemas.microsoft.com/office/drawing/2014/main" id="{D9D45736-88B4-451A-BB08-E915FB09EBBA}"/>
                </a:ext>
              </a:extLst>
            </p:cNvPr>
            <p:cNvSpPr/>
            <p:nvPr/>
          </p:nvSpPr>
          <p:spPr>
            <a:xfrm>
              <a:off x="2487929" y="7184135"/>
              <a:ext cx="0" cy="1306195"/>
            </a:xfrm>
            <a:custGeom>
              <a:avLst/>
              <a:gdLst/>
              <a:ahLst/>
              <a:cxnLst/>
              <a:rect l="l" t="t" r="r" b="b"/>
              <a:pathLst>
                <a:path h="1306195">
                  <a:moveTo>
                    <a:pt x="0" y="1306067"/>
                  </a:moveTo>
                  <a:lnTo>
                    <a:pt x="0" y="0"/>
                  </a:lnTo>
                </a:path>
              </a:pathLst>
            </a:custGeom>
            <a:ln w="1447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7">
              <a:extLst>
                <a:ext uri="{FF2B5EF4-FFF2-40B4-BE49-F238E27FC236}">
                  <a16:creationId xmlns:a16="http://schemas.microsoft.com/office/drawing/2014/main" id="{2C230291-193D-460E-A361-020600E09E51}"/>
                </a:ext>
              </a:extLst>
            </p:cNvPr>
            <p:cNvSpPr/>
            <p:nvPr/>
          </p:nvSpPr>
          <p:spPr>
            <a:xfrm>
              <a:off x="2451354" y="7112507"/>
              <a:ext cx="74295" cy="74295"/>
            </a:xfrm>
            <a:custGeom>
              <a:avLst/>
              <a:gdLst/>
              <a:ahLst/>
              <a:cxnLst/>
              <a:rect l="l" t="t" r="r" b="b"/>
              <a:pathLst>
                <a:path w="74294" h="74295">
                  <a:moveTo>
                    <a:pt x="37337" y="0"/>
                  </a:moveTo>
                  <a:lnTo>
                    <a:pt x="0" y="73914"/>
                  </a:lnTo>
                  <a:lnTo>
                    <a:pt x="73913" y="73914"/>
                  </a:lnTo>
                  <a:lnTo>
                    <a:pt x="3733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9DEF6597-8EA7-486B-A7E0-2D5227273ABC}"/>
                </a:ext>
              </a:extLst>
            </p:cNvPr>
            <p:cNvSpPr txBox="1"/>
            <p:nvPr/>
          </p:nvSpPr>
          <p:spPr>
            <a:xfrm>
              <a:off x="2186094" y="7068730"/>
              <a:ext cx="250825" cy="1177925"/>
            </a:xfrm>
            <a:prstGeom prst="rect">
              <a:avLst/>
            </a:prstGeom>
          </p:spPr>
          <p:txBody>
            <a:bodyPr vert="vert270" wrap="square" lIns="0" tIns="0" rIns="0" bIns="0" rtlCol="0">
              <a:spAutoFit/>
            </a:bodyPr>
            <a:lstStyle/>
            <a:p>
              <a:pPr marL="12700">
                <a:lnSpc>
                  <a:spcPts val="1850"/>
                </a:lnSpc>
              </a:pPr>
              <a:r>
                <a:rPr sz="1600" spc="-10" dirty="0">
                  <a:latin typeface="Times New Roman"/>
                  <a:cs typeface="Times New Roman"/>
                </a:rPr>
                <a:t>Concentration</a:t>
              </a:r>
              <a:endParaRPr sz="1600" dirty="0">
                <a:latin typeface="Times New Roman"/>
                <a:cs typeface="Times New Roman"/>
              </a:endParaRPr>
            </a:p>
          </p:txBody>
        </p:sp>
        <p:grpSp>
          <p:nvGrpSpPr>
            <p:cNvPr id="8" name="object 9">
              <a:extLst>
                <a:ext uri="{FF2B5EF4-FFF2-40B4-BE49-F238E27FC236}">
                  <a16:creationId xmlns:a16="http://schemas.microsoft.com/office/drawing/2014/main" id="{7208668C-CD2B-4FF2-AB1D-6010CDBC360D}"/>
                </a:ext>
              </a:extLst>
            </p:cNvPr>
            <p:cNvGrpSpPr/>
            <p:nvPr/>
          </p:nvGrpSpPr>
          <p:grpSpPr>
            <a:xfrm>
              <a:off x="2668523" y="8521445"/>
              <a:ext cx="2514600" cy="74295"/>
              <a:chOff x="2668523" y="8521445"/>
              <a:chExt cx="2514600" cy="74295"/>
            </a:xfrm>
          </p:grpSpPr>
          <p:sp>
            <p:nvSpPr>
              <p:cNvPr id="10" name="object 10">
                <a:extLst>
                  <a:ext uri="{FF2B5EF4-FFF2-40B4-BE49-F238E27FC236}">
                    <a16:creationId xmlns:a16="http://schemas.microsoft.com/office/drawing/2014/main" id="{BB5A3C16-8F49-4AF0-9A2C-6547285E0683}"/>
                  </a:ext>
                </a:extLst>
              </p:cNvPr>
              <p:cNvSpPr/>
              <p:nvPr/>
            </p:nvSpPr>
            <p:spPr>
              <a:xfrm>
                <a:off x="2668523" y="8558021"/>
                <a:ext cx="2443480" cy="0"/>
              </a:xfrm>
              <a:custGeom>
                <a:avLst/>
                <a:gdLst/>
                <a:ahLst/>
                <a:cxnLst/>
                <a:rect l="l" t="t" r="r" b="b"/>
                <a:pathLst>
                  <a:path w="2443479">
                    <a:moveTo>
                      <a:pt x="0" y="0"/>
                    </a:moveTo>
                    <a:lnTo>
                      <a:pt x="2442972" y="0"/>
                    </a:lnTo>
                  </a:path>
                </a:pathLst>
              </a:custGeom>
              <a:ln w="14478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" name="object 11">
                <a:extLst>
                  <a:ext uri="{FF2B5EF4-FFF2-40B4-BE49-F238E27FC236}">
                    <a16:creationId xmlns:a16="http://schemas.microsoft.com/office/drawing/2014/main" id="{443710BD-C3CD-43A0-A6DF-9943FB5F4F8D}"/>
                  </a:ext>
                </a:extLst>
              </p:cNvPr>
              <p:cNvSpPr/>
              <p:nvPr/>
            </p:nvSpPr>
            <p:spPr>
              <a:xfrm>
                <a:off x="5109972" y="8521445"/>
                <a:ext cx="73660" cy="74295"/>
              </a:xfrm>
              <a:custGeom>
                <a:avLst/>
                <a:gdLst/>
                <a:ahLst/>
                <a:cxnLst/>
                <a:rect l="l" t="t" r="r" b="b"/>
                <a:pathLst>
                  <a:path w="73660" h="74295">
                    <a:moveTo>
                      <a:pt x="0" y="0"/>
                    </a:moveTo>
                    <a:lnTo>
                      <a:pt x="0" y="73913"/>
                    </a:lnTo>
                    <a:lnTo>
                      <a:pt x="73151" y="3733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6D797A87-7B6F-4DB2-A682-DB4D4D478B5D}"/>
              </a:ext>
            </a:extLst>
          </p:cNvPr>
          <p:cNvSpPr txBox="1"/>
          <p:nvPr/>
        </p:nvSpPr>
        <p:spPr>
          <a:xfrm>
            <a:off x="2121801" y="5421868"/>
            <a:ext cx="5486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000125">
              <a:lnSpc>
                <a:spcPct val="100000"/>
              </a:lnSpc>
            </a:pPr>
            <a:r>
              <a:rPr lang="fr-FR" sz="1800" dirty="0">
                <a:latin typeface="Times New Roman"/>
                <a:cs typeface="Times New Roman"/>
              </a:rPr>
              <a:t>La</a:t>
            </a:r>
            <a:r>
              <a:rPr lang="fr-FR" sz="1800" spc="385" dirty="0">
                <a:latin typeface="Times New Roman"/>
                <a:cs typeface="Times New Roman"/>
              </a:rPr>
              <a:t> </a:t>
            </a:r>
            <a:r>
              <a:rPr lang="fr-FR" sz="1800" dirty="0">
                <a:latin typeface="Times New Roman"/>
                <a:cs typeface="Times New Roman"/>
              </a:rPr>
              <a:t>Ce</a:t>
            </a:r>
            <a:r>
              <a:rPr lang="fr-FR" sz="1800" spc="385" dirty="0">
                <a:latin typeface="Times New Roman"/>
                <a:cs typeface="Times New Roman"/>
              </a:rPr>
              <a:t> </a:t>
            </a:r>
            <a:r>
              <a:rPr lang="fr-FR" sz="1800" dirty="0">
                <a:latin typeface="Times New Roman"/>
                <a:cs typeface="Times New Roman"/>
              </a:rPr>
              <a:t>Nd</a:t>
            </a:r>
            <a:r>
              <a:rPr lang="fr-FR" sz="1800" spc="385" dirty="0">
                <a:latin typeface="Times New Roman"/>
                <a:cs typeface="Times New Roman"/>
              </a:rPr>
              <a:t> </a:t>
            </a:r>
            <a:r>
              <a:rPr lang="fr-FR" sz="1800" dirty="0" err="1">
                <a:latin typeface="Times New Roman"/>
                <a:cs typeface="Times New Roman"/>
              </a:rPr>
              <a:t>Sm</a:t>
            </a:r>
            <a:r>
              <a:rPr lang="fr-FR" sz="1800" spc="385" dirty="0">
                <a:latin typeface="Times New Roman"/>
                <a:cs typeface="Times New Roman"/>
              </a:rPr>
              <a:t> </a:t>
            </a:r>
            <a:r>
              <a:rPr lang="fr-FR" sz="1800" dirty="0">
                <a:latin typeface="Times New Roman"/>
                <a:cs typeface="Times New Roman"/>
              </a:rPr>
              <a:t>Eu</a:t>
            </a:r>
            <a:r>
              <a:rPr lang="fr-FR" sz="1800" spc="385" dirty="0">
                <a:latin typeface="Times New Roman"/>
                <a:cs typeface="Times New Roman"/>
              </a:rPr>
              <a:t> </a:t>
            </a:r>
            <a:r>
              <a:rPr lang="fr-FR" sz="1800" dirty="0">
                <a:latin typeface="Times New Roman"/>
                <a:cs typeface="Times New Roman"/>
              </a:rPr>
              <a:t>Tb</a:t>
            </a:r>
            <a:r>
              <a:rPr lang="fr-FR" sz="1800" spc="385" dirty="0">
                <a:latin typeface="Times New Roman"/>
                <a:cs typeface="Times New Roman"/>
              </a:rPr>
              <a:t> </a:t>
            </a:r>
            <a:r>
              <a:rPr lang="fr-FR" sz="1800" dirty="0">
                <a:latin typeface="Times New Roman"/>
                <a:cs typeface="Times New Roman"/>
              </a:rPr>
              <a:t>Er</a:t>
            </a:r>
            <a:r>
              <a:rPr lang="fr-FR" sz="1800" spc="385" dirty="0">
                <a:latin typeface="Times New Roman"/>
                <a:cs typeface="Times New Roman"/>
              </a:rPr>
              <a:t> </a:t>
            </a:r>
            <a:r>
              <a:rPr lang="fr-FR" sz="1800" dirty="0">
                <a:latin typeface="Times New Roman"/>
                <a:cs typeface="Times New Roman"/>
              </a:rPr>
              <a:t>Dy</a:t>
            </a:r>
            <a:r>
              <a:rPr lang="fr-FR" sz="1800" spc="385" dirty="0">
                <a:latin typeface="Times New Roman"/>
                <a:cs typeface="Times New Roman"/>
              </a:rPr>
              <a:t> </a:t>
            </a:r>
            <a:r>
              <a:rPr lang="fr-FR" sz="1800" dirty="0">
                <a:latin typeface="Times New Roman"/>
                <a:cs typeface="Times New Roman"/>
              </a:rPr>
              <a:t>Yb</a:t>
            </a:r>
            <a:r>
              <a:rPr lang="fr-FR" sz="1800" spc="-10" dirty="0">
                <a:latin typeface="Times New Roman"/>
                <a:cs typeface="Times New Roman"/>
              </a:rPr>
              <a:t> </a:t>
            </a:r>
            <a:r>
              <a:rPr lang="fr-FR" sz="1800" spc="-25" dirty="0">
                <a:latin typeface="Times New Roman"/>
                <a:cs typeface="Times New Roman"/>
              </a:rPr>
              <a:t>Lu</a:t>
            </a:r>
            <a:endParaRPr lang="fr-FR" sz="1800" dirty="0">
              <a:latin typeface="Times New Roman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590429-5D83-410D-8C97-F60096676883}"/>
              </a:ext>
            </a:extLst>
          </p:cNvPr>
          <p:cNvSpPr txBox="1"/>
          <p:nvPr/>
        </p:nvSpPr>
        <p:spPr>
          <a:xfrm>
            <a:off x="29995" y="6211669"/>
            <a:ext cx="62171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Source: Chemical Petrology II: Trace Elements (Principles of Igneous and Metamorphic Petrology John D. Winter)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01881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object 35">
            <a:extLst>
              <a:ext uri="{FF2B5EF4-FFF2-40B4-BE49-F238E27FC236}">
                <a16:creationId xmlns:a16="http://schemas.microsoft.com/office/drawing/2014/main" id="{1242229B-2DC9-45B2-A6FD-2CD58640BE7F}"/>
              </a:ext>
            </a:extLst>
          </p:cNvPr>
          <p:cNvSpPr txBox="1"/>
          <p:nvPr/>
        </p:nvSpPr>
        <p:spPr>
          <a:xfrm>
            <a:off x="331741" y="4758146"/>
            <a:ext cx="8226490" cy="156645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42875" marR="5080" indent="-143510">
              <a:lnSpc>
                <a:spcPct val="100000"/>
              </a:lnSpc>
              <a:spcBef>
                <a:spcPts val="95"/>
              </a:spcBef>
            </a:pPr>
            <a:r>
              <a:rPr sz="2400" dirty="0">
                <a:latin typeface="MS Gothic"/>
                <a:cs typeface="MS Gothic"/>
              </a:rPr>
              <a:t>✦</a:t>
            </a:r>
            <a:r>
              <a:rPr sz="2400" spc="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Eliminate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Oddo-</a:t>
            </a:r>
            <a:r>
              <a:rPr sz="2400" dirty="0">
                <a:latin typeface="Times New Roman"/>
                <a:cs typeface="Times New Roman"/>
              </a:rPr>
              <a:t>Harkins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effect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and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make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y-scale </a:t>
            </a:r>
            <a:r>
              <a:rPr sz="2400" dirty="0">
                <a:latin typeface="Times New Roman"/>
                <a:cs typeface="Times New Roman"/>
              </a:rPr>
              <a:t>more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functional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by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normalizing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to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standard</a:t>
            </a:r>
            <a:endParaRPr sz="2400" dirty="0">
              <a:latin typeface="Times New Roman"/>
              <a:cs typeface="Times New Roman"/>
            </a:endParaRPr>
          </a:p>
          <a:p>
            <a:pPr marL="228600">
              <a:lnSpc>
                <a:spcPct val="100000"/>
              </a:lnSpc>
              <a:spcBef>
                <a:spcPts val="340"/>
              </a:spcBef>
            </a:pPr>
            <a:r>
              <a:rPr sz="2400" dirty="0">
                <a:latin typeface="MS Gothic"/>
                <a:cs typeface="MS Gothic"/>
              </a:rPr>
              <a:t>▲</a:t>
            </a:r>
            <a:r>
              <a:rPr sz="2400" spc="1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estimates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of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primordial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mantle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REE</a:t>
            </a:r>
            <a:endParaRPr sz="2400" dirty="0">
              <a:latin typeface="Times New Roman"/>
              <a:cs typeface="Times New Roman"/>
            </a:endParaRPr>
          </a:p>
          <a:p>
            <a:pPr marL="228600">
              <a:lnSpc>
                <a:spcPct val="100000"/>
              </a:lnSpc>
              <a:spcBef>
                <a:spcPts val="340"/>
              </a:spcBef>
            </a:pPr>
            <a:r>
              <a:rPr sz="2400" dirty="0">
                <a:latin typeface="MS Gothic"/>
                <a:cs typeface="MS Gothic"/>
              </a:rPr>
              <a:t>▲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chondrite</a:t>
            </a:r>
            <a:r>
              <a:rPr sz="2400" spc="-5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meteorite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concentrations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A69DF62-E7CF-4BA8-ADED-DAB998AB8581}"/>
              </a:ext>
            </a:extLst>
          </p:cNvPr>
          <p:cNvSpPr txBox="1"/>
          <p:nvPr/>
        </p:nvSpPr>
        <p:spPr>
          <a:xfrm>
            <a:off x="350709" y="114889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/>
                <a:cs typeface="Times New Roman"/>
              </a:rPr>
              <a:t>REE</a:t>
            </a:r>
            <a:r>
              <a:rPr lang="en-US" sz="3600" spc="-60" dirty="0">
                <a:latin typeface="Times New Roman"/>
                <a:cs typeface="Times New Roman"/>
              </a:rPr>
              <a:t> </a:t>
            </a:r>
            <a:r>
              <a:rPr lang="en-US" sz="3600" spc="-10" dirty="0">
                <a:latin typeface="Times New Roman"/>
                <a:cs typeface="Times New Roman"/>
              </a:rPr>
              <a:t>Diagrams</a:t>
            </a:r>
            <a:endParaRPr lang="en-IN" sz="36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69BD188-5495-4F5A-88A6-27B4F94D3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853517"/>
            <a:ext cx="6096000" cy="3514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2920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3A8DE-8E28-4B0F-8474-6517250CF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spc="-10" dirty="0">
                <a:latin typeface="Times New Roman"/>
                <a:cs typeface="Times New Roman"/>
              </a:rPr>
              <a:t>Comparison</a:t>
            </a:r>
            <a:r>
              <a:rPr lang="en-US" sz="2800" spc="-30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of</a:t>
            </a:r>
            <a:r>
              <a:rPr lang="en-US" sz="2800" spc="-30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REE</a:t>
            </a:r>
            <a:r>
              <a:rPr lang="en-US" sz="2800" spc="-30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in</a:t>
            </a:r>
            <a:r>
              <a:rPr lang="en-US" sz="2800" spc="-25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a</a:t>
            </a:r>
            <a:r>
              <a:rPr lang="en-US" sz="2800" spc="-30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Kilauea</a:t>
            </a:r>
            <a:r>
              <a:rPr lang="en-US" sz="2800" spc="-30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lava</a:t>
            </a:r>
            <a:r>
              <a:rPr lang="en-US" sz="2800" spc="-30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with</a:t>
            </a:r>
            <a:r>
              <a:rPr lang="en-US" sz="2800" spc="-25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Chondrite</a:t>
            </a:r>
            <a:r>
              <a:rPr lang="en-US" sz="2800" spc="-30" dirty="0">
                <a:latin typeface="Times New Roman"/>
                <a:cs typeface="Times New Roman"/>
              </a:rPr>
              <a:t> </a:t>
            </a:r>
            <a:r>
              <a:rPr lang="en-US" sz="2800" spc="-10" dirty="0">
                <a:latin typeface="Times New Roman"/>
                <a:cs typeface="Times New Roman"/>
              </a:rPr>
              <a:t>abundances </a:t>
            </a:r>
            <a:r>
              <a:rPr lang="en-US" sz="2800" dirty="0">
                <a:latin typeface="Times New Roman"/>
                <a:cs typeface="Times New Roman"/>
              </a:rPr>
              <a:t>(data</a:t>
            </a:r>
            <a:r>
              <a:rPr lang="en-US" sz="2800" spc="-25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in</a:t>
            </a:r>
            <a:r>
              <a:rPr lang="en-US" sz="2800" spc="-25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ppm</a:t>
            </a:r>
            <a:r>
              <a:rPr lang="en-US" sz="2800" spc="-30" dirty="0">
                <a:latin typeface="Times New Roman"/>
                <a:cs typeface="Times New Roman"/>
              </a:rPr>
              <a:t> </a:t>
            </a:r>
            <a:r>
              <a:rPr lang="en-US" sz="2800" spc="-50" dirty="0">
                <a:latin typeface="Times New Roman"/>
                <a:cs typeface="Times New Roman"/>
              </a:rPr>
              <a:t>)</a:t>
            </a:r>
            <a:br>
              <a:rPr lang="en-US" sz="4400" dirty="0">
                <a:latin typeface="Times New Roman"/>
                <a:cs typeface="Times New Roman"/>
              </a:rPr>
            </a:br>
            <a:endParaRPr lang="en-IN" dirty="0"/>
          </a:p>
        </p:txBody>
      </p:sp>
      <p:graphicFrame>
        <p:nvGraphicFramePr>
          <p:cNvPr id="4" name="object 2">
            <a:extLst>
              <a:ext uri="{FF2B5EF4-FFF2-40B4-BE49-F238E27FC236}">
                <a16:creationId xmlns:a16="http://schemas.microsoft.com/office/drawing/2014/main" id="{4AB92F09-B96E-457F-8361-BA796BDAC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8751503"/>
              </p:ext>
            </p:extLst>
          </p:nvPr>
        </p:nvGraphicFramePr>
        <p:xfrm>
          <a:off x="1828800" y="1219200"/>
          <a:ext cx="5867781" cy="497129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71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62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28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77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720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955057">
                <a:tc gridSpan="6">
                  <a:txBody>
                    <a:bodyPr/>
                    <a:lstStyle/>
                    <a:p>
                      <a:pPr marL="1896110" marR="222885" indent="-1572895">
                        <a:lnSpc>
                          <a:spcPct val="100000"/>
                        </a:lnSpc>
                        <a:spcBef>
                          <a:spcPts val="815"/>
                        </a:spcBef>
                      </a:pPr>
                      <a:endParaRPr sz="1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0350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610">
                <a:tc rowSpan="1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5" dirty="0">
                          <a:latin typeface="Times New Roman"/>
                          <a:cs typeface="Times New Roman"/>
                        </a:rPr>
                        <a:t>REE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735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Chondrite</a:t>
                      </a:r>
                      <a:endParaRPr sz="1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7465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Kilauea</a:t>
                      </a:r>
                      <a:endParaRPr sz="1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Kilauea/Chondrite</a:t>
                      </a:r>
                      <a:endParaRPr sz="1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1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 marL="103505" marR="205740">
                        <a:lnSpc>
                          <a:spcPct val="100000"/>
                        </a:lnSpc>
                      </a:pPr>
                      <a:r>
                        <a:rPr sz="900" dirty="0">
                          <a:latin typeface="Times New Roman"/>
                          <a:cs typeface="Times New Roman"/>
                        </a:rPr>
                        <a:t>Divide</a:t>
                      </a:r>
                      <a:r>
                        <a:rPr sz="9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900" dirty="0">
                          <a:latin typeface="Times New Roman"/>
                          <a:cs typeface="Times New Roman"/>
                        </a:rPr>
                        <a:t>sample</a:t>
                      </a:r>
                      <a:r>
                        <a:rPr sz="9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900" spc="-35" dirty="0">
                          <a:latin typeface="Times New Roman"/>
                          <a:cs typeface="Times New Roman"/>
                        </a:rPr>
                        <a:t>by</a:t>
                      </a:r>
                      <a:r>
                        <a:rPr sz="900" dirty="0">
                          <a:latin typeface="Times New Roman"/>
                          <a:cs typeface="Times New Roman"/>
                        </a:rPr>
                        <a:t> chondritic</a:t>
                      </a:r>
                      <a:r>
                        <a:rPr sz="9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900" spc="-10" dirty="0">
                          <a:latin typeface="Times New Roman"/>
                          <a:cs typeface="Times New Roman"/>
                        </a:rPr>
                        <a:t>abundance</a:t>
                      </a: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6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5" dirty="0">
                          <a:latin typeface="Times New Roman"/>
                          <a:cs typeface="Times New Roman"/>
                        </a:rPr>
                        <a:t>La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735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0" dirty="0">
                          <a:latin typeface="Times New Roman"/>
                          <a:cs typeface="Times New Roman"/>
                        </a:rPr>
                        <a:t>0.31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0" dirty="0">
                          <a:latin typeface="Times New Roman"/>
                          <a:cs typeface="Times New Roman"/>
                        </a:rPr>
                        <a:t>9.05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29.19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753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000" spc="-25" dirty="0">
                          <a:latin typeface="Times New Roman"/>
                          <a:cs typeface="Times New Roman"/>
                        </a:rPr>
                        <a:t>Ce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735" algn="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0.808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000" spc="-20" dirty="0">
                          <a:latin typeface="Times New Roman"/>
                          <a:cs typeface="Times New Roman"/>
                        </a:rPr>
                        <a:t>22.4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27.72</a:t>
                      </a:r>
                      <a:endParaRPr sz="1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66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5" dirty="0">
                          <a:latin typeface="Times New Roman"/>
                          <a:cs typeface="Times New Roman"/>
                        </a:rPr>
                        <a:t>Pr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735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0.122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0" dirty="0">
                          <a:latin typeface="Times New Roman"/>
                          <a:cs typeface="Times New Roman"/>
                        </a:rPr>
                        <a:t>3.09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25.33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45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5" dirty="0">
                          <a:latin typeface="Times New Roman"/>
                          <a:cs typeface="Times New Roman"/>
                        </a:rPr>
                        <a:t>Nd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735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0.600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0" dirty="0">
                          <a:latin typeface="Times New Roman"/>
                          <a:cs typeface="Times New Roman"/>
                        </a:rPr>
                        <a:t>15.6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26.00</a:t>
                      </a:r>
                      <a:endParaRPr sz="1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66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5" dirty="0">
                          <a:latin typeface="Times New Roman"/>
                          <a:cs typeface="Times New Roman"/>
                        </a:rPr>
                        <a:t>Sm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735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0.195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0" dirty="0">
                          <a:latin typeface="Times New Roman"/>
                          <a:cs typeface="Times New Roman"/>
                        </a:rPr>
                        <a:t>4.02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20.61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66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5" dirty="0">
                          <a:latin typeface="Times New Roman"/>
                          <a:cs typeface="Times New Roman"/>
                        </a:rPr>
                        <a:t>Eu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735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0.0735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0" dirty="0">
                          <a:latin typeface="Times New Roman"/>
                          <a:cs typeface="Times New Roman"/>
                        </a:rPr>
                        <a:t>1.40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19.04</a:t>
                      </a:r>
                      <a:endParaRPr sz="1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845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000" spc="-25" dirty="0">
                          <a:latin typeface="Times New Roman"/>
                          <a:cs typeface="Times New Roman"/>
                        </a:rPr>
                        <a:t>Gd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735" algn="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0.259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000" spc="-20" dirty="0">
                          <a:latin typeface="Times New Roman"/>
                          <a:cs typeface="Times New Roman"/>
                        </a:rPr>
                        <a:t>4.36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16.83</a:t>
                      </a:r>
                      <a:endParaRPr sz="1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66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5" dirty="0">
                          <a:latin typeface="Times New Roman"/>
                          <a:cs typeface="Times New Roman"/>
                        </a:rPr>
                        <a:t>Tb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735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0.0474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0" dirty="0">
                          <a:latin typeface="Times New Roman"/>
                          <a:cs typeface="Times New Roman"/>
                        </a:rPr>
                        <a:t>0.72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15.19</a:t>
                      </a:r>
                      <a:endParaRPr sz="1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66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5" dirty="0">
                          <a:latin typeface="Times New Roman"/>
                          <a:cs typeface="Times New Roman"/>
                        </a:rPr>
                        <a:t>Dy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735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0.322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0" dirty="0">
                          <a:latin typeface="Times New Roman"/>
                          <a:cs typeface="Times New Roman"/>
                        </a:rPr>
                        <a:t>3.93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12.20</a:t>
                      </a:r>
                      <a:endParaRPr sz="1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845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000" spc="-25" dirty="0">
                          <a:latin typeface="Times New Roman"/>
                          <a:cs typeface="Times New Roman"/>
                        </a:rPr>
                        <a:t>Ho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735" algn="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0.0718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000" spc="-20" dirty="0">
                          <a:latin typeface="Times New Roman"/>
                          <a:cs typeface="Times New Roman"/>
                        </a:rPr>
                        <a:t>0.77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10.72</a:t>
                      </a:r>
                      <a:endParaRPr sz="1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66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5" dirty="0">
                          <a:latin typeface="Times New Roman"/>
                          <a:cs typeface="Times New Roman"/>
                        </a:rPr>
                        <a:t>Er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735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0.210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0" dirty="0">
                          <a:latin typeface="Times New Roman"/>
                          <a:cs typeface="Times New Roman"/>
                        </a:rPr>
                        <a:t>1.91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9.095</a:t>
                      </a:r>
                      <a:endParaRPr sz="1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753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5" dirty="0">
                          <a:latin typeface="Times New Roman"/>
                          <a:cs typeface="Times New Roman"/>
                        </a:rPr>
                        <a:t>Yb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735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0.209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0" dirty="0">
                          <a:latin typeface="Times New Roman"/>
                          <a:cs typeface="Times New Roman"/>
                        </a:rPr>
                        <a:t>1.58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0" dirty="0">
                          <a:latin typeface="Times New Roman"/>
                          <a:cs typeface="Times New Roman"/>
                        </a:rPr>
                        <a:t>7.55</a:t>
                      </a:r>
                      <a:endParaRPr sz="1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291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5" dirty="0">
                          <a:latin typeface="Times New Roman"/>
                          <a:cs typeface="Times New Roman"/>
                        </a:rPr>
                        <a:t>Lu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735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10" dirty="0">
                          <a:latin typeface="Times New Roman"/>
                          <a:cs typeface="Times New Roman"/>
                        </a:rPr>
                        <a:t>0.0322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0" dirty="0">
                          <a:latin typeface="Times New Roman"/>
                          <a:cs typeface="Times New Roman"/>
                        </a:rPr>
                        <a:t>0.22</a:t>
                      </a: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0" algn="r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000" spc="-20" dirty="0">
                          <a:latin typeface="Times New Roman"/>
                          <a:cs typeface="Times New Roman"/>
                        </a:rPr>
                        <a:t>6.83</a:t>
                      </a:r>
                      <a:endParaRPr sz="1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77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1D363BC4-D445-46B7-9BD6-EF3E2CF9E87C}"/>
              </a:ext>
            </a:extLst>
          </p:cNvPr>
          <p:cNvSpPr/>
          <p:nvPr/>
        </p:nvSpPr>
        <p:spPr>
          <a:xfrm>
            <a:off x="914400" y="1062386"/>
            <a:ext cx="7315200" cy="4422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8C3647-87CF-4FA0-9CF3-D7D94D0E58A7}"/>
              </a:ext>
            </a:extLst>
          </p:cNvPr>
          <p:cNvSpPr/>
          <p:nvPr/>
        </p:nvSpPr>
        <p:spPr>
          <a:xfrm rot="16200000">
            <a:off x="-708092" y="3603690"/>
            <a:ext cx="4809749" cy="3455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8C73FF-7E21-4F9E-B4F6-FA927EF0F917}"/>
              </a:ext>
            </a:extLst>
          </p:cNvPr>
          <p:cNvSpPr/>
          <p:nvPr/>
        </p:nvSpPr>
        <p:spPr>
          <a:xfrm rot="16200000">
            <a:off x="5291706" y="3674113"/>
            <a:ext cx="4809749" cy="3455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063149-E0E5-4FAF-944E-3B8727B2C890}"/>
              </a:ext>
            </a:extLst>
          </p:cNvPr>
          <p:cNvSpPr/>
          <p:nvPr/>
        </p:nvSpPr>
        <p:spPr>
          <a:xfrm>
            <a:off x="932688" y="6096000"/>
            <a:ext cx="7315200" cy="4422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5223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3">
            <a:extLst>
              <a:ext uri="{FF2B5EF4-FFF2-40B4-BE49-F238E27FC236}">
                <a16:creationId xmlns:a16="http://schemas.microsoft.com/office/drawing/2014/main" id="{24302A8E-9357-499B-90AF-0A7F31BE1DD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600200"/>
            <a:ext cx="5943600" cy="4906961"/>
          </a:xfrm>
          <a:prstGeom prst="rect">
            <a:avLst/>
          </a:prstGeom>
        </p:spPr>
      </p:pic>
      <p:sp>
        <p:nvSpPr>
          <p:cNvPr id="5" name="object 4">
            <a:extLst>
              <a:ext uri="{FF2B5EF4-FFF2-40B4-BE49-F238E27FC236}">
                <a16:creationId xmlns:a16="http://schemas.microsoft.com/office/drawing/2014/main" id="{46ED122D-CD61-4BAA-8069-BB0F24BBB76E}"/>
              </a:ext>
            </a:extLst>
          </p:cNvPr>
          <p:cNvSpPr txBox="1"/>
          <p:nvPr/>
        </p:nvSpPr>
        <p:spPr>
          <a:xfrm>
            <a:off x="6781800" y="3011805"/>
            <a:ext cx="1235710" cy="417195"/>
          </a:xfrm>
          <a:prstGeom prst="rect">
            <a:avLst/>
          </a:prstGeom>
          <a:ln w="4572">
            <a:solidFill>
              <a:srgbClr val="000000"/>
            </a:solidFill>
          </a:ln>
        </p:spPr>
        <p:txBody>
          <a:bodyPr vert="horz" wrap="square" lIns="0" tIns="19685" rIns="0" bIns="0" rtlCol="0">
            <a:spAutoFit/>
          </a:bodyPr>
          <a:lstStyle/>
          <a:p>
            <a:pPr marL="48260" marR="128905">
              <a:lnSpc>
                <a:spcPct val="100000"/>
              </a:lnSpc>
              <a:spcBef>
                <a:spcPts val="155"/>
              </a:spcBef>
            </a:pPr>
            <a:r>
              <a:rPr sz="1200" dirty="0">
                <a:latin typeface="Times New Roman"/>
                <a:cs typeface="Times New Roman"/>
              </a:rPr>
              <a:t>Plot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preceding </a:t>
            </a:r>
            <a:r>
              <a:rPr sz="1200" dirty="0">
                <a:latin typeface="Times New Roman"/>
                <a:cs typeface="Times New Roman"/>
              </a:rPr>
              <a:t>Kilauea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data.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0A143E7-CDFD-4581-9F56-8067099BA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2800" spc="-10" dirty="0">
                <a:latin typeface="Times New Roman"/>
                <a:cs typeface="Times New Roman"/>
              </a:rPr>
              <a:t>Comparison</a:t>
            </a:r>
            <a:r>
              <a:rPr lang="en-US" sz="2800" spc="-30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of</a:t>
            </a:r>
            <a:r>
              <a:rPr lang="en-US" sz="2800" spc="-30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REE</a:t>
            </a:r>
            <a:r>
              <a:rPr lang="en-US" sz="2800" spc="-30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in</a:t>
            </a:r>
            <a:r>
              <a:rPr lang="en-US" sz="2800" spc="-25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a</a:t>
            </a:r>
            <a:r>
              <a:rPr lang="en-US" sz="2800" spc="-30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Kilauea</a:t>
            </a:r>
            <a:r>
              <a:rPr lang="en-US" sz="2800" spc="-30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lava</a:t>
            </a:r>
            <a:r>
              <a:rPr lang="en-US" sz="2800" spc="-30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with</a:t>
            </a:r>
            <a:r>
              <a:rPr lang="en-US" sz="2800" spc="-25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Chondrite</a:t>
            </a:r>
            <a:r>
              <a:rPr lang="en-US" sz="2800" spc="-30" dirty="0">
                <a:latin typeface="Times New Roman"/>
                <a:cs typeface="Times New Roman"/>
              </a:rPr>
              <a:t> </a:t>
            </a:r>
            <a:r>
              <a:rPr lang="en-US" sz="2800" spc="-10" dirty="0">
                <a:latin typeface="Times New Roman"/>
                <a:cs typeface="Times New Roman"/>
              </a:rPr>
              <a:t>abundances </a:t>
            </a:r>
            <a:r>
              <a:rPr lang="en-US" sz="2800" dirty="0">
                <a:latin typeface="Times New Roman"/>
                <a:cs typeface="Times New Roman"/>
              </a:rPr>
              <a:t>(data</a:t>
            </a:r>
            <a:r>
              <a:rPr lang="en-US" sz="2800" spc="-25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in</a:t>
            </a:r>
            <a:r>
              <a:rPr lang="en-US" sz="2800" spc="-25" dirty="0">
                <a:latin typeface="Times New Roman"/>
                <a:cs typeface="Times New Roman"/>
              </a:rPr>
              <a:t> </a:t>
            </a:r>
            <a:r>
              <a:rPr lang="en-US" sz="2800" dirty="0">
                <a:latin typeface="Times New Roman"/>
                <a:cs typeface="Times New Roman"/>
              </a:rPr>
              <a:t>ppm</a:t>
            </a:r>
            <a:r>
              <a:rPr lang="en-US" sz="2800" spc="-30" dirty="0">
                <a:latin typeface="Times New Roman"/>
                <a:cs typeface="Times New Roman"/>
              </a:rPr>
              <a:t> </a:t>
            </a:r>
            <a:r>
              <a:rPr lang="en-US" sz="2800" spc="-50" dirty="0">
                <a:latin typeface="Times New Roman"/>
                <a:cs typeface="Times New Roman"/>
              </a:rPr>
              <a:t>)</a:t>
            </a:r>
            <a:br>
              <a:rPr lang="en-US" sz="4400" dirty="0">
                <a:latin typeface="Times New Roman"/>
                <a:cs typeface="Times New Roman"/>
              </a:rPr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8144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482FF95-6E6E-44A4-9ADD-3AFD0736A65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27" r="7399"/>
          <a:stretch/>
        </p:blipFill>
        <p:spPr>
          <a:xfrm>
            <a:off x="228600" y="1524000"/>
            <a:ext cx="8628683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868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BE84B49-8CB9-49EE-A69E-9427284F002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396" t="9330" r="4396" b="5303"/>
          <a:stretch/>
        </p:blipFill>
        <p:spPr>
          <a:xfrm>
            <a:off x="1600200" y="430576"/>
            <a:ext cx="5867400" cy="551394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8DE0FF-5B83-402C-9733-5EB162249072}"/>
              </a:ext>
            </a:extLst>
          </p:cNvPr>
          <p:cNvSpPr txBox="1"/>
          <p:nvPr/>
        </p:nvSpPr>
        <p:spPr>
          <a:xfrm>
            <a:off x="2438400" y="6104258"/>
            <a:ext cx="67120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Source: Chemical Petrology II: Trace Elements (Principles of Igneous and Metamorphic Petrology John D. Winter)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63151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7" name="Rectangle 3">
            <a:extLst>
              <a:ext uri="{FF2B5EF4-FFF2-40B4-BE49-F238E27FC236}">
                <a16:creationId xmlns:a16="http://schemas.microsoft.com/office/drawing/2014/main" id="{F794F87D-D5F2-43CB-82A3-42631208D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600" y="898525"/>
            <a:ext cx="8431213" cy="5784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8191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20000"/>
              </a:spcBef>
              <a:buClr>
                <a:srgbClr val="00CC00"/>
              </a:buClr>
              <a:buSzPct val="50000"/>
              <a:buFont typeface="Monotype Sorts" pitchFamily="2" charset="2"/>
              <a:buChar char="l"/>
            </a:pPr>
            <a:r>
              <a:rPr lang="en-US" altLang="en-US" sz="3200">
                <a:solidFill>
                  <a:srgbClr val="FF0066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Batch Melting</a:t>
            </a:r>
            <a:r>
              <a:rPr lang="en-US" altLang="en-US" sz="3200">
                <a:effectLst>
                  <a:outerShdw blurRad="38100" dist="38100" dir="2700000" algn="tl">
                    <a:srgbClr val="000000"/>
                  </a:outerShdw>
                </a:effectLst>
              </a:rPr>
              <a:t> </a:t>
            </a:r>
          </a:p>
          <a:p>
            <a:pPr lvl="1">
              <a:spcBef>
                <a:spcPct val="20000"/>
              </a:spcBef>
              <a:buClr>
                <a:srgbClr val="FF0066"/>
              </a:buClr>
              <a:buSzPct val="60000"/>
              <a:buFont typeface="Monotype Sorts" pitchFamily="2" charset="2"/>
              <a:buChar char="F"/>
            </a:pPr>
            <a:r>
              <a:rPr lang="en-US" altLang="en-US" sz="2800">
                <a:effectLst>
                  <a:outerShdw blurRad="38100" dist="38100" dir="2700000" algn="tl">
                    <a:srgbClr val="000000"/>
                  </a:outerShdw>
                </a:effectLst>
              </a:rPr>
              <a:t>The melt remains resident until at some point it is released and moves upward</a:t>
            </a:r>
          </a:p>
          <a:p>
            <a:pPr lvl="1">
              <a:spcBef>
                <a:spcPct val="20000"/>
              </a:spcBef>
              <a:buClr>
                <a:srgbClr val="FF0066"/>
              </a:buClr>
              <a:buSzPct val="60000"/>
              <a:buFont typeface="Monotype Sorts" pitchFamily="2" charset="2"/>
              <a:buChar char="F"/>
            </a:pPr>
            <a:r>
              <a:rPr lang="en-US" altLang="en-US" sz="2800">
                <a:effectLst>
                  <a:outerShdw blurRad="38100" dist="38100" dir="2700000" algn="tl">
                    <a:srgbClr val="000000"/>
                  </a:outerShdw>
                </a:effectLst>
              </a:rPr>
              <a:t>Equilibrium melting process with variable % melting</a:t>
            </a:r>
            <a:endParaRPr lang="en-US" altLang="en-US"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B030EC-269E-4759-B875-CF1E6B0D623B}"/>
              </a:ext>
            </a:extLst>
          </p:cNvPr>
          <p:cNvSpPr txBox="1"/>
          <p:nvPr/>
        </p:nvSpPr>
        <p:spPr>
          <a:xfrm>
            <a:off x="4572000" y="5715000"/>
            <a:ext cx="457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Source: Chemical Petrology II: Trace Elements (Principles of Igneous and Metamorphic Petrology John D. Winter)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281285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1" name="Rectangle 3">
            <a:extLst>
              <a:ext uri="{FF2B5EF4-FFF2-40B4-BE49-F238E27FC236}">
                <a16:creationId xmlns:a16="http://schemas.microsoft.com/office/drawing/2014/main" id="{63F751B7-EB0F-4784-B31D-7A9965A281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600" y="898525"/>
            <a:ext cx="8431213" cy="5784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rgbClr val="00CC00"/>
              </a:buClr>
              <a:buSzPct val="50000"/>
              <a:buFont typeface="Monotype Sorts" pitchFamily="2" charset="2"/>
              <a:buChar char="l"/>
              <a:defRPr sz="32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1pPr>
            <a:lvl2pPr marL="819150" indent="-285750">
              <a:spcBef>
                <a:spcPct val="20000"/>
              </a:spcBef>
              <a:buClr>
                <a:srgbClr val="FF0066"/>
              </a:buClr>
              <a:buSzPct val="60000"/>
              <a:buFont typeface="Monotype Sorts" pitchFamily="2" charset="2"/>
              <a:buChar char="F"/>
              <a:defRPr sz="28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0066FF"/>
              </a:buClr>
              <a:buSzPct val="50000"/>
              <a:buFont typeface="Monotype Sorts" pitchFamily="2" charset="2"/>
              <a:buChar char="s"/>
              <a:defRPr sz="24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hlink"/>
              </a:buClr>
              <a:buSzPct val="50000"/>
              <a:buFont typeface="Monotype Sorts" pitchFamily="2" charset="2"/>
              <a:buChar char="i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9pPr>
          </a:lstStyle>
          <a:p>
            <a:r>
              <a:rPr lang="en-US" altLang="en-US" dirty="0">
                <a:solidFill>
                  <a:srgbClr val="FF0066"/>
                </a:solidFill>
              </a:rPr>
              <a:t>Batch Melting</a:t>
            </a:r>
            <a:r>
              <a:rPr lang="en-US" altLang="en-US" dirty="0">
                <a:solidFill>
                  <a:schemeClr val="tx1"/>
                </a:solidFill>
              </a:rPr>
              <a:t> </a:t>
            </a:r>
          </a:p>
          <a:p>
            <a:pPr lvl="1">
              <a:buFont typeface="Monotype Sorts" pitchFamily="2" charset="2"/>
              <a:buNone/>
            </a:pPr>
            <a:endParaRPr lang="en-US" altLang="en-US" sz="3200" dirty="0">
              <a:solidFill>
                <a:srgbClr val="00CC00"/>
              </a:solidFill>
            </a:endParaRPr>
          </a:p>
          <a:p>
            <a:pPr lvl="1">
              <a:buFont typeface="Monotype Sorts" pitchFamily="2" charset="2"/>
              <a:buNone/>
            </a:pPr>
            <a:endParaRPr lang="en-US" altLang="en-US" dirty="0">
              <a:solidFill>
                <a:schemeClr val="tx1"/>
              </a:solidFill>
            </a:endParaRPr>
          </a:p>
          <a:p>
            <a:pPr lvl="1">
              <a:buFont typeface="Monotype Sorts" pitchFamily="2" charset="2"/>
              <a:buNone/>
            </a:pPr>
            <a:r>
              <a:rPr lang="en-US" altLang="en-US" dirty="0">
                <a:solidFill>
                  <a:schemeClr val="tx1"/>
                </a:solidFill>
              </a:rPr>
              <a:t>C</a:t>
            </a:r>
            <a:r>
              <a:rPr lang="en-US" altLang="en-US" baseline="-25000" dirty="0">
                <a:solidFill>
                  <a:schemeClr val="tx1"/>
                </a:solidFill>
              </a:rPr>
              <a:t>L</a:t>
            </a:r>
            <a:r>
              <a:rPr lang="en-US" altLang="en-US" dirty="0">
                <a:solidFill>
                  <a:schemeClr val="tx1"/>
                </a:solidFill>
              </a:rPr>
              <a:t> = trace element concentration in the liquid</a:t>
            </a:r>
          </a:p>
          <a:p>
            <a:pPr lvl="1">
              <a:buFont typeface="Monotype Sorts" pitchFamily="2" charset="2"/>
              <a:buNone/>
            </a:pPr>
            <a:r>
              <a:rPr lang="en-US" altLang="en-US" dirty="0">
                <a:solidFill>
                  <a:schemeClr val="tx1"/>
                </a:solidFill>
              </a:rPr>
              <a:t>C</a:t>
            </a:r>
            <a:r>
              <a:rPr lang="en-US" altLang="en-US" baseline="-25000" dirty="0">
                <a:solidFill>
                  <a:schemeClr val="tx1"/>
                </a:solidFill>
              </a:rPr>
              <a:t>O</a:t>
            </a:r>
            <a:r>
              <a:rPr lang="en-US" altLang="en-US" dirty="0">
                <a:solidFill>
                  <a:schemeClr val="tx1"/>
                </a:solidFill>
              </a:rPr>
              <a:t> = trace element concentration in the original rock before melting began</a:t>
            </a:r>
          </a:p>
          <a:p>
            <a:pPr lvl="1">
              <a:buFont typeface="Monotype Sorts" pitchFamily="2" charset="2"/>
              <a:buNone/>
            </a:pPr>
            <a:r>
              <a:rPr lang="en-US" altLang="en-US" dirty="0">
                <a:solidFill>
                  <a:schemeClr val="tx1"/>
                </a:solidFill>
              </a:rPr>
              <a:t>F = wt fraction of melt </a:t>
            </a:r>
            <a:r>
              <a:rPr lang="en-US" altLang="en-US" dirty="0">
                <a:solidFill>
                  <a:srgbClr val="00CC00"/>
                </a:solidFill>
              </a:rPr>
              <a:t>produced</a:t>
            </a:r>
            <a:r>
              <a:rPr lang="en-US" altLang="en-US" dirty="0">
                <a:solidFill>
                  <a:schemeClr val="tx1"/>
                </a:solidFill>
              </a:rPr>
              <a:t> = melt/(melt + rock)</a:t>
            </a:r>
          </a:p>
        </p:txBody>
      </p:sp>
      <p:grpSp>
        <p:nvGrpSpPr>
          <p:cNvPr id="78852" name="Group 4">
            <a:extLst>
              <a:ext uri="{FF2B5EF4-FFF2-40B4-BE49-F238E27FC236}">
                <a16:creationId xmlns:a16="http://schemas.microsoft.com/office/drawing/2014/main" id="{91B0A488-7C8F-4064-892F-2E64A1539556}"/>
              </a:ext>
            </a:extLst>
          </p:cNvPr>
          <p:cNvGrpSpPr>
            <a:grpSpLocks/>
          </p:cNvGrpSpPr>
          <p:nvPr/>
        </p:nvGrpSpPr>
        <p:grpSpPr bwMode="auto">
          <a:xfrm>
            <a:off x="2322513" y="1416050"/>
            <a:ext cx="3025775" cy="1008063"/>
            <a:chOff x="1455" y="2258"/>
            <a:chExt cx="1906" cy="635"/>
          </a:xfrm>
        </p:grpSpPr>
        <p:sp>
          <p:nvSpPr>
            <p:cNvPr id="78853" name="Line 5">
              <a:extLst>
                <a:ext uri="{FF2B5EF4-FFF2-40B4-BE49-F238E27FC236}">
                  <a16:creationId xmlns:a16="http://schemas.microsoft.com/office/drawing/2014/main" id="{E8B5E590-E263-4655-B333-43D17BEB215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55" y="2583"/>
              <a:ext cx="400" cy="3"/>
            </a:xfrm>
            <a:prstGeom prst="line">
              <a:avLst/>
            </a:prstGeom>
            <a:noFill/>
            <a:ln w="20638">
              <a:solidFill>
                <a:srgbClr val="00CC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78854" name="Line 6">
              <a:extLst>
                <a:ext uri="{FF2B5EF4-FFF2-40B4-BE49-F238E27FC236}">
                  <a16:creationId xmlns:a16="http://schemas.microsoft.com/office/drawing/2014/main" id="{83EAF378-9894-4BE1-B22A-ED160536C39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091" y="2550"/>
              <a:ext cx="1270" cy="4"/>
            </a:xfrm>
            <a:prstGeom prst="line">
              <a:avLst/>
            </a:prstGeom>
            <a:noFill/>
            <a:ln w="20638">
              <a:solidFill>
                <a:srgbClr val="00CC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78855" name="Rectangle 7">
              <a:extLst>
                <a:ext uri="{FF2B5EF4-FFF2-40B4-BE49-F238E27FC236}">
                  <a16:creationId xmlns:a16="http://schemas.microsoft.com/office/drawing/2014/main" id="{63C58F40-ECAC-4BCA-B5E4-A4CF5423CC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12" y="2258"/>
              <a:ext cx="176" cy="3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3300">
                  <a:solidFill>
                    <a:srgbClr val="00CC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C</a:t>
              </a:r>
              <a:endParaRPr lang="en-US" altLang="en-US">
                <a:solidFill>
                  <a:srgbClr val="00CC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78856" name="Rectangle 8">
              <a:extLst>
                <a:ext uri="{FF2B5EF4-FFF2-40B4-BE49-F238E27FC236}">
                  <a16:creationId xmlns:a16="http://schemas.microsoft.com/office/drawing/2014/main" id="{C1EFA2F0-B240-4164-A7F9-E9EF92D50B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5" y="2570"/>
              <a:ext cx="176" cy="3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3300">
                  <a:solidFill>
                    <a:srgbClr val="00CC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C</a:t>
              </a:r>
              <a:endParaRPr lang="en-US" altLang="en-US">
                <a:solidFill>
                  <a:srgbClr val="00CC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78857" name="Rectangle 9">
              <a:extLst>
                <a:ext uri="{FF2B5EF4-FFF2-40B4-BE49-F238E27FC236}">
                  <a16:creationId xmlns:a16="http://schemas.microsoft.com/office/drawing/2014/main" id="{2575B5ED-F957-46A8-9E6D-9EACDA614E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38" y="2267"/>
              <a:ext cx="132" cy="3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3300">
                  <a:solidFill>
                    <a:srgbClr val="00CC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1</a:t>
              </a:r>
              <a:endParaRPr lang="en-US" altLang="en-US">
                <a:solidFill>
                  <a:srgbClr val="00CC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78858" name="Rectangle 10">
              <a:extLst>
                <a:ext uri="{FF2B5EF4-FFF2-40B4-BE49-F238E27FC236}">
                  <a16:creationId xmlns:a16="http://schemas.microsoft.com/office/drawing/2014/main" id="{4D32F244-7B35-4F11-98E3-F1171359DC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15" y="2570"/>
              <a:ext cx="240" cy="3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3300">
                  <a:solidFill>
                    <a:srgbClr val="00CC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D</a:t>
              </a:r>
              <a:r>
                <a:rPr lang="en-US" altLang="en-US" sz="3300" baseline="-25000">
                  <a:solidFill>
                    <a:srgbClr val="00CC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i</a:t>
              </a:r>
              <a:endParaRPr lang="en-US" altLang="en-US">
                <a:solidFill>
                  <a:srgbClr val="00CC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78859" name="Rectangle 11">
              <a:extLst>
                <a:ext uri="{FF2B5EF4-FFF2-40B4-BE49-F238E27FC236}">
                  <a16:creationId xmlns:a16="http://schemas.microsoft.com/office/drawing/2014/main" id="{098E73C5-FB01-43AA-A9C8-581712FD30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9" y="2570"/>
              <a:ext cx="220" cy="3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3300">
                  <a:solidFill>
                    <a:srgbClr val="00CC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(1</a:t>
              </a:r>
              <a:endParaRPr lang="en-US" altLang="en-US">
                <a:solidFill>
                  <a:srgbClr val="00CC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78860" name="Rectangle 12">
              <a:extLst>
                <a:ext uri="{FF2B5EF4-FFF2-40B4-BE49-F238E27FC236}">
                  <a16:creationId xmlns:a16="http://schemas.microsoft.com/office/drawing/2014/main" id="{D158920F-CDB7-454F-8A0A-1BA4574A0D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06" y="2570"/>
              <a:ext cx="235" cy="3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3300">
                  <a:solidFill>
                    <a:srgbClr val="00CC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F)</a:t>
              </a:r>
              <a:endParaRPr lang="en-US" altLang="en-US">
                <a:solidFill>
                  <a:srgbClr val="00CC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78861" name="Rectangle 13">
              <a:extLst>
                <a:ext uri="{FF2B5EF4-FFF2-40B4-BE49-F238E27FC236}">
                  <a16:creationId xmlns:a16="http://schemas.microsoft.com/office/drawing/2014/main" id="{5691B1B9-025B-4F63-A57A-6832431BA4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6" y="2570"/>
              <a:ext cx="147" cy="3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3300">
                  <a:solidFill>
                    <a:srgbClr val="00CC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F</a:t>
              </a:r>
              <a:endParaRPr lang="en-US" altLang="en-US">
                <a:solidFill>
                  <a:srgbClr val="00CC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78862" name="Rectangle 14">
              <a:extLst>
                <a:ext uri="{FF2B5EF4-FFF2-40B4-BE49-F238E27FC236}">
                  <a16:creationId xmlns:a16="http://schemas.microsoft.com/office/drawing/2014/main" id="{211EC697-D552-4A7F-BABE-094CAE7DEA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4" y="2388"/>
              <a:ext cx="9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2000">
                  <a:solidFill>
                    <a:srgbClr val="00CC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L</a:t>
              </a:r>
              <a:endParaRPr lang="en-US" altLang="en-US">
                <a:solidFill>
                  <a:srgbClr val="00CC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78863" name="Rectangle 15">
              <a:extLst>
                <a:ext uri="{FF2B5EF4-FFF2-40B4-BE49-F238E27FC236}">
                  <a16:creationId xmlns:a16="http://schemas.microsoft.com/office/drawing/2014/main" id="{47C8D6B3-AC58-4B3E-94BD-AB1F08078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92" y="2701"/>
              <a:ext cx="11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2000">
                  <a:solidFill>
                    <a:srgbClr val="00CC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</a:rPr>
                <a:t>O</a:t>
              </a:r>
              <a:endParaRPr lang="en-US" altLang="en-US">
                <a:solidFill>
                  <a:srgbClr val="00CC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78864" name="Rectangle 16">
              <a:extLst>
                <a:ext uri="{FF2B5EF4-FFF2-40B4-BE49-F238E27FC236}">
                  <a16:creationId xmlns:a16="http://schemas.microsoft.com/office/drawing/2014/main" id="{33D82210-6CDD-4EFE-812C-647BA744A8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04" y="2380"/>
              <a:ext cx="145" cy="3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3300">
                  <a:solidFill>
                    <a:srgbClr val="00CC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Symbol" panose="05050102010706020507" pitchFamily="18" charset="2"/>
                </a:rPr>
                <a:t>=</a:t>
              </a:r>
              <a:endParaRPr lang="en-US" altLang="en-US">
                <a:solidFill>
                  <a:srgbClr val="00CC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78865" name="Rectangle 17">
              <a:extLst>
                <a:ext uri="{FF2B5EF4-FFF2-40B4-BE49-F238E27FC236}">
                  <a16:creationId xmlns:a16="http://schemas.microsoft.com/office/drawing/2014/main" id="{0BB90BE7-CDCD-4944-B28C-E07A0E40FA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2" y="2547"/>
              <a:ext cx="145" cy="3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3300">
                  <a:solidFill>
                    <a:srgbClr val="00CC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Symbol" panose="05050102010706020507" pitchFamily="18" charset="2"/>
                </a:rPr>
                <a:t>-</a:t>
              </a:r>
              <a:endParaRPr lang="en-US" altLang="en-US">
                <a:solidFill>
                  <a:srgbClr val="00CC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78866" name="Rectangle 18">
              <a:extLst>
                <a:ext uri="{FF2B5EF4-FFF2-40B4-BE49-F238E27FC236}">
                  <a16:creationId xmlns:a16="http://schemas.microsoft.com/office/drawing/2014/main" id="{8E20200B-46D5-43E4-A3B6-8909F5633D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5" y="2547"/>
              <a:ext cx="145" cy="3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3300">
                  <a:solidFill>
                    <a:srgbClr val="00CC00"/>
                  </a:solidFill>
                  <a:effectLst>
                    <a:outerShdw blurRad="38100" dist="38100" dir="2700000" algn="tl">
                      <a:srgbClr val="000000"/>
                    </a:outerShdw>
                  </a:effectLst>
                  <a:latin typeface="Symbol" panose="05050102010706020507" pitchFamily="18" charset="2"/>
                </a:rPr>
                <a:t>+</a:t>
              </a:r>
              <a:endParaRPr lang="en-US" altLang="en-US">
                <a:solidFill>
                  <a:srgbClr val="00CC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78867" name="Line 19">
              <a:extLst>
                <a:ext uri="{FF2B5EF4-FFF2-40B4-BE49-F238E27FC236}">
                  <a16:creationId xmlns:a16="http://schemas.microsoft.com/office/drawing/2014/main" id="{FA6C5DC7-0F5B-47F6-B3E0-C42549B6A6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9" y="2594"/>
              <a:ext cx="145" cy="0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32161903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052" name="Picture 180">
            <a:extLst>
              <a:ext uri="{FF2B5EF4-FFF2-40B4-BE49-F238E27FC236}">
                <a16:creationId xmlns:a16="http://schemas.microsoft.com/office/drawing/2014/main" id="{11B2EA24-76D1-40A3-8B99-2F228E5C7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625" y="1719263"/>
            <a:ext cx="4143375" cy="5138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9874" name="Rectangle 2">
            <a:extLst>
              <a:ext uri="{FF2B5EF4-FFF2-40B4-BE49-F238E27FC236}">
                <a16:creationId xmlns:a16="http://schemas.microsoft.com/office/drawing/2014/main" id="{0D7E9CF9-38A7-47CF-A4DF-C7A8F30986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863" y="611188"/>
            <a:ext cx="4999037" cy="2154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190500" indent="-190500">
              <a:spcBef>
                <a:spcPct val="20000"/>
              </a:spcBef>
              <a:buClr>
                <a:srgbClr val="00CC00"/>
              </a:buClr>
              <a:buSzPct val="50000"/>
              <a:buFont typeface="Monotype Sorts" pitchFamily="2" charset="2"/>
              <a:buChar char="l"/>
              <a:defRPr sz="32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1pPr>
            <a:lvl2pPr marL="674688" indent="-293688">
              <a:spcBef>
                <a:spcPct val="20000"/>
              </a:spcBef>
              <a:buClr>
                <a:srgbClr val="FF0066"/>
              </a:buClr>
              <a:buSzPct val="60000"/>
              <a:buFont typeface="Monotype Sorts" pitchFamily="2" charset="2"/>
              <a:buChar char="F"/>
              <a:defRPr sz="28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2pPr>
            <a:lvl3pPr marL="1371600" indent="-228600">
              <a:spcBef>
                <a:spcPct val="20000"/>
              </a:spcBef>
              <a:buClr>
                <a:srgbClr val="0066FF"/>
              </a:buClr>
              <a:buSzPct val="50000"/>
              <a:buFont typeface="Monotype Sorts" pitchFamily="2" charset="2"/>
              <a:buChar char="s"/>
              <a:defRPr sz="24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3pPr>
            <a:lvl4pPr marL="1790700" indent="-228600">
              <a:spcBef>
                <a:spcPct val="20000"/>
              </a:spcBef>
              <a:buClr>
                <a:schemeClr val="hlink"/>
              </a:buClr>
              <a:buSzPct val="50000"/>
              <a:buFont typeface="Monotype Sorts" pitchFamily="2" charset="2"/>
              <a:buChar char="i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4pPr>
            <a:lvl5pPr marL="2209800" indent="-228600">
              <a:spcBef>
                <a:spcPct val="20000"/>
              </a:spcBef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5pPr>
            <a:lvl6pPr marL="2667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6pPr>
            <a:lvl7pPr marL="3124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7pPr>
            <a:lvl8pPr marL="35814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8pPr>
            <a:lvl9pPr marL="4038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9pPr>
          </a:lstStyle>
          <a:p>
            <a:pPr>
              <a:buFont typeface="Monotype Sorts" pitchFamily="2" charset="2"/>
              <a:buNone/>
            </a:pPr>
            <a:r>
              <a:rPr lang="en-US" altLang="en-US">
                <a:solidFill>
                  <a:srgbClr val="FF0066"/>
                </a:solidFill>
              </a:rPr>
              <a:t>Batch Melting</a:t>
            </a:r>
            <a:r>
              <a:rPr lang="en-US" altLang="en-US">
                <a:solidFill>
                  <a:schemeClr val="tx1"/>
                </a:solidFill>
              </a:rPr>
              <a:t> </a:t>
            </a:r>
          </a:p>
          <a:p>
            <a:pPr>
              <a:buFont typeface="Monotype Sorts" pitchFamily="2" charset="2"/>
              <a:buNone/>
            </a:pPr>
            <a:r>
              <a:rPr lang="en-US" altLang="en-US">
                <a:solidFill>
                  <a:schemeClr val="tx1"/>
                </a:solidFill>
              </a:rPr>
              <a:t> </a:t>
            </a:r>
            <a:r>
              <a:rPr lang="en-US" altLang="en-US" sz="2800">
                <a:solidFill>
                  <a:schemeClr val="tx1"/>
                </a:solidFill>
              </a:rPr>
              <a:t>A plot of C</a:t>
            </a:r>
            <a:r>
              <a:rPr lang="en-US" altLang="en-US" sz="2800" baseline="-25000">
                <a:solidFill>
                  <a:schemeClr val="tx1"/>
                </a:solidFill>
              </a:rPr>
              <a:t>L</a:t>
            </a:r>
            <a:r>
              <a:rPr lang="en-US" altLang="en-US" sz="2800">
                <a:solidFill>
                  <a:schemeClr val="tx1"/>
                </a:solidFill>
              </a:rPr>
              <a:t>/C</a:t>
            </a:r>
            <a:r>
              <a:rPr lang="en-US" altLang="en-US" sz="2800" baseline="-25000">
                <a:solidFill>
                  <a:schemeClr val="tx1"/>
                </a:solidFill>
              </a:rPr>
              <a:t>O</a:t>
            </a:r>
            <a:r>
              <a:rPr lang="en-US" altLang="en-US" sz="2800">
                <a:solidFill>
                  <a:schemeClr val="tx1"/>
                </a:solidFill>
              </a:rPr>
              <a:t> vs. F for various values of D</a:t>
            </a:r>
            <a:r>
              <a:rPr lang="en-US" altLang="en-US" sz="2800" baseline="-25000">
                <a:solidFill>
                  <a:schemeClr val="tx1"/>
                </a:solidFill>
              </a:rPr>
              <a:t>i</a:t>
            </a:r>
            <a:r>
              <a:rPr lang="en-US" altLang="en-US" sz="2800">
                <a:solidFill>
                  <a:schemeClr val="tx1"/>
                </a:solidFill>
              </a:rPr>
              <a:t>  using eq. 9-5</a:t>
            </a:r>
          </a:p>
        </p:txBody>
      </p:sp>
      <p:sp>
        <p:nvSpPr>
          <p:cNvPr id="80050" name="Rectangle 178">
            <a:extLst>
              <a:ext uri="{FF2B5EF4-FFF2-40B4-BE49-F238E27FC236}">
                <a16:creationId xmlns:a16="http://schemas.microsoft.com/office/drawing/2014/main" id="{1C23995E-61E9-4361-9F05-D8C8F1210B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675" y="2768600"/>
            <a:ext cx="4999038" cy="3935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190500" indent="-190500">
              <a:spcBef>
                <a:spcPct val="20000"/>
              </a:spcBef>
              <a:buClr>
                <a:srgbClr val="00CC00"/>
              </a:buClr>
              <a:buSzPct val="50000"/>
              <a:buFont typeface="Monotype Sorts" pitchFamily="2" charset="2"/>
              <a:buChar char="l"/>
              <a:defRPr sz="32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1pPr>
            <a:lvl2pPr marL="674688" indent="-293688">
              <a:spcBef>
                <a:spcPct val="20000"/>
              </a:spcBef>
              <a:buClr>
                <a:srgbClr val="FF0066"/>
              </a:buClr>
              <a:buSzPct val="60000"/>
              <a:buFont typeface="Monotype Sorts" pitchFamily="2" charset="2"/>
              <a:buChar char="F"/>
              <a:defRPr sz="28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2pPr>
            <a:lvl3pPr marL="1371600" indent="-228600">
              <a:spcBef>
                <a:spcPct val="20000"/>
              </a:spcBef>
              <a:buClr>
                <a:srgbClr val="0066FF"/>
              </a:buClr>
              <a:buSzPct val="50000"/>
              <a:buFont typeface="Monotype Sorts" pitchFamily="2" charset="2"/>
              <a:buChar char="s"/>
              <a:defRPr sz="24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3pPr>
            <a:lvl4pPr marL="1790700" indent="-228600">
              <a:spcBef>
                <a:spcPct val="20000"/>
              </a:spcBef>
              <a:buClr>
                <a:schemeClr val="hlink"/>
              </a:buClr>
              <a:buSzPct val="50000"/>
              <a:buFont typeface="Monotype Sorts" pitchFamily="2" charset="2"/>
              <a:buChar char="i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4pPr>
            <a:lvl5pPr marL="2209800" indent="-228600">
              <a:spcBef>
                <a:spcPct val="20000"/>
              </a:spcBef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5pPr>
            <a:lvl6pPr marL="2667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6pPr>
            <a:lvl7pPr marL="3124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7pPr>
            <a:lvl8pPr marL="35814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8pPr>
            <a:lvl9pPr marL="4038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9pPr>
          </a:lstStyle>
          <a:p>
            <a:pPr lvl="1"/>
            <a:r>
              <a:rPr lang="en-US" altLang="en-US">
                <a:solidFill>
                  <a:schemeClr val="tx1"/>
                </a:solidFill>
              </a:rPr>
              <a:t>D</a:t>
            </a:r>
            <a:r>
              <a:rPr lang="en-US" altLang="en-US" baseline="-25000">
                <a:solidFill>
                  <a:schemeClr val="tx1"/>
                </a:solidFill>
              </a:rPr>
              <a:t>i</a:t>
            </a:r>
            <a:r>
              <a:rPr lang="en-US" altLang="en-US">
                <a:solidFill>
                  <a:schemeClr val="tx1"/>
                </a:solidFill>
              </a:rPr>
              <a:t> = 1.0</a:t>
            </a:r>
          </a:p>
          <a:p>
            <a:pPr lvl="1"/>
            <a:endParaRPr lang="en-US" altLang="en-US">
              <a:solidFill>
                <a:schemeClr val="tx1"/>
              </a:solidFill>
            </a:endParaRPr>
          </a:p>
        </p:txBody>
      </p:sp>
      <p:sp>
        <p:nvSpPr>
          <p:cNvPr id="80051" name="Rectangle 179">
            <a:extLst>
              <a:ext uri="{FF2B5EF4-FFF2-40B4-BE49-F238E27FC236}">
                <a16:creationId xmlns:a16="http://schemas.microsoft.com/office/drawing/2014/main" id="{8E25D783-ABCE-4E64-B04D-DA13F6AEF8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238" y="4881563"/>
            <a:ext cx="3830637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>
                <a:solidFill>
                  <a:srgbClr val="FF505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Figure 9-2.</a:t>
            </a:r>
            <a:r>
              <a:rPr lang="en-US" altLang="en-US" sz="1200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 Variation in the relative concentration of a trace element in a liquid vs. source rock as a fiunction of D and the fraction melted, using equation (9-5) for equilibrium batch melting. From Winter (2001) An Introduction to Igneous and Metamorphic Petrology. Prentice Hall.</a:t>
            </a:r>
          </a:p>
        </p:txBody>
      </p:sp>
    </p:spTree>
    <p:extLst>
      <p:ext uri="{BB962C8B-B14F-4D97-AF65-F5344CB8AC3E}">
        <p14:creationId xmlns:p14="http://schemas.microsoft.com/office/powerpoint/2010/main" val="3181901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100" name="Picture 180">
            <a:extLst>
              <a:ext uri="{FF2B5EF4-FFF2-40B4-BE49-F238E27FC236}">
                <a16:creationId xmlns:a16="http://schemas.microsoft.com/office/drawing/2014/main" id="{9351EA51-0A4A-41D8-AA3E-37E272FF27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625" y="1720850"/>
            <a:ext cx="4143375" cy="513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2096" name="Rectangle 176">
            <a:extLst>
              <a:ext uri="{FF2B5EF4-FFF2-40B4-BE49-F238E27FC236}">
                <a16:creationId xmlns:a16="http://schemas.microsoft.com/office/drawing/2014/main" id="{38698C8C-C8F0-4D16-9F8C-4631EA624F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54075"/>
            <a:ext cx="5430838" cy="457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190500" indent="-190500">
              <a:spcBef>
                <a:spcPct val="20000"/>
              </a:spcBef>
              <a:buClr>
                <a:srgbClr val="00CC00"/>
              </a:buClr>
              <a:buSzPct val="50000"/>
              <a:buFont typeface="Monotype Sorts" pitchFamily="2" charset="2"/>
              <a:buChar char="l"/>
              <a:defRPr sz="32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1pPr>
            <a:lvl2pPr marL="738188" indent="-357188">
              <a:spcBef>
                <a:spcPct val="20000"/>
              </a:spcBef>
              <a:buClr>
                <a:srgbClr val="FF0066"/>
              </a:buClr>
              <a:buSzPct val="60000"/>
              <a:buFont typeface="Monotype Sorts" pitchFamily="2" charset="2"/>
              <a:buChar char="F"/>
              <a:defRPr sz="28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2pPr>
            <a:lvl3pPr marL="1371600" indent="-228600">
              <a:spcBef>
                <a:spcPct val="20000"/>
              </a:spcBef>
              <a:buClr>
                <a:srgbClr val="0066FF"/>
              </a:buClr>
              <a:buSzPct val="50000"/>
              <a:buFont typeface="Monotype Sorts" pitchFamily="2" charset="2"/>
              <a:buChar char="s"/>
              <a:defRPr sz="24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3pPr>
            <a:lvl4pPr marL="1790700" indent="-228600">
              <a:spcBef>
                <a:spcPct val="20000"/>
              </a:spcBef>
              <a:buClr>
                <a:schemeClr val="hlink"/>
              </a:buClr>
              <a:buSzPct val="50000"/>
              <a:buFont typeface="Monotype Sorts" pitchFamily="2" charset="2"/>
              <a:buChar char="i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4pPr>
            <a:lvl5pPr marL="2209800" indent="-228600">
              <a:spcBef>
                <a:spcPct val="20000"/>
              </a:spcBef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5pPr>
            <a:lvl6pPr marL="2667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6pPr>
            <a:lvl7pPr marL="3124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7pPr>
            <a:lvl8pPr marL="35814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8pPr>
            <a:lvl9pPr marL="4038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9pPr>
          </a:lstStyle>
          <a:p>
            <a:pPr lvl="1">
              <a:buFont typeface="Monotype Sorts" pitchFamily="2" charset="2"/>
              <a:buNone/>
            </a:pPr>
            <a:r>
              <a:rPr lang="en-US" altLang="en-US" sz="3200">
                <a:solidFill>
                  <a:schemeClr val="tx1"/>
                </a:solidFill>
              </a:rPr>
              <a:t>D</a:t>
            </a:r>
            <a:r>
              <a:rPr lang="en-US" altLang="en-US" sz="3200" baseline="-25000">
                <a:solidFill>
                  <a:schemeClr val="tx1"/>
                </a:solidFill>
              </a:rPr>
              <a:t>i</a:t>
            </a:r>
            <a:r>
              <a:rPr lang="en-US" altLang="en-US" sz="3200">
                <a:solidFill>
                  <a:schemeClr val="tx1"/>
                </a:solidFill>
              </a:rPr>
              <a:t> » 1.0 (</a:t>
            </a:r>
            <a:r>
              <a:rPr lang="en-US" altLang="en-US" sz="3200">
                <a:solidFill>
                  <a:srgbClr val="00CC00"/>
                </a:solidFill>
              </a:rPr>
              <a:t>compatible </a:t>
            </a:r>
            <a:r>
              <a:rPr lang="en-US" altLang="en-US" sz="3200">
                <a:solidFill>
                  <a:schemeClr val="tx1"/>
                </a:solidFill>
              </a:rPr>
              <a:t>element)</a:t>
            </a:r>
          </a:p>
          <a:p>
            <a:pPr lvl="1">
              <a:buFont typeface="Monotype Sorts" pitchFamily="2" charset="2"/>
              <a:buNone/>
            </a:pPr>
            <a:endParaRPr lang="en-US" altLang="en-US" sz="3200">
              <a:solidFill>
                <a:schemeClr val="tx1"/>
              </a:solidFill>
            </a:endParaRPr>
          </a:p>
          <a:p>
            <a:pPr lvl="1"/>
            <a:r>
              <a:rPr lang="en-US" altLang="en-US" sz="3200">
                <a:solidFill>
                  <a:schemeClr val="tx1"/>
                </a:solidFill>
              </a:rPr>
              <a:t>Very low concentration in melt</a:t>
            </a:r>
          </a:p>
          <a:p>
            <a:pPr lvl="1"/>
            <a:endParaRPr lang="en-US" altLang="en-US" sz="3200">
              <a:solidFill>
                <a:schemeClr val="tx1"/>
              </a:solidFill>
            </a:endParaRPr>
          </a:p>
          <a:p>
            <a:pPr lvl="1"/>
            <a:r>
              <a:rPr lang="en-US" altLang="en-US" sz="3200">
                <a:solidFill>
                  <a:schemeClr val="tx1"/>
                </a:solidFill>
              </a:rPr>
              <a:t>Especially for low % melting (low F)</a:t>
            </a:r>
          </a:p>
          <a:p>
            <a:pPr lvl="1">
              <a:buFont typeface="Monotype Sorts" pitchFamily="2" charset="2"/>
              <a:buNone/>
            </a:pPr>
            <a:endParaRPr lang="en-US" altLang="en-US" sz="3200">
              <a:solidFill>
                <a:schemeClr val="tx1"/>
              </a:solidFill>
            </a:endParaRPr>
          </a:p>
        </p:txBody>
      </p:sp>
      <p:sp>
        <p:nvSpPr>
          <p:cNvPr id="82102" name="Rectangle 182">
            <a:extLst>
              <a:ext uri="{FF2B5EF4-FFF2-40B4-BE49-F238E27FC236}">
                <a16:creationId xmlns:a16="http://schemas.microsoft.com/office/drawing/2014/main" id="{5588A328-DD38-4D8A-BD48-D496B9373C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238" y="4881563"/>
            <a:ext cx="3830637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>
                <a:solidFill>
                  <a:srgbClr val="FF505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Figure 9-2.</a:t>
            </a:r>
            <a:r>
              <a:rPr lang="en-US" altLang="en-US" sz="1200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 Variation in the relative concentration of a trace element in a liquid vs. source rock as a fiunction of D and the fraction melted, using equation (9-5) for equilibrium batch melting. From Winter (2001) An Introduction to Igneous and Metamorphic Petrology. Prentice Hall.</a:t>
            </a:r>
          </a:p>
        </p:txBody>
      </p:sp>
    </p:spTree>
    <p:extLst>
      <p:ext uri="{BB962C8B-B14F-4D97-AF65-F5344CB8AC3E}">
        <p14:creationId xmlns:p14="http://schemas.microsoft.com/office/powerpoint/2010/main" val="2699326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148" name="Picture 180">
            <a:extLst>
              <a:ext uri="{FF2B5EF4-FFF2-40B4-BE49-F238E27FC236}">
                <a16:creationId xmlns:a16="http://schemas.microsoft.com/office/drawing/2014/main" id="{5BC19B8E-2CA5-4E09-9742-E883401DD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2100" y="1902371"/>
            <a:ext cx="3742654" cy="4640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4145" name="Rectangle 177">
            <a:extLst>
              <a:ext uri="{FF2B5EF4-FFF2-40B4-BE49-F238E27FC236}">
                <a16:creationId xmlns:a16="http://schemas.microsoft.com/office/drawing/2014/main" id="{6364D1D7-CBA8-4508-8CE0-F251482948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625" y="487363"/>
            <a:ext cx="5197475" cy="4402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81000" indent="-381000">
              <a:spcBef>
                <a:spcPct val="20000"/>
              </a:spcBef>
              <a:buClr>
                <a:srgbClr val="00CC00"/>
              </a:buClr>
              <a:buSzPct val="50000"/>
              <a:buFont typeface="Monotype Sorts" pitchFamily="2" charset="2"/>
              <a:buChar char="l"/>
              <a:defRPr sz="32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1pPr>
            <a:lvl2pPr marL="865188" indent="-293688">
              <a:spcBef>
                <a:spcPct val="20000"/>
              </a:spcBef>
              <a:buClr>
                <a:srgbClr val="FF0066"/>
              </a:buClr>
              <a:buSzPct val="60000"/>
              <a:buFont typeface="Monotype Sorts" pitchFamily="2" charset="2"/>
              <a:buChar char="F"/>
              <a:defRPr sz="28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2pPr>
            <a:lvl3pPr marL="1284288" indent="-228600">
              <a:spcBef>
                <a:spcPct val="20000"/>
              </a:spcBef>
              <a:buClr>
                <a:srgbClr val="0066FF"/>
              </a:buClr>
              <a:buSzPct val="50000"/>
              <a:buFont typeface="Monotype Sorts" pitchFamily="2" charset="2"/>
              <a:buChar char="s"/>
              <a:defRPr sz="24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3pPr>
            <a:lvl4pPr marL="1790700" indent="-228600">
              <a:spcBef>
                <a:spcPct val="20000"/>
              </a:spcBef>
              <a:buClr>
                <a:schemeClr val="hlink"/>
              </a:buClr>
              <a:buSzPct val="50000"/>
              <a:buFont typeface="Monotype Sorts" pitchFamily="2" charset="2"/>
              <a:buChar char="i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4pPr>
            <a:lvl5pPr marL="2209800" indent="-228600">
              <a:spcBef>
                <a:spcPct val="20000"/>
              </a:spcBef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5pPr>
            <a:lvl6pPr marL="2667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6pPr>
            <a:lvl7pPr marL="3124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7pPr>
            <a:lvl8pPr marL="35814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8pPr>
            <a:lvl9pPr marL="4038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9pPr>
          </a:lstStyle>
          <a:p>
            <a:pPr>
              <a:buFont typeface="Monotype Sorts" pitchFamily="2" charset="2"/>
              <a:buNone/>
            </a:pPr>
            <a:r>
              <a:rPr lang="en-US" altLang="en-US">
                <a:solidFill>
                  <a:schemeClr val="tx1"/>
                </a:solidFill>
              </a:rPr>
              <a:t>Highly </a:t>
            </a:r>
            <a:r>
              <a:rPr lang="en-US" altLang="en-US">
                <a:solidFill>
                  <a:srgbClr val="00CC00"/>
                </a:solidFill>
              </a:rPr>
              <a:t>incompatible</a:t>
            </a:r>
            <a:r>
              <a:rPr lang="en-US" altLang="en-US">
                <a:solidFill>
                  <a:schemeClr val="tx1"/>
                </a:solidFill>
              </a:rPr>
              <a:t> elements</a:t>
            </a:r>
          </a:p>
          <a:p>
            <a:pPr lvl="1"/>
            <a:r>
              <a:rPr lang="en-US" altLang="en-US" sz="3200">
                <a:solidFill>
                  <a:schemeClr val="tx1"/>
                </a:solidFill>
              </a:rPr>
              <a:t>Greatly concentrated in the initial small fraction of melt produced by partial melting</a:t>
            </a:r>
          </a:p>
          <a:p>
            <a:pPr lvl="1"/>
            <a:endParaRPr lang="en-US" altLang="en-US" sz="3200">
              <a:solidFill>
                <a:schemeClr val="tx1"/>
              </a:solidFill>
            </a:endParaRPr>
          </a:p>
          <a:p>
            <a:pPr lvl="1"/>
            <a:r>
              <a:rPr lang="en-US" altLang="en-US" sz="3200">
                <a:solidFill>
                  <a:schemeClr val="tx1"/>
                </a:solidFill>
              </a:rPr>
              <a:t>Subsequently diluted as F increases</a:t>
            </a:r>
          </a:p>
        </p:txBody>
      </p:sp>
      <p:sp>
        <p:nvSpPr>
          <p:cNvPr id="84149" name="Rectangle 181">
            <a:extLst>
              <a:ext uri="{FF2B5EF4-FFF2-40B4-BE49-F238E27FC236}">
                <a16:creationId xmlns:a16="http://schemas.microsoft.com/office/drawing/2014/main" id="{325D45A0-2CF9-45CA-AEC3-C4D49A529D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238" y="4881563"/>
            <a:ext cx="3830637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>
                <a:solidFill>
                  <a:srgbClr val="FF505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Figure 9-2.</a:t>
            </a:r>
            <a:r>
              <a:rPr lang="en-US" altLang="en-US" sz="1200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 Variation in the relative concentration of a trace element in a liquid vs. source rock as a fiunction of D and the fraction melted, using equation (9-5) for equilibrium batch melting. From Winter (2001) An Introduction to Igneous and Metamorphic Petrology. Prentice Hall.</a:t>
            </a:r>
          </a:p>
        </p:txBody>
      </p:sp>
    </p:spTree>
    <p:extLst>
      <p:ext uri="{BB962C8B-B14F-4D97-AF65-F5344CB8AC3E}">
        <p14:creationId xmlns:p14="http://schemas.microsoft.com/office/powerpoint/2010/main" val="41509314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215" name="Picture 199">
            <a:extLst>
              <a:ext uri="{FF2B5EF4-FFF2-40B4-BE49-F238E27FC236}">
                <a16:creationId xmlns:a16="http://schemas.microsoft.com/office/drawing/2014/main" id="{1CAAE4D1-E5BD-4460-A190-617E2542CF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9038" y="1717675"/>
            <a:ext cx="4144962" cy="5140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6018" name="Rectangle 2">
            <a:extLst>
              <a:ext uri="{FF2B5EF4-FFF2-40B4-BE49-F238E27FC236}">
                <a16:creationId xmlns:a16="http://schemas.microsoft.com/office/drawing/2014/main" id="{45EF0EEE-4BCF-4DF0-BDB0-EF9B9362D5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4625" y="487363"/>
            <a:ext cx="5099050" cy="3843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81000" indent="-381000">
              <a:spcBef>
                <a:spcPct val="20000"/>
              </a:spcBef>
              <a:buClr>
                <a:srgbClr val="00CC00"/>
              </a:buClr>
              <a:buSzPct val="50000"/>
              <a:buFont typeface="Monotype Sorts" pitchFamily="2" charset="2"/>
              <a:buChar char="l"/>
              <a:defRPr sz="32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1pPr>
            <a:lvl2pPr marL="865188" indent="-293688">
              <a:spcBef>
                <a:spcPct val="20000"/>
              </a:spcBef>
              <a:buClr>
                <a:srgbClr val="FF0066"/>
              </a:buClr>
              <a:buSzPct val="60000"/>
              <a:buFont typeface="Monotype Sorts" pitchFamily="2" charset="2"/>
              <a:buChar char="F"/>
              <a:defRPr sz="28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2pPr>
            <a:lvl3pPr marL="1284288" indent="-228600">
              <a:spcBef>
                <a:spcPct val="20000"/>
              </a:spcBef>
              <a:buClr>
                <a:srgbClr val="0066FF"/>
              </a:buClr>
              <a:buSzPct val="50000"/>
              <a:buFont typeface="Monotype Sorts" pitchFamily="2" charset="2"/>
              <a:buChar char="s"/>
              <a:defRPr sz="24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3pPr>
            <a:lvl4pPr marL="1790700" indent="-228600">
              <a:spcBef>
                <a:spcPct val="20000"/>
              </a:spcBef>
              <a:buClr>
                <a:schemeClr val="hlink"/>
              </a:buClr>
              <a:buSzPct val="50000"/>
              <a:buFont typeface="Monotype Sorts" pitchFamily="2" charset="2"/>
              <a:buChar char="i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4pPr>
            <a:lvl5pPr marL="2209800" indent="-228600">
              <a:spcBef>
                <a:spcPct val="20000"/>
              </a:spcBef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5pPr>
            <a:lvl6pPr marL="2667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6pPr>
            <a:lvl7pPr marL="3124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7pPr>
            <a:lvl8pPr marL="35814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8pPr>
            <a:lvl9pPr marL="4038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»"/>
              <a:defRPr sz="2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Times New Roman" panose="02020603050405020304" pitchFamily="18" charset="0"/>
              </a:defRPr>
            </a:lvl9pPr>
          </a:lstStyle>
          <a:p>
            <a:r>
              <a:rPr lang="en-US" altLang="en-US" sz="2800">
                <a:solidFill>
                  <a:schemeClr val="tx1"/>
                </a:solidFill>
              </a:rPr>
              <a:t>As F </a:t>
            </a:r>
            <a:r>
              <a:rPr lang="en-US" altLang="en-US" sz="2800">
                <a:solidFill>
                  <a:schemeClr val="tx1"/>
                </a:solidFill>
                <a:sym typeface="Symbol" panose="05050102010706020507" pitchFamily="18" charset="2"/>
              </a:rPr>
              <a:t></a:t>
            </a:r>
            <a:r>
              <a:rPr lang="en-US" altLang="en-US" sz="2800">
                <a:solidFill>
                  <a:schemeClr val="tx1"/>
                </a:solidFill>
              </a:rPr>
              <a:t> 1 the concentration of </a:t>
            </a:r>
            <a:r>
              <a:rPr lang="en-US" altLang="en-US" sz="2800">
                <a:solidFill>
                  <a:srgbClr val="00CC00"/>
                </a:solidFill>
              </a:rPr>
              <a:t>every</a:t>
            </a:r>
            <a:r>
              <a:rPr lang="en-US" altLang="en-US" sz="2800">
                <a:solidFill>
                  <a:schemeClr val="tx1"/>
                </a:solidFill>
              </a:rPr>
              <a:t> trace element in the liquid = the source rock (C</a:t>
            </a:r>
            <a:r>
              <a:rPr lang="en-US" altLang="en-US" sz="2800" baseline="-25000">
                <a:solidFill>
                  <a:schemeClr val="tx1"/>
                </a:solidFill>
              </a:rPr>
              <a:t>L</a:t>
            </a:r>
            <a:r>
              <a:rPr lang="en-US" altLang="en-US" sz="2800">
                <a:solidFill>
                  <a:schemeClr val="tx1"/>
                </a:solidFill>
              </a:rPr>
              <a:t>/C</a:t>
            </a:r>
            <a:r>
              <a:rPr lang="en-US" altLang="en-US" sz="2800" baseline="-25000">
                <a:solidFill>
                  <a:schemeClr val="tx1"/>
                </a:solidFill>
              </a:rPr>
              <a:t>O</a:t>
            </a:r>
            <a:r>
              <a:rPr lang="en-US" altLang="en-US" sz="2800">
                <a:solidFill>
                  <a:schemeClr val="tx1"/>
                </a:solidFill>
              </a:rPr>
              <a:t> </a:t>
            </a:r>
            <a:r>
              <a:rPr lang="en-US" altLang="en-US" sz="2800">
                <a:solidFill>
                  <a:schemeClr val="tx1"/>
                </a:solidFill>
                <a:latin typeface="Symbol" panose="05050102010706020507" pitchFamily="18" charset="2"/>
              </a:rPr>
              <a:t></a:t>
            </a:r>
            <a:r>
              <a:rPr lang="en-US" altLang="en-US" sz="2800">
                <a:solidFill>
                  <a:schemeClr val="tx1"/>
                </a:solidFill>
              </a:rPr>
              <a:t> 1)</a:t>
            </a:r>
          </a:p>
          <a:p>
            <a:pPr lvl="2">
              <a:spcBef>
                <a:spcPct val="65000"/>
              </a:spcBef>
              <a:buFont typeface="Monotype Sorts" pitchFamily="2" charset="2"/>
              <a:buNone/>
            </a:pPr>
            <a:r>
              <a:rPr lang="en-US" altLang="en-US">
                <a:solidFill>
                  <a:schemeClr val="tx1"/>
                </a:solidFill>
              </a:rPr>
              <a:t>			As F </a:t>
            </a:r>
            <a:r>
              <a:rPr lang="en-US" altLang="en-US">
                <a:solidFill>
                  <a:schemeClr val="tx1"/>
                </a:solidFill>
                <a:sym typeface="Symbol" panose="05050102010706020507" pitchFamily="18" charset="2"/>
              </a:rPr>
              <a:t> 1</a:t>
            </a:r>
          </a:p>
          <a:p>
            <a:pPr lvl="2">
              <a:buFont typeface="Monotype Sorts" pitchFamily="2" charset="2"/>
              <a:buNone/>
            </a:pPr>
            <a:r>
              <a:rPr lang="en-US" altLang="en-US">
                <a:solidFill>
                  <a:schemeClr val="tx1"/>
                </a:solidFill>
                <a:sym typeface="Symbol" panose="05050102010706020507" pitchFamily="18" charset="2"/>
              </a:rPr>
              <a:t>			</a:t>
            </a:r>
            <a:r>
              <a:rPr lang="en-US" altLang="en-US">
                <a:solidFill>
                  <a:schemeClr val="tx1"/>
                </a:solidFill>
              </a:rPr>
              <a:t>C</a:t>
            </a:r>
            <a:r>
              <a:rPr lang="en-US" altLang="en-US" baseline="-25000">
                <a:solidFill>
                  <a:schemeClr val="tx1"/>
                </a:solidFill>
              </a:rPr>
              <a:t>L</a:t>
            </a:r>
            <a:r>
              <a:rPr lang="en-US" altLang="en-US">
                <a:solidFill>
                  <a:schemeClr val="tx1"/>
                </a:solidFill>
              </a:rPr>
              <a:t>/C</a:t>
            </a:r>
            <a:r>
              <a:rPr lang="en-US" altLang="en-US" baseline="-25000">
                <a:solidFill>
                  <a:schemeClr val="tx1"/>
                </a:solidFill>
              </a:rPr>
              <a:t>O</a:t>
            </a:r>
            <a:r>
              <a:rPr lang="en-US" altLang="en-US">
                <a:solidFill>
                  <a:schemeClr val="tx1"/>
                </a:solidFill>
              </a:rPr>
              <a:t> </a:t>
            </a:r>
            <a:r>
              <a:rPr lang="en-US" altLang="en-US">
                <a:solidFill>
                  <a:schemeClr val="tx1"/>
                </a:solidFill>
                <a:sym typeface="Symbol" panose="05050102010706020507" pitchFamily="18" charset="2"/>
              </a:rPr>
              <a:t></a:t>
            </a:r>
            <a:r>
              <a:rPr lang="en-US" altLang="en-US">
                <a:solidFill>
                  <a:schemeClr val="tx1"/>
                </a:solidFill>
              </a:rPr>
              <a:t>  1</a:t>
            </a:r>
          </a:p>
        </p:txBody>
      </p:sp>
      <p:grpSp>
        <p:nvGrpSpPr>
          <p:cNvPr id="86019" name="Group 3">
            <a:extLst>
              <a:ext uri="{FF2B5EF4-FFF2-40B4-BE49-F238E27FC236}">
                <a16:creationId xmlns:a16="http://schemas.microsoft.com/office/drawing/2014/main" id="{2EA6205F-D391-484C-80FB-23A5EED48882}"/>
              </a:ext>
            </a:extLst>
          </p:cNvPr>
          <p:cNvGrpSpPr>
            <a:grpSpLocks/>
          </p:cNvGrpSpPr>
          <p:nvPr/>
        </p:nvGrpSpPr>
        <p:grpSpPr bwMode="auto">
          <a:xfrm>
            <a:off x="274638" y="2473325"/>
            <a:ext cx="2435225" cy="842963"/>
            <a:chOff x="203" y="1885"/>
            <a:chExt cx="1534" cy="531"/>
          </a:xfrm>
        </p:grpSpPr>
        <p:sp>
          <p:nvSpPr>
            <p:cNvPr id="86020" name="Line 4">
              <a:extLst>
                <a:ext uri="{FF2B5EF4-FFF2-40B4-BE49-F238E27FC236}">
                  <a16:creationId xmlns:a16="http://schemas.microsoft.com/office/drawing/2014/main" id="{0C51D069-FE7B-4BB9-99A9-E3D5908B1D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3" y="2167"/>
              <a:ext cx="304" cy="1"/>
            </a:xfrm>
            <a:prstGeom prst="line">
              <a:avLst/>
            </a:prstGeom>
            <a:noFill/>
            <a:ln w="20638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86021" name="Line 5">
              <a:extLst>
                <a:ext uri="{FF2B5EF4-FFF2-40B4-BE49-F238E27FC236}">
                  <a16:creationId xmlns:a16="http://schemas.microsoft.com/office/drawing/2014/main" id="{030BC9EF-9517-4556-B85D-067AE89D72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3" y="2134"/>
              <a:ext cx="1005" cy="1"/>
            </a:xfrm>
            <a:prstGeom prst="line">
              <a:avLst/>
            </a:prstGeom>
            <a:noFill/>
            <a:ln w="20638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86022" name="Rectangle 6">
              <a:extLst>
                <a:ext uri="{FF2B5EF4-FFF2-40B4-BE49-F238E27FC236}">
                  <a16:creationId xmlns:a16="http://schemas.microsoft.com/office/drawing/2014/main" id="{70474C17-CC92-437B-9679-705042F5BD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3" y="1894"/>
              <a:ext cx="133" cy="2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2500">
                  <a:solidFill>
                    <a:schemeClr val="tx2"/>
                  </a:solidFill>
                  <a:effectLst/>
                </a:rPr>
                <a:t>C</a:t>
              </a:r>
              <a:endParaRPr lang="en-US" altLang="en-US" sz="18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86023" name="Rectangle 7">
              <a:extLst>
                <a:ext uri="{FF2B5EF4-FFF2-40B4-BE49-F238E27FC236}">
                  <a16:creationId xmlns:a16="http://schemas.microsoft.com/office/drawing/2014/main" id="{29FC7CE9-696F-4D00-8328-8C1A5E5433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" y="2159"/>
              <a:ext cx="133" cy="2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2500">
                  <a:solidFill>
                    <a:schemeClr val="tx2"/>
                  </a:solidFill>
                  <a:effectLst/>
                </a:rPr>
                <a:t>C</a:t>
              </a:r>
              <a:endParaRPr lang="en-US" altLang="en-US" sz="18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86024" name="Rectangle 8">
              <a:extLst>
                <a:ext uri="{FF2B5EF4-FFF2-40B4-BE49-F238E27FC236}">
                  <a16:creationId xmlns:a16="http://schemas.microsoft.com/office/drawing/2014/main" id="{0A837B42-3B28-4D3A-A466-87FFDACE5F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56" y="1885"/>
              <a:ext cx="100" cy="2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2500">
                  <a:solidFill>
                    <a:schemeClr val="tx2"/>
                  </a:solidFill>
                  <a:effectLst/>
                </a:rPr>
                <a:t>1</a:t>
              </a:r>
              <a:endParaRPr lang="en-US" altLang="en-US" sz="18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86025" name="Rectangle 9">
              <a:extLst>
                <a:ext uri="{FF2B5EF4-FFF2-40B4-BE49-F238E27FC236}">
                  <a16:creationId xmlns:a16="http://schemas.microsoft.com/office/drawing/2014/main" id="{161608FA-1EC5-4B47-AEC7-C6B0478EDB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23" y="2159"/>
              <a:ext cx="182" cy="2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2500">
                  <a:solidFill>
                    <a:schemeClr val="tx2"/>
                  </a:solidFill>
                  <a:effectLst/>
                </a:rPr>
                <a:t>D</a:t>
              </a:r>
              <a:r>
                <a:rPr lang="en-US" altLang="en-US" sz="2500" baseline="-25000">
                  <a:solidFill>
                    <a:schemeClr val="tx2"/>
                  </a:solidFill>
                  <a:effectLst/>
                </a:rPr>
                <a:t>i</a:t>
              </a:r>
              <a:endParaRPr lang="en-US" altLang="en-US" sz="18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86026" name="Rectangle 10">
              <a:extLst>
                <a:ext uri="{FF2B5EF4-FFF2-40B4-BE49-F238E27FC236}">
                  <a16:creationId xmlns:a16="http://schemas.microsoft.com/office/drawing/2014/main" id="{0580D6C1-8C4E-4D04-B466-DC7D3630F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5" y="2159"/>
              <a:ext cx="167" cy="2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2500">
                  <a:solidFill>
                    <a:schemeClr val="tx2"/>
                  </a:solidFill>
                  <a:effectLst/>
                </a:rPr>
                <a:t>(1</a:t>
              </a:r>
              <a:endParaRPr lang="en-US" altLang="en-US" sz="18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86027" name="Rectangle 11">
              <a:extLst>
                <a:ext uri="{FF2B5EF4-FFF2-40B4-BE49-F238E27FC236}">
                  <a16:creationId xmlns:a16="http://schemas.microsoft.com/office/drawing/2014/main" id="{1FC9B8DF-FBA6-428A-B055-E26FBC809F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5" y="2159"/>
              <a:ext cx="178" cy="2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2500">
                  <a:solidFill>
                    <a:schemeClr val="tx2"/>
                  </a:solidFill>
                  <a:effectLst/>
                </a:rPr>
                <a:t>F)</a:t>
              </a:r>
              <a:endParaRPr lang="en-US" altLang="en-US" sz="18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86028" name="Rectangle 12">
              <a:extLst>
                <a:ext uri="{FF2B5EF4-FFF2-40B4-BE49-F238E27FC236}">
                  <a16:creationId xmlns:a16="http://schemas.microsoft.com/office/drawing/2014/main" id="{AB4D39DB-A09B-43DE-A7FE-56E065F26D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26" y="2159"/>
              <a:ext cx="111" cy="2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2500">
                  <a:solidFill>
                    <a:schemeClr val="tx2"/>
                  </a:solidFill>
                  <a:effectLst/>
                </a:rPr>
                <a:t>F</a:t>
              </a:r>
              <a:endParaRPr lang="en-US" altLang="en-US" sz="18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86029" name="Rectangle 13">
              <a:extLst>
                <a:ext uri="{FF2B5EF4-FFF2-40B4-BE49-F238E27FC236}">
                  <a16:creationId xmlns:a16="http://schemas.microsoft.com/office/drawing/2014/main" id="{3DD4D67E-14B7-4380-B814-44934FD662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2" y="1997"/>
              <a:ext cx="78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600">
                  <a:solidFill>
                    <a:schemeClr val="tx2"/>
                  </a:solidFill>
                  <a:effectLst/>
                </a:rPr>
                <a:t>L</a:t>
              </a:r>
              <a:endParaRPr lang="en-US" altLang="en-US" sz="18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86030" name="Rectangle 14">
              <a:extLst>
                <a:ext uri="{FF2B5EF4-FFF2-40B4-BE49-F238E27FC236}">
                  <a16:creationId xmlns:a16="http://schemas.microsoft.com/office/drawing/2014/main" id="{F0BA0D0F-F1FA-490C-8BD0-AFABFED868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" y="2262"/>
              <a:ext cx="92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600">
                  <a:solidFill>
                    <a:schemeClr val="tx2"/>
                  </a:solidFill>
                  <a:effectLst/>
                </a:rPr>
                <a:t>O</a:t>
              </a:r>
              <a:endParaRPr lang="en-US" altLang="en-US" sz="18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86031" name="Rectangle 15">
              <a:extLst>
                <a:ext uri="{FF2B5EF4-FFF2-40B4-BE49-F238E27FC236}">
                  <a16:creationId xmlns:a16="http://schemas.microsoft.com/office/drawing/2014/main" id="{74F8F6B4-28F6-4175-A8A2-D1FE0C8787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8" y="2007"/>
              <a:ext cx="110" cy="2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2500">
                  <a:solidFill>
                    <a:schemeClr val="tx2"/>
                  </a:solidFill>
                  <a:effectLst/>
                  <a:latin typeface="Symbol" panose="05050102010706020507" pitchFamily="18" charset="2"/>
                </a:rPr>
                <a:t>=</a:t>
              </a:r>
              <a:endParaRPr lang="en-US" altLang="en-US" sz="18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86032" name="Rectangle 16">
              <a:extLst>
                <a:ext uri="{FF2B5EF4-FFF2-40B4-BE49-F238E27FC236}">
                  <a16:creationId xmlns:a16="http://schemas.microsoft.com/office/drawing/2014/main" id="{A18C42E3-119F-4F86-A7E6-9DE7452394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6" y="2139"/>
              <a:ext cx="110" cy="2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2500">
                  <a:solidFill>
                    <a:schemeClr val="tx2"/>
                  </a:solidFill>
                  <a:effectLst/>
                  <a:latin typeface="Symbol" panose="05050102010706020507" pitchFamily="18" charset="2"/>
                </a:rPr>
                <a:t>-</a:t>
              </a:r>
              <a:endParaRPr lang="en-US" altLang="en-US" sz="18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86033" name="Rectangle 17">
              <a:extLst>
                <a:ext uri="{FF2B5EF4-FFF2-40B4-BE49-F238E27FC236}">
                  <a16:creationId xmlns:a16="http://schemas.microsoft.com/office/drawing/2014/main" id="{A2A6BE20-363C-40C0-A49F-E665EBF58D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3" y="2139"/>
              <a:ext cx="110" cy="2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2500">
                  <a:solidFill>
                    <a:schemeClr val="tx2"/>
                  </a:solidFill>
                  <a:effectLst/>
                  <a:latin typeface="Symbol" panose="05050102010706020507" pitchFamily="18" charset="2"/>
                </a:rPr>
                <a:t>+</a:t>
              </a:r>
              <a:endParaRPr lang="en-US" altLang="en-US" sz="1800">
                <a:solidFill>
                  <a:schemeClr val="tx2"/>
                </a:solidFill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86034" name="Line 18">
              <a:extLst>
                <a:ext uri="{FF2B5EF4-FFF2-40B4-BE49-F238E27FC236}">
                  <a16:creationId xmlns:a16="http://schemas.microsoft.com/office/drawing/2014/main" id="{76D43800-AB9C-4EB4-BDCE-775252B65C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4" y="2177"/>
              <a:ext cx="120" cy="0"/>
            </a:xfrm>
            <a:prstGeom prst="line">
              <a:avLst/>
            </a:prstGeom>
            <a:noFill/>
            <a:ln w="9525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IN"/>
            </a:p>
          </p:txBody>
        </p:sp>
      </p:grpSp>
      <p:sp>
        <p:nvSpPr>
          <p:cNvPr id="86210" name="Oval 194">
            <a:extLst>
              <a:ext uri="{FF2B5EF4-FFF2-40B4-BE49-F238E27FC236}">
                <a16:creationId xmlns:a16="http://schemas.microsoft.com/office/drawing/2014/main" id="{B28C43CA-F5C7-4948-9BB0-6B276EB4CC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1550" y="4511675"/>
            <a:ext cx="552450" cy="698500"/>
          </a:xfrm>
          <a:prstGeom prst="ellipse">
            <a:avLst/>
          </a:prstGeom>
          <a:noFill/>
          <a:ln w="28575">
            <a:solidFill>
              <a:srgbClr val="FF006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/>
          </a:p>
        </p:txBody>
      </p:sp>
      <p:sp>
        <p:nvSpPr>
          <p:cNvPr id="86211" name="Freeform 195">
            <a:extLst>
              <a:ext uri="{FF2B5EF4-FFF2-40B4-BE49-F238E27FC236}">
                <a16:creationId xmlns:a16="http://schemas.microsoft.com/office/drawing/2014/main" id="{1D91AF80-A7CA-45B2-98AC-01D61BB7B86C}"/>
              </a:ext>
            </a:extLst>
          </p:cNvPr>
          <p:cNvSpPr>
            <a:spLocks/>
          </p:cNvSpPr>
          <p:nvPr/>
        </p:nvSpPr>
        <p:spPr bwMode="auto">
          <a:xfrm>
            <a:off x="5294313" y="1766888"/>
            <a:ext cx="3560762" cy="2744787"/>
          </a:xfrm>
          <a:custGeom>
            <a:avLst/>
            <a:gdLst>
              <a:gd name="T0" fmla="*/ 0 w 2243"/>
              <a:gd name="T1" fmla="*/ 0 h 630"/>
              <a:gd name="T2" fmla="*/ 1569 w 2243"/>
              <a:gd name="T3" fmla="*/ 251 h 630"/>
              <a:gd name="T4" fmla="*/ 2243 w 2243"/>
              <a:gd name="T5" fmla="*/ 630 h 6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243" h="630">
                <a:moveTo>
                  <a:pt x="0" y="0"/>
                </a:moveTo>
                <a:cubicBezTo>
                  <a:pt x="597" y="73"/>
                  <a:pt x="1195" y="146"/>
                  <a:pt x="1569" y="251"/>
                </a:cubicBezTo>
                <a:cubicBezTo>
                  <a:pt x="1943" y="356"/>
                  <a:pt x="2198" y="437"/>
                  <a:pt x="2243" y="630"/>
                </a:cubicBezTo>
              </a:path>
            </a:pathLst>
          </a:custGeom>
          <a:noFill/>
          <a:ln w="28575" cmpd="sng">
            <a:solidFill>
              <a:srgbClr val="FF006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N"/>
          </a:p>
        </p:txBody>
      </p:sp>
      <p:sp>
        <p:nvSpPr>
          <p:cNvPr id="86216" name="Rectangle 200">
            <a:extLst>
              <a:ext uri="{FF2B5EF4-FFF2-40B4-BE49-F238E27FC236}">
                <a16:creationId xmlns:a16="http://schemas.microsoft.com/office/drawing/2014/main" id="{52B52A13-2A6F-44E2-BEA9-5376DFC12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238" y="4881563"/>
            <a:ext cx="3830637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>
                <a:solidFill>
                  <a:srgbClr val="FF505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Figure 9-2.</a:t>
            </a:r>
            <a:r>
              <a:rPr lang="en-US" altLang="en-US" sz="1200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 Variation in the relative concentration of a trace element in a liquid vs. source rock as a fiunction of D and the fraction melted, using equation (9-5) for equilibrium batch melting. From Winter (2001) An Introduction to Igneous and Metamorphic Petrology. Prentice Hall.</a:t>
            </a:r>
          </a:p>
        </p:txBody>
      </p:sp>
    </p:spTree>
    <p:extLst>
      <p:ext uri="{BB962C8B-B14F-4D97-AF65-F5344CB8AC3E}">
        <p14:creationId xmlns:p14="http://schemas.microsoft.com/office/powerpoint/2010/main" val="1408251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234" name="Group 2">
            <a:extLst>
              <a:ext uri="{FF2B5EF4-FFF2-40B4-BE49-F238E27FC236}">
                <a16:creationId xmlns:a16="http://schemas.microsoft.com/office/drawing/2014/main" id="{1A998AB7-3407-460D-BCE3-8407888FC81C}"/>
              </a:ext>
            </a:extLst>
          </p:cNvPr>
          <p:cNvGrpSpPr>
            <a:grpSpLocks/>
          </p:cNvGrpSpPr>
          <p:nvPr/>
        </p:nvGrpSpPr>
        <p:grpSpPr bwMode="auto">
          <a:xfrm>
            <a:off x="1888625" y="2620212"/>
            <a:ext cx="3248025" cy="3862387"/>
            <a:chOff x="2317" y="1688"/>
            <a:chExt cx="2046" cy="2433"/>
          </a:xfrm>
        </p:grpSpPr>
        <p:sp>
          <p:nvSpPr>
            <p:cNvPr id="95235" name="Rectangle 3">
              <a:extLst>
                <a:ext uri="{FF2B5EF4-FFF2-40B4-BE49-F238E27FC236}">
                  <a16:creationId xmlns:a16="http://schemas.microsoft.com/office/drawing/2014/main" id="{280CA32E-BA75-490C-8B72-8734674EE4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17" y="1688"/>
              <a:ext cx="2037" cy="2433"/>
            </a:xfrm>
            <a:prstGeom prst="rect">
              <a:avLst/>
            </a:prstGeom>
            <a:solidFill>
              <a:srgbClr val="FF99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95236" name="Line 4">
              <a:extLst>
                <a:ext uri="{FF2B5EF4-FFF2-40B4-BE49-F238E27FC236}">
                  <a16:creationId xmlns:a16="http://schemas.microsoft.com/office/drawing/2014/main" id="{008B7B1D-5926-4366-A711-7C4C8A50E6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84" y="2121"/>
              <a:ext cx="1" cy="2000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95237" name="Line 5">
              <a:extLst>
                <a:ext uri="{FF2B5EF4-FFF2-40B4-BE49-F238E27FC236}">
                  <a16:creationId xmlns:a16="http://schemas.microsoft.com/office/drawing/2014/main" id="{C8D5A9FC-C69A-49B5-A395-42C630921C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96" y="2121"/>
              <a:ext cx="1" cy="2000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95238" name="Line 6">
              <a:extLst>
                <a:ext uri="{FF2B5EF4-FFF2-40B4-BE49-F238E27FC236}">
                  <a16:creationId xmlns:a16="http://schemas.microsoft.com/office/drawing/2014/main" id="{36EE09D4-D209-4B2F-A7D9-DB9F7FCD90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8" y="2271"/>
              <a:ext cx="1" cy="1850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95239" name="Rectangle 7">
              <a:extLst>
                <a:ext uri="{FF2B5EF4-FFF2-40B4-BE49-F238E27FC236}">
                  <a16:creationId xmlns:a16="http://schemas.microsoft.com/office/drawing/2014/main" id="{EC752831-2A78-4B75-8FCB-82A2D16C2A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26" y="2113"/>
              <a:ext cx="2037" cy="8"/>
            </a:xfrm>
            <a:prstGeom prst="rect">
              <a:avLst/>
            </a:prstGeom>
            <a:solidFill>
              <a:srgbClr val="000000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5240" name="Rectangle 8">
              <a:extLst>
                <a:ext uri="{FF2B5EF4-FFF2-40B4-BE49-F238E27FC236}">
                  <a16:creationId xmlns:a16="http://schemas.microsoft.com/office/drawing/2014/main" id="{4F8D42CD-7905-4C05-A30D-02B0742234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93" y="2263"/>
              <a:ext cx="1112" cy="8"/>
            </a:xfrm>
            <a:prstGeom prst="rect">
              <a:avLst/>
            </a:prstGeom>
            <a:solidFill>
              <a:srgbClr val="000000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5241" name="Rectangle 9">
              <a:extLst>
                <a:ext uri="{FF2B5EF4-FFF2-40B4-BE49-F238E27FC236}">
                  <a16:creationId xmlns:a16="http://schemas.microsoft.com/office/drawing/2014/main" id="{F1FDAEB9-68BB-4B0F-9C86-67AC113D8A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26" y="2555"/>
              <a:ext cx="2037" cy="8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95242" name="Line 10">
              <a:extLst>
                <a:ext uri="{FF2B5EF4-FFF2-40B4-BE49-F238E27FC236}">
                  <a16:creationId xmlns:a16="http://schemas.microsoft.com/office/drawing/2014/main" id="{B38D991B-0CC4-4E8D-A0E2-A8DD7CE9FB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26" y="4113"/>
              <a:ext cx="2028" cy="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95243" name="Rectangle 11">
              <a:extLst>
                <a:ext uri="{FF2B5EF4-FFF2-40B4-BE49-F238E27FC236}">
                  <a16:creationId xmlns:a16="http://schemas.microsoft.com/office/drawing/2014/main" id="{11E73CDC-C806-4E14-9F3C-B39989CF72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26" y="4113"/>
              <a:ext cx="2037" cy="8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95244" name="Rectangle 12">
              <a:extLst>
                <a:ext uri="{FF2B5EF4-FFF2-40B4-BE49-F238E27FC236}">
                  <a16:creationId xmlns:a16="http://schemas.microsoft.com/office/drawing/2014/main" id="{AC43DCF0-CDC9-4CB5-BF9E-463960A946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62" y="1705"/>
              <a:ext cx="45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 b="1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Table 9-3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45" name="Rectangle 13">
              <a:extLst>
                <a:ext uri="{FF2B5EF4-FFF2-40B4-BE49-F238E27FC236}">
                  <a16:creationId xmlns:a16="http://schemas.microsoft.com/office/drawing/2014/main" id="{38ABA0F9-CB9B-4D7E-9A05-A6F73A7705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9" y="1705"/>
              <a:ext cx="1478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.  Batch Fractionation Model for 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46" name="Rectangle 14">
              <a:extLst>
                <a:ext uri="{FF2B5EF4-FFF2-40B4-BE49-F238E27FC236}">
                  <a16:creationId xmlns:a16="http://schemas.microsoft.com/office/drawing/2014/main" id="{8CCBB6F3-0FFB-4049-91E1-CF483D5E7A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98" y="1846"/>
              <a:ext cx="469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Rb and Sr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47" name="Rectangle 15">
              <a:extLst>
                <a:ext uri="{FF2B5EF4-FFF2-40B4-BE49-F238E27FC236}">
                  <a16:creationId xmlns:a16="http://schemas.microsoft.com/office/drawing/2014/main" id="{40FBC4BA-ECF2-4C8C-9448-9E7FE556CC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11" y="2130"/>
              <a:ext cx="75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C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48" name="Rectangle 16">
              <a:extLst>
                <a:ext uri="{FF2B5EF4-FFF2-40B4-BE49-F238E27FC236}">
                  <a16:creationId xmlns:a16="http://schemas.microsoft.com/office/drawing/2014/main" id="{E71CB9FE-350C-4D85-B1F5-177EF1C420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1" y="2180"/>
              <a:ext cx="36" cy="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8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L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49" name="Rectangle 17">
              <a:extLst>
                <a:ext uri="{FF2B5EF4-FFF2-40B4-BE49-F238E27FC236}">
                  <a16:creationId xmlns:a16="http://schemas.microsoft.com/office/drawing/2014/main" id="{2D17D3C0-4165-46B4-97CF-61BEE5CB13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7" y="2130"/>
              <a:ext cx="104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/C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50" name="Rectangle 18">
              <a:extLst>
                <a:ext uri="{FF2B5EF4-FFF2-40B4-BE49-F238E27FC236}">
                  <a16:creationId xmlns:a16="http://schemas.microsoft.com/office/drawing/2014/main" id="{110055D8-0EA7-43C4-BB1B-92E5FD8425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35" y="2180"/>
              <a:ext cx="50" cy="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8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O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51" name="Rectangle 19">
              <a:extLst>
                <a:ext uri="{FF2B5EF4-FFF2-40B4-BE49-F238E27FC236}">
                  <a16:creationId xmlns:a16="http://schemas.microsoft.com/office/drawing/2014/main" id="{36C8C2B2-9221-4218-B340-C661DA3FC9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9" y="2130"/>
              <a:ext cx="7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 = 1/(D(1-F)+F)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52" name="Rectangle 20">
              <a:extLst>
                <a:ext uri="{FF2B5EF4-FFF2-40B4-BE49-F238E27FC236}">
                  <a16:creationId xmlns:a16="http://schemas.microsoft.com/office/drawing/2014/main" id="{A95A5FFD-203E-4761-A22A-470EBA3C01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90" y="2280"/>
              <a:ext cx="75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D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53" name="Rectangle 21">
              <a:extLst>
                <a:ext uri="{FF2B5EF4-FFF2-40B4-BE49-F238E27FC236}">
                  <a16:creationId xmlns:a16="http://schemas.microsoft.com/office/drawing/2014/main" id="{40F71F16-9A74-4138-A899-4279AE6DD5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71" y="2330"/>
              <a:ext cx="82" cy="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8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Rb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54" name="Rectangle 22">
              <a:extLst>
                <a:ext uri="{FF2B5EF4-FFF2-40B4-BE49-F238E27FC236}">
                  <a16:creationId xmlns:a16="http://schemas.microsoft.com/office/drawing/2014/main" id="{44424163-19C5-4F86-AC00-695F819C5D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55" y="2280"/>
              <a:ext cx="75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D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55" name="Rectangle 23">
              <a:extLst>
                <a:ext uri="{FF2B5EF4-FFF2-40B4-BE49-F238E27FC236}">
                  <a16:creationId xmlns:a16="http://schemas.microsoft.com/office/drawing/2014/main" id="{1DE99247-D152-422E-A4CD-A17AA56E34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6" y="2330"/>
              <a:ext cx="64" cy="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8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Sr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56" name="Rectangle 24">
              <a:extLst>
                <a:ext uri="{FF2B5EF4-FFF2-40B4-BE49-F238E27FC236}">
                  <a16:creationId xmlns:a16="http://schemas.microsoft.com/office/drawing/2014/main" id="{EBF2275E-72A7-46C6-BE33-097FEAE02A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23" y="2430"/>
              <a:ext cx="64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F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57" name="Rectangle 25">
              <a:extLst>
                <a:ext uri="{FF2B5EF4-FFF2-40B4-BE49-F238E27FC236}">
                  <a16:creationId xmlns:a16="http://schemas.microsoft.com/office/drawing/2014/main" id="{C2559C2A-F12C-4CC1-8654-4FBD52B2F9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72" y="2430"/>
              <a:ext cx="261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 b="1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0.045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58" name="Rectangle 26">
              <a:extLst>
                <a:ext uri="{FF2B5EF4-FFF2-40B4-BE49-F238E27FC236}">
                  <a16:creationId xmlns:a16="http://schemas.microsoft.com/office/drawing/2014/main" id="{BAF0DDE6-13F7-43B6-B6A2-4AB4787905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28" y="2430"/>
              <a:ext cx="261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 b="1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0.848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59" name="Rectangle 27">
              <a:extLst>
                <a:ext uri="{FF2B5EF4-FFF2-40B4-BE49-F238E27FC236}">
                  <a16:creationId xmlns:a16="http://schemas.microsoft.com/office/drawing/2014/main" id="{C85F894A-273A-4AA9-9BF2-901AFF7488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5" y="2430"/>
              <a:ext cx="266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Rb/Sr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60" name="Rectangle 28">
              <a:extLst>
                <a:ext uri="{FF2B5EF4-FFF2-40B4-BE49-F238E27FC236}">
                  <a16:creationId xmlns:a16="http://schemas.microsoft.com/office/drawing/2014/main" id="{FD3250DC-7A4C-4EC0-8C4D-2801486FC6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44" y="2571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 b="1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0.05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61" name="Rectangle 29">
              <a:extLst>
                <a:ext uri="{FF2B5EF4-FFF2-40B4-BE49-F238E27FC236}">
                  <a16:creationId xmlns:a16="http://schemas.microsoft.com/office/drawing/2014/main" id="{FB848D1C-0B81-4BD3-9367-8B1A0720A8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5" y="2571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9.35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62" name="Rectangle 30">
              <a:extLst>
                <a:ext uri="{FF2B5EF4-FFF2-40B4-BE49-F238E27FC236}">
                  <a16:creationId xmlns:a16="http://schemas.microsoft.com/office/drawing/2014/main" id="{0E2729DB-8148-49FD-9B6C-E10C09D25B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3" y="2571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1.14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63" name="Rectangle 31">
              <a:extLst>
                <a:ext uri="{FF2B5EF4-FFF2-40B4-BE49-F238E27FC236}">
                  <a16:creationId xmlns:a16="http://schemas.microsoft.com/office/drawing/2014/main" id="{92EB4305-59EA-4111-AA36-D66C7E7550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1" y="2571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8.19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64" name="Rectangle 32">
              <a:extLst>
                <a:ext uri="{FF2B5EF4-FFF2-40B4-BE49-F238E27FC236}">
                  <a16:creationId xmlns:a16="http://schemas.microsoft.com/office/drawing/2014/main" id="{252D00E9-DDB3-44C5-AC18-3CAA825731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44" y="2713"/>
              <a:ext cx="145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 b="1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0.1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65" name="Rectangle 33">
              <a:extLst>
                <a:ext uri="{FF2B5EF4-FFF2-40B4-BE49-F238E27FC236}">
                  <a16:creationId xmlns:a16="http://schemas.microsoft.com/office/drawing/2014/main" id="{E349E5C0-E68D-487C-A59E-77783DE07D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5" y="2713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6.49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66" name="Rectangle 34">
              <a:extLst>
                <a:ext uri="{FF2B5EF4-FFF2-40B4-BE49-F238E27FC236}">
                  <a16:creationId xmlns:a16="http://schemas.microsoft.com/office/drawing/2014/main" id="{2029DAB8-9512-466B-A800-2A975030D3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3" y="2713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1.13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67" name="Rectangle 35">
              <a:extLst>
                <a:ext uri="{FF2B5EF4-FFF2-40B4-BE49-F238E27FC236}">
                  <a16:creationId xmlns:a16="http://schemas.microsoft.com/office/drawing/2014/main" id="{ED6AE2C0-6FAC-4602-B9C5-83822708D6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1" y="2713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5.73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68" name="Rectangle 36">
              <a:extLst>
                <a:ext uri="{FF2B5EF4-FFF2-40B4-BE49-F238E27FC236}">
                  <a16:creationId xmlns:a16="http://schemas.microsoft.com/office/drawing/2014/main" id="{379E903B-81E5-4705-AB7F-F7B0710BB2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44" y="2855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 b="1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0.15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69" name="Rectangle 37">
              <a:extLst>
                <a:ext uri="{FF2B5EF4-FFF2-40B4-BE49-F238E27FC236}">
                  <a16:creationId xmlns:a16="http://schemas.microsoft.com/office/drawing/2014/main" id="{498A587C-A979-4A9B-9232-21B6AD704E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5" y="2855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4.98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70" name="Rectangle 38">
              <a:extLst>
                <a:ext uri="{FF2B5EF4-FFF2-40B4-BE49-F238E27FC236}">
                  <a16:creationId xmlns:a16="http://schemas.microsoft.com/office/drawing/2014/main" id="{7A2799E5-0539-45D4-96C2-D54C602EB3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3" y="2855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1.12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71" name="Rectangle 39">
              <a:extLst>
                <a:ext uri="{FF2B5EF4-FFF2-40B4-BE49-F238E27FC236}">
                  <a16:creationId xmlns:a16="http://schemas.microsoft.com/office/drawing/2014/main" id="{B60DBE1D-0127-441F-8D6F-7BD0AD2FB8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1" y="2855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4.43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72" name="Rectangle 40">
              <a:extLst>
                <a:ext uri="{FF2B5EF4-FFF2-40B4-BE49-F238E27FC236}">
                  <a16:creationId xmlns:a16="http://schemas.microsoft.com/office/drawing/2014/main" id="{3270C64E-ECD7-4B06-8CF7-A3ED200749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44" y="2996"/>
              <a:ext cx="145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 b="1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0.2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73" name="Rectangle 41">
              <a:extLst>
                <a:ext uri="{FF2B5EF4-FFF2-40B4-BE49-F238E27FC236}">
                  <a16:creationId xmlns:a16="http://schemas.microsoft.com/office/drawing/2014/main" id="{D8A9852A-EF16-4228-A750-A6714644E8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5" y="2996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4.03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74" name="Rectangle 42">
              <a:extLst>
                <a:ext uri="{FF2B5EF4-FFF2-40B4-BE49-F238E27FC236}">
                  <a16:creationId xmlns:a16="http://schemas.microsoft.com/office/drawing/2014/main" id="{D871F293-2E55-4916-BCD8-1224B8E54E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3" y="2996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1.12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75" name="Rectangle 43">
              <a:extLst>
                <a:ext uri="{FF2B5EF4-FFF2-40B4-BE49-F238E27FC236}">
                  <a16:creationId xmlns:a16="http://schemas.microsoft.com/office/drawing/2014/main" id="{FFB331A6-CC31-4E38-8F69-499C63F8D9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1" y="2996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3.61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76" name="Rectangle 44">
              <a:extLst>
                <a:ext uri="{FF2B5EF4-FFF2-40B4-BE49-F238E27FC236}">
                  <a16:creationId xmlns:a16="http://schemas.microsoft.com/office/drawing/2014/main" id="{815AC97D-6FBF-488D-8385-6FEEA2D1C7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44" y="3138"/>
              <a:ext cx="145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 b="1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0.3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77" name="Rectangle 45">
              <a:extLst>
                <a:ext uri="{FF2B5EF4-FFF2-40B4-BE49-F238E27FC236}">
                  <a16:creationId xmlns:a16="http://schemas.microsoft.com/office/drawing/2014/main" id="{2C5A0F7B-71D3-42B2-9528-B73A931CDF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5" y="3138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2.92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78" name="Rectangle 46">
              <a:extLst>
                <a:ext uri="{FF2B5EF4-FFF2-40B4-BE49-F238E27FC236}">
                  <a16:creationId xmlns:a16="http://schemas.microsoft.com/office/drawing/2014/main" id="{95CF19DD-1581-4CD3-9E9C-AF898B44EE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3" y="3138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1.10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79" name="Rectangle 47">
              <a:extLst>
                <a:ext uri="{FF2B5EF4-FFF2-40B4-BE49-F238E27FC236}">
                  <a16:creationId xmlns:a16="http://schemas.microsoft.com/office/drawing/2014/main" id="{FF23F9B5-97B0-4F15-B6E1-66EECEF614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1" y="3138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2.66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80" name="Rectangle 48">
              <a:extLst>
                <a:ext uri="{FF2B5EF4-FFF2-40B4-BE49-F238E27FC236}">
                  <a16:creationId xmlns:a16="http://schemas.microsoft.com/office/drawing/2014/main" id="{CFE96717-5C43-4BDF-BE4C-95FAEC9F8B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44" y="3279"/>
              <a:ext cx="145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 b="1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0.4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81" name="Rectangle 49">
              <a:extLst>
                <a:ext uri="{FF2B5EF4-FFF2-40B4-BE49-F238E27FC236}">
                  <a16:creationId xmlns:a16="http://schemas.microsoft.com/office/drawing/2014/main" id="{B3A97247-7185-4A31-B136-18BEB2B5F9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5" y="3279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2.29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82" name="Rectangle 50">
              <a:extLst>
                <a:ext uri="{FF2B5EF4-FFF2-40B4-BE49-F238E27FC236}">
                  <a16:creationId xmlns:a16="http://schemas.microsoft.com/office/drawing/2014/main" id="{1819693B-4DB9-45F4-A2BD-6EBABA2A1D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3" y="3279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1.08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83" name="Rectangle 51">
              <a:extLst>
                <a:ext uri="{FF2B5EF4-FFF2-40B4-BE49-F238E27FC236}">
                  <a16:creationId xmlns:a16="http://schemas.microsoft.com/office/drawing/2014/main" id="{BC28884B-C696-40DE-BA9E-2F6C1DF5AC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1" y="3279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2.11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84" name="Rectangle 52">
              <a:extLst>
                <a:ext uri="{FF2B5EF4-FFF2-40B4-BE49-F238E27FC236}">
                  <a16:creationId xmlns:a16="http://schemas.microsoft.com/office/drawing/2014/main" id="{F945DDB0-4DE8-4D6F-89A7-7394FF0DBE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44" y="3421"/>
              <a:ext cx="145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 b="1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0.5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85" name="Rectangle 53">
              <a:extLst>
                <a:ext uri="{FF2B5EF4-FFF2-40B4-BE49-F238E27FC236}">
                  <a16:creationId xmlns:a16="http://schemas.microsoft.com/office/drawing/2014/main" id="{3D051774-638A-49D5-9646-5516C4143A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5" y="3421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1.89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86" name="Rectangle 54">
              <a:extLst>
                <a:ext uri="{FF2B5EF4-FFF2-40B4-BE49-F238E27FC236}">
                  <a16:creationId xmlns:a16="http://schemas.microsoft.com/office/drawing/2014/main" id="{73FD3EB1-FE11-4919-8ED0-1909748EA5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3" y="3421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1.07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87" name="Rectangle 55">
              <a:extLst>
                <a:ext uri="{FF2B5EF4-FFF2-40B4-BE49-F238E27FC236}">
                  <a16:creationId xmlns:a16="http://schemas.microsoft.com/office/drawing/2014/main" id="{8E7DE2E3-5768-4211-BAAD-26B5B341A7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1" y="3421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1.76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88" name="Rectangle 56">
              <a:extLst>
                <a:ext uri="{FF2B5EF4-FFF2-40B4-BE49-F238E27FC236}">
                  <a16:creationId xmlns:a16="http://schemas.microsoft.com/office/drawing/2014/main" id="{8B3D7C01-5306-4FF1-B452-F6C1BA46CA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44" y="3563"/>
              <a:ext cx="145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 b="1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0.6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89" name="Rectangle 57">
              <a:extLst>
                <a:ext uri="{FF2B5EF4-FFF2-40B4-BE49-F238E27FC236}">
                  <a16:creationId xmlns:a16="http://schemas.microsoft.com/office/drawing/2014/main" id="{1838F5BF-F39E-4583-AD36-BE24358BC5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5" y="3563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1.60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90" name="Rectangle 58">
              <a:extLst>
                <a:ext uri="{FF2B5EF4-FFF2-40B4-BE49-F238E27FC236}">
                  <a16:creationId xmlns:a16="http://schemas.microsoft.com/office/drawing/2014/main" id="{01DAD2F2-A1CC-48FA-828C-8E1D2A915D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3" y="3563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1.05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91" name="Rectangle 59">
              <a:extLst>
                <a:ext uri="{FF2B5EF4-FFF2-40B4-BE49-F238E27FC236}">
                  <a16:creationId xmlns:a16="http://schemas.microsoft.com/office/drawing/2014/main" id="{0C8BC216-03A1-4866-A064-DF2C4583C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1" y="3563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1.52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92" name="Rectangle 60">
              <a:extLst>
                <a:ext uri="{FF2B5EF4-FFF2-40B4-BE49-F238E27FC236}">
                  <a16:creationId xmlns:a16="http://schemas.microsoft.com/office/drawing/2014/main" id="{A4C9DB99-DBFF-49A2-939C-FE04566340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44" y="3704"/>
              <a:ext cx="145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 b="1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0.7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93" name="Rectangle 61">
              <a:extLst>
                <a:ext uri="{FF2B5EF4-FFF2-40B4-BE49-F238E27FC236}">
                  <a16:creationId xmlns:a16="http://schemas.microsoft.com/office/drawing/2014/main" id="{2BE2881F-CDA6-48FD-B78B-F98DA27C12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5" y="3704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1.39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94" name="Rectangle 62">
              <a:extLst>
                <a:ext uri="{FF2B5EF4-FFF2-40B4-BE49-F238E27FC236}">
                  <a16:creationId xmlns:a16="http://schemas.microsoft.com/office/drawing/2014/main" id="{D2E8868D-5A61-430A-B47D-2522899447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3" y="3704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1.04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95" name="Rectangle 63">
              <a:extLst>
                <a:ext uri="{FF2B5EF4-FFF2-40B4-BE49-F238E27FC236}">
                  <a16:creationId xmlns:a16="http://schemas.microsoft.com/office/drawing/2014/main" id="{500720AF-6EB3-49FB-AAD2-2951DAF5A4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1" y="3704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1.34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96" name="Rectangle 64">
              <a:extLst>
                <a:ext uri="{FF2B5EF4-FFF2-40B4-BE49-F238E27FC236}">
                  <a16:creationId xmlns:a16="http://schemas.microsoft.com/office/drawing/2014/main" id="{12A59498-7996-4045-8EFA-C076C8201F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44" y="3846"/>
              <a:ext cx="145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 b="1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0.8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97" name="Rectangle 65">
              <a:extLst>
                <a:ext uri="{FF2B5EF4-FFF2-40B4-BE49-F238E27FC236}">
                  <a16:creationId xmlns:a16="http://schemas.microsoft.com/office/drawing/2014/main" id="{594A4812-2C18-43A1-B1C8-9E8EADB8F4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5" y="3846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1.23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98" name="Rectangle 66">
              <a:extLst>
                <a:ext uri="{FF2B5EF4-FFF2-40B4-BE49-F238E27FC236}">
                  <a16:creationId xmlns:a16="http://schemas.microsoft.com/office/drawing/2014/main" id="{FB38D458-763F-4840-9B35-F0EB05DF51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3" y="3846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1.03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299" name="Rectangle 67">
              <a:extLst>
                <a:ext uri="{FF2B5EF4-FFF2-40B4-BE49-F238E27FC236}">
                  <a16:creationId xmlns:a16="http://schemas.microsoft.com/office/drawing/2014/main" id="{E31A8B28-EE1B-46C1-89DC-F6B1AAD22E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1" y="3846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1.20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300" name="Rectangle 68">
              <a:extLst>
                <a:ext uri="{FF2B5EF4-FFF2-40B4-BE49-F238E27FC236}">
                  <a16:creationId xmlns:a16="http://schemas.microsoft.com/office/drawing/2014/main" id="{BEA1CDCB-71B1-42CD-A2DC-EC9A76DCED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44" y="3988"/>
              <a:ext cx="145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 b="1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0.9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301" name="Rectangle 69">
              <a:extLst>
                <a:ext uri="{FF2B5EF4-FFF2-40B4-BE49-F238E27FC236}">
                  <a16:creationId xmlns:a16="http://schemas.microsoft.com/office/drawing/2014/main" id="{6258C0CF-DC0F-4956-92E8-9738CC8271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5" y="3988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1.10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302" name="Rectangle 70">
              <a:extLst>
                <a:ext uri="{FF2B5EF4-FFF2-40B4-BE49-F238E27FC236}">
                  <a16:creationId xmlns:a16="http://schemas.microsoft.com/office/drawing/2014/main" id="{C6EC6F26-1F77-4D52-803F-2C8522033C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63" y="3988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1.01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  <p:sp>
          <p:nvSpPr>
            <p:cNvPr id="95303" name="Rectangle 71">
              <a:extLst>
                <a:ext uri="{FF2B5EF4-FFF2-40B4-BE49-F238E27FC236}">
                  <a16:creationId xmlns:a16="http://schemas.microsoft.com/office/drawing/2014/main" id="{DCE66952-D525-4460-B979-87C081F78B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1" y="3988"/>
              <a:ext cx="203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300">
                  <a:solidFill>
                    <a:srgbClr val="000000"/>
                  </a:solidFill>
                  <a:effectLst/>
                  <a:latin typeface="Arial" panose="020B0604020202020204" pitchFamily="34" charset="0"/>
                </a:rPr>
                <a:t>1.09</a:t>
              </a:r>
              <a:endParaRPr lang="en-US" altLang="en-US" baseline="-25000">
                <a:effectLst>
                  <a:outerShdw blurRad="38100" dist="38100" dir="2700000" algn="tl">
                    <a:srgbClr val="000000"/>
                  </a:outerShdw>
                </a:effectLst>
              </a:endParaRPr>
            </a:p>
          </p:txBody>
        </p:sp>
      </p:grpSp>
      <p:sp>
        <p:nvSpPr>
          <p:cNvPr id="95304" name="Rectangle 72">
            <a:extLst>
              <a:ext uri="{FF2B5EF4-FFF2-40B4-BE49-F238E27FC236}">
                <a16:creationId xmlns:a16="http://schemas.microsoft.com/office/drawing/2014/main" id="{D3065BAF-1C34-4E3C-A5CC-09E19872B6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0" y="749792"/>
            <a:ext cx="9367838" cy="20744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en-US" sz="2800" dirty="0">
                <a:solidFill>
                  <a:srgbClr val="00CC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3.</a:t>
            </a:r>
            <a:r>
              <a:rPr lang="en-US" altLang="en-US" sz="2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 Use the batch melting equation </a:t>
            </a:r>
          </a:p>
          <a:p>
            <a:pPr>
              <a:spcBef>
                <a:spcPct val="60000"/>
              </a:spcBef>
            </a:pPr>
            <a:r>
              <a:rPr lang="en-US" altLang="en-US" sz="2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		</a:t>
            </a:r>
          </a:p>
          <a:p>
            <a:r>
              <a:rPr lang="en-US" altLang="en-US" sz="2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to calculate C</a:t>
            </a:r>
            <a:r>
              <a:rPr lang="en-US" altLang="en-US" sz="2800" baseline="-250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altLang="en-US" sz="2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/C</a:t>
            </a:r>
            <a:r>
              <a:rPr lang="en-US" altLang="en-US" sz="2800" baseline="-250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O</a:t>
            </a:r>
            <a:r>
              <a:rPr lang="en-US" altLang="en-US" sz="2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for various values of F</a:t>
            </a:r>
          </a:p>
          <a:p>
            <a:r>
              <a:rPr lang="en-US" altLang="en-US" sz="2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   </a:t>
            </a:r>
          </a:p>
        </p:txBody>
      </p:sp>
      <p:sp>
        <p:nvSpPr>
          <p:cNvPr id="95305" name="Rectangle 73">
            <a:extLst>
              <a:ext uri="{FF2B5EF4-FFF2-40B4-BE49-F238E27FC236}">
                <a16:creationId xmlns:a16="http://schemas.microsoft.com/office/drawing/2014/main" id="{9E2FBC93-7A26-498E-BA63-677566F767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937" y="6554037"/>
            <a:ext cx="6669088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>
                <a:effectLst>
                  <a:outerShdw blurRad="38100" dist="38100" dir="2700000" algn="tl">
                    <a:srgbClr val="000000"/>
                  </a:outerShdw>
                </a:effectLst>
              </a:rPr>
              <a:t>From Winter (2001) An Introduction to Igneous and Metamorphic Petrology. Prentice Hall.</a:t>
            </a:r>
          </a:p>
        </p:txBody>
      </p:sp>
      <p:sp>
        <p:nvSpPr>
          <p:cNvPr id="75" name="Rectangle 2">
            <a:extLst>
              <a:ext uri="{FF2B5EF4-FFF2-40B4-BE49-F238E27FC236}">
                <a16:creationId xmlns:a16="http://schemas.microsoft.com/office/drawing/2014/main" id="{98B0308F-C34D-4ACD-8E31-497F5086A1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-76200"/>
            <a:ext cx="7772400" cy="736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20000"/>
              </a:spcBef>
              <a:buClr>
                <a:srgbClr val="00CC00"/>
              </a:buClr>
              <a:buSzPct val="50000"/>
              <a:buFont typeface="Monotype Sorts" pitchFamily="2" charset="2"/>
              <a:buNone/>
            </a:pPr>
            <a:r>
              <a:rPr lang="en-US" altLang="en-US" sz="3200" dirty="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Worked Example of Batch Melting: </a:t>
            </a:r>
            <a:r>
              <a:rPr lang="en-US" altLang="en-US" sz="3200" dirty="0">
                <a:solidFill>
                  <a:srgbClr val="FF0066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Rb and Sr</a:t>
            </a:r>
            <a:endParaRPr lang="en-US" altLang="en-US" sz="3200" dirty="0">
              <a:solidFill>
                <a:schemeClr val="accent1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486399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>
            <a:extLst>
              <a:ext uri="{FF2B5EF4-FFF2-40B4-BE49-F238E27FC236}">
                <a16:creationId xmlns:a16="http://schemas.microsoft.com/office/drawing/2014/main" id="{85E95FD9-A755-4DAA-91D2-062A0EBE1B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423863"/>
            <a:ext cx="5538788" cy="8239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20000"/>
              </a:spcBef>
              <a:buClr>
                <a:srgbClr val="00CC00"/>
              </a:buClr>
              <a:buSzPct val="50000"/>
              <a:buFont typeface="Monotype Sorts" pitchFamily="2" charset="2"/>
              <a:buNone/>
            </a:pPr>
            <a:r>
              <a:rPr lang="en-US" altLang="en-US" sz="2800">
                <a:solidFill>
                  <a:srgbClr val="00CC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4.</a:t>
            </a:r>
            <a:r>
              <a:rPr lang="en-US" altLang="en-US" sz="28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 Plot C</a:t>
            </a:r>
            <a:r>
              <a:rPr lang="en-US" altLang="en-US" sz="2800" baseline="-25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L</a:t>
            </a:r>
            <a:r>
              <a:rPr lang="en-US" altLang="en-US" sz="28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/C</a:t>
            </a:r>
            <a:r>
              <a:rPr lang="en-US" altLang="en-US" sz="2800" baseline="-250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O</a:t>
            </a:r>
            <a:r>
              <a:rPr lang="en-US" altLang="en-US" sz="2800">
                <a:solidFill>
                  <a:schemeClr val="accent1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 vs. F for each element</a:t>
            </a:r>
          </a:p>
        </p:txBody>
      </p:sp>
      <p:pic>
        <p:nvPicPr>
          <p:cNvPr id="96335" name="Picture 79">
            <a:extLst>
              <a:ext uri="{FF2B5EF4-FFF2-40B4-BE49-F238E27FC236}">
                <a16:creationId xmlns:a16="http://schemas.microsoft.com/office/drawing/2014/main" id="{E25EC964-81AB-49F3-819C-D7166183FE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2950" y="1106488"/>
            <a:ext cx="5080000" cy="5543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6336" name="Rectangle 80">
            <a:extLst>
              <a:ext uri="{FF2B5EF4-FFF2-40B4-BE49-F238E27FC236}">
                <a16:creationId xmlns:a16="http://schemas.microsoft.com/office/drawing/2014/main" id="{E45EFAFE-C468-4FEA-B09E-01EA518D02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775" y="3600450"/>
            <a:ext cx="2895600" cy="1370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>
                <a:solidFill>
                  <a:srgbClr val="FF505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Figure 9-3.</a:t>
            </a:r>
            <a:r>
              <a:rPr lang="en-US" altLang="en-US" sz="1200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 Change in the concentration of Rb and Sr in the melt derived by progressive batch melting of a basaltic rock consisting of plagioclase, augite, and olivine. From Winter (2001) An Introduction to Igneous and Metamorphic Petrology. Prentice Hall.</a:t>
            </a:r>
          </a:p>
        </p:txBody>
      </p:sp>
    </p:spTree>
    <p:extLst>
      <p:ext uri="{BB962C8B-B14F-4D97-AF65-F5344CB8AC3E}">
        <p14:creationId xmlns:p14="http://schemas.microsoft.com/office/powerpoint/2010/main" val="3551160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BE84B49-8CB9-49EE-A69E-9427284F002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396" t="9330" r="4396" b="5303"/>
          <a:stretch/>
        </p:blipFill>
        <p:spPr>
          <a:xfrm>
            <a:off x="1600200" y="430576"/>
            <a:ext cx="5867400" cy="551394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8DE0FF-5B83-402C-9733-5EB162249072}"/>
              </a:ext>
            </a:extLst>
          </p:cNvPr>
          <p:cNvSpPr txBox="1"/>
          <p:nvPr/>
        </p:nvSpPr>
        <p:spPr>
          <a:xfrm>
            <a:off x="2438400" y="6104258"/>
            <a:ext cx="67120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Source: Chemical Petrology II: Trace Elements (Principles of Igneous and Metamorphic Petrology John D. Winter)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21137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E262D-A742-43B3-98DF-17B20FA58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48374"/>
            <a:ext cx="6248400" cy="1143000"/>
          </a:xfrm>
        </p:spPr>
        <p:txBody>
          <a:bodyPr/>
          <a:lstStyle/>
          <a:p>
            <a:r>
              <a:rPr lang="en-IN" sz="3200" b="1" dirty="0"/>
              <a:t>Europium anomaly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C5E7A4-C0FA-42CD-89F3-CB20CC448E0D}"/>
              </a:ext>
            </a:extLst>
          </p:cNvPr>
          <p:cNvSpPr txBox="1"/>
          <p:nvPr/>
        </p:nvSpPr>
        <p:spPr>
          <a:xfrm>
            <a:off x="2212206" y="3733800"/>
            <a:ext cx="6934200" cy="27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endParaRPr lang="en-IN" sz="16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lang="en-IN" sz="16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lang="en-IN" sz="16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lang="en-IN" sz="16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lang="en-IN" sz="1600" dirty="0">
              <a:latin typeface="Times New Roman"/>
              <a:cs typeface="Times New Roman"/>
            </a:endParaRPr>
          </a:p>
          <a:p>
            <a:pPr>
              <a:lnSpc>
                <a:spcPct val="150000"/>
              </a:lnSpc>
              <a:spcBef>
                <a:spcPts val="1240"/>
              </a:spcBef>
            </a:pPr>
            <a:endParaRPr lang="en-IN" sz="1400" dirty="0">
              <a:latin typeface="Times" panose="02020603050405020304" pitchFamily="18" charset="0"/>
              <a:cs typeface="Times" panose="02020603050405020304" pitchFamily="18" charset="0"/>
            </a:endParaRPr>
          </a:p>
          <a:p>
            <a:pPr marL="3208655" marR="183515">
              <a:lnSpc>
                <a:spcPct val="150000"/>
              </a:lnSpc>
            </a:pPr>
            <a:r>
              <a:rPr lang="en-IN" sz="1400" dirty="0">
                <a:latin typeface="Times" panose="02020603050405020304" pitchFamily="18" charset="0"/>
                <a:cs typeface="Times" panose="02020603050405020304" pitchFamily="18" charset="0"/>
              </a:rPr>
              <a:t>Source: From</a:t>
            </a:r>
            <a:r>
              <a:rPr lang="en-IN" sz="1400" spc="-10" dirty="0">
                <a:latin typeface="Times" panose="02020603050405020304" pitchFamily="18" charset="0"/>
                <a:cs typeface="Times" panose="02020603050405020304" pitchFamily="18" charset="0"/>
              </a:rPr>
              <a:t> Winter</a:t>
            </a:r>
            <a:r>
              <a:rPr lang="en-IN" sz="1400" spc="500" dirty="0">
                <a:latin typeface="Times" panose="02020603050405020304" pitchFamily="18" charset="0"/>
                <a:cs typeface="Times" panose="02020603050405020304" pitchFamily="18" charset="0"/>
              </a:rPr>
              <a:t> </a:t>
            </a:r>
            <a:r>
              <a:rPr lang="en-IN" sz="1400" spc="-10" dirty="0">
                <a:latin typeface="Times" panose="02020603050405020304" pitchFamily="18" charset="0"/>
                <a:cs typeface="Times" panose="02020603050405020304" pitchFamily="18" charset="0"/>
              </a:rPr>
              <a:t>(2001)</a:t>
            </a:r>
            <a:r>
              <a:rPr lang="en-IN" sz="1400" spc="5" dirty="0">
                <a:latin typeface="Times" panose="02020603050405020304" pitchFamily="18" charset="0"/>
                <a:cs typeface="Times" panose="02020603050405020304" pitchFamily="18" charset="0"/>
              </a:rPr>
              <a:t> </a:t>
            </a:r>
            <a:r>
              <a:rPr lang="en-IN" sz="1400" dirty="0">
                <a:latin typeface="Times" panose="02020603050405020304" pitchFamily="18" charset="0"/>
                <a:cs typeface="Times" panose="02020603050405020304" pitchFamily="18" charset="0"/>
              </a:rPr>
              <a:t>An</a:t>
            </a:r>
            <a:r>
              <a:rPr lang="en-IN" sz="1400" spc="15" dirty="0">
                <a:latin typeface="Times" panose="02020603050405020304" pitchFamily="18" charset="0"/>
                <a:cs typeface="Times" panose="02020603050405020304" pitchFamily="18" charset="0"/>
              </a:rPr>
              <a:t> </a:t>
            </a:r>
            <a:r>
              <a:rPr lang="en-IN" sz="1400" spc="-10" dirty="0">
                <a:latin typeface="Times" panose="02020603050405020304" pitchFamily="18" charset="0"/>
                <a:cs typeface="Times" panose="02020603050405020304" pitchFamily="18" charset="0"/>
              </a:rPr>
              <a:t>Introduction</a:t>
            </a:r>
            <a:r>
              <a:rPr lang="en-IN" sz="1400" spc="15" dirty="0">
                <a:latin typeface="Times" panose="02020603050405020304" pitchFamily="18" charset="0"/>
                <a:cs typeface="Times" panose="02020603050405020304" pitchFamily="18" charset="0"/>
              </a:rPr>
              <a:t> </a:t>
            </a:r>
            <a:r>
              <a:rPr lang="en-IN" sz="1400" dirty="0">
                <a:latin typeface="Times" panose="02020603050405020304" pitchFamily="18" charset="0"/>
                <a:cs typeface="Times" panose="02020603050405020304" pitchFamily="18" charset="0"/>
              </a:rPr>
              <a:t>to</a:t>
            </a:r>
            <a:r>
              <a:rPr lang="en-IN" sz="1400" spc="15" dirty="0">
                <a:latin typeface="Times" panose="02020603050405020304" pitchFamily="18" charset="0"/>
                <a:cs typeface="Times" panose="02020603050405020304" pitchFamily="18" charset="0"/>
              </a:rPr>
              <a:t> </a:t>
            </a:r>
            <a:r>
              <a:rPr lang="en-IN" sz="1400" spc="-10" dirty="0">
                <a:latin typeface="Times" panose="02020603050405020304" pitchFamily="18" charset="0"/>
                <a:cs typeface="Times" panose="02020603050405020304" pitchFamily="18" charset="0"/>
              </a:rPr>
              <a:t>Igneous</a:t>
            </a:r>
            <a:r>
              <a:rPr lang="en-IN" sz="1400" spc="500" dirty="0">
                <a:latin typeface="Times" panose="02020603050405020304" pitchFamily="18" charset="0"/>
                <a:cs typeface="Times" panose="02020603050405020304" pitchFamily="18" charset="0"/>
              </a:rPr>
              <a:t> </a:t>
            </a:r>
            <a:r>
              <a:rPr lang="en-IN" sz="1400" dirty="0">
                <a:latin typeface="Times" panose="02020603050405020304" pitchFamily="18" charset="0"/>
                <a:cs typeface="Times" panose="02020603050405020304" pitchFamily="18" charset="0"/>
              </a:rPr>
              <a:t>and </a:t>
            </a:r>
            <a:r>
              <a:rPr lang="en-IN" sz="1400" spc="-10" dirty="0">
                <a:latin typeface="Times" panose="02020603050405020304" pitchFamily="18" charset="0"/>
                <a:cs typeface="Times" panose="02020603050405020304" pitchFamily="18" charset="0"/>
              </a:rPr>
              <a:t>Metamorphic</a:t>
            </a:r>
            <a:r>
              <a:rPr lang="en-IN" sz="1400" spc="5" dirty="0">
                <a:latin typeface="Times" panose="02020603050405020304" pitchFamily="18" charset="0"/>
                <a:cs typeface="Times" panose="02020603050405020304" pitchFamily="18" charset="0"/>
              </a:rPr>
              <a:t> </a:t>
            </a:r>
            <a:r>
              <a:rPr lang="en-IN" sz="1400" spc="-10" dirty="0">
                <a:latin typeface="Times" panose="02020603050405020304" pitchFamily="18" charset="0"/>
                <a:cs typeface="Times" panose="02020603050405020304" pitchFamily="18" charset="0"/>
              </a:rPr>
              <a:t>Petrology. </a:t>
            </a:r>
            <a:r>
              <a:rPr lang="en-IN" sz="1400" dirty="0">
                <a:latin typeface="Times" panose="02020603050405020304" pitchFamily="18" charset="0"/>
                <a:cs typeface="Times" panose="02020603050405020304" pitchFamily="18" charset="0"/>
              </a:rPr>
              <a:t>Prentice</a:t>
            </a:r>
            <a:r>
              <a:rPr lang="en-IN" sz="1400" spc="-35" dirty="0">
                <a:latin typeface="Times" panose="02020603050405020304" pitchFamily="18" charset="0"/>
                <a:cs typeface="Times" panose="02020603050405020304" pitchFamily="18" charset="0"/>
              </a:rPr>
              <a:t> </a:t>
            </a:r>
            <a:r>
              <a:rPr lang="en-IN" sz="1400" spc="-10" dirty="0">
                <a:latin typeface="Times" panose="02020603050405020304" pitchFamily="18" charset="0"/>
                <a:cs typeface="Times" panose="02020603050405020304" pitchFamily="18" charset="0"/>
              </a:rPr>
              <a:t>Hall.</a:t>
            </a:r>
            <a:endParaRPr lang="en-IN" sz="14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B55FA0-5299-4D10-8743-85DE11032DE4}"/>
              </a:ext>
            </a:extLst>
          </p:cNvPr>
          <p:cNvSpPr txBox="1"/>
          <p:nvPr/>
        </p:nvSpPr>
        <p:spPr>
          <a:xfrm>
            <a:off x="445008" y="1735564"/>
            <a:ext cx="5943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53085" indent="-170815">
              <a:lnSpc>
                <a:spcPct val="100000"/>
              </a:lnSpc>
              <a:spcBef>
                <a:spcPts val="1325"/>
              </a:spcBef>
              <a:buSzPct val="50000"/>
              <a:buFont typeface="MS Gothic"/>
              <a:buChar char="●"/>
              <a:tabLst>
                <a:tab pos="553085" algn="l"/>
              </a:tabLst>
            </a:pPr>
            <a:r>
              <a:rPr lang="en-IN" sz="1800" spc="-10" dirty="0">
                <a:latin typeface="Times New Roman"/>
                <a:cs typeface="Times New Roman"/>
              </a:rPr>
              <a:t>Europium</a:t>
            </a:r>
            <a:r>
              <a:rPr lang="en-IN" sz="1800" spc="-40" dirty="0">
                <a:latin typeface="Times New Roman"/>
                <a:cs typeface="Times New Roman"/>
              </a:rPr>
              <a:t> </a:t>
            </a:r>
            <a:r>
              <a:rPr lang="en-IN" sz="1800" dirty="0">
                <a:latin typeface="Times New Roman"/>
                <a:cs typeface="Times New Roman"/>
              </a:rPr>
              <a:t>anomaly</a:t>
            </a:r>
            <a:r>
              <a:rPr lang="en-IN" sz="1600" dirty="0"/>
              <a:t>: a plagioclase-bearing melt source</a:t>
            </a:r>
            <a:endParaRPr lang="en-IN" sz="1600" dirty="0">
              <a:latin typeface="Times New Roman"/>
              <a:cs typeface="Times New Roman"/>
            </a:endParaRPr>
          </a:p>
        </p:txBody>
      </p:sp>
      <p:sp>
        <p:nvSpPr>
          <p:cNvPr id="9" name="object 7">
            <a:extLst>
              <a:ext uri="{FF2B5EF4-FFF2-40B4-BE49-F238E27FC236}">
                <a16:creationId xmlns:a16="http://schemas.microsoft.com/office/drawing/2014/main" id="{53A01B5A-A9E1-4EEC-AB75-5934B76CD46E}"/>
              </a:ext>
            </a:extLst>
          </p:cNvPr>
          <p:cNvSpPr txBox="1"/>
          <p:nvPr/>
        </p:nvSpPr>
        <p:spPr>
          <a:xfrm>
            <a:off x="5694546" y="3581400"/>
            <a:ext cx="2179320" cy="761106"/>
          </a:xfrm>
          <a:prstGeom prst="rect">
            <a:avLst/>
          </a:prstGeom>
          <a:ln w="4572">
            <a:solidFill>
              <a:srgbClr val="000000"/>
            </a:solidFill>
          </a:ln>
        </p:spPr>
        <p:txBody>
          <a:bodyPr vert="horz" wrap="square" lIns="0" tIns="19685" rIns="0" bIns="0" rtlCol="0">
            <a:spAutoFit/>
          </a:bodyPr>
          <a:lstStyle/>
          <a:p>
            <a:pPr marL="48260" marR="91440">
              <a:lnSpc>
                <a:spcPct val="100000"/>
              </a:lnSpc>
              <a:spcBef>
                <a:spcPts val="155"/>
              </a:spcBef>
            </a:pPr>
            <a:r>
              <a:rPr sz="1200" dirty="0">
                <a:latin typeface="Times New Roman"/>
                <a:cs typeface="Times New Roman"/>
              </a:rPr>
              <a:t>Eu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divalent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in </a:t>
            </a:r>
            <a:r>
              <a:rPr sz="1200" spc="-10" dirty="0">
                <a:latin typeface="Times New Roman"/>
                <a:cs typeface="Times New Roman"/>
              </a:rPr>
              <a:t>contrast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other </a:t>
            </a:r>
            <a:r>
              <a:rPr sz="1200" dirty="0">
                <a:latin typeface="Times New Roman"/>
                <a:cs typeface="Times New Roman"/>
              </a:rPr>
              <a:t>REE’s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are </a:t>
            </a:r>
            <a:r>
              <a:rPr sz="1200" spc="-10" dirty="0">
                <a:latin typeface="Times New Roman"/>
                <a:cs typeface="Times New Roman"/>
              </a:rPr>
              <a:t>trivalent.</a:t>
            </a:r>
            <a:endParaRPr sz="1200" dirty="0">
              <a:latin typeface="Times New Roman"/>
              <a:cs typeface="Times New Roman"/>
            </a:endParaRPr>
          </a:p>
          <a:p>
            <a:pPr marL="48260" marR="273050">
              <a:lnSpc>
                <a:spcPts val="1430"/>
              </a:lnSpc>
              <a:spcBef>
                <a:spcPts val="50"/>
              </a:spcBef>
            </a:pPr>
            <a:r>
              <a:rPr sz="1200" spc="-10" dirty="0">
                <a:latin typeface="Times New Roman"/>
                <a:cs typeface="Times New Roman"/>
              </a:rPr>
              <a:t>Consequently </a:t>
            </a:r>
            <a:r>
              <a:rPr sz="1200" spc="-25" dirty="0">
                <a:latin typeface="Times New Roman"/>
                <a:cs typeface="Times New Roman"/>
              </a:rPr>
              <a:t>it </a:t>
            </a:r>
            <a:r>
              <a:rPr sz="1200" dirty="0">
                <a:latin typeface="Times New Roman"/>
                <a:cs typeface="Times New Roman"/>
              </a:rPr>
              <a:t>behaves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like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35" dirty="0">
                <a:latin typeface="Times New Roman"/>
                <a:cs typeface="Times New Roman"/>
              </a:rPr>
              <a:t>Sr</a:t>
            </a:r>
            <a:endParaRPr sz="1200" dirty="0">
              <a:latin typeface="Times New Roman"/>
              <a:cs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FCD882-9427-4D6A-9F3E-8D523003C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726666"/>
            <a:ext cx="4572000" cy="383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5790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02CA21-1AA5-4764-AE7A-CFEDB1021AF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69" t="4266" r="2315" b="6151"/>
          <a:stretch/>
        </p:blipFill>
        <p:spPr>
          <a:xfrm>
            <a:off x="304800" y="2590800"/>
            <a:ext cx="8534400" cy="32004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210ED16-172B-4BD9-BA0C-94747AEBA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896" y="-304800"/>
            <a:ext cx="8229600" cy="1143000"/>
          </a:xfrm>
        </p:spPr>
        <p:txBody>
          <a:bodyPr/>
          <a:lstStyle/>
          <a:p>
            <a:r>
              <a:rPr lang="en-IN" sz="3200" b="1" dirty="0"/>
              <a:t>Cerium anomaly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034BF-284A-4491-AB42-329F87E8E57D}"/>
              </a:ext>
            </a:extLst>
          </p:cNvPr>
          <p:cNvSpPr txBox="1"/>
          <p:nvPr/>
        </p:nvSpPr>
        <p:spPr>
          <a:xfrm>
            <a:off x="4648200" y="786384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Negative Ce Anomaly (Ce Depletion)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Occurs in </a:t>
            </a:r>
            <a:r>
              <a:rPr lang="en-US" b="1" dirty="0"/>
              <a:t>oxidizing environments</a:t>
            </a:r>
            <a:r>
              <a:rPr lang="en-US" dirty="0"/>
              <a:t> where Ce³⁺ is oxidized to </a:t>
            </a:r>
            <a:r>
              <a:rPr lang="en-US" b="1" dirty="0"/>
              <a:t>Ce⁴⁺</a:t>
            </a:r>
            <a:r>
              <a:rPr lang="en-US" dirty="0"/>
              <a:t>, which is </a:t>
            </a:r>
            <a:r>
              <a:rPr lang="en-US" b="1" dirty="0"/>
              <a:t>insoluble.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EF2DEA-AAF8-4458-B69C-090F89AE7492}"/>
              </a:ext>
            </a:extLst>
          </p:cNvPr>
          <p:cNvSpPr txBox="1"/>
          <p:nvPr/>
        </p:nvSpPr>
        <p:spPr>
          <a:xfrm>
            <a:off x="0" y="786383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Positive Ce Anomaly (Ce Enrichment)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Occurs in </a:t>
            </a:r>
            <a:r>
              <a:rPr lang="en-US" b="1" dirty="0"/>
              <a:t>reducing environments</a:t>
            </a:r>
            <a:r>
              <a:rPr lang="en-US" dirty="0"/>
              <a:t>, where Ce remains as </a:t>
            </a:r>
            <a:r>
              <a:rPr lang="en-US" b="1" dirty="0"/>
              <a:t>Ce³⁺</a:t>
            </a:r>
            <a:r>
              <a:rPr lang="en-US" dirty="0"/>
              <a:t>, which is more soluble and concentrated in the melt or fluid.</a:t>
            </a:r>
          </a:p>
        </p:txBody>
      </p:sp>
    </p:spTree>
    <p:extLst>
      <p:ext uri="{BB962C8B-B14F-4D97-AF65-F5344CB8AC3E}">
        <p14:creationId xmlns:p14="http://schemas.microsoft.com/office/powerpoint/2010/main" val="13319394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258" name="Rectangle 2"/>
          <p:cNvSpPr>
            <a:spLocks noGrp="1" noChangeArrowheads="1"/>
          </p:cNvSpPr>
          <p:nvPr>
            <p:ph type="title"/>
          </p:nvPr>
        </p:nvSpPr>
        <p:spPr>
          <a:xfrm>
            <a:off x="337465" y="13620"/>
            <a:ext cx="7820025" cy="785399"/>
          </a:xfrm>
        </p:spPr>
        <p:txBody>
          <a:bodyPr/>
          <a:lstStyle/>
          <a:p>
            <a:pPr eaLnBrk="1" hangingPunct="1">
              <a:defRPr/>
            </a:pPr>
            <a:r>
              <a:rPr lang="en-US" sz="1800" dirty="0"/>
              <a:t>Rare Earth Elements as indicators of petrogenesis (melting source) </a:t>
            </a:r>
          </a:p>
        </p:txBody>
      </p:sp>
      <p:grpSp>
        <p:nvGrpSpPr>
          <p:cNvPr id="41987" name="Group 4"/>
          <p:cNvGrpSpPr>
            <a:grpSpLocks/>
          </p:cNvGrpSpPr>
          <p:nvPr/>
        </p:nvGrpSpPr>
        <p:grpSpPr bwMode="auto">
          <a:xfrm>
            <a:off x="914400" y="819072"/>
            <a:ext cx="6710364" cy="4591786"/>
            <a:chOff x="722" y="619"/>
            <a:chExt cx="4402" cy="3035"/>
          </a:xfrm>
        </p:grpSpPr>
        <p:sp>
          <p:nvSpPr>
            <p:cNvPr id="41990" name="Rectangle 5"/>
            <p:cNvSpPr>
              <a:spLocks noChangeArrowheads="1"/>
            </p:cNvSpPr>
            <p:nvPr/>
          </p:nvSpPr>
          <p:spPr bwMode="auto">
            <a:xfrm>
              <a:off x="722" y="619"/>
              <a:ext cx="4402" cy="303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1pPr>
              <a:lvl2pPr marL="742950" indent="-285750"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2pPr>
              <a:lvl3pPr marL="1143000" indent="-228600"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3pPr>
              <a:lvl4pPr marL="1600200" indent="-228600"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4pPr>
              <a:lvl5pPr marL="2057400" indent="-228600"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9pPr>
            </a:lstStyle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IN" altLang="en-US" sz="2400">
                <a:solidFill>
                  <a:srgbClr val="FFFF00"/>
                </a:solidFill>
              </a:endParaRPr>
            </a:p>
          </p:txBody>
        </p:sp>
        <p:pic>
          <p:nvPicPr>
            <p:cNvPr id="41991" name="Picture 6" descr="Fig 10-13a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9" y="693"/>
              <a:ext cx="4219" cy="29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864263" name="Rectangle 7"/>
          <p:cNvSpPr>
            <a:spLocks noChangeArrowheads="1"/>
          </p:cNvSpPr>
          <p:nvPr/>
        </p:nvSpPr>
        <p:spPr bwMode="auto">
          <a:xfrm>
            <a:off x="3581400" y="5522816"/>
            <a:ext cx="2986394" cy="3467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69056" tIns="34529" rIns="69056" bIns="34529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b="1" dirty="0">
                <a:solidFill>
                  <a:srgbClr val="FF66CC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charset="0"/>
              </a:rPr>
              <a:t>increasing incompatibility</a:t>
            </a:r>
          </a:p>
        </p:txBody>
      </p:sp>
      <p:sp>
        <p:nvSpPr>
          <p:cNvPr id="41989" name="Line 8"/>
          <p:cNvSpPr>
            <a:spLocks noChangeShapeType="1"/>
          </p:cNvSpPr>
          <p:nvPr/>
        </p:nvSpPr>
        <p:spPr bwMode="auto">
          <a:xfrm flipH="1" flipV="1">
            <a:off x="2838449" y="5694265"/>
            <a:ext cx="620316" cy="4763"/>
          </a:xfrm>
          <a:prstGeom prst="line">
            <a:avLst/>
          </a:prstGeom>
          <a:noFill/>
          <a:ln w="12700">
            <a:solidFill>
              <a:srgbClr val="FF66CC"/>
            </a:solidFill>
            <a:round/>
            <a:headEnd type="none" w="sm" len="sm"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IN" sz="2400" b="1">
              <a:solidFill>
                <a:srgbClr val="FFFF00"/>
              </a:solidFill>
              <a:latin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94652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DA44E-5F05-4828-BB0F-9A5A90B47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>
                <a:latin typeface="Times New Roman"/>
                <a:cs typeface="Times New Roman"/>
              </a:rPr>
              <a:t>Spider</a:t>
            </a:r>
            <a:r>
              <a:rPr lang="en-US" sz="4400" spc="-85" dirty="0">
                <a:latin typeface="Times New Roman"/>
                <a:cs typeface="Times New Roman"/>
              </a:rPr>
              <a:t> </a:t>
            </a:r>
            <a:r>
              <a:rPr lang="en-US" sz="4400" spc="-10" dirty="0">
                <a:latin typeface="Times New Roman"/>
                <a:cs typeface="Times New Roman"/>
              </a:rPr>
              <a:t>Diagrams</a:t>
            </a:r>
            <a:br>
              <a:rPr lang="en-US" sz="4400" dirty="0">
                <a:latin typeface="Times New Roman"/>
                <a:cs typeface="Times New Roman"/>
              </a:rPr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8C92BE-412F-4431-9005-43BF56ABDA07}"/>
              </a:ext>
            </a:extLst>
          </p:cNvPr>
          <p:cNvSpPr txBox="1"/>
          <p:nvPr/>
        </p:nvSpPr>
        <p:spPr>
          <a:xfrm>
            <a:off x="2743200" y="4038600"/>
            <a:ext cx="6428232" cy="1826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60"/>
              </a:spcBef>
            </a:pPr>
            <a:endParaRPr lang="en-US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785"/>
              </a:spcBef>
            </a:pPr>
            <a:endParaRPr lang="en-US" dirty="0">
              <a:latin typeface="Times New Roman"/>
              <a:cs typeface="Times New Roman"/>
            </a:endParaRPr>
          </a:p>
          <a:p>
            <a:pPr marL="1650364" marR="92075">
              <a:lnSpc>
                <a:spcPct val="100000"/>
              </a:lnSpc>
            </a:pPr>
            <a:r>
              <a:rPr lang="en-US" sz="1400" dirty="0">
                <a:latin typeface="Arial MT"/>
                <a:cs typeface="Arial MT"/>
              </a:rPr>
              <a:t>Fig.</a:t>
            </a:r>
            <a:r>
              <a:rPr lang="en-US" sz="1400" spc="-5" dirty="0">
                <a:latin typeface="Arial MT"/>
                <a:cs typeface="Arial MT"/>
              </a:rPr>
              <a:t> </a:t>
            </a:r>
            <a:r>
              <a:rPr lang="en-US" sz="1400" spc="-10" dirty="0">
                <a:latin typeface="Arial MT"/>
                <a:cs typeface="Arial MT"/>
              </a:rPr>
              <a:t>9-</a:t>
            </a:r>
            <a:r>
              <a:rPr lang="en-US" sz="1400" dirty="0">
                <a:latin typeface="Arial MT"/>
                <a:cs typeface="Arial MT"/>
              </a:rPr>
              <a:t>6.</a:t>
            </a:r>
            <a:r>
              <a:rPr lang="en-US" sz="1400" spc="-5" dirty="0">
                <a:latin typeface="Arial MT"/>
                <a:cs typeface="Arial MT"/>
              </a:rPr>
              <a:t> </a:t>
            </a:r>
            <a:r>
              <a:rPr lang="en-US" sz="1400" spc="-10" dirty="0">
                <a:latin typeface="Arial MT"/>
                <a:cs typeface="Arial MT"/>
              </a:rPr>
              <a:t>Spider diagram</a:t>
            </a:r>
            <a:r>
              <a:rPr lang="en-US" sz="1400" dirty="0">
                <a:latin typeface="Arial MT"/>
                <a:cs typeface="Arial MT"/>
              </a:rPr>
              <a:t> for</a:t>
            </a:r>
            <a:r>
              <a:rPr lang="en-US" sz="1400" spc="-15" dirty="0">
                <a:latin typeface="Arial MT"/>
                <a:cs typeface="Arial MT"/>
              </a:rPr>
              <a:t> </a:t>
            </a:r>
            <a:r>
              <a:rPr lang="en-US" sz="1400" dirty="0">
                <a:latin typeface="Arial MT"/>
                <a:cs typeface="Arial MT"/>
              </a:rPr>
              <a:t>an</a:t>
            </a:r>
            <a:r>
              <a:rPr lang="en-US" sz="1400" spc="-10" dirty="0">
                <a:latin typeface="Arial MT"/>
                <a:cs typeface="Arial MT"/>
              </a:rPr>
              <a:t> alkaline</a:t>
            </a:r>
            <a:r>
              <a:rPr lang="en-US" sz="1400" spc="-5" dirty="0">
                <a:latin typeface="Arial MT"/>
                <a:cs typeface="Arial MT"/>
              </a:rPr>
              <a:t> </a:t>
            </a:r>
            <a:r>
              <a:rPr lang="en-US" sz="1400" spc="-10" dirty="0">
                <a:latin typeface="Arial MT"/>
                <a:cs typeface="Arial MT"/>
              </a:rPr>
              <a:t>basalt</a:t>
            </a:r>
            <a:r>
              <a:rPr lang="en-US" sz="1400" dirty="0">
                <a:latin typeface="Arial MT"/>
                <a:cs typeface="Arial MT"/>
              </a:rPr>
              <a:t> from Gough</a:t>
            </a:r>
            <a:r>
              <a:rPr lang="en-US" sz="1400" spc="-5" dirty="0">
                <a:latin typeface="Arial MT"/>
                <a:cs typeface="Arial MT"/>
              </a:rPr>
              <a:t> </a:t>
            </a:r>
            <a:r>
              <a:rPr lang="en-US" sz="1400" dirty="0">
                <a:latin typeface="Arial MT"/>
                <a:cs typeface="Arial MT"/>
              </a:rPr>
              <a:t>Island,</a:t>
            </a:r>
            <a:r>
              <a:rPr lang="en-US" sz="1400" spc="-5" dirty="0">
                <a:latin typeface="Arial MT"/>
                <a:cs typeface="Arial MT"/>
              </a:rPr>
              <a:t> </a:t>
            </a:r>
            <a:r>
              <a:rPr lang="en-US" sz="1400" spc="-10" dirty="0">
                <a:latin typeface="Arial MT"/>
                <a:cs typeface="Arial MT"/>
              </a:rPr>
              <a:t>southern</a:t>
            </a:r>
            <a:r>
              <a:rPr lang="en-US" sz="1400" dirty="0">
                <a:latin typeface="Arial MT"/>
                <a:cs typeface="Arial MT"/>
              </a:rPr>
              <a:t> </a:t>
            </a:r>
            <a:r>
              <a:rPr lang="en-US" sz="1400" spc="-10" dirty="0">
                <a:latin typeface="Arial MT"/>
                <a:cs typeface="Arial MT"/>
              </a:rPr>
              <a:t>Atlantic.</a:t>
            </a:r>
            <a:r>
              <a:rPr lang="en-US" sz="1400" spc="500" dirty="0">
                <a:latin typeface="Arial MT"/>
                <a:cs typeface="Arial MT"/>
              </a:rPr>
              <a:t> </a:t>
            </a:r>
            <a:r>
              <a:rPr lang="en-US" sz="1400" dirty="0">
                <a:latin typeface="Arial MT"/>
                <a:cs typeface="Arial MT"/>
              </a:rPr>
              <a:t>After</a:t>
            </a:r>
            <a:r>
              <a:rPr lang="en-US" sz="1400" spc="-10" dirty="0">
                <a:latin typeface="Arial MT"/>
                <a:cs typeface="Arial MT"/>
              </a:rPr>
              <a:t> </a:t>
            </a:r>
            <a:r>
              <a:rPr lang="en-US" sz="1400" dirty="0">
                <a:latin typeface="Arial MT"/>
                <a:cs typeface="Arial MT"/>
              </a:rPr>
              <a:t>Sun</a:t>
            </a:r>
            <a:r>
              <a:rPr lang="en-US" sz="1400" spc="-5" dirty="0">
                <a:latin typeface="Arial MT"/>
                <a:cs typeface="Arial MT"/>
              </a:rPr>
              <a:t> </a:t>
            </a:r>
            <a:r>
              <a:rPr lang="en-US" sz="1400" dirty="0">
                <a:latin typeface="Arial MT"/>
                <a:cs typeface="Arial MT"/>
              </a:rPr>
              <a:t>and</a:t>
            </a:r>
            <a:r>
              <a:rPr lang="en-US" sz="1400" spc="-5" dirty="0">
                <a:latin typeface="Arial MT"/>
                <a:cs typeface="Arial MT"/>
              </a:rPr>
              <a:t> </a:t>
            </a:r>
            <a:r>
              <a:rPr lang="en-US" sz="1400" spc="-10" dirty="0">
                <a:latin typeface="Arial MT"/>
                <a:cs typeface="Arial MT"/>
              </a:rPr>
              <a:t>MacDonough</a:t>
            </a:r>
            <a:r>
              <a:rPr lang="en-US" sz="1400" dirty="0">
                <a:latin typeface="Arial MT"/>
                <a:cs typeface="Arial MT"/>
              </a:rPr>
              <a:t> </a:t>
            </a:r>
            <a:r>
              <a:rPr lang="en-US" sz="1400" spc="-10" dirty="0">
                <a:latin typeface="Arial MT"/>
                <a:cs typeface="Arial MT"/>
              </a:rPr>
              <a:t>(1989).</a:t>
            </a:r>
            <a:r>
              <a:rPr lang="en-US" sz="1400" dirty="0">
                <a:latin typeface="Arial MT"/>
                <a:cs typeface="Arial MT"/>
              </a:rPr>
              <a:t> In</a:t>
            </a:r>
            <a:r>
              <a:rPr lang="en-US" sz="1400" spc="-5" dirty="0">
                <a:latin typeface="Arial MT"/>
                <a:cs typeface="Arial MT"/>
              </a:rPr>
              <a:t> </a:t>
            </a:r>
            <a:r>
              <a:rPr lang="en-US" sz="1400" dirty="0">
                <a:latin typeface="Arial MT"/>
                <a:cs typeface="Arial MT"/>
              </a:rPr>
              <a:t>A. D. </a:t>
            </a:r>
            <a:r>
              <a:rPr lang="en-US" sz="1400" spc="-10" dirty="0">
                <a:latin typeface="Arial MT"/>
                <a:cs typeface="Arial MT"/>
              </a:rPr>
              <a:t>Saunders</a:t>
            </a:r>
            <a:r>
              <a:rPr lang="en-US" sz="1400" spc="-5" dirty="0">
                <a:latin typeface="Arial MT"/>
                <a:cs typeface="Arial MT"/>
              </a:rPr>
              <a:t> </a:t>
            </a:r>
            <a:r>
              <a:rPr lang="en-US" sz="1400" dirty="0">
                <a:latin typeface="Arial MT"/>
                <a:cs typeface="Arial MT"/>
              </a:rPr>
              <a:t>and M. J.</a:t>
            </a:r>
            <a:r>
              <a:rPr lang="en-US" sz="1400" spc="-5" dirty="0">
                <a:latin typeface="Arial MT"/>
                <a:cs typeface="Arial MT"/>
              </a:rPr>
              <a:t> </a:t>
            </a:r>
            <a:r>
              <a:rPr lang="en-US" sz="1400" spc="-10" dirty="0" err="1">
                <a:latin typeface="Arial MT"/>
                <a:cs typeface="Arial MT"/>
              </a:rPr>
              <a:t>Norry</a:t>
            </a:r>
            <a:r>
              <a:rPr lang="en-US" sz="1400" spc="-5" dirty="0">
                <a:latin typeface="Arial MT"/>
                <a:cs typeface="Arial MT"/>
              </a:rPr>
              <a:t> </a:t>
            </a:r>
            <a:r>
              <a:rPr lang="en-US" sz="1400" spc="-10" dirty="0">
                <a:latin typeface="Arial MT"/>
                <a:cs typeface="Arial MT"/>
              </a:rPr>
              <a:t>(eds.),</a:t>
            </a:r>
            <a:r>
              <a:rPr lang="en-US" sz="1400" spc="500" dirty="0">
                <a:latin typeface="Arial MT"/>
                <a:cs typeface="Arial MT"/>
              </a:rPr>
              <a:t> </a:t>
            </a:r>
            <a:r>
              <a:rPr lang="en-US" sz="1400" spc="-10" dirty="0">
                <a:latin typeface="Arial MT"/>
                <a:cs typeface="Arial MT"/>
              </a:rPr>
              <a:t>Magmatism</a:t>
            </a:r>
            <a:r>
              <a:rPr lang="en-US" sz="1400" spc="-15" dirty="0">
                <a:latin typeface="Arial MT"/>
                <a:cs typeface="Arial MT"/>
              </a:rPr>
              <a:t> </a:t>
            </a:r>
            <a:r>
              <a:rPr lang="en-US" sz="1400" dirty="0">
                <a:latin typeface="Arial MT"/>
                <a:cs typeface="Arial MT"/>
              </a:rPr>
              <a:t>in</a:t>
            </a:r>
            <a:r>
              <a:rPr lang="en-US" sz="1400" spc="-10" dirty="0">
                <a:latin typeface="Arial MT"/>
                <a:cs typeface="Arial MT"/>
              </a:rPr>
              <a:t> </a:t>
            </a:r>
            <a:r>
              <a:rPr lang="en-US" sz="1400" dirty="0">
                <a:latin typeface="Arial MT"/>
                <a:cs typeface="Arial MT"/>
              </a:rPr>
              <a:t>the</a:t>
            </a:r>
            <a:r>
              <a:rPr lang="en-US" sz="1400" spc="-10" dirty="0">
                <a:latin typeface="Arial MT"/>
                <a:cs typeface="Arial MT"/>
              </a:rPr>
              <a:t> </a:t>
            </a:r>
            <a:r>
              <a:rPr lang="en-US" sz="1400" dirty="0">
                <a:latin typeface="Arial MT"/>
                <a:cs typeface="Arial MT"/>
              </a:rPr>
              <a:t>Ocean</a:t>
            </a:r>
            <a:r>
              <a:rPr lang="en-US" sz="1400" spc="-10" dirty="0">
                <a:latin typeface="Arial MT"/>
                <a:cs typeface="Arial MT"/>
              </a:rPr>
              <a:t> </a:t>
            </a:r>
            <a:r>
              <a:rPr lang="en-US" sz="1400" dirty="0">
                <a:latin typeface="Arial MT"/>
                <a:cs typeface="Arial MT"/>
              </a:rPr>
              <a:t>Basins.</a:t>
            </a:r>
            <a:r>
              <a:rPr lang="en-US" sz="1400" spc="-15" dirty="0">
                <a:latin typeface="Arial MT"/>
                <a:cs typeface="Arial MT"/>
              </a:rPr>
              <a:t> </a:t>
            </a:r>
            <a:r>
              <a:rPr lang="en-US" sz="1400" dirty="0">
                <a:latin typeface="Arial MT"/>
                <a:cs typeface="Arial MT"/>
              </a:rPr>
              <a:t>Geol.</a:t>
            </a:r>
            <a:r>
              <a:rPr lang="en-US" sz="1400" spc="-10" dirty="0">
                <a:latin typeface="Arial MT"/>
                <a:cs typeface="Arial MT"/>
              </a:rPr>
              <a:t> </a:t>
            </a:r>
            <a:r>
              <a:rPr lang="en-US" sz="1400" dirty="0">
                <a:latin typeface="Arial MT"/>
                <a:cs typeface="Arial MT"/>
              </a:rPr>
              <a:t>Soc.</a:t>
            </a:r>
            <a:r>
              <a:rPr lang="en-US" sz="1400" spc="-10" dirty="0">
                <a:latin typeface="Arial MT"/>
                <a:cs typeface="Arial MT"/>
              </a:rPr>
              <a:t> London </a:t>
            </a:r>
            <a:r>
              <a:rPr lang="en-US" sz="1400" dirty="0">
                <a:latin typeface="Arial MT"/>
                <a:cs typeface="Arial MT"/>
              </a:rPr>
              <a:t>Spec.</a:t>
            </a:r>
            <a:r>
              <a:rPr lang="en-US" sz="1400" spc="-10" dirty="0">
                <a:latin typeface="Arial MT"/>
                <a:cs typeface="Arial MT"/>
              </a:rPr>
              <a:t> </a:t>
            </a:r>
            <a:r>
              <a:rPr lang="en-US" sz="1400" dirty="0">
                <a:latin typeface="Arial MT"/>
                <a:cs typeface="Arial MT"/>
              </a:rPr>
              <a:t>Publ.,</a:t>
            </a:r>
            <a:r>
              <a:rPr lang="en-US" sz="1400" spc="-25" dirty="0">
                <a:latin typeface="Arial MT"/>
                <a:cs typeface="Arial MT"/>
              </a:rPr>
              <a:t> </a:t>
            </a:r>
            <a:r>
              <a:rPr lang="en-US" sz="1400" b="1" dirty="0">
                <a:latin typeface="Arial"/>
                <a:cs typeface="Arial"/>
              </a:rPr>
              <a:t>42</a:t>
            </a:r>
            <a:r>
              <a:rPr lang="en-US" sz="1400" dirty="0">
                <a:latin typeface="Arial MT"/>
                <a:cs typeface="Arial MT"/>
              </a:rPr>
              <a:t>.</a:t>
            </a:r>
            <a:r>
              <a:rPr lang="en-US" sz="1400" spc="-10" dirty="0">
                <a:latin typeface="Arial MT"/>
                <a:cs typeface="Arial MT"/>
              </a:rPr>
              <a:t> </a:t>
            </a:r>
            <a:r>
              <a:rPr lang="en-US" sz="1400" dirty="0">
                <a:latin typeface="Arial MT"/>
                <a:cs typeface="Arial MT"/>
              </a:rPr>
              <a:t>pp.</a:t>
            </a:r>
            <a:r>
              <a:rPr lang="en-US" sz="1400" spc="-15" dirty="0">
                <a:latin typeface="Arial MT"/>
                <a:cs typeface="Arial MT"/>
              </a:rPr>
              <a:t> </a:t>
            </a:r>
            <a:r>
              <a:rPr lang="en-US" sz="1400" spc="-10" dirty="0">
                <a:latin typeface="Arial MT"/>
                <a:cs typeface="Arial MT"/>
              </a:rPr>
              <a:t>313-</a:t>
            </a:r>
            <a:r>
              <a:rPr lang="en-US" sz="1400" spc="-20" dirty="0">
                <a:latin typeface="Arial MT"/>
                <a:cs typeface="Arial MT"/>
              </a:rPr>
              <a:t>345</a:t>
            </a:r>
            <a:endParaRPr lang="en-IN" sz="1400" dirty="0"/>
          </a:p>
        </p:txBody>
      </p:sp>
      <p:pic>
        <p:nvPicPr>
          <p:cNvPr id="6" name="object 3">
            <a:extLst>
              <a:ext uri="{FF2B5EF4-FFF2-40B4-BE49-F238E27FC236}">
                <a16:creationId xmlns:a16="http://schemas.microsoft.com/office/drawing/2014/main" id="{2D7DB8D3-2FCE-45F3-A0BA-A2BB8688C5B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21186" y="1547178"/>
            <a:ext cx="4229038" cy="28011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825E511-0371-4611-B49B-E20217474A08}"/>
              </a:ext>
            </a:extLst>
          </p:cNvPr>
          <p:cNvSpPr txBox="1"/>
          <p:nvPr/>
        </p:nvSpPr>
        <p:spPr>
          <a:xfrm>
            <a:off x="-76200" y="1905000"/>
            <a:ext cx="5257800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91160" marR="558165">
              <a:lnSpc>
                <a:spcPct val="100000"/>
              </a:lnSpc>
              <a:spcBef>
                <a:spcPts val="325"/>
              </a:spcBef>
            </a:pPr>
            <a:r>
              <a:rPr lang="en-US" dirty="0">
                <a:latin typeface="Times New Roman"/>
                <a:cs typeface="Times New Roman"/>
              </a:rPr>
              <a:t>An</a:t>
            </a:r>
            <a:r>
              <a:rPr lang="en-US" spc="-45" dirty="0"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extension</a:t>
            </a:r>
            <a:r>
              <a:rPr lang="en-US" spc="-40" dirty="0"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of</a:t>
            </a:r>
            <a:r>
              <a:rPr lang="en-US" spc="-40" dirty="0"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the</a:t>
            </a:r>
            <a:r>
              <a:rPr lang="en-US" spc="-45" dirty="0"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normalized</a:t>
            </a:r>
            <a:r>
              <a:rPr lang="en-US" spc="-40" dirty="0">
                <a:latin typeface="Times New Roman"/>
                <a:cs typeface="Times New Roman"/>
              </a:rPr>
              <a:t> </a:t>
            </a:r>
            <a:r>
              <a:rPr lang="en-US" spc="-25" dirty="0">
                <a:latin typeface="Times New Roman"/>
                <a:cs typeface="Times New Roman"/>
              </a:rPr>
              <a:t>REE </a:t>
            </a:r>
            <a:r>
              <a:rPr lang="en-US" dirty="0">
                <a:latin typeface="Times New Roman"/>
                <a:cs typeface="Times New Roman"/>
              </a:rPr>
              <a:t>technique</a:t>
            </a:r>
            <a:r>
              <a:rPr lang="en-US" spc="-45" dirty="0"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to</a:t>
            </a:r>
            <a:r>
              <a:rPr lang="en-US" spc="-40" dirty="0"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a</a:t>
            </a:r>
            <a:r>
              <a:rPr lang="en-US" spc="-40" dirty="0"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broader</a:t>
            </a:r>
            <a:r>
              <a:rPr lang="en-US" spc="-50" dirty="0"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spectrum</a:t>
            </a:r>
            <a:r>
              <a:rPr lang="en-US" spc="-45" dirty="0"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of</a:t>
            </a:r>
            <a:r>
              <a:rPr lang="en-US" spc="-45" dirty="0">
                <a:latin typeface="Times New Roman"/>
                <a:cs typeface="Times New Roman"/>
              </a:rPr>
              <a:t> </a:t>
            </a:r>
            <a:r>
              <a:rPr lang="en-US" spc="-10" dirty="0">
                <a:latin typeface="Times New Roman"/>
                <a:cs typeface="Times New Roman"/>
              </a:rPr>
              <a:t>elements</a:t>
            </a:r>
            <a:endParaRPr lang="en-US" dirty="0">
              <a:latin typeface="Times New Roman"/>
              <a:cs typeface="Times New Roman"/>
            </a:endParaRPr>
          </a:p>
          <a:p>
            <a:pPr marL="149225" marR="2647315">
              <a:lnSpc>
                <a:spcPct val="100200"/>
              </a:lnSpc>
              <a:spcBef>
                <a:spcPts val="1240"/>
              </a:spcBef>
            </a:pPr>
            <a:r>
              <a:rPr lang="en-US" spc="-10" dirty="0">
                <a:latin typeface="Times New Roman"/>
                <a:cs typeface="Times New Roman"/>
              </a:rPr>
              <a:t>Chondrite-</a:t>
            </a:r>
            <a:r>
              <a:rPr lang="en-US" dirty="0">
                <a:latin typeface="Times New Roman"/>
                <a:cs typeface="Times New Roman"/>
              </a:rPr>
              <a:t>normalized</a:t>
            </a:r>
            <a:r>
              <a:rPr lang="en-US" spc="-20" dirty="0">
                <a:latin typeface="Times New Roman"/>
                <a:cs typeface="Times New Roman"/>
              </a:rPr>
              <a:t> </a:t>
            </a:r>
            <a:r>
              <a:rPr lang="en-US" spc="-10" dirty="0">
                <a:latin typeface="Times New Roman"/>
                <a:cs typeface="Times New Roman"/>
              </a:rPr>
              <a:t>spider </a:t>
            </a:r>
            <a:r>
              <a:rPr lang="en-US" dirty="0">
                <a:latin typeface="Times New Roman"/>
                <a:cs typeface="Times New Roman"/>
              </a:rPr>
              <a:t>diagrams</a:t>
            </a:r>
            <a:r>
              <a:rPr lang="en-US" spc="-40" dirty="0"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are</a:t>
            </a:r>
            <a:r>
              <a:rPr lang="en-US" spc="-35" dirty="0">
                <a:latin typeface="Times New Roman"/>
                <a:cs typeface="Times New Roman"/>
              </a:rPr>
              <a:t> </a:t>
            </a:r>
            <a:r>
              <a:rPr lang="en-US" spc="-10" dirty="0">
                <a:latin typeface="Times New Roman"/>
                <a:cs typeface="Times New Roman"/>
              </a:rPr>
              <a:t>commonly organized</a:t>
            </a:r>
            <a:r>
              <a:rPr lang="en-US" spc="-20" dirty="0"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by</a:t>
            </a:r>
            <a:r>
              <a:rPr lang="en-US" spc="-15" dirty="0"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of</a:t>
            </a:r>
            <a:r>
              <a:rPr lang="en-US" spc="-30" dirty="0">
                <a:latin typeface="Times New Roman"/>
                <a:cs typeface="Times New Roman"/>
              </a:rPr>
              <a:t> </a:t>
            </a:r>
            <a:r>
              <a:rPr lang="en-US" spc="-10" dirty="0">
                <a:latin typeface="Times New Roman"/>
                <a:cs typeface="Times New Roman"/>
              </a:rPr>
              <a:t>increasing incompatibility </a:t>
            </a:r>
            <a:r>
              <a:rPr lang="en-US" dirty="0">
                <a:latin typeface="Times New Roman"/>
                <a:cs typeface="Times New Roman"/>
              </a:rPr>
              <a:t>L</a:t>
            </a:r>
            <a:r>
              <a:rPr lang="en-US" spc="-10" dirty="0">
                <a:latin typeface="Times New Roman"/>
                <a:cs typeface="Times New Roman"/>
              </a:rPr>
              <a:t> </a:t>
            </a:r>
            <a:r>
              <a:rPr lang="en-US" dirty="0">
                <a:latin typeface="Symbol"/>
                <a:cs typeface="Symbol"/>
              </a:rPr>
              <a:t></a:t>
            </a:r>
            <a:r>
              <a:rPr lang="en-US" spc="-10" dirty="0">
                <a:latin typeface="Times New Roman"/>
                <a:cs typeface="Times New Roman"/>
              </a:rPr>
              <a:t> </a:t>
            </a:r>
            <a:r>
              <a:rPr lang="en-US" spc="-50" dirty="0">
                <a:latin typeface="Times New Roman"/>
                <a:cs typeface="Times New Roman"/>
              </a:rPr>
              <a:t>R</a:t>
            </a:r>
            <a:endParaRPr lang="en-US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552079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282" name="Rectangle 2"/>
          <p:cNvSpPr>
            <a:spLocks noGrp="1" noChangeArrowheads="1"/>
          </p:cNvSpPr>
          <p:nvPr>
            <p:ph type="title"/>
          </p:nvPr>
        </p:nvSpPr>
        <p:spPr>
          <a:xfrm>
            <a:off x="1629919" y="228600"/>
            <a:ext cx="5829300" cy="342900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sz="2100" dirty="0"/>
              <a:t>Spidergrams or Spider-diagrams</a:t>
            </a:r>
          </a:p>
        </p:txBody>
      </p:sp>
      <p:sp>
        <p:nvSpPr>
          <p:cNvPr id="865285" name="Rectangle 5"/>
          <p:cNvSpPr>
            <a:spLocks noChangeArrowheads="1"/>
          </p:cNvSpPr>
          <p:nvPr/>
        </p:nvSpPr>
        <p:spPr bwMode="auto">
          <a:xfrm>
            <a:off x="1321595" y="1707356"/>
            <a:ext cx="6385322" cy="31587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69056" tIns="34529" rIns="69056" bIns="34529"/>
          <a:lstStyle/>
          <a:p>
            <a:pPr marL="257175" indent="-257175">
              <a:spcBef>
                <a:spcPct val="20000"/>
              </a:spcBef>
              <a:buClr>
                <a:srgbClr val="FF5050"/>
              </a:buClr>
              <a:buSzPct val="60000"/>
              <a:buFont typeface="Monotype Sorts" pitchFamily="2" charset="2"/>
              <a:buChar char="l"/>
              <a:defRPr/>
            </a:pPr>
            <a:endParaRPr lang="en-US" sz="2100">
              <a:solidFill>
                <a:srgbClr val="FFCC00"/>
              </a:solidFill>
              <a:effectLst>
                <a:outerShdw blurRad="38100" dist="38100" dir="2700000" algn="tl">
                  <a:srgbClr val="000000"/>
                </a:outerShdw>
              </a:effectLst>
              <a:latin typeface="Times New Roman" pitchFamily="18" charset="0"/>
            </a:endParaRPr>
          </a:p>
        </p:txBody>
      </p:sp>
      <p:sp>
        <p:nvSpPr>
          <p:cNvPr id="865286" name="Rectangle 6"/>
          <p:cNvSpPr>
            <a:spLocks noChangeArrowheads="1"/>
          </p:cNvSpPr>
          <p:nvPr/>
        </p:nvSpPr>
        <p:spPr bwMode="auto">
          <a:xfrm>
            <a:off x="3429001" y="5486401"/>
            <a:ext cx="2986394" cy="3467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69056" tIns="34529" rIns="69056" bIns="34529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b="1">
                <a:solidFill>
                  <a:srgbClr val="FFFF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Arial" charset="0"/>
              </a:rPr>
              <a:t>increasing incompatibility</a:t>
            </a:r>
          </a:p>
        </p:txBody>
      </p:sp>
      <p:sp>
        <p:nvSpPr>
          <p:cNvPr id="43013" name="Line 7"/>
          <p:cNvSpPr>
            <a:spLocks noChangeShapeType="1"/>
          </p:cNvSpPr>
          <p:nvPr/>
        </p:nvSpPr>
        <p:spPr bwMode="auto">
          <a:xfrm flipH="1" flipV="1">
            <a:off x="2800350" y="5486400"/>
            <a:ext cx="620316" cy="4763"/>
          </a:xfrm>
          <a:prstGeom prst="line">
            <a:avLst/>
          </a:prstGeom>
          <a:noFill/>
          <a:ln w="12700">
            <a:solidFill>
              <a:srgbClr val="FF66CC"/>
            </a:solidFill>
            <a:round/>
            <a:headEnd type="none" w="sm" len="sm"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IN" sz="2400" b="1">
              <a:solidFill>
                <a:srgbClr val="FFFF00"/>
              </a:solidFill>
              <a:latin typeface="Times" panose="02020603050405020304" pitchFamily="18" charset="0"/>
            </a:endParaRPr>
          </a:p>
        </p:txBody>
      </p:sp>
      <p:grpSp>
        <p:nvGrpSpPr>
          <p:cNvPr id="43014" name="Group 8"/>
          <p:cNvGrpSpPr>
            <a:grpSpLocks/>
          </p:cNvGrpSpPr>
          <p:nvPr/>
        </p:nvGrpSpPr>
        <p:grpSpPr bwMode="auto">
          <a:xfrm>
            <a:off x="1219200" y="838200"/>
            <a:ext cx="7258049" cy="4512469"/>
            <a:chOff x="473" y="576"/>
            <a:chExt cx="4711" cy="3078"/>
          </a:xfrm>
        </p:grpSpPr>
        <p:sp>
          <p:nvSpPr>
            <p:cNvPr id="43016" name="Rectangle 9"/>
            <p:cNvSpPr>
              <a:spLocks noChangeArrowheads="1"/>
            </p:cNvSpPr>
            <p:nvPr/>
          </p:nvSpPr>
          <p:spPr bwMode="auto">
            <a:xfrm>
              <a:off x="473" y="576"/>
              <a:ext cx="4711" cy="307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1pPr>
              <a:lvl2pPr marL="742950" indent="-285750"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2pPr>
              <a:lvl3pPr marL="1143000" indent="-228600"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3pPr>
              <a:lvl4pPr marL="1600200" indent="-228600"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4pPr>
              <a:lvl5pPr marL="2057400" indent="-228600"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3200" b="1">
                  <a:solidFill>
                    <a:schemeClr val="tx2"/>
                  </a:solidFill>
                  <a:latin typeface="Times" panose="02020603050405020304" pitchFamily="18" charset="0"/>
                </a:defRPr>
              </a:lvl9pPr>
            </a:lstStyle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IN" altLang="en-US" sz="2400">
                <a:solidFill>
                  <a:srgbClr val="FFFF00"/>
                </a:solidFill>
              </a:endParaRPr>
            </a:p>
          </p:txBody>
        </p:sp>
        <p:pic>
          <p:nvPicPr>
            <p:cNvPr id="43017" name="Picture 10" descr="Fig 10-13b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8" y="622"/>
              <a:ext cx="4486" cy="3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763208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9DFD59-9F15-4960-B7B7-457D037771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6515"/>
          <a:stretch/>
        </p:blipFill>
        <p:spPr>
          <a:xfrm>
            <a:off x="685800" y="762000"/>
            <a:ext cx="7141525" cy="5052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7613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29F726E-8CA2-4AB1-88A2-2AAD5278F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684" y="685800"/>
            <a:ext cx="7498556" cy="5962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7317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2D643B4-F077-4E73-B923-DE6F0A27031C}"/>
              </a:ext>
            </a:extLst>
          </p:cNvPr>
          <p:cNvSpPr txBox="1"/>
          <p:nvPr/>
        </p:nvSpPr>
        <p:spPr>
          <a:xfrm>
            <a:off x="1371600" y="2209800"/>
            <a:ext cx="7543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en-US" sz="3200" dirty="0">
                <a:solidFill>
                  <a:schemeClr val="tx1"/>
                </a:solidFill>
                <a:cs typeface="Arial" panose="020B0604020202020204" pitchFamily="34" charset="0"/>
              </a:rPr>
              <a:t>Geochemical evolution through time</a:t>
            </a:r>
          </a:p>
        </p:txBody>
      </p:sp>
    </p:spTree>
    <p:extLst>
      <p:ext uri="{BB962C8B-B14F-4D97-AF65-F5344CB8AC3E}">
        <p14:creationId xmlns:p14="http://schemas.microsoft.com/office/powerpoint/2010/main" val="31499262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6039" y="89094"/>
            <a:ext cx="8724900" cy="8489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</a:pPr>
            <a:r>
              <a:rPr sz="5400" u="none" spc="-275" dirty="0"/>
              <a:t>Divisions</a:t>
            </a:r>
            <a:r>
              <a:rPr sz="5400" u="none" spc="-125" dirty="0"/>
              <a:t> </a:t>
            </a:r>
            <a:r>
              <a:rPr sz="5400" u="none" spc="-110" dirty="0"/>
              <a:t>of</a:t>
            </a:r>
            <a:r>
              <a:rPr sz="5400" u="none" spc="-114" dirty="0"/>
              <a:t> </a:t>
            </a:r>
            <a:r>
              <a:rPr sz="5400" u="none" spc="110" dirty="0"/>
              <a:t>Geologic</a:t>
            </a:r>
            <a:r>
              <a:rPr sz="5400" u="none" spc="-100" dirty="0"/>
              <a:t> </a:t>
            </a:r>
            <a:r>
              <a:rPr sz="5400" u="none" spc="-300" dirty="0"/>
              <a:t>Ti</a:t>
            </a:r>
            <a:r>
              <a:rPr sz="5400" u="none" spc="-3850" dirty="0"/>
              <a:t>m</a:t>
            </a:r>
            <a:r>
              <a:rPr sz="4200" b="0" u="none" spc="-427" baseline="-9920" dirty="0">
                <a:solidFill>
                  <a:srgbClr val="FFFFFF"/>
                </a:solidFill>
                <a:latin typeface="Arial MT"/>
                <a:cs typeface="Arial MT"/>
              </a:rPr>
              <a:t>1</a:t>
            </a:r>
            <a:r>
              <a:rPr sz="4200" b="0" u="none" spc="-434" baseline="-9920" dirty="0">
                <a:solidFill>
                  <a:srgbClr val="FFFFFF"/>
                </a:solidFill>
                <a:latin typeface="Arial MT"/>
                <a:cs typeface="Arial MT"/>
              </a:rPr>
              <a:t>3</a:t>
            </a:r>
            <a:r>
              <a:rPr sz="4200" b="0" u="none" spc="-622" baseline="-99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5400" u="none" spc="165" dirty="0"/>
              <a:t>e</a:t>
            </a:r>
            <a:endParaRPr sz="5400">
              <a:latin typeface="Arial MT"/>
              <a:cs typeface="Arial MT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7B16183-C1C9-4D65-BE75-88AB7FAD486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032044"/>
            <a:ext cx="8077200" cy="3624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Based on the fossil record, major changes in life forms occurred at certain times.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These changes were used to mark the boundaries between units of geologic time.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Divisions of the geologic time scale depend on significant events in the history of life on Earth. 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78739" y="455710"/>
            <a:ext cx="7688580" cy="6163310"/>
          </a:xfrm>
          <a:prstGeom prst="rect">
            <a:avLst/>
          </a:prstGeom>
        </p:spPr>
        <p:txBody>
          <a:bodyPr vert="horz" wrap="square" lIns="0" tIns="22860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800"/>
              </a:spcBef>
              <a:buFont typeface="Arial MT"/>
              <a:buChar char="•"/>
              <a:tabLst>
                <a:tab pos="354965" algn="l"/>
              </a:tabLst>
            </a:pPr>
            <a:r>
              <a:rPr sz="4000" b="1" spc="-10" dirty="0">
                <a:latin typeface="Arial"/>
                <a:cs typeface="Arial"/>
              </a:rPr>
              <a:t>Earth</a:t>
            </a:r>
            <a:r>
              <a:rPr sz="4000" spc="-10" dirty="0">
                <a:latin typeface="Arial MT"/>
                <a:cs typeface="Arial MT"/>
              </a:rPr>
              <a:t>:</a:t>
            </a:r>
            <a:endParaRPr sz="4000" dirty="0">
              <a:latin typeface="Arial MT"/>
              <a:cs typeface="Arial MT"/>
            </a:endParaRPr>
          </a:p>
          <a:p>
            <a:pPr marL="769620" marR="1213485" lvl="1" indent="-414655">
              <a:lnSpc>
                <a:spcPct val="111500"/>
              </a:lnSpc>
              <a:spcBef>
                <a:spcPts val="800"/>
              </a:spcBef>
              <a:buAutoNum type="arabicParenR"/>
              <a:tabLst>
                <a:tab pos="927100" algn="l"/>
              </a:tabLst>
            </a:pPr>
            <a:r>
              <a:rPr sz="2800" dirty="0">
                <a:latin typeface="Arial MT"/>
                <a:cs typeface="Arial MT"/>
              </a:rPr>
              <a:t>Earth</a:t>
            </a:r>
            <a:r>
              <a:rPr sz="2800" spc="-6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formed</a:t>
            </a:r>
            <a:r>
              <a:rPr sz="2800" spc="-4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within</a:t>
            </a:r>
            <a:r>
              <a:rPr sz="2800" spc="-55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50</a:t>
            </a:r>
            <a:r>
              <a:rPr sz="2800" spc="-45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Myr</a:t>
            </a:r>
            <a:r>
              <a:rPr sz="2800" spc="-5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of</a:t>
            </a:r>
            <a:r>
              <a:rPr sz="2800" spc="-50" dirty="0">
                <a:latin typeface="Arial MT"/>
                <a:cs typeface="Arial MT"/>
              </a:rPr>
              <a:t> </a:t>
            </a:r>
            <a:r>
              <a:rPr sz="2800" spc="-10" dirty="0">
                <a:latin typeface="Arial MT"/>
                <a:cs typeface="Arial MT"/>
              </a:rPr>
              <a:t>oldest 	</a:t>
            </a:r>
            <a:r>
              <a:rPr sz="2800" dirty="0">
                <a:latin typeface="Arial MT"/>
                <a:cs typeface="Arial MT"/>
              </a:rPr>
              <a:t>meteorite</a:t>
            </a:r>
            <a:r>
              <a:rPr sz="2800" spc="-135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components</a:t>
            </a:r>
            <a:r>
              <a:rPr sz="2800" spc="-140" dirty="0">
                <a:latin typeface="Arial MT"/>
                <a:cs typeface="Arial MT"/>
              </a:rPr>
              <a:t> </a:t>
            </a:r>
            <a:r>
              <a:rPr sz="2800" spc="-10" dirty="0">
                <a:latin typeface="Arial MT"/>
                <a:cs typeface="Arial MT"/>
              </a:rPr>
              <a:t>(CAI’s), 	</a:t>
            </a:r>
            <a:r>
              <a:rPr sz="2800" dirty="0">
                <a:latin typeface="Arial MT"/>
                <a:cs typeface="Arial MT"/>
              </a:rPr>
              <a:t>which</a:t>
            </a:r>
            <a:r>
              <a:rPr sz="2800" spc="-55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are</a:t>
            </a:r>
            <a:r>
              <a:rPr sz="2800" spc="-35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4,567.3</a:t>
            </a:r>
            <a:r>
              <a:rPr sz="2800" spc="-3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±</a:t>
            </a:r>
            <a:r>
              <a:rPr sz="2800" spc="-5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0.12</a:t>
            </a:r>
            <a:r>
              <a:rPr sz="2800" spc="-40" dirty="0">
                <a:latin typeface="Arial MT"/>
                <a:cs typeface="Arial MT"/>
              </a:rPr>
              <a:t> </a:t>
            </a:r>
            <a:r>
              <a:rPr sz="2800" spc="-25" dirty="0">
                <a:latin typeface="Arial MT"/>
                <a:cs typeface="Arial MT"/>
              </a:rPr>
              <a:t>Ma.</a:t>
            </a:r>
            <a:endParaRPr sz="2800" dirty="0">
              <a:latin typeface="Arial MT"/>
              <a:cs typeface="Arial MT"/>
            </a:endParaRPr>
          </a:p>
          <a:p>
            <a:pPr marL="750570" lvl="1" indent="-394970">
              <a:lnSpc>
                <a:spcPct val="100000"/>
              </a:lnSpc>
              <a:spcBef>
                <a:spcPts val="675"/>
              </a:spcBef>
              <a:buAutoNum type="arabicParenR"/>
              <a:tabLst>
                <a:tab pos="750570" algn="l"/>
              </a:tabLst>
            </a:pPr>
            <a:r>
              <a:rPr sz="2800" dirty="0">
                <a:latin typeface="Arial MT"/>
                <a:cs typeface="Arial MT"/>
              </a:rPr>
              <a:t>Accretion</a:t>
            </a:r>
            <a:r>
              <a:rPr sz="2800" spc="-8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(incl.</a:t>
            </a:r>
            <a:r>
              <a:rPr sz="2800" spc="-8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Moon)</a:t>
            </a:r>
            <a:r>
              <a:rPr sz="2800" spc="-6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complete</a:t>
            </a:r>
            <a:r>
              <a:rPr sz="2800" spc="-65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by</a:t>
            </a:r>
            <a:r>
              <a:rPr sz="2800" spc="-85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4.52</a:t>
            </a:r>
            <a:r>
              <a:rPr sz="2800" spc="-75" dirty="0">
                <a:latin typeface="Arial MT"/>
                <a:cs typeface="Arial MT"/>
              </a:rPr>
              <a:t> </a:t>
            </a:r>
            <a:r>
              <a:rPr sz="2800" spc="-25" dirty="0">
                <a:latin typeface="Arial MT"/>
                <a:cs typeface="Arial MT"/>
              </a:rPr>
              <a:t>Ga.</a:t>
            </a:r>
            <a:endParaRPr sz="2800" dirty="0">
              <a:latin typeface="Arial MT"/>
              <a:cs typeface="Arial MT"/>
            </a:endParaRPr>
          </a:p>
          <a:p>
            <a:pPr marL="769620" marR="27940" lvl="1" indent="-414655">
              <a:lnSpc>
                <a:spcPct val="100000"/>
              </a:lnSpc>
              <a:spcBef>
                <a:spcPts val="675"/>
              </a:spcBef>
              <a:buAutoNum type="arabicParenR"/>
              <a:tabLst>
                <a:tab pos="927100" algn="l"/>
              </a:tabLst>
            </a:pPr>
            <a:r>
              <a:rPr sz="2800" dirty="0">
                <a:latin typeface="Arial MT"/>
                <a:cs typeface="Arial MT"/>
              </a:rPr>
              <a:t>Oldest</a:t>
            </a:r>
            <a:r>
              <a:rPr sz="2800" spc="-10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minerals</a:t>
            </a:r>
            <a:r>
              <a:rPr sz="2800" spc="-7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(zircons)</a:t>
            </a:r>
            <a:r>
              <a:rPr sz="2800" spc="-8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from</a:t>
            </a:r>
            <a:r>
              <a:rPr sz="2800" spc="-90" dirty="0">
                <a:latin typeface="Arial MT"/>
                <a:cs typeface="Arial MT"/>
              </a:rPr>
              <a:t> </a:t>
            </a:r>
            <a:r>
              <a:rPr sz="2800" spc="-20" dirty="0">
                <a:latin typeface="Arial MT"/>
                <a:cs typeface="Arial MT"/>
              </a:rPr>
              <a:t>much 	</a:t>
            </a:r>
            <a:r>
              <a:rPr sz="2800" dirty="0">
                <a:latin typeface="Arial MT"/>
                <a:cs typeface="Arial MT"/>
              </a:rPr>
              <a:t>younger</a:t>
            </a:r>
            <a:r>
              <a:rPr sz="2800" spc="-13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sedimentary</a:t>
            </a:r>
            <a:r>
              <a:rPr sz="2800" spc="-55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rocks</a:t>
            </a:r>
            <a:r>
              <a:rPr sz="2800" spc="-75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in</a:t>
            </a:r>
            <a:r>
              <a:rPr sz="2800" spc="-70" dirty="0">
                <a:latin typeface="Arial MT"/>
                <a:cs typeface="Arial MT"/>
              </a:rPr>
              <a:t> </a:t>
            </a:r>
            <a:r>
              <a:rPr sz="2800" spc="-75" dirty="0">
                <a:latin typeface="Arial MT"/>
                <a:cs typeface="Arial MT"/>
              </a:rPr>
              <a:t>W.</a:t>
            </a:r>
            <a:r>
              <a:rPr sz="2800" spc="-165" dirty="0">
                <a:latin typeface="Arial MT"/>
                <a:cs typeface="Arial MT"/>
              </a:rPr>
              <a:t> </a:t>
            </a:r>
            <a:r>
              <a:rPr sz="2800" spc="-10" dirty="0">
                <a:latin typeface="Arial MT"/>
                <a:cs typeface="Arial MT"/>
              </a:rPr>
              <a:t>Australia:</a:t>
            </a:r>
            <a:endParaRPr sz="2800" dirty="0">
              <a:latin typeface="Arial MT"/>
              <a:cs typeface="Arial MT"/>
            </a:endParaRPr>
          </a:p>
          <a:p>
            <a:pPr marL="927100">
              <a:lnSpc>
                <a:spcPct val="100000"/>
              </a:lnSpc>
            </a:pPr>
            <a:r>
              <a:rPr sz="2800" dirty="0">
                <a:latin typeface="Arial MT"/>
                <a:cs typeface="Arial MT"/>
              </a:rPr>
              <a:t>4.30</a:t>
            </a:r>
            <a:r>
              <a:rPr sz="2800" spc="-50" dirty="0">
                <a:latin typeface="Arial MT"/>
                <a:cs typeface="Arial MT"/>
              </a:rPr>
              <a:t> </a:t>
            </a:r>
            <a:r>
              <a:rPr sz="2800" spc="-25" dirty="0">
                <a:latin typeface="Arial MT"/>
                <a:cs typeface="Arial MT"/>
              </a:rPr>
              <a:t>Ga.</a:t>
            </a:r>
            <a:endParaRPr sz="2800" dirty="0">
              <a:latin typeface="Arial MT"/>
              <a:cs typeface="Arial MT"/>
            </a:endParaRPr>
          </a:p>
          <a:p>
            <a:pPr marL="927100" marR="2444115" indent="-572135">
              <a:lnSpc>
                <a:spcPct val="120000"/>
              </a:lnSpc>
              <a:tabLst>
                <a:tab pos="3023235" algn="l"/>
                <a:tab pos="3398520" algn="l"/>
              </a:tabLst>
            </a:pPr>
            <a:r>
              <a:rPr sz="2800" dirty="0">
                <a:latin typeface="Arial MT"/>
                <a:cs typeface="Arial MT"/>
              </a:rPr>
              <a:t>4)</a:t>
            </a:r>
            <a:r>
              <a:rPr sz="2800" spc="-55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Oldest</a:t>
            </a:r>
            <a:r>
              <a:rPr sz="2800" spc="-65" dirty="0">
                <a:latin typeface="Arial MT"/>
                <a:cs typeface="Arial MT"/>
              </a:rPr>
              <a:t> </a:t>
            </a:r>
            <a:r>
              <a:rPr sz="2800" spc="-10" dirty="0">
                <a:latin typeface="Arial MT"/>
                <a:cs typeface="Arial MT"/>
              </a:rPr>
              <a:t>rocks:</a:t>
            </a:r>
            <a:r>
              <a:rPr sz="2800" dirty="0">
                <a:latin typeface="Arial MT"/>
                <a:cs typeface="Arial MT"/>
              </a:rPr>
              <a:t>	Acasta</a:t>
            </a:r>
            <a:r>
              <a:rPr sz="2800" spc="-95" dirty="0">
                <a:latin typeface="Arial MT"/>
                <a:cs typeface="Arial MT"/>
              </a:rPr>
              <a:t> </a:t>
            </a:r>
            <a:r>
              <a:rPr sz="2800" spc="-10" dirty="0">
                <a:latin typeface="Arial MT"/>
                <a:cs typeface="Arial MT"/>
              </a:rPr>
              <a:t>gneiss </a:t>
            </a:r>
            <a:r>
              <a:rPr sz="2800" dirty="0">
                <a:latin typeface="Arial MT"/>
                <a:cs typeface="Arial MT"/>
              </a:rPr>
              <a:t>(NW</a:t>
            </a:r>
            <a:r>
              <a:rPr sz="2800" spc="-65" dirty="0">
                <a:latin typeface="Arial MT"/>
                <a:cs typeface="Arial MT"/>
              </a:rPr>
              <a:t> </a:t>
            </a:r>
            <a:r>
              <a:rPr sz="2800" spc="-10" dirty="0">
                <a:latin typeface="Arial MT"/>
                <a:cs typeface="Arial MT"/>
              </a:rPr>
              <a:t>Canada):</a:t>
            </a:r>
            <a:r>
              <a:rPr sz="2800" dirty="0">
                <a:latin typeface="Arial MT"/>
                <a:cs typeface="Arial MT"/>
              </a:rPr>
              <a:t>	4.03</a:t>
            </a:r>
            <a:r>
              <a:rPr sz="2800" spc="-45" dirty="0">
                <a:latin typeface="Arial MT"/>
                <a:cs typeface="Arial MT"/>
              </a:rPr>
              <a:t> </a:t>
            </a:r>
            <a:r>
              <a:rPr sz="2800" spc="-25" dirty="0">
                <a:latin typeface="Arial MT"/>
                <a:cs typeface="Arial MT"/>
              </a:rPr>
              <a:t>Ga.</a:t>
            </a:r>
            <a:endParaRPr sz="2800" dirty="0">
              <a:latin typeface="Arial MT"/>
              <a:cs typeface="Arial MT"/>
            </a:endParaRPr>
          </a:p>
          <a:p>
            <a:pPr marL="927100" marR="1502410">
              <a:lnSpc>
                <a:spcPct val="127499"/>
              </a:lnSpc>
              <a:spcBef>
                <a:spcPts val="815"/>
              </a:spcBef>
            </a:pPr>
            <a:r>
              <a:rPr sz="2000" dirty="0">
                <a:latin typeface="Arial MT"/>
                <a:cs typeface="Arial MT"/>
              </a:rPr>
              <a:t>Other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rocks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from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Greenland,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spc="-55" dirty="0">
                <a:latin typeface="Arial MT"/>
                <a:cs typeface="Arial MT"/>
              </a:rPr>
              <a:t>W.</a:t>
            </a:r>
            <a:r>
              <a:rPr sz="2000" spc="-13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Australia, </a:t>
            </a:r>
            <a:r>
              <a:rPr sz="2000" dirty="0">
                <a:latin typeface="Arial MT"/>
                <a:cs typeface="Arial MT"/>
              </a:rPr>
              <a:t>Antarctica,</a:t>
            </a:r>
            <a:r>
              <a:rPr sz="2000" spc="-6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China,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Wyoming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are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3.80~3.96</a:t>
            </a:r>
            <a:r>
              <a:rPr sz="2000" spc="-65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Ga.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2226945" y="-17440"/>
            <a:ext cx="469265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1"/>
                </a:solidFill>
              </a:rPr>
              <a:t>Age</a:t>
            </a:r>
            <a:r>
              <a:rPr spc="-6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of</a:t>
            </a:r>
            <a:r>
              <a:rPr spc="-45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the</a:t>
            </a:r>
            <a:r>
              <a:rPr spc="-6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Earth</a:t>
            </a:r>
            <a:endParaRPr spc="-2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77000" y="4596384"/>
            <a:ext cx="2485644" cy="207263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0600" y="990600"/>
            <a:ext cx="7467600" cy="4683252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3863" y="6043676"/>
            <a:ext cx="8986520" cy="772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715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000000"/>
                </a:solidFill>
                <a:latin typeface="Times New Roman"/>
                <a:cs typeface="Times New Roman"/>
              </a:rPr>
              <a:t>4.03</a:t>
            </a:r>
            <a:r>
              <a:rPr sz="2400" b="1" spc="8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400" b="1" spc="-10" dirty="0">
                <a:solidFill>
                  <a:srgbClr val="000000"/>
                </a:solidFill>
                <a:latin typeface="Times New Roman"/>
                <a:cs typeface="Times New Roman"/>
              </a:rPr>
              <a:t>billion-</a:t>
            </a:r>
            <a:r>
              <a:rPr sz="2400" b="1" spc="-25" dirty="0">
                <a:solidFill>
                  <a:srgbClr val="000000"/>
                </a:solidFill>
                <a:latin typeface="Times New Roman"/>
                <a:cs typeface="Times New Roman"/>
              </a:rPr>
              <a:t>year-old</a:t>
            </a: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2400" b="1" dirty="0">
                <a:solidFill>
                  <a:srgbClr val="000000"/>
                </a:solidFill>
                <a:latin typeface="Times New Roman"/>
                <a:cs typeface="Times New Roman"/>
              </a:rPr>
              <a:t>Acasta</a:t>
            </a:r>
            <a:r>
              <a:rPr sz="2400" b="1" spc="-1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400" b="1" dirty="0">
                <a:solidFill>
                  <a:srgbClr val="000000"/>
                </a:solidFill>
                <a:latin typeface="Times New Roman"/>
                <a:cs typeface="Times New Roman"/>
              </a:rPr>
              <a:t>Gneiss</a:t>
            </a:r>
            <a:r>
              <a:rPr sz="2400" dirty="0">
                <a:solidFill>
                  <a:srgbClr val="000000"/>
                </a:solidFill>
                <a:latin typeface="Times New Roman"/>
                <a:cs typeface="Times New Roman"/>
              </a:rPr>
              <a:t>,</a:t>
            </a:r>
            <a:r>
              <a:rPr sz="2400" spc="-2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000000"/>
                </a:solidFill>
                <a:latin typeface="Times New Roman"/>
                <a:cs typeface="Times New Roman"/>
              </a:rPr>
              <a:t>NW</a:t>
            </a:r>
            <a:r>
              <a:rPr sz="2400" spc="-5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000000"/>
                </a:solidFill>
                <a:latin typeface="Times New Roman"/>
                <a:cs typeface="Times New Roman"/>
              </a:rPr>
              <a:t>Canada:</a:t>
            </a:r>
            <a:r>
              <a:rPr sz="2400" spc="-3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000000"/>
                </a:solidFill>
                <a:latin typeface="Times New Roman"/>
                <a:cs typeface="Times New Roman"/>
              </a:rPr>
              <a:t>oldest</a:t>
            </a:r>
            <a:r>
              <a:rPr sz="2400" spc="-3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000000"/>
                </a:solidFill>
                <a:latin typeface="Times New Roman"/>
                <a:cs typeface="Times New Roman"/>
              </a:rPr>
              <a:t>known intact</a:t>
            </a:r>
            <a:r>
              <a:rPr sz="2400" spc="-5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000000"/>
                </a:solidFill>
                <a:latin typeface="Times New Roman"/>
                <a:cs typeface="Times New Roman"/>
              </a:rPr>
              <a:t>piece</a:t>
            </a:r>
            <a:r>
              <a:rPr sz="2400" spc="-3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000000"/>
                </a:solidFill>
                <a:latin typeface="Times New Roman"/>
                <a:cs typeface="Times New Roman"/>
              </a:rPr>
              <a:t>of</a:t>
            </a:r>
            <a:r>
              <a:rPr sz="2400" spc="-1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400" spc="-10" dirty="0">
                <a:solidFill>
                  <a:srgbClr val="000000"/>
                </a:solidFill>
                <a:latin typeface="Times New Roman"/>
                <a:cs typeface="Times New Roman"/>
              </a:rPr>
              <a:t>Earth’s</a:t>
            </a:r>
            <a:r>
              <a:rPr sz="2400" spc="-3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2400" spc="-10" dirty="0">
                <a:solidFill>
                  <a:srgbClr val="000000"/>
                </a:solidFill>
                <a:latin typeface="Times New Roman"/>
                <a:cs typeface="Times New Roman"/>
              </a:rPr>
              <a:t>surface</a:t>
            </a:r>
            <a:endParaRPr sz="2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215290" y="6389623"/>
            <a:ext cx="30067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Arial MT"/>
                <a:cs typeface="Arial MT"/>
              </a:rPr>
              <a:t>Valley</a:t>
            </a:r>
            <a:r>
              <a:rPr sz="1800" spc="-5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(2006)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i="1" dirty="0">
                <a:latin typeface="Arial"/>
                <a:cs typeface="Arial"/>
              </a:rPr>
              <a:t>Elements</a:t>
            </a:r>
            <a:r>
              <a:rPr sz="1800" i="1" spc="-3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2</a:t>
            </a:r>
            <a:r>
              <a:rPr sz="1800" spc="-10" dirty="0">
                <a:latin typeface="Arial MT"/>
                <a:cs typeface="Arial MT"/>
              </a:rPr>
              <a:t>:201</a:t>
            </a:r>
            <a:endParaRPr sz="1800" dirty="0">
              <a:latin typeface="Arial MT"/>
              <a:cs typeface="Arial M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E6EFC6-1006-41C8-82D8-E9F9F1028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021" y="1371600"/>
            <a:ext cx="8998405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0443" y="73152"/>
            <a:ext cx="9034145" cy="6327775"/>
            <a:chOff x="110443" y="73152"/>
            <a:chExt cx="9034145" cy="632777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0443" y="73152"/>
              <a:ext cx="9033556" cy="613562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571999" y="5486399"/>
              <a:ext cx="4419600" cy="914400"/>
            </a:xfrm>
            <a:custGeom>
              <a:avLst/>
              <a:gdLst/>
              <a:ahLst/>
              <a:cxnLst/>
              <a:rect l="l" t="t" r="r" b="b"/>
              <a:pathLst>
                <a:path w="4419600" h="914400">
                  <a:moveTo>
                    <a:pt x="4419600" y="0"/>
                  </a:moveTo>
                  <a:lnTo>
                    <a:pt x="0" y="0"/>
                  </a:lnTo>
                  <a:lnTo>
                    <a:pt x="0" y="914400"/>
                  </a:lnTo>
                  <a:lnTo>
                    <a:pt x="4419600" y="914400"/>
                  </a:lnTo>
                  <a:lnTo>
                    <a:pt x="44196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4804028" y="5589523"/>
            <a:ext cx="33140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FF9900"/>
                </a:solidFill>
              </a:rPr>
              <a:t>Rocks</a:t>
            </a:r>
            <a:r>
              <a:rPr sz="2400" spc="-55" dirty="0">
                <a:solidFill>
                  <a:srgbClr val="FF9900"/>
                </a:solidFill>
              </a:rPr>
              <a:t> </a:t>
            </a:r>
            <a:r>
              <a:rPr sz="2400" dirty="0">
                <a:solidFill>
                  <a:srgbClr val="FF9900"/>
                </a:solidFill>
              </a:rPr>
              <a:t>older</a:t>
            </a:r>
            <a:r>
              <a:rPr sz="2400" spc="-30" dirty="0">
                <a:solidFill>
                  <a:srgbClr val="FF9900"/>
                </a:solidFill>
              </a:rPr>
              <a:t> </a:t>
            </a:r>
            <a:r>
              <a:rPr sz="2400" dirty="0">
                <a:solidFill>
                  <a:srgbClr val="FF9900"/>
                </a:solidFill>
              </a:rPr>
              <a:t>than</a:t>
            </a:r>
            <a:r>
              <a:rPr sz="2400" spc="-60" dirty="0">
                <a:solidFill>
                  <a:srgbClr val="FF9900"/>
                </a:solidFill>
              </a:rPr>
              <a:t> </a:t>
            </a:r>
            <a:r>
              <a:rPr sz="2400" dirty="0">
                <a:solidFill>
                  <a:srgbClr val="FF9900"/>
                </a:solidFill>
              </a:rPr>
              <a:t>2.5</a:t>
            </a:r>
            <a:r>
              <a:rPr sz="2400" spc="-55" dirty="0">
                <a:solidFill>
                  <a:srgbClr val="FF9900"/>
                </a:solidFill>
              </a:rPr>
              <a:t> </a:t>
            </a:r>
            <a:r>
              <a:rPr sz="2400" spc="-25" dirty="0">
                <a:solidFill>
                  <a:srgbClr val="FF9900"/>
                </a:solidFill>
              </a:rPr>
              <a:t>Ga</a:t>
            </a:r>
            <a:endParaRPr sz="24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u="none" spc="-254" dirty="0">
                <a:latin typeface="Verdana"/>
                <a:cs typeface="Verdana"/>
              </a:rPr>
              <a:t>Divisions</a:t>
            </a:r>
            <a:r>
              <a:rPr b="0" u="none" spc="-315" dirty="0">
                <a:latin typeface="Verdana"/>
                <a:cs typeface="Verdana"/>
              </a:rPr>
              <a:t> </a:t>
            </a:r>
            <a:r>
              <a:rPr b="0" u="none" dirty="0">
                <a:latin typeface="Verdana"/>
                <a:cs typeface="Verdana"/>
              </a:rPr>
              <a:t>of</a:t>
            </a:r>
            <a:r>
              <a:rPr b="0" u="none" spc="-310" dirty="0">
                <a:latin typeface="Verdana"/>
                <a:cs typeface="Verdana"/>
              </a:rPr>
              <a:t> </a:t>
            </a:r>
            <a:r>
              <a:rPr b="0" u="none" spc="-280" dirty="0">
                <a:latin typeface="Verdana"/>
                <a:cs typeface="Verdana"/>
              </a:rPr>
              <a:t>Time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540" y="1540205"/>
            <a:ext cx="8470265" cy="45421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88900" algn="just">
              <a:lnSpc>
                <a:spcPct val="100000"/>
              </a:lnSpc>
              <a:spcBef>
                <a:spcPts val="95"/>
              </a:spcBef>
            </a:pPr>
            <a:r>
              <a:rPr sz="2250" spc="175" dirty="0">
                <a:latin typeface="Lucida Sans Unicode"/>
                <a:cs typeface="Lucida Sans Unicode"/>
              </a:rPr>
              <a:t>▶</a:t>
            </a:r>
            <a:r>
              <a:rPr sz="2250" spc="10" dirty="0">
                <a:latin typeface="Lucida Sans Unicode"/>
                <a:cs typeface="Lucida Sans Unicode"/>
              </a:rPr>
              <a:t> </a:t>
            </a:r>
            <a:r>
              <a:rPr sz="2800" b="1" spc="-20" dirty="0">
                <a:latin typeface="Tahoma"/>
                <a:cs typeface="Tahoma"/>
              </a:rPr>
              <a:t>EON</a:t>
            </a:r>
            <a:r>
              <a:rPr sz="2800" b="1" spc="-50" dirty="0">
                <a:latin typeface="Tahoma"/>
                <a:cs typeface="Tahoma"/>
              </a:rPr>
              <a:t> </a:t>
            </a:r>
            <a:r>
              <a:rPr sz="2800" spc="-395" dirty="0">
                <a:latin typeface="Verdana"/>
                <a:cs typeface="Verdana"/>
              </a:rPr>
              <a:t>–</a:t>
            </a:r>
            <a:r>
              <a:rPr sz="2800" spc="-215" dirty="0">
                <a:latin typeface="Verdana"/>
                <a:cs typeface="Verdana"/>
              </a:rPr>
              <a:t> </a:t>
            </a:r>
            <a:r>
              <a:rPr sz="2800" spc="-95" dirty="0">
                <a:latin typeface="Verdana"/>
                <a:cs typeface="Verdana"/>
              </a:rPr>
              <a:t>largest</a:t>
            </a:r>
            <a:r>
              <a:rPr sz="2800" spc="-180" dirty="0">
                <a:latin typeface="Verdana"/>
                <a:cs typeface="Verdana"/>
              </a:rPr>
              <a:t> </a:t>
            </a:r>
            <a:r>
              <a:rPr sz="2800" spc="-120" dirty="0">
                <a:latin typeface="Verdana"/>
                <a:cs typeface="Verdana"/>
              </a:rPr>
              <a:t>division</a:t>
            </a:r>
            <a:r>
              <a:rPr sz="2800" spc="-240" dirty="0">
                <a:latin typeface="Verdana"/>
                <a:cs typeface="Verdana"/>
              </a:rPr>
              <a:t> </a:t>
            </a:r>
            <a:r>
              <a:rPr sz="2800" dirty="0">
                <a:latin typeface="Verdana"/>
                <a:cs typeface="Verdana"/>
              </a:rPr>
              <a:t>of</a:t>
            </a:r>
            <a:r>
              <a:rPr sz="2800" spc="-210" dirty="0">
                <a:latin typeface="Verdana"/>
                <a:cs typeface="Verdana"/>
              </a:rPr>
              <a:t> </a:t>
            </a:r>
            <a:r>
              <a:rPr sz="2800" spc="70" dirty="0">
                <a:latin typeface="Verdana"/>
                <a:cs typeface="Verdana"/>
              </a:rPr>
              <a:t>geologic</a:t>
            </a:r>
            <a:r>
              <a:rPr sz="2800" spc="-204" dirty="0">
                <a:latin typeface="Verdana"/>
                <a:cs typeface="Verdana"/>
              </a:rPr>
              <a:t> </a:t>
            </a:r>
            <a:r>
              <a:rPr sz="2800" spc="-20" dirty="0">
                <a:latin typeface="Verdana"/>
                <a:cs typeface="Verdana"/>
              </a:rPr>
              <a:t>time</a:t>
            </a:r>
            <a:endParaRPr sz="2800" dirty="0">
              <a:latin typeface="Verdana"/>
              <a:cs typeface="Verdana"/>
            </a:endParaRPr>
          </a:p>
          <a:p>
            <a:pPr algn="just">
              <a:lnSpc>
                <a:spcPct val="100000"/>
              </a:lnSpc>
              <a:spcBef>
                <a:spcPts val="620"/>
              </a:spcBef>
            </a:pPr>
            <a:endParaRPr sz="2800" dirty="0">
              <a:latin typeface="Verdana"/>
              <a:cs typeface="Verdana"/>
            </a:endParaRPr>
          </a:p>
          <a:p>
            <a:pPr marL="88900" algn="just">
              <a:lnSpc>
                <a:spcPct val="100000"/>
              </a:lnSpc>
            </a:pPr>
            <a:r>
              <a:rPr sz="2250" spc="175" dirty="0">
                <a:latin typeface="Lucida Sans Unicode"/>
                <a:cs typeface="Lucida Sans Unicode"/>
              </a:rPr>
              <a:t>▶</a:t>
            </a:r>
            <a:r>
              <a:rPr sz="2250" spc="-15" dirty="0">
                <a:latin typeface="Lucida Sans Unicode"/>
                <a:cs typeface="Lucida Sans Unicode"/>
              </a:rPr>
              <a:t> </a:t>
            </a:r>
            <a:r>
              <a:rPr sz="2800" b="1" spc="-200" dirty="0">
                <a:latin typeface="Tahoma"/>
                <a:cs typeface="Tahoma"/>
              </a:rPr>
              <a:t>ERA</a:t>
            </a:r>
            <a:r>
              <a:rPr sz="2800" b="1" spc="-35" dirty="0">
                <a:latin typeface="Tahoma"/>
                <a:cs typeface="Tahoma"/>
              </a:rPr>
              <a:t> </a:t>
            </a:r>
            <a:r>
              <a:rPr sz="2800" spc="-395" dirty="0">
                <a:latin typeface="Verdana"/>
                <a:cs typeface="Verdana"/>
              </a:rPr>
              <a:t>–</a:t>
            </a:r>
            <a:r>
              <a:rPr sz="2800" spc="-215" dirty="0">
                <a:latin typeface="Verdana"/>
                <a:cs typeface="Verdana"/>
              </a:rPr>
              <a:t> </a:t>
            </a:r>
            <a:r>
              <a:rPr sz="2800" dirty="0">
                <a:latin typeface="Verdana"/>
                <a:cs typeface="Verdana"/>
              </a:rPr>
              <a:t>2</a:t>
            </a:r>
            <a:r>
              <a:rPr sz="2775" baseline="25525" dirty="0">
                <a:latin typeface="Verdana"/>
                <a:cs typeface="Verdana"/>
              </a:rPr>
              <a:t>nd</a:t>
            </a:r>
            <a:r>
              <a:rPr sz="2775" spc="165" baseline="25525" dirty="0">
                <a:latin typeface="Verdana"/>
                <a:cs typeface="Verdana"/>
              </a:rPr>
              <a:t> </a:t>
            </a:r>
            <a:r>
              <a:rPr sz="2800" spc="-110" dirty="0">
                <a:latin typeface="Verdana"/>
                <a:cs typeface="Verdana"/>
              </a:rPr>
              <a:t>largest,</a:t>
            </a:r>
            <a:r>
              <a:rPr sz="2800" spc="-200" dirty="0">
                <a:latin typeface="Verdana"/>
                <a:cs typeface="Verdana"/>
              </a:rPr>
              <a:t> </a:t>
            </a:r>
            <a:r>
              <a:rPr sz="2800" spc="-50" dirty="0">
                <a:latin typeface="Verdana"/>
                <a:cs typeface="Verdana"/>
              </a:rPr>
              <a:t>includes</a:t>
            </a:r>
            <a:r>
              <a:rPr sz="2800" spc="-215" dirty="0">
                <a:latin typeface="Verdana"/>
                <a:cs typeface="Verdana"/>
              </a:rPr>
              <a:t> </a:t>
            </a:r>
            <a:r>
              <a:rPr sz="2800" dirty="0">
                <a:latin typeface="Verdana"/>
                <a:cs typeface="Verdana"/>
              </a:rPr>
              <a:t>two</a:t>
            </a:r>
            <a:r>
              <a:rPr sz="2800" spc="-204" dirty="0">
                <a:latin typeface="Verdana"/>
                <a:cs typeface="Verdana"/>
              </a:rPr>
              <a:t> </a:t>
            </a:r>
            <a:r>
              <a:rPr sz="2800" spc="-125" dirty="0">
                <a:latin typeface="Verdana"/>
                <a:cs typeface="Verdana"/>
              </a:rPr>
              <a:t>or</a:t>
            </a:r>
            <a:r>
              <a:rPr sz="2800" spc="-210" dirty="0">
                <a:latin typeface="Verdana"/>
                <a:cs typeface="Verdana"/>
              </a:rPr>
              <a:t> </a:t>
            </a:r>
            <a:r>
              <a:rPr sz="2800" spc="-55" dirty="0">
                <a:latin typeface="Verdana"/>
                <a:cs typeface="Verdana"/>
              </a:rPr>
              <a:t>more</a:t>
            </a:r>
            <a:r>
              <a:rPr sz="2800" spc="-210" dirty="0">
                <a:latin typeface="Verdana"/>
                <a:cs typeface="Verdana"/>
              </a:rPr>
              <a:t> </a:t>
            </a:r>
            <a:r>
              <a:rPr sz="2800" spc="-10" dirty="0">
                <a:latin typeface="Verdana"/>
                <a:cs typeface="Verdana"/>
              </a:rPr>
              <a:t>periods</a:t>
            </a:r>
            <a:endParaRPr sz="2800" dirty="0">
              <a:latin typeface="Verdana"/>
              <a:cs typeface="Verdana"/>
            </a:endParaRPr>
          </a:p>
          <a:p>
            <a:pPr algn="just">
              <a:lnSpc>
                <a:spcPct val="100000"/>
              </a:lnSpc>
              <a:spcBef>
                <a:spcPts val="1290"/>
              </a:spcBef>
            </a:pPr>
            <a:endParaRPr sz="2800" dirty="0">
              <a:latin typeface="Verdana"/>
              <a:cs typeface="Verdana"/>
            </a:endParaRPr>
          </a:p>
          <a:p>
            <a:pPr marL="431800" marR="550545" indent="-342900" algn="just">
              <a:lnSpc>
                <a:spcPct val="80000"/>
              </a:lnSpc>
              <a:spcBef>
                <a:spcPts val="5"/>
              </a:spcBef>
            </a:pPr>
            <a:r>
              <a:rPr sz="2250" spc="175" dirty="0">
                <a:latin typeface="Lucida Sans Unicode"/>
                <a:cs typeface="Lucida Sans Unicode"/>
              </a:rPr>
              <a:t>▶</a:t>
            </a:r>
            <a:r>
              <a:rPr sz="2250" spc="-70" dirty="0">
                <a:latin typeface="Lucida Sans Unicode"/>
                <a:cs typeface="Lucida Sans Unicode"/>
              </a:rPr>
              <a:t> </a:t>
            </a:r>
            <a:r>
              <a:rPr sz="2800" b="1" spc="-270" dirty="0">
                <a:latin typeface="Tahoma"/>
                <a:cs typeface="Tahoma"/>
              </a:rPr>
              <a:t>PERIOD</a:t>
            </a:r>
            <a:r>
              <a:rPr sz="2800" b="1" spc="-30" dirty="0">
                <a:latin typeface="Tahoma"/>
                <a:cs typeface="Tahoma"/>
              </a:rPr>
              <a:t> </a:t>
            </a:r>
            <a:r>
              <a:rPr sz="2800" spc="-395" dirty="0">
                <a:latin typeface="Verdana"/>
                <a:cs typeface="Verdana"/>
              </a:rPr>
              <a:t>–</a:t>
            </a:r>
            <a:r>
              <a:rPr sz="2800" spc="-215" dirty="0">
                <a:latin typeface="Verdana"/>
                <a:cs typeface="Verdana"/>
              </a:rPr>
              <a:t> </a:t>
            </a:r>
            <a:r>
              <a:rPr sz="2800" spc="-30" dirty="0">
                <a:latin typeface="Verdana"/>
                <a:cs typeface="Verdana"/>
              </a:rPr>
              <a:t>3</a:t>
            </a:r>
            <a:r>
              <a:rPr sz="2775" spc="-44" baseline="25525" dirty="0">
                <a:latin typeface="Verdana"/>
                <a:cs typeface="Verdana"/>
              </a:rPr>
              <a:t>rd</a:t>
            </a:r>
            <a:r>
              <a:rPr sz="2775" spc="157" baseline="25525" dirty="0">
                <a:latin typeface="Verdana"/>
                <a:cs typeface="Verdana"/>
              </a:rPr>
              <a:t> </a:t>
            </a:r>
            <a:r>
              <a:rPr sz="2800" spc="-114" dirty="0">
                <a:latin typeface="Verdana"/>
                <a:cs typeface="Verdana"/>
              </a:rPr>
              <a:t>largest,</a:t>
            </a:r>
            <a:r>
              <a:rPr sz="2800" spc="-185" dirty="0">
                <a:latin typeface="Verdana"/>
                <a:cs typeface="Verdana"/>
              </a:rPr>
              <a:t> </a:t>
            </a:r>
            <a:r>
              <a:rPr sz="2800" spc="-135" dirty="0">
                <a:latin typeface="Verdana"/>
                <a:cs typeface="Verdana"/>
              </a:rPr>
              <a:t>unit</a:t>
            </a:r>
            <a:r>
              <a:rPr sz="2800" spc="-210" dirty="0">
                <a:latin typeface="Verdana"/>
                <a:cs typeface="Verdana"/>
              </a:rPr>
              <a:t> </a:t>
            </a:r>
            <a:r>
              <a:rPr sz="2800" spc="-85" dirty="0">
                <a:latin typeface="Verdana"/>
                <a:cs typeface="Verdana"/>
              </a:rPr>
              <a:t>into</a:t>
            </a:r>
            <a:r>
              <a:rPr sz="2800" spc="-210" dirty="0">
                <a:latin typeface="Verdana"/>
                <a:cs typeface="Verdana"/>
              </a:rPr>
              <a:t> </a:t>
            </a:r>
            <a:r>
              <a:rPr sz="2800" dirty="0">
                <a:latin typeface="Verdana"/>
                <a:cs typeface="Verdana"/>
              </a:rPr>
              <a:t>which</a:t>
            </a:r>
            <a:r>
              <a:rPr sz="2800" spc="-220" dirty="0">
                <a:latin typeface="Verdana"/>
                <a:cs typeface="Verdana"/>
              </a:rPr>
              <a:t> </a:t>
            </a:r>
            <a:r>
              <a:rPr sz="2800" spc="-100" dirty="0">
                <a:latin typeface="Verdana"/>
                <a:cs typeface="Verdana"/>
              </a:rPr>
              <a:t>eras</a:t>
            </a:r>
            <a:r>
              <a:rPr sz="2800" spc="-204" dirty="0">
                <a:latin typeface="Verdana"/>
                <a:cs typeface="Verdana"/>
              </a:rPr>
              <a:t> </a:t>
            </a:r>
            <a:r>
              <a:rPr sz="2800" spc="-25" dirty="0">
                <a:latin typeface="Verdana"/>
                <a:cs typeface="Verdana"/>
              </a:rPr>
              <a:t>are </a:t>
            </a:r>
            <a:r>
              <a:rPr sz="2800" spc="-10" dirty="0">
                <a:latin typeface="Verdana"/>
                <a:cs typeface="Verdana"/>
              </a:rPr>
              <a:t>divided</a:t>
            </a:r>
            <a:endParaRPr sz="2800" dirty="0">
              <a:latin typeface="Verdana"/>
              <a:cs typeface="Verdana"/>
            </a:endParaRPr>
          </a:p>
          <a:p>
            <a:pPr marL="1975485" marR="70485" indent="-1887220" algn="just">
              <a:lnSpc>
                <a:spcPts val="7380"/>
              </a:lnSpc>
              <a:spcBef>
                <a:spcPts val="705"/>
              </a:spcBef>
            </a:pPr>
            <a:r>
              <a:rPr sz="2250" spc="175" dirty="0">
                <a:latin typeface="Lucida Sans Unicode"/>
                <a:cs typeface="Lucida Sans Unicode"/>
              </a:rPr>
              <a:t>▶</a:t>
            </a:r>
            <a:r>
              <a:rPr sz="2250" spc="-110" dirty="0">
                <a:latin typeface="Lucida Sans Unicode"/>
                <a:cs typeface="Lucida Sans Unicode"/>
              </a:rPr>
              <a:t> </a:t>
            </a:r>
            <a:r>
              <a:rPr sz="2800" b="1" spc="-40" dirty="0">
                <a:latin typeface="Tahoma"/>
                <a:cs typeface="Tahoma"/>
              </a:rPr>
              <a:t>EPOCH</a:t>
            </a:r>
            <a:r>
              <a:rPr sz="2800" b="1" spc="-75" dirty="0">
                <a:latin typeface="Tahoma"/>
                <a:cs typeface="Tahoma"/>
              </a:rPr>
              <a:t> </a:t>
            </a:r>
            <a:r>
              <a:rPr sz="2800" spc="-395" dirty="0">
                <a:latin typeface="Verdana"/>
                <a:cs typeface="Verdana"/>
              </a:rPr>
              <a:t>–</a:t>
            </a:r>
            <a:r>
              <a:rPr sz="2800" spc="-215" dirty="0">
                <a:latin typeface="Verdana"/>
                <a:cs typeface="Verdana"/>
              </a:rPr>
              <a:t> </a:t>
            </a:r>
            <a:r>
              <a:rPr sz="2800" spc="-50" dirty="0">
                <a:latin typeface="Verdana"/>
                <a:cs typeface="Verdana"/>
              </a:rPr>
              <a:t>4</a:t>
            </a:r>
            <a:r>
              <a:rPr sz="2775" spc="-75" baseline="25525" dirty="0">
                <a:latin typeface="Verdana"/>
                <a:cs typeface="Verdana"/>
              </a:rPr>
              <a:t>th</a:t>
            </a:r>
            <a:r>
              <a:rPr sz="2775" spc="127" baseline="25525" dirty="0">
                <a:latin typeface="Verdana"/>
                <a:cs typeface="Verdana"/>
              </a:rPr>
              <a:t> </a:t>
            </a:r>
            <a:r>
              <a:rPr sz="2800" spc="-110" dirty="0">
                <a:latin typeface="Verdana"/>
                <a:cs typeface="Verdana"/>
              </a:rPr>
              <a:t>largest,</a:t>
            </a:r>
            <a:r>
              <a:rPr sz="2800" spc="-200" dirty="0">
                <a:latin typeface="Verdana"/>
                <a:cs typeface="Verdana"/>
              </a:rPr>
              <a:t> </a:t>
            </a:r>
            <a:r>
              <a:rPr sz="2800" spc="-20" dirty="0">
                <a:latin typeface="Verdana"/>
                <a:cs typeface="Verdana"/>
              </a:rPr>
              <a:t>the</a:t>
            </a:r>
            <a:r>
              <a:rPr sz="2800" spc="-220" dirty="0">
                <a:latin typeface="Verdana"/>
                <a:cs typeface="Verdana"/>
              </a:rPr>
              <a:t> </a:t>
            </a:r>
            <a:r>
              <a:rPr sz="2800" spc="-120" dirty="0">
                <a:latin typeface="Verdana"/>
                <a:cs typeface="Verdana"/>
              </a:rPr>
              <a:t>subdivision</a:t>
            </a:r>
            <a:r>
              <a:rPr sz="2800" spc="-229" dirty="0">
                <a:latin typeface="Verdana"/>
                <a:cs typeface="Verdana"/>
              </a:rPr>
              <a:t> </a:t>
            </a:r>
            <a:r>
              <a:rPr sz="2800" dirty="0">
                <a:latin typeface="Verdana"/>
                <a:cs typeface="Verdana"/>
              </a:rPr>
              <a:t>of</a:t>
            </a:r>
            <a:r>
              <a:rPr sz="2800" spc="-240" dirty="0">
                <a:latin typeface="Verdana"/>
                <a:cs typeface="Verdana"/>
              </a:rPr>
              <a:t> </a:t>
            </a:r>
            <a:r>
              <a:rPr sz="2800" spc="215" dirty="0">
                <a:latin typeface="Verdana"/>
                <a:cs typeface="Verdana"/>
              </a:rPr>
              <a:t>a</a:t>
            </a:r>
            <a:r>
              <a:rPr sz="2800" spc="-250" dirty="0">
                <a:latin typeface="Verdana"/>
                <a:cs typeface="Verdana"/>
              </a:rPr>
              <a:t> </a:t>
            </a:r>
            <a:r>
              <a:rPr sz="2800" spc="-10" dirty="0">
                <a:latin typeface="Verdana"/>
                <a:cs typeface="Verdana"/>
              </a:rPr>
              <a:t>period </a:t>
            </a:r>
            <a:r>
              <a:rPr sz="2800" spc="-40" dirty="0">
                <a:latin typeface="Verdana"/>
                <a:cs typeface="Verdana"/>
              </a:rPr>
              <a:t>EON</a:t>
            </a:r>
            <a:r>
              <a:rPr sz="2800" spc="-185" dirty="0">
                <a:latin typeface="Verdana"/>
                <a:cs typeface="Verdana"/>
              </a:rPr>
              <a:t> </a:t>
            </a:r>
            <a:r>
              <a:rPr sz="2800" spc="-595" dirty="0">
                <a:latin typeface="Verdana"/>
                <a:cs typeface="Verdana"/>
              </a:rPr>
              <a:t>&gt;</a:t>
            </a:r>
            <a:r>
              <a:rPr sz="2800" spc="-200" dirty="0">
                <a:latin typeface="Verdana"/>
                <a:cs typeface="Verdana"/>
              </a:rPr>
              <a:t> </a:t>
            </a:r>
            <a:r>
              <a:rPr sz="2800" spc="-140" dirty="0">
                <a:latin typeface="Verdana"/>
                <a:cs typeface="Verdana"/>
              </a:rPr>
              <a:t>ERA</a:t>
            </a:r>
            <a:r>
              <a:rPr sz="2800" spc="-195" dirty="0">
                <a:latin typeface="Verdana"/>
                <a:cs typeface="Verdana"/>
              </a:rPr>
              <a:t> </a:t>
            </a:r>
            <a:r>
              <a:rPr sz="2800" spc="-595" dirty="0">
                <a:solidFill>
                  <a:srgbClr val="FFFFFF"/>
                </a:solidFill>
                <a:latin typeface="Verdana"/>
                <a:cs typeface="Verdana"/>
              </a:rPr>
              <a:t>&gt;</a:t>
            </a:r>
            <a:r>
              <a:rPr sz="2800" spc="-20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800" spc="-170" dirty="0">
                <a:solidFill>
                  <a:srgbClr val="FFFFFF"/>
                </a:solidFill>
                <a:latin typeface="Verdana"/>
                <a:cs typeface="Verdana"/>
              </a:rPr>
              <a:t>PERIOD</a:t>
            </a:r>
            <a:r>
              <a:rPr sz="2800" spc="-18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800" spc="-595" dirty="0">
                <a:solidFill>
                  <a:srgbClr val="FFFFFF"/>
                </a:solidFill>
                <a:latin typeface="Verdana"/>
                <a:cs typeface="Verdana"/>
              </a:rPr>
              <a:t>&gt;</a:t>
            </a:r>
            <a:r>
              <a:rPr sz="2800" spc="-190" dirty="0">
                <a:solidFill>
                  <a:srgbClr val="FFFFFF"/>
                </a:solidFill>
                <a:latin typeface="Verdana"/>
                <a:cs typeface="Verdana"/>
              </a:rPr>
              <a:t> </a:t>
            </a:r>
            <a:r>
              <a:rPr sz="2800" spc="-10" dirty="0">
                <a:solidFill>
                  <a:srgbClr val="FFFFFF"/>
                </a:solidFill>
                <a:latin typeface="Verdana"/>
                <a:cs typeface="Verdana"/>
              </a:rPr>
              <a:t>EPOCH</a:t>
            </a:r>
            <a:endParaRPr sz="2800" dirty="0">
              <a:latin typeface="Verdana"/>
              <a:cs typeface="Verdan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1206" y="569467"/>
            <a:ext cx="4216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25" dirty="0">
                <a:solidFill>
                  <a:srgbClr val="FFFFFF"/>
                </a:solidFill>
                <a:latin typeface="Arial MT"/>
                <a:cs typeface="Arial MT"/>
              </a:rPr>
              <a:t>14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-28903" y="279103"/>
            <a:ext cx="3551733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u="none" spc="-210" dirty="0">
                <a:cs typeface="Verdana"/>
              </a:rPr>
              <a:t>EONS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8600" y="1219200"/>
            <a:ext cx="9144000" cy="4302973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355600" marR="257175" indent="-342900">
              <a:lnSpc>
                <a:spcPct val="150000"/>
              </a:lnSpc>
              <a:spcBef>
                <a:spcPts val="705"/>
              </a:spcBef>
            </a:pPr>
            <a:r>
              <a:rPr sz="2050" spc="195" dirty="0">
                <a:solidFill>
                  <a:srgbClr val="89D0D5"/>
                </a:solidFill>
                <a:latin typeface="Lucida Sans Unicode"/>
                <a:cs typeface="Lucida Sans Unicode"/>
              </a:rPr>
              <a:t>▶</a:t>
            </a:r>
            <a:r>
              <a:rPr sz="2050" spc="270" dirty="0">
                <a:solidFill>
                  <a:srgbClr val="89D0D5"/>
                </a:solidFill>
                <a:latin typeface="Lucida Sans Unicode"/>
                <a:cs typeface="Lucida Sans Unicode"/>
              </a:rPr>
              <a:t> </a:t>
            </a:r>
            <a:r>
              <a:rPr sz="2600" b="1" dirty="0">
                <a:latin typeface="Tahoma"/>
                <a:cs typeface="Tahoma"/>
              </a:rPr>
              <a:t>Hadean</a:t>
            </a:r>
            <a:r>
              <a:rPr sz="2600" b="1" spc="-35" dirty="0">
                <a:latin typeface="Tahoma"/>
                <a:cs typeface="Tahoma"/>
              </a:rPr>
              <a:t> </a:t>
            </a:r>
            <a:r>
              <a:rPr sz="2600" spc="-365" dirty="0">
                <a:latin typeface="Verdana"/>
                <a:cs typeface="Verdana"/>
              </a:rPr>
              <a:t>–</a:t>
            </a:r>
            <a:r>
              <a:rPr sz="2600" spc="-150" dirty="0">
                <a:latin typeface="Verdana"/>
                <a:cs typeface="Verdana"/>
              </a:rPr>
              <a:t> </a:t>
            </a:r>
            <a:r>
              <a:rPr sz="2600" spc="-105" dirty="0">
                <a:latin typeface="Verdana"/>
                <a:cs typeface="Verdana"/>
              </a:rPr>
              <a:t>rocks</a:t>
            </a:r>
            <a:r>
              <a:rPr sz="2600" spc="-150" dirty="0">
                <a:latin typeface="Verdana"/>
                <a:cs typeface="Verdana"/>
              </a:rPr>
              <a:t> </a:t>
            </a:r>
            <a:r>
              <a:rPr sz="2600" spc="-114" dirty="0">
                <a:latin typeface="Verdana"/>
                <a:cs typeface="Verdana"/>
              </a:rPr>
              <a:t>from</a:t>
            </a:r>
            <a:r>
              <a:rPr sz="2600" spc="-155" dirty="0">
                <a:latin typeface="Verdana"/>
                <a:cs typeface="Verdana"/>
              </a:rPr>
              <a:t> </a:t>
            </a:r>
            <a:r>
              <a:rPr sz="2600" spc="-85" dirty="0">
                <a:latin typeface="Verdana"/>
                <a:cs typeface="Verdana"/>
              </a:rPr>
              <a:t>meteorites</a:t>
            </a:r>
            <a:r>
              <a:rPr sz="2600" spc="-190" dirty="0">
                <a:latin typeface="Verdana"/>
                <a:cs typeface="Verdana"/>
              </a:rPr>
              <a:t> </a:t>
            </a:r>
            <a:r>
              <a:rPr sz="2600" spc="65" dirty="0">
                <a:latin typeface="Verdana"/>
                <a:cs typeface="Verdana"/>
              </a:rPr>
              <a:t>and </a:t>
            </a:r>
            <a:r>
              <a:rPr sz="2600" spc="-20" dirty="0">
                <a:latin typeface="Verdana"/>
                <a:cs typeface="Verdana"/>
              </a:rPr>
              <a:t>moon</a:t>
            </a:r>
            <a:endParaRPr sz="2600" dirty="0">
              <a:latin typeface="Verdana"/>
              <a:cs typeface="Verdana"/>
            </a:endParaRPr>
          </a:p>
          <a:p>
            <a:pPr marL="12700">
              <a:lnSpc>
                <a:spcPct val="150000"/>
              </a:lnSpc>
              <a:spcBef>
                <a:spcPts val="5"/>
              </a:spcBef>
            </a:pPr>
            <a:r>
              <a:rPr sz="2050" spc="195" dirty="0">
                <a:latin typeface="Lucida Sans Unicode"/>
                <a:cs typeface="Lucida Sans Unicode"/>
              </a:rPr>
              <a:t>▶</a:t>
            </a:r>
            <a:r>
              <a:rPr sz="2050" spc="280" dirty="0">
                <a:latin typeface="Lucida Sans Unicode"/>
                <a:cs typeface="Lucida Sans Unicode"/>
              </a:rPr>
              <a:t> </a:t>
            </a:r>
            <a:r>
              <a:rPr sz="2600" b="1" dirty="0">
                <a:latin typeface="Tahoma"/>
                <a:cs typeface="Tahoma"/>
              </a:rPr>
              <a:t>Archean</a:t>
            </a:r>
            <a:r>
              <a:rPr sz="2600" b="1" spc="-5" dirty="0">
                <a:latin typeface="Tahoma"/>
                <a:cs typeface="Tahoma"/>
              </a:rPr>
              <a:t> </a:t>
            </a:r>
            <a:r>
              <a:rPr sz="2600" spc="-365" dirty="0">
                <a:latin typeface="Verdana"/>
                <a:cs typeface="Verdana"/>
              </a:rPr>
              <a:t>–</a:t>
            </a:r>
            <a:r>
              <a:rPr sz="2600" spc="-145" dirty="0">
                <a:latin typeface="Verdana"/>
                <a:cs typeface="Verdana"/>
              </a:rPr>
              <a:t> </a:t>
            </a:r>
            <a:r>
              <a:rPr sz="2600" spc="-100" dirty="0">
                <a:latin typeface="Verdana"/>
                <a:cs typeface="Verdana"/>
              </a:rPr>
              <a:t>earliest</a:t>
            </a:r>
            <a:r>
              <a:rPr sz="2600" spc="-145" dirty="0">
                <a:latin typeface="Verdana"/>
                <a:cs typeface="Verdana"/>
              </a:rPr>
              <a:t> </a:t>
            </a:r>
            <a:r>
              <a:rPr sz="2600" spc="-105" dirty="0">
                <a:latin typeface="Verdana"/>
                <a:cs typeface="Verdana"/>
              </a:rPr>
              <a:t>rocks</a:t>
            </a:r>
            <a:r>
              <a:rPr sz="2600" spc="-145" dirty="0">
                <a:latin typeface="Verdana"/>
                <a:cs typeface="Verdana"/>
              </a:rPr>
              <a:t> </a:t>
            </a:r>
            <a:r>
              <a:rPr sz="2600" dirty="0">
                <a:latin typeface="Verdana"/>
                <a:cs typeface="Verdana"/>
              </a:rPr>
              <a:t>on</a:t>
            </a:r>
            <a:r>
              <a:rPr sz="2600" spc="-150" dirty="0">
                <a:latin typeface="Verdana"/>
                <a:cs typeface="Verdana"/>
              </a:rPr>
              <a:t> </a:t>
            </a:r>
            <a:r>
              <a:rPr sz="2600" spc="-40" dirty="0">
                <a:latin typeface="Verdana"/>
                <a:cs typeface="Verdana"/>
              </a:rPr>
              <a:t>earth</a:t>
            </a:r>
            <a:r>
              <a:rPr sz="2600" spc="-150" dirty="0">
                <a:latin typeface="Verdana"/>
                <a:cs typeface="Verdana"/>
              </a:rPr>
              <a:t> </a:t>
            </a:r>
            <a:r>
              <a:rPr sz="2600" spc="-40" dirty="0">
                <a:latin typeface="Verdana"/>
                <a:cs typeface="Verdana"/>
              </a:rPr>
              <a:t>form</a:t>
            </a:r>
            <a:r>
              <a:rPr lang="en-IN" sz="2600" spc="-40" dirty="0">
                <a:latin typeface="Verdana"/>
                <a:cs typeface="Verdana"/>
              </a:rPr>
              <a:t> “</a:t>
            </a:r>
            <a:r>
              <a:rPr lang="en-US" sz="2800" dirty="0"/>
              <a:t>Greek word </a:t>
            </a:r>
            <a:r>
              <a:rPr lang="en-US" sz="2800" i="1" dirty="0" err="1"/>
              <a:t>arkheios</a:t>
            </a:r>
            <a:r>
              <a:rPr lang="en-US" sz="2800" dirty="0"/>
              <a:t>, meaning "ancient" or "beginning."</a:t>
            </a:r>
            <a:endParaRPr sz="2600" dirty="0">
              <a:latin typeface="Verdana"/>
              <a:cs typeface="Verdana"/>
            </a:endParaRPr>
          </a:p>
          <a:p>
            <a:pPr marL="355600" marR="869950" indent="-342900">
              <a:lnSpc>
                <a:spcPct val="150000"/>
              </a:lnSpc>
              <a:spcBef>
                <a:spcPts val="5"/>
              </a:spcBef>
            </a:pPr>
            <a:r>
              <a:rPr sz="2050" spc="195" dirty="0">
                <a:latin typeface="Lucida Sans Unicode"/>
                <a:cs typeface="Lucida Sans Unicode"/>
              </a:rPr>
              <a:t>▶</a:t>
            </a:r>
            <a:r>
              <a:rPr sz="2050" spc="245" dirty="0">
                <a:latin typeface="Lucida Sans Unicode"/>
                <a:cs typeface="Lucida Sans Unicode"/>
              </a:rPr>
              <a:t> </a:t>
            </a:r>
            <a:r>
              <a:rPr sz="2600" b="1" spc="-90" dirty="0">
                <a:latin typeface="Tahoma"/>
                <a:cs typeface="Tahoma"/>
              </a:rPr>
              <a:t>Proterozoic</a:t>
            </a:r>
            <a:r>
              <a:rPr sz="2600" b="1" spc="-45" dirty="0">
                <a:latin typeface="Tahoma"/>
                <a:cs typeface="Tahoma"/>
              </a:rPr>
              <a:t> </a:t>
            </a:r>
            <a:r>
              <a:rPr sz="2600" spc="-365" dirty="0">
                <a:latin typeface="Verdana"/>
                <a:cs typeface="Verdana"/>
              </a:rPr>
              <a:t>–</a:t>
            </a:r>
            <a:r>
              <a:rPr sz="2600" spc="-170" dirty="0">
                <a:latin typeface="Verdana"/>
                <a:cs typeface="Verdana"/>
              </a:rPr>
              <a:t> </a:t>
            </a:r>
            <a:r>
              <a:rPr sz="2600" spc="-110" dirty="0">
                <a:latin typeface="Verdana"/>
                <a:cs typeface="Verdana"/>
              </a:rPr>
              <a:t>organisms</a:t>
            </a:r>
            <a:r>
              <a:rPr sz="2600" spc="-165" dirty="0">
                <a:latin typeface="Verdana"/>
                <a:cs typeface="Verdana"/>
              </a:rPr>
              <a:t> </a:t>
            </a:r>
            <a:r>
              <a:rPr sz="2600" spc="-110" dirty="0">
                <a:latin typeface="Verdana"/>
                <a:cs typeface="Verdana"/>
              </a:rPr>
              <a:t>with</a:t>
            </a:r>
            <a:r>
              <a:rPr sz="2600" spc="-170" dirty="0">
                <a:latin typeface="Verdana"/>
                <a:cs typeface="Verdana"/>
              </a:rPr>
              <a:t> </a:t>
            </a:r>
            <a:r>
              <a:rPr sz="2600" spc="-20" dirty="0">
                <a:latin typeface="Verdana"/>
                <a:cs typeface="Verdana"/>
              </a:rPr>
              <a:t>well </a:t>
            </a:r>
            <a:r>
              <a:rPr sz="2600" spc="75" dirty="0">
                <a:latin typeface="Verdana"/>
                <a:cs typeface="Verdana"/>
              </a:rPr>
              <a:t>developed</a:t>
            </a:r>
            <a:r>
              <a:rPr sz="2600" spc="-245" dirty="0">
                <a:latin typeface="Verdana"/>
                <a:cs typeface="Verdana"/>
              </a:rPr>
              <a:t> </a:t>
            </a:r>
            <a:r>
              <a:rPr sz="2600" spc="-20" dirty="0">
                <a:latin typeface="Verdana"/>
                <a:cs typeface="Verdana"/>
              </a:rPr>
              <a:t>cells</a:t>
            </a:r>
            <a:r>
              <a:rPr lang="en-IN" sz="2600" spc="-20" dirty="0">
                <a:latin typeface="Verdana"/>
                <a:cs typeface="Verdana"/>
              </a:rPr>
              <a:t> “earlier life”</a:t>
            </a:r>
            <a:endParaRPr sz="2600" dirty="0">
              <a:latin typeface="Verdana"/>
              <a:cs typeface="Verdana"/>
            </a:endParaRPr>
          </a:p>
          <a:p>
            <a:pPr marL="355600" marR="455930" indent="-342900">
              <a:lnSpc>
                <a:spcPct val="150000"/>
              </a:lnSpc>
            </a:pPr>
            <a:r>
              <a:rPr sz="2050" spc="195" dirty="0">
                <a:latin typeface="Lucida Sans Unicode"/>
                <a:cs typeface="Lucida Sans Unicode"/>
              </a:rPr>
              <a:t>▶</a:t>
            </a:r>
            <a:r>
              <a:rPr sz="2050" spc="225" dirty="0">
                <a:latin typeface="Lucida Sans Unicode"/>
                <a:cs typeface="Lucida Sans Unicode"/>
              </a:rPr>
              <a:t> </a:t>
            </a:r>
            <a:r>
              <a:rPr sz="2600" b="1" spc="-45" dirty="0">
                <a:latin typeface="Tahoma"/>
                <a:cs typeface="Tahoma"/>
              </a:rPr>
              <a:t>Phanerozoic</a:t>
            </a:r>
            <a:r>
              <a:rPr sz="2600" b="1" spc="-70" dirty="0">
                <a:latin typeface="Tahoma"/>
                <a:cs typeface="Tahoma"/>
              </a:rPr>
              <a:t> </a:t>
            </a:r>
            <a:r>
              <a:rPr sz="2600" spc="-365" dirty="0">
                <a:latin typeface="Verdana"/>
                <a:cs typeface="Verdana"/>
              </a:rPr>
              <a:t>–</a:t>
            </a:r>
            <a:r>
              <a:rPr sz="2600" spc="-190" dirty="0">
                <a:latin typeface="Verdana"/>
                <a:cs typeface="Verdana"/>
              </a:rPr>
              <a:t> </a:t>
            </a:r>
            <a:r>
              <a:rPr sz="2600" spc="-30" dirty="0">
                <a:latin typeface="Verdana"/>
                <a:cs typeface="Verdana"/>
              </a:rPr>
              <a:t>means</a:t>
            </a:r>
            <a:r>
              <a:rPr sz="2600" spc="-195" dirty="0">
                <a:latin typeface="Verdana"/>
                <a:cs typeface="Verdana"/>
              </a:rPr>
              <a:t> </a:t>
            </a:r>
            <a:r>
              <a:rPr sz="2600" spc="-85" dirty="0">
                <a:latin typeface="Verdana"/>
                <a:cs typeface="Verdana"/>
              </a:rPr>
              <a:t>“visible</a:t>
            </a:r>
            <a:r>
              <a:rPr sz="2600" spc="-190" dirty="0">
                <a:latin typeface="Verdana"/>
                <a:cs typeface="Verdana"/>
              </a:rPr>
              <a:t> </a:t>
            </a:r>
            <a:r>
              <a:rPr sz="2600" spc="-10" dirty="0">
                <a:latin typeface="Verdana"/>
                <a:cs typeface="Verdana"/>
              </a:rPr>
              <a:t>life” </a:t>
            </a:r>
            <a:r>
              <a:rPr sz="2600" spc="-75" dirty="0">
                <a:latin typeface="Verdana"/>
                <a:cs typeface="Verdana"/>
              </a:rPr>
              <a:t>well</a:t>
            </a:r>
            <a:r>
              <a:rPr sz="2600" spc="-140" dirty="0">
                <a:latin typeface="Verdana"/>
                <a:cs typeface="Verdana"/>
              </a:rPr>
              <a:t> </a:t>
            </a:r>
            <a:r>
              <a:rPr sz="2600" spc="-45" dirty="0">
                <a:latin typeface="Verdana"/>
                <a:cs typeface="Verdana"/>
              </a:rPr>
              <a:t>represented</a:t>
            </a:r>
            <a:r>
              <a:rPr sz="2600" spc="-180" dirty="0">
                <a:latin typeface="Verdana"/>
                <a:cs typeface="Verdana"/>
              </a:rPr>
              <a:t> </a:t>
            </a:r>
            <a:r>
              <a:rPr sz="2600" spc="-135" dirty="0">
                <a:latin typeface="Verdana"/>
                <a:cs typeface="Verdana"/>
              </a:rPr>
              <a:t>in</a:t>
            </a:r>
            <a:r>
              <a:rPr sz="2600" spc="-145" dirty="0">
                <a:latin typeface="Verdana"/>
                <a:cs typeface="Verdana"/>
              </a:rPr>
              <a:t> </a:t>
            </a:r>
            <a:r>
              <a:rPr sz="2600" spc="-30" dirty="0">
                <a:latin typeface="Verdana"/>
                <a:cs typeface="Verdana"/>
              </a:rPr>
              <a:t>the</a:t>
            </a:r>
            <a:r>
              <a:rPr sz="2600" spc="-170" dirty="0">
                <a:latin typeface="Verdana"/>
                <a:cs typeface="Verdana"/>
              </a:rPr>
              <a:t> </a:t>
            </a:r>
            <a:r>
              <a:rPr sz="2600" spc="-190" dirty="0">
                <a:latin typeface="Verdana"/>
                <a:cs typeface="Verdana"/>
              </a:rPr>
              <a:t>fossil</a:t>
            </a:r>
            <a:r>
              <a:rPr sz="2600" spc="-145" dirty="0">
                <a:latin typeface="Verdana"/>
                <a:cs typeface="Verdana"/>
              </a:rPr>
              <a:t> </a:t>
            </a:r>
            <a:r>
              <a:rPr sz="2600" spc="-10" dirty="0">
                <a:latin typeface="Verdana"/>
                <a:cs typeface="Verdana"/>
              </a:rPr>
              <a:t>record</a:t>
            </a:r>
            <a:endParaRPr sz="2600" dirty="0">
              <a:latin typeface="Verdana"/>
              <a:cs typeface="Verdan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1206" y="569467"/>
            <a:ext cx="4216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25" dirty="0">
                <a:solidFill>
                  <a:srgbClr val="FFFFFF"/>
                </a:solidFill>
                <a:latin typeface="Arial MT"/>
                <a:cs typeface="Arial MT"/>
              </a:rPr>
              <a:t>15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8739" y="60452"/>
            <a:ext cx="3550920" cy="8489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Palatino Linotype"/>
                <a:cs typeface="Palatino Linotype"/>
              </a:rPr>
              <a:t>Eons:</a:t>
            </a:r>
            <a:endParaRPr sz="1800">
              <a:latin typeface="Palatino Linotype"/>
              <a:cs typeface="Palatino Linotype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solidFill>
                  <a:srgbClr val="FFFFFF"/>
                </a:solidFill>
                <a:latin typeface="Palatino Linotype"/>
                <a:cs typeface="Palatino Linotype"/>
              </a:rPr>
              <a:t>Precambrian:</a:t>
            </a:r>
            <a:r>
              <a:rPr sz="1800" spc="370" dirty="0">
                <a:solidFill>
                  <a:srgbClr val="FFFFFF"/>
                </a:solidFill>
                <a:latin typeface="Palatino Linotype"/>
                <a:cs typeface="Palatino Linotype"/>
              </a:rPr>
              <a:t> </a:t>
            </a:r>
            <a:r>
              <a:rPr sz="1800" dirty="0">
                <a:solidFill>
                  <a:srgbClr val="FFFFFF"/>
                </a:solidFill>
                <a:latin typeface="Palatino Linotype"/>
                <a:cs typeface="Palatino Linotype"/>
              </a:rPr>
              <a:t>Earliest</a:t>
            </a:r>
            <a:r>
              <a:rPr sz="1800" spc="-40" dirty="0">
                <a:solidFill>
                  <a:srgbClr val="FFFFFF"/>
                </a:solidFill>
                <a:latin typeface="Palatino Linotype"/>
                <a:cs typeface="Palatino Linotype"/>
              </a:rPr>
              <a:t> </a:t>
            </a:r>
            <a:r>
              <a:rPr sz="1800" dirty="0">
                <a:solidFill>
                  <a:srgbClr val="FFFFFF"/>
                </a:solidFill>
                <a:latin typeface="Palatino Linotype"/>
                <a:cs typeface="Palatino Linotype"/>
              </a:rPr>
              <a:t>span</a:t>
            </a:r>
            <a:r>
              <a:rPr sz="1800" spc="-45" dirty="0">
                <a:solidFill>
                  <a:srgbClr val="FFFFFF"/>
                </a:solidFill>
                <a:latin typeface="Palatino Linotype"/>
                <a:cs typeface="Palatino Linotype"/>
              </a:rPr>
              <a:t> </a:t>
            </a:r>
            <a:r>
              <a:rPr sz="1800" dirty="0">
                <a:solidFill>
                  <a:srgbClr val="FFFFFF"/>
                </a:solidFill>
                <a:latin typeface="Palatino Linotype"/>
                <a:cs typeface="Palatino Linotype"/>
              </a:rPr>
              <a:t>of</a:t>
            </a:r>
            <a:r>
              <a:rPr sz="1800" spc="-30" dirty="0">
                <a:solidFill>
                  <a:srgbClr val="FFFFFF"/>
                </a:solidFill>
                <a:latin typeface="Palatino Linotype"/>
                <a:cs typeface="Palatino Linotype"/>
              </a:rPr>
              <a:t> </a:t>
            </a:r>
            <a:r>
              <a:rPr sz="1800" spc="-20" dirty="0">
                <a:solidFill>
                  <a:srgbClr val="FFFFFF"/>
                </a:solidFill>
                <a:latin typeface="Palatino Linotype"/>
                <a:cs typeface="Palatino Linotype"/>
              </a:rPr>
              <a:t>time</a:t>
            </a:r>
            <a:endParaRPr sz="1800">
              <a:latin typeface="Palatino Linotype"/>
              <a:cs typeface="Palatino Linotype"/>
            </a:endParaRPr>
          </a:p>
          <a:p>
            <a:pPr marL="12700">
              <a:lnSpc>
                <a:spcPct val="100000"/>
              </a:lnSpc>
              <a:tabLst>
                <a:tab pos="1492885" algn="l"/>
              </a:tabLst>
            </a:pPr>
            <a:r>
              <a:rPr sz="1800" spc="-10" dirty="0">
                <a:solidFill>
                  <a:srgbClr val="FFFFFF"/>
                </a:solidFill>
                <a:latin typeface="Palatino Linotype"/>
                <a:cs typeface="Palatino Linotype"/>
              </a:rPr>
              <a:t>Phanerozoic:</a:t>
            </a:r>
            <a:r>
              <a:rPr sz="1800" dirty="0">
                <a:solidFill>
                  <a:srgbClr val="FFFFFF"/>
                </a:solidFill>
                <a:latin typeface="Palatino Linotype"/>
                <a:cs typeface="Palatino Linotype"/>
              </a:rPr>
              <a:t>	Everything</a:t>
            </a:r>
            <a:r>
              <a:rPr sz="1800" spc="-90" dirty="0">
                <a:solidFill>
                  <a:srgbClr val="FFFFFF"/>
                </a:solidFill>
                <a:latin typeface="Palatino Linotype"/>
                <a:cs typeface="Palatino Linotype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Palatino Linotype"/>
                <a:cs typeface="Palatino Linotype"/>
              </a:rPr>
              <a:t>since</a:t>
            </a:r>
            <a:endParaRPr sz="1800">
              <a:latin typeface="Palatino Linotype"/>
              <a:cs typeface="Palatino Linotype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285950" y="1203705"/>
            <a:ext cx="1143938" cy="1120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b="1" u="sng" spc="-10" dirty="0">
                <a:uFill>
                  <a:solidFill>
                    <a:srgbClr val="FFFFFF"/>
                  </a:solidFill>
                </a:uFill>
                <a:latin typeface="+mj-lt"/>
                <a:cs typeface="Palatino Linotype"/>
              </a:rPr>
              <a:t>Eras:</a:t>
            </a:r>
            <a:r>
              <a:rPr sz="1800" b="1" spc="-10" dirty="0">
                <a:latin typeface="+mj-lt"/>
                <a:cs typeface="Palatino Linotype"/>
              </a:rPr>
              <a:t> </a:t>
            </a:r>
            <a:r>
              <a:rPr sz="1800" spc="-10" dirty="0">
                <a:latin typeface="+mj-lt"/>
                <a:cs typeface="Palatino Linotype"/>
              </a:rPr>
              <a:t>Paleozoic Mesozoic Cenozoic</a:t>
            </a:r>
            <a:endParaRPr sz="1800" dirty="0">
              <a:latin typeface="+mj-lt"/>
              <a:cs typeface="Palatino Linotype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261228" y="1356105"/>
            <a:ext cx="2077085" cy="4131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908685">
              <a:lnSpc>
                <a:spcPct val="100000"/>
              </a:lnSpc>
              <a:spcBef>
                <a:spcPts val="100"/>
              </a:spcBef>
            </a:pPr>
            <a:r>
              <a:rPr sz="1800" b="1" u="sng" spc="-10" dirty="0">
                <a:uFill>
                  <a:solidFill>
                    <a:srgbClr val="FFFFFF"/>
                  </a:solidFill>
                </a:uFill>
                <a:latin typeface="+mj-lt"/>
                <a:cs typeface="Palatino Linotype"/>
              </a:rPr>
              <a:t>Periods:</a:t>
            </a:r>
            <a:r>
              <a:rPr sz="1800" b="1" spc="-10" dirty="0">
                <a:latin typeface="+mj-lt"/>
                <a:cs typeface="Palatino Linotype"/>
              </a:rPr>
              <a:t> </a:t>
            </a:r>
            <a:r>
              <a:rPr sz="1800" spc="-10" dirty="0">
                <a:latin typeface="+mj-lt"/>
                <a:cs typeface="Palatino Linotype"/>
              </a:rPr>
              <a:t>Cambrian Ordovician Silurian Devonian</a:t>
            </a:r>
            <a:endParaRPr sz="1800" dirty="0">
              <a:latin typeface="+mj-lt"/>
              <a:cs typeface="Palatino Linotype"/>
            </a:endParaRPr>
          </a:p>
          <a:p>
            <a:pPr marL="12700">
              <a:lnSpc>
                <a:spcPts val="2090"/>
              </a:lnSpc>
              <a:spcBef>
                <a:spcPts val="650"/>
              </a:spcBef>
            </a:pPr>
            <a:r>
              <a:rPr sz="1800" spc="-10" dirty="0">
                <a:latin typeface="+mj-lt"/>
                <a:cs typeface="Palatino Linotype"/>
              </a:rPr>
              <a:t>Carboniferous</a:t>
            </a:r>
            <a:endParaRPr sz="1800" dirty="0">
              <a:latin typeface="+mj-lt"/>
              <a:cs typeface="Palatino Linotype"/>
            </a:endParaRPr>
          </a:p>
          <a:p>
            <a:pPr marL="12700">
              <a:lnSpc>
                <a:spcPts val="1610"/>
              </a:lnSpc>
            </a:pPr>
            <a:r>
              <a:rPr sz="1400" i="1" dirty="0">
                <a:latin typeface="+mj-lt"/>
                <a:cs typeface="Palatino Linotype"/>
              </a:rPr>
              <a:t>(Missipp.</a:t>
            </a:r>
            <a:r>
              <a:rPr sz="1400" i="1" spc="-55" dirty="0">
                <a:latin typeface="+mj-lt"/>
                <a:cs typeface="Palatino Linotype"/>
              </a:rPr>
              <a:t> </a:t>
            </a:r>
            <a:r>
              <a:rPr sz="1400" i="1" dirty="0">
                <a:latin typeface="+mj-lt"/>
                <a:cs typeface="Palatino Linotype"/>
              </a:rPr>
              <a:t>&amp;</a:t>
            </a:r>
            <a:r>
              <a:rPr sz="1400" i="1" spc="-10" dirty="0">
                <a:latin typeface="+mj-lt"/>
                <a:cs typeface="Palatino Linotype"/>
              </a:rPr>
              <a:t> Pennsylvanian)</a:t>
            </a:r>
            <a:endParaRPr sz="1400" dirty="0">
              <a:latin typeface="+mj-lt"/>
              <a:cs typeface="Palatino Linotype"/>
            </a:endParaRPr>
          </a:p>
          <a:p>
            <a:pPr marL="12700" marR="886460">
              <a:lnSpc>
                <a:spcPct val="100000"/>
              </a:lnSpc>
              <a:spcBef>
                <a:spcPts val="190"/>
              </a:spcBef>
            </a:pPr>
            <a:r>
              <a:rPr sz="1800" spc="-10" dirty="0">
                <a:latin typeface="+mj-lt"/>
                <a:cs typeface="Palatino Linotype"/>
              </a:rPr>
              <a:t>Permian Triassic Jurassic Cretaceous Paleogene Neogene Quaternary</a:t>
            </a:r>
            <a:endParaRPr sz="1800" dirty="0">
              <a:latin typeface="+mj-lt"/>
              <a:cs typeface="Palatino Linotype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623809" y="3188001"/>
            <a:ext cx="1445006" cy="1122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b="1" u="sng" spc="-10" dirty="0">
                <a:uFill>
                  <a:solidFill>
                    <a:srgbClr val="FFFFFF"/>
                  </a:solidFill>
                </a:uFill>
                <a:latin typeface="+mj-lt"/>
                <a:cs typeface="Palatino Linotype"/>
              </a:rPr>
              <a:t>Epochs:</a:t>
            </a:r>
            <a:r>
              <a:rPr sz="1800" b="1" spc="-10" dirty="0">
                <a:latin typeface="+mj-lt"/>
                <a:cs typeface="Palatino Linotype"/>
              </a:rPr>
              <a:t> </a:t>
            </a:r>
            <a:r>
              <a:rPr sz="1800" spc="-10" dirty="0">
                <a:latin typeface="+mj-lt"/>
                <a:cs typeface="Palatino Linotype"/>
              </a:rPr>
              <a:t>Paleocene Eocene Oligocene</a:t>
            </a:r>
            <a:endParaRPr sz="1800" dirty="0">
              <a:latin typeface="+mj-lt"/>
              <a:cs typeface="Palatino Linotype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623809" y="4557217"/>
            <a:ext cx="889635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+mj-lt"/>
                <a:cs typeface="Palatino Linotype"/>
              </a:rPr>
              <a:t>Miocene</a:t>
            </a:r>
            <a:endParaRPr sz="1800">
              <a:latin typeface="+mj-lt"/>
              <a:cs typeface="Palatino Linotype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latin typeface="+mj-lt"/>
                <a:cs typeface="Palatino Linotype"/>
              </a:rPr>
              <a:t>Pliocene</a:t>
            </a:r>
            <a:endParaRPr sz="1800">
              <a:latin typeface="+mj-lt"/>
              <a:cs typeface="Palatino Linotype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610641" y="5389481"/>
            <a:ext cx="144500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+mj-lt"/>
                <a:cs typeface="Palatino Linotype"/>
              </a:rPr>
              <a:t>Pleistocene Holocene</a:t>
            </a:r>
            <a:endParaRPr sz="1800">
              <a:latin typeface="+mj-lt"/>
              <a:cs typeface="Palatino Linotype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431407" y="3657600"/>
            <a:ext cx="1112520" cy="920750"/>
          </a:xfrm>
          <a:custGeom>
            <a:avLst/>
            <a:gdLst/>
            <a:ahLst/>
            <a:cxnLst/>
            <a:rect l="l" t="t" r="r" b="b"/>
            <a:pathLst>
              <a:path w="1112520" h="920750">
                <a:moveTo>
                  <a:pt x="1112393" y="0"/>
                </a:moveTo>
                <a:lnTo>
                  <a:pt x="1029335" y="19050"/>
                </a:lnTo>
                <a:lnTo>
                  <a:pt x="1049566" y="43586"/>
                </a:lnTo>
                <a:lnTo>
                  <a:pt x="0" y="909447"/>
                </a:lnTo>
                <a:lnTo>
                  <a:pt x="3949" y="914273"/>
                </a:lnTo>
                <a:lnTo>
                  <a:pt x="6096" y="920369"/>
                </a:lnTo>
                <a:lnTo>
                  <a:pt x="1042377" y="564184"/>
                </a:lnTo>
                <a:lnTo>
                  <a:pt x="1052703" y="594233"/>
                </a:lnTo>
                <a:lnTo>
                  <a:pt x="1098054" y="548005"/>
                </a:lnTo>
                <a:lnTo>
                  <a:pt x="1112393" y="533400"/>
                </a:lnTo>
                <a:lnTo>
                  <a:pt x="1027938" y="522097"/>
                </a:lnTo>
                <a:lnTo>
                  <a:pt x="1038250" y="552145"/>
                </a:lnTo>
                <a:lnTo>
                  <a:pt x="71831" y="884389"/>
                </a:lnTo>
                <a:lnTo>
                  <a:pt x="1048715" y="347103"/>
                </a:lnTo>
                <a:lnTo>
                  <a:pt x="1064006" y="374904"/>
                </a:lnTo>
                <a:lnTo>
                  <a:pt x="1095121" y="329819"/>
                </a:lnTo>
                <a:lnTo>
                  <a:pt x="1112393" y="304800"/>
                </a:lnTo>
                <a:lnTo>
                  <a:pt x="1027303" y="308102"/>
                </a:lnTo>
                <a:lnTo>
                  <a:pt x="1042593" y="335940"/>
                </a:lnTo>
                <a:lnTo>
                  <a:pt x="60667" y="876007"/>
                </a:lnTo>
                <a:lnTo>
                  <a:pt x="1057668" y="53403"/>
                </a:lnTo>
                <a:lnTo>
                  <a:pt x="1077849" y="77851"/>
                </a:lnTo>
                <a:lnTo>
                  <a:pt x="1096606" y="35560"/>
                </a:lnTo>
                <a:lnTo>
                  <a:pt x="1112393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>
              <a:latin typeface="+mj-l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323711" y="4691633"/>
            <a:ext cx="1109345" cy="288925"/>
          </a:xfrm>
          <a:custGeom>
            <a:avLst/>
            <a:gdLst/>
            <a:ahLst/>
            <a:cxnLst/>
            <a:rect l="l" t="t" r="r" b="b"/>
            <a:pathLst>
              <a:path w="1109345" h="288925">
                <a:moveTo>
                  <a:pt x="1109218" y="32766"/>
                </a:moveTo>
                <a:lnTo>
                  <a:pt x="1104341" y="30734"/>
                </a:lnTo>
                <a:lnTo>
                  <a:pt x="1030605" y="0"/>
                </a:lnTo>
                <a:lnTo>
                  <a:pt x="1032700" y="30734"/>
                </a:lnTo>
                <a:lnTo>
                  <a:pt x="1032764" y="31610"/>
                </a:lnTo>
                <a:lnTo>
                  <a:pt x="508" y="102616"/>
                </a:lnTo>
                <a:lnTo>
                  <a:pt x="889" y="108966"/>
                </a:lnTo>
                <a:lnTo>
                  <a:pt x="0" y="115316"/>
                </a:lnTo>
                <a:lnTo>
                  <a:pt x="1032903" y="257238"/>
                </a:lnTo>
                <a:lnTo>
                  <a:pt x="1028573" y="288671"/>
                </a:lnTo>
                <a:lnTo>
                  <a:pt x="1109218" y="261366"/>
                </a:lnTo>
                <a:lnTo>
                  <a:pt x="1105687" y="258953"/>
                </a:lnTo>
                <a:lnTo>
                  <a:pt x="1038987" y="213233"/>
                </a:lnTo>
                <a:lnTo>
                  <a:pt x="1034643" y="244652"/>
                </a:lnTo>
                <a:lnTo>
                  <a:pt x="63169" y="111061"/>
                </a:lnTo>
                <a:lnTo>
                  <a:pt x="1033640" y="44310"/>
                </a:lnTo>
                <a:lnTo>
                  <a:pt x="1035812" y="75946"/>
                </a:lnTo>
                <a:lnTo>
                  <a:pt x="1109218" y="3276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>
              <a:latin typeface="+mj-l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431788" y="5099430"/>
            <a:ext cx="1001394" cy="692150"/>
          </a:xfrm>
          <a:custGeom>
            <a:avLst/>
            <a:gdLst/>
            <a:ahLst/>
            <a:cxnLst/>
            <a:rect l="l" t="t" r="r" b="b"/>
            <a:pathLst>
              <a:path w="1001395" h="692150">
                <a:moveTo>
                  <a:pt x="1001141" y="386969"/>
                </a:moveTo>
                <a:lnTo>
                  <a:pt x="985761" y="370205"/>
                </a:lnTo>
                <a:lnTo>
                  <a:pt x="943610" y="324231"/>
                </a:lnTo>
                <a:lnTo>
                  <a:pt x="932281" y="353872"/>
                </a:lnTo>
                <a:lnTo>
                  <a:pt x="5969" y="0"/>
                </a:lnTo>
                <a:lnTo>
                  <a:pt x="3759" y="5765"/>
                </a:lnTo>
                <a:lnTo>
                  <a:pt x="0" y="11176"/>
                </a:lnTo>
                <a:lnTo>
                  <a:pt x="934796" y="653834"/>
                </a:lnTo>
                <a:lnTo>
                  <a:pt x="916813" y="679996"/>
                </a:lnTo>
                <a:lnTo>
                  <a:pt x="1001141" y="691769"/>
                </a:lnTo>
                <a:lnTo>
                  <a:pt x="984161" y="661022"/>
                </a:lnTo>
                <a:lnTo>
                  <a:pt x="959993" y="617207"/>
                </a:lnTo>
                <a:lnTo>
                  <a:pt x="942009" y="643356"/>
                </a:lnTo>
                <a:lnTo>
                  <a:pt x="51117" y="30937"/>
                </a:lnTo>
                <a:lnTo>
                  <a:pt x="927760" y="365709"/>
                </a:lnTo>
                <a:lnTo>
                  <a:pt x="916432" y="395351"/>
                </a:lnTo>
                <a:lnTo>
                  <a:pt x="1001141" y="38696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>
              <a:latin typeface="+mj-l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953000" y="3733800"/>
            <a:ext cx="297180" cy="685800"/>
          </a:xfrm>
          <a:custGeom>
            <a:avLst/>
            <a:gdLst/>
            <a:ahLst/>
            <a:cxnLst/>
            <a:rect l="l" t="t" r="r" b="b"/>
            <a:pathLst>
              <a:path w="297179" h="685800">
                <a:moveTo>
                  <a:pt x="296925" y="685800"/>
                </a:moveTo>
                <a:lnTo>
                  <a:pt x="239117" y="681317"/>
                </a:lnTo>
                <a:lnTo>
                  <a:pt x="191928" y="669083"/>
                </a:lnTo>
                <a:lnTo>
                  <a:pt x="160123" y="650920"/>
                </a:lnTo>
                <a:lnTo>
                  <a:pt x="148462" y="628650"/>
                </a:lnTo>
                <a:lnTo>
                  <a:pt x="148462" y="400050"/>
                </a:lnTo>
                <a:lnTo>
                  <a:pt x="136784" y="377779"/>
                </a:lnTo>
                <a:lnTo>
                  <a:pt x="104949" y="359616"/>
                </a:lnTo>
                <a:lnTo>
                  <a:pt x="57755" y="347382"/>
                </a:lnTo>
                <a:lnTo>
                  <a:pt x="0" y="342900"/>
                </a:lnTo>
                <a:lnTo>
                  <a:pt x="57755" y="338417"/>
                </a:lnTo>
                <a:lnTo>
                  <a:pt x="104949" y="326183"/>
                </a:lnTo>
                <a:lnTo>
                  <a:pt x="136784" y="308020"/>
                </a:lnTo>
                <a:lnTo>
                  <a:pt x="148462" y="285750"/>
                </a:lnTo>
                <a:lnTo>
                  <a:pt x="148462" y="57150"/>
                </a:lnTo>
                <a:lnTo>
                  <a:pt x="160123" y="34879"/>
                </a:lnTo>
                <a:lnTo>
                  <a:pt x="191928" y="16716"/>
                </a:lnTo>
                <a:lnTo>
                  <a:pt x="239117" y="4482"/>
                </a:lnTo>
                <a:lnTo>
                  <a:pt x="296925" y="0"/>
                </a:lnTo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>
              <a:latin typeface="+mj-l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4953000" y="1676400"/>
            <a:ext cx="297180" cy="1981200"/>
          </a:xfrm>
          <a:custGeom>
            <a:avLst/>
            <a:gdLst/>
            <a:ahLst/>
            <a:cxnLst/>
            <a:rect l="l" t="t" r="r" b="b"/>
            <a:pathLst>
              <a:path w="297179" h="1981200">
                <a:moveTo>
                  <a:pt x="296925" y="1981200"/>
                </a:moveTo>
                <a:lnTo>
                  <a:pt x="249981" y="1972783"/>
                </a:lnTo>
                <a:lnTo>
                  <a:pt x="209224" y="1949346"/>
                </a:lnTo>
                <a:lnTo>
                  <a:pt x="177093" y="1913607"/>
                </a:lnTo>
                <a:lnTo>
                  <a:pt x="156027" y="1868285"/>
                </a:lnTo>
                <a:lnTo>
                  <a:pt x="148462" y="1816100"/>
                </a:lnTo>
                <a:lnTo>
                  <a:pt x="148462" y="1155700"/>
                </a:lnTo>
                <a:lnTo>
                  <a:pt x="140886" y="1103514"/>
                </a:lnTo>
                <a:lnTo>
                  <a:pt x="119795" y="1058192"/>
                </a:lnTo>
                <a:lnTo>
                  <a:pt x="87646" y="1022453"/>
                </a:lnTo>
                <a:lnTo>
                  <a:pt x="46895" y="999016"/>
                </a:lnTo>
                <a:lnTo>
                  <a:pt x="0" y="990600"/>
                </a:lnTo>
                <a:lnTo>
                  <a:pt x="46895" y="982183"/>
                </a:lnTo>
                <a:lnTo>
                  <a:pt x="87646" y="958746"/>
                </a:lnTo>
                <a:lnTo>
                  <a:pt x="119795" y="923007"/>
                </a:lnTo>
                <a:lnTo>
                  <a:pt x="140886" y="877685"/>
                </a:lnTo>
                <a:lnTo>
                  <a:pt x="148462" y="825500"/>
                </a:lnTo>
                <a:lnTo>
                  <a:pt x="148462" y="165100"/>
                </a:lnTo>
                <a:lnTo>
                  <a:pt x="156027" y="112914"/>
                </a:lnTo>
                <a:lnTo>
                  <a:pt x="177093" y="67592"/>
                </a:lnTo>
                <a:lnTo>
                  <a:pt x="209224" y="31853"/>
                </a:lnTo>
                <a:lnTo>
                  <a:pt x="249981" y="8416"/>
                </a:lnTo>
                <a:lnTo>
                  <a:pt x="296925" y="0"/>
                </a:lnTo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>
              <a:latin typeface="+mj-l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953000" y="4495800"/>
            <a:ext cx="297180" cy="762000"/>
          </a:xfrm>
          <a:custGeom>
            <a:avLst/>
            <a:gdLst/>
            <a:ahLst/>
            <a:cxnLst/>
            <a:rect l="l" t="t" r="r" b="b"/>
            <a:pathLst>
              <a:path w="297179" h="762000">
                <a:moveTo>
                  <a:pt x="296925" y="762000"/>
                </a:moveTo>
                <a:lnTo>
                  <a:pt x="239117" y="757007"/>
                </a:lnTo>
                <a:lnTo>
                  <a:pt x="191928" y="743394"/>
                </a:lnTo>
                <a:lnTo>
                  <a:pt x="160123" y="723209"/>
                </a:lnTo>
                <a:lnTo>
                  <a:pt x="148462" y="698500"/>
                </a:lnTo>
                <a:lnTo>
                  <a:pt x="148462" y="444500"/>
                </a:lnTo>
                <a:lnTo>
                  <a:pt x="136784" y="419790"/>
                </a:lnTo>
                <a:lnTo>
                  <a:pt x="104949" y="399605"/>
                </a:lnTo>
                <a:lnTo>
                  <a:pt x="57755" y="385992"/>
                </a:lnTo>
                <a:lnTo>
                  <a:pt x="0" y="381000"/>
                </a:lnTo>
                <a:lnTo>
                  <a:pt x="57755" y="376007"/>
                </a:lnTo>
                <a:lnTo>
                  <a:pt x="104949" y="362394"/>
                </a:lnTo>
                <a:lnTo>
                  <a:pt x="136784" y="342209"/>
                </a:lnTo>
                <a:lnTo>
                  <a:pt x="148462" y="317500"/>
                </a:lnTo>
                <a:lnTo>
                  <a:pt x="148462" y="63500"/>
                </a:lnTo>
                <a:lnTo>
                  <a:pt x="160123" y="38790"/>
                </a:lnTo>
                <a:lnTo>
                  <a:pt x="191928" y="18605"/>
                </a:lnTo>
                <a:lnTo>
                  <a:pt x="239117" y="4992"/>
                </a:lnTo>
                <a:lnTo>
                  <a:pt x="296925" y="0"/>
                </a:lnTo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>
              <a:latin typeface="+mj-l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998214" y="2382138"/>
            <a:ext cx="994410" cy="6381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35" algn="ctr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latin typeface="+mj-lt"/>
                <a:cs typeface="Palatino Linotype"/>
              </a:rPr>
              <a:t>Paleozoic</a:t>
            </a:r>
            <a:endParaRPr sz="1600" dirty="0">
              <a:latin typeface="+mj-lt"/>
              <a:cs typeface="Palatino Linotype"/>
            </a:endParaRPr>
          </a:p>
          <a:p>
            <a:pPr marL="635" algn="ctr">
              <a:lnSpc>
                <a:spcPct val="100000"/>
              </a:lnSpc>
              <a:spcBef>
                <a:spcPts val="30"/>
              </a:spcBef>
            </a:pPr>
            <a:r>
              <a:rPr sz="1200" dirty="0">
                <a:latin typeface="+mj-lt"/>
                <a:cs typeface="Palatino Linotype"/>
              </a:rPr>
              <a:t>“Age</a:t>
            </a:r>
            <a:r>
              <a:rPr sz="1200" spc="-30" dirty="0">
                <a:latin typeface="+mj-lt"/>
                <a:cs typeface="Palatino Linotype"/>
              </a:rPr>
              <a:t> </a:t>
            </a:r>
            <a:r>
              <a:rPr sz="1200" spc="-25" dirty="0">
                <a:latin typeface="+mj-lt"/>
                <a:cs typeface="Palatino Linotype"/>
              </a:rPr>
              <a:t>of</a:t>
            </a:r>
            <a:endParaRPr sz="1200" dirty="0">
              <a:latin typeface="+mj-lt"/>
              <a:cs typeface="Palatino Linotype"/>
            </a:endParaRPr>
          </a:p>
          <a:p>
            <a:pPr algn="ctr">
              <a:lnSpc>
                <a:spcPct val="100000"/>
              </a:lnSpc>
            </a:pPr>
            <a:r>
              <a:rPr sz="1200" spc="-10" dirty="0">
                <a:latin typeface="+mj-lt"/>
                <a:cs typeface="Palatino Linotype"/>
              </a:rPr>
              <a:t>Invertebrates”</a:t>
            </a:r>
            <a:endParaRPr sz="1200" dirty="0">
              <a:latin typeface="+mj-lt"/>
              <a:cs typeface="Palatino Linotype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740658" y="3827145"/>
            <a:ext cx="1206500" cy="488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+mj-lt"/>
                <a:cs typeface="Palatino Linotype"/>
              </a:rPr>
              <a:t>Mesozoic</a:t>
            </a:r>
            <a:endParaRPr sz="1800">
              <a:latin typeface="+mj-lt"/>
              <a:cs typeface="Palatino Linotype"/>
            </a:endParaRPr>
          </a:p>
          <a:p>
            <a:pPr algn="ctr">
              <a:lnSpc>
                <a:spcPct val="100000"/>
              </a:lnSpc>
              <a:spcBef>
                <a:spcPts val="45"/>
              </a:spcBef>
            </a:pPr>
            <a:r>
              <a:rPr sz="1200" dirty="0">
                <a:latin typeface="+mj-lt"/>
                <a:cs typeface="Palatino Linotype"/>
              </a:rPr>
              <a:t>“Age</a:t>
            </a:r>
            <a:r>
              <a:rPr sz="1200" spc="-25" dirty="0">
                <a:latin typeface="+mj-lt"/>
                <a:cs typeface="Palatino Linotype"/>
              </a:rPr>
              <a:t> </a:t>
            </a:r>
            <a:r>
              <a:rPr sz="1200" dirty="0">
                <a:latin typeface="+mj-lt"/>
                <a:cs typeface="Palatino Linotype"/>
              </a:rPr>
              <a:t>of</a:t>
            </a:r>
            <a:r>
              <a:rPr sz="1200" spc="-5" dirty="0">
                <a:latin typeface="+mj-lt"/>
                <a:cs typeface="Palatino Linotype"/>
              </a:rPr>
              <a:t> </a:t>
            </a:r>
            <a:r>
              <a:rPr sz="1200" spc="-10" dirty="0">
                <a:latin typeface="+mj-lt"/>
                <a:cs typeface="Palatino Linotype"/>
              </a:rPr>
              <a:t>Reptiles”</a:t>
            </a:r>
            <a:endParaRPr sz="1200">
              <a:latin typeface="+mj-lt"/>
              <a:cs typeface="Palatino Linotype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938778" y="4668773"/>
            <a:ext cx="963294" cy="6686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+mj-lt"/>
                <a:cs typeface="Palatino Linotype"/>
              </a:rPr>
              <a:t>Cenozoic</a:t>
            </a:r>
            <a:endParaRPr sz="1800">
              <a:latin typeface="+mj-lt"/>
              <a:cs typeface="Palatino Linotype"/>
            </a:endParaRPr>
          </a:p>
          <a:p>
            <a:pPr marL="105410" marR="99060" indent="-635" algn="ctr">
              <a:lnSpc>
                <a:spcPct val="100000"/>
              </a:lnSpc>
              <a:spcBef>
                <a:spcPts val="25"/>
              </a:spcBef>
            </a:pPr>
            <a:r>
              <a:rPr sz="1200" dirty="0">
                <a:latin typeface="+mj-lt"/>
                <a:cs typeface="Palatino Linotype"/>
              </a:rPr>
              <a:t>“Age</a:t>
            </a:r>
            <a:r>
              <a:rPr sz="1200" spc="-40" dirty="0">
                <a:latin typeface="+mj-lt"/>
                <a:cs typeface="Palatino Linotype"/>
              </a:rPr>
              <a:t> </a:t>
            </a:r>
            <a:r>
              <a:rPr sz="1200" spc="-25" dirty="0">
                <a:latin typeface="+mj-lt"/>
                <a:cs typeface="Palatino Linotype"/>
              </a:rPr>
              <a:t>of </a:t>
            </a:r>
            <a:r>
              <a:rPr sz="1200" spc="-10" dirty="0">
                <a:latin typeface="+mj-lt"/>
                <a:cs typeface="Palatino Linotype"/>
              </a:rPr>
              <a:t>Mammals”</a:t>
            </a:r>
            <a:endParaRPr sz="1200">
              <a:latin typeface="+mj-lt"/>
              <a:cs typeface="Palatino Linotype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912253" y="964120"/>
            <a:ext cx="1114425" cy="576580"/>
            <a:chOff x="912253" y="964120"/>
            <a:chExt cx="1114425" cy="576580"/>
          </a:xfrm>
        </p:grpSpPr>
        <p:sp>
          <p:nvSpPr>
            <p:cNvPr id="19" name="object 19"/>
            <p:cNvSpPr/>
            <p:nvPr/>
          </p:nvSpPr>
          <p:spPr>
            <a:xfrm>
              <a:off x="917016" y="968883"/>
              <a:ext cx="1104900" cy="567055"/>
            </a:xfrm>
            <a:custGeom>
              <a:avLst/>
              <a:gdLst/>
              <a:ahLst/>
              <a:cxnLst/>
              <a:rect l="l" t="t" r="r" b="b"/>
              <a:pathLst>
                <a:path w="1104900" h="567055">
                  <a:moveTo>
                    <a:pt x="66370" y="0"/>
                  </a:moveTo>
                  <a:lnTo>
                    <a:pt x="0" y="178562"/>
                  </a:lnTo>
                  <a:lnTo>
                    <a:pt x="803579" y="477265"/>
                  </a:lnTo>
                  <a:lnTo>
                    <a:pt x="770305" y="566546"/>
                  </a:lnTo>
                  <a:lnTo>
                    <a:pt x="1104569" y="487552"/>
                  </a:lnTo>
                  <a:lnTo>
                    <a:pt x="903147" y="209422"/>
                  </a:lnTo>
                  <a:lnTo>
                    <a:pt x="869873" y="298703"/>
                  </a:lnTo>
                  <a:lnTo>
                    <a:pt x="66370" y="0"/>
                  </a:lnTo>
                  <a:close/>
                </a:path>
              </a:pathLst>
            </a:custGeom>
            <a:solidFill>
              <a:srgbClr val="993300"/>
            </a:solidFill>
          </p:spPr>
          <p:txBody>
            <a:bodyPr wrap="square" lIns="0" tIns="0" rIns="0" bIns="0" rtlCol="0"/>
            <a:lstStyle/>
            <a:p>
              <a:endParaRPr>
                <a:latin typeface="+mj-lt"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917016" y="968883"/>
              <a:ext cx="1104900" cy="567055"/>
            </a:xfrm>
            <a:custGeom>
              <a:avLst/>
              <a:gdLst/>
              <a:ahLst/>
              <a:cxnLst/>
              <a:rect l="l" t="t" r="r" b="b"/>
              <a:pathLst>
                <a:path w="1104900" h="567055">
                  <a:moveTo>
                    <a:pt x="66370" y="0"/>
                  </a:moveTo>
                  <a:lnTo>
                    <a:pt x="869873" y="298703"/>
                  </a:lnTo>
                  <a:lnTo>
                    <a:pt x="903147" y="209422"/>
                  </a:lnTo>
                  <a:lnTo>
                    <a:pt x="1104569" y="487552"/>
                  </a:lnTo>
                  <a:lnTo>
                    <a:pt x="770305" y="566546"/>
                  </a:lnTo>
                  <a:lnTo>
                    <a:pt x="803579" y="477265"/>
                  </a:lnTo>
                  <a:lnTo>
                    <a:pt x="0" y="178562"/>
                  </a:lnTo>
                  <a:lnTo>
                    <a:pt x="66370" y="0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+mj-lt"/>
              </a:endParaRPr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3579304" y="1573720"/>
            <a:ext cx="1114425" cy="576580"/>
            <a:chOff x="3579304" y="1573720"/>
            <a:chExt cx="1114425" cy="576580"/>
          </a:xfrm>
        </p:grpSpPr>
        <p:sp>
          <p:nvSpPr>
            <p:cNvPr id="22" name="object 22"/>
            <p:cNvSpPr/>
            <p:nvPr/>
          </p:nvSpPr>
          <p:spPr>
            <a:xfrm>
              <a:off x="3584066" y="1578483"/>
              <a:ext cx="1104900" cy="567055"/>
            </a:xfrm>
            <a:custGeom>
              <a:avLst/>
              <a:gdLst/>
              <a:ahLst/>
              <a:cxnLst/>
              <a:rect l="l" t="t" r="r" b="b"/>
              <a:pathLst>
                <a:path w="1104900" h="567055">
                  <a:moveTo>
                    <a:pt x="66294" y="0"/>
                  </a:moveTo>
                  <a:lnTo>
                    <a:pt x="0" y="178562"/>
                  </a:lnTo>
                  <a:lnTo>
                    <a:pt x="803529" y="477265"/>
                  </a:lnTo>
                  <a:lnTo>
                    <a:pt x="770255" y="566546"/>
                  </a:lnTo>
                  <a:lnTo>
                    <a:pt x="1104519" y="487552"/>
                  </a:lnTo>
                  <a:lnTo>
                    <a:pt x="903097" y="209422"/>
                  </a:lnTo>
                  <a:lnTo>
                    <a:pt x="869823" y="298703"/>
                  </a:lnTo>
                  <a:lnTo>
                    <a:pt x="66294" y="0"/>
                  </a:lnTo>
                  <a:close/>
                </a:path>
              </a:pathLst>
            </a:custGeom>
            <a:solidFill>
              <a:srgbClr val="800000"/>
            </a:solidFill>
          </p:spPr>
          <p:txBody>
            <a:bodyPr wrap="square" lIns="0" tIns="0" rIns="0" bIns="0" rtlCol="0"/>
            <a:lstStyle/>
            <a:p>
              <a:endParaRPr>
                <a:latin typeface="+mj-lt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3584066" y="1578483"/>
              <a:ext cx="1104900" cy="567055"/>
            </a:xfrm>
            <a:custGeom>
              <a:avLst/>
              <a:gdLst/>
              <a:ahLst/>
              <a:cxnLst/>
              <a:rect l="l" t="t" r="r" b="b"/>
              <a:pathLst>
                <a:path w="1104900" h="567055">
                  <a:moveTo>
                    <a:pt x="66294" y="0"/>
                  </a:moveTo>
                  <a:lnTo>
                    <a:pt x="869823" y="298703"/>
                  </a:lnTo>
                  <a:lnTo>
                    <a:pt x="903097" y="209422"/>
                  </a:lnTo>
                  <a:lnTo>
                    <a:pt x="1104519" y="487552"/>
                  </a:lnTo>
                  <a:lnTo>
                    <a:pt x="770255" y="566546"/>
                  </a:lnTo>
                  <a:lnTo>
                    <a:pt x="803529" y="477265"/>
                  </a:lnTo>
                  <a:lnTo>
                    <a:pt x="0" y="178562"/>
                  </a:lnTo>
                  <a:lnTo>
                    <a:pt x="66294" y="0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+mj-lt"/>
              </a:endParaRPr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6474904" y="2488120"/>
            <a:ext cx="1114425" cy="576580"/>
            <a:chOff x="6474904" y="2488120"/>
            <a:chExt cx="1114425" cy="576580"/>
          </a:xfrm>
        </p:grpSpPr>
        <p:sp>
          <p:nvSpPr>
            <p:cNvPr id="25" name="object 25"/>
            <p:cNvSpPr/>
            <p:nvPr/>
          </p:nvSpPr>
          <p:spPr>
            <a:xfrm>
              <a:off x="6479666" y="2492882"/>
              <a:ext cx="1104900" cy="567055"/>
            </a:xfrm>
            <a:custGeom>
              <a:avLst/>
              <a:gdLst/>
              <a:ahLst/>
              <a:cxnLst/>
              <a:rect l="l" t="t" r="r" b="b"/>
              <a:pathLst>
                <a:path w="1104900" h="567055">
                  <a:moveTo>
                    <a:pt x="66293" y="0"/>
                  </a:moveTo>
                  <a:lnTo>
                    <a:pt x="0" y="178562"/>
                  </a:lnTo>
                  <a:lnTo>
                    <a:pt x="803529" y="477265"/>
                  </a:lnTo>
                  <a:lnTo>
                    <a:pt x="770255" y="566546"/>
                  </a:lnTo>
                  <a:lnTo>
                    <a:pt x="1104518" y="487552"/>
                  </a:lnTo>
                  <a:lnTo>
                    <a:pt x="903097" y="209422"/>
                  </a:lnTo>
                  <a:lnTo>
                    <a:pt x="869823" y="298703"/>
                  </a:lnTo>
                  <a:lnTo>
                    <a:pt x="66293" y="0"/>
                  </a:lnTo>
                  <a:close/>
                </a:path>
              </a:pathLst>
            </a:custGeom>
            <a:solidFill>
              <a:srgbClr val="800000"/>
            </a:solidFill>
          </p:spPr>
          <p:txBody>
            <a:bodyPr wrap="square" lIns="0" tIns="0" rIns="0" bIns="0" rtlCol="0"/>
            <a:lstStyle/>
            <a:p>
              <a:endParaRPr>
                <a:latin typeface="+mj-lt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6479666" y="2492882"/>
              <a:ext cx="1104900" cy="567055"/>
            </a:xfrm>
            <a:custGeom>
              <a:avLst/>
              <a:gdLst/>
              <a:ahLst/>
              <a:cxnLst/>
              <a:rect l="l" t="t" r="r" b="b"/>
              <a:pathLst>
                <a:path w="1104900" h="567055">
                  <a:moveTo>
                    <a:pt x="66293" y="0"/>
                  </a:moveTo>
                  <a:lnTo>
                    <a:pt x="869823" y="298703"/>
                  </a:lnTo>
                  <a:lnTo>
                    <a:pt x="903097" y="209422"/>
                  </a:lnTo>
                  <a:lnTo>
                    <a:pt x="1104518" y="487552"/>
                  </a:lnTo>
                  <a:lnTo>
                    <a:pt x="770255" y="566546"/>
                  </a:lnTo>
                  <a:lnTo>
                    <a:pt x="803529" y="477265"/>
                  </a:lnTo>
                  <a:lnTo>
                    <a:pt x="0" y="178562"/>
                  </a:lnTo>
                  <a:lnTo>
                    <a:pt x="66293" y="0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+mj-lt"/>
              </a:endParaRPr>
            </a:p>
          </p:txBody>
        </p:sp>
      </p:grpSp>
      <p:sp>
        <p:nvSpPr>
          <p:cNvPr id="28" name="object 28"/>
          <p:cNvSpPr/>
          <p:nvPr/>
        </p:nvSpPr>
        <p:spPr>
          <a:xfrm>
            <a:off x="7254240" y="6684264"/>
            <a:ext cx="1187450" cy="9525"/>
          </a:xfrm>
          <a:custGeom>
            <a:avLst/>
            <a:gdLst/>
            <a:ahLst/>
            <a:cxnLst/>
            <a:rect l="l" t="t" r="r" b="b"/>
            <a:pathLst>
              <a:path w="1187450" h="9525">
                <a:moveTo>
                  <a:pt x="1187195" y="0"/>
                </a:moveTo>
                <a:lnTo>
                  <a:pt x="0" y="0"/>
                </a:lnTo>
                <a:lnTo>
                  <a:pt x="0" y="9143"/>
                </a:lnTo>
                <a:lnTo>
                  <a:pt x="1187195" y="9143"/>
                </a:lnTo>
                <a:lnTo>
                  <a:pt x="1187195" y="0"/>
                </a:lnTo>
                <a:close/>
              </a:path>
            </a:pathLst>
          </a:custGeom>
          <a:solidFill>
            <a:srgbClr val="57C1B9"/>
          </a:solidFill>
        </p:spPr>
        <p:txBody>
          <a:bodyPr wrap="square" lIns="0" tIns="0" rIns="0" bIns="0" rtlCol="0"/>
          <a:lstStyle/>
          <a:p>
            <a:endParaRPr>
              <a:latin typeface="+mj-l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501172"/>
            <a:ext cx="822960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u="none" spc="-365" dirty="0">
                <a:solidFill>
                  <a:schemeClr val="tx1"/>
                </a:solidFill>
                <a:latin typeface="Verdana"/>
                <a:cs typeface="Verdana"/>
              </a:rPr>
              <a:t>ERAS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07340" y="1625854"/>
            <a:ext cx="310007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354965" algn="l"/>
              </a:tabLst>
            </a:pPr>
            <a:r>
              <a:rPr sz="1600" spc="75" dirty="0">
                <a:latin typeface="Lucida Sans Unicode"/>
                <a:cs typeface="Lucida Sans Unicode"/>
              </a:rPr>
              <a:t>▶</a:t>
            </a:r>
            <a:r>
              <a:rPr sz="1600" dirty="0">
                <a:latin typeface="Lucida Sans Unicode"/>
                <a:cs typeface="Lucida Sans Unicode"/>
              </a:rPr>
              <a:t>	</a:t>
            </a:r>
            <a:r>
              <a:rPr sz="2000" b="1" dirty="0">
                <a:latin typeface="Tahoma"/>
                <a:cs typeface="Tahoma"/>
              </a:rPr>
              <a:t>Paleozoic</a:t>
            </a:r>
            <a:r>
              <a:rPr sz="2000" b="1" spc="-90" dirty="0">
                <a:latin typeface="Tahoma"/>
                <a:cs typeface="Tahoma"/>
              </a:rPr>
              <a:t> </a:t>
            </a:r>
            <a:r>
              <a:rPr sz="2000" spc="-285" dirty="0">
                <a:latin typeface="Verdana"/>
                <a:cs typeface="Verdana"/>
              </a:rPr>
              <a:t>–</a:t>
            </a:r>
            <a:r>
              <a:rPr sz="2000" spc="-160" dirty="0">
                <a:latin typeface="Verdana"/>
                <a:cs typeface="Verdana"/>
              </a:rPr>
              <a:t> </a:t>
            </a:r>
            <a:r>
              <a:rPr sz="2000" spc="-35" dirty="0">
                <a:latin typeface="Verdana"/>
                <a:cs typeface="Verdana"/>
              </a:rPr>
              <a:t>“early</a:t>
            </a:r>
            <a:r>
              <a:rPr sz="2000" spc="-180" dirty="0">
                <a:latin typeface="Verdana"/>
                <a:cs typeface="Verdana"/>
              </a:rPr>
              <a:t> </a:t>
            </a:r>
            <a:r>
              <a:rPr sz="2000" spc="-20" dirty="0">
                <a:latin typeface="Verdana"/>
                <a:cs typeface="Verdana"/>
              </a:rPr>
              <a:t>life”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870143" y="1625854"/>
            <a:ext cx="188150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170" dirty="0">
                <a:latin typeface="Verdana"/>
                <a:cs typeface="Verdana"/>
              </a:rPr>
              <a:t>544</a:t>
            </a:r>
            <a:r>
              <a:rPr sz="2000" spc="-155" dirty="0">
                <a:latin typeface="Verdana"/>
                <a:cs typeface="Verdana"/>
              </a:rPr>
              <a:t> </a:t>
            </a:r>
            <a:r>
              <a:rPr sz="2000" dirty="0">
                <a:latin typeface="Wingdings"/>
                <a:cs typeface="Wingdings"/>
              </a:rPr>
              <a:t></a:t>
            </a:r>
            <a:r>
              <a:rPr sz="2000" spc="65" dirty="0">
                <a:latin typeface="Times New Roman"/>
                <a:cs typeface="Times New Roman"/>
              </a:rPr>
              <a:t> </a:t>
            </a:r>
            <a:r>
              <a:rPr sz="2000" spc="-170" dirty="0">
                <a:latin typeface="Verdana"/>
                <a:cs typeface="Verdana"/>
              </a:rPr>
              <a:t>244</a:t>
            </a:r>
            <a:r>
              <a:rPr sz="2000" spc="-150" dirty="0">
                <a:latin typeface="Verdana"/>
                <a:cs typeface="Verdana"/>
              </a:rPr>
              <a:t> </a:t>
            </a:r>
            <a:r>
              <a:rPr sz="2000" spc="-25" dirty="0">
                <a:latin typeface="Verdana"/>
                <a:cs typeface="Verdana"/>
              </a:rPr>
              <a:t>mya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07340" y="2490343"/>
            <a:ext cx="332105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354965" algn="l"/>
              </a:tabLst>
            </a:pPr>
            <a:r>
              <a:rPr sz="1600" spc="75" dirty="0">
                <a:latin typeface="Lucida Sans Unicode"/>
                <a:cs typeface="Lucida Sans Unicode"/>
              </a:rPr>
              <a:t>▶</a:t>
            </a:r>
            <a:r>
              <a:rPr sz="1600" dirty="0">
                <a:latin typeface="Lucida Sans Unicode"/>
                <a:cs typeface="Lucida Sans Unicode"/>
              </a:rPr>
              <a:t>	</a:t>
            </a:r>
            <a:r>
              <a:rPr sz="2000" b="1" dirty="0">
                <a:latin typeface="Tahoma"/>
                <a:cs typeface="Tahoma"/>
              </a:rPr>
              <a:t>Mesozoic</a:t>
            </a:r>
            <a:r>
              <a:rPr sz="2000" b="1" spc="-85" dirty="0">
                <a:latin typeface="Tahoma"/>
                <a:cs typeface="Tahoma"/>
              </a:rPr>
              <a:t> </a:t>
            </a:r>
            <a:r>
              <a:rPr sz="2000" spc="-285" dirty="0">
                <a:latin typeface="Verdana"/>
                <a:cs typeface="Verdana"/>
              </a:rPr>
              <a:t>–</a:t>
            </a:r>
            <a:r>
              <a:rPr sz="2000" spc="-150" dirty="0">
                <a:latin typeface="Verdana"/>
                <a:cs typeface="Verdana"/>
              </a:rPr>
              <a:t> </a:t>
            </a:r>
            <a:r>
              <a:rPr sz="2000" dirty="0">
                <a:latin typeface="Verdana"/>
                <a:cs typeface="Verdana"/>
              </a:rPr>
              <a:t>“middle</a:t>
            </a:r>
            <a:r>
              <a:rPr sz="2000" spc="-170" dirty="0">
                <a:latin typeface="Verdana"/>
                <a:cs typeface="Verdana"/>
              </a:rPr>
              <a:t> </a:t>
            </a:r>
            <a:r>
              <a:rPr sz="2000" spc="-20" dirty="0">
                <a:latin typeface="Verdana"/>
                <a:cs typeface="Verdana"/>
              </a:rPr>
              <a:t>life”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950582" y="2490343"/>
            <a:ext cx="173990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175" dirty="0">
                <a:latin typeface="Verdana"/>
                <a:cs typeface="Verdana"/>
              </a:rPr>
              <a:t>245</a:t>
            </a:r>
            <a:r>
              <a:rPr sz="2000" spc="-135" dirty="0">
                <a:latin typeface="Verdana"/>
                <a:cs typeface="Verdana"/>
              </a:rPr>
              <a:t> </a:t>
            </a:r>
            <a:r>
              <a:rPr sz="2000" dirty="0">
                <a:latin typeface="Wingdings"/>
                <a:cs typeface="Wingdings"/>
              </a:rPr>
              <a:t>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-175" dirty="0">
                <a:latin typeface="Verdana"/>
                <a:cs typeface="Verdana"/>
              </a:rPr>
              <a:t>66</a:t>
            </a:r>
            <a:r>
              <a:rPr sz="2000" spc="-140" dirty="0">
                <a:latin typeface="Verdana"/>
                <a:cs typeface="Verdana"/>
              </a:rPr>
              <a:t> </a:t>
            </a:r>
            <a:r>
              <a:rPr sz="2000" spc="-25" dirty="0">
                <a:latin typeface="Verdana"/>
                <a:cs typeface="Verdana"/>
              </a:rPr>
              <a:t>mya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7340" y="3354400"/>
            <a:ext cx="557149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354965" algn="l"/>
                <a:tab pos="3416935" algn="l"/>
              </a:tabLst>
            </a:pPr>
            <a:r>
              <a:rPr sz="1600" spc="75" dirty="0">
                <a:latin typeface="Lucida Sans Unicode"/>
                <a:cs typeface="Lucida Sans Unicode"/>
              </a:rPr>
              <a:t>▶</a:t>
            </a:r>
            <a:r>
              <a:rPr sz="1600" dirty="0">
                <a:latin typeface="Lucida Sans Unicode"/>
                <a:cs typeface="Lucida Sans Unicode"/>
              </a:rPr>
              <a:t>	</a:t>
            </a:r>
            <a:r>
              <a:rPr sz="2000" b="1" dirty="0">
                <a:latin typeface="Tahoma"/>
                <a:cs typeface="Tahoma"/>
              </a:rPr>
              <a:t>Cenozoic</a:t>
            </a:r>
            <a:r>
              <a:rPr sz="2000" b="1" spc="55" dirty="0">
                <a:latin typeface="Tahoma"/>
                <a:cs typeface="Tahoma"/>
              </a:rPr>
              <a:t> </a:t>
            </a:r>
            <a:r>
              <a:rPr sz="2000" spc="-285" dirty="0">
                <a:latin typeface="Verdana"/>
                <a:cs typeface="Verdana"/>
              </a:rPr>
              <a:t>–</a:t>
            </a:r>
            <a:r>
              <a:rPr sz="2000" spc="-25" dirty="0">
                <a:latin typeface="Verdana"/>
                <a:cs typeface="Verdana"/>
              </a:rPr>
              <a:t> </a:t>
            </a:r>
            <a:r>
              <a:rPr sz="2000" dirty="0">
                <a:latin typeface="Verdana"/>
                <a:cs typeface="Verdana"/>
              </a:rPr>
              <a:t>“recent</a:t>
            </a:r>
            <a:r>
              <a:rPr sz="2000" spc="-60" dirty="0">
                <a:latin typeface="Verdana"/>
                <a:cs typeface="Verdana"/>
              </a:rPr>
              <a:t> </a:t>
            </a:r>
            <a:r>
              <a:rPr sz="2000" spc="-20" dirty="0">
                <a:latin typeface="Verdana"/>
                <a:cs typeface="Verdana"/>
              </a:rPr>
              <a:t>life”</a:t>
            </a:r>
            <a:r>
              <a:rPr sz="2000" dirty="0">
                <a:latin typeface="Verdana"/>
                <a:cs typeface="Verdana"/>
              </a:rPr>
              <a:t>	</a:t>
            </a:r>
            <a:r>
              <a:rPr sz="2000" spc="-80" dirty="0">
                <a:latin typeface="Verdana"/>
                <a:cs typeface="Verdana"/>
              </a:rPr>
              <a:t>66mya</a:t>
            </a:r>
            <a:r>
              <a:rPr sz="2000" spc="-155" dirty="0">
                <a:latin typeface="Verdana"/>
                <a:cs typeface="Verdana"/>
              </a:rPr>
              <a:t> </a:t>
            </a:r>
            <a:r>
              <a:rPr sz="2000" dirty="0">
                <a:latin typeface="Wingdings"/>
                <a:cs typeface="Wingdings"/>
              </a:rPr>
              <a:t>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-35" dirty="0">
                <a:latin typeface="Verdana"/>
                <a:cs typeface="Verdana"/>
              </a:rPr>
              <a:t>present</a:t>
            </a:r>
            <a:endParaRPr sz="2000" dirty="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Administrator\Desktop\earthday\url.png">
            <a:extLst>
              <a:ext uri="{FF2B5EF4-FFF2-40B4-BE49-F238E27FC236}">
                <a16:creationId xmlns:a16="http://schemas.microsoft.com/office/drawing/2014/main" id="{C91C04E0-7206-44B9-9165-4C36343150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71600" y="559400"/>
            <a:ext cx="7024688" cy="629859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190932204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7594</TotalTime>
  <Words>1876</Words>
  <Application>Microsoft Office PowerPoint</Application>
  <PresentationFormat>On-screen Show (4:3)</PresentationFormat>
  <Paragraphs>391</Paragraphs>
  <Slides>38</Slides>
  <Notes>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39" baseType="lpstr">
      <vt:lpstr>Default Design</vt:lpstr>
      <vt:lpstr>EES203: Geochemistry </vt:lpstr>
      <vt:lpstr>PowerPoint Presentation</vt:lpstr>
      <vt:lpstr>PowerPoint Presentation</vt:lpstr>
      <vt:lpstr>PowerPoint Presentation</vt:lpstr>
      <vt:lpstr>PowerPoint Presentation</vt:lpstr>
      <vt:lpstr>REE Diagrams  Plots of concentration as the ordinate (y-axis) against increasing atomic number ✦ Degree of compatibility increases from left to right across the diagram </vt:lpstr>
      <vt:lpstr>PowerPoint Presentation</vt:lpstr>
      <vt:lpstr>Comparison of REE in a Kilauea lava with Chondrite abundances (data in ppm ) </vt:lpstr>
      <vt:lpstr>Comparison of REE in a Kilauea lava with Chondrite abundances (data in ppm )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Europium anomaly</vt:lpstr>
      <vt:lpstr>Cerium anomaly</vt:lpstr>
      <vt:lpstr>Rare Earth Elements as indicators of petrogenesis (melting source) </vt:lpstr>
      <vt:lpstr>Spider Diagrams </vt:lpstr>
      <vt:lpstr>Spidergrams or Spider-diagrams</vt:lpstr>
      <vt:lpstr>PowerPoint Presentation</vt:lpstr>
      <vt:lpstr>PowerPoint Presentation</vt:lpstr>
      <vt:lpstr>PowerPoint Presentation</vt:lpstr>
      <vt:lpstr>Divisions of Geologic Tim13 e</vt:lpstr>
      <vt:lpstr>Age of the Earth</vt:lpstr>
      <vt:lpstr>4.03 billion-year-old Acasta Gneiss, NW Canada: oldest known intact piece of Earth’s surface</vt:lpstr>
      <vt:lpstr>PowerPoint Presentation</vt:lpstr>
      <vt:lpstr>Rocks older than 2.5 Ga</vt:lpstr>
      <vt:lpstr>Divisions of Time</vt:lpstr>
      <vt:lpstr>EONS</vt:lpstr>
      <vt:lpstr>PowerPoint Presentation</vt:lpstr>
      <vt:lpstr>ERAS</vt:lpstr>
      <vt:lpstr>PowerPoint Presentation</vt:lpstr>
    </vt:vector>
  </TitlesOfParts>
  <Company>njcu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dfreile</dc:creator>
  <cp:lastModifiedBy>jasmeenk4505@gmail.com</cp:lastModifiedBy>
  <cp:revision>174</cp:revision>
  <dcterms:created xsi:type="dcterms:W3CDTF">2005-10-26T18:01:58Z</dcterms:created>
  <dcterms:modified xsi:type="dcterms:W3CDTF">2025-03-07T18:41:23Z</dcterms:modified>
</cp:coreProperties>
</file>