
<file path=[Content_Types].xml><?xml version="1.0" encoding="utf-8"?>
<Types xmlns="http://schemas.openxmlformats.org/package/2006/content-types">
  <Default Extension="emf" ContentType="image/x-emf"/>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6" r:id="rId2"/>
    <p:sldId id="470" r:id="rId3"/>
    <p:sldId id="471" r:id="rId4"/>
    <p:sldId id="296" r:id="rId5"/>
    <p:sldId id="297" r:id="rId6"/>
    <p:sldId id="307" r:id="rId7"/>
    <p:sldId id="308" r:id="rId8"/>
    <p:sldId id="309" r:id="rId9"/>
    <p:sldId id="310" r:id="rId10"/>
    <p:sldId id="321" r:id="rId11"/>
    <p:sldId id="322" r:id="rId12"/>
    <p:sldId id="472" r:id="rId13"/>
    <p:sldId id="473" r:id="rId14"/>
    <p:sldId id="474" r:id="rId15"/>
    <p:sldId id="476" r:id="rId16"/>
    <p:sldId id="477" r:id="rId17"/>
    <p:sldId id="478" r:id="rId18"/>
    <p:sldId id="479" r:id="rId19"/>
    <p:sldId id="481" r:id="rId20"/>
    <p:sldId id="480" r:id="rId21"/>
    <p:sldId id="487" r:id="rId22"/>
    <p:sldId id="482" r:id="rId23"/>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75" autoAdjust="0"/>
    <p:restoredTop sz="93690" autoAdjust="0"/>
  </p:normalViewPr>
  <p:slideViewPr>
    <p:cSldViewPr>
      <p:cViewPr varScale="1">
        <p:scale>
          <a:sx n="61" d="100"/>
          <a:sy n="61" d="100"/>
        </p:scale>
        <p:origin x="1388" y="60"/>
      </p:cViewPr>
      <p:guideLst>
        <p:guide orient="horz" pos="2160"/>
        <p:guide pos="2880"/>
      </p:guideLst>
    </p:cSldViewPr>
  </p:slideViewPr>
  <p:notesTextViewPr>
    <p:cViewPr>
      <p:scale>
        <a:sx n="100" d="100"/>
        <a:sy n="100" d="100"/>
      </p:scale>
      <p:origin x="0" y="0"/>
    </p:cViewPr>
  </p:notesTextViewPr>
  <p:sorterViewPr>
    <p:cViewPr>
      <p:scale>
        <a:sx n="66" d="100"/>
        <a:sy n="66" d="100"/>
      </p:scale>
      <p:origin x="0" y="7488"/>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B12BC94-826C-44CC-9139-4D8AF4CCD754}"/>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atin typeface="Arial" charset="0"/>
              </a:defRPr>
            </a:lvl1pPr>
          </a:lstStyle>
          <a:p>
            <a:pPr>
              <a:defRPr/>
            </a:pPr>
            <a:endParaRPr lang="en-IN"/>
          </a:p>
        </p:txBody>
      </p:sp>
      <p:sp>
        <p:nvSpPr>
          <p:cNvPr id="3" name="Date Placeholder 2">
            <a:extLst>
              <a:ext uri="{FF2B5EF4-FFF2-40B4-BE49-F238E27FC236}">
                <a16:creationId xmlns:a16="http://schemas.microsoft.com/office/drawing/2014/main" id="{405DB217-5036-48E7-9F80-D8568EC4E5C6}"/>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eaLnBrk="1" hangingPunct="1">
              <a:defRPr sz="1200">
                <a:latin typeface="Arial" charset="0"/>
              </a:defRPr>
            </a:lvl1pPr>
          </a:lstStyle>
          <a:p>
            <a:pPr>
              <a:defRPr/>
            </a:pPr>
            <a:fld id="{4495E4C6-17AD-4BA4-85ED-1CEF5353A859}" type="datetimeFigureOut">
              <a:rPr lang="en-IN"/>
              <a:pPr>
                <a:defRPr/>
              </a:pPr>
              <a:t>02-03-2025</a:t>
            </a:fld>
            <a:endParaRPr lang="en-IN"/>
          </a:p>
        </p:txBody>
      </p:sp>
      <p:sp>
        <p:nvSpPr>
          <p:cNvPr id="4" name="Slide Image Placeholder 3">
            <a:extLst>
              <a:ext uri="{FF2B5EF4-FFF2-40B4-BE49-F238E27FC236}">
                <a16:creationId xmlns:a16="http://schemas.microsoft.com/office/drawing/2014/main" id="{6E099106-0BB6-43A6-A3E2-09D734B298C9}"/>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IN" noProof="0"/>
          </a:p>
        </p:txBody>
      </p:sp>
      <p:sp>
        <p:nvSpPr>
          <p:cNvPr id="5" name="Notes Placeholder 4">
            <a:extLst>
              <a:ext uri="{FF2B5EF4-FFF2-40B4-BE49-F238E27FC236}">
                <a16:creationId xmlns:a16="http://schemas.microsoft.com/office/drawing/2014/main" id="{DFBCB12F-E21B-4BB3-98A4-F84DE794225D}"/>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IN" noProof="0"/>
          </a:p>
        </p:txBody>
      </p:sp>
      <p:sp>
        <p:nvSpPr>
          <p:cNvPr id="6" name="Footer Placeholder 5">
            <a:extLst>
              <a:ext uri="{FF2B5EF4-FFF2-40B4-BE49-F238E27FC236}">
                <a16:creationId xmlns:a16="http://schemas.microsoft.com/office/drawing/2014/main" id="{B7B2BC49-BC64-4703-B80A-9476428F9481}"/>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defRPr sz="1200">
                <a:latin typeface="Arial" charset="0"/>
              </a:defRPr>
            </a:lvl1pPr>
          </a:lstStyle>
          <a:p>
            <a:pPr>
              <a:defRPr/>
            </a:pPr>
            <a:endParaRPr lang="en-IN"/>
          </a:p>
        </p:txBody>
      </p:sp>
      <p:sp>
        <p:nvSpPr>
          <p:cNvPr id="7" name="Slide Number Placeholder 6">
            <a:extLst>
              <a:ext uri="{FF2B5EF4-FFF2-40B4-BE49-F238E27FC236}">
                <a16:creationId xmlns:a16="http://schemas.microsoft.com/office/drawing/2014/main" id="{26FD10B2-65DA-4A6A-9411-A7CE5F94A9C7}"/>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DA50488F-DB6A-40AC-8FA4-772BF47F0323}" type="slidenum">
              <a:rPr lang="en-IN" altLang="en-US"/>
              <a:pPr>
                <a:defRPr/>
              </a:pPr>
              <a:t>‹#›</a:t>
            </a:fld>
            <a:endParaRPr lang="en-I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IN"/>
          </a:p>
        </p:txBody>
      </p:sp>
      <p:sp>
        <p:nvSpPr>
          <p:cNvPr id="4" name="Rectangle 4">
            <a:extLst>
              <a:ext uri="{FF2B5EF4-FFF2-40B4-BE49-F238E27FC236}">
                <a16:creationId xmlns:a16="http://schemas.microsoft.com/office/drawing/2014/main" id="{DBEE118F-D257-4318-A3A2-EECA19410BF3}"/>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4C97103C-CE56-4C35-B5D2-E932D10544C4}"/>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631569ED-472A-4591-B1C8-91A8AA55F43B}"/>
              </a:ext>
            </a:extLst>
          </p:cNvPr>
          <p:cNvSpPr>
            <a:spLocks noGrp="1" noChangeArrowheads="1"/>
          </p:cNvSpPr>
          <p:nvPr>
            <p:ph type="sldNum" sz="quarter" idx="12"/>
          </p:nvPr>
        </p:nvSpPr>
        <p:spPr>
          <a:ln/>
        </p:spPr>
        <p:txBody>
          <a:bodyPr/>
          <a:lstStyle>
            <a:lvl1pPr>
              <a:defRPr/>
            </a:lvl1pPr>
          </a:lstStyle>
          <a:p>
            <a:pPr>
              <a:defRPr/>
            </a:pPr>
            <a:fld id="{E91EFD36-5984-457D-BADD-B4A3F349C23E}" type="slidenum">
              <a:rPr lang="en-US" altLang="en-US"/>
              <a:pPr>
                <a:defRPr/>
              </a:pPr>
              <a:t>‹#›</a:t>
            </a:fld>
            <a:endParaRPr lang="en-US" altLang="en-US"/>
          </a:p>
        </p:txBody>
      </p:sp>
    </p:spTree>
    <p:extLst>
      <p:ext uri="{BB962C8B-B14F-4D97-AF65-F5344CB8AC3E}">
        <p14:creationId xmlns:p14="http://schemas.microsoft.com/office/powerpoint/2010/main" val="42549790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4">
            <a:extLst>
              <a:ext uri="{FF2B5EF4-FFF2-40B4-BE49-F238E27FC236}">
                <a16:creationId xmlns:a16="http://schemas.microsoft.com/office/drawing/2014/main" id="{4C13EFD9-AB6D-434D-BC2E-8B73CC13FEA3}"/>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4B0ED277-8375-4E95-B412-94EF1677FAD8}"/>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D71C59AB-1EAD-4FD8-95DC-AD356CFA4FC2}"/>
              </a:ext>
            </a:extLst>
          </p:cNvPr>
          <p:cNvSpPr>
            <a:spLocks noGrp="1" noChangeArrowheads="1"/>
          </p:cNvSpPr>
          <p:nvPr>
            <p:ph type="sldNum" sz="quarter" idx="12"/>
          </p:nvPr>
        </p:nvSpPr>
        <p:spPr>
          <a:ln/>
        </p:spPr>
        <p:txBody>
          <a:bodyPr/>
          <a:lstStyle>
            <a:lvl1pPr>
              <a:defRPr/>
            </a:lvl1pPr>
          </a:lstStyle>
          <a:p>
            <a:pPr>
              <a:defRPr/>
            </a:pPr>
            <a:fld id="{196D8436-06A3-43A4-BA5B-8AF70AEB648F}" type="slidenum">
              <a:rPr lang="en-US" altLang="en-US"/>
              <a:pPr>
                <a:defRPr/>
              </a:pPr>
              <a:t>‹#›</a:t>
            </a:fld>
            <a:endParaRPr lang="en-US" altLang="en-US"/>
          </a:p>
        </p:txBody>
      </p:sp>
    </p:spTree>
    <p:extLst>
      <p:ext uri="{BB962C8B-B14F-4D97-AF65-F5344CB8AC3E}">
        <p14:creationId xmlns:p14="http://schemas.microsoft.com/office/powerpoint/2010/main" val="30275482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8924E2C6-9E75-43EE-99CD-453E04C86553}"/>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25018E45-3328-444D-8796-75B3B701D17E}"/>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8A16A509-F4A7-48F3-809D-CBD23ED80F55}"/>
              </a:ext>
            </a:extLst>
          </p:cNvPr>
          <p:cNvSpPr>
            <a:spLocks noGrp="1" noChangeArrowheads="1"/>
          </p:cNvSpPr>
          <p:nvPr>
            <p:ph type="sldNum" sz="quarter" idx="12"/>
          </p:nvPr>
        </p:nvSpPr>
        <p:spPr>
          <a:ln/>
        </p:spPr>
        <p:txBody>
          <a:bodyPr/>
          <a:lstStyle>
            <a:lvl1pPr>
              <a:defRPr/>
            </a:lvl1pPr>
          </a:lstStyle>
          <a:p>
            <a:pPr>
              <a:defRPr/>
            </a:pPr>
            <a:fld id="{D3974763-CD29-4242-A606-D01C110AD1A3}" type="slidenum">
              <a:rPr lang="en-US" altLang="en-US"/>
              <a:pPr>
                <a:defRPr/>
              </a:pPr>
              <a:t>‹#›</a:t>
            </a:fld>
            <a:endParaRPr lang="en-US" altLang="en-US"/>
          </a:p>
        </p:txBody>
      </p:sp>
    </p:spTree>
    <p:extLst>
      <p:ext uri="{BB962C8B-B14F-4D97-AF65-F5344CB8AC3E}">
        <p14:creationId xmlns:p14="http://schemas.microsoft.com/office/powerpoint/2010/main" val="39860142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Rectangle 4">
            <a:extLst>
              <a:ext uri="{FF2B5EF4-FFF2-40B4-BE49-F238E27FC236}">
                <a16:creationId xmlns:a16="http://schemas.microsoft.com/office/drawing/2014/main" id="{1D060A66-D792-4197-A450-15640D1F3CB3}"/>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5139D150-B008-4810-A642-BB58C29B5761}"/>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BBECF246-2CD9-4EFD-B3F8-DA766CBABFB9}"/>
              </a:ext>
            </a:extLst>
          </p:cNvPr>
          <p:cNvSpPr>
            <a:spLocks noGrp="1" noChangeArrowheads="1"/>
          </p:cNvSpPr>
          <p:nvPr>
            <p:ph type="sldNum" sz="quarter" idx="12"/>
          </p:nvPr>
        </p:nvSpPr>
        <p:spPr>
          <a:ln/>
        </p:spPr>
        <p:txBody>
          <a:bodyPr/>
          <a:lstStyle>
            <a:lvl1pPr>
              <a:defRPr/>
            </a:lvl1pPr>
          </a:lstStyle>
          <a:p>
            <a:pPr>
              <a:defRPr/>
            </a:pPr>
            <a:fld id="{32343884-E97C-43AC-91BE-818B2A6132AF}" type="slidenum">
              <a:rPr lang="en-US" altLang="en-US"/>
              <a:pPr>
                <a:defRPr/>
              </a:pPr>
              <a:t>‹#›</a:t>
            </a:fld>
            <a:endParaRPr lang="en-US" altLang="en-US"/>
          </a:p>
        </p:txBody>
      </p:sp>
    </p:spTree>
    <p:extLst>
      <p:ext uri="{BB962C8B-B14F-4D97-AF65-F5344CB8AC3E}">
        <p14:creationId xmlns:p14="http://schemas.microsoft.com/office/powerpoint/2010/main" val="35321490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Rectangle 4">
            <a:extLst>
              <a:ext uri="{FF2B5EF4-FFF2-40B4-BE49-F238E27FC236}">
                <a16:creationId xmlns:a16="http://schemas.microsoft.com/office/drawing/2014/main" id="{695DB130-3059-4B58-BDA5-BD072F56A81F}"/>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5">
            <a:extLst>
              <a:ext uri="{FF2B5EF4-FFF2-40B4-BE49-F238E27FC236}">
                <a16:creationId xmlns:a16="http://schemas.microsoft.com/office/drawing/2014/main" id="{9754EE56-C6A2-4D14-AF3C-BAE635180FF1}"/>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6">
            <a:extLst>
              <a:ext uri="{FF2B5EF4-FFF2-40B4-BE49-F238E27FC236}">
                <a16:creationId xmlns:a16="http://schemas.microsoft.com/office/drawing/2014/main" id="{E24C1A1F-C41E-4454-A02E-BDE2567839B8}"/>
              </a:ext>
            </a:extLst>
          </p:cNvPr>
          <p:cNvSpPr>
            <a:spLocks noGrp="1" noChangeArrowheads="1"/>
          </p:cNvSpPr>
          <p:nvPr>
            <p:ph type="sldNum" sz="quarter" idx="12"/>
          </p:nvPr>
        </p:nvSpPr>
        <p:spPr>
          <a:ln/>
        </p:spPr>
        <p:txBody>
          <a:bodyPr/>
          <a:lstStyle>
            <a:lvl1pPr>
              <a:defRPr/>
            </a:lvl1pPr>
          </a:lstStyle>
          <a:p>
            <a:pPr>
              <a:defRPr/>
            </a:pPr>
            <a:fld id="{C052C66B-8C25-4FE5-81EA-D279F10B6BD3}" type="slidenum">
              <a:rPr lang="en-US" altLang="en-US"/>
              <a:pPr>
                <a:defRPr/>
              </a:pPr>
              <a:t>‹#›</a:t>
            </a:fld>
            <a:endParaRPr lang="en-US" altLang="en-US"/>
          </a:p>
        </p:txBody>
      </p:sp>
    </p:spTree>
    <p:extLst>
      <p:ext uri="{BB962C8B-B14F-4D97-AF65-F5344CB8AC3E}">
        <p14:creationId xmlns:p14="http://schemas.microsoft.com/office/powerpoint/2010/main" val="34111315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Rectangle 4">
            <a:extLst>
              <a:ext uri="{FF2B5EF4-FFF2-40B4-BE49-F238E27FC236}">
                <a16:creationId xmlns:a16="http://schemas.microsoft.com/office/drawing/2014/main" id="{8073D249-74BA-4FC7-9180-228CFD77E1BA}"/>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5">
            <a:extLst>
              <a:ext uri="{FF2B5EF4-FFF2-40B4-BE49-F238E27FC236}">
                <a16:creationId xmlns:a16="http://schemas.microsoft.com/office/drawing/2014/main" id="{2DD93F01-8B96-4D54-88E5-CA53B833D85F}"/>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ED2D4A28-53D6-497F-985F-B1CEC7D70C40}"/>
              </a:ext>
            </a:extLst>
          </p:cNvPr>
          <p:cNvSpPr>
            <a:spLocks noGrp="1" noChangeArrowheads="1"/>
          </p:cNvSpPr>
          <p:nvPr>
            <p:ph type="sldNum" sz="quarter" idx="12"/>
          </p:nvPr>
        </p:nvSpPr>
        <p:spPr>
          <a:ln/>
        </p:spPr>
        <p:txBody>
          <a:bodyPr/>
          <a:lstStyle>
            <a:lvl1pPr>
              <a:defRPr/>
            </a:lvl1pPr>
          </a:lstStyle>
          <a:p>
            <a:pPr>
              <a:defRPr/>
            </a:pPr>
            <a:fld id="{E9ABF0EF-67B1-4AA0-81ED-91DE03744A40}" type="slidenum">
              <a:rPr lang="en-US" altLang="en-US"/>
              <a:pPr>
                <a:defRPr/>
              </a:pPr>
              <a:t>‹#›</a:t>
            </a:fld>
            <a:endParaRPr lang="en-US" altLang="en-US"/>
          </a:p>
        </p:txBody>
      </p:sp>
    </p:spTree>
    <p:extLst>
      <p:ext uri="{BB962C8B-B14F-4D97-AF65-F5344CB8AC3E}">
        <p14:creationId xmlns:p14="http://schemas.microsoft.com/office/powerpoint/2010/main" val="28334602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3793C45B-F71B-46A7-A2A8-FEA3D8300722}"/>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5">
            <a:extLst>
              <a:ext uri="{FF2B5EF4-FFF2-40B4-BE49-F238E27FC236}">
                <a16:creationId xmlns:a16="http://schemas.microsoft.com/office/drawing/2014/main" id="{0E0F0BA5-4205-4DA9-8FA1-D723A7B5DEB0}"/>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DAB7F91C-3F88-4469-8440-DA0A8B7F5768}"/>
              </a:ext>
            </a:extLst>
          </p:cNvPr>
          <p:cNvSpPr>
            <a:spLocks noGrp="1" noChangeArrowheads="1"/>
          </p:cNvSpPr>
          <p:nvPr>
            <p:ph type="sldNum" sz="quarter" idx="12"/>
          </p:nvPr>
        </p:nvSpPr>
        <p:spPr>
          <a:ln/>
        </p:spPr>
        <p:txBody>
          <a:bodyPr/>
          <a:lstStyle>
            <a:lvl1pPr>
              <a:defRPr/>
            </a:lvl1pPr>
          </a:lstStyle>
          <a:p>
            <a:pPr>
              <a:defRPr/>
            </a:pPr>
            <a:fld id="{C139F030-B1DE-440E-85E3-A637DEB7A7C7}" type="slidenum">
              <a:rPr lang="en-US" altLang="en-US"/>
              <a:pPr>
                <a:defRPr/>
              </a:pPr>
              <a:t>‹#›</a:t>
            </a:fld>
            <a:endParaRPr lang="en-US" altLang="en-US"/>
          </a:p>
        </p:txBody>
      </p:sp>
    </p:spTree>
    <p:extLst>
      <p:ext uri="{BB962C8B-B14F-4D97-AF65-F5344CB8AC3E}">
        <p14:creationId xmlns:p14="http://schemas.microsoft.com/office/powerpoint/2010/main" val="10488869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61462272-BBA7-43EA-9594-79B56445FE80}"/>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F519C3EE-B0C4-43D8-8138-EBD6BB89F08D}"/>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938D149F-91B7-4D2A-80E9-143AB91277E6}"/>
              </a:ext>
            </a:extLst>
          </p:cNvPr>
          <p:cNvSpPr>
            <a:spLocks noGrp="1" noChangeArrowheads="1"/>
          </p:cNvSpPr>
          <p:nvPr>
            <p:ph type="sldNum" sz="quarter" idx="12"/>
          </p:nvPr>
        </p:nvSpPr>
        <p:spPr>
          <a:ln/>
        </p:spPr>
        <p:txBody>
          <a:bodyPr/>
          <a:lstStyle>
            <a:lvl1pPr>
              <a:defRPr/>
            </a:lvl1pPr>
          </a:lstStyle>
          <a:p>
            <a:pPr>
              <a:defRPr/>
            </a:pPr>
            <a:fld id="{06B7294A-24AF-420B-8505-410263194C68}" type="slidenum">
              <a:rPr lang="en-US" altLang="en-US"/>
              <a:pPr>
                <a:defRPr/>
              </a:pPr>
              <a:t>‹#›</a:t>
            </a:fld>
            <a:endParaRPr lang="en-US" altLang="en-US"/>
          </a:p>
        </p:txBody>
      </p:sp>
    </p:spTree>
    <p:extLst>
      <p:ext uri="{BB962C8B-B14F-4D97-AF65-F5344CB8AC3E}">
        <p14:creationId xmlns:p14="http://schemas.microsoft.com/office/powerpoint/2010/main" val="33062983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IN"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BB011047-FFB1-4281-8AA7-C67D7FC1720E}"/>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0BA64777-0A6E-44A1-9A52-089347C95544}"/>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8D066FD0-7FB1-4473-9F5A-052CDF76D2C7}"/>
              </a:ext>
            </a:extLst>
          </p:cNvPr>
          <p:cNvSpPr>
            <a:spLocks noGrp="1" noChangeArrowheads="1"/>
          </p:cNvSpPr>
          <p:nvPr>
            <p:ph type="sldNum" sz="quarter" idx="12"/>
          </p:nvPr>
        </p:nvSpPr>
        <p:spPr>
          <a:ln/>
        </p:spPr>
        <p:txBody>
          <a:bodyPr/>
          <a:lstStyle>
            <a:lvl1pPr>
              <a:defRPr/>
            </a:lvl1pPr>
          </a:lstStyle>
          <a:p>
            <a:pPr>
              <a:defRPr/>
            </a:pPr>
            <a:fld id="{464B33AA-D7D6-4AF9-8507-39A6605B27C6}" type="slidenum">
              <a:rPr lang="en-US" altLang="en-US"/>
              <a:pPr>
                <a:defRPr/>
              </a:pPr>
              <a:t>‹#›</a:t>
            </a:fld>
            <a:endParaRPr lang="en-US" altLang="en-US"/>
          </a:p>
        </p:txBody>
      </p:sp>
    </p:spTree>
    <p:extLst>
      <p:ext uri="{BB962C8B-B14F-4D97-AF65-F5344CB8AC3E}">
        <p14:creationId xmlns:p14="http://schemas.microsoft.com/office/powerpoint/2010/main" val="31725100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4">
            <a:extLst>
              <a:ext uri="{FF2B5EF4-FFF2-40B4-BE49-F238E27FC236}">
                <a16:creationId xmlns:a16="http://schemas.microsoft.com/office/drawing/2014/main" id="{D3E3C6A4-4B1A-4C68-BC9E-108062B1B49E}"/>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9C1AA137-5DE1-4D94-A5C4-663255771BE2}"/>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2A788E28-AD11-4AD1-9E0C-EB1CB0AB2E0E}"/>
              </a:ext>
            </a:extLst>
          </p:cNvPr>
          <p:cNvSpPr>
            <a:spLocks noGrp="1" noChangeArrowheads="1"/>
          </p:cNvSpPr>
          <p:nvPr>
            <p:ph type="sldNum" sz="quarter" idx="12"/>
          </p:nvPr>
        </p:nvSpPr>
        <p:spPr>
          <a:ln/>
        </p:spPr>
        <p:txBody>
          <a:bodyPr/>
          <a:lstStyle>
            <a:lvl1pPr>
              <a:defRPr/>
            </a:lvl1pPr>
          </a:lstStyle>
          <a:p>
            <a:pPr>
              <a:defRPr/>
            </a:pPr>
            <a:fld id="{5707F969-126B-4625-93B3-22279DA28B61}" type="slidenum">
              <a:rPr lang="en-US" altLang="en-US"/>
              <a:pPr>
                <a:defRPr/>
              </a:pPr>
              <a:t>‹#›</a:t>
            </a:fld>
            <a:endParaRPr lang="en-US" altLang="en-US"/>
          </a:p>
        </p:txBody>
      </p:sp>
    </p:spTree>
    <p:extLst>
      <p:ext uri="{BB962C8B-B14F-4D97-AF65-F5344CB8AC3E}">
        <p14:creationId xmlns:p14="http://schemas.microsoft.com/office/powerpoint/2010/main" val="3783556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4">
            <a:extLst>
              <a:ext uri="{FF2B5EF4-FFF2-40B4-BE49-F238E27FC236}">
                <a16:creationId xmlns:a16="http://schemas.microsoft.com/office/drawing/2014/main" id="{E9EFAED9-FCC2-4312-9DB9-099CCCC9F0CB}"/>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DF9ABCCB-6606-4ED6-BC8F-C27228E26092}"/>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EB9E9A27-7F1E-4BB5-A7E3-48D09E2086F5}"/>
              </a:ext>
            </a:extLst>
          </p:cNvPr>
          <p:cNvSpPr>
            <a:spLocks noGrp="1" noChangeArrowheads="1"/>
          </p:cNvSpPr>
          <p:nvPr>
            <p:ph type="sldNum" sz="quarter" idx="12"/>
          </p:nvPr>
        </p:nvSpPr>
        <p:spPr>
          <a:ln/>
        </p:spPr>
        <p:txBody>
          <a:bodyPr/>
          <a:lstStyle>
            <a:lvl1pPr>
              <a:defRPr/>
            </a:lvl1pPr>
          </a:lstStyle>
          <a:p>
            <a:pPr>
              <a:defRPr/>
            </a:pPr>
            <a:fld id="{4BCD6217-5208-4DAE-8F2B-4AF241D0CED9}" type="slidenum">
              <a:rPr lang="en-US" altLang="en-US"/>
              <a:pPr>
                <a:defRPr/>
              </a:pPr>
              <a:t>‹#›</a:t>
            </a:fld>
            <a:endParaRPr lang="en-US" altLang="en-US"/>
          </a:p>
        </p:txBody>
      </p:sp>
    </p:spTree>
    <p:extLst>
      <p:ext uri="{BB962C8B-B14F-4D97-AF65-F5344CB8AC3E}">
        <p14:creationId xmlns:p14="http://schemas.microsoft.com/office/powerpoint/2010/main" val="145088830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endParaRPr lang="en-IN"/>
          </a:p>
        </p:txBody>
      </p:sp>
      <p:sp>
        <p:nvSpPr>
          <p:cNvPr id="3" name="Text Placeholder 2"/>
          <p:cNvSpPr>
            <a:spLocks noGrp="1"/>
          </p:cNvSpPr>
          <p:nvPr>
            <p:ph type="body"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Rectangle 4">
            <a:extLst>
              <a:ext uri="{FF2B5EF4-FFF2-40B4-BE49-F238E27FC236}">
                <a16:creationId xmlns:a16="http://schemas.microsoft.com/office/drawing/2014/main" id="{2B860734-F86E-485B-BE6F-D403DEB8552F}"/>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9962688C-8C09-49D2-A3CF-4C4EFFBA9D90}"/>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A1977806-7D51-41C3-94F1-95ECDE1BC91E}"/>
              </a:ext>
            </a:extLst>
          </p:cNvPr>
          <p:cNvSpPr>
            <a:spLocks noGrp="1" noChangeArrowheads="1"/>
          </p:cNvSpPr>
          <p:nvPr>
            <p:ph type="sldNum" sz="quarter" idx="12"/>
          </p:nvPr>
        </p:nvSpPr>
        <p:spPr>
          <a:ln/>
        </p:spPr>
        <p:txBody>
          <a:bodyPr/>
          <a:lstStyle>
            <a:lvl1pPr>
              <a:defRPr/>
            </a:lvl1pPr>
          </a:lstStyle>
          <a:p>
            <a:pPr>
              <a:defRPr/>
            </a:pPr>
            <a:fld id="{F9EAD34F-7ECA-488C-A8FC-C0C1447E8996}" type="slidenum">
              <a:rPr lang="en-US" altLang="en-US"/>
              <a:pPr>
                <a:defRPr/>
              </a:pPr>
              <a:t>‹#›</a:t>
            </a:fld>
            <a:endParaRPr lang="en-US" altLang="en-US"/>
          </a:p>
        </p:txBody>
      </p:sp>
    </p:spTree>
    <p:extLst>
      <p:ext uri="{BB962C8B-B14F-4D97-AF65-F5344CB8AC3E}">
        <p14:creationId xmlns:p14="http://schemas.microsoft.com/office/powerpoint/2010/main" val="39484702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ClipArt" preserve="1">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endParaRPr lang="en-IN"/>
          </a:p>
        </p:txBody>
      </p:sp>
      <p:sp>
        <p:nvSpPr>
          <p:cNvPr id="3" name="Text Placeholder 2"/>
          <p:cNvSpPr>
            <a:spLocks noGrp="1"/>
          </p:cNvSpPr>
          <p:nvPr>
            <p:ph type="body"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lipArt Placeholder 3"/>
          <p:cNvSpPr>
            <a:spLocks noGrp="1"/>
          </p:cNvSpPr>
          <p:nvPr>
            <p:ph type="clipArt" sz="half" idx="2"/>
          </p:nvPr>
        </p:nvSpPr>
        <p:spPr>
          <a:xfrm>
            <a:off x="4648200" y="1600200"/>
            <a:ext cx="4038600" cy="4525963"/>
          </a:xfrm>
        </p:spPr>
        <p:txBody>
          <a:bodyPr/>
          <a:lstStyle/>
          <a:p>
            <a:pPr lvl="0"/>
            <a:endParaRPr lang="en-IN" noProof="0"/>
          </a:p>
        </p:txBody>
      </p:sp>
      <p:sp>
        <p:nvSpPr>
          <p:cNvPr id="5" name="Rectangle 4">
            <a:extLst>
              <a:ext uri="{FF2B5EF4-FFF2-40B4-BE49-F238E27FC236}">
                <a16:creationId xmlns:a16="http://schemas.microsoft.com/office/drawing/2014/main" id="{476E3B21-9DDA-4FAF-8452-B0EFA960C312}"/>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6FFC52A2-EE11-4000-BC5D-3C1345468226}"/>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C9ABEACE-6FB7-4B99-9A67-9CEBD7FFC91C}"/>
              </a:ext>
            </a:extLst>
          </p:cNvPr>
          <p:cNvSpPr>
            <a:spLocks noGrp="1" noChangeArrowheads="1"/>
          </p:cNvSpPr>
          <p:nvPr>
            <p:ph type="sldNum" sz="quarter" idx="12"/>
          </p:nvPr>
        </p:nvSpPr>
        <p:spPr>
          <a:ln/>
        </p:spPr>
        <p:txBody>
          <a:bodyPr/>
          <a:lstStyle>
            <a:lvl1pPr>
              <a:defRPr/>
            </a:lvl1pPr>
          </a:lstStyle>
          <a:p>
            <a:pPr>
              <a:defRPr/>
            </a:pPr>
            <a:fld id="{652F27C2-0E5F-4AAB-8874-A93956E577BC}" type="slidenum">
              <a:rPr lang="en-US" altLang="en-US"/>
              <a:pPr>
                <a:defRPr/>
              </a:pPr>
              <a:t>‹#›</a:t>
            </a:fld>
            <a:endParaRPr lang="en-US" altLang="en-US"/>
          </a:p>
        </p:txBody>
      </p:sp>
    </p:spTree>
    <p:extLst>
      <p:ext uri="{BB962C8B-B14F-4D97-AF65-F5344CB8AC3E}">
        <p14:creationId xmlns:p14="http://schemas.microsoft.com/office/powerpoint/2010/main" val="2318300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8E5B2030-82C9-44DC-877E-5851501067E2}"/>
              </a:ext>
            </a:extLst>
          </p:cNvPr>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69A63B46-2CC7-4C4C-B290-7BAAA1F63AC2}"/>
              </a:ext>
            </a:extLst>
          </p:cNvPr>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id="{1FAE760F-22F1-45C9-8239-30305B70D9B2}"/>
              </a:ext>
            </a:extLst>
          </p:cNvPr>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latin typeface="Arial" pitchFamily="34" charset="0"/>
              </a:defRPr>
            </a:lvl1pPr>
          </a:lstStyle>
          <a:p>
            <a:pPr>
              <a:defRPr/>
            </a:pPr>
            <a:endParaRPr lang="en-US"/>
          </a:p>
        </p:txBody>
      </p:sp>
      <p:sp>
        <p:nvSpPr>
          <p:cNvPr id="1029" name="Rectangle 5">
            <a:extLst>
              <a:ext uri="{FF2B5EF4-FFF2-40B4-BE49-F238E27FC236}">
                <a16:creationId xmlns:a16="http://schemas.microsoft.com/office/drawing/2014/main" id="{1D35B8D3-8F19-4A2C-AD58-BE3E89625A4E}"/>
              </a:ext>
            </a:extLst>
          </p:cNvPr>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a:latin typeface="Arial" pitchFamily="34" charset="0"/>
              </a:defRPr>
            </a:lvl1pPr>
          </a:lstStyle>
          <a:p>
            <a:pPr>
              <a:defRPr/>
            </a:pPr>
            <a:endParaRPr lang="en-US"/>
          </a:p>
        </p:txBody>
      </p:sp>
      <p:sp>
        <p:nvSpPr>
          <p:cNvPr id="1030" name="Rectangle 6">
            <a:extLst>
              <a:ext uri="{FF2B5EF4-FFF2-40B4-BE49-F238E27FC236}">
                <a16:creationId xmlns:a16="http://schemas.microsoft.com/office/drawing/2014/main" id="{068A7449-CC58-4CEF-AE5E-3A0514B9DB26}"/>
              </a:ext>
            </a:extLst>
          </p:cNvPr>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a:lvl1pPr>
          </a:lstStyle>
          <a:p>
            <a:pPr>
              <a:defRPr/>
            </a:pPr>
            <a:fld id="{5A6E29DF-0E91-4F06-8705-C054EB6BBDCE}"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defRPr>
      </a:lvl2pPr>
      <a:lvl3pPr algn="ctr" rtl="0" eaLnBrk="0" fontAlgn="base" hangingPunct="0">
        <a:spcBef>
          <a:spcPct val="0"/>
        </a:spcBef>
        <a:spcAft>
          <a:spcPct val="0"/>
        </a:spcAft>
        <a:defRPr sz="4400">
          <a:solidFill>
            <a:schemeClr val="tx2"/>
          </a:solidFill>
          <a:latin typeface="Arial" pitchFamily="34" charset="0"/>
        </a:defRPr>
      </a:lvl3pPr>
      <a:lvl4pPr algn="ctr" rtl="0" eaLnBrk="0" fontAlgn="base" hangingPunct="0">
        <a:spcBef>
          <a:spcPct val="0"/>
        </a:spcBef>
        <a:spcAft>
          <a:spcPct val="0"/>
        </a:spcAft>
        <a:defRPr sz="4400">
          <a:solidFill>
            <a:schemeClr val="tx2"/>
          </a:solidFill>
          <a:latin typeface="Arial" pitchFamily="34" charset="0"/>
        </a:defRPr>
      </a:lvl4pPr>
      <a:lvl5pPr algn="ctr" rtl="0" eaLnBrk="0" fontAlgn="base" hangingPunct="0">
        <a:spcBef>
          <a:spcPct val="0"/>
        </a:spcBef>
        <a:spcAft>
          <a:spcPct val="0"/>
        </a:spcAft>
        <a:defRPr sz="4400">
          <a:solidFill>
            <a:schemeClr val="tx2"/>
          </a:solidFill>
          <a:latin typeface="Arial" pitchFamily="34" charset="0"/>
        </a:defRPr>
      </a:lvl5pPr>
      <a:lvl6pPr marL="457200" algn="ctr" rtl="0" fontAlgn="base">
        <a:spcBef>
          <a:spcPct val="0"/>
        </a:spcBef>
        <a:spcAft>
          <a:spcPct val="0"/>
        </a:spcAft>
        <a:defRPr sz="4400">
          <a:solidFill>
            <a:schemeClr val="tx2"/>
          </a:solidFill>
          <a:latin typeface="Arial" pitchFamily="34" charset="0"/>
        </a:defRPr>
      </a:lvl6pPr>
      <a:lvl7pPr marL="914400" algn="ctr" rtl="0" fontAlgn="base">
        <a:spcBef>
          <a:spcPct val="0"/>
        </a:spcBef>
        <a:spcAft>
          <a:spcPct val="0"/>
        </a:spcAft>
        <a:defRPr sz="4400">
          <a:solidFill>
            <a:schemeClr val="tx2"/>
          </a:solidFill>
          <a:latin typeface="Arial" pitchFamily="34" charset="0"/>
        </a:defRPr>
      </a:lvl7pPr>
      <a:lvl8pPr marL="1371600" algn="ctr" rtl="0" fontAlgn="base">
        <a:spcBef>
          <a:spcPct val="0"/>
        </a:spcBef>
        <a:spcAft>
          <a:spcPct val="0"/>
        </a:spcAft>
        <a:defRPr sz="4400">
          <a:solidFill>
            <a:schemeClr val="tx2"/>
          </a:solidFill>
          <a:latin typeface="Arial" pitchFamily="34" charset="0"/>
        </a:defRPr>
      </a:lvl8pPr>
      <a:lvl9pPr marL="1828800" algn="ctr" rtl="0" fontAlgn="base">
        <a:spcBef>
          <a:spcPct val="0"/>
        </a:spcBef>
        <a:spcAft>
          <a:spcPct val="0"/>
        </a:spcAft>
        <a:defRPr sz="4400">
          <a:solidFill>
            <a:schemeClr val="tx2"/>
          </a:solidFill>
          <a:latin typeface="Arial" pitchFamily="34"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anoop@iisermohali.ac.in"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Layout" Target="../slideLayouts/slideLayout6.xml"/><Relationship Id="rId4" Type="http://schemas.openxmlformats.org/officeDocument/2006/relationships/image" Target="../media/image5.jpg"/></Relationships>
</file>

<file path=ppt/slides/_rels/slide10.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58EF3740-78F8-4AF7-B9C0-B2112BDC1833}"/>
              </a:ext>
            </a:extLst>
          </p:cNvPr>
          <p:cNvSpPr txBox="1">
            <a:spLocks noGrp="1"/>
          </p:cNvSpPr>
          <p:nvPr>
            <p:ph type="title"/>
          </p:nvPr>
        </p:nvSpPr>
        <p:spPr>
          <a:xfrm>
            <a:off x="609600" y="1295400"/>
            <a:ext cx="7459663" cy="641350"/>
          </a:xfrm>
        </p:spPr>
        <p:txBody>
          <a:bodyPr lIns="0" tIns="38100" rIns="0" bIns="0">
            <a:spAutoFit/>
          </a:bodyPr>
          <a:lstStyle/>
          <a:p>
            <a:pPr marL="1901825" indent="-1889125">
              <a:lnSpc>
                <a:spcPts val="4700"/>
              </a:lnSpc>
              <a:spcBef>
                <a:spcPts val="300"/>
              </a:spcBef>
            </a:pPr>
            <a:r>
              <a:rPr lang="en-IN" altLang="en-US">
                <a:solidFill>
                  <a:srgbClr val="000000"/>
                </a:solidFill>
              </a:rPr>
              <a:t>EES203: Geochemistry </a:t>
            </a:r>
            <a:endParaRPr lang="en-US" altLang="en-US">
              <a:solidFill>
                <a:srgbClr val="000000"/>
              </a:solidFill>
              <a:latin typeface="Times New Roman" panose="02020603050405020304" pitchFamily="18" charset="0"/>
              <a:cs typeface="Times New Roman" panose="02020603050405020304" pitchFamily="18" charset="0"/>
            </a:endParaRPr>
          </a:p>
        </p:txBody>
      </p:sp>
      <p:sp>
        <p:nvSpPr>
          <p:cNvPr id="3" name="object 3">
            <a:extLst>
              <a:ext uri="{FF2B5EF4-FFF2-40B4-BE49-F238E27FC236}">
                <a16:creationId xmlns:a16="http://schemas.microsoft.com/office/drawing/2014/main" id="{656A1D54-95EB-4BB2-BAD9-B64ADC3C8E58}"/>
              </a:ext>
            </a:extLst>
          </p:cNvPr>
          <p:cNvSpPr txBox="1"/>
          <p:nvPr/>
        </p:nvSpPr>
        <p:spPr>
          <a:xfrm>
            <a:off x="1555750" y="2133600"/>
            <a:ext cx="7848600" cy="1198563"/>
          </a:xfrm>
          <a:prstGeom prst="rect">
            <a:avLst/>
          </a:prstGeom>
        </p:spPr>
        <p:txBody>
          <a:bodyPr lIns="0" tIns="110490" rIns="0" bIns="0">
            <a:spAutoFit/>
          </a:bodyPr>
          <a:lstStyle/>
          <a:p>
            <a:pPr marL="12700">
              <a:spcBef>
                <a:spcPts val="765"/>
              </a:spcBef>
              <a:defRPr/>
            </a:pPr>
            <a:r>
              <a:rPr sz="3200" dirty="0">
                <a:latin typeface="Times New Roman"/>
                <a:cs typeface="Times New Roman"/>
              </a:rPr>
              <a:t>Instructor:</a:t>
            </a:r>
            <a:r>
              <a:rPr sz="3200" spc="-235" dirty="0">
                <a:latin typeface="Times New Roman"/>
                <a:cs typeface="Times New Roman"/>
              </a:rPr>
              <a:t> </a:t>
            </a:r>
            <a:r>
              <a:rPr sz="3200" dirty="0">
                <a:latin typeface="Times New Roman"/>
                <a:cs typeface="Times New Roman"/>
              </a:rPr>
              <a:t>Anoop</a:t>
            </a:r>
            <a:r>
              <a:rPr sz="3200" spc="-195" dirty="0">
                <a:latin typeface="Times New Roman"/>
                <a:cs typeface="Times New Roman"/>
              </a:rPr>
              <a:t> </a:t>
            </a:r>
            <a:r>
              <a:rPr sz="3200" spc="-10" dirty="0">
                <a:latin typeface="Times New Roman"/>
                <a:cs typeface="Times New Roman"/>
              </a:rPr>
              <a:t>Ambili</a:t>
            </a:r>
            <a:endParaRPr lang="en-IN" sz="3200" spc="-10" dirty="0">
              <a:latin typeface="Times New Roman"/>
              <a:cs typeface="Times New Roman"/>
            </a:endParaRPr>
          </a:p>
          <a:p>
            <a:pPr marL="12700">
              <a:spcBef>
                <a:spcPts val="770"/>
              </a:spcBef>
              <a:defRPr/>
            </a:pPr>
            <a:r>
              <a:rPr sz="3200" dirty="0">
                <a:latin typeface="Times New Roman"/>
                <a:cs typeface="Times New Roman"/>
              </a:rPr>
              <a:t>Email</a:t>
            </a:r>
            <a:r>
              <a:rPr sz="3200" spc="-35" dirty="0">
                <a:latin typeface="Times New Roman"/>
                <a:cs typeface="Times New Roman"/>
              </a:rPr>
              <a:t> </a:t>
            </a:r>
            <a:r>
              <a:rPr sz="3200" dirty="0">
                <a:latin typeface="Times New Roman"/>
                <a:cs typeface="Times New Roman"/>
              </a:rPr>
              <a:t>id: </a:t>
            </a:r>
            <a:r>
              <a:rPr sz="3200" spc="-10" dirty="0">
                <a:latin typeface="Times New Roman"/>
                <a:cs typeface="Times New Roman"/>
                <a:hlinkClick r:id="rId2"/>
              </a:rPr>
              <a:t>anoop@iisermohali.ac.in</a:t>
            </a:r>
            <a:endParaRPr sz="3200" dirty="0">
              <a:latin typeface="Times New Roman"/>
              <a:cs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64769B-9147-404C-A034-68D1F6285BB8}"/>
              </a:ext>
            </a:extLst>
          </p:cNvPr>
          <p:cNvSpPr>
            <a:spLocks noGrp="1"/>
          </p:cNvSpPr>
          <p:nvPr>
            <p:ph type="title"/>
          </p:nvPr>
        </p:nvSpPr>
        <p:spPr>
          <a:xfrm>
            <a:off x="685800" y="2743200"/>
            <a:ext cx="8229600" cy="1143000"/>
          </a:xfrm>
        </p:spPr>
        <p:txBody>
          <a:bodyPr/>
          <a:lstStyle/>
          <a:p>
            <a:r>
              <a:rPr lang="en-IN" sz="4000" dirty="0"/>
              <a:t>Geochemical evolution of atmosphere</a:t>
            </a:r>
          </a:p>
        </p:txBody>
      </p:sp>
    </p:spTree>
    <p:extLst>
      <p:ext uri="{BB962C8B-B14F-4D97-AF65-F5344CB8AC3E}">
        <p14:creationId xmlns:p14="http://schemas.microsoft.com/office/powerpoint/2010/main" val="18548323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9E05E6-BCF1-4F61-AAC6-947095E09310}"/>
              </a:ext>
            </a:extLst>
          </p:cNvPr>
          <p:cNvSpPr>
            <a:spLocks noGrp="1"/>
          </p:cNvSpPr>
          <p:nvPr>
            <p:ph type="title"/>
          </p:nvPr>
        </p:nvSpPr>
        <p:spPr>
          <a:xfrm>
            <a:off x="0" y="133578"/>
            <a:ext cx="9144000" cy="1143000"/>
          </a:xfrm>
        </p:spPr>
        <p:txBody>
          <a:bodyPr/>
          <a:lstStyle/>
          <a:p>
            <a:r>
              <a:rPr lang="en-IN" dirty="0"/>
              <a:t>Composition of Earth’s atmosphere</a:t>
            </a:r>
          </a:p>
        </p:txBody>
      </p:sp>
      <p:pic>
        <p:nvPicPr>
          <p:cNvPr id="5" name="Picture 4">
            <a:extLst>
              <a:ext uri="{FF2B5EF4-FFF2-40B4-BE49-F238E27FC236}">
                <a16:creationId xmlns:a16="http://schemas.microsoft.com/office/drawing/2014/main" id="{0F1923B4-F1A7-4A58-92FF-00DFA7BA1775}"/>
              </a:ext>
            </a:extLst>
          </p:cNvPr>
          <p:cNvPicPr>
            <a:picLocks noChangeAspect="1"/>
          </p:cNvPicPr>
          <p:nvPr/>
        </p:nvPicPr>
        <p:blipFill>
          <a:blip r:embed="rId2"/>
          <a:stretch>
            <a:fillRect/>
          </a:stretch>
        </p:blipFill>
        <p:spPr>
          <a:xfrm>
            <a:off x="429928" y="1609843"/>
            <a:ext cx="8333072" cy="4543079"/>
          </a:xfrm>
          <a:prstGeom prst="rect">
            <a:avLst/>
          </a:prstGeom>
        </p:spPr>
      </p:pic>
      <p:sp>
        <p:nvSpPr>
          <p:cNvPr id="7" name="TextBox 6">
            <a:extLst>
              <a:ext uri="{FF2B5EF4-FFF2-40B4-BE49-F238E27FC236}">
                <a16:creationId xmlns:a16="http://schemas.microsoft.com/office/drawing/2014/main" id="{0D18C70A-F352-4D3C-ADA5-D29A0F0E7A9A}"/>
              </a:ext>
            </a:extLst>
          </p:cNvPr>
          <p:cNvSpPr txBox="1"/>
          <p:nvPr/>
        </p:nvSpPr>
        <p:spPr>
          <a:xfrm>
            <a:off x="2743200" y="6211669"/>
            <a:ext cx="6781800" cy="646331"/>
          </a:xfrm>
          <a:prstGeom prst="rect">
            <a:avLst/>
          </a:prstGeom>
          <a:noFill/>
        </p:spPr>
        <p:txBody>
          <a:bodyPr wrap="square">
            <a:spAutoFit/>
          </a:bodyPr>
          <a:lstStyle/>
          <a:p>
            <a:pPr algn="l"/>
            <a:r>
              <a:rPr lang="en-IN" b="1" dirty="0">
                <a:latin typeface="SabonLTStd-Bold"/>
              </a:rPr>
              <a:t>Source: </a:t>
            </a:r>
            <a:r>
              <a:rPr lang="en-IN" sz="1800" b="1" i="0" u="none" strike="noStrike" baseline="0" dirty="0">
                <a:latin typeface="SabonLTStd-Bold"/>
              </a:rPr>
              <a:t>Introduction to Geochemistry (</a:t>
            </a:r>
            <a:r>
              <a:rPr lang="en-IN" sz="1800" b="0" i="0" u="none" strike="noStrike" baseline="0" dirty="0">
                <a:latin typeface="SabonLTStd-Roman"/>
              </a:rPr>
              <a:t>Principles and Applications)</a:t>
            </a:r>
          </a:p>
          <a:p>
            <a:pPr algn="l"/>
            <a:r>
              <a:rPr lang="en-IN" sz="1800" b="1" i="0" u="none" strike="noStrike" baseline="0" dirty="0">
                <a:latin typeface="SabonLTStd-Bold"/>
              </a:rPr>
              <a:t>Kula C. Misra</a:t>
            </a:r>
            <a:r>
              <a:rPr lang="en-IN" b="1" dirty="0">
                <a:latin typeface="SabonLTStd-Bold"/>
              </a:rPr>
              <a:t> (</a:t>
            </a:r>
            <a:r>
              <a:rPr lang="en-IN" sz="1800" b="1" i="0" u="none" strike="noStrike" baseline="0" dirty="0">
                <a:latin typeface="SabonLTStd-Bold"/>
              </a:rPr>
              <a:t>The Crust–Hydrosphere–Atmosphere System)</a:t>
            </a:r>
            <a:endParaRPr lang="en-IN" dirty="0"/>
          </a:p>
        </p:txBody>
      </p:sp>
    </p:spTree>
    <p:extLst>
      <p:ext uri="{BB962C8B-B14F-4D97-AF65-F5344CB8AC3E}">
        <p14:creationId xmlns:p14="http://schemas.microsoft.com/office/powerpoint/2010/main" val="496308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title"/>
          </p:nvPr>
        </p:nvSpPr>
        <p:spPr>
          <a:xfrm>
            <a:off x="1036726" y="-25196"/>
            <a:ext cx="7068184" cy="697230"/>
          </a:xfrm>
          <a:prstGeom prst="rect">
            <a:avLst/>
          </a:prstGeom>
        </p:spPr>
        <p:txBody>
          <a:bodyPr vert="horz" wrap="square" lIns="0" tIns="13335" rIns="0" bIns="0" rtlCol="0">
            <a:spAutoFit/>
          </a:bodyPr>
          <a:lstStyle/>
          <a:p>
            <a:pPr marL="12700">
              <a:lnSpc>
                <a:spcPct val="100000"/>
              </a:lnSpc>
              <a:spcBef>
                <a:spcPts val="105"/>
              </a:spcBef>
            </a:pPr>
            <a:r>
              <a:rPr dirty="0">
                <a:latin typeface="Times New Roman"/>
                <a:cs typeface="Times New Roman"/>
              </a:rPr>
              <a:t>Composition</a:t>
            </a:r>
            <a:r>
              <a:rPr spc="-80" dirty="0">
                <a:latin typeface="Times New Roman"/>
                <a:cs typeface="Times New Roman"/>
              </a:rPr>
              <a:t> </a:t>
            </a:r>
            <a:r>
              <a:rPr dirty="0">
                <a:latin typeface="Times New Roman"/>
                <a:cs typeface="Times New Roman"/>
              </a:rPr>
              <a:t>of</a:t>
            </a:r>
            <a:r>
              <a:rPr spc="-150" dirty="0">
                <a:latin typeface="Times New Roman"/>
                <a:cs typeface="Times New Roman"/>
              </a:rPr>
              <a:t> </a:t>
            </a:r>
            <a:r>
              <a:rPr spc="-545" dirty="0">
                <a:latin typeface="Times New Roman"/>
                <a:cs typeface="Times New Roman"/>
              </a:rPr>
              <a:t>V</a:t>
            </a:r>
            <a:r>
              <a:rPr spc="20" dirty="0">
                <a:latin typeface="Times New Roman"/>
                <a:cs typeface="Times New Roman"/>
              </a:rPr>
              <a:t>olcanic</a:t>
            </a:r>
            <a:r>
              <a:rPr spc="-90" dirty="0">
                <a:latin typeface="Times New Roman"/>
                <a:cs typeface="Times New Roman"/>
              </a:rPr>
              <a:t> </a:t>
            </a:r>
            <a:r>
              <a:rPr spc="-10" dirty="0">
                <a:latin typeface="Times New Roman"/>
                <a:cs typeface="Times New Roman"/>
              </a:rPr>
              <a:t>Gases</a:t>
            </a:r>
          </a:p>
        </p:txBody>
      </p:sp>
      <p:sp>
        <p:nvSpPr>
          <p:cNvPr id="5" name="object 5"/>
          <p:cNvSpPr txBox="1"/>
          <p:nvPr/>
        </p:nvSpPr>
        <p:spPr>
          <a:xfrm>
            <a:off x="1120444" y="1013777"/>
            <a:ext cx="2308860" cy="2164695"/>
          </a:xfrm>
          <a:prstGeom prst="rect">
            <a:avLst/>
          </a:prstGeom>
        </p:spPr>
        <p:txBody>
          <a:bodyPr vert="horz" wrap="square" lIns="0" tIns="60960" rIns="0" bIns="0" rtlCol="0">
            <a:spAutoFit/>
          </a:bodyPr>
          <a:lstStyle/>
          <a:p>
            <a:pPr marL="380365">
              <a:lnSpc>
                <a:spcPct val="100000"/>
              </a:lnSpc>
              <a:spcBef>
                <a:spcPts val="480"/>
              </a:spcBef>
            </a:pPr>
            <a:r>
              <a:rPr lang="en-IN" sz="2000" spc="-10" dirty="0">
                <a:latin typeface="Times New Roman"/>
                <a:cs typeface="Times New Roman"/>
              </a:rPr>
              <a:t>Present day</a:t>
            </a:r>
            <a:r>
              <a:rPr sz="2000" spc="-10" dirty="0">
                <a:latin typeface="Times New Roman"/>
                <a:cs typeface="Times New Roman"/>
              </a:rPr>
              <a:t>….</a:t>
            </a:r>
            <a:endParaRPr sz="2000" dirty="0">
              <a:latin typeface="Times New Roman"/>
              <a:cs typeface="Times New Roman"/>
            </a:endParaRPr>
          </a:p>
          <a:p>
            <a:pPr marL="380365" indent="-342265">
              <a:lnSpc>
                <a:spcPct val="100000"/>
              </a:lnSpc>
              <a:spcBef>
                <a:spcPts val="384"/>
              </a:spcBef>
              <a:buChar char="•"/>
              <a:tabLst>
                <a:tab pos="380365" algn="l"/>
              </a:tabLst>
            </a:pPr>
            <a:r>
              <a:rPr sz="2000" dirty="0">
                <a:latin typeface="Times New Roman"/>
                <a:cs typeface="Times New Roman"/>
              </a:rPr>
              <a:t>80%</a:t>
            </a:r>
            <a:r>
              <a:rPr sz="2000" spc="-20" dirty="0">
                <a:latin typeface="Times New Roman"/>
                <a:cs typeface="Times New Roman"/>
              </a:rPr>
              <a:t> </a:t>
            </a:r>
            <a:r>
              <a:rPr sz="2000" spc="-25" dirty="0">
                <a:latin typeface="Times New Roman"/>
                <a:cs typeface="Times New Roman"/>
              </a:rPr>
              <a:t>H</a:t>
            </a:r>
            <a:r>
              <a:rPr sz="2000" spc="-37" baseline="-21164" dirty="0">
                <a:latin typeface="Times New Roman"/>
                <a:cs typeface="Times New Roman"/>
              </a:rPr>
              <a:t>2</a:t>
            </a:r>
            <a:r>
              <a:rPr sz="2000" spc="-25" dirty="0">
                <a:latin typeface="Times New Roman"/>
                <a:cs typeface="Times New Roman"/>
              </a:rPr>
              <a:t>O</a:t>
            </a:r>
            <a:endParaRPr sz="2000" dirty="0">
              <a:latin typeface="Times New Roman"/>
              <a:cs typeface="Times New Roman"/>
            </a:endParaRPr>
          </a:p>
          <a:p>
            <a:pPr marL="380365" indent="-342265">
              <a:lnSpc>
                <a:spcPct val="100000"/>
              </a:lnSpc>
              <a:spcBef>
                <a:spcPts val="385"/>
              </a:spcBef>
              <a:buChar char="•"/>
              <a:tabLst>
                <a:tab pos="380365" algn="l"/>
              </a:tabLst>
            </a:pPr>
            <a:r>
              <a:rPr sz="2000" dirty="0">
                <a:latin typeface="Times New Roman"/>
                <a:cs typeface="Times New Roman"/>
              </a:rPr>
              <a:t>10%</a:t>
            </a:r>
            <a:r>
              <a:rPr sz="2000" spc="-20" dirty="0">
                <a:latin typeface="Times New Roman"/>
                <a:cs typeface="Times New Roman"/>
              </a:rPr>
              <a:t> </a:t>
            </a:r>
            <a:r>
              <a:rPr sz="2000" spc="-25" dirty="0">
                <a:latin typeface="Times New Roman"/>
                <a:cs typeface="Times New Roman"/>
              </a:rPr>
              <a:t>CO</a:t>
            </a:r>
            <a:r>
              <a:rPr sz="2000" spc="-37" baseline="-21164" dirty="0">
                <a:latin typeface="Times New Roman"/>
                <a:cs typeface="Times New Roman"/>
              </a:rPr>
              <a:t>2</a:t>
            </a:r>
            <a:endParaRPr sz="2000" baseline="-21164" dirty="0">
              <a:latin typeface="Times New Roman"/>
              <a:cs typeface="Times New Roman"/>
            </a:endParaRPr>
          </a:p>
          <a:p>
            <a:pPr marL="380365" indent="-342265">
              <a:lnSpc>
                <a:spcPct val="100000"/>
              </a:lnSpc>
              <a:spcBef>
                <a:spcPts val="385"/>
              </a:spcBef>
              <a:buChar char="•"/>
              <a:tabLst>
                <a:tab pos="380365" algn="l"/>
              </a:tabLst>
            </a:pPr>
            <a:r>
              <a:rPr sz="2000" dirty="0">
                <a:latin typeface="Times New Roman"/>
                <a:cs typeface="Times New Roman"/>
              </a:rPr>
              <a:t>6%</a:t>
            </a:r>
            <a:r>
              <a:rPr sz="2000" spc="-15" dirty="0">
                <a:latin typeface="Times New Roman"/>
                <a:cs typeface="Times New Roman"/>
              </a:rPr>
              <a:t> </a:t>
            </a:r>
            <a:r>
              <a:rPr sz="2000" spc="-25" dirty="0">
                <a:latin typeface="Times New Roman"/>
                <a:cs typeface="Times New Roman"/>
              </a:rPr>
              <a:t>SO</a:t>
            </a:r>
            <a:r>
              <a:rPr sz="2000" spc="-37" baseline="-21164" dirty="0">
                <a:latin typeface="Times New Roman"/>
                <a:cs typeface="Times New Roman"/>
              </a:rPr>
              <a:t>2</a:t>
            </a:r>
            <a:endParaRPr sz="2000" baseline="-21164" dirty="0">
              <a:latin typeface="Times New Roman"/>
              <a:cs typeface="Times New Roman"/>
            </a:endParaRPr>
          </a:p>
          <a:p>
            <a:pPr marL="380365" indent="-342265">
              <a:spcBef>
                <a:spcPts val="385"/>
              </a:spcBef>
              <a:buFontTx/>
              <a:buChar char="•"/>
              <a:tabLst>
                <a:tab pos="380365" algn="l"/>
              </a:tabLst>
            </a:pPr>
            <a:r>
              <a:rPr sz="2000" dirty="0">
                <a:latin typeface="Times New Roman"/>
                <a:cs typeface="Times New Roman"/>
              </a:rPr>
              <a:t>1% </a:t>
            </a:r>
            <a:r>
              <a:rPr sz="2000" spc="-50" dirty="0">
                <a:latin typeface="Times New Roman"/>
                <a:cs typeface="Times New Roman"/>
              </a:rPr>
              <a:t>H</a:t>
            </a:r>
            <a:r>
              <a:rPr lang="en-IN" sz="2000" spc="-50" baseline="-25000" dirty="0">
                <a:latin typeface="Times New Roman"/>
                <a:cs typeface="Times New Roman"/>
              </a:rPr>
              <a:t>2</a:t>
            </a:r>
            <a:endParaRPr lang="en-IN" sz="2000" baseline="-25000" dirty="0">
              <a:latin typeface="Times New Roman"/>
              <a:cs typeface="Times New Roman"/>
            </a:endParaRPr>
          </a:p>
          <a:p>
            <a:pPr marL="380365" indent="-342265">
              <a:lnSpc>
                <a:spcPct val="100000"/>
              </a:lnSpc>
              <a:spcBef>
                <a:spcPts val="385"/>
              </a:spcBef>
              <a:buChar char="•"/>
              <a:tabLst>
                <a:tab pos="380365" algn="l"/>
              </a:tabLst>
            </a:pPr>
            <a:endParaRPr sz="2000" dirty="0">
              <a:latin typeface="Times New Roman"/>
              <a:cs typeface="Times New Roman"/>
            </a:endParaRPr>
          </a:p>
        </p:txBody>
      </p:sp>
      <p:sp>
        <p:nvSpPr>
          <p:cNvPr id="6" name="object 6"/>
          <p:cNvSpPr txBox="1"/>
          <p:nvPr/>
        </p:nvSpPr>
        <p:spPr>
          <a:xfrm>
            <a:off x="1129267" y="2781632"/>
            <a:ext cx="3183890" cy="433260"/>
          </a:xfrm>
          <a:prstGeom prst="rect">
            <a:avLst/>
          </a:prstGeom>
        </p:spPr>
        <p:txBody>
          <a:bodyPr vert="horz" wrap="square" lIns="0" tIns="17145" rIns="0" bIns="0" rtlCol="0">
            <a:spAutoFit/>
          </a:bodyPr>
          <a:lstStyle/>
          <a:p>
            <a:pPr marL="380365" indent="-342265">
              <a:lnSpc>
                <a:spcPts val="3745"/>
              </a:lnSpc>
              <a:buChar char="•"/>
              <a:tabLst>
                <a:tab pos="380365" algn="l"/>
              </a:tabLst>
            </a:pPr>
            <a:r>
              <a:rPr sz="2000" dirty="0">
                <a:latin typeface="Times New Roman"/>
                <a:cs typeface="Times New Roman"/>
              </a:rPr>
              <a:t>Trace</a:t>
            </a:r>
            <a:r>
              <a:rPr sz="2000" spc="-60" dirty="0">
                <a:latin typeface="Times New Roman"/>
                <a:cs typeface="Times New Roman"/>
              </a:rPr>
              <a:t> </a:t>
            </a:r>
            <a:r>
              <a:rPr sz="2000" dirty="0">
                <a:latin typeface="Times New Roman"/>
                <a:cs typeface="Times New Roman"/>
              </a:rPr>
              <a:t>of</a:t>
            </a:r>
            <a:r>
              <a:rPr sz="2000" spc="-60" dirty="0">
                <a:latin typeface="Times New Roman"/>
                <a:cs typeface="Times New Roman"/>
              </a:rPr>
              <a:t> </a:t>
            </a:r>
            <a:r>
              <a:rPr sz="2000" dirty="0">
                <a:latin typeface="Times New Roman"/>
                <a:cs typeface="Times New Roman"/>
              </a:rPr>
              <a:t>N</a:t>
            </a:r>
            <a:r>
              <a:rPr sz="2000" baseline="-21164" dirty="0">
                <a:latin typeface="Times New Roman"/>
                <a:cs typeface="Times New Roman"/>
              </a:rPr>
              <a:t>2</a:t>
            </a:r>
            <a:r>
              <a:rPr sz="2000" dirty="0">
                <a:latin typeface="Times New Roman"/>
                <a:cs typeface="Times New Roman"/>
              </a:rPr>
              <a:t>,</a:t>
            </a:r>
            <a:r>
              <a:rPr sz="2000" spc="-45" dirty="0">
                <a:latin typeface="Times New Roman"/>
                <a:cs typeface="Times New Roman"/>
              </a:rPr>
              <a:t> </a:t>
            </a:r>
            <a:r>
              <a:rPr sz="2000" spc="-25" dirty="0">
                <a:latin typeface="Times New Roman"/>
                <a:cs typeface="Times New Roman"/>
              </a:rPr>
              <a:t>HCl</a:t>
            </a:r>
            <a:endParaRPr sz="2000" dirty="0">
              <a:latin typeface="Times New Roman"/>
              <a:cs typeface="Times New Roman"/>
            </a:endParaRPr>
          </a:p>
        </p:txBody>
      </p:sp>
      <p:sp>
        <p:nvSpPr>
          <p:cNvPr id="7" name="object 7"/>
          <p:cNvSpPr txBox="1"/>
          <p:nvPr/>
        </p:nvSpPr>
        <p:spPr>
          <a:xfrm>
            <a:off x="4626228" y="963787"/>
            <a:ext cx="3762375" cy="914161"/>
          </a:xfrm>
          <a:prstGeom prst="rect">
            <a:avLst/>
          </a:prstGeom>
        </p:spPr>
        <p:txBody>
          <a:bodyPr vert="horz" wrap="square" lIns="0" tIns="67945" rIns="0" bIns="0" rtlCol="0">
            <a:spAutoFit/>
          </a:bodyPr>
          <a:lstStyle/>
          <a:p>
            <a:pPr marL="381000" marR="203200" indent="-342900">
              <a:lnSpc>
                <a:spcPts val="3460"/>
              </a:lnSpc>
              <a:spcBef>
                <a:spcPts val="535"/>
              </a:spcBef>
              <a:buChar char="•"/>
              <a:tabLst>
                <a:tab pos="381000" algn="l"/>
              </a:tabLst>
            </a:pPr>
            <a:r>
              <a:rPr lang="en-US" sz="2000" dirty="0">
                <a:latin typeface="Times New Roman"/>
                <a:cs typeface="Times New Roman"/>
              </a:rPr>
              <a:t>Major</a:t>
            </a:r>
            <a:r>
              <a:rPr lang="en-US" sz="2000" spc="-35" dirty="0">
                <a:latin typeface="Times New Roman"/>
                <a:cs typeface="Times New Roman"/>
              </a:rPr>
              <a:t> </a:t>
            </a:r>
            <a:r>
              <a:rPr lang="en-US" sz="2000" dirty="0">
                <a:latin typeface="Times New Roman"/>
                <a:cs typeface="Times New Roman"/>
              </a:rPr>
              <a:t>gases</a:t>
            </a:r>
            <a:r>
              <a:rPr lang="en-US" sz="2000" spc="-35" dirty="0">
                <a:latin typeface="Times New Roman"/>
                <a:cs typeface="Times New Roman"/>
              </a:rPr>
              <a:t> </a:t>
            </a:r>
            <a:r>
              <a:rPr lang="en-US" sz="2000" dirty="0">
                <a:latin typeface="Times New Roman"/>
                <a:cs typeface="Times New Roman"/>
              </a:rPr>
              <a:t>are</a:t>
            </a:r>
            <a:r>
              <a:rPr lang="en-US" sz="2000" spc="-45" dirty="0">
                <a:latin typeface="Times New Roman"/>
                <a:cs typeface="Times New Roman"/>
              </a:rPr>
              <a:t> </a:t>
            </a:r>
            <a:r>
              <a:rPr lang="en-US" sz="2000" spc="-25" dirty="0">
                <a:latin typeface="Times New Roman"/>
                <a:cs typeface="Times New Roman"/>
              </a:rPr>
              <a:t>in </a:t>
            </a:r>
            <a:r>
              <a:rPr lang="en-US" sz="2000" dirty="0">
                <a:latin typeface="Times New Roman"/>
                <a:cs typeface="Times New Roman"/>
              </a:rPr>
              <a:t>oxidized</a:t>
            </a:r>
            <a:r>
              <a:rPr lang="en-US" sz="2000" spc="-50" dirty="0">
                <a:latin typeface="Times New Roman"/>
                <a:cs typeface="Times New Roman"/>
              </a:rPr>
              <a:t> </a:t>
            </a:r>
            <a:r>
              <a:rPr lang="en-US" sz="2000" dirty="0">
                <a:latin typeface="Times New Roman"/>
                <a:cs typeface="Times New Roman"/>
              </a:rPr>
              <a:t>form</a:t>
            </a:r>
            <a:r>
              <a:rPr lang="en-US" sz="2000" spc="-10" dirty="0">
                <a:latin typeface="Times New Roman"/>
                <a:cs typeface="Times New Roman"/>
              </a:rPr>
              <a:t> </a:t>
            </a:r>
            <a:r>
              <a:rPr lang="en-US" sz="2000" spc="-50" dirty="0">
                <a:latin typeface="Times New Roman"/>
                <a:cs typeface="Times New Roman"/>
              </a:rPr>
              <a:t>now.</a:t>
            </a:r>
            <a:endParaRPr lang="en-US" sz="2000" dirty="0">
              <a:latin typeface="Times New Roman"/>
              <a:cs typeface="Times New Roman"/>
            </a:endParaRPr>
          </a:p>
        </p:txBody>
      </p:sp>
      <p:sp>
        <p:nvSpPr>
          <p:cNvPr id="9" name="object 9"/>
          <p:cNvSpPr txBox="1"/>
          <p:nvPr/>
        </p:nvSpPr>
        <p:spPr>
          <a:xfrm>
            <a:off x="78739" y="3987546"/>
            <a:ext cx="3125470" cy="319959"/>
          </a:xfrm>
          <a:prstGeom prst="rect">
            <a:avLst/>
          </a:prstGeom>
        </p:spPr>
        <p:txBody>
          <a:bodyPr vert="horz" wrap="square" lIns="0" tIns="12065" rIns="0" bIns="0" rtlCol="0">
            <a:spAutoFit/>
          </a:bodyPr>
          <a:lstStyle/>
          <a:p>
            <a:pPr marL="12700">
              <a:lnSpc>
                <a:spcPct val="100000"/>
              </a:lnSpc>
              <a:spcBef>
                <a:spcPts val="95"/>
              </a:spcBef>
            </a:pPr>
            <a:r>
              <a:rPr sz="2000" b="1" dirty="0">
                <a:latin typeface="Arial"/>
                <a:cs typeface="Arial"/>
              </a:rPr>
              <a:t>Early</a:t>
            </a:r>
            <a:r>
              <a:rPr sz="2000" b="1" spc="-70" dirty="0">
                <a:latin typeface="Arial"/>
                <a:cs typeface="Arial"/>
              </a:rPr>
              <a:t> </a:t>
            </a:r>
            <a:r>
              <a:rPr sz="2000" b="1" spc="-10" dirty="0">
                <a:latin typeface="Arial"/>
                <a:cs typeface="Arial"/>
              </a:rPr>
              <a:t>atmosphere:</a:t>
            </a:r>
            <a:endParaRPr sz="2000">
              <a:latin typeface="Arial"/>
              <a:cs typeface="Arial"/>
            </a:endParaRPr>
          </a:p>
        </p:txBody>
      </p:sp>
      <p:sp>
        <p:nvSpPr>
          <p:cNvPr id="10" name="object 10"/>
          <p:cNvSpPr txBox="1"/>
          <p:nvPr/>
        </p:nvSpPr>
        <p:spPr>
          <a:xfrm>
            <a:off x="3204209" y="3987546"/>
            <a:ext cx="4617085" cy="320601"/>
          </a:xfrm>
          <a:prstGeom prst="rect">
            <a:avLst/>
          </a:prstGeom>
        </p:spPr>
        <p:txBody>
          <a:bodyPr vert="horz" wrap="square" lIns="0" tIns="12700" rIns="0" bIns="0" rtlCol="0">
            <a:spAutoFit/>
          </a:bodyPr>
          <a:lstStyle/>
          <a:p>
            <a:pPr marL="12700">
              <a:lnSpc>
                <a:spcPct val="100000"/>
              </a:lnSpc>
              <a:spcBef>
                <a:spcPts val="100"/>
              </a:spcBef>
            </a:pPr>
            <a:r>
              <a:rPr sz="2000" b="1" dirty="0">
                <a:solidFill>
                  <a:schemeClr val="accent6"/>
                </a:solidFill>
                <a:latin typeface="Arial MT"/>
                <a:cs typeface="Arial" panose="020B0604020202020204" pitchFamily="34" charset="0"/>
              </a:rPr>
              <a:t>Free</a:t>
            </a:r>
            <a:r>
              <a:rPr sz="2000" b="1" spc="-70" dirty="0">
                <a:solidFill>
                  <a:schemeClr val="accent6"/>
                </a:solidFill>
                <a:latin typeface="Arial MT"/>
                <a:cs typeface="Arial" panose="020B0604020202020204" pitchFamily="34" charset="0"/>
              </a:rPr>
              <a:t> </a:t>
            </a:r>
            <a:r>
              <a:rPr sz="2000" b="1" dirty="0">
                <a:solidFill>
                  <a:schemeClr val="accent6"/>
                </a:solidFill>
                <a:latin typeface="Arial MT"/>
                <a:cs typeface="Arial" panose="020B0604020202020204" pitchFamily="34" charset="0"/>
              </a:rPr>
              <a:t>O2</a:t>
            </a:r>
            <a:r>
              <a:rPr sz="2000" b="1" spc="-60" dirty="0">
                <a:solidFill>
                  <a:schemeClr val="accent6"/>
                </a:solidFill>
                <a:latin typeface="Arial MT"/>
                <a:cs typeface="Arial" panose="020B0604020202020204" pitchFamily="34" charset="0"/>
              </a:rPr>
              <a:t> </a:t>
            </a:r>
            <a:r>
              <a:rPr sz="2000" dirty="0">
                <a:latin typeface="Arial MT"/>
                <a:cs typeface="Arial" panose="020B0604020202020204" pitchFamily="34" charset="0"/>
              </a:rPr>
              <a:t>would</a:t>
            </a:r>
            <a:r>
              <a:rPr sz="2000" spc="-40" dirty="0">
                <a:latin typeface="Arial MT"/>
                <a:cs typeface="Arial" panose="020B0604020202020204" pitchFamily="34" charset="0"/>
              </a:rPr>
              <a:t> </a:t>
            </a:r>
            <a:r>
              <a:rPr sz="2000" dirty="0">
                <a:latin typeface="Arial MT"/>
                <a:cs typeface="Arial" panose="020B0604020202020204" pitchFamily="34" charset="0"/>
              </a:rPr>
              <a:t>have</a:t>
            </a:r>
            <a:r>
              <a:rPr sz="2000" spc="-65" dirty="0">
                <a:latin typeface="Arial MT"/>
                <a:cs typeface="Arial" panose="020B0604020202020204" pitchFamily="34" charset="0"/>
              </a:rPr>
              <a:t> </a:t>
            </a:r>
            <a:r>
              <a:rPr sz="2000" dirty="0">
                <a:latin typeface="Arial MT"/>
                <a:cs typeface="Arial" panose="020B0604020202020204" pitchFamily="34" charset="0"/>
              </a:rPr>
              <a:t>been</a:t>
            </a:r>
            <a:r>
              <a:rPr sz="2000" spc="-40" dirty="0">
                <a:latin typeface="Arial MT"/>
                <a:cs typeface="Arial" panose="020B0604020202020204" pitchFamily="34" charset="0"/>
              </a:rPr>
              <a:t> </a:t>
            </a:r>
            <a:r>
              <a:rPr sz="2000" spc="-10" dirty="0">
                <a:latin typeface="Arial MT"/>
                <a:cs typeface="Arial" panose="020B0604020202020204" pitchFamily="34" charset="0"/>
              </a:rPr>
              <a:t>absent.</a:t>
            </a:r>
            <a:endParaRPr sz="2000" dirty="0">
              <a:latin typeface="Arial MT"/>
              <a:cs typeface="Arial" panose="020B0604020202020204" pitchFamily="34" charset="0"/>
            </a:endParaRPr>
          </a:p>
        </p:txBody>
      </p:sp>
      <p:sp>
        <p:nvSpPr>
          <p:cNvPr id="11" name="object 11"/>
          <p:cNvSpPr txBox="1"/>
          <p:nvPr/>
        </p:nvSpPr>
        <p:spPr>
          <a:xfrm>
            <a:off x="53339" y="4293869"/>
            <a:ext cx="8895715" cy="1302921"/>
          </a:xfrm>
          <a:prstGeom prst="rect">
            <a:avLst/>
          </a:prstGeom>
        </p:spPr>
        <p:txBody>
          <a:bodyPr vert="horz" wrap="square" lIns="0" tIns="134620" rIns="0" bIns="0" rtlCol="0">
            <a:spAutoFit/>
          </a:bodyPr>
          <a:lstStyle/>
          <a:p>
            <a:pPr marL="3119755">
              <a:lnSpc>
                <a:spcPct val="100000"/>
              </a:lnSpc>
              <a:spcBef>
                <a:spcPts val="1060"/>
              </a:spcBef>
            </a:pPr>
            <a:r>
              <a:rPr sz="2000" dirty="0">
                <a:latin typeface="Arial MT"/>
                <a:cs typeface="Arial" panose="020B0604020202020204" pitchFamily="34" charset="0"/>
              </a:rPr>
              <a:t>CO</a:t>
            </a:r>
            <a:r>
              <a:rPr sz="2000" baseline="-20833" dirty="0">
                <a:latin typeface="Arial MT"/>
                <a:cs typeface="Arial" panose="020B0604020202020204" pitchFamily="34" charset="0"/>
              </a:rPr>
              <a:t>2</a:t>
            </a:r>
            <a:r>
              <a:rPr sz="2000" spc="187" baseline="-20833" dirty="0">
                <a:latin typeface="Arial MT"/>
                <a:cs typeface="Arial" panose="020B0604020202020204" pitchFamily="34" charset="0"/>
              </a:rPr>
              <a:t> </a:t>
            </a:r>
            <a:r>
              <a:rPr sz="2000" dirty="0">
                <a:latin typeface="Arial MT"/>
                <a:cs typeface="Arial" panose="020B0604020202020204" pitchFamily="34" charset="0"/>
              </a:rPr>
              <a:t>and</a:t>
            </a:r>
            <a:r>
              <a:rPr sz="2000" spc="-55" dirty="0">
                <a:latin typeface="Arial MT"/>
                <a:cs typeface="Arial" panose="020B0604020202020204" pitchFamily="34" charset="0"/>
              </a:rPr>
              <a:t> </a:t>
            </a:r>
            <a:r>
              <a:rPr sz="2000" dirty="0">
                <a:latin typeface="Arial MT"/>
                <a:cs typeface="Arial" panose="020B0604020202020204" pitchFamily="34" charset="0"/>
              </a:rPr>
              <a:t>CH</a:t>
            </a:r>
            <a:r>
              <a:rPr sz="2000" baseline="-20833" dirty="0">
                <a:latin typeface="Arial MT"/>
                <a:cs typeface="Arial" panose="020B0604020202020204" pitchFamily="34" charset="0"/>
              </a:rPr>
              <a:t>4</a:t>
            </a:r>
            <a:r>
              <a:rPr sz="2000" spc="247" baseline="-20833" dirty="0">
                <a:latin typeface="Arial MT"/>
                <a:cs typeface="Arial" panose="020B0604020202020204" pitchFamily="34" charset="0"/>
              </a:rPr>
              <a:t> </a:t>
            </a:r>
            <a:r>
              <a:rPr sz="2000" dirty="0">
                <a:latin typeface="Arial MT"/>
                <a:cs typeface="Arial" panose="020B0604020202020204" pitchFamily="34" charset="0"/>
              </a:rPr>
              <a:t>were</a:t>
            </a:r>
            <a:r>
              <a:rPr sz="2000" spc="-50" dirty="0">
                <a:latin typeface="Arial MT"/>
                <a:cs typeface="Arial" panose="020B0604020202020204" pitchFamily="34" charset="0"/>
              </a:rPr>
              <a:t> </a:t>
            </a:r>
            <a:r>
              <a:rPr sz="2000" dirty="0">
                <a:latin typeface="Arial MT"/>
                <a:cs typeface="Arial" panose="020B0604020202020204" pitchFamily="34" charset="0"/>
              </a:rPr>
              <a:t>probably</a:t>
            </a:r>
            <a:r>
              <a:rPr sz="2000" spc="-35" dirty="0">
                <a:latin typeface="Arial MT"/>
                <a:cs typeface="Arial" panose="020B0604020202020204" pitchFamily="34" charset="0"/>
              </a:rPr>
              <a:t> </a:t>
            </a:r>
            <a:r>
              <a:rPr sz="2000" spc="-10" dirty="0">
                <a:latin typeface="Arial MT"/>
                <a:cs typeface="Arial" panose="020B0604020202020204" pitchFamily="34" charset="0"/>
              </a:rPr>
              <a:t>abundant.</a:t>
            </a:r>
            <a:endParaRPr sz="2000" dirty="0">
              <a:latin typeface="Arial MT"/>
              <a:cs typeface="Arial" panose="020B0604020202020204" pitchFamily="34" charset="0"/>
            </a:endParaRPr>
          </a:p>
          <a:p>
            <a:pPr marL="38100">
              <a:lnSpc>
                <a:spcPct val="100000"/>
              </a:lnSpc>
              <a:spcBef>
                <a:spcPts val="960"/>
              </a:spcBef>
            </a:pPr>
            <a:r>
              <a:rPr sz="2000" dirty="0">
                <a:latin typeface="Arial MT"/>
                <a:cs typeface="Arial" panose="020B0604020202020204" pitchFamily="34" charset="0"/>
              </a:rPr>
              <a:t>The</a:t>
            </a:r>
            <a:r>
              <a:rPr sz="2000" spc="-80" dirty="0">
                <a:latin typeface="Arial MT"/>
                <a:cs typeface="Arial" panose="020B0604020202020204" pitchFamily="34" charset="0"/>
              </a:rPr>
              <a:t> </a:t>
            </a:r>
            <a:r>
              <a:rPr sz="2000" dirty="0">
                <a:latin typeface="Arial MT"/>
                <a:cs typeface="Arial" panose="020B0604020202020204" pitchFamily="34" charset="0"/>
              </a:rPr>
              <a:t>CO</a:t>
            </a:r>
            <a:r>
              <a:rPr sz="2000" baseline="-20833" dirty="0">
                <a:latin typeface="Arial MT"/>
                <a:cs typeface="Arial" panose="020B0604020202020204" pitchFamily="34" charset="0"/>
              </a:rPr>
              <a:t>2</a:t>
            </a:r>
            <a:r>
              <a:rPr sz="2000" spc="217" baseline="-20833" dirty="0">
                <a:latin typeface="Arial MT"/>
                <a:cs typeface="Arial" panose="020B0604020202020204" pitchFamily="34" charset="0"/>
              </a:rPr>
              <a:t> </a:t>
            </a:r>
            <a:r>
              <a:rPr sz="2000" dirty="0">
                <a:latin typeface="Arial MT"/>
                <a:cs typeface="Arial" panose="020B0604020202020204" pitchFamily="34" charset="0"/>
              </a:rPr>
              <a:t>would</a:t>
            </a:r>
            <a:r>
              <a:rPr sz="2000" spc="-50" dirty="0">
                <a:latin typeface="Arial MT"/>
                <a:cs typeface="Arial" panose="020B0604020202020204" pitchFamily="34" charset="0"/>
              </a:rPr>
              <a:t> </a:t>
            </a:r>
            <a:r>
              <a:rPr sz="2000" dirty="0">
                <a:latin typeface="Arial MT"/>
                <a:cs typeface="Arial" panose="020B0604020202020204" pitchFamily="34" charset="0"/>
              </a:rPr>
              <a:t>have</a:t>
            </a:r>
            <a:r>
              <a:rPr sz="2000" spc="-65" dirty="0">
                <a:latin typeface="Arial MT"/>
                <a:cs typeface="Arial" panose="020B0604020202020204" pitchFamily="34" charset="0"/>
              </a:rPr>
              <a:t> </a:t>
            </a:r>
            <a:r>
              <a:rPr sz="2000" dirty="0">
                <a:latin typeface="Arial MT"/>
                <a:cs typeface="Arial" panose="020B0604020202020204" pitchFamily="34" charset="0"/>
              </a:rPr>
              <a:t>eventually</a:t>
            </a:r>
            <a:r>
              <a:rPr sz="2000" spc="-50" dirty="0">
                <a:latin typeface="Arial MT"/>
                <a:cs typeface="Arial" panose="020B0604020202020204" pitchFamily="34" charset="0"/>
              </a:rPr>
              <a:t> </a:t>
            </a:r>
            <a:r>
              <a:rPr sz="2000" dirty="0">
                <a:latin typeface="Arial MT"/>
                <a:cs typeface="Arial" panose="020B0604020202020204" pitchFamily="34" charset="0"/>
              </a:rPr>
              <a:t>reacted</a:t>
            </a:r>
            <a:r>
              <a:rPr sz="2000" spc="-65" dirty="0">
                <a:latin typeface="Arial MT"/>
                <a:cs typeface="Arial" panose="020B0604020202020204" pitchFamily="34" charset="0"/>
              </a:rPr>
              <a:t> </a:t>
            </a:r>
            <a:r>
              <a:rPr sz="2000" dirty="0">
                <a:latin typeface="Arial MT"/>
                <a:cs typeface="Arial" panose="020B0604020202020204" pitchFamily="34" charset="0"/>
              </a:rPr>
              <a:t>with</a:t>
            </a:r>
            <a:r>
              <a:rPr sz="2000" spc="-60" dirty="0">
                <a:latin typeface="Arial MT"/>
                <a:cs typeface="Arial" panose="020B0604020202020204" pitchFamily="34" charset="0"/>
              </a:rPr>
              <a:t> </a:t>
            </a:r>
            <a:r>
              <a:rPr sz="2000" dirty="0">
                <a:latin typeface="Arial MT"/>
                <a:cs typeface="Arial" panose="020B0604020202020204" pitchFamily="34" charset="0"/>
              </a:rPr>
              <a:t>rocks</a:t>
            </a:r>
            <a:r>
              <a:rPr sz="2000" spc="-55" dirty="0">
                <a:latin typeface="Arial MT"/>
                <a:cs typeface="Arial" panose="020B0604020202020204" pitchFamily="34" charset="0"/>
              </a:rPr>
              <a:t> </a:t>
            </a:r>
            <a:r>
              <a:rPr sz="2000" dirty="0">
                <a:latin typeface="Arial MT"/>
                <a:cs typeface="Arial" panose="020B0604020202020204" pitchFamily="34" charset="0"/>
              </a:rPr>
              <a:t>(in</a:t>
            </a:r>
            <a:r>
              <a:rPr sz="2000" spc="-70" dirty="0">
                <a:latin typeface="Arial MT"/>
                <a:cs typeface="Arial" panose="020B0604020202020204" pitchFamily="34" charset="0"/>
              </a:rPr>
              <a:t> </a:t>
            </a:r>
            <a:r>
              <a:rPr sz="2000" spc="-10" dirty="0">
                <a:latin typeface="Arial MT"/>
                <a:cs typeface="Arial" panose="020B0604020202020204" pitchFamily="34" charset="0"/>
              </a:rPr>
              <a:t>water):</a:t>
            </a:r>
            <a:endParaRPr sz="2000" dirty="0">
              <a:latin typeface="Arial MT"/>
              <a:cs typeface="Arial" panose="020B0604020202020204" pitchFamily="34" charset="0"/>
            </a:endParaRPr>
          </a:p>
          <a:p>
            <a:pPr marL="342900">
              <a:lnSpc>
                <a:spcPct val="100000"/>
              </a:lnSpc>
              <a:spcBef>
                <a:spcPts val="915"/>
              </a:spcBef>
            </a:pPr>
            <a:r>
              <a:rPr sz="2000" b="1" dirty="0">
                <a:latin typeface="Arial"/>
                <a:cs typeface="Arial"/>
              </a:rPr>
              <a:t>H</a:t>
            </a:r>
            <a:r>
              <a:rPr sz="2000" b="1" baseline="-21164" dirty="0">
                <a:latin typeface="Arial"/>
                <a:cs typeface="Arial"/>
              </a:rPr>
              <a:t>2</a:t>
            </a:r>
            <a:r>
              <a:rPr sz="2000" b="1" dirty="0">
                <a:latin typeface="Arial"/>
                <a:cs typeface="Arial"/>
              </a:rPr>
              <a:t>O +</a:t>
            </a:r>
            <a:r>
              <a:rPr sz="2000" b="1" spc="5" dirty="0">
                <a:latin typeface="Arial"/>
                <a:cs typeface="Arial"/>
              </a:rPr>
              <a:t> </a:t>
            </a:r>
            <a:r>
              <a:rPr sz="2000" b="1" dirty="0">
                <a:latin typeface="Arial"/>
                <a:cs typeface="Arial"/>
              </a:rPr>
              <a:t>CO</a:t>
            </a:r>
            <a:r>
              <a:rPr sz="2000" b="1" baseline="-21164" dirty="0">
                <a:latin typeface="Arial"/>
                <a:cs typeface="Arial"/>
              </a:rPr>
              <a:t>2</a:t>
            </a:r>
            <a:r>
              <a:rPr sz="2000" b="1" spc="-15" baseline="-21164" dirty="0">
                <a:latin typeface="Arial"/>
                <a:cs typeface="Arial"/>
              </a:rPr>
              <a:t> </a:t>
            </a:r>
            <a:r>
              <a:rPr sz="2000" b="1" dirty="0">
                <a:latin typeface="Arial"/>
                <a:cs typeface="Arial"/>
              </a:rPr>
              <a:t>+</a:t>
            </a:r>
            <a:r>
              <a:rPr sz="2000" b="1" spc="5" dirty="0">
                <a:latin typeface="Arial"/>
                <a:cs typeface="Arial"/>
              </a:rPr>
              <a:t> </a:t>
            </a:r>
            <a:r>
              <a:rPr sz="2000" b="1" dirty="0">
                <a:latin typeface="Arial"/>
                <a:cs typeface="Arial"/>
              </a:rPr>
              <a:t>“CaSiO</a:t>
            </a:r>
            <a:r>
              <a:rPr sz="2000" b="1" baseline="-21164" dirty="0">
                <a:latin typeface="Arial"/>
                <a:cs typeface="Arial"/>
              </a:rPr>
              <a:t>3</a:t>
            </a:r>
            <a:r>
              <a:rPr sz="2000" b="1" dirty="0">
                <a:latin typeface="Arial"/>
                <a:cs typeface="Arial"/>
              </a:rPr>
              <a:t>”</a:t>
            </a:r>
            <a:r>
              <a:rPr sz="2000" dirty="0">
                <a:latin typeface="Wingdings"/>
                <a:cs typeface="Arial" panose="020B0604020202020204" pitchFamily="34" charset="0"/>
              </a:rPr>
              <a:t></a:t>
            </a:r>
            <a:r>
              <a:rPr sz="2000" spc="50" dirty="0">
                <a:latin typeface="Times New Roman"/>
                <a:cs typeface="Times New Roman"/>
              </a:rPr>
              <a:t> </a:t>
            </a:r>
            <a:r>
              <a:rPr sz="2000" b="1" dirty="0">
                <a:latin typeface="Arial"/>
                <a:cs typeface="Arial"/>
              </a:rPr>
              <a:t>CaCO</a:t>
            </a:r>
            <a:r>
              <a:rPr sz="2000" b="1" baseline="-21164" dirty="0">
                <a:latin typeface="Arial"/>
                <a:cs typeface="Arial"/>
              </a:rPr>
              <a:t>3</a:t>
            </a:r>
            <a:r>
              <a:rPr sz="2000" b="1" spc="450" baseline="-21164" dirty="0">
                <a:latin typeface="Arial"/>
                <a:cs typeface="Arial"/>
              </a:rPr>
              <a:t> </a:t>
            </a:r>
            <a:r>
              <a:rPr sz="2000" b="1" dirty="0">
                <a:latin typeface="Arial"/>
                <a:cs typeface="Arial"/>
              </a:rPr>
              <a:t>+</a:t>
            </a:r>
            <a:r>
              <a:rPr sz="2000" b="1" spc="5" dirty="0">
                <a:latin typeface="Arial"/>
                <a:cs typeface="Arial"/>
              </a:rPr>
              <a:t> </a:t>
            </a:r>
            <a:r>
              <a:rPr sz="2000" b="1" dirty="0">
                <a:latin typeface="Arial"/>
                <a:cs typeface="Arial"/>
              </a:rPr>
              <a:t>SiO</a:t>
            </a:r>
            <a:r>
              <a:rPr sz="2000" b="1" baseline="-21164" dirty="0">
                <a:latin typeface="Arial"/>
                <a:cs typeface="Arial"/>
              </a:rPr>
              <a:t>2</a:t>
            </a:r>
            <a:r>
              <a:rPr sz="2000" b="1" spc="-15" baseline="-21164" dirty="0">
                <a:latin typeface="Arial"/>
                <a:cs typeface="Arial"/>
              </a:rPr>
              <a:t> </a:t>
            </a:r>
            <a:r>
              <a:rPr sz="2000" b="1" dirty="0">
                <a:latin typeface="Arial"/>
                <a:cs typeface="Arial"/>
              </a:rPr>
              <a:t>+</a:t>
            </a:r>
            <a:r>
              <a:rPr sz="2000" b="1" spc="5" dirty="0">
                <a:latin typeface="Arial"/>
                <a:cs typeface="Arial"/>
              </a:rPr>
              <a:t> </a:t>
            </a:r>
            <a:r>
              <a:rPr sz="2000" b="1" spc="-25" dirty="0">
                <a:latin typeface="Arial"/>
                <a:cs typeface="Arial"/>
              </a:rPr>
              <a:t>H</a:t>
            </a:r>
            <a:r>
              <a:rPr sz="2000" b="1" spc="-37" baseline="-21164" dirty="0">
                <a:latin typeface="Arial"/>
                <a:cs typeface="Arial"/>
              </a:rPr>
              <a:t>2</a:t>
            </a:r>
            <a:r>
              <a:rPr sz="2000" b="1" spc="-25" dirty="0">
                <a:latin typeface="Arial"/>
                <a:cs typeface="Arial"/>
              </a:rPr>
              <a:t>O</a:t>
            </a:r>
            <a:endParaRPr sz="2000" dirty="0">
              <a:latin typeface="Arial"/>
              <a:cs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48640" y="1408938"/>
            <a:ext cx="8051800" cy="3329629"/>
          </a:xfrm>
          <a:prstGeom prst="rect">
            <a:avLst/>
          </a:prstGeom>
        </p:spPr>
        <p:txBody>
          <a:bodyPr vert="horz" wrap="square" lIns="0" tIns="13335" rIns="0" bIns="0" rtlCol="0">
            <a:spAutoFit/>
          </a:bodyPr>
          <a:lstStyle/>
          <a:p>
            <a:pPr marL="76200" marR="68580">
              <a:lnSpc>
                <a:spcPct val="166700"/>
              </a:lnSpc>
              <a:spcBef>
                <a:spcPts val="965"/>
              </a:spcBef>
              <a:tabLst>
                <a:tab pos="3671570" algn="l"/>
                <a:tab pos="3979545" algn="l"/>
              </a:tabLst>
            </a:pPr>
            <a:r>
              <a:rPr sz="2400" spc="-10" dirty="0">
                <a:solidFill>
                  <a:srgbClr val="FF0000"/>
                </a:solidFill>
                <a:latin typeface="Times New Roman"/>
                <a:cs typeface="Times New Roman"/>
              </a:rPr>
              <a:t>Weathering</a:t>
            </a:r>
            <a:r>
              <a:rPr sz="2400" spc="-50" dirty="0">
                <a:solidFill>
                  <a:srgbClr val="FF0000"/>
                </a:solidFill>
                <a:latin typeface="Times New Roman"/>
                <a:cs typeface="Times New Roman"/>
              </a:rPr>
              <a:t> </a:t>
            </a:r>
            <a:r>
              <a:rPr sz="2400" dirty="0">
                <a:solidFill>
                  <a:srgbClr val="FF0000"/>
                </a:solidFill>
                <a:latin typeface="Times New Roman"/>
                <a:cs typeface="Times New Roman"/>
              </a:rPr>
              <a:t>of</a:t>
            </a:r>
            <a:r>
              <a:rPr sz="2400" spc="-25" dirty="0">
                <a:solidFill>
                  <a:srgbClr val="FF0000"/>
                </a:solidFill>
                <a:latin typeface="Times New Roman"/>
                <a:cs typeface="Times New Roman"/>
              </a:rPr>
              <a:t> </a:t>
            </a:r>
            <a:r>
              <a:rPr sz="2400" dirty="0">
                <a:solidFill>
                  <a:srgbClr val="FF0000"/>
                </a:solidFill>
                <a:latin typeface="Times New Roman"/>
                <a:cs typeface="Times New Roman"/>
              </a:rPr>
              <a:t>feldspar</a:t>
            </a:r>
            <a:r>
              <a:rPr sz="2400" spc="-20" dirty="0">
                <a:solidFill>
                  <a:srgbClr val="FF0000"/>
                </a:solidFill>
                <a:latin typeface="Times New Roman"/>
                <a:cs typeface="Times New Roman"/>
              </a:rPr>
              <a:t> </a:t>
            </a:r>
            <a:r>
              <a:rPr sz="2400" dirty="0">
                <a:latin typeface="Times New Roman"/>
                <a:cs typeface="Times New Roman"/>
              </a:rPr>
              <a:t>(most</a:t>
            </a:r>
            <a:r>
              <a:rPr sz="2400" spc="-30" dirty="0">
                <a:latin typeface="Times New Roman"/>
                <a:cs typeface="Times New Roman"/>
              </a:rPr>
              <a:t> </a:t>
            </a:r>
            <a:r>
              <a:rPr sz="2400" dirty="0">
                <a:latin typeface="Times New Roman"/>
                <a:cs typeface="Times New Roman"/>
              </a:rPr>
              <a:t>abundant</a:t>
            </a:r>
            <a:r>
              <a:rPr sz="2400" spc="-45" dirty="0">
                <a:latin typeface="Times New Roman"/>
                <a:cs typeface="Times New Roman"/>
              </a:rPr>
              <a:t> </a:t>
            </a:r>
            <a:r>
              <a:rPr sz="2400" dirty="0">
                <a:latin typeface="Times New Roman"/>
                <a:cs typeface="Times New Roman"/>
              </a:rPr>
              <a:t>mineral</a:t>
            </a:r>
            <a:r>
              <a:rPr sz="2400" spc="-25" dirty="0">
                <a:latin typeface="Times New Roman"/>
                <a:cs typeface="Times New Roman"/>
              </a:rPr>
              <a:t> </a:t>
            </a:r>
            <a:r>
              <a:rPr sz="2400" dirty="0">
                <a:latin typeface="Times New Roman"/>
                <a:cs typeface="Times New Roman"/>
              </a:rPr>
              <a:t>group</a:t>
            </a:r>
            <a:r>
              <a:rPr sz="2400" spc="-40" dirty="0">
                <a:latin typeface="Times New Roman"/>
                <a:cs typeface="Times New Roman"/>
              </a:rPr>
              <a:t> </a:t>
            </a:r>
            <a:r>
              <a:rPr sz="2400" dirty="0">
                <a:latin typeface="Times New Roman"/>
                <a:cs typeface="Times New Roman"/>
              </a:rPr>
              <a:t>in</a:t>
            </a:r>
            <a:r>
              <a:rPr sz="2400" spc="-40" dirty="0">
                <a:latin typeface="Times New Roman"/>
                <a:cs typeface="Times New Roman"/>
              </a:rPr>
              <a:t> </a:t>
            </a:r>
            <a:r>
              <a:rPr sz="2400" spc="-10" dirty="0">
                <a:latin typeface="Times New Roman"/>
                <a:cs typeface="Times New Roman"/>
              </a:rPr>
              <a:t>crust): </a:t>
            </a:r>
            <a:r>
              <a:rPr sz="2400" dirty="0">
                <a:latin typeface="Times New Roman"/>
                <a:cs typeface="Times New Roman"/>
              </a:rPr>
              <a:t>CaAl</a:t>
            </a:r>
            <a:r>
              <a:rPr sz="2400" baseline="-20833" dirty="0">
                <a:latin typeface="Times New Roman"/>
                <a:cs typeface="Times New Roman"/>
              </a:rPr>
              <a:t>2</a:t>
            </a:r>
            <a:r>
              <a:rPr sz="2400" dirty="0">
                <a:latin typeface="Times New Roman"/>
                <a:cs typeface="Times New Roman"/>
              </a:rPr>
              <a:t>Si</a:t>
            </a:r>
            <a:r>
              <a:rPr sz="2400" baseline="-20833" dirty="0">
                <a:latin typeface="Times New Roman"/>
                <a:cs typeface="Times New Roman"/>
              </a:rPr>
              <a:t>2</a:t>
            </a:r>
            <a:r>
              <a:rPr sz="2400" dirty="0">
                <a:latin typeface="Times New Roman"/>
                <a:cs typeface="Times New Roman"/>
              </a:rPr>
              <a:t>O</a:t>
            </a:r>
            <a:r>
              <a:rPr sz="2400" baseline="-20833" dirty="0">
                <a:latin typeface="Times New Roman"/>
                <a:cs typeface="Times New Roman"/>
              </a:rPr>
              <a:t>8</a:t>
            </a:r>
            <a:r>
              <a:rPr sz="2400" spc="225" baseline="-20833" dirty="0">
                <a:latin typeface="Times New Roman"/>
                <a:cs typeface="Times New Roman"/>
              </a:rPr>
              <a:t> </a:t>
            </a:r>
            <a:r>
              <a:rPr sz="2400" dirty="0">
                <a:latin typeface="Times New Roman"/>
                <a:cs typeface="Times New Roman"/>
              </a:rPr>
              <a:t>+</a:t>
            </a:r>
            <a:r>
              <a:rPr sz="2400" spc="-35" dirty="0">
                <a:latin typeface="Times New Roman"/>
                <a:cs typeface="Times New Roman"/>
              </a:rPr>
              <a:t> </a:t>
            </a:r>
            <a:r>
              <a:rPr sz="2400" dirty="0">
                <a:latin typeface="Times New Roman"/>
                <a:cs typeface="Times New Roman"/>
              </a:rPr>
              <a:t>3H</a:t>
            </a:r>
            <a:r>
              <a:rPr sz="2400" baseline="-20833" dirty="0">
                <a:latin typeface="Times New Roman"/>
                <a:cs typeface="Times New Roman"/>
              </a:rPr>
              <a:t>2</a:t>
            </a:r>
            <a:r>
              <a:rPr sz="2400" dirty="0">
                <a:latin typeface="Times New Roman"/>
                <a:cs typeface="Times New Roman"/>
              </a:rPr>
              <a:t>O</a:t>
            </a:r>
            <a:r>
              <a:rPr sz="2400" spc="-35" dirty="0">
                <a:latin typeface="Times New Roman"/>
                <a:cs typeface="Times New Roman"/>
              </a:rPr>
              <a:t> </a:t>
            </a:r>
            <a:r>
              <a:rPr sz="2400" dirty="0">
                <a:latin typeface="Times New Roman"/>
                <a:cs typeface="Times New Roman"/>
              </a:rPr>
              <a:t>+</a:t>
            </a:r>
            <a:r>
              <a:rPr sz="2400" spc="-35" dirty="0">
                <a:latin typeface="Times New Roman"/>
                <a:cs typeface="Times New Roman"/>
              </a:rPr>
              <a:t> </a:t>
            </a:r>
            <a:r>
              <a:rPr sz="2400" spc="-20" dirty="0">
                <a:latin typeface="Times New Roman"/>
                <a:cs typeface="Times New Roman"/>
              </a:rPr>
              <a:t>2CO</a:t>
            </a:r>
            <a:r>
              <a:rPr sz="2400" spc="-30" baseline="-20833" dirty="0">
                <a:latin typeface="Times New Roman"/>
                <a:cs typeface="Times New Roman"/>
              </a:rPr>
              <a:t>2</a:t>
            </a:r>
            <a:r>
              <a:rPr sz="2400" baseline="-20833" dirty="0">
                <a:latin typeface="Times New Roman"/>
                <a:cs typeface="Times New Roman"/>
              </a:rPr>
              <a:t>	</a:t>
            </a:r>
            <a:r>
              <a:rPr sz="2400" spc="-50" dirty="0">
                <a:latin typeface="Times New Roman"/>
                <a:cs typeface="Times New Roman"/>
              </a:rPr>
              <a:t>=</a:t>
            </a:r>
            <a:r>
              <a:rPr sz="2400" dirty="0">
                <a:latin typeface="Times New Roman"/>
                <a:cs typeface="Times New Roman"/>
              </a:rPr>
              <a:t>	Al</a:t>
            </a:r>
            <a:r>
              <a:rPr sz="2400" baseline="-20833" dirty="0">
                <a:latin typeface="Times New Roman"/>
                <a:cs typeface="Times New Roman"/>
              </a:rPr>
              <a:t>2</a:t>
            </a:r>
            <a:r>
              <a:rPr sz="2400" dirty="0">
                <a:latin typeface="Times New Roman"/>
                <a:cs typeface="Times New Roman"/>
              </a:rPr>
              <a:t>Si</a:t>
            </a:r>
            <a:r>
              <a:rPr sz="2400" baseline="-20833" dirty="0">
                <a:latin typeface="Times New Roman"/>
                <a:cs typeface="Times New Roman"/>
              </a:rPr>
              <a:t>2</a:t>
            </a:r>
            <a:r>
              <a:rPr sz="2400" dirty="0">
                <a:latin typeface="Times New Roman"/>
                <a:cs typeface="Times New Roman"/>
              </a:rPr>
              <a:t>O</a:t>
            </a:r>
            <a:r>
              <a:rPr sz="2400" baseline="-20833" dirty="0">
                <a:latin typeface="Times New Roman"/>
                <a:cs typeface="Times New Roman"/>
              </a:rPr>
              <a:t>5</a:t>
            </a:r>
            <a:r>
              <a:rPr sz="2400" dirty="0">
                <a:latin typeface="Times New Roman"/>
                <a:cs typeface="Times New Roman"/>
              </a:rPr>
              <a:t>(OH)</a:t>
            </a:r>
            <a:r>
              <a:rPr sz="2400" baseline="-20833" dirty="0">
                <a:latin typeface="Times New Roman"/>
                <a:cs typeface="Times New Roman"/>
              </a:rPr>
              <a:t>4</a:t>
            </a:r>
            <a:r>
              <a:rPr sz="2400" spc="254" baseline="-20833" dirty="0">
                <a:latin typeface="Times New Roman"/>
                <a:cs typeface="Times New Roman"/>
              </a:rPr>
              <a:t> </a:t>
            </a:r>
            <a:r>
              <a:rPr sz="2400" dirty="0">
                <a:latin typeface="Times New Roman"/>
                <a:cs typeface="Times New Roman"/>
              </a:rPr>
              <a:t>+</a:t>
            </a:r>
            <a:r>
              <a:rPr sz="2400" spc="-40" dirty="0">
                <a:latin typeface="Times New Roman"/>
                <a:cs typeface="Times New Roman"/>
              </a:rPr>
              <a:t> </a:t>
            </a:r>
            <a:r>
              <a:rPr sz="2400" dirty="0">
                <a:latin typeface="Times New Roman"/>
                <a:cs typeface="Times New Roman"/>
              </a:rPr>
              <a:t>Ca</a:t>
            </a:r>
            <a:r>
              <a:rPr sz="2400" baseline="24305" dirty="0">
                <a:latin typeface="Times New Roman"/>
                <a:cs typeface="Times New Roman"/>
              </a:rPr>
              <a:t>2+</a:t>
            </a:r>
            <a:r>
              <a:rPr sz="2400" spc="247" baseline="24305" dirty="0">
                <a:latin typeface="Times New Roman"/>
                <a:cs typeface="Times New Roman"/>
              </a:rPr>
              <a:t> </a:t>
            </a:r>
            <a:r>
              <a:rPr sz="2400" dirty="0">
                <a:latin typeface="Times New Roman"/>
                <a:cs typeface="Times New Roman"/>
              </a:rPr>
              <a:t>+</a:t>
            </a:r>
            <a:r>
              <a:rPr sz="2400" spc="-40" dirty="0">
                <a:latin typeface="Times New Roman"/>
                <a:cs typeface="Times New Roman"/>
              </a:rPr>
              <a:t> </a:t>
            </a:r>
            <a:r>
              <a:rPr sz="2400" spc="-10" dirty="0">
                <a:latin typeface="Times New Roman"/>
                <a:cs typeface="Times New Roman"/>
              </a:rPr>
              <a:t>2HCO</a:t>
            </a:r>
            <a:r>
              <a:rPr sz="2400" spc="-15" baseline="-20833" dirty="0">
                <a:latin typeface="Times New Roman"/>
                <a:cs typeface="Times New Roman"/>
              </a:rPr>
              <a:t>3</a:t>
            </a:r>
            <a:r>
              <a:rPr sz="2400" spc="-15" baseline="24305" dirty="0">
                <a:latin typeface="Times New Roman"/>
                <a:cs typeface="Times New Roman"/>
              </a:rPr>
              <a:t>-</a:t>
            </a:r>
            <a:endParaRPr sz="2400" baseline="24305" dirty="0">
              <a:latin typeface="Times New Roman"/>
              <a:cs typeface="Times New Roman"/>
            </a:endParaRPr>
          </a:p>
          <a:p>
            <a:pPr marL="76200">
              <a:lnSpc>
                <a:spcPct val="100000"/>
              </a:lnSpc>
              <a:spcBef>
                <a:spcPts val="30"/>
              </a:spcBef>
              <a:tabLst>
                <a:tab pos="3632200" algn="l"/>
              </a:tabLst>
            </a:pPr>
            <a:r>
              <a:rPr sz="1600" dirty="0">
                <a:latin typeface="Times New Roman"/>
                <a:cs typeface="Times New Roman"/>
              </a:rPr>
              <a:t>plagioclase</a:t>
            </a:r>
            <a:r>
              <a:rPr sz="1600" spc="-55" dirty="0">
                <a:latin typeface="Times New Roman"/>
                <a:cs typeface="Times New Roman"/>
              </a:rPr>
              <a:t> </a:t>
            </a:r>
            <a:r>
              <a:rPr sz="1600" spc="-10" dirty="0">
                <a:latin typeface="Times New Roman"/>
                <a:cs typeface="Times New Roman"/>
              </a:rPr>
              <a:t>feldspar</a:t>
            </a:r>
            <a:r>
              <a:rPr sz="1600" dirty="0">
                <a:latin typeface="Times New Roman"/>
                <a:cs typeface="Times New Roman"/>
              </a:rPr>
              <a:t>	kaolinite</a:t>
            </a:r>
            <a:r>
              <a:rPr sz="1600" spc="-20" dirty="0">
                <a:latin typeface="Times New Roman"/>
                <a:cs typeface="Times New Roman"/>
              </a:rPr>
              <a:t> </a:t>
            </a:r>
            <a:r>
              <a:rPr sz="1600" dirty="0">
                <a:latin typeface="Times New Roman"/>
                <a:cs typeface="Times New Roman"/>
              </a:rPr>
              <a:t>=</a:t>
            </a:r>
            <a:r>
              <a:rPr sz="1600" spc="-30" dirty="0">
                <a:latin typeface="Times New Roman"/>
                <a:cs typeface="Times New Roman"/>
              </a:rPr>
              <a:t> </a:t>
            </a:r>
            <a:r>
              <a:rPr sz="1600" dirty="0">
                <a:latin typeface="Times New Roman"/>
                <a:cs typeface="Times New Roman"/>
              </a:rPr>
              <a:t>clay</a:t>
            </a:r>
            <a:r>
              <a:rPr sz="1600" spc="-30" dirty="0">
                <a:latin typeface="Times New Roman"/>
                <a:cs typeface="Times New Roman"/>
              </a:rPr>
              <a:t> </a:t>
            </a:r>
            <a:r>
              <a:rPr sz="1600" dirty="0">
                <a:latin typeface="Times New Roman"/>
                <a:cs typeface="Times New Roman"/>
              </a:rPr>
              <a:t>mineral</a:t>
            </a:r>
            <a:r>
              <a:rPr sz="1600" spc="25" dirty="0">
                <a:latin typeface="Times New Roman"/>
                <a:cs typeface="Times New Roman"/>
              </a:rPr>
              <a:t> </a:t>
            </a:r>
            <a:r>
              <a:rPr sz="1600" dirty="0">
                <a:latin typeface="Times New Roman"/>
                <a:cs typeface="Times New Roman"/>
              </a:rPr>
              <a:t>=</a:t>
            </a:r>
            <a:r>
              <a:rPr sz="1600" spc="-40" dirty="0">
                <a:latin typeface="Times New Roman"/>
                <a:cs typeface="Times New Roman"/>
              </a:rPr>
              <a:t> </a:t>
            </a:r>
            <a:r>
              <a:rPr sz="1600" spc="-10" dirty="0">
                <a:latin typeface="Times New Roman"/>
                <a:cs typeface="Times New Roman"/>
              </a:rPr>
              <a:t>shale</a:t>
            </a:r>
            <a:endParaRPr sz="1600" dirty="0">
              <a:latin typeface="Times New Roman"/>
              <a:cs typeface="Times New Roman"/>
            </a:endParaRPr>
          </a:p>
          <a:p>
            <a:pPr>
              <a:lnSpc>
                <a:spcPct val="100000"/>
              </a:lnSpc>
            </a:pPr>
            <a:endParaRPr sz="1600" dirty="0">
              <a:latin typeface="Times New Roman"/>
              <a:cs typeface="Times New Roman"/>
            </a:endParaRPr>
          </a:p>
          <a:p>
            <a:pPr>
              <a:lnSpc>
                <a:spcPct val="100000"/>
              </a:lnSpc>
              <a:spcBef>
                <a:spcPts val="55"/>
              </a:spcBef>
            </a:pPr>
            <a:endParaRPr sz="1600" dirty="0">
              <a:latin typeface="Times New Roman"/>
              <a:cs typeface="Times New Roman"/>
            </a:endParaRPr>
          </a:p>
          <a:p>
            <a:pPr marL="91440">
              <a:lnSpc>
                <a:spcPct val="100000"/>
              </a:lnSpc>
            </a:pPr>
            <a:r>
              <a:rPr sz="2400" dirty="0">
                <a:solidFill>
                  <a:srgbClr val="FF0000"/>
                </a:solidFill>
                <a:latin typeface="Times New Roman"/>
                <a:cs typeface="Times New Roman"/>
              </a:rPr>
              <a:t>Precipitation</a:t>
            </a:r>
            <a:r>
              <a:rPr sz="2400" spc="-55" dirty="0">
                <a:solidFill>
                  <a:srgbClr val="FF0000"/>
                </a:solidFill>
                <a:latin typeface="Times New Roman"/>
                <a:cs typeface="Times New Roman"/>
              </a:rPr>
              <a:t> </a:t>
            </a:r>
            <a:r>
              <a:rPr sz="2400" dirty="0">
                <a:solidFill>
                  <a:srgbClr val="FF0000"/>
                </a:solidFill>
                <a:latin typeface="Times New Roman"/>
                <a:cs typeface="Times New Roman"/>
              </a:rPr>
              <a:t>of</a:t>
            </a:r>
            <a:r>
              <a:rPr sz="2400" spc="-10" dirty="0">
                <a:solidFill>
                  <a:srgbClr val="FF0000"/>
                </a:solidFill>
                <a:latin typeface="Times New Roman"/>
                <a:cs typeface="Times New Roman"/>
              </a:rPr>
              <a:t> </a:t>
            </a:r>
            <a:r>
              <a:rPr sz="2400" dirty="0">
                <a:solidFill>
                  <a:srgbClr val="FF0000"/>
                </a:solidFill>
                <a:latin typeface="Times New Roman"/>
                <a:cs typeface="Times New Roman"/>
              </a:rPr>
              <a:t>calcium</a:t>
            </a:r>
            <a:r>
              <a:rPr sz="2400" spc="-45" dirty="0">
                <a:solidFill>
                  <a:srgbClr val="FF0000"/>
                </a:solidFill>
                <a:latin typeface="Times New Roman"/>
                <a:cs typeface="Times New Roman"/>
              </a:rPr>
              <a:t> </a:t>
            </a:r>
            <a:r>
              <a:rPr sz="2400" dirty="0">
                <a:solidFill>
                  <a:srgbClr val="FF0000"/>
                </a:solidFill>
                <a:latin typeface="Times New Roman"/>
                <a:cs typeface="Times New Roman"/>
              </a:rPr>
              <a:t>carbonate</a:t>
            </a:r>
            <a:r>
              <a:rPr sz="2400" spc="-60" dirty="0">
                <a:solidFill>
                  <a:srgbClr val="FF0000"/>
                </a:solidFill>
                <a:latin typeface="Times New Roman"/>
                <a:cs typeface="Times New Roman"/>
              </a:rPr>
              <a:t> </a:t>
            </a:r>
            <a:r>
              <a:rPr sz="2400" spc="-10" dirty="0">
                <a:latin typeface="Times New Roman"/>
                <a:cs typeface="Times New Roman"/>
              </a:rPr>
              <a:t>(limestone):</a:t>
            </a:r>
            <a:endParaRPr sz="2400" dirty="0">
              <a:latin typeface="Times New Roman"/>
              <a:cs typeface="Times New Roman"/>
            </a:endParaRPr>
          </a:p>
          <a:p>
            <a:pPr marL="91440">
              <a:lnSpc>
                <a:spcPct val="100000"/>
              </a:lnSpc>
              <a:spcBef>
                <a:spcPts val="1920"/>
              </a:spcBef>
              <a:tabLst>
                <a:tab pos="2088514" algn="l"/>
                <a:tab pos="2413000" algn="l"/>
              </a:tabLst>
            </a:pPr>
            <a:r>
              <a:rPr sz="2400" dirty="0">
                <a:latin typeface="Times New Roman"/>
                <a:cs typeface="Times New Roman"/>
              </a:rPr>
              <a:t>Ca</a:t>
            </a:r>
            <a:r>
              <a:rPr sz="2400" baseline="24305" dirty="0">
                <a:latin typeface="Times New Roman"/>
                <a:cs typeface="Times New Roman"/>
              </a:rPr>
              <a:t>2+</a:t>
            </a:r>
            <a:r>
              <a:rPr sz="2400" spc="277" baseline="24305" dirty="0">
                <a:latin typeface="Times New Roman"/>
                <a:cs typeface="Times New Roman"/>
              </a:rPr>
              <a:t> </a:t>
            </a:r>
            <a:r>
              <a:rPr sz="2400" dirty="0">
                <a:latin typeface="Times New Roman"/>
                <a:cs typeface="Times New Roman"/>
              </a:rPr>
              <a:t>+</a:t>
            </a:r>
            <a:r>
              <a:rPr sz="2400" spc="-20" dirty="0">
                <a:latin typeface="Times New Roman"/>
                <a:cs typeface="Times New Roman"/>
              </a:rPr>
              <a:t> </a:t>
            </a:r>
            <a:r>
              <a:rPr sz="2400" spc="-10" dirty="0">
                <a:latin typeface="Times New Roman"/>
                <a:cs typeface="Times New Roman"/>
              </a:rPr>
              <a:t>2HCO</a:t>
            </a:r>
            <a:r>
              <a:rPr sz="2400" spc="-15" baseline="-20833" dirty="0">
                <a:latin typeface="Times New Roman"/>
                <a:cs typeface="Times New Roman"/>
              </a:rPr>
              <a:t>3</a:t>
            </a:r>
            <a:r>
              <a:rPr sz="2400" spc="-15" baseline="24305" dirty="0">
                <a:latin typeface="Times New Roman"/>
                <a:cs typeface="Times New Roman"/>
              </a:rPr>
              <a:t>-</a:t>
            </a:r>
            <a:r>
              <a:rPr sz="2400" baseline="24305" dirty="0">
                <a:latin typeface="Times New Roman"/>
                <a:cs typeface="Times New Roman"/>
              </a:rPr>
              <a:t>	</a:t>
            </a:r>
            <a:r>
              <a:rPr sz="2400" spc="-50" dirty="0">
                <a:latin typeface="Times New Roman"/>
                <a:cs typeface="Times New Roman"/>
              </a:rPr>
              <a:t>=</a:t>
            </a:r>
            <a:r>
              <a:rPr sz="2400" dirty="0">
                <a:latin typeface="Times New Roman"/>
                <a:cs typeface="Times New Roman"/>
              </a:rPr>
              <a:t>	CaCO</a:t>
            </a:r>
            <a:r>
              <a:rPr sz="2400" baseline="-20833" dirty="0">
                <a:latin typeface="Times New Roman"/>
                <a:cs typeface="Times New Roman"/>
              </a:rPr>
              <a:t>3</a:t>
            </a:r>
            <a:r>
              <a:rPr sz="2400" spc="292" baseline="-20833" dirty="0">
                <a:latin typeface="Times New Roman"/>
                <a:cs typeface="Times New Roman"/>
              </a:rPr>
              <a:t> </a:t>
            </a:r>
            <a:r>
              <a:rPr sz="2400" dirty="0">
                <a:latin typeface="Times New Roman"/>
                <a:cs typeface="Times New Roman"/>
              </a:rPr>
              <a:t>+</a:t>
            </a:r>
            <a:r>
              <a:rPr sz="2400" spc="-25" dirty="0">
                <a:latin typeface="Times New Roman"/>
                <a:cs typeface="Times New Roman"/>
              </a:rPr>
              <a:t> </a:t>
            </a:r>
            <a:r>
              <a:rPr sz="2400" dirty="0">
                <a:latin typeface="Times New Roman"/>
                <a:cs typeface="Times New Roman"/>
              </a:rPr>
              <a:t>H</a:t>
            </a:r>
            <a:r>
              <a:rPr sz="2400" baseline="-20833" dirty="0">
                <a:latin typeface="Times New Roman"/>
                <a:cs typeface="Times New Roman"/>
              </a:rPr>
              <a:t>2</a:t>
            </a:r>
            <a:r>
              <a:rPr sz="2400" dirty="0">
                <a:latin typeface="Times New Roman"/>
                <a:cs typeface="Times New Roman"/>
              </a:rPr>
              <a:t>O</a:t>
            </a:r>
            <a:r>
              <a:rPr sz="2400" spc="-15" dirty="0">
                <a:latin typeface="Times New Roman"/>
                <a:cs typeface="Times New Roman"/>
              </a:rPr>
              <a:t> </a:t>
            </a:r>
            <a:r>
              <a:rPr sz="2400" dirty="0">
                <a:latin typeface="Times New Roman"/>
                <a:cs typeface="Times New Roman"/>
              </a:rPr>
              <a:t>+</a:t>
            </a:r>
            <a:r>
              <a:rPr sz="2400" spc="-10" dirty="0">
                <a:latin typeface="Times New Roman"/>
                <a:cs typeface="Times New Roman"/>
              </a:rPr>
              <a:t> </a:t>
            </a:r>
            <a:r>
              <a:rPr sz="2400" spc="-25" dirty="0">
                <a:latin typeface="Times New Roman"/>
                <a:cs typeface="Times New Roman"/>
              </a:rPr>
              <a:t>CO</a:t>
            </a:r>
            <a:r>
              <a:rPr sz="2400" spc="-37" baseline="-20833" dirty="0">
                <a:latin typeface="Times New Roman"/>
                <a:cs typeface="Times New Roman"/>
              </a:rPr>
              <a:t>2</a:t>
            </a:r>
            <a:endParaRPr sz="2400" baseline="-20833" dirty="0">
              <a:latin typeface="Times New Roman"/>
              <a:cs typeface="Times New Roman"/>
            </a:endParaRPr>
          </a:p>
          <a:p>
            <a:pPr marL="2073910">
              <a:lnSpc>
                <a:spcPct val="100000"/>
              </a:lnSpc>
              <a:spcBef>
                <a:spcPts val="800"/>
              </a:spcBef>
            </a:pPr>
            <a:r>
              <a:rPr sz="1600" dirty="0">
                <a:latin typeface="Times New Roman"/>
                <a:cs typeface="Times New Roman"/>
              </a:rPr>
              <a:t>calcite</a:t>
            </a:r>
            <a:r>
              <a:rPr sz="1600" spc="-20" dirty="0">
                <a:latin typeface="Times New Roman"/>
                <a:cs typeface="Times New Roman"/>
              </a:rPr>
              <a:t> </a:t>
            </a:r>
            <a:r>
              <a:rPr sz="1600" dirty="0">
                <a:latin typeface="Times New Roman"/>
                <a:cs typeface="Times New Roman"/>
              </a:rPr>
              <a:t>or</a:t>
            </a:r>
            <a:r>
              <a:rPr sz="1600" spc="-45" dirty="0">
                <a:latin typeface="Times New Roman"/>
                <a:cs typeface="Times New Roman"/>
              </a:rPr>
              <a:t> </a:t>
            </a:r>
            <a:r>
              <a:rPr sz="1600" spc="-10" dirty="0">
                <a:latin typeface="Times New Roman"/>
                <a:cs typeface="Times New Roman"/>
              </a:rPr>
              <a:t>aragonite</a:t>
            </a:r>
            <a:endParaRPr sz="1600" dirty="0">
              <a:latin typeface="Times New Roman"/>
              <a:cs typeface="Times New Roman"/>
            </a:endParaRPr>
          </a:p>
        </p:txBody>
      </p:sp>
      <p:sp>
        <p:nvSpPr>
          <p:cNvPr id="3" name="object 3"/>
          <p:cNvSpPr txBox="1">
            <a:spLocks noGrp="1"/>
          </p:cNvSpPr>
          <p:nvPr>
            <p:ph type="title"/>
          </p:nvPr>
        </p:nvSpPr>
        <p:spPr>
          <a:xfrm>
            <a:off x="599440" y="632205"/>
            <a:ext cx="8079105" cy="391160"/>
          </a:xfrm>
          <a:prstGeom prst="rect">
            <a:avLst/>
          </a:prstGeom>
        </p:spPr>
        <p:txBody>
          <a:bodyPr vert="horz" wrap="square" lIns="0" tIns="12700" rIns="0" bIns="0" rtlCol="0">
            <a:spAutoFit/>
          </a:bodyPr>
          <a:lstStyle/>
          <a:p>
            <a:pPr marL="25400">
              <a:lnSpc>
                <a:spcPct val="100000"/>
              </a:lnSpc>
              <a:spcBef>
                <a:spcPts val="100"/>
              </a:spcBef>
              <a:tabLst>
                <a:tab pos="4862830" algn="l"/>
                <a:tab pos="5210810" algn="l"/>
              </a:tabLst>
            </a:pPr>
            <a:r>
              <a:rPr sz="2400" dirty="0">
                <a:solidFill>
                  <a:srgbClr val="000000"/>
                </a:solidFill>
                <a:latin typeface="Times New Roman"/>
                <a:cs typeface="Times New Roman"/>
              </a:rPr>
              <a:t>Urey</a:t>
            </a:r>
            <a:r>
              <a:rPr sz="2400" spc="-15" dirty="0">
                <a:solidFill>
                  <a:srgbClr val="000000"/>
                </a:solidFill>
                <a:latin typeface="Times New Roman"/>
                <a:cs typeface="Times New Roman"/>
              </a:rPr>
              <a:t> </a:t>
            </a:r>
            <a:r>
              <a:rPr sz="2400" dirty="0">
                <a:solidFill>
                  <a:srgbClr val="000000"/>
                </a:solidFill>
                <a:latin typeface="Times New Roman"/>
                <a:cs typeface="Times New Roman"/>
              </a:rPr>
              <a:t>reaction:</a:t>
            </a:r>
            <a:r>
              <a:rPr sz="2400" spc="-45" dirty="0">
                <a:solidFill>
                  <a:srgbClr val="000000"/>
                </a:solidFill>
                <a:latin typeface="Times New Roman"/>
                <a:cs typeface="Times New Roman"/>
              </a:rPr>
              <a:t> </a:t>
            </a:r>
            <a:r>
              <a:rPr sz="2400" dirty="0">
                <a:solidFill>
                  <a:srgbClr val="000000"/>
                </a:solidFill>
              </a:rPr>
              <a:t>H</a:t>
            </a:r>
            <a:r>
              <a:rPr sz="2400" baseline="-20833" dirty="0">
                <a:solidFill>
                  <a:srgbClr val="000000"/>
                </a:solidFill>
              </a:rPr>
              <a:t>2</a:t>
            </a:r>
            <a:r>
              <a:rPr sz="2400" dirty="0">
                <a:solidFill>
                  <a:srgbClr val="000000"/>
                </a:solidFill>
              </a:rPr>
              <a:t>O</a:t>
            </a:r>
            <a:r>
              <a:rPr sz="2400" spc="-15" dirty="0">
                <a:solidFill>
                  <a:srgbClr val="000000"/>
                </a:solidFill>
              </a:rPr>
              <a:t> </a:t>
            </a:r>
            <a:r>
              <a:rPr sz="2400" dirty="0">
                <a:solidFill>
                  <a:srgbClr val="000000"/>
                </a:solidFill>
              </a:rPr>
              <a:t>+</a:t>
            </a:r>
            <a:r>
              <a:rPr sz="2400" spc="-25" dirty="0">
                <a:solidFill>
                  <a:srgbClr val="000000"/>
                </a:solidFill>
              </a:rPr>
              <a:t> </a:t>
            </a:r>
            <a:r>
              <a:rPr sz="2400" dirty="0">
                <a:solidFill>
                  <a:srgbClr val="000000"/>
                </a:solidFill>
              </a:rPr>
              <a:t>CO</a:t>
            </a:r>
            <a:r>
              <a:rPr sz="2400" baseline="-20833" dirty="0">
                <a:solidFill>
                  <a:srgbClr val="000000"/>
                </a:solidFill>
              </a:rPr>
              <a:t>2</a:t>
            </a:r>
            <a:r>
              <a:rPr sz="2400" spc="292" baseline="-20833" dirty="0">
                <a:solidFill>
                  <a:srgbClr val="000000"/>
                </a:solidFill>
              </a:rPr>
              <a:t> </a:t>
            </a:r>
            <a:r>
              <a:rPr sz="2400" dirty="0">
                <a:solidFill>
                  <a:srgbClr val="000000"/>
                </a:solidFill>
              </a:rPr>
              <a:t>+</a:t>
            </a:r>
            <a:r>
              <a:rPr sz="2400" spc="-15" dirty="0">
                <a:solidFill>
                  <a:srgbClr val="000000"/>
                </a:solidFill>
              </a:rPr>
              <a:t> </a:t>
            </a:r>
            <a:r>
              <a:rPr sz="2400" spc="-10" dirty="0">
                <a:solidFill>
                  <a:srgbClr val="000000"/>
                </a:solidFill>
              </a:rPr>
              <a:t>CaSiO</a:t>
            </a:r>
            <a:r>
              <a:rPr sz="2400" spc="-15" baseline="-20833" dirty="0">
                <a:solidFill>
                  <a:srgbClr val="000000"/>
                </a:solidFill>
              </a:rPr>
              <a:t>3</a:t>
            </a:r>
            <a:r>
              <a:rPr sz="2400" baseline="-20833" dirty="0">
                <a:solidFill>
                  <a:srgbClr val="000000"/>
                </a:solidFill>
              </a:rPr>
              <a:t>	</a:t>
            </a:r>
            <a:r>
              <a:rPr sz="2400" spc="-50" dirty="0">
                <a:solidFill>
                  <a:srgbClr val="000000"/>
                </a:solidFill>
              </a:rPr>
              <a:t>=</a:t>
            </a:r>
            <a:r>
              <a:rPr sz="2400" dirty="0">
                <a:solidFill>
                  <a:srgbClr val="000000"/>
                </a:solidFill>
              </a:rPr>
              <a:t>	CaCO</a:t>
            </a:r>
            <a:r>
              <a:rPr sz="2400" baseline="-20833" dirty="0">
                <a:solidFill>
                  <a:srgbClr val="000000"/>
                </a:solidFill>
              </a:rPr>
              <a:t>3</a:t>
            </a:r>
            <a:r>
              <a:rPr sz="2400" spc="292" baseline="-20833" dirty="0">
                <a:solidFill>
                  <a:srgbClr val="000000"/>
                </a:solidFill>
              </a:rPr>
              <a:t> </a:t>
            </a:r>
            <a:r>
              <a:rPr sz="2400" dirty="0">
                <a:solidFill>
                  <a:srgbClr val="000000"/>
                </a:solidFill>
              </a:rPr>
              <a:t>+</a:t>
            </a:r>
            <a:r>
              <a:rPr sz="2400" spc="-20" dirty="0">
                <a:solidFill>
                  <a:srgbClr val="000000"/>
                </a:solidFill>
              </a:rPr>
              <a:t> </a:t>
            </a:r>
            <a:r>
              <a:rPr sz="2400" dirty="0">
                <a:solidFill>
                  <a:srgbClr val="000000"/>
                </a:solidFill>
              </a:rPr>
              <a:t>SiO</a:t>
            </a:r>
            <a:r>
              <a:rPr sz="2400" baseline="-20833" dirty="0">
                <a:solidFill>
                  <a:srgbClr val="000000"/>
                </a:solidFill>
              </a:rPr>
              <a:t>2</a:t>
            </a:r>
            <a:r>
              <a:rPr sz="2400" spc="315" baseline="-20833" dirty="0">
                <a:solidFill>
                  <a:srgbClr val="000000"/>
                </a:solidFill>
              </a:rPr>
              <a:t> </a:t>
            </a:r>
            <a:r>
              <a:rPr sz="2400" dirty="0">
                <a:solidFill>
                  <a:srgbClr val="000000"/>
                </a:solidFill>
              </a:rPr>
              <a:t>+</a:t>
            </a:r>
            <a:r>
              <a:rPr sz="2400" spc="-20" dirty="0">
                <a:solidFill>
                  <a:srgbClr val="000000"/>
                </a:solidFill>
              </a:rPr>
              <a:t> </a:t>
            </a:r>
            <a:r>
              <a:rPr sz="2400" spc="-25" dirty="0">
                <a:solidFill>
                  <a:srgbClr val="000000"/>
                </a:solidFill>
              </a:rPr>
              <a:t>H</a:t>
            </a:r>
            <a:r>
              <a:rPr sz="2400" spc="-37" baseline="-20833" dirty="0">
                <a:solidFill>
                  <a:srgbClr val="000000"/>
                </a:solidFill>
              </a:rPr>
              <a:t>2</a:t>
            </a:r>
            <a:r>
              <a:rPr sz="2400" spc="-25" dirty="0">
                <a:solidFill>
                  <a:srgbClr val="000000"/>
                </a:solidFill>
              </a:rPr>
              <a:t>O</a:t>
            </a:r>
            <a:endParaRPr sz="2400" dirty="0">
              <a:latin typeface="Times New Roman"/>
              <a:cs typeface="Times New Roman"/>
            </a:endParaRPr>
          </a:p>
        </p:txBody>
      </p:sp>
      <p:sp>
        <p:nvSpPr>
          <p:cNvPr id="4" name="TextBox 3">
            <a:extLst>
              <a:ext uri="{FF2B5EF4-FFF2-40B4-BE49-F238E27FC236}">
                <a16:creationId xmlns:a16="http://schemas.microsoft.com/office/drawing/2014/main" id="{E8842C9C-DFCF-4639-8486-0F6D758BF5DB}"/>
              </a:ext>
            </a:extLst>
          </p:cNvPr>
          <p:cNvSpPr txBox="1"/>
          <p:nvPr/>
        </p:nvSpPr>
        <p:spPr>
          <a:xfrm>
            <a:off x="2743200" y="6211669"/>
            <a:ext cx="6781800" cy="646331"/>
          </a:xfrm>
          <a:prstGeom prst="rect">
            <a:avLst/>
          </a:prstGeom>
          <a:noFill/>
        </p:spPr>
        <p:txBody>
          <a:bodyPr wrap="square">
            <a:spAutoFit/>
          </a:bodyPr>
          <a:lstStyle/>
          <a:p>
            <a:pPr algn="l"/>
            <a:r>
              <a:rPr lang="en-IN" b="1" dirty="0">
                <a:latin typeface="SabonLTStd-Bold"/>
              </a:rPr>
              <a:t>Source: </a:t>
            </a:r>
            <a:r>
              <a:rPr lang="en-IN" sz="1800" b="1" i="0" u="none" strike="noStrike" baseline="0" dirty="0">
                <a:latin typeface="SabonLTStd-Bold"/>
              </a:rPr>
              <a:t>Introduction to Geochemistry (</a:t>
            </a:r>
            <a:r>
              <a:rPr lang="en-IN" sz="1800" b="0" i="0" u="none" strike="noStrike" baseline="0" dirty="0">
                <a:latin typeface="SabonLTStd-Roman"/>
              </a:rPr>
              <a:t>Principles and Applications)</a:t>
            </a:r>
          </a:p>
          <a:p>
            <a:pPr algn="l"/>
            <a:r>
              <a:rPr lang="en-IN" sz="1800" b="1" i="0" u="none" strike="noStrike" baseline="0" dirty="0">
                <a:latin typeface="SabonLTStd-Bold"/>
              </a:rPr>
              <a:t>Kula C. Misra</a:t>
            </a:r>
            <a:r>
              <a:rPr lang="en-IN" b="1" dirty="0">
                <a:latin typeface="SabonLTStd-Bold"/>
              </a:rPr>
              <a:t> (</a:t>
            </a:r>
            <a:r>
              <a:rPr lang="en-IN" sz="1800" b="1" i="0" u="none" strike="noStrike" baseline="0" dirty="0">
                <a:latin typeface="SabonLTStd-Bold"/>
              </a:rPr>
              <a:t>The Crust–Hydrosphere–Atmosphere System)</a:t>
            </a:r>
            <a:endParaRPr lang="en-I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0"/>
            <a:ext cx="8229600" cy="1143000"/>
          </a:xfrm>
          <a:prstGeom prst="rect">
            <a:avLst/>
          </a:prstGeom>
        </p:spPr>
        <p:txBody>
          <a:bodyPr vert="horz" wrap="square" lIns="0" tIns="12700" rIns="0" bIns="0" rtlCol="0">
            <a:spAutoFit/>
          </a:bodyPr>
          <a:lstStyle/>
          <a:p>
            <a:pPr marL="25400" marR="17780">
              <a:lnSpc>
                <a:spcPct val="150000"/>
              </a:lnSpc>
              <a:spcBef>
                <a:spcPts val="100"/>
              </a:spcBef>
            </a:pPr>
            <a:r>
              <a:rPr sz="2400" b="1" dirty="0">
                <a:latin typeface="Times New Roman"/>
                <a:cs typeface="Times New Roman"/>
              </a:rPr>
              <a:t>EVOLUTION</a:t>
            </a:r>
            <a:r>
              <a:rPr sz="2400" b="1" spc="-100" dirty="0">
                <a:latin typeface="Times New Roman"/>
                <a:cs typeface="Times New Roman"/>
              </a:rPr>
              <a:t> </a:t>
            </a:r>
            <a:r>
              <a:rPr sz="2400" b="1" dirty="0">
                <a:latin typeface="Times New Roman"/>
                <a:cs typeface="Times New Roman"/>
              </a:rPr>
              <a:t>OF</a:t>
            </a:r>
            <a:r>
              <a:rPr sz="2400" b="1" spc="-150" dirty="0">
                <a:latin typeface="Times New Roman"/>
                <a:cs typeface="Times New Roman"/>
              </a:rPr>
              <a:t> </a:t>
            </a:r>
            <a:r>
              <a:rPr sz="2400" b="1" dirty="0">
                <a:latin typeface="Times New Roman"/>
                <a:cs typeface="Times New Roman"/>
              </a:rPr>
              <a:t>THE</a:t>
            </a:r>
            <a:r>
              <a:rPr sz="2400" b="1" spc="-65" dirty="0">
                <a:latin typeface="Times New Roman"/>
                <a:cs typeface="Times New Roman"/>
              </a:rPr>
              <a:t> </a:t>
            </a:r>
            <a:r>
              <a:rPr sz="2400" b="1" spc="-10" dirty="0">
                <a:latin typeface="Times New Roman"/>
                <a:cs typeface="Times New Roman"/>
              </a:rPr>
              <a:t>OCEAN-ATMOSPHERE</a:t>
            </a:r>
            <a:r>
              <a:rPr sz="2400" b="1" spc="-55" dirty="0">
                <a:latin typeface="Times New Roman"/>
                <a:cs typeface="Times New Roman"/>
              </a:rPr>
              <a:t> </a:t>
            </a:r>
            <a:r>
              <a:rPr sz="2400" b="1" spc="-10" dirty="0">
                <a:latin typeface="Times New Roman"/>
                <a:cs typeface="Times New Roman"/>
              </a:rPr>
              <a:t>SYSTEM: </a:t>
            </a:r>
            <a:r>
              <a:rPr sz="2400" b="1" dirty="0">
                <a:solidFill>
                  <a:srgbClr val="008000"/>
                </a:solidFill>
                <a:latin typeface="Times New Roman"/>
                <a:cs typeface="Times New Roman"/>
              </a:rPr>
              <a:t>THE</a:t>
            </a:r>
            <a:r>
              <a:rPr sz="2400" b="1" spc="-45" dirty="0">
                <a:solidFill>
                  <a:srgbClr val="008000"/>
                </a:solidFill>
                <a:latin typeface="Times New Roman"/>
                <a:cs typeface="Times New Roman"/>
              </a:rPr>
              <a:t> </a:t>
            </a:r>
            <a:r>
              <a:rPr sz="2400" b="1" dirty="0">
                <a:solidFill>
                  <a:srgbClr val="008000"/>
                </a:solidFill>
                <a:latin typeface="Times New Roman"/>
                <a:cs typeface="Times New Roman"/>
              </a:rPr>
              <a:t>RISE</a:t>
            </a:r>
            <a:r>
              <a:rPr sz="2400" b="1" spc="-30" dirty="0">
                <a:solidFill>
                  <a:srgbClr val="008000"/>
                </a:solidFill>
                <a:latin typeface="Times New Roman"/>
                <a:cs typeface="Times New Roman"/>
              </a:rPr>
              <a:t> </a:t>
            </a:r>
            <a:r>
              <a:rPr sz="2400" b="1" dirty="0">
                <a:solidFill>
                  <a:srgbClr val="008000"/>
                </a:solidFill>
                <a:latin typeface="Times New Roman"/>
                <a:cs typeface="Times New Roman"/>
              </a:rPr>
              <a:t>OF</a:t>
            </a:r>
            <a:r>
              <a:rPr sz="2400" b="1" spc="-145" dirty="0">
                <a:solidFill>
                  <a:srgbClr val="008000"/>
                </a:solidFill>
                <a:latin typeface="Times New Roman"/>
                <a:cs typeface="Times New Roman"/>
              </a:rPr>
              <a:t> </a:t>
            </a:r>
            <a:r>
              <a:rPr sz="2400" b="1" dirty="0">
                <a:solidFill>
                  <a:srgbClr val="008000"/>
                </a:solidFill>
                <a:latin typeface="Times New Roman"/>
                <a:cs typeface="Times New Roman"/>
              </a:rPr>
              <a:t>FREE</a:t>
            </a:r>
            <a:r>
              <a:rPr sz="2400" b="1" spc="-35" dirty="0">
                <a:solidFill>
                  <a:srgbClr val="008000"/>
                </a:solidFill>
                <a:latin typeface="Times New Roman"/>
                <a:cs typeface="Times New Roman"/>
              </a:rPr>
              <a:t> </a:t>
            </a:r>
            <a:r>
              <a:rPr sz="2400" b="1" dirty="0">
                <a:solidFill>
                  <a:srgbClr val="008000"/>
                </a:solidFill>
                <a:latin typeface="Times New Roman"/>
                <a:cs typeface="Times New Roman"/>
              </a:rPr>
              <a:t>OXYGEN</a:t>
            </a:r>
            <a:r>
              <a:rPr sz="2400" b="1" spc="-45" dirty="0">
                <a:solidFill>
                  <a:srgbClr val="008000"/>
                </a:solidFill>
                <a:latin typeface="Times New Roman"/>
                <a:cs typeface="Times New Roman"/>
              </a:rPr>
              <a:t> </a:t>
            </a:r>
            <a:r>
              <a:rPr sz="2400" b="1" spc="-20" dirty="0">
                <a:solidFill>
                  <a:srgbClr val="008000"/>
                </a:solidFill>
                <a:latin typeface="Times New Roman"/>
                <a:cs typeface="Times New Roman"/>
              </a:rPr>
              <a:t>(O</a:t>
            </a:r>
            <a:r>
              <a:rPr sz="2400" spc="-30" baseline="-20833" dirty="0">
                <a:solidFill>
                  <a:srgbClr val="008000"/>
                </a:solidFill>
              </a:rPr>
              <a:t>2</a:t>
            </a:r>
            <a:r>
              <a:rPr sz="2400" spc="-20" dirty="0">
                <a:solidFill>
                  <a:srgbClr val="008000"/>
                </a:solidFill>
              </a:rPr>
              <a:t>)</a:t>
            </a:r>
            <a:endParaRPr sz="2400" dirty="0">
              <a:latin typeface="Times New Roman"/>
              <a:cs typeface="Times New Roman"/>
            </a:endParaRPr>
          </a:p>
        </p:txBody>
      </p:sp>
      <p:sp>
        <p:nvSpPr>
          <p:cNvPr id="3" name="object 3"/>
          <p:cNvSpPr txBox="1"/>
          <p:nvPr/>
        </p:nvSpPr>
        <p:spPr>
          <a:xfrm>
            <a:off x="370840" y="914400"/>
            <a:ext cx="7489825" cy="1885131"/>
          </a:xfrm>
          <a:prstGeom prst="rect">
            <a:avLst/>
          </a:prstGeom>
        </p:spPr>
        <p:txBody>
          <a:bodyPr vert="horz" wrap="square" lIns="0" tIns="226060" rIns="0" bIns="0" rtlCol="0">
            <a:spAutoFit/>
          </a:bodyPr>
          <a:lstStyle/>
          <a:p>
            <a:pPr marL="25400">
              <a:lnSpc>
                <a:spcPct val="100000"/>
              </a:lnSpc>
              <a:spcBef>
                <a:spcPts val="5"/>
              </a:spcBef>
              <a:tabLst>
                <a:tab pos="1304925" algn="l"/>
                <a:tab pos="1651000" algn="l"/>
                <a:tab pos="3690620" algn="l"/>
              </a:tabLst>
            </a:pPr>
            <a:endParaRPr lang="en-IN" sz="2400" spc="-10" dirty="0">
              <a:latin typeface="Arial MT"/>
              <a:cs typeface="Arial MT"/>
            </a:endParaRPr>
          </a:p>
          <a:p>
            <a:pPr marL="25400">
              <a:lnSpc>
                <a:spcPct val="100000"/>
              </a:lnSpc>
              <a:spcBef>
                <a:spcPts val="5"/>
              </a:spcBef>
              <a:tabLst>
                <a:tab pos="1304925" algn="l"/>
                <a:tab pos="1651000" algn="l"/>
                <a:tab pos="3690620" algn="l"/>
              </a:tabLst>
            </a:pPr>
            <a:endParaRPr lang="en-IN" sz="2400" spc="-10" dirty="0">
              <a:latin typeface="Arial MT"/>
              <a:cs typeface="Arial MT"/>
            </a:endParaRPr>
          </a:p>
          <a:p>
            <a:pPr marL="25400">
              <a:lnSpc>
                <a:spcPct val="100000"/>
              </a:lnSpc>
              <a:spcBef>
                <a:spcPts val="5"/>
              </a:spcBef>
              <a:tabLst>
                <a:tab pos="1304925" algn="l"/>
                <a:tab pos="1651000" algn="l"/>
                <a:tab pos="3690620" algn="l"/>
              </a:tabLst>
            </a:pPr>
            <a:r>
              <a:rPr sz="2400" spc="-10" dirty="0">
                <a:latin typeface="Arial MT"/>
                <a:cs typeface="Arial MT"/>
              </a:rPr>
              <a:t>-</a:t>
            </a:r>
            <a:r>
              <a:rPr sz="2400" dirty="0">
                <a:latin typeface="Arial MT"/>
                <a:cs typeface="Arial MT"/>
              </a:rPr>
              <a:t>-</a:t>
            </a:r>
            <a:r>
              <a:rPr sz="2400" spc="-15" dirty="0">
                <a:latin typeface="Arial MT"/>
                <a:cs typeface="Arial MT"/>
              </a:rPr>
              <a:t> </a:t>
            </a:r>
            <a:r>
              <a:rPr sz="2400" dirty="0">
                <a:latin typeface="Arial MT"/>
                <a:cs typeface="Arial MT"/>
              </a:rPr>
              <a:t>2</a:t>
            </a:r>
            <a:r>
              <a:rPr sz="2400" spc="-20" dirty="0">
                <a:latin typeface="Arial MT"/>
                <a:cs typeface="Arial MT"/>
              </a:rPr>
              <a:t> </a:t>
            </a:r>
            <a:r>
              <a:rPr sz="2400" spc="-25" dirty="0">
                <a:latin typeface="Arial MT"/>
                <a:cs typeface="Arial MT"/>
              </a:rPr>
              <a:t>H</a:t>
            </a:r>
            <a:r>
              <a:rPr sz="2400" spc="-37" baseline="-20833" dirty="0">
                <a:latin typeface="Arial MT"/>
                <a:cs typeface="Arial MT"/>
              </a:rPr>
              <a:t>2</a:t>
            </a:r>
            <a:r>
              <a:rPr sz="2400" spc="-25" dirty="0">
                <a:latin typeface="Arial MT"/>
                <a:cs typeface="Arial MT"/>
              </a:rPr>
              <a:t>O</a:t>
            </a:r>
            <a:r>
              <a:rPr sz="2400" dirty="0">
                <a:latin typeface="Arial MT"/>
                <a:cs typeface="Arial MT"/>
              </a:rPr>
              <a:t>	</a:t>
            </a:r>
            <a:r>
              <a:rPr sz="2400" spc="-50" dirty="0">
                <a:latin typeface="Arial MT"/>
                <a:cs typeface="Arial MT"/>
              </a:rPr>
              <a:t>=</a:t>
            </a:r>
            <a:r>
              <a:rPr sz="2400" dirty="0">
                <a:latin typeface="Arial MT"/>
                <a:cs typeface="Arial MT"/>
              </a:rPr>
              <a:t>	2</a:t>
            </a:r>
            <a:r>
              <a:rPr sz="2400" spc="-20" dirty="0">
                <a:latin typeface="Arial MT"/>
                <a:cs typeface="Arial MT"/>
              </a:rPr>
              <a:t> </a:t>
            </a:r>
            <a:r>
              <a:rPr sz="2400" dirty="0">
                <a:latin typeface="Arial MT"/>
                <a:cs typeface="Arial MT"/>
              </a:rPr>
              <a:t>H</a:t>
            </a:r>
            <a:r>
              <a:rPr sz="2400" baseline="-20833" dirty="0">
                <a:latin typeface="Arial MT"/>
                <a:cs typeface="Arial MT"/>
              </a:rPr>
              <a:t>2</a:t>
            </a:r>
            <a:r>
              <a:rPr sz="2400" spc="330" baseline="-20833" dirty="0">
                <a:latin typeface="Arial MT"/>
                <a:cs typeface="Arial MT"/>
              </a:rPr>
              <a:t> </a:t>
            </a:r>
            <a:r>
              <a:rPr sz="2400" dirty="0">
                <a:latin typeface="Arial MT"/>
                <a:cs typeface="Arial MT"/>
              </a:rPr>
              <a:t>+</a:t>
            </a:r>
            <a:r>
              <a:rPr sz="2400" spc="-15" dirty="0">
                <a:latin typeface="Arial MT"/>
                <a:cs typeface="Arial MT"/>
              </a:rPr>
              <a:t> </a:t>
            </a:r>
            <a:r>
              <a:rPr sz="2400" spc="-25" dirty="0">
                <a:latin typeface="Arial MT"/>
                <a:cs typeface="Arial MT"/>
              </a:rPr>
              <a:t>O</a:t>
            </a:r>
            <a:r>
              <a:rPr sz="2400" spc="-37" baseline="-20833" dirty="0">
                <a:latin typeface="Arial MT"/>
                <a:cs typeface="Arial MT"/>
              </a:rPr>
              <a:t>2</a:t>
            </a:r>
            <a:r>
              <a:rPr sz="2400" baseline="-20833" dirty="0">
                <a:latin typeface="Arial MT"/>
                <a:cs typeface="Arial MT"/>
              </a:rPr>
              <a:t>	</a:t>
            </a:r>
            <a:r>
              <a:rPr sz="2400" b="1" spc="-10" dirty="0">
                <a:solidFill>
                  <a:srgbClr val="0000FF"/>
                </a:solidFill>
                <a:latin typeface="Arial"/>
                <a:cs typeface="Arial"/>
              </a:rPr>
              <a:t>Photodissociation</a:t>
            </a:r>
            <a:endParaRPr sz="2400" dirty="0">
              <a:latin typeface="Arial"/>
              <a:cs typeface="Arial"/>
            </a:endParaRPr>
          </a:p>
          <a:p>
            <a:pPr marR="93345" algn="ctr">
              <a:lnSpc>
                <a:spcPct val="100000"/>
              </a:lnSpc>
              <a:spcBef>
                <a:spcPts val="1440"/>
              </a:spcBef>
            </a:pPr>
            <a:r>
              <a:rPr sz="2400" dirty="0">
                <a:latin typeface="Arial MT"/>
                <a:cs typeface="Arial MT"/>
              </a:rPr>
              <a:t>followed</a:t>
            </a:r>
            <a:r>
              <a:rPr sz="2400" spc="-40" dirty="0">
                <a:latin typeface="Arial MT"/>
                <a:cs typeface="Arial MT"/>
              </a:rPr>
              <a:t> </a:t>
            </a:r>
            <a:r>
              <a:rPr sz="2400" dirty="0">
                <a:latin typeface="Arial MT"/>
                <a:cs typeface="Arial MT"/>
              </a:rPr>
              <a:t>by</a:t>
            </a:r>
            <a:r>
              <a:rPr sz="2400" spc="-55" dirty="0">
                <a:latin typeface="Arial MT"/>
                <a:cs typeface="Arial MT"/>
              </a:rPr>
              <a:t> </a:t>
            </a:r>
            <a:r>
              <a:rPr sz="2400" dirty="0">
                <a:latin typeface="Arial MT"/>
                <a:cs typeface="Arial MT"/>
              </a:rPr>
              <a:t>loss</a:t>
            </a:r>
            <a:r>
              <a:rPr sz="2400" spc="-50" dirty="0">
                <a:latin typeface="Arial MT"/>
                <a:cs typeface="Arial MT"/>
              </a:rPr>
              <a:t> </a:t>
            </a:r>
            <a:r>
              <a:rPr sz="2400" dirty="0">
                <a:latin typeface="Arial MT"/>
                <a:cs typeface="Arial MT"/>
              </a:rPr>
              <a:t>of</a:t>
            </a:r>
            <a:r>
              <a:rPr sz="2400" spc="-55" dirty="0">
                <a:latin typeface="Arial MT"/>
                <a:cs typeface="Arial MT"/>
              </a:rPr>
              <a:t> </a:t>
            </a:r>
            <a:r>
              <a:rPr sz="2400" dirty="0">
                <a:latin typeface="Arial MT"/>
                <a:cs typeface="Arial MT"/>
              </a:rPr>
              <a:t>hydrogen</a:t>
            </a:r>
            <a:r>
              <a:rPr sz="2400" spc="-40" dirty="0">
                <a:latin typeface="Arial MT"/>
                <a:cs typeface="Arial MT"/>
              </a:rPr>
              <a:t> </a:t>
            </a:r>
            <a:r>
              <a:rPr sz="2400" dirty="0">
                <a:latin typeface="Arial MT"/>
                <a:cs typeface="Arial MT"/>
              </a:rPr>
              <a:t>to</a:t>
            </a:r>
            <a:r>
              <a:rPr sz="2400" spc="-60" dirty="0">
                <a:latin typeface="Arial MT"/>
                <a:cs typeface="Arial MT"/>
              </a:rPr>
              <a:t> </a:t>
            </a:r>
            <a:r>
              <a:rPr sz="2400" spc="-10" dirty="0">
                <a:latin typeface="Arial MT"/>
                <a:cs typeface="Arial MT"/>
              </a:rPr>
              <a:t>space.</a:t>
            </a:r>
            <a:endParaRPr sz="2400" dirty="0">
              <a:latin typeface="Arial MT"/>
              <a:cs typeface="Arial MT"/>
            </a:endParaRPr>
          </a:p>
        </p:txBody>
      </p:sp>
      <p:sp>
        <p:nvSpPr>
          <p:cNvPr id="6" name="object 6"/>
          <p:cNvSpPr txBox="1"/>
          <p:nvPr/>
        </p:nvSpPr>
        <p:spPr>
          <a:xfrm>
            <a:off x="345039" y="3200400"/>
            <a:ext cx="7446009" cy="668655"/>
          </a:xfrm>
          <a:prstGeom prst="rect">
            <a:avLst/>
          </a:prstGeom>
        </p:spPr>
        <p:txBody>
          <a:bodyPr vert="horz" wrap="square" lIns="0" tIns="12700" rIns="0" bIns="0" rtlCol="0">
            <a:spAutoFit/>
          </a:bodyPr>
          <a:lstStyle/>
          <a:p>
            <a:pPr marL="50800">
              <a:lnSpc>
                <a:spcPct val="100000"/>
              </a:lnSpc>
              <a:spcBef>
                <a:spcPts val="100"/>
              </a:spcBef>
              <a:tabLst>
                <a:tab pos="1993264" algn="l"/>
                <a:tab pos="2339340" algn="l"/>
                <a:tab pos="4330700" algn="l"/>
              </a:tabLst>
            </a:pPr>
            <a:r>
              <a:rPr sz="2400" spc="-10" dirty="0">
                <a:latin typeface="Arial MT"/>
                <a:cs typeface="Arial MT"/>
              </a:rPr>
              <a:t>-</a:t>
            </a:r>
            <a:r>
              <a:rPr sz="2400" dirty="0">
                <a:latin typeface="Arial MT"/>
                <a:cs typeface="Arial MT"/>
              </a:rPr>
              <a:t>-</a:t>
            </a:r>
            <a:r>
              <a:rPr sz="2400" spc="-10" dirty="0">
                <a:latin typeface="Arial MT"/>
                <a:cs typeface="Arial MT"/>
              </a:rPr>
              <a:t> </a:t>
            </a:r>
            <a:r>
              <a:rPr sz="2400" dirty="0">
                <a:latin typeface="Arial MT"/>
                <a:cs typeface="Arial MT"/>
              </a:rPr>
              <a:t>CO</a:t>
            </a:r>
            <a:r>
              <a:rPr sz="2400" baseline="-20833" dirty="0">
                <a:latin typeface="Arial MT"/>
                <a:cs typeface="Arial MT"/>
              </a:rPr>
              <a:t>2</a:t>
            </a:r>
            <a:r>
              <a:rPr sz="2400" spc="315" baseline="-20833" dirty="0">
                <a:latin typeface="Arial MT"/>
                <a:cs typeface="Arial MT"/>
              </a:rPr>
              <a:t> </a:t>
            </a:r>
            <a:r>
              <a:rPr sz="2400" dirty="0">
                <a:latin typeface="Arial MT"/>
                <a:cs typeface="Arial MT"/>
              </a:rPr>
              <a:t>+</a:t>
            </a:r>
            <a:r>
              <a:rPr sz="2400" spc="-5" dirty="0">
                <a:latin typeface="Arial MT"/>
                <a:cs typeface="Arial MT"/>
              </a:rPr>
              <a:t> </a:t>
            </a:r>
            <a:r>
              <a:rPr sz="2400" spc="-25" dirty="0">
                <a:latin typeface="Arial MT"/>
                <a:cs typeface="Arial MT"/>
              </a:rPr>
              <a:t>H</a:t>
            </a:r>
            <a:r>
              <a:rPr sz="2400" spc="-37" baseline="-20833" dirty="0">
                <a:latin typeface="Arial MT"/>
                <a:cs typeface="Arial MT"/>
              </a:rPr>
              <a:t>2</a:t>
            </a:r>
            <a:r>
              <a:rPr sz="2400" spc="-25" dirty="0">
                <a:latin typeface="Arial MT"/>
                <a:cs typeface="Arial MT"/>
              </a:rPr>
              <a:t>O</a:t>
            </a:r>
            <a:r>
              <a:rPr sz="2400" dirty="0">
                <a:latin typeface="Arial MT"/>
                <a:cs typeface="Arial MT"/>
              </a:rPr>
              <a:t>	</a:t>
            </a:r>
            <a:r>
              <a:rPr sz="2400" spc="-50" dirty="0">
                <a:latin typeface="Arial MT"/>
                <a:cs typeface="Arial MT"/>
              </a:rPr>
              <a:t>=</a:t>
            </a:r>
            <a:r>
              <a:rPr sz="2400" dirty="0">
                <a:latin typeface="Arial MT"/>
                <a:cs typeface="Arial MT"/>
              </a:rPr>
              <a:t>	CH</a:t>
            </a:r>
            <a:r>
              <a:rPr sz="2400" baseline="-20833" dirty="0">
                <a:latin typeface="Arial MT"/>
                <a:cs typeface="Arial MT"/>
              </a:rPr>
              <a:t>2</a:t>
            </a:r>
            <a:r>
              <a:rPr sz="2400" dirty="0">
                <a:latin typeface="Arial MT"/>
                <a:cs typeface="Arial MT"/>
              </a:rPr>
              <a:t>O</a:t>
            </a:r>
            <a:r>
              <a:rPr sz="2400" spc="-25" dirty="0">
                <a:latin typeface="Arial MT"/>
                <a:cs typeface="Arial MT"/>
              </a:rPr>
              <a:t> </a:t>
            </a:r>
            <a:r>
              <a:rPr sz="2400" dirty="0">
                <a:latin typeface="Arial MT"/>
                <a:cs typeface="Arial MT"/>
              </a:rPr>
              <a:t>+</a:t>
            </a:r>
            <a:r>
              <a:rPr sz="2400" spc="-35" dirty="0">
                <a:latin typeface="Arial MT"/>
                <a:cs typeface="Arial MT"/>
              </a:rPr>
              <a:t> </a:t>
            </a:r>
            <a:r>
              <a:rPr sz="2400" spc="-25" dirty="0">
                <a:latin typeface="Arial MT"/>
                <a:cs typeface="Arial MT"/>
              </a:rPr>
              <a:t>O</a:t>
            </a:r>
            <a:r>
              <a:rPr sz="2400" spc="-37" baseline="-20833" dirty="0">
                <a:latin typeface="Arial MT"/>
                <a:cs typeface="Arial MT"/>
              </a:rPr>
              <a:t>2</a:t>
            </a:r>
            <a:r>
              <a:rPr sz="2400" baseline="-20833" dirty="0">
                <a:latin typeface="Arial MT"/>
                <a:cs typeface="Arial MT"/>
              </a:rPr>
              <a:t>	</a:t>
            </a:r>
            <a:r>
              <a:rPr sz="2400" b="1" spc="-10" dirty="0">
                <a:solidFill>
                  <a:srgbClr val="008000"/>
                </a:solidFill>
                <a:latin typeface="Arial"/>
                <a:cs typeface="Arial"/>
              </a:rPr>
              <a:t>Photosynthesis</a:t>
            </a:r>
            <a:endParaRPr sz="2400" dirty="0">
              <a:latin typeface="Arial"/>
              <a:cs typeface="Arial"/>
            </a:endParaRPr>
          </a:p>
          <a:p>
            <a:pPr marL="4437380">
              <a:lnSpc>
                <a:spcPct val="100000"/>
              </a:lnSpc>
              <a:spcBef>
                <a:spcPts val="25"/>
              </a:spcBef>
              <a:tabLst>
                <a:tab pos="7331075" algn="l"/>
              </a:tabLst>
            </a:pPr>
            <a:r>
              <a:rPr sz="1800" dirty="0">
                <a:latin typeface="Arial MT"/>
                <a:cs typeface="Arial MT"/>
              </a:rPr>
              <a:t>(Respiration</a:t>
            </a:r>
            <a:r>
              <a:rPr sz="1800" spc="-25" dirty="0">
                <a:latin typeface="Arial MT"/>
                <a:cs typeface="Arial MT"/>
              </a:rPr>
              <a:t> </a:t>
            </a:r>
            <a:r>
              <a:rPr sz="1800" dirty="0">
                <a:latin typeface="Arial MT"/>
                <a:cs typeface="Arial MT"/>
              </a:rPr>
              <a:t>and</a:t>
            </a:r>
            <a:r>
              <a:rPr sz="1800" spc="-35" dirty="0">
                <a:latin typeface="Arial MT"/>
                <a:cs typeface="Arial MT"/>
              </a:rPr>
              <a:t> </a:t>
            </a:r>
            <a:r>
              <a:rPr sz="1800" spc="-10" dirty="0">
                <a:latin typeface="Arial MT"/>
                <a:cs typeface="Arial MT"/>
              </a:rPr>
              <a:t>Decay</a:t>
            </a:r>
            <a:r>
              <a:rPr sz="1800" spc="-50" dirty="0">
                <a:latin typeface="Arial MT"/>
                <a:cs typeface="Arial MT"/>
              </a:rPr>
              <a:t>)</a:t>
            </a:r>
            <a:endParaRPr sz="1800" dirty="0">
              <a:latin typeface="Arial MT"/>
              <a:cs typeface="Arial MT"/>
            </a:endParaRPr>
          </a:p>
        </p:txBody>
      </p:sp>
      <p:sp>
        <p:nvSpPr>
          <p:cNvPr id="7" name="object 7"/>
          <p:cNvSpPr txBox="1"/>
          <p:nvPr/>
        </p:nvSpPr>
        <p:spPr>
          <a:xfrm>
            <a:off x="383540" y="4038600"/>
            <a:ext cx="7417434" cy="1882567"/>
          </a:xfrm>
          <a:prstGeom prst="rect">
            <a:avLst/>
          </a:prstGeom>
        </p:spPr>
        <p:txBody>
          <a:bodyPr vert="horz" wrap="square" lIns="0" tIns="185420" rIns="0" bIns="0" rtlCol="0">
            <a:spAutoFit/>
          </a:bodyPr>
          <a:lstStyle/>
          <a:p>
            <a:pPr marR="2705735" algn="ctr">
              <a:lnSpc>
                <a:spcPct val="100000"/>
              </a:lnSpc>
              <a:spcBef>
                <a:spcPts val="1365"/>
              </a:spcBef>
            </a:pPr>
            <a:r>
              <a:rPr sz="2400" spc="-10" dirty="0">
                <a:latin typeface="Arial MT"/>
                <a:cs typeface="Arial MT"/>
              </a:rPr>
              <a:t>--</a:t>
            </a:r>
            <a:r>
              <a:rPr sz="2400" dirty="0">
                <a:latin typeface="Arial MT"/>
                <a:cs typeface="Arial MT"/>
              </a:rPr>
              <a:t>Free</a:t>
            </a:r>
            <a:r>
              <a:rPr sz="2400" spc="-80" dirty="0">
                <a:latin typeface="Arial MT"/>
                <a:cs typeface="Arial MT"/>
              </a:rPr>
              <a:t> </a:t>
            </a:r>
            <a:r>
              <a:rPr sz="2400" dirty="0">
                <a:latin typeface="Arial MT"/>
                <a:cs typeface="Arial MT"/>
              </a:rPr>
              <a:t>oxygen</a:t>
            </a:r>
            <a:r>
              <a:rPr sz="2400" spc="-55" dirty="0">
                <a:latin typeface="Arial MT"/>
                <a:cs typeface="Arial MT"/>
              </a:rPr>
              <a:t> </a:t>
            </a:r>
            <a:r>
              <a:rPr sz="2400" dirty="0">
                <a:latin typeface="Arial MT"/>
                <a:cs typeface="Arial MT"/>
              </a:rPr>
              <a:t>arose</a:t>
            </a:r>
            <a:r>
              <a:rPr sz="2400" spc="-65" dirty="0">
                <a:latin typeface="Arial MT"/>
                <a:cs typeface="Arial MT"/>
              </a:rPr>
              <a:t> </a:t>
            </a:r>
            <a:r>
              <a:rPr sz="2400" dirty="0">
                <a:latin typeface="Arial MT"/>
                <a:cs typeface="Arial MT"/>
              </a:rPr>
              <a:t>about</a:t>
            </a:r>
            <a:r>
              <a:rPr sz="2400" spc="-60" dirty="0">
                <a:latin typeface="Arial MT"/>
                <a:cs typeface="Arial MT"/>
              </a:rPr>
              <a:t> </a:t>
            </a:r>
            <a:r>
              <a:rPr sz="2400" dirty="0">
                <a:latin typeface="Arial MT"/>
                <a:cs typeface="Arial MT"/>
              </a:rPr>
              <a:t>2.4</a:t>
            </a:r>
            <a:r>
              <a:rPr sz="2400" spc="-70" dirty="0">
                <a:latin typeface="Arial MT"/>
                <a:cs typeface="Arial MT"/>
              </a:rPr>
              <a:t> </a:t>
            </a:r>
            <a:r>
              <a:rPr sz="2400" spc="-25" dirty="0">
                <a:latin typeface="Arial MT"/>
                <a:cs typeface="Arial MT"/>
              </a:rPr>
              <a:t>Ga,</a:t>
            </a:r>
            <a:endParaRPr sz="2400" dirty="0">
              <a:latin typeface="Arial MT"/>
              <a:cs typeface="Arial MT"/>
            </a:endParaRPr>
          </a:p>
          <a:p>
            <a:pPr marL="1083310" algn="ctr">
              <a:lnSpc>
                <a:spcPct val="100000"/>
              </a:lnSpc>
            </a:pPr>
            <a:r>
              <a:rPr sz="2400" dirty="0">
                <a:latin typeface="Arial MT"/>
                <a:cs typeface="Arial MT"/>
              </a:rPr>
              <a:t>and</a:t>
            </a:r>
            <a:r>
              <a:rPr sz="2400" spc="-75" dirty="0">
                <a:latin typeface="Arial MT"/>
                <a:cs typeface="Arial MT"/>
              </a:rPr>
              <a:t> </a:t>
            </a:r>
            <a:r>
              <a:rPr sz="2400" dirty="0">
                <a:latin typeface="Arial MT"/>
                <a:cs typeface="Arial MT"/>
              </a:rPr>
              <a:t>reached</a:t>
            </a:r>
            <a:r>
              <a:rPr sz="2400" spc="-55" dirty="0">
                <a:latin typeface="Arial MT"/>
                <a:cs typeface="Arial MT"/>
              </a:rPr>
              <a:t> </a:t>
            </a:r>
            <a:r>
              <a:rPr sz="2400" spc="-20" dirty="0">
                <a:latin typeface="Arial MT"/>
                <a:cs typeface="Arial MT"/>
              </a:rPr>
              <a:t>near-</a:t>
            </a:r>
            <a:r>
              <a:rPr sz="2400" dirty="0">
                <a:latin typeface="Arial MT"/>
                <a:cs typeface="Arial MT"/>
              </a:rPr>
              <a:t>present</a:t>
            </a:r>
            <a:r>
              <a:rPr sz="2400" spc="-50" dirty="0">
                <a:latin typeface="Arial MT"/>
                <a:cs typeface="Arial MT"/>
              </a:rPr>
              <a:t> </a:t>
            </a:r>
            <a:r>
              <a:rPr sz="2400" dirty="0">
                <a:latin typeface="Arial MT"/>
                <a:cs typeface="Arial MT"/>
              </a:rPr>
              <a:t>levels</a:t>
            </a:r>
            <a:r>
              <a:rPr sz="2400" spc="-50" dirty="0">
                <a:latin typeface="Arial MT"/>
                <a:cs typeface="Arial MT"/>
              </a:rPr>
              <a:t> </a:t>
            </a:r>
            <a:r>
              <a:rPr sz="2400" dirty="0">
                <a:latin typeface="Arial MT"/>
                <a:cs typeface="Arial MT"/>
              </a:rPr>
              <a:t>about</a:t>
            </a:r>
            <a:r>
              <a:rPr sz="2400" spc="-60" dirty="0">
                <a:latin typeface="Arial MT"/>
                <a:cs typeface="Arial MT"/>
              </a:rPr>
              <a:t> </a:t>
            </a:r>
            <a:r>
              <a:rPr sz="2400" dirty="0">
                <a:latin typeface="Arial MT"/>
                <a:cs typeface="Arial MT"/>
              </a:rPr>
              <a:t>0.8</a:t>
            </a:r>
            <a:r>
              <a:rPr sz="2400" spc="-60" dirty="0">
                <a:latin typeface="Arial MT"/>
                <a:cs typeface="Arial MT"/>
              </a:rPr>
              <a:t> </a:t>
            </a:r>
            <a:r>
              <a:rPr sz="2400" spc="-25" dirty="0">
                <a:latin typeface="Arial MT"/>
                <a:cs typeface="Arial MT"/>
              </a:rPr>
              <a:t>Ga.</a:t>
            </a:r>
            <a:endParaRPr sz="2400" dirty="0">
              <a:latin typeface="Arial MT"/>
              <a:cs typeface="Arial MT"/>
            </a:endParaRPr>
          </a:p>
          <a:p>
            <a:pPr marR="334010" algn="ctr">
              <a:lnSpc>
                <a:spcPct val="100000"/>
              </a:lnSpc>
              <a:spcBef>
                <a:spcPts val="1680"/>
              </a:spcBef>
            </a:pPr>
            <a:r>
              <a:rPr sz="2400" i="1" dirty="0">
                <a:latin typeface="Arial"/>
                <a:cs typeface="Arial"/>
              </a:rPr>
              <a:t>This</a:t>
            </a:r>
            <a:r>
              <a:rPr sz="2400" i="1" spc="-95" dirty="0">
                <a:latin typeface="Arial"/>
                <a:cs typeface="Arial"/>
              </a:rPr>
              <a:t> </a:t>
            </a:r>
            <a:r>
              <a:rPr sz="2400" i="1" dirty="0">
                <a:latin typeface="Arial"/>
                <a:cs typeface="Arial"/>
              </a:rPr>
              <a:t>allowed</a:t>
            </a:r>
            <a:r>
              <a:rPr sz="2400" i="1" spc="-50" dirty="0">
                <a:latin typeface="Arial"/>
                <a:cs typeface="Arial"/>
              </a:rPr>
              <a:t> </a:t>
            </a:r>
            <a:r>
              <a:rPr sz="2400" i="1" dirty="0">
                <a:latin typeface="Arial"/>
                <a:cs typeface="Arial"/>
              </a:rPr>
              <a:t>development</a:t>
            </a:r>
            <a:r>
              <a:rPr sz="2400" i="1" spc="-50" dirty="0">
                <a:latin typeface="Arial"/>
                <a:cs typeface="Arial"/>
              </a:rPr>
              <a:t> </a:t>
            </a:r>
            <a:r>
              <a:rPr sz="2400" i="1" dirty="0">
                <a:latin typeface="Arial"/>
                <a:cs typeface="Arial"/>
              </a:rPr>
              <a:t>of</a:t>
            </a:r>
            <a:r>
              <a:rPr sz="2400" i="1" spc="-100" dirty="0">
                <a:latin typeface="Arial"/>
                <a:cs typeface="Arial"/>
              </a:rPr>
              <a:t> </a:t>
            </a:r>
            <a:r>
              <a:rPr sz="2400" i="1" dirty="0">
                <a:latin typeface="Arial"/>
                <a:cs typeface="Arial"/>
              </a:rPr>
              <a:t>multicellular</a:t>
            </a:r>
            <a:r>
              <a:rPr sz="2400" i="1" spc="-55" dirty="0">
                <a:latin typeface="Arial"/>
                <a:cs typeface="Arial"/>
              </a:rPr>
              <a:t> </a:t>
            </a:r>
            <a:r>
              <a:rPr sz="2400" i="1" spc="-10" dirty="0">
                <a:latin typeface="Arial"/>
                <a:cs typeface="Arial"/>
              </a:rPr>
              <a:t>organisms</a:t>
            </a:r>
            <a:endParaRPr sz="2400" dirty="0">
              <a:latin typeface="Arial"/>
              <a:cs typeface="Arial"/>
            </a:endParaRPr>
          </a:p>
          <a:p>
            <a:pPr marL="1067435">
              <a:lnSpc>
                <a:spcPct val="100000"/>
              </a:lnSpc>
            </a:pPr>
            <a:r>
              <a:rPr sz="2400" i="1" dirty="0">
                <a:latin typeface="Arial"/>
                <a:cs typeface="Arial"/>
              </a:rPr>
              <a:t>and</a:t>
            </a:r>
            <a:r>
              <a:rPr sz="2400" i="1" spc="-75" dirty="0">
                <a:latin typeface="Arial"/>
                <a:cs typeface="Arial"/>
              </a:rPr>
              <a:t> </a:t>
            </a:r>
            <a:r>
              <a:rPr sz="2400" i="1" dirty="0">
                <a:latin typeface="Arial"/>
                <a:cs typeface="Arial"/>
              </a:rPr>
              <a:t>their</a:t>
            </a:r>
            <a:r>
              <a:rPr sz="2400" i="1" spc="-60" dirty="0">
                <a:latin typeface="Arial"/>
                <a:cs typeface="Arial"/>
              </a:rPr>
              <a:t> </a:t>
            </a:r>
            <a:r>
              <a:rPr sz="2400" i="1" dirty="0">
                <a:latin typeface="Arial"/>
                <a:cs typeface="Arial"/>
              </a:rPr>
              <a:t>migration</a:t>
            </a:r>
            <a:r>
              <a:rPr sz="2400" i="1" spc="-35" dirty="0">
                <a:latin typeface="Arial"/>
                <a:cs typeface="Arial"/>
              </a:rPr>
              <a:t> </a:t>
            </a:r>
            <a:r>
              <a:rPr sz="2400" i="1" dirty="0">
                <a:latin typeface="Arial"/>
                <a:cs typeface="Arial"/>
              </a:rPr>
              <a:t>onto</a:t>
            </a:r>
            <a:r>
              <a:rPr sz="2400" i="1" spc="-65" dirty="0">
                <a:latin typeface="Arial"/>
                <a:cs typeface="Arial"/>
              </a:rPr>
              <a:t> </a:t>
            </a:r>
            <a:r>
              <a:rPr sz="2400" i="1" spc="-10" dirty="0">
                <a:latin typeface="Arial"/>
                <a:cs typeface="Arial"/>
              </a:rPr>
              <a:t>land.</a:t>
            </a:r>
            <a:endParaRPr sz="2400" dirty="0">
              <a:latin typeface="Arial"/>
              <a:cs typeface="Arial"/>
            </a:endParaRPr>
          </a:p>
        </p:txBody>
      </p:sp>
      <p:sp>
        <p:nvSpPr>
          <p:cNvPr id="8" name="TextBox 7">
            <a:extLst>
              <a:ext uri="{FF2B5EF4-FFF2-40B4-BE49-F238E27FC236}">
                <a16:creationId xmlns:a16="http://schemas.microsoft.com/office/drawing/2014/main" id="{6D6D915D-61BB-4EC4-85F7-5360D453BF00}"/>
              </a:ext>
            </a:extLst>
          </p:cNvPr>
          <p:cNvSpPr txBox="1"/>
          <p:nvPr/>
        </p:nvSpPr>
        <p:spPr>
          <a:xfrm>
            <a:off x="2743200" y="6211669"/>
            <a:ext cx="6781800" cy="646331"/>
          </a:xfrm>
          <a:prstGeom prst="rect">
            <a:avLst/>
          </a:prstGeom>
          <a:noFill/>
        </p:spPr>
        <p:txBody>
          <a:bodyPr wrap="square">
            <a:spAutoFit/>
          </a:bodyPr>
          <a:lstStyle/>
          <a:p>
            <a:pPr algn="l"/>
            <a:r>
              <a:rPr lang="en-IN" b="1" dirty="0">
                <a:latin typeface="SabonLTStd-Bold"/>
              </a:rPr>
              <a:t>Source: </a:t>
            </a:r>
            <a:r>
              <a:rPr lang="en-IN" sz="1800" b="1" i="0" u="none" strike="noStrike" baseline="0" dirty="0">
                <a:latin typeface="SabonLTStd-Bold"/>
              </a:rPr>
              <a:t>Introduction to Geochemistry (</a:t>
            </a:r>
            <a:r>
              <a:rPr lang="en-IN" sz="1800" b="0" i="0" u="none" strike="noStrike" baseline="0" dirty="0">
                <a:latin typeface="SabonLTStd-Roman"/>
              </a:rPr>
              <a:t>Principles and Applications)</a:t>
            </a:r>
          </a:p>
          <a:p>
            <a:pPr algn="l"/>
            <a:r>
              <a:rPr lang="en-IN" sz="1800" b="1" i="0" u="none" strike="noStrike" baseline="0" dirty="0">
                <a:latin typeface="SabonLTStd-Bold"/>
              </a:rPr>
              <a:t>Kula C. Misra</a:t>
            </a:r>
            <a:r>
              <a:rPr lang="en-IN" b="1" dirty="0">
                <a:latin typeface="SabonLTStd-Bold"/>
              </a:rPr>
              <a:t> (</a:t>
            </a:r>
            <a:r>
              <a:rPr lang="en-IN" sz="1800" b="1" i="0" u="none" strike="noStrike" baseline="0" dirty="0">
                <a:latin typeface="SabonLTStd-Bold"/>
              </a:rPr>
              <a:t>The Crust–Hydrosphere–Atmosphere System)</a:t>
            </a:r>
            <a:endParaRPr lang="en-I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304800"/>
            <a:ext cx="8229600" cy="1143000"/>
          </a:xfrm>
          <a:prstGeom prst="rect">
            <a:avLst/>
          </a:prstGeom>
        </p:spPr>
        <p:txBody>
          <a:bodyPr vert="horz" wrap="square" lIns="0" tIns="416560" rIns="0" bIns="0" rtlCol="0">
            <a:spAutoFit/>
          </a:bodyPr>
          <a:lstStyle/>
          <a:p>
            <a:pPr marL="986155">
              <a:lnSpc>
                <a:spcPct val="100000"/>
              </a:lnSpc>
              <a:spcBef>
                <a:spcPts val="100"/>
              </a:spcBef>
            </a:pPr>
            <a:r>
              <a:rPr dirty="0"/>
              <a:t>Evidence</a:t>
            </a:r>
            <a:r>
              <a:rPr spc="-95" dirty="0"/>
              <a:t> </a:t>
            </a:r>
            <a:r>
              <a:rPr dirty="0"/>
              <a:t>for</a:t>
            </a:r>
            <a:r>
              <a:rPr spc="-60" dirty="0"/>
              <a:t> </a:t>
            </a:r>
            <a:r>
              <a:rPr dirty="0"/>
              <a:t>the</a:t>
            </a:r>
            <a:r>
              <a:rPr spc="-55" dirty="0"/>
              <a:t> </a:t>
            </a:r>
            <a:r>
              <a:rPr dirty="0"/>
              <a:t>Rise</a:t>
            </a:r>
            <a:r>
              <a:rPr spc="-55" dirty="0"/>
              <a:t> </a:t>
            </a:r>
            <a:r>
              <a:rPr dirty="0"/>
              <a:t>of</a:t>
            </a:r>
            <a:r>
              <a:rPr spc="-55" dirty="0"/>
              <a:t> </a:t>
            </a:r>
            <a:r>
              <a:rPr spc="-25" dirty="0"/>
              <a:t>O</a:t>
            </a:r>
            <a:r>
              <a:rPr sz="4350" spc="-37" baseline="-21072" dirty="0"/>
              <a:t>2</a:t>
            </a:r>
            <a:endParaRPr sz="4350" baseline="-21072" dirty="0"/>
          </a:p>
        </p:txBody>
      </p:sp>
      <p:sp>
        <p:nvSpPr>
          <p:cNvPr id="3" name="object 3"/>
          <p:cNvSpPr txBox="1"/>
          <p:nvPr/>
        </p:nvSpPr>
        <p:spPr>
          <a:xfrm>
            <a:off x="431190" y="988696"/>
            <a:ext cx="7710170" cy="2183290"/>
          </a:xfrm>
          <a:prstGeom prst="rect">
            <a:avLst/>
          </a:prstGeom>
        </p:spPr>
        <p:txBody>
          <a:bodyPr vert="horz" wrap="square" lIns="0" tIns="13335" rIns="0" bIns="0" rtlCol="0">
            <a:spAutoFit/>
          </a:bodyPr>
          <a:lstStyle/>
          <a:p>
            <a:pPr marL="939800" marR="17780" indent="-915035">
              <a:lnSpc>
                <a:spcPct val="100000"/>
              </a:lnSpc>
              <a:spcBef>
                <a:spcPts val="105"/>
              </a:spcBef>
            </a:pPr>
            <a:r>
              <a:rPr sz="3200" dirty="0">
                <a:solidFill>
                  <a:srgbClr val="0000FF"/>
                </a:solidFill>
                <a:latin typeface="Arial MT"/>
                <a:cs typeface="Arial MT"/>
              </a:rPr>
              <a:t>Features</a:t>
            </a:r>
            <a:r>
              <a:rPr sz="3200" spc="-60" dirty="0">
                <a:solidFill>
                  <a:srgbClr val="0000FF"/>
                </a:solidFill>
                <a:latin typeface="Arial MT"/>
                <a:cs typeface="Arial MT"/>
              </a:rPr>
              <a:t> </a:t>
            </a:r>
            <a:r>
              <a:rPr sz="3200" dirty="0">
                <a:solidFill>
                  <a:srgbClr val="0000FF"/>
                </a:solidFill>
                <a:latin typeface="Arial MT"/>
                <a:cs typeface="Arial MT"/>
              </a:rPr>
              <a:t>typical</a:t>
            </a:r>
            <a:r>
              <a:rPr sz="3200" spc="-50" dirty="0">
                <a:solidFill>
                  <a:srgbClr val="0000FF"/>
                </a:solidFill>
                <a:latin typeface="Arial MT"/>
                <a:cs typeface="Arial MT"/>
              </a:rPr>
              <a:t> </a:t>
            </a:r>
            <a:r>
              <a:rPr sz="3200" dirty="0">
                <a:solidFill>
                  <a:srgbClr val="0000FF"/>
                </a:solidFill>
                <a:latin typeface="Arial MT"/>
                <a:cs typeface="Arial MT"/>
              </a:rPr>
              <a:t>of</a:t>
            </a:r>
            <a:r>
              <a:rPr sz="3200" spc="-45" dirty="0">
                <a:solidFill>
                  <a:srgbClr val="0000FF"/>
                </a:solidFill>
                <a:latin typeface="Arial MT"/>
                <a:cs typeface="Arial MT"/>
              </a:rPr>
              <a:t> </a:t>
            </a:r>
            <a:r>
              <a:rPr sz="3200" dirty="0">
                <a:solidFill>
                  <a:srgbClr val="0000FF"/>
                </a:solidFill>
                <a:latin typeface="Arial MT"/>
                <a:cs typeface="Arial MT"/>
              </a:rPr>
              <a:t>the</a:t>
            </a:r>
            <a:r>
              <a:rPr sz="3200" spc="-215" dirty="0">
                <a:solidFill>
                  <a:srgbClr val="0000FF"/>
                </a:solidFill>
                <a:latin typeface="Arial MT"/>
                <a:cs typeface="Arial MT"/>
              </a:rPr>
              <a:t> </a:t>
            </a:r>
            <a:r>
              <a:rPr sz="3200" dirty="0">
                <a:solidFill>
                  <a:srgbClr val="0000FF"/>
                </a:solidFill>
                <a:latin typeface="Arial MT"/>
                <a:cs typeface="Arial MT"/>
              </a:rPr>
              <a:t>Archaean</a:t>
            </a:r>
            <a:r>
              <a:rPr sz="3200" spc="-55" dirty="0">
                <a:solidFill>
                  <a:srgbClr val="0000FF"/>
                </a:solidFill>
                <a:latin typeface="Arial MT"/>
                <a:cs typeface="Arial MT"/>
              </a:rPr>
              <a:t> </a:t>
            </a:r>
            <a:r>
              <a:rPr sz="3200" dirty="0">
                <a:solidFill>
                  <a:srgbClr val="0000FF"/>
                </a:solidFill>
                <a:latin typeface="Arial MT"/>
                <a:cs typeface="Arial MT"/>
              </a:rPr>
              <a:t>(&gt;2.5</a:t>
            </a:r>
            <a:r>
              <a:rPr sz="3200" spc="-60" dirty="0">
                <a:solidFill>
                  <a:srgbClr val="0000FF"/>
                </a:solidFill>
                <a:latin typeface="Arial MT"/>
                <a:cs typeface="Arial MT"/>
              </a:rPr>
              <a:t> </a:t>
            </a:r>
            <a:r>
              <a:rPr sz="3200" spc="-25" dirty="0">
                <a:solidFill>
                  <a:srgbClr val="0000FF"/>
                </a:solidFill>
                <a:latin typeface="Arial MT"/>
                <a:cs typeface="Arial MT"/>
              </a:rPr>
              <a:t>Ga) </a:t>
            </a:r>
            <a:r>
              <a:rPr sz="3200" dirty="0">
                <a:solidFill>
                  <a:srgbClr val="0000FF"/>
                </a:solidFill>
                <a:latin typeface="Arial MT"/>
                <a:cs typeface="Arial MT"/>
              </a:rPr>
              <a:t>but</a:t>
            </a:r>
            <a:r>
              <a:rPr sz="3200" spc="-30" dirty="0">
                <a:solidFill>
                  <a:srgbClr val="0000FF"/>
                </a:solidFill>
                <a:latin typeface="Arial MT"/>
                <a:cs typeface="Arial MT"/>
              </a:rPr>
              <a:t> </a:t>
            </a:r>
            <a:r>
              <a:rPr sz="3200" dirty="0">
                <a:solidFill>
                  <a:srgbClr val="0000FF"/>
                </a:solidFill>
                <a:latin typeface="Arial MT"/>
                <a:cs typeface="Arial MT"/>
              </a:rPr>
              <a:t>rare</a:t>
            </a:r>
            <a:r>
              <a:rPr sz="3200" spc="-35" dirty="0">
                <a:solidFill>
                  <a:srgbClr val="0000FF"/>
                </a:solidFill>
                <a:latin typeface="Arial MT"/>
                <a:cs typeface="Arial MT"/>
              </a:rPr>
              <a:t> </a:t>
            </a:r>
            <a:r>
              <a:rPr sz="3200" dirty="0">
                <a:solidFill>
                  <a:srgbClr val="0000FF"/>
                </a:solidFill>
                <a:latin typeface="Arial MT"/>
                <a:cs typeface="Arial MT"/>
              </a:rPr>
              <a:t>or</a:t>
            </a:r>
            <a:r>
              <a:rPr sz="3200" spc="-35" dirty="0">
                <a:solidFill>
                  <a:srgbClr val="0000FF"/>
                </a:solidFill>
                <a:latin typeface="Arial MT"/>
                <a:cs typeface="Arial MT"/>
              </a:rPr>
              <a:t> </a:t>
            </a:r>
            <a:r>
              <a:rPr sz="3200" dirty="0">
                <a:solidFill>
                  <a:srgbClr val="0000FF"/>
                </a:solidFill>
                <a:latin typeface="Arial MT"/>
                <a:cs typeface="Arial MT"/>
              </a:rPr>
              <a:t>absent</a:t>
            </a:r>
            <a:r>
              <a:rPr sz="3200" spc="-40" dirty="0">
                <a:solidFill>
                  <a:srgbClr val="0000FF"/>
                </a:solidFill>
                <a:latin typeface="Arial MT"/>
                <a:cs typeface="Arial MT"/>
              </a:rPr>
              <a:t> </a:t>
            </a:r>
            <a:r>
              <a:rPr sz="3200" spc="-10" dirty="0">
                <a:solidFill>
                  <a:srgbClr val="0000FF"/>
                </a:solidFill>
                <a:latin typeface="Arial MT"/>
                <a:cs typeface="Arial MT"/>
              </a:rPr>
              <a:t>thereafter:</a:t>
            </a:r>
            <a:endParaRPr sz="3200" dirty="0">
              <a:latin typeface="Arial MT"/>
              <a:cs typeface="Arial MT"/>
            </a:endParaRPr>
          </a:p>
          <a:p>
            <a:pPr marL="590550" marR="2662555" algn="just">
              <a:lnSpc>
                <a:spcPct val="100000"/>
              </a:lnSpc>
              <a:spcBef>
                <a:spcPts val="640"/>
              </a:spcBef>
            </a:pPr>
            <a:r>
              <a:rPr sz="2400" dirty="0">
                <a:latin typeface="Arial MT"/>
                <a:cs typeface="Arial MT"/>
              </a:rPr>
              <a:t>Banded</a:t>
            </a:r>
            <a:r>
              <a:rPr sz="2400" spc="-50" dirty="0">
                <a:latin typeface="Arial MT"/>
                <a:cs typeface="Arial MT"/>
              </a:rPr>
              <a:t> </a:t>
            </a:r>
            <a:r>
              <a:rPr sz="2400" dirty="0">
                <a:latin typeface="Arial MT"/>
                <a:cs typeface="Arial MT"/>
              </a:rPr>
              <a:t>Iron</a:t>
            </a:r>
            <a:r>
              <a:rPr sz="2400" spc="-80" dirty="0">
                <a:latin typeface="Arial MT"/>
                <a:cs typeface="Arial MT"/>
              </a:rPr>
              <a:t> </a:t>
            </a:r>
            <a:r>
              <a:rPr sz="2400" dirty="0">
                <a:latin typeface="Arial MT"/>
                <a:cs typeface="Arial MT"/>
              </a:rPr>
              <a:t>Formations</a:t>
            </a:r>
            <a:r>
              <a:rPr sz="2400" spc="-65" dirty="0">
                <a:latin typeface="Arial MT"/>
                <a:cs typeface="Arial MT"/>
              </a:rPr>
              <a:t> </a:t>
            </a:r>
            <a:r>
              <a:rPr sz="2400" spc="-10" dirty="0">
                <a:latin typeface="Arial MT"/>
                <a:cs typeface="Arial MT"/>
              </a:rPr>
              <a:t>(“BIF’s”) </a:t>
            </a:r>
            <a:r>
              <a:rPr sz="2400" dirty="0">
                <a:solidFill>
                  <a:srgbClr val="CC6600"/>
                </a:solidFill>
                <a:latin typeface="Arial MT"/>
                <a:cs typeface="Arial MT"/>
              </a:rPr>
              <a:t>Absence</a:t>
            </a:r>
            <a:r>
              <a:rPr sz="2400" spc="-60" dirty="0">
                <a:solidFill>
                  <a:srgbClr val="CC6600"/>
                </a:solidFill>
                <a:latin typeface="Arial MT"/>
                <a:cs typeface="Arial MT"/>
              </a:rPr>
              <a:t> </a:t>
            </a:r>
            <a:r>
              <a:rPr sz="2400" dirty="0">
                <a:solidFill>
                  <a:srgbClr val="CC6600"/>
                </a:solidFill>
                <a:latin typeface="Arial MT"/>
                <a:cs typeface="Arial MT"/>
              </a:rPr>
              <a:t>of</a:t>
            </a:r>
            <a:r>
              <a:rPr sz="2400" spc="-65" dirty="0">
                <a:solidFill>
                  <a:srgbClr val="CC6600"/>
                </a:solidFill>
                <a:latin typeface="Arial MT"/>
                <a:cs typeface="Arial MT"/>
              </a:rPr>
              <a:t> </a:t>
            </a:r>
            <a:r>
              <a:rPr sz="2400" spc="-10" dirty="0">
                <a:solidFill>
                  <a:srgbClr val="CC6600"/>
                </a:solidFill>
                <a:latin typeface="Arial MT"/>
                <a:cs typeface="Arial MT"/>
              </a:rPr>
              <a:t>redbeds</a:t>
            </a:r>
            <a:endParaRPr sz="2400" dirty="0">
              <a:latin typeface="Arial MT"/>
              <a:cs typeface="Arial MT"/>
            </a:endParaRPr>
          </a:p>
          <a:p>
            <a:pPr marL="590550" marR="1649095" algn="just">
              <a:lnSpc>
                <a:spcPct val="100000"/>
              </a:lnSpc>
              <a:spcBef>
                <a:spcPts val="5"/>
              </a:spcBef>
            </a:pPr>
            <a:r>
              <a:rPr sz="2400" dirty="0">
                <a:latin typeface="Arial MT"/>
                <a:cs typeface="Arial MT"/>
              </a:rPr>
              <a:t>Detrital</a:t>
            </a:r>
            <a:r>
              <a:rPr sz="2400" spc="-75" dirty="0">
                <a:latin typeface="Arial MT"/>
                <a:cs typeface="Arial MT"/>
              </a:rPr>
              <a:t> </a:t>
            </a:r>
            <a:r>
              <a:rPr sz="2400" dirty="0">
                <a:latin typeface="Arial MT"/>
                <a:cs typeface="Arial MT"/>
              </a:rPr>
              <a:t>uraninite</a:t>
            </a:r>
            <a:r>
              <a:rPr sz="2400" spc="-55" dirty="0">
                <a:latin typeface="Arial MT"/>
                <a:cs typeface="Arial MT"/>
              </a:rPr>
              <a:t> </a:t>
            </a:r>
            <a:r>
              <a:rPr sz="2400" dirty="0">
                <a:latin typeface="Arial MT"/>
                <a:cs typeface="Arial MT"/>
              </a:rPr>
              <a:t>(UO</a:t>
            </a:r>
            <a:r>
              <a:rPr sz="2400" baseline="-20833" dirty="0">
                <a:latin typeface="Arial MT"/>
                <a:cs typeface="Arial MT"/>
              </a:rPr>
              <a:t>2</a:t>
            </a:r>
            <a:r>
              <a:rPr sz="2400" dirty="0">
                <a:latin typeface="Arial MT"/>
                <a:cs typeface="Arial MT"/>
              </a:rPr>
              <a:t>)</a:t>
            </a:r>
            <a:r>
              <a:rPr sz="2400" spc="-90" dirty="0">
                <a:latin typeface="Arial MT"/>
                <a:cs typeface="Arial MT"/>
              </a:rPr>
              <a:t> </a:t>
            </a:r>
            <a:r>
              <a:rPr sz="2400" dirty="0">
                <a:latin typeface="Arial MT"/>
                <a:cs typeface="Arial MT"/>
              </a:rPr>
              <a:t>and</a:t>
            </a:r>
            <a:r>
              <a:rPr sz="2400" spc="-75" dirty="0">
                <a:latin typeface="Arial MT"/>
                <a:cs typeface="Arial MT"/>
              </a:rPr>
              <a:t> </a:t>
            </a:r>
            <a:r>
              <a:rPr sz="2400" dirty="0">
                <a:latin typeface="Arial MT"/>
                <a:cs typeface="Arial MT"/>
              </a:rPr>
              <a:t>pyrite</a:t>
            </a:r>
            <a:r>
              <a:rPr sz="2400" spc="-75" dirty="0">
                <a:latin typeface="Arial MT"/>
                <a:cs typeface="Arial MT"/>
              </a:rPr>
              <a:t> </a:t>
            </a:r>
            <a:r>
              <a:rPr sz="2400" spc="-10" dirty="0">
                <a:latin typeface="Arial MT"/>
                <a:cs typeface="Arial MT"/>
              </a:rPr>
              <a:t>(FeS</a:t>
            </a:r>
            <a:r>
              <a:rPr sz="2400" spc="-15" baseline="-20833" dirty="0">
                <a:latin typeface="Arial MT"/>
                <a:cs typeface="Arial MT"/>
              </a:rPr>
              <a:t>2</a:t>
            </a:r>
            <a:r>
              <a:rPr sz="2400" spc="-10" dirty="0">
                <a:latin typeface="Arial MT"/>
                <a:cs typeface="Arial MT"/>
              </a:rPr>
              <a:t>)</a:t>
            </a:r>
            <a:endParaRPr sz="2400" dirty="0">
              <a:latin typeface="Arial MT"/>
              <a:cs typeface="Arial MT"/>
            </a:endParaRPr>
          </a:p>
        </p:txBody>
      </p:sp>
      <p:sp>
        <p:nvSpPr>
          <p:cNvPr id="4" name="object 4"/>
          <p:cNvSpPr txBox="1"/>
          <p:nvPr/>
        </p:nvSpPr>
        <p:spPr>
          <a:xfrm>
            <a:off x="457200" y="3760673"/>
            <a:ext cx="1901189" cy="514350"/>
          </a:xfrm>
          <a:prstGeom prst="rect">
            <a:avLst/>
          </a:prstGeom>
        </p:spPr>
        <p:txBody>
          <a:bodyPr vert="horz" wrap="square" lIns="0" tIns="13335" rIns="0" bIns="0" rtlCol="0">
            <a:spAutoFit/>
          </a:bodyPr>
          <a:lstStyle/>
          <a:p>
            <a:pPr marL="12700">
              <a:lnSpc>
                <a:spcPct val="100000"/>
              </a:lnSpc>
              <a:spcBef>
                <a:spcPts val="105"/>
              </a:spcBef>
            </a:pPr>
            <a:r>
              <a:rPr sz="3200" spc="-10" dirty="0">
                <a:solidFill>
                  <a:srgbClr val="0000FF"/>
                </a:solidFill>
                <a:latin typeface="Arial MT"/>
                <a:cs typeface="Arial MT"/>
              </a:rPr>
              <a:t>Paleosols</a:t>
            </a:r>
            <a:r>
              <a:rPr sz="3200" spc="-10" dirty="0">
                <a:latin typeface="Arial MT"/>
                <a:cs typeface="Arial MT"/>
              </a:rPr>
              <a:t>:</a:t>
            </a:r>
            <a:endParaRPr sz="3200" dirty="0">
              <a:latin typeface="Arial MT"/>
              <a:cs typeface="Arial MT"/>
            </a:endParaRPr>
          </a:p>
        </p:txBody>
      </p:sp>
      <p:sp>
        <p:nvSpPr>
          <p:cNvPr id="5" name="object 5"/>
          <p:cNvSpPr txBox="1"/>
          <p:nvPr/>
        </p:nvSpPr>
        <p:spPr>
          <a:xfrm>
            <a:off x="2556002" y="3863085"/>
            <a:ext cx="4349750"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Arial MT"/>
                <a:cs typeface="Arial MT"/>
              </a:rPr>
              <a:t>mobility</a:t>
            </a:r>
            <a:r>
              <a:rPr sz="2400" spc="-35" dirty="0">
                <a:latin typeface="Arial MT"/>
                <a:cs typeface="Arial MT"/>
              </a:rPr>
              <a:t> </a:t>
            </a:r>
            <a:r>
              <a:rPr sz="2400" dirty="0">
                <a:latin typeface="Arial MT"/>
                <a:cs typeface="Arial MT"/>
              </a:rPr>
              <a:t>of</a:t>
            </a:r>
            <a:r>
              <a:rPr sz="2400" spc="-40" dirty="0">
                <a:latin typeface="Arial MT"/>
                <a:cs typeface="Arial MT"/>
              </a:rPr>
              <a:t> </a:t>
            </a:r>
            <a:r>
              <a:rPr sz="2400" dirty="0">
                <a:latin typeface="Arial MT"/>
                <a:cs typeface="Arial MT"/>
              </a:rPr>
              <a:t>Fe</a:t>
            </a:r>
            <a:r>
              <a:rPr sz="2400" spc="-45" dirty="0">
                <a:latin typeface="Arial MT"/>
                <a:cs typeface="Arial MT"/>
              </a:rPr>
              <a:t> </a:t>
            </a:r>
            <a:r>
              <a:rPr sz="2400" dirty="0">
                <a:latin typeface="Arial MT"/>
                <a:cs typeface="Arial MT"/>
              </a:rPr>
              <a:t>during</a:t>
            </a:r>
            <a:r>
              <a:rPr sz="2400" spc="-30" dirty="0">
                <a:latin typeface="Arial MT"/>
                <a:cs typeface="Arial MT"/>
              </a:rPr>
              <a:t> </a:t>
            </a:r>
            <a:r>
              <a:rPr sz="2400" spc="-10" dirty="0">
                <a:latin typeface="Arial MT"/>
                <a:cs typeface="Arial MT"/>
              </a:rPr>
              <a:t>weathering</a:t>
            </a:r>
            <a:endParaRPr sz="2400" dirty="0">
              <a:latin typeface="Arial MT"/>
              <a:cs typeface="Arial MT"/>
            </a:endParaRPr>
          </a:p>
        </p:txBody>
      </p:sp>
      <p:sp>
        <p:nvSpPr>
          <p:cNvPr id="7" name="TextBox 6">
            <a:extLst>
              <a:ext uri="{FF2B5EF4-FFF2-40B4-BE49-F238E27FC236}">
                <a16:creationId xmlns:a16="http://schemas.microsoft.com/office/drawing/2014/main" id="{A2BAA64F-7905-40F2-BA4F-4B5D77FDB88B}"/>
              </a:ext>
            </a:extLst>
          </p:cNvPr>
          <p:cNvSpPr txBox="1"/>
          <p:nvPr/>
        </p:nvSpPr>
        <p:spPr>
          <a:xfrm>
            <a:off x="2743200" y="6211669"/>
            <a:ext cx="6781800" cy="646331"/>
          </a:xfrm>
          <a:prstGeom prst="rect">
            <a:avLst/>
          </a:prstGeom>
          <a:noFill/>
        </p:spPr>
        <p:txBody>
          <a:bodyPr wrap="square">
            <a:spAutoFit/>
          </a:bodyPr>
          <a:lstStyle/>
          <a:p>
            <a:pPr algn="l"/>
            <a:r>
              <a:rPr lang="en-IN" b="1" dirty="0">
                <a:latin typeface="SabonLTStd-Bold"/>
              </a:rPr>
              <a:t>Source: </a:t>
            </a:r>
            <a:r>
              <a:rPr lang="en-IN" sz="1800" b="1" i="0" u="none" strike="noStrike" baseline="0" dirty="0">
                <a:latin typeface="SabonLTStd-Bold"/>
              </a:rPr>
              <a:t>Introduction to Geochemistry (</a:t>
            </a:r>
            <a:r>
              <a:rPr lang="en-IN" sz="1800" b="0" i="0" u="none" strike="noStrike" baseline="0" dirty="0">
                <a:latin typeface="SabonLTStd-Roman"/>
              </a:rPr>
              <a:t>Principles and Applications)</a:t>
            </a:r>
          </a:p>
          <a:p>
            <a:pPr algn="l"/>
            <a:r>
              <a:rPr lang="en-IN" sz="1800" b="1" i="0" u="none" strike="noStrike" baseline="0" dirty="0">
                <a:latin typeface="SabonLTStd-Bold"/>
              </a:rPr>
              <a:t>Kula C. Misra</a:t>
            </a:r>
            <a:r>
              <a:rPr lang="en-IN" b="1" dirty="0">
                <a:latin typeface="SabonLTStd-Bold"/>
              </a:rPr>
              <a:t> (</a:t>
            </a:r>
            <a:r>
              <a:rPr lang="en-IN" sz="1800" b="1" i="0" u="none" strike="noStrike" baseline="0" dirty="0">
                <a:latin typeface="SabonLTStd-Bold"/>
              </a:rPr>
              <a:t>The Crust–Hydrosphere–Atmosphere System)</a:t>
            </a:r>
            <a:endParaRPr lang="en-I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685800" y="1608035"/>
            <a:ext cx="7543800" cy="4648199"/>
          </a:xfrm>
          <a:prstGeom prst="rect">
            <a:avLst/>
          </a:prstGeom>
        </p:spPr>
      </p:pic>
      <p:sp>
        <p:nvSpPr>
          <p:cNvPr id="3" name="object 3"/>
          <p:cNvSpPr txBox="1">
            <a:spLocks noGrp="1"/>
          </p:cNvSpPr>
          <p:nvPr>
            <p:ph type="title"/>
          </p:nvPr>
        </p:nvSpPr>
        <p:spPr>
          <a:xfrm>
            <a:off x="6007353" y="-12445"/>
            <a:ext cx="3004185" cy="3911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FFFFFF"/>
                </a:solidFill>
                <a:latin typeface="Times New Roman"/>
                <a:cs typeface="Times New Roman"/>
              </a:rPr>
              <a:t>Banded</a:t>
            </a:r>
            <a:r>
              <a:rPr sz="2400" spc="-25" dirty="0">
                <a:solidFill>
                  <a:srgbClr val="FFFFFF"/>
                </a:solidFill>
                <a:latin typeface="Times New Roman"/>
                <a:cs typeface="Times New Roman"/>
              </a:rPr>
              <a:t> </a:t>
            </a:r>
            <a:r>
              <a:rPr sz="2400" dirty="0">
                <a:solidFill>
                  <a:srgbClr val="FFFFFF"/>
                </a:solidFill>
                <a:latin typeface="Times New Roman"/>
                <a:cs typeface="Times New Roman"/>
              </a:rPr>
              <a:t>Iron</a:t>
            </a:r>
            <a:r>
              <a:rPr sz="2400" spc="-5" dirty="0">
                <a:solidFill>
                  <a:srgbClr val="FFFFFF"/>
                </a:solidFill>
                <a:latin typeface="Times New Roman"/>
                <a:cs typeface="Times New Roman"/>
              </a:rPr>
              <a:t> </a:t>
            </a:r>
            <a:r>
              <a:rPr sz="2400" spc="-10" dirty="0">
                <a:solidFill>
                  <a:srgbClr val="FFFFFF"/>
                </a:solidFill>
                <a:latin typeface="Times New Roman"/>
                <a:cs typeface="Times New Roman"/>
              </a:rPr>
              <a:t>Formations</a:t>
            </a:r>
            <a:endParaRPr sz="2400">
              <a:latin typeface="Times New Roman"/>
              <a:cs typeface="Times New Roman"/>
            </a:endParaRPr>
          </a:p>
        </p:txBody>
      </p:sp>
      <p:sp>
        <p:nvSpPr>
          <p:cNvPr id="4" name="object 4"/>
          <p:cNvSpPr txBox="1"/>
          <p:nvPr/>
        </p:nvSpPr>
        <p:spPr>
          <a:xfrm>
            <a:off x="1831594" y="6348171"/>
            <a:ext cx="2194560" cy="391795"/>
          </a:xfrm>
          <a:prstGeom prst="rect">
            <a:avLst/>
          </a:prstGeom>
        </p:spPr>
        <p:txBody>
          <a:bodyPr vert="horz" wrap="square" lIns="0" tIns="12700" rIns="0" bIns="0" rtlCol="0">
            <a:spAutoFit/>
          </a:bodyPr>
          <a:lstStyle/>
          <a:p>
            <a:pPr marL="12700">
              <a:lnSpc>
                <a:spcPct val="100000"/>
              </a:lnSpc>
              <a:spcBef>
                <a:spcPts val="100"/>
              </a:spcBef>
            </a:pPr>
            <a:r>
              <a:rPr sz="2400" spc="-35" dirty="0">
                <a:solidFill>
                  <a:srgbClr val="FFFFFF"/>
                </a:solidFill>
                <a:latin typeface="Times New Roman"/>
                <a:cs typeface="Times New Roman"/>
              </a:rPr>
              <a:t>Western</a:t>
            </a:r>
            <a:r>
              <a:rPr sz="2400" spc="-105" dirty="0">
                <a:solidFill>
                  <a:srgbClr val="FFFFFF"/>
                </a:solidFill>
                <a:latin typeface="Times New Roman"/>
                <a:cs typeface="Times New Roman"/>
              </a:rPr>
              <a:t> </a:t>
            </a:r>
            <a:r>
              <a:rPr sz="2400" spc="-10" dirty="0">
                <a:solidFill>
                  <a:srgbClr val="FFFFFF"/>
                </a:solidFill>
                <a:latin typeface="Times New Roman"/>
                <a:cs typeface="Times New Roman"/>
              </a:rPr>
              <a:t>Australia</a:t>
            </a:r>
            <a:endParaRPr sz="2400">
              <a:latin typeface="Times New Roman"/>
              <a:cs typeface="Times New Roman"/>
            </a:endParaRPr>
          </a:p>
        </p:txBody>
      </p:sp>
      <p:sp>
        <p:nvSpPr>
          <p:cNvPr id="5" name="object 5"/>
          <p:cNvSpPr txBox="1"/>
          <p:nvPr/>
        </p:nvSpPr>
        <p:spPr>
          <a:xfrm>
            <a:off x="6557009" y="6196076"/>
            <a:ext cx="2490470" cy="3911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FFFFFF"/>
                </a:solidFill>
                <a:latin typeface="Times New Roman"/>
                <a:cs typeface="Times New Roman"/>
              </a:rPr>
              <a:t>Northern</a:t>
            </a:r>
            <a:r>
              <a:rPr sz="2400" spc="-10" dirty="0">
                <a:solidFill>
                  <a:srgbClr val="FFFFFF"/>
                </a:solidFill>
                <a:latin typeface="Times New Roman"/>
                <a:cs typeface="Times New Roman"/>
              </a:rPr>
              <a:t> Minnesota</a:t>
            </a:r>
            <a:endParaRPr sz="2400">
              <a:latin typeface="Times New Roman"/>
              <a:cs typeface="Times New Roman"/>
            </a:endParaRPr>
          </a:p>
        </p:txBody>
      </p:sp>
      <p:sp>
        <p:nvSpPr>
          <p:cNvPr id="7" name="TextBox 6">
            <a:extLst>
              <a:ext uri="{FF2B5EF4-FFF2-40B4-BE49-F238E27FC236}">
                <a16:creationId xmlns:a16="http://schemas.microsoft.com/office/drawing/2014/main" id="{E816772B-2C3C-4839-AD81-1357AF9DC319}"/>
              </a:ext>
            </a:extLst>
          </p:cNvPr>
          <p:cNvSpPr txBox="1"/>
          <p:nvPr/>
        </p:nvSpPr>
        <p:spPr>
          <a:xfrm>
            <a:off x="132462" y="103596"/>
            <a:ext cx="4605688" cy="461665"/>
          </a:xfrm>
          <a:prstGeom prst="rect">
            <a:avLst/>
          </a:prstGeom>
          <a:noFill/>
        </p:spPr>
        <p:txBody>
          <a:bodyPr wrap="square">
            <a:spAutoFit/>
          </a:bodyPr>
          <a:lstStyle/>
          <a:p>
            <a:r>
              <a:rPr lang="en-IN" sz="2400" dirty="0">
                <a:latin typeface="Arial MT"/>
                <a:cs typeface="Arial MT"/>
              </a:rPr>
              <a:t>Banded</a:t>
            </a:r>
            <a:r>
              <a:rPr lang="en-IN" sz="2400" spc="-50" dirty="0">
                <a:latin typeface="Arial MT"/>
                <a:cs typeface="Arial MT"/>
              </a:rPr>
              <a:t> </a:t>
            </a:r>
            <a:r>
              <a:rPr lang="en-IN" sz="2400" dirty="0">
                <a:latin typeface="Arial MT"/>
                <a:cs typeface="Arial MT"/>
              </a:rPr>
              <a:t>Iron</a:t>
            </a:r>
            <a:r>
              <a:rPr lang="en-IN" sz="2400" spc="-80" dirty="0">
                <a:latin typeface="Arial MT"/>
                <a:cs typeface="Arial MT"/>
              </a:rPr>
              <a:t> </a:t>
            </a:r>
            <a:r>
              <a:rPr lang="en-IN" sz="2400" dirty="0">
                <a:latin typeface="Arial MT"/>
                <a:cs typeface="Arial MT"/>
              </a:rPr>
              <a:t>Formations</a:t>
            </a:r>
            <a:r>
              <a:rPr lang="en-IN" sz="2400" spc="-65" dirty="0">
                <a:latin typeface="Arial MT"/>
                <a:cs typeface="Arial MT"/>
              </a:rPr>
              <a:t> </a:t>
            </a:r>
            <a:r>
              <a:rPr lang="en-IN" sz="2400" spc="-10" dirty="0">
                <a:latin typeface="Arial MT"/>
                <a:cs typeface="Arial MT"/>
              </a:rPr>
              <a:t>(“BIF’s”) </a:t>
            </a:r>
            <a:endParaRPr lang="en-IN"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943600" y="0"/>
            <a:ext cx="3185159" cy="4800600"/>
          </a:xfrm>
          <a:prstGeom prst="rect">
            <a:avLst/>
          </a:prstGeom>
        </p:spPr>
      </p:pic>
      <p:grpSp>
        <p:nvGrpSpPr>
          <p:cNvPr id="3" name="object 3"/>
          <p:cNvGrpSpPr/>
          <p:nvPr/>
        </p:nvGrpSpPr>
        <p:grpSpPr>
          <a:xfrm>
            <a:off x="0" y="0"/>
            <a:ext cx="5943600" cy="6858000"/>
            <a:chOff x="0" y="0"/>
            <a:chExt cx="5943600" cy="6858000"/>
          </a:xfrm>
        </p:grpSpPr>
        <p:pic>
          <p:nvPicPr>
            <p:cNvPr id="4" name="object 4"/>
            <p:cNvPicPr/>
            <p:nvPr/>
          </p:nvPicPr>
          <p:blipFill>
            <a:blip r:embed="rId3" cstate="print"/>
            <a:stretch>
              <a:fillRect/>
            </a:stretch>
          </p:blipFill>
          <p:spPr>
            <a:xfrm>
              <a:off x="0" y="0"/>
              <a:ext cx="2261616" cy="3124200"/>
            </a:xfrm>
            <a:prstGeom prst="rect">
              <a:avLst/>
            </a:prstGeom>
          </p:spPr>
        </p:pic>
        <p:pic>
          <p:nvPicPr>
            <p:cNvPr id="5" name="object 5"/>
            <p:cNvPicPr/>
            <p:nvPr/>
          </p:nvPicPr>
          <p:blipFill>
            <a:blip r:embed="rId4" cstate="print"/>
            <a:stretch>
              <a:fillRect/>
            </a:stretch>
          </p:blipFill>
          <p:spPr>
            <a:xfrm>
              <a:off x="0" y="3047998"/>
              <a:ext cx="5943600" cy="3810001"/>
            </a:xfrm>
            <a:prstGeom prst="rect">
              <a:avLst/>
            </a:prstGeom>
          </p:spPr>
        </p:pic>
      </p:grpSp>
      <p:sp>
        <p:nvSpPr>
          <p:cNvPr id="6" name="object 6"/>
          <p:cNvSpPr txBox="1">
            <a:spLocks noGrp="1"/>
          </p:cNvSpPr>
          <p:nvPr>
            <p:ph type="title"/>
          </p:nvPr>
        </p:nvSpPr>
        <p:spPr>
          <a:xfrm>
            <a:off x="2615945" y="190880"/>
            <a:ext cx="2733675" cy="756920"/>
          </a:xfrm>
          <a:prstGeom prst="rect">
            <a:avLst/>
          </a:prstGeom>
        </p:spPr>
        <p:txBody>
          <a:bodyPr vert="horz" wrap="square" lIns="0" tIns="12700" rIns="0" bIns="0" rtlCol="0">
            <a:spAutoFit/>
          </a:bodyPr>
          <a:lstStyle/>
          <a:p>
            <a:pPr marL="12700" marR="5080">
              <a:lnSpc>
                <a:spcPct val="100000"/>
              </a:lnSpc>
              <a:spcBef>
                <a:spcPts val="100"/>
              </a:spcBef>
            </a:pPr>
            <a:r>
              <a:rPr sz="2400" dirty="0">
                <a:solidFill>
                  <a:srgbClr val="000000"/>
                </a:solidFill>
                <a:latin typeface="Times New Roman"/>
                <a:cs typeface="Times New Roman"/>
              </a:rPr>
              <a:t>Permian</a:t>
            </a:r>
            <a:r>
              <a:rPr sz="2400" spc="-10" dirty="0">
                <a:solidFill>
                  <a:srgbClr val="000000"/>
                </a:solidFill>
                <a:latin typeface="Times New Roman"/>
                <a:cs typeface="Times New Roman"/>
              </a:rPr>
              <a:t> </a:t>
            </a:r>
            <a:r>
              <a:rPr sz="2400" dirty="0">
                <a:solidFill>
                  <a:srgbClr val="000000"/>
                </a:solidFill>
                <a:latin typeface="Times New Roman"/>
                <a:cs typeface="Times New Roman"/>
              </a:rPr>
              <a:t>and</a:t>
            </a:r>
            <a:r>
              <a:rPr sz="2400" spc="-50" dirty="0">
                <a:solidFill>
                  <a:srgbClr val="000000"/>
                </a:solidFill>
                <a:latin typeface="Times New Roman"/>
                <a:cs typeface="Times New Roman"/>
              </a:rPr>
              <a:t> </a:t>
            </a:r>
            <a:r>
              <a:rPr sz="2400" spc="-10" dirty="0">
                <a:solidFill>
                  <a:srgbClr val="000000"/>
                </a:solidFill>
                <a:latin typeface="Times New Roman"/>
                <a:cs typeface="Times New Roman"/>
              </a:rPr>
              <a:t>Triassic </a:t>
            </a:r>
            <a:r>
              <a:rPr sz="2400" dirty="0">
                <a:solidFill>
                  <a:srgbClr val="000000"/>
                </a:solidFill>
                <a:latin typeface="Times New Roman"/>
                <a:cs typeface="Times New Roman"/>
              </a:rPr>
              <a:t>redbeds</a:t>
            </a:r>
            <a:r>
              <a:rPr sz="2400" spc="-45" dirty="0">
                <a:solidFill>
                  <a:srgbClr val="000000"/>
                </a:solidFill>
                <a:latin typeface="Times New Roman"/>
                <a:cs typeface="Times New Roman"/>
              </a:rPr>
              <a:t> </a:t>
            </a:r>
            <a:r>
              <a:rPr sz="2400" dirty="0">
                <a:solidFill>
                  <a:srgbClr val="000000"/>
                </a:solidFill>
                <a:latin typeface="Times New Roman"/>
                <a:cs typeface="Times New Roman"/>
              </a:rPr>
              <a:t>in</a:t>
            </a:r>
            <a:r>
              <a:rPr sz="2400" spc="-95" dirty="0">
                <a:solidFill>
                  <a:srgbClr val="000000"/>
                </a:solidFill>
                <a:latin typeface="Times New Roman"/>
                <a:cs typeface="Times New Roman"/>
              </a:rPr>
              <a:t> </a:t>
            </a:r>
            <a:r>
              <a:rPr sz="2400" spc="-40" dirty="0">
                <a:solidFill>
                  <a:srgbClr val="000000"/>
                </a:solidFill>
                <a:latin typeface="Times New Roman"/>
                <a:cs typeface="Times New Roman"/>
              </a:rPr>
              <a:t>West</a:t>
            </a:r>
            <a:r>
              <a:rPr sz="2400" spc="-60" dirty="0">
                <a:solidFill>
                  <a:srgbClr val="000000"/>
                </a:solidFill>
                <a:latin typeface="Times New Roman"/>
                <a:cs typeface="Times New Roman"/>
              </a:rPr>
              <a:t> </a:t>
            </a:r>
            <a:r>
              <a:rPr sz="2400" spc="-35" dirty="0">
                <a:solidFill>
                  <a:srgbClr val="000000"/>
                </a:solidFill>
                <a:latin typeface="Times New Roman"/>
                <a:cs typeface="Times New Roman"/>
              </a:rPr>
              <a:t>Texas</a:t>
            </a:r>
            <a:endParaRPr sz="2400">
              <a:latin typeface="Times New Roman"/>
              <a:cs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58187" y="924560"/>
            <a:ext cx="7664781" cy="5003292"/>
          </a:xfrm>
          <a:prstGeom prst="rect">
            <a:avLst/>
          </a:prstGeom>
        </p:spPr>
      </p:pic>
      <p:sp>
        <p:nvSpPr>
          <p:cNvPr id="3" name="object 3"/>
          <p:cNvSpPr txBox="1">
            <a:spLocks noGrp="1"/>
          </p:cNvSpPr>
          <p:nvPr>
            <p:ph type="title"/>
          </p:nvPr>
        </p:nvSpPr>
        <p:spPr>
          <a:xfrm>
            <a:off x="920488" y="6248400"/>
            <a:ext cx="7372350" cy="3911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000000"/>
                </a:solidFill>
                <a:latin typeface="Times New Roman"/>
                <a:cs typeface="Times New Roman"/>
              </a:rPr>
              <a:t>Possible</a:t>
            </a:r>
            <a:r>
              <a:rPr sz="2400" spc="-30" dirty="0">
                <a:solidFill>
                  <a:srgbClr val="000000"/>
                </a:solidFill>
                <a:latin typeface="Times New Roman"/>
                <a:cs typeface="Times New Roman"/>
              </a:rPr>
              <a:t> </a:t>
            </a:r>
            <a:r>
              <a:rPr sz="2400" dirty="0">
                <a:solidFill>
                  <a:srgbClr val="000000"/>
                </a:solidFill>
                <a:latin typeface="Times New Roman"/>
                <a:cs typeface="Times New Roman"/>
              </a:rPr>
              <a:t>evolution</a:t>
            </a:r>
            <a:r>
              <a:rPr sz="2400" spc="-60" dirty="0">
                <a:solidFill>
                  <a:srgbClr val="000000"/>
                </a:solidFill>
                <a:latin typeface="Times New Roman"/>
                <a:cs typeface="Times New Roman"/>
              </a:rPr>
              <a:t> </a:t>
            </a:r>
            <a:r>
              <a:rPr sz="2400" dirty="0">
                <a:solidFill>
                  <a:srgbClr val="000000"/>
                </a:solidFill>
                <a:latin typeface="Times New Roman"/>
                <a:cs typeface="Times New Roman"/>
              </a:rPr>
              <a:t>of</a:t>
            </a:r>
            <a:r>
              <a:rPr sz="2400" spc="-30" dirty="0">
                <a:solidFill>
                  <a:srgbClr val="000000"/>
                </a:solidFill>
                <a:latin typeface="Times New Roman"/>
                <a:cs typeface="Times New Roman"/>
              </a:rPr>
              <a:t> </a:t>
            </a:r>
            <a:r>
              <a:rPr sz="2400" spc="-10" dirty="0">
                <a:solidFill>
                  <a:srgbClr val="000000"/>
                </a:solidFill>
                <a:latin typeface="Times New Roman"/>
                <a:cs typeface="Times New Roman"/>
              </a:rPr>
              <a:t>Earth’s</a:t>
            </a:r>
            <a:r>
              <a:rPr sz="2400" spc="-55" dirty="0">
                <a:solidFill>
                  <a:srgbClr val="000000"/>
                </a:solidFill>
                <a:latin typeface="Times New Roman"/>
                <a:cs typeface="Times New Roman"/>
              </a:rPr>
              <a:t> </a:t>
            </a:r>
            <a:r>
              <a:rPr sz="2400" dirty="0">
                <a:solidFill>
                  <a:srgbClr val="000000"/>
                </a:solidFill>
                <a:latin typeface="Times New Roman"/>
                <a:cs typeface="Times New Roman"/>
              </a:rPr>
              <a:t>atmosphere</a:t>
            </a:r>
            <a:r>
              <a:rPr sz="2400" spc="-50" dirty="0">
                <a:solidFill>
                  <a:srgbClr val="000000"/>
                </a:solidFill>
                <a:latin typeface="Times New Roman"/>
                <a:cs typeface="Times New Roman"/>
              </a:rPr>
              <a:t> </a:t>
            </a:r>
            <a:r>
              <a:rPr sz="2400" dirty="0">
                <a:solidFill>
                  <a:srgbClr val="000000"/>
                </a:solidFill>
                <a:latin typeface="Times New Roman"/>
                <a:cs typeface="Times New Roman"/>
              </a:rPr>
              <a:t>over</a:t>
            </a:r>
            <a:r>
              <a:rPr sz="2400" spc="-30" dirty="0">
                <a:solidFill>
                  <a:srgbClr val="000000"/>
                </a:solidFill>
                <a:latin typeface="Times New Roman"/>
                <a:cs typeface="Times New Roman"/>
              </a:rPr>
              <a:t> </a:t>
            </a:r>
            <a:r>
              <a:rPr sz="2400" dirty="0">
                <a:solidFill>
                  <a:srgbClr val="000000"/>
                </a:solidFill>
                <a:latin typeface="Times New Roman"/>
                <a:cs typeface="Times New Roman"/>
              </a:rPr>
              <a:t>geologic</a:t>
            </a:r>
            <a:r>
              <a:rPr sz="2400" spc="-60" dirty="0">
                <a:solidFill>
                  <a:srgbClr val="000000"/>
                </a:solidFill>
                <a:latin typeface="Times New Roman"/>
                <a:cs typeface="Times New Roman"/>
              </a:rPr>
              <a:t> </a:t>
            </a:r>
            <a:r>
              <a:rPr sz="2400" spc="-20" dirty="0">
                <a:solidFill>
                  <a:srgbClr val="000000"/>
                </a:solidFill>
                <a:latin typeface="Times New Roman"/>
                <a:cs typeface="Times New Roman"/>
              </a:rPr>
              <a:t>time</a:t>
            </a:r>
            <a:endParaRPr sz="2400" dirty="0">
              <a:latin typeface="Times New Roman"/>
              <a:cs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38200" y="685088"/>
            <a:ext cx="5334000" cy="57912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64769B-9147-404C-A034-68D1F6285BB8}"/>
              </a:ext>
            </a:extLst>
          </p:cNvPr>
          <p:cNvSpPr>
            <a:spLocks noGrp="1"/>
          </p:cNvSpPr>
          <p:nvPr>
            <p:ph type="title"/>
          </p:nvPr>
        </p:nvSpPr>
        <p:spPr>
          <a:xfrm>
            <a:off x="685800" y="2743200"/>
            <a:ext cx="8229600" cy="1143000"/>
          </a:xfrm>
        </p:spPr>
        <p:txBody>
          <a:bodyPr/>
          <a:lstStyle/>
          <a:p>
            <a:r>
              <a:rPr lang="en-IN" sz="4000" dirty="0"/>
              <a:t>Geochemical evolution of hydrosphere</a:t>
            </a:r>
          </a:p>
        </p:txBody>
      </p:sp>
    </p:spTree>
    <p:extLst>
      <p:ext uri="{BB962C8B-B14F-4D97-AF65-F5344CB8AC3E}">
        <p14:creationId xmlns:p14="http://schemas.microsoft.com/office/powerpoint/2010/main" val="4845345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9F28B9-A2A6-55D5-B55F-AEC67E823464}"/>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0272B82-31DE-DC78-1D50-73CE121D0858}"/>
              </a:ext>
            </a:extLst>
          </p:cNvPr>
          <p:cNvSpPr txBox="1"/>
          <p:nvPr/>
        </p:nvSpPr>
        <p:spPr>
          <a:xfrm>
            <a:off x="457200" y="1219200"/>
            <a:ext cx="8229600" cy="4524315"/>
          </a:xfrm>
          <a:prstGeom prst="rect">
            <a:avLst/>
          </a:prstGeom>
          <a:noFill/>
        </p:spPr>
        <p:txBody>
          <a:bodyPr wrap="square">
            <a:spAutoFit/>
          </a:bodyPr>
          <a:lstStyle/>
          <a:p>
            <a:pPr marL="342900" indent="-342900" algn="just">
              <a:buFont typeface="Wingdings" panose="05000000000000000000" pitchFamily="2" charset="2"/>
              <a:buChar char="Ø"/>
            </a:pPr>
            <a:r>
              <a:rPr lang="en-US" sz="2400" dirty="0">
                <a:solidFill>
                  <a:schemeClr val="tx2"/>
                </a:solidFill>
                <a:latin typeface="+mn-lt"/>
                <a:ea typeface="+mj-ea"/>
                <a:cs typeface="+mj-cs"/>
              </a:rPr>
              <a:t>Hydrosphere is the component of the Earth supersystem that includes the various reservoirs of water and ice on or close to the Earth’s surface.</a:t>
            </a:r>
          </a:p>
          <a:p>
            <a:pPr marL="342900" indent="-342900" algn="just">
              <a:buFont typeface="Wingdings" panose="05000000000000000000" pitchFamily="2" charset="2"/>
              <a:buChar char="Ø"/>
            </a:pPr>
            <a:endParaRPr lang="en-US" sz="2400" dirty="0">
              <a:solidFill>
                <a:schemeClr val="tx2"/>
              </a:solidFill>
              <a:latin typeface="+mn-lt"/>
              <a:ea typeface="+mj-ea"/>
              <a:cs typeface="+mj-cs"/>
            </a:endParaRPr>
          </a:p>
          <a:p>
            <a:pPr marL="342900" indent="-342900" algn="just">
              <a:buFont typeface="Wingdings" panose="05000000000000000000" pitchFamily="2" charset="2"/>
              <a:buChar char="Ø"/>
            </a:pPr>
            <a:r>
              <a:rPr lang="en-US" sz="2400" dirty="0">
                <a:solidFill>
                  <a:schemeClr val="tx2"/>
                </a:solidFill>
                <a:latin typeface="+mn-lt"/>
                <a:ea typeface="+mj-ea"/>
                <a:cs typeface="+mj-cs"/>
              </a:rPr>
              <a:t>The global ocean, covering </a:t>
            </a:r>
            <a:r>
              <a:rPr lang="en-US" sz="2400" dirty="0">
                <a:solidFill>
                  <a:schemeClr val="accent6"/>
                </a:solidFill>
                <a:latin typeface="+mn-lt"/>
                <a:ea typeface="+mj-ea"/>
                <a:cs typeface="+mj-cs"/>
              </a:rPr>
              <a:t>about 71% of Earth’s surface </a:t>
            </a:r>
            <a:r>
              <a:rPr lang="en-US" sz="2400" dirty="0">
                <a:solidFill>
                  <a:schemeClr val="tx2"/>
                </a:solidFill>
                <a:latin typeface="+mn-lt"/>
                <a:ea typeface="+mj-ea"/>
                <a:cs typeface="+mj-cs"/>
              </a:rPr>
              <a:t>to an average depth of 3800 m (12,5000 ft), is the predominant feature of the hydrosphere.</a:t>
            </a:r>
          </a:p>
          <a:p>
            <a:pPr marL="342900" indent="-342900" algn="just">
              <a:buFont typeface="Wingdings" panose="05000000000000000000" pitchFamily="2" charset="2"/>
              <a:buChar char="Ø"/>
            </a:pPr>
            <a:endParaRPr lang="en-US" sz="2400" dirty="0">
              <a:solidFill>
                <a:schemeClr val="tx2"/>
              </a:solidFill>
              <a:latin typeface="+mn-lt"/>
              <a:ea typeface="+mj-ea"/>
              <a:cs typeface="+mj-cs"/>
            </a:endParaRPr>
          </a:p>
          <a:p>
            <a:pPr marL="342900" indent="-342900" algn="just">
              <a:buFont typeface="Wingdings" panose="05000000000000000000" pitchFamily="2" charset="2"/>
              <a:buChar char="Ø"/>
            </a:pPr>
            <a:r>
              <a:rPr lang="en-US" sz="2400" dirty="0">
                <a:solidFill>
                  <a:schemeClr val="tx2"/>
                </a:solidFill>
                <a:latin typeface="+mn-lt"/>
                <a:ea typeface="+mj-ea"/>
                <a:cs typeface="+mj-cs"/>
              </a:rPr>
              <a:t>The </a:t>
            </a:r>
            <a:r>
              <a:rPr lang="en-US" sz="2400" dirty="0">
                <a:solidFill>
                  <a:schemeClr val="accent6"/>
                </a:solidFill>
                <a:latin typeface="+mn-lt"/>
                <a:ea typeface="+mj-ea"/>
                <a:cs typeface="+mj-cs"/>
              </a:rPr>
              <a:t>oceans contain ∼1370 × 106 km3 </a:t>
            </a:r>
            <a:r>
              <a:rPr lang="en-US" sz="2400" dirty="0">
                <a:solidFill>
                  <a:schemeClr val="tx2"/>
                </a:solidFill>
                <a:latin typeface="+mn-lt"/>
                <a:ea typeface="+mj-ea"/>
                <a:cs typeface="+mj-cs"/>
              </a:rPr>
              <a:t>of water and account for 97% of Earth’s water; groundwater, rivers, lakes, glaciers and ice caps account for the rest of the hydrosphere.</a:t>
            </a:r>
            <a:endParaRPr lang="en-IN" sz="2400" dirty="0">
              <a:solidFill>
                <a:schemeClr val="tx2"/>
              </a:solidFill>
              <a:latin typeface="+mn-lt"/>
              <a:ea typeface="+mj-ea"/>
              <a:cs typeface="+mj-cs"/>
            </a:endParaRPr>
          </a:p>
        </p:txBody>
      </p:sp>
    </p:spTree>
    <p:extLst>
      <p:ext uri="{BB962C8B-B14F-4D97-AF65-F5344CB8AC3E}">
        <p14:creationId xmlns:p14="http://schemas.microsoft.com/office/powerpoint/2010/main" val="1512112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32C224-87AD-FEE3-973A-2C7F9038D03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12EECA3-AAA1-BD62-2B6A-924040C137DF}"/>
              </a:ext>
            </a:extLst>
          </p:cNvPr>
          <p:cNvSpPr txBox="1"/>
          <p:nvPr/>
        </p:nvSpPr>
        <p:spPr>
          <a:xfrm>
            <a:off x="38100" y="152400"/>
            <a:ext cx="9067800" cy="584775"/>
          </a:xfrm>
          <a:prstGeom prst="rect">
            <a:avLst/>
          </a:prstGeom>
          <a:noFill/>
        </p:spPr>
        <p:txBody>
          <a:bodyPr wrap="square">
            <a:spAutoFit/>
          </a:bodyPr>
          <a:lstStyle/>
          <a:p>
            <a:pPr algn="ctr"/>
            <a:r>
              <a:rPr lang="en-US" sz="3200" dirty="0">
                <a:solidFill>
                  <a:schemeClr val="tx2"/>
                </a:solidFill>
                <a:latin typeface="+mn-lt"/>
                <a:ea typeface="+mj-ea"/>
                <a:cs typeface="+mj-cs"/>
              </a:rPr>
              <a:t>Distribution and quantity of Earth’s waters</a:t>
            </a:r>
          </a:p>
        </p:txBody>
      </p:sp>
      <p:pic>
        <p:nvPicPr>
          <p:cNvPr id="6" name="Picture 5">
            <a:extLst>
              <a:ext uri="{FF2B5EF4-FFF2-40B4-BE49-F238E27FC236}">
                <a16:creationId xmlns:a16="http://schemas.microsoft.com/office/drawing/2014/main" id="{30C6A64A-514D-4CFA-3B0A-70F1D6CC8FDD}"/>
              </a:ext>
            </a:extLst>
          </p:cNvPr>
          <p:cNvPicPr>
            <a:picLocks noChangeAspect="1"/>
          </p:cNvPicPr>
          <p:nvPr/>
        </p:nvPicPr>
        <p:blipFill>
          <a:blip r:embed="rId2"/>
          <a:stretch>
            <a:fillRect/>
          </a:stretch>
        </p:blipFill>
        <p:spPr>
          <a:xfrm>
            <a:off x="767315" y="845596"/>
            <a:ext cx="7609370" cy="5783804"/>
          </a:xfrm>
          <a:prstGeom prst="rect">
            <a:avLst/>
          </a:prstGeom>
        </p:spPr>
      </p:pic>
    </p:spTree>
    <p:extLst>
      <p:ext uri="{BB962C8B-B14F-4D97-AF65-F5344CB8AC3E}">
        <p14:creationId xmlns:p14="http://schemas.microsoft.com/office/powerpoint/2010/main" val="20867032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3B6BE3-B9F8-E5A1-4083-F98AF99A44B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62B49D1-FC32-6CDC-6B85-599ECA8CAF60}"/>
              </a:ext>
            </a:extLst>
          </p:cNvPr>
          <p:cNvSpPr txBox="1"/>
          <p:nvPr/>
        </p:nvSpPr>
        <p:spPr>
          <a:xfrm>
            <a:off x="1371600" y="152400"/>
            <a:ext cx="6553200" cy="584775"/>
          </a:xfrm>
          <a:prstGeom prst="rect">
            <a:avLst/>
          </a:prstGeom>
          <a:noFill/>
        </p:spPr>
        <p:txBody>
          <a:bodyPr wrap="square">
            <a:spAutoFit/>
          </a:bodyPr>
          <a:lstStyle/>
          <a:p>
            <a:pPr algn="ctr"/>
            <a:r>
              <a:rPr lang="en-IN" sz="3200" dirty="0">
                <a:solidFill>
                  <a:schemeClr val="tx2"/>
                </a:solidFill>
                <a:latin typeface="+mn-lt"/>
                <a:ea typeface="+mj-ea"/>
                <a:cs typeface="+mj-cs"/>
              </a:rPr>
              <a:t>Composition of modern seawater</a:t>
            </a:r>
          </a:p>
        </p:txBody>
      </p:sp>
      <p:pic>
        <p:nvPicPr>
          <p:cNvPr id="8" name="Picture 7">
            <a:extLst>
              <a:ext uri="{FF2B5EF4-FFF2-40B4-BE49-F238E27FC236}">
                <a16:creationId xmlns:a16="http://schemas.microsoft.com/office/drawing/2014/main" id="{AB7E85EF-2B40-AE81-8158-84C8A40812DD}"/>
              </a:ext>
            </a:extLst>
          </p:cNvPr>
          <p:cNvPicPr>
            <a:picLocks noChangeAspect="1"/>
          </p:cNvPicPr>
          <p:nvPr/>
        </p:nvPicPr>
        <p:blipFill>
          <a:blip r:embed="rId2"/>
          <a:stretch>
            <a:fillRect/>
          </a:stretch>
        </p:blipFill>
        <p:spPr>
          <a:xfrm>
            <a:off x="1051560" y="1100784"/>
            <a:ext cx="7040880" cy="4237396"/>
          </a:xfrm>
          <a:prstGeom prst="rect">
            <a:avLst/>
          </a:prstGeom>
        </p:spPr>
      </p:pic>
      <p:sp>
        <p:nvSpPr>
          <p:cNvPr id="3" name="TextBox 2">
            <a:extLst>
              <a:ext uri="{FF2B5EF4-FFF2-40B4-BE49-F238E27FC236}">
                <a16:creationId xmlns:a16="http://schemas.microsoft.com/office/drawing/2014/main" id="{8AD51BEE-CEE7-9DA0-AABF-C0A7A5116972}"/>
              </a:ext>
            </a:extLst>
          </p:cNvPr>
          <p:cNvSpPr txBox="1"/>
          <p:nvPr/>
        </p:nvSpPr>
        <p:spPr>
          <a:xfrm>
            <a:off x="914400" y="5667742"/>
            <a:ext cx="7696200" cy="646331"/>
          </a:xfrm>
          <a:prstGeom prst="rect">
            <a:avLst/>
          </a:prstGeom>
          <a:noFill/>
        </p:spPr>
        <p:txBody>
          <a:bodyPr wrap="square">
            <a:spAutoFit/>
          </a:bodyPr>
          <a:lstStyle/>
          <a:p>
            <a:pPr marL="285750" indent="-285750" algn="just">
              <a:buFont typeface="Wingdings" panose="05000000000000000000" pitchFamily="2" charset="2"/>
              <a:buChar char="Ø"/>
            </a:pPr>
            <a:r>
              <a:rPr lang="en-IN" sz="1800" b="0" i="0" u="none" strike="noStrike" baseline="0" dirty="0">
                <a:latin typeface="SabonLTStd-Roman"/>
              </a:rPr>
              <a:t>These </a:t>
            </a:r>
            <a:r>
              <a:rPr lang="en-US" sz="1800" b="0" i="0" u="none" strike="noStrike" baseline="0" dirty="0">
                <a:latin typeface="SabonLTStd-Roman"/>
              </a:rPr>
              <a:t>seven constituents account for more than 99% of the dissolved constituents in both seawater and river water</a:t>
            </a:r>
            <a:endParaRPr lang="en-IN" dirty="0"/>
          </a:p>
        </p:txBody>
      </p:sp>
    </p:spTree>
    <p:extLst>
      <p:ext uri="{BB962C8B-B14F-4D97-AF65-F5344CB8AC3E}">
        <p14:creationId xmlns:p14="http://schemas.microsoft.com/office/powerpoint/2010/main" val="19196955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929497-ADD7-3428-8018-AA5AFB05F253}"/>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55DB24B0-FF1E-CF2A-3A14-19ADDBDCE656}"/>
              </a:ext>
            </a:extLst>
          </p:cNvPr>
          <p:cNvSpPr txBox="1"/>
          <p:nvPr/>
        </p:nvSpPr>
        <p:spPr>
          <a:xfrm>
            <a:off x="1371600" y="152400"/>
            <a:ext cx="6553200" cy="584775"/>
          </a:xfrm>
          <a:prstGeom prst="rect">
            <a:avLst/>
          </a:prstGeom>
          <a:noFill/>
        </p:spPr>
        <p:txBody>
          <a:bodyPr wrap="square">
            <a:spAutoFit/>
          </a:bodyPr>
          <a:lstStyle/>
          <a:p>
            <a:pPr algn="ctr"/>
            <a:r>
              <a:rPr lang="en-IN" sz="3200" dirty="0">
                <a:solidFill>
                  <a:schemeClr val="tx2"/>
                </a:solidFill>
                <a:latin typeface="+mn-lt"/>
                <a:ea typeface="+mj-ea"/>
                <a:cs typeface="+mj-cs"/>
              </a:rPr>
              <a:t>Composition of modern seawater</a:t>
            </a:r>
          </a:p>
        </p:txBody>
      </p:sp>
      <p:pic>
        <p:nvPicPr>
          <p:cNvPr id="4" name="Picture 3">
            <a:extLst>
              <a:ext uri="{FF2B5EF4-FFF2-40B4-BE49-F238E27FC236}">
                <a16:creationId xmlns:a16="http://schemas.microsoft.com/office/drawing/2014/main" id="{31921596-2530-825D-B0B6-9291D6508706}"/>
              </a:ext>
            </a:extLst>
          </p:cNvPr>
          <p:cNvPicPr>
            <a:picLocks noChangeAspect="1"/>
          </p:cNvPicPr>
          <p:nvPr/>
        </p:nvPicPr>
        <p:blipFill>
          <a:blip r:embed="rId2"/>
          <a:stretch>
            <a:fillRect/>
          </a:stretch>
        </p:blipFill>
        <p:spPr>
          <a:xfrm>
            <a:off x="838200" y="1143000"/>
            <a:ext cx="7772400" cy="2749379"/>
          </a:xfrm>
          <a:prstGeom prst="rect">
            <a:avLst/>
          </a:prstGeom>
        </p:spPr>
      </p:pic>
      <p:sp>
        <p:nvSpPr>
          <p:cNvPr id="7" name="TextBox 6">
            <a:extLst>
              <a:ext uri="{FF2B5EF4-FFF2-40B4-BE49-F238E27FC236}">
                <a16:creationId xmlns:a16="http://schemas.microsoft.com/office/drawing/2014/main" id="{D27B485C-85CA-5D46-121B-466A11831C15}"/>
              </a:ext>
            </a:extLst>
          </p:cNvPr>
          <p:cNvSpPr txBox="1"/>
          <p:nvPr/>
        </p:nvSpPr>
        <p:spPr>
          <a:xfrm>
            <a:off x="685800" y="4237672"/>
            <a:ext cx="8077200" cy="1477328"/>
          </a:xfrm>
          <a:prstGeom prst="rect">
            <a:avLst/>
          </a:prstGeom>
          <a:noFill/>
        </p:spPr>
        <p:txBody>
          <a:bodyPr wrap="square">
            <a:spAutoFit/>
          </a:bodyPr>
          <a:lstStyle/>
          <a:p>
            <a:pPr marL="285750" indent="-285750" algn="just">
              <a:buFont typeface="Wingdings" panose="05000000000000000000" pitchFamily="2" charset="2"/>
              <a:buChar char="Ø"/>
            </a:pPr>
            <a:r>
              <a:rPr lang="en-US" dirty="0">
                <a:latin typeface="SabonLTStd-Roman"/>
              </a:rPr>
              <a:t>C</a:t>
            </a:r>
            <a:r>
              <a:rPr lang="en-US" sz="1800" b="0" i="0" u="none" strike="noStrike" baseline="0" dirty="0">
                <a:latin typeface="SabonLTStd-Roman"/>
              </a:rPr>
              <a:t>oncentration ratios of dissolved minor and trace elements relative to chloride do show significant variations from place to place (Table 13.6), especially the constituents such as phosphates and nitrates, which are nutrients for plankton and reflect the metabolic activities of the organisms that are abundant only in the upper few tens or hundreds </a:t>
            </a:r>
            <a:r>
              <a:rPr lang="en-IN" sz="1800" b="0" i="0" u="none" strike="noStrike" baseline="0" dirty="0">
                <a:latin typeface="SabonLTStd-Roman"/>
              </a:rPr>
              <a:t>of meters.</a:t>
            </a:r>
            <a:endParaRPr lang="en-IN" dirty="0"/>
          </a:p>
        </p:txBody>
      </p:sp>
    </p:spTree>
    <p:extLst>
      <p:ext uri="{BB962C8B-B14F-4D97-AF65-F5344CB8AC3E}">
        <p14:creationId xmlns:p14="http://schemas.microsoft.com/office/powerpoint/2010/main" val="23142053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857004-2849-0D61-76C2-4717DF50C918}"/>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206FCC78-2990-3959-237F-F032BCD2FE8B}"/>
              </a:ext>
            </a:extLst>
          </p:cNvPr>
          <p:cNvSpPr txBox="1"/>
          <p:nvPr/>
        </p:nvSpPr>
        <p:spPr>
          <a:xfrm>
            <a:off x="1371600" y="152400"/>
            <a:ext cx="6553200" cy="584775"/>
          </a:xfrm>
          <a:prstGeom prst="rect">
            <a:avLst/>
          </a:prstGeom>
          <a:noFill/>
        </p:spPr>
        <p:txBody>
          <a:bodyPr wrap="square">
            <a:spAutoFit/>
          </a:bodyPr>
          <a:lstStyle/>
          <a:p>
            <a:pPr algn="ctr"/>
            <a:r>
              <a:rPr lang="en-IN" sz="3200" dirty="0">
                <a:solidFill>
                  <a:schemeClr val="tx2"/>
                </a:solidFill>
                <a:latin typeface="+mn-lt"/>
                <a:ea typeface="+mj-ea"/>
                <a:cs typeface="+mj-cs"/>
              </a:rPr>
              <a:t>Composition of modern seawater</a:t>
            </a:r>
          </a:p>
        </p:txBody>
      </p:sp>
      <p:sp>
        <p:nvSpPr>
          <p:cNvPr id="3" name="TextBox 2">
            <a:extLst>
              <a:ext uri="{FF2B5EF4-FFF2-40B4-BE49-F238E27FC236}">
                <a16:creationId xmlns:a16="http://schemas.microsoft.com/office/drawing/2014/main" id="{3CC59AFC-BFA0-5D89-2ADB-FCAEBB88EB93}"/>
              </a:ext>
            </a:extLst>
          </p:cNvPr>
          <p:cNvSpPr txBox="1"/>
          <p:nvPr/>
        </p:nvSpPr>
        <p:spPr>
          <a:xfrm>
            <a:off x="190500" y="1066800"/>
            <a:ext cx="8724900" cy="4801314"/>
          </a:xfrm>
          <a:prstGeom prst="rect">
            <a:avLst/>
          </a:prstGeom>
          <a:noFill/>
        </p:spPr>
        <p:txBody>
          <a:bodyPr wrap="square">
            <a:spAutoFit/>
          </a:bodyPr>
          <a:lstStyle/>
          <a:p>
            <a:pPr marL="285750" indent="-285750" algn="just">
              <a:buFont typeface="Wingdings" panose="05000000000000000000" pitchFamily="2" charset="2"/>
              <a:buChar char="Ø"/>
            </a:pPr>
            <a:r>
              <a:rPr lang="en-US" sz="1800" b="0" i="0" u="none" strike="noStrike" baseline="0" dirty="0">
                <a:latin typeface="SabonLTStd-Roman"/>
              </a:rPr>
              <a:t>Dissolved constituents in seawater are of three kinds: </a:t>
            </a:r>
            <a:r>
              <a:rPr lang="en-US" sz="1800" b="0" i="1" u="none" strike="noStrike" baseline="0" dirty="0">
                <a:latin typeface="SabonLTStd-Italic"/>
              </a:rPr>
              <a:t>conservative</a:t>
            </a:r>
            <a:r>
              <a:rPr lang="en-US" sz="1800" b="0" i="0" u="none" strike="noStrike" baseline="0" dirty="0">
                <a:latin typeface="SabonLTStd-Roman"/>
              </a:rPr>
              <a:t>, </a:t>
            </a:r>
            <a:r>
              <a:rPr lang="en-US" sz="1800" b="0" i="1" u="none" strike="noStrike" baseline="0" dirty="0">
                <a:latin typeface="SabonLTStd-Italic"/>
              </a:rPr>
              <a:t>recycled</a:t>
            </a:r>
            <a:r>
              <a:rPr lang="en-US" sz="1800" b="0" i="0" u="none" strike="noStrike" baseline="0" dirty="0">
                <a:latin typeface="SabonLTStd-Roman"/>
              </a:rPr>
              <a:t>, and </a:t>
            </a:r>
            <a:r>
              <a:rPr lang="en-US" sz="1800" b="0" i="1" u="none" strike="noStrike" baseline="0" dirty="0">
                <a:latin typeface="SabonLTStd-Italic"/>
              </a:rPr>
              <a:t>scavenged </a:t>
            </a:r>
            <a:r>
              <a:rPr lang="en-US" sz="1800" b="0" i="0" u="none" strike="noStrike" baseline="0" dirty="0">
                <a:latin typeface="SabonLTStd-Roman"/>
              </a:rPr>
              <a:t>(Walther, 2009).</a:t>
            </a:r>
          </a:p>
          <a:p>
            <a:pPr marL="285750" indent="-285750" algn="just">
              <a:buFont typeface="Wingdings" panose="05000000000000000000" pitchFamily="2" charset="2"/>
              <a:buChar char="Ø"/>
            </a:pPr>
            <a:endParaRPr lang="en-US" dirty="0">
              <a:latin typeface="SabonLTStd-Roman"/>
            </a:endParaRPr>
          </a:p>
          <a:p>
            <a:pPr marL="285750" indent="-285750" algn="just">
              <a:buFont typeface="Wingdings" panose="05000000000000000000" pitchFamily="2" charset="2"/>
              <a:buChar char="q"/>
            </a:pPr>
            <a:r>
              <a:rPr lang="en-IN" sz="1800" b="0" i="0" u="none" strike="noStrike" baseline="0" dirty="0">
                <a:latin typeface="SabonLTStd-Roman"/>
              </a:rPr>
              <a:t>The </a:t>
            </a:r>
            <a:r>
              <a:rPr lang="en-US" sz="1800" b="0" i="0" u="none" strike="noStrike" baseline="0" dirty="0">
                <a:latin typeface="SabonLTStd-Roman"/>
              </a:rPr>
              <a:t>concentrations of conservative constituents (</a:t>
            </a:r>
            <a:r>
              <a:rPr lang="en-US" sz="1800" b="0" i="0" u="none" strike="noStrike" baseline="0" dirty="0">
                <a:solidFill>
                  <a:schemeClr val="accent6"/>
                </a:solidFill>
                <a:latin typeface="SabonLTStd-Roman"/>
              </a:rPr>
              <a:t>such as Br-, Cl-, </a:t>
            </a:r>
            <a:r>
              <a:rPr lang="en-IN" sz="1800" b="0" i="0" u="none" strike="noStrike" baseline="0" dirty="0">
                <a:solidFill>
                  <a:schemeClr val="accent6"/>
                </a:solidFill>
                <a:latin typeface="SabonLTStd-Roman"/>
              </a:rPr>
              <a:t>Mg2</a:t>
            </a:r>
            <a:r>
              <a:rPr lang="en-IN" sz="1800" b="0" i="0" u="none" strike="noStrike" baseline="0" dirty="0">
                <a:solidFill>
                  <a:schemeClr val="accent6"/>
                </a:solidFill>
                <a:latin typeface="Symbol" panose="05050102010706020507" pitchFamily="18" charset="2"/>
              </a:rPr>
              <a:t>+</a:t>
            </a:r>
            <a:r>
              <a:rPr lang="en-IN" sz="1800" b="0" i="0" u="none" strike="noStrike" baseline="0" dirty="0">
                <a:solidFill>
                  <a:schemeClr val="accent6"/>
                </a:solidFill>
                <a:latin typeface="SabonLTStd-Roman"/>
              </a:rPr>
              <a:t>, Na</a:t>
            </a:r>
            <a:r>
              <a:rPr lang="en-IN" sz="1800" b="0" i="0" u="none" strike="noStrike" baseline="0" dirty="0">
                <a:solidFill>
                  <a:schemeClr val="accent6"/>
                </a:solidFill>
                <a:latin typeface="Symbol" panose="05050102010706020507" pitchFamily="18" charset="2"/>
              </a:rPr>
              <a:t>+</a:t>
            </a:r>
            <a:r>
              <a:rPr lang="en-IN" sz="1800" b="0" i="0" u="none" strike="noStrike" baseline="0" dirty="0">
                <a:solidFill>
                  <a:schemeClr val="accent6"/>
                </a:solidFill>
                <a:latin typeface="SabonLTStd-Roman"/>
              </a:rPr>
              <a:t>)</a:t>
            </a:r>
            <a:r>
              <a:rPr lang="en-IN" sz="1800" b="0" i="0" u="none" strike="noStrike" baseline="0" dirty="0">
                <a:latin typeface="SabonLTStd-Roman"/>
              </a:rPr>
              <a:t> relative to other conservative constituents remain constant. This results in a constant concentration versus depth </a:t>
            </a:r>
            <a:r>
              <a:rPr lang="en-US" sz="1800" b="0" i="0" u="none" strike="noStrike" baseline="0" dirty="0">
                <a:latin typeface="SabonLTStd-Roman"/>
              </a:rPr>
              <a:t>profile for each conservative element, unless its absolute abundance is modified by a change in the volume of seawater. Such constituents usually have long residence times </a:t>
            </a:r>
            <a:r>
              <a:rPr lang="en-US" sz="1800" b="0" i="0" u="none" strike="noStrike" baseline="0" dirty="0">
                <a:solidFill>
                  <a:schemeClr val="accent6"/>
                </a:solidFill>
                <a:latin typeface="SabonLTStd-Roman"/>
              </a:rPr>
              <a:t>(&gt; 10</a:t>
            </a:r>
            <a:r>
              <a:rPr lang="en-US" sz="1800" b="0" i="0" u="none" strike="noStrike" baseline="30000" dirty="0">
                <a:solidFill>
                  <a:schemeClr val="accent6"/>
                </a:solidFill>
                <a:latin typeface="SabonLTStd-Roman"/>
              </a:rPr>
              <a:t>6</a:t>
            </a:r>
            <a:r>
              <a:rPr lang="en-US" sz="1800" b="0" i="0" u="none" strike="noStrike" baseline="0" dirty="0">
                <a:solidFill>
                  <a:schemeClr val="accent6"/>
                </a:solidFill>
                <a:latin typeface="SabonLTStd-Roman"/>
              </a:rPr>
              <a:t> </a:t>
            </a:r>
            <a:r>
              <a:rPr lang="en-IN" sz="1800" b="0" i="0" u="none" strike="noStrike" baseline="0" dirty="0">
                <a:solidFill>
                  <a:schemeClr val="accent6"/>
                </a:solidFill>
                <a:latin typeface="SabonLTStd-Roman"/>
              </a:rPr>
              <a:t>years</a:t>
            </a:r>
            <a:r>
              <a:rPr lang="en-IN" sz="1800" b="0" i="0" u="none" strike="noStrike" baseline="0" dirty="0">
                <a:latin typeface="SabonLTStd-Roman"/>
              </a:rPr>
              <a:t>) in the ocean.</a:t>
            </a:r>
          </a:p>
          <a:p>
            <a:pPr marL="342900" indent="-342900" algn="just">
              <a:buFont typeface="+mj-lt"/>
              <a:buAutoNum type="arabicParenR"/>
            </a:pPr>
            <a:endParaRPr lang="en-IN" dirty="0">
              <a:latin typeface="SabonLTStd-Roman"/>
            </a:endParaRPr>
          </a:p>
          <a:p>
            <a:pPr marL="285750" indent="-285750" algn="l">
              <a:buFont typeface="Wingdings" panose="05000000000000000000" pitchFamily="2" charset="2"/>
              <a:buChar char="q"/>
            </a:pPr>
            <a:r>
              <a:rPr lang="en-IN" sz="1800" b="0" i="0" u="none" strike="noStrike" baseline="0" dirty="0">
                <a:latin typeface="SabonLTStd-Roman"/>
              </a:rPr>
              <a:t>Recycled and scavenged constituents </a:t>
            </a:r>
            <a:r>
              <a:rPr lang="en-US" sz="1800" b="0" i="0" u="none" strike="noStrike" baseline="0" dirty="0">
                <a:latin typeface="SabonLTStd-Roman"/>
              </a:rPr>
              <a:t>are nonconservative and their concentrations vary significantly from place to place.</a:t>
            </a:r>
          </a:p>
          <a:p>
            <a:pPr marL="285750" indent="-285750" algn="l">
              <a:buFont typeface="Wingdings" panose="05000000000000000000" pitchFamily="2" charset="2"/>
              <a:buChar char="q"/>
            </a:pPr>
            <a:endParaRPr lang="en-US" dirty="0">
              <a:latin typeface="SabonLTStd-Roman"/>
            </a:endParaRPr>
          </a:p>
          <a:p>
            <a:pPr marL="285750" indent="-285750" algn="l">
              <a:buFont typeface="Wingdings" panose="05000000000000000000" pitchFamily="2" charset="2"/>
              <a:buChar char="q"/>
            </a:pPr>
            <a:r>
              <a:rPr lang="en-IN" sz="1800" b="0" i="0" u="none" strike="noStrike" baseline="0" dirty="0">
                <a:latin typeface="SabonLTStd-Roman"/>
              </a:rPr>
              <a:t>Recycled constituents refer </a:t>
            </a:r>
            <a:r>
              <a:rPr lang="en-US" sz="1800" b="0" i="0" u="none" strike="noStrike" baseline="0" dirty="0">
                <a:latin typeface="SabonLTStd-Roman"/>
              </a:rPr>
              <a:t>to those (such as </a:t>
            </a:r>
            <a:r>
              <a:rPr lang="en-US" sz="1800" b="0" i="0" u="none" strike="noStrike" baseline="0" dirty="0">
                <a:solidFill>
                  <a:schemeClr val="accent6"/>
                </a:solidFill>
                <a:latin typeface="SabonLTStd-Roman"/>
              </a:rPr>
              <a:t>organic C, H</a:t>
            </a:r>
            <a:r>
              <a:rPr lang="en-US" sz="1800" b="0" i="0" u="none" strike="noStrike" baseline="-25000" dirty="0">
                <a:solidFill>
                  <a:schemeClr val="accent6"/>
                </a:solidFill>
                <a:latin typeface="SabonLTStd-Roman"/>
              </a:rPr>
              <a:t>4</a:t>
            </a:r>
            <a:r>
              <a:rPr lang="en-US" sz="1800" b="0" i="0" u="none" strike="noStrike" baseline="0" dirty="0">
                <a:solidFill>
                  <a:schemeClr val="accent6"/>
                </a:solidFill>
                <a:latin typeface="SabonLTStd-Roman"/>
              </a:rPr>
              <a:t>SiO</a:t>
            </a:r>
            <a:r>
              <a:rPr lang="en-US" sz="1800" b="0" i="0" u="none" strike="noStrike" baseline="-25000" dirty="0">
                <a:solidFill>
                  <a:schemeClr val="accent6"/>
                </a:solidFill>
                <a:latin typeface="SabonLTStd-Roman"/>
              </a:rPr>
              <a:t>4</a:t>
            </a:r>
            <a:r>
              <a:rPr lang="en-US" sz="1800" b="0" i="0" u="none" strike="noStrike" baseline="0" dirty="0">
                <a:solidFill>
                  <a:schemeClr val="accent6"/>
                </a:solidFill>
                <a:latin typeface="SabonLTStd-Roman"/>
              </a:rPr>
              <a:t>, Ca</a:t>
            </a:r>
            <a:r>
              <a:rPr lang="en-US" baseline="30000" dirty="0">
                <a:solidFill>
                  <a:schemeClr val="accent6"/>
                </a:solidFill>
                <a:latin typeface="SabonLTStd-Roman"/>
              </a:rPr>
              <a:t>2+</a:t>
            </a:r>
            <a:r>
              <a:rPr lang="en-US" dirty="0">
                <a:solidFill>
                  <a:schemeClr val="accent6"/>
                </a:solidFill>
                <a:latin typeface="SabonLTStd-Roman"/>
              </a:rPr>
              <a:t>,</a:t>
            </a:r>
            <a:r>
              <a:rPr lang="en-US" baseline="30000" dirty="0">
                <a:solidFill>
                  <a:schemeClr val="accent6"/>
                </a:solidFill>
                <a:latin typeface="SabonLTStd-Roman"/>
              </a:rPr>
              <a:t> </a:t>
            </a:r>
            <a:r>
              <a:rPr lang="en-US" sz="1800" b="0" i="0" u="none" strike="noStrike" baseline="0" dirty="0">
                <a:solidFill>
                  <a:schemeClr val="accent6"/>
                </a:solidFill>
                <a:latin typeface="SabonLTStd-Roman"/>
              </a:rPr>
              <a:t>NO</a:t>
            </a:r>
            <a:r>
              <a:rPr lang="en-US" sz="1800" b="0" i="0" u="none" strike="noStrike" baseline="-25000" dirty="0">
                <a:solidFill>
                  <a:schemeClr val="accent6"/>
                </a:solidFill>
                <a:latin typeface="SabonLTStd-Roman"/>
              </a:rPr>
              <a:t>3</a:t>
            </a:r>
            <a:r>
              <a:rPr lang="en-US" sz="1800" b="0" i="0" u="none" strike="noStrike" baseline="30000" dirty="0">
                <a:solidFill>
                  <a:schemeClr val="accent6"/>
                </a:solidFill>
                <a:latin typeface="Cambria Math" panose="02040503050406030204" pitchFamily="18" charset="0"/>
                <a:ea typeface="Cambria Math" panose="02040503050406030204" pitchFamily="18" charset="0"/>
              </a:rPr>
              <a:t>–</a:t>
            </a:r>
            <a:r>
              <a:rPr lang="en-US" sz="1800" b="0" i="0" u="none" strike="noStrike" baseline="0" dirty="0">
                <a:solidFill>
                  <a:schemeClr val="accent6"/>
                </a:solidFill>
                <a:latin typeface="SabonLTStd-Roman"/>
              </a:rPr>
              <a:t>, </a:t>
            </a:r>
            <a:r>
              <a:rPr lang="en-IN" sz="1800" b="0" i="0" u="none" strike="noStrike" baseline="0" dirty="0">
                <a:solidFill>
                  <a:schemeClr val="accent6"/>
                </a:solidFill>
                <a:latin typeface="SabonLTStd-Roman"/>
              </a:rPr>
              <a:t>and PO</a:t>
            </a:r>
            <a:r>
              <a:rPr lang="en-IN" sz="1800" b="0" i="0" u="none" strike="noStrike" baseline="-25000" dirty="0">
                <a:solidFill>
                  <a:schemeClr val="accent6"/>
                </a:solidFill>
                <a:latin typeface="SabonLTStd-Roman"/>
              </a:rPr>
              <a:t>4</a:t>
            </a:r>
            <a:r>
              <a:rPr lang="en-IN" sz="1800" b="0" i="0" u="none" strike="noStrike" baseline="30000" dirty="0">
                <a:solidFill>
                  <a:schemeClr val="accent6"/>
                </a:solidFill>
                <a:latin typeface="SabonLTStd-Roman"/>
              </a:rPr>
              <a:t>–3</a:t>
            </a:r>
            <a:r>
              <a:rPr lang="en-IN" sz="1800" b="0" i="0" u="none" strike="noStrike" baseline="0" dirty="0">
                <a:latin typeface="SabonLTStd-Roman"/>
              </a:rPr>
              <a:t>)</a:t>
            </a:r>
            <a:r>
              <a:rPr lang="en-IN" dirty="0">
                <a:latin typeface="SabonLTStd-Roman"/>
              </a:rPr>
              <a:t> </a:t>
            </a:r>
            <a:r>
              <a:rPr lang="en-US" sz="1800" b="0" i="0" u="none" strike="noStrike" baseline="0" dirty="0">
                <a:latin typeface="SabonLTStd-Roman"/>
              </a:rPr>
              <a:t>that are recycled through the involvement of organisms.</a:t>
            </a:r>
          </a:p>
          <a:p>
            <a:pPr marL="285750" indent="-285750" algn="l">
              <a:buFont typeface="Wingdings" panose="05000000000000000000" pitchFamily="2" charset="2"/>
              <a:buChar char="q"/>
            </a:pPr>
            <a:endParaRPr lang="en-US" dirty="0">
              <a:latin typeface="SabonLTStd-Roman"/>
            </a:endParaRPr>
          </a:p>
          <a:p>
            <a:pPr marL="285750" indent="-285750" algn="just">
              <a:buFont typeface="Wingdings" panose="05000000000000000000" pitchFamily="2" charset="2"/>
              <a:buChar char="q"/>
            </a:pPr>
            <a:r>
              <a:rPr lang="en-US" sz="1800" b="0" i="0" u="none" strike="noStrike" baseline="0" dirty="0">
                <a:latin typeface="SabonLTStd-Roman"/>
              </a:rPr>
              <a:t>Scavenged constituents (such as Pb, Mn, Sn) are those that are adsorbed onto the surfaces of solid articles</a:t>
            </a:r>
            <a:endParaRPr lang="en-IN" dirty="0"/>
          </a:p>
        </p:txBody>
      </p:sp>
    </p:spTree>
    <p:extLst>
      <p:ext uri="{BB962C8B-B14F-4D97-AF65-F5344CB8AC3E}">
        <p14:creationId xmlns:p14="http://schemas.microsoft.com/office/powerpoint/2010/main" val="10554782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12BB68-8087-4561-4A3D-42AC269A6851}"/>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81CA457-9590-BF10-5089-4D3FFD4E0C0B}"/>
              </a:ext>
            </a:extLst>
          </p:cNvPr>
          <p:cNvSpPr txBox="1"/>
          <p:nvPr/>
        </p:nvSpPr>
        <p:spPr>
          <a:xfrm>
            <a:off x="1371600" y="16213"/>
            <a:ext cx="6553200" cy="584775"/>
          </a:xfrm>
          <a:prstGeom prst="rect">
            <a:avLst/>
          </a:prstGeom>
          <a:noFill/>
        </p:spPr>
        <p:txBody>
          <a:bodyPr wrap="square">
            <a:spAutoFit/>
          </a:bodyPr>
          <a:lstStyle/>
          <a:p>
            <a:pPr algn="ctr"/>
            <a:r>
              <a:rPr lang="en-IN" sz="3200" dirty="0">
                <a:solidFill>
                  <a:schemeClr val="tx2"/>
                </a:solidFill>
                <a:latin typeface="+mn-lt"/>
                <a:ea typeface="+mj-ea"/>
                <a:cs typeface="+mj-cs"/>
              </a:rPr>
              <a:t>Composition of modern seawater</a:t>
            </a:r>
          </a:p>
        </p:txBody>
      </p:sp>
      <p:pic>
        <p:nvPicPr>
          <p:cNvPr id="4" name="Picture 3">
            <a:extLst>
              <a:ext uri="{FF2B5EF4-FFF2-40B4-BE49-F238E27FC236}">
                <a16:creationId xmlns:a16="http://schemas.microsoft.com/office/drawing/2014/main" id="{C8FCCF35-4F16-88B5-37D8-C497EF7E54F0}"/>
              </a:ext>
            </a:extLst>
          </p:cNvPr>
          <p:cNvPicPr>
            <a:picLocks noChangeAspect="1"/>
          </p:cNvPicPr>
          <p:nvPr/>
        </p:nvPicPr>
        <p:blipFill>
          <a:blip r:embed="rId2"/>
          <a:stretch>
            <a:fillRect/>
          </a:stretch>
        </p:blipFill>
        <p:spPr>
          <a:xfrm>
            <a:off x="2348801" y="457200"/>
            <a:ext cx="4446398" cy="6284701"/>
          </a:xfrm>
          <a:prstGeom prst="rect">
            <a:avLst/>
          </a:prstGeom>
        </p:spPr>
      </p:pic>
    </p:spTree>
    <p:extLst>
      <p:ext uri="{BB962C8B-B14F-4D97-AF65-F5344CB8AC3E}">
        <p14:creationId xmlns:p14="http://schemas.microsoft.com/office/powerpoint/2010/main" val="1846574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FFE7CB-60BC-37F9-BF4A-34D17587A86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6BE2BD4F-0493-1E39-C105-650C92C639F8}"/>
              </a:ext>
            </a:extLst>
          </p:cNvPr>
          <p:cNvSpPr txBox="1"/>
          <p:nvPr/>
        </p:nvSpPr>
        <p:spPr>
          <a:xfrm>
            <a:off x="0" y="8104"/>
            <a:ext cx="9144000" cy="523220"/>
          </a:xfrm>
          <a:prstGeom prst="rect">
            <a:avLst/>
          </a:prstGeom>
          <a:noFill/>
        </p:spPr>
        <p:txBody>
          <a:bodyPr wrap="square">
            <a:spAutoFit/>
          </a:bodyPr>
          <a:lstStyle/>
          <a:p>
            <a:pPr algn="ctr"/>
            <a:r>
              <a:rPr lang="en-US" sz="2800" dirty="0">
                <a:solidFill>
                  <a:schemeClr val="tx2"/>
                </a:solidFill>
                <a:latin typeface="+mn-lt"/>
                <a:ea typeface="+mj-ea"/>
                <a:cs typeface="+mj-cs"/>
              </a:rPr>
              <a:t>Factors responsible for modifying seawater chemistry</a:t>
            </a:r>
            <a:endParaRPr lang="en-IN" sz="2800" dirty="0">
              <a:solidFill>
                <a:schemeClr val="tx2"/>
              </a:solidFill>
              <a:latin typeface="+mn-lt"/>
              <a:ea typeface="+mj-ea"/>
              <a:cs typeface="+mj-cs"/>
            </a:endParaRPr>
          </a:p>
        </p:txBody>
      </p:sp>
      <p:sp>
        <p:nvSpPr>
          <p:cNvPr id="4" name="TextBox 3">
            <a:extLst>
              <a:ext uri="{FF2B5EF4-FFF2-40B4-BE49-F238E27FC236}">
                <a16:creationId xmlns:a16="http://schemas.microsoft.com/office/drawing/2014/main" id="{8B966F87-130E-13AC-516E-7F314D04CE97}"/>
              </a:ext>
            </a:extLst>
          </p:cNvPr>
          <p:cNvSpPr txBox="1"/>
          <p:nvPr/>
        </p:nvSpPr>
        <p:spPr>
          <a:xfrm>
            <a:off x="304800" y="685800"/>
            <a:ext cx="8686800" cy="6032421"/>
          </a:xfrm>
          <a:prstGeom prst="rect">
            <a:avLst/>
          </a:prstGeom>
          <a:noFill/>
        </p:spPr>
        <p:txBody>
          <a:bodyPr wrap="square">
            <a:spAutoFit/>
          </a:bodyPr>
          <a:lstStyle/>
          <a:p>
            <a:pPr algn="just"/>
            <a:r>
              <a:rPr lang="en-US" sz="1600" b="0" i="0" u="none" strike="noStrike" baseline="0" dirty="0">
                <a:cs typeface="Arial" panose="020B0604020202020204" pitchFamily="34" charset="0"/>
              </a:rPr>
              <a:t>Processes capable of modifying the chemistry of seawater, besides addition of constituents by rivers, fall into six categories</a:t>
            </a:r>
          </a:p>
          <a:p>
            <a:pPr marL="285750" indent="-285750" algn="just">
              <a:buFont typeface="Wingdings" panose="05000000000000000000" pitchFamily="2" charset="2"/>
              <a:buChar char="q"/>
            </a:pPr>
            <a:endParaRPr lang="en-US" sz="1600" dirty="0">
              <a:cs typeface="Arial" panose="020B0604020202020204" pitchFamily="34" charset="0"/>
            </a:endParaRPr>
          </a:p>
          <a:p>
            <a:pPr marL="342900" indent="-342900" algn="just">
              <a:buAutoNum type="arabicParenBoth"/>
            </a:pPr>
            <a:r>
              <a:rPr lang="en-US" sz="1600" b="0" i="1" u="none" strike="noStrike" baseline="0" dirty="0">
                <a:solidFill>
                  <a:srgbClr val="FF0000"/>
                </a:solidFill>
                <a:cs typeface="Arial" panose="020B0604020202020204" pitchFamily="34" charset="0"/>
              </a:rPr>
              <a:t>Biological processes </a:t>
            </a:r>
            <a:r>
              <a:rPr lang="en-US" sz="1600" b="0" i="0" u="none" strike="noStrike" baseline="0" dirty="0">
                <a:cs typeface="Arial" panose="020B0604020202020204" pitchFamily="34" charset="0"/>
              </a:rPr>
              <a:t>Such processes exert major controls on the concentration of recycled constituents (Ca</a:t>
            </a:r>
            <a:r>
              <a:rPr lang="en-US" sz="1600" b="0" i="0" u="none" strike="noStrike" baseline="30000" dirty="0">
                <a:cs typeface="Arial" panose="020B0604020202020204" pitchFamily="34" charset="0"/>
              </a:rPr>
              <a:t>2+</a:t>
            </a:r>
            <a:r>
              <a:rPr lang="en-US" sz="1600" b="0" i="0" u="none" strike="noStrike" dirty="0">
                <a:cs typeface="Arial" panose="020B0604020202020204" pitchFamily="34" charset="0"/>
              </a:rPr>
              <a:t> , </a:t>
            </a:r>
            <a:r>
              <a:rPr lang="en-US" sz="1600" b="0" i="0" u="none" strike="noStrike" baseline="0" dirty="0">
                <a:cs typeface="Arial" panose="020B0604020202020204" pitchFamily="34" charset="0"/>
              </a:rPr>
              <a:t>HCO</a:t>
            </a:r>
            <a:r>
              <a:rPr lang="en-US" sz="1600" b="0" i="0" u="none" strike="noStrike" baseline="-25000" dirty="0">
                <a:cs typeface="Arial" panose="020B0604020202020204" pitchFamily="34" charset="0"/>
              </a:rPr>
              <a:t>3</a:t>
            </a:r>
            <a:r>
              <a:rPr lang="en-IN" sz="1600" b="0" i="0" u="none" strike="noStrike" baseline="30000" dirty="0">
                <a:cs typeface="Arial" panose="020B0604020202020204" pitchFamily="34" charset="0"/>
              </a:rPr>
              <a:t>−</a:t>
            </a:r>
            <a:r>
              <a:rPr lang="en-IN" sz="1600" b="0" i="0" u="none" strike="noStrike" baseline="0" dirty="0">
                <a:cs typeface="Arial" panose="020B0604020202020204" pitchFamily="34" charset="0"/>
              </a:rPr>
              <a:t>,SO</a:t>
            </a:r>
            <a:r>
              <a:rPr lang="en-IN" sz="1600" b="0" i="0" u="none" strike="noStrike" baseline="-25000" dirty="0">
                <a:cs typeface="Arial" panose="020B0604020202020204" pitchFamily="34" charset="0"/>
              </a:rPr>
              <a:t>4</a:t>
            </a:r>
            <a:r>
              <a:rPr lang="pt-BR" sz="1600" b="0" i="0" u="none" strike="noStrike" baseline="30000" dirty="0">
                <a:cs typeface="Arial" panose="020B0604020202020204" pitchFamily="34" charset="0"/>
              </a:rPr>
              <a:t>2−</a:t>
            </a:r>
            <a:r>
              <a:rPr lang="pt-BR" sz="1600" b="0" i="0" u="none" strike="noStrike" baseline="0" dirty="0">
                <a:cs typeface="Arial" panose="020B0604020202020204" pitchFamily="34" charset="0"/>
              </a:rPr>
              <a:t>, H</a:t>
            </a:r>
            <a:r>
              <a:rPr lang="pt-BR" sz="1600" b="0" i="0" u="none" strike="noStrike" baseline="-25000" dirty="0">
                <a:cs typeface="Arial" panose="020B0604020202020204" pitchFamily="34" charset="0"/>
              </a:rPr>
              <a:t>4</a:t>
            </a:r>
            <a:r>
              <a:rPr lang="pt-BR" sz="1600" b="0" i="0" u="none" strike="noStrike" baseline="0" dirty="0">
                <a:cs typeface="Arial" panose="020B0604020202020204" pitchFamily="34" charset="0"/>
              </a:rPr>
              <a:t>SiO</a:t>
            </a:r>
            <a:r>
              <a:rPr lang="pt-BR" sz="1600" b="0" i="0" u="none" strike="noStrike" baseline="-25000" dirty="0">
                <a:cs typeface="Arial" panose="020B0604020202020204" pitchFamily="34" charset="0"/>
              </a:rPr>
              <a:t>4</a:t>
            </a:r>
            <a:r>
              <a:rPr lang="pt-BR" sz="1600" b="0" i="0" u="none" strike="noStrike" baseline="0" dirty="0">
                <a:cs typeface="Arial" panose="020B0604020202020204" pitchFamily="34" charset="0"/>
              </a:rPr>
              <a:t>, CO</a:t>
            </a:r>
            <a:r>
              <a:rPr lang="pt-BR" sz="1600" b="0" i="0" u="none" strike="noStrike" baseline="-25000" dirty="0">
                <a:cs typeface="Arial" panose="020B0604020202020204" pitchFamily="34" charset="0"/>
              </a:rPr>
              <a:t>2</a:t>
            </a:r>
            <a:r>
              <a:rPr lang="pt-BR" sz="1600" b="0" i="0" u="none" strike="noStrike" baseline="0" dirty="0">
                <a:cs typeface="Arial" panose="020B0604020202020204" pitchFamily="34" charset="0"/>
              </a:rPr>
              <a:t>, O</a:t>
            </a:r>
            <a:r>
              <a:rPr lang="pt-BR" sz="1600" b="0" i="0" u="none" strike="noStrike" baseline="-25000" dirty="0">
                <a:cs typeface="Arial" panose="020B0604020202020204" pitchFamily="34" charset="0"/>
              </a:rPr>
              <a:t>2</a:t>
            </a:r>
            <a:r>
              <a:rPr lang="pt-BR" sz="1600" b="0" i="0" u="none" strike="noStrike" baseline="0" dirty="0">
                <a:cs typeface="Arial" panose="020B0604020202020204" pitchFamily="34" charset="0"/>
              </a:rPr>
              <a:t>, NO</a:t>
            </a:r>
            <a:r>
              <a:rPr lang="pt-BR" sz="1600" b="0" i="0" u="none" strike="noStrike" baseline="-25000" dirty="0">
                <a:cs typeface="Arial" panose="020B0604020202020204" pitchFamily="34" charset="0"/>
              </a:rPr>
              <a:t>3</a:t>
            </a:r>
            <a:r>
              <a:rPr lang="en-IN" sz="1600" b="0" i="0" u="none" strike="noStrike" baseline="30000" dirty="0">
                <a:cs typeface="Arial" panose="020B0604020202020204" pitchFamily="34" charset="0"/>
              </a:rPr>
              <a:t>−</a:t>
            </a:r>
            <a:r>
              <a:rPr lang="en-IN" sz="1600" b="0" i="0" u="none" strike="noStrike" baseline="0" dirty="0">
                <a:cs typeface="Arial" panose="020B0604020202020204" pitchFamily="34" charset="0"/>
              </a:rPr>
              <a:t>, and PO</a:t>
            </a:r>
            <a:r>
              <a:rPr lang="en-IN" sz="1600" b="0" i="0" u="none" strike="noStrike" baseline="-25000" dirty="0">
                <a:cs typeface="Arial" panose="020B0604020202020204" pitchFamily="34" charset="0"/>
              </a:rPr>
              <a:t>4</a:t>
            </a:r>
            <a:r>
              <a:rPr lang="en-IN" sz="1600" b="0" i="0" u="none" strike="noStrike" baseline="30000" dirty="0">
                <a:cs typeface="Arial" panose="020B0604020202020204" pitchFamily="34" charset="0"/>
              </a:rPr>
              <a:t>3−</a:t>
            </a:r>
            <a:r>
              <a:rPr lang="en-IN" sz="1600" b="0" i="0" u="none" strike="noStrike" baseline="0" dirty="0">
                <a:cs typeface="Arial" panose="020B0604020202020204" pitchFamily="34" charset="0"/>
              </a:rPr>
              <a:t>).</a:t>
            </a:r>
          </a:p>
          <a:p>
            <a:pPr algn="just"/>
            <a:endParaRPr lang="en-IN" sz="1600" b="0" i="0" u="none" strike="noStrike" baseline="0" dirty="0">
              <a:cs typeface="Arial" panose="020B0604020202020204" pitchFamily="34" charset="0"/>
            </a:endParaRPr>
          </a:p>
          <a:p>
            <a:pPr algn="just"/>
            <a:r>
              <a:rPr lang="en-US" sz="1600" b="0" i="1" u="none" strike="noStrike" baseline="0" dirty="0">
                <a:solidFill>
                  <a:srgbClr val="FF0000"/>
                </a:solidFill>
                <a:cs typeface="Arial" panose="020B0604020202020204" pitchFamily="34" charset="0"/>
              </a:rPr>
              <a:t>(2) Seafloor volcanics</a:t>
            </a:r>
            <a:r>
              <a:rPr lang="en-US" sz="1600" b="0" i="0" u="none" strike="noStrike" baseline="0" dirty="0">
                <a:cs typeface="Arial" panose="020B0604020202020204" pitchFamily="34" charset="0"/>
              </a:rPr>
              <a:t>–seawater interaction, both high temperature (200–400°C) reactions at mid-oceanic ridge axes and off-axis low temperature reactions.</a:t>
            </a:r>
          </a:p>
          <a:p>
            <a:pPr algn="just"/>
            <a:endParaRPr lang="en-US" sz="1600" b="0" i="0" u="none" strike="noStrike" baseline="0" dirty="0">
              <a:cs typeface="Arial" panose="020B0604020202020204" pitchFamily="34" charset="0"/>
            </a:endParaRPr>
          </a:p>
          <a:p>
            <a:pPr algn="just"/>
            <a:r>
              <a:rPr lang="en-US" sz="1600" b="0" i="1" u="none" strike="noStrike" baseline="0" dirty="0">
                <a:solidFill>
                  <a:srgbClr val="FF0000"/>
                </a:solidFill>
                <a:cs typeface="Arial" panose="020B0604020202020204" pitchFamily="34" charset="0"/>
              </a:rPr>
              <a:t>(3) Reaction of seawater with detrital solids </a:t>
            </a:r>
            <a:r>
              <a:rPr lang="en-US" sz="1600" b="0" i="0" u="none" strike="noStrike" baseline="0" dirty="0">
                <a:cs typeface="Arial" panose="020B0604020202020204" pitchFamily="34" charset="0"/>
              </a:rPr>
              <a:t>transported from the continents. Such reactions may involve an entire detrital mineral</a:t>
            </a:r>
            <a:r>
              <a:rPr lang="en-US" sz="1600" dirty="0">
                <a:cs typeface="Arial" panose="020B0604020202020204" pitchFamily="34" charset="0"/>
              </a:rPr>
              <a:t> </a:t>
            </a:r>
            <a:r>
              <a:rPr lang="en-US" sz="1600" b="0" i="0" u="none" strike="noStrike" baseline="0" dirty="0">
                <a:cs typeface="Arial" panose="020B0604020202020204" pitchFamily="34" charset="0"/>
              </a:rPr>
              <a:t>or affect only the mineral surface by ion exchange, especially of Ca</a:t>
            </a:r>
            <a:r>
              <a:rPr lang="en-US" sz="1600" b="0" i="0" u="none" strike="noStrike" baseline="30000" dirty="0">
                <a:cs typeface="Arial" panose="020B0604020202020204" pitchFamily="34" charset="0"/>
              </a:rPr>
              <a:t>2+ </a:t>
            </a:r>
            <a:r>
              <a:rPr lang="en-US" sz="1600" b="0" i="0" u="none" strike="noStrike" baseline="0" dirty="0">
                <a:cs typeface="Arial" panose="020B0604020202020204" pitchFamily="34" charset="0"/>
              </a:rPr>
              <a:t>for Na</a:t>
            </a:r>
            <a:r>
              <a:rPr lang="en-US" sz="1600" b="0" i="0" u="none" strike="noStrike" baseline="30000" dirty="0">
                <a:cs typeface="Arial" panose="020B0604020202020204" pitchFamily="34" charset="0"/>
              </a:rPr>
              <a:t>+</a:t>
            </a:r>
            <a:r>
              <a:rPr lang="en-US" sz="1600" b="0" i="0" u="none" strike="noStrike" baseline="0" dirty="0">
                <a:cs typeface="Arial" panose="020B0604020202020204" pitchFamily="34" charset="0"/>
              </a:rPr>
              <a:t>. Ion exchange is particularly important </a:t>
            </a:r>
            <a:r>
              <a:rPr lang="en-IN" sz="1600" b="0" i="0" u="none" strike="noStrike" baseline="0" dirty="0">
                <a:cs typeface="Arial" panose="020B0604020202020204" pitchFamily="34" charset="0"/>
              </a:rPr>
              <a:t>for trace elements.</a:t>
            </a:r>
          </a:p>
          <a:p>
            <a:pPr algn="just"/>
            <a:endParaRPr lang="en-IN" sz="1600" b="0" i="0" u="none" strike="noStrike" baseline="0" dirty="0">
              <a:cs typeface="Arial" panose="020B0604020202020204" pitchFamily="34" charset="0"/>
            </a:endParaRPr>
          </a:p>
          <a:p>
            <a:pPr algn="just"/>
            <a:r>
              <a:rPr lang="en-US" sz="1600" b="0" i="0" u="none" strike="noStrike" baseline="0" dirty="0">
                <a:cs typeface="Arial" panose="020B0604020202020204" pitchFamily="34" charset="0"/>
              </a:rPr>
              <a:t>(</a:t>
            </a:r>
            <a:r>
              <a:rPr lang="en-US" sz="1600" b="0" i="1" u="none" strike="noStrike" baseline="0" dirty="0">
                <a:solidFill>
                  <a:srgbClr val="FF0000"/>
                </a:solidFill>
                <a:cs typeface="Arial" panose="020B0604020202020204" pitchFamily="34" charset="0"/>
              </a:rPr>
              <a:t>4) Ocean-to-air transfer of cyclic salts: </a:t>
            </a:r>
            <a:r>
              <a:rPr lang="en-US" sz="1600" b="0" i="0" u="none" strike="noStrike" baseline="0" dirty="0">
                <a:cs typeface="Arial" panose="020B0604020202020204" pitchFamily="34" charset="0"/>
              </a:rPr>
              <a:t>sea-salt particles blown from the ocean surface onto the land).</a:t>
            </a:r>
          </a:p>
          <a:p>
            <a:pPr algn="just"/>
            <a:endParaRPr lang="en-US" sz="1600" b="0" i="0" u="none" strike="noStrike" baseline="0" dirty="0">
              <a:cs typeface="Arial" panose="020B0604020202020204" pitchFamily="34" charset="0"/>
            </a:endParaRPr>
          </a:p>
          <a:p>
            <a:pPr algn="just"/>
            <a:r>
              <a:rPr lang="en-US" sz="1600" b="0" i="1" u="none" strike="noStrike" baseline="0" dirty="0">
                <a:solidFill>
                  <a:srgbClr val="FF0000"/>
                </a:solidFill>
                <a:cs typeface="Arial" panose="020B0604020202020204" pitchFamily="34" charset="0"/>
              </a:rPr>
              <a:t>(5) Precipitation of evaporite and sulfide minerals</a:t>
            </a:r>
            <a:r>
              <a:rPr lang="en-US" sz="1600" b="0" i="0" u="none" strike="noStrike" baseline="0" dirty="0">
                <a:cs typeface="Arial" panose="020B0604020202020204" pitchFamily="34" charset="0"/>
              </a:rPr>
              <a:t>, an important mechanism for the removal of Na</a:t>
            </a:r>
            <a:r>
              <a:rPr lang="en-US" sz="1600" b="0" i="0" u="none" strike="noStrike" baseline="30000" dirty="0">
                <a:cs typeface="Arial" panose="020B0604020202020204" pitchFamily="34" charset="0"/>
              </a:rPr>
              <a:t>+</a:t>
            </a:r>
            <a:r>
              <a:rPr lang="en-US" sz="1600" b="0" i="0" u="none" strike="noStrike" baseline="0" dirty="0">
                <a:cs typeface="Arial" panose="020B0604020202020204" pitchFamily="34" charset="0"/>
              </a:rPr>
              <a:t>, Ca</a:t>
            </a:r>
            <a:r>
              <a:rPr lang="en-US" sz="1600" b="0" i="0" u="none" strike="noStrike" baseline="30000" dirty="0">
                <a:cs typeface="Arial" panose="020B0604020202020204" pitchFamily="34" charset="0"/>
              </a:rPr>
              <a:t>2+</a:t>
            </a:r>
            <a:r>
              <a:rPr lang="en-US" sz="1600" b="0" i="0" u="none" strike="noStrike" baseline="0" dirty="0">
                <a:cs typeface="Arial" panose="020B0604020202020204" pitchFamily="34" charset="0"/>
              </a:rPr>
              <a:t>, Cl</a:t>
            </a:r>
            <a:r>
              <a:rPr lang="en-US" sz="1600" baseline="30000" dirty="0">
                <a:cs typeface="Arial" panose="020B0604020202020204" pitchFamily="34" charset="0"/>
              </a:rPr>
              <a:t>-</a:t>
            </a:r>
            <a:r>
              <a:rPr lang="en-US" sz="1600" b="0" i="0" u="none" strike="noStrike" baseline="0" dirty="0">
                <a:cs typeface="Arial" panose="020B0604020202020204" pitchFamily="34" charset="0"/>
              </a:rPr>
              <a:t>, and </a:t>
            </a:r>
            <a:r>
              <a:rPr lang="en-IN" sz="1600" b="0" i="0" u="none" strike="noStrike" baseline="0" dirty="0">
                <a:cs typeface="Arial" panose="020B0604020202020204" pitchFamily="34" charset="0"/>
              </a:rPr>
              <a:t>SO</a:t>
            </a:r>
            <a:r>
              <a:rPr lang="en-IN" sz="1600" b="0" i="0" u="none" strike="noStrike" baseline="-25000" dirty="0">
                <a:cs typeface="Arial" panose="020B0604020202020204" pitchFamily="34" charset="0"/>
              </a:rPr>
              <a:t>4</a:t>
            </a:r>
            <a:r>
              <a:rPr lang="en-IN" sz="1600" b="0" i="0" u="none" baseline="30000" dirty="0">
                <a:cs typeface="Arial" panose="020B0604020202020204" pitchFamily="34" charset="0"/>
              </a:rPr>
              <a:t>2</a:t>
            </a:r>
            <a:r>
              <a:rPr lang="en-IN" sz="1600" baseline="30000" dirty="0">
                <a:cs typeface="Arial" panose="020B0604020202020204" pitchFamily="34" charset="0"/>
              </a:rPr>
              <a:t>-</a:t>
            </a:r>
            <a:r>
              <a:rPr lang="en-IN" sz="1600" b="0" i="0" u="none" strike="noStrike" baseline="0" dirty="0">
                <a:cs typeface="Arial" panose="020B0604020202020204" pitchFamily="34" charset="0"/>
              </a:rPr>
              <a:t> from seawater.</a:t>
            </a:r>
          </a:p>
          <a:p>
            <a:pPr algn="just"/>
            <a:endParaRPr lang="en-IN" sz="1600" b="0" i="0" u="none" strike="noStrike" baseline="0" dirty="0">
              <a:cs typeface="Arial" panose="020B0604020202020204" pitchFamily="34" charset="0"/>
            </a:endParaRPr>
          </a:p>
          <a:p>
            <a:pPr algn="just"/>
            <a:r>
              <a:rPr lang="en-US" sz="1600" b="0" i="1" u="none" strike="noStrike" baseline="0" dirty="0">
                <a:solidFill>
                  <a:srgbClr val="FF0000"/>
                </a:solidFill>
                <a:cs typeface="Arial" panose="020B0604020202020204" pitchFamily="34" charset="0"/>
              </a:rPr>
              <a:t>(6) Special processes that generally affect only one or two constituents</a:t>
            </a:r>
            <a:r>
              <a:rPr lang="en-US" sz="1600" b="0" i="0" u="none" strike="noStrike" baseline="0" dirty="0">
                <a:cs typeface="Arial" panose="020B0604020202020204" pitchFamily="34" charset="0"/>
              </a:rPr>
              <a:t>. These include porewater burial of Cl</a:t>
            </a:r>
            <a:r>
              <a:rPr lang="en-US" sz="1600" baseline="30000" dirty="0">
                <a:ea typeface="Cambria Math" panose="02040503050406030204" pitchFamily="18" charset="0"/>
                <a:cs typeface="Arial" panose="020B0604020202020204" pitchFamily="34" charset="0"/>
              </a:rPr>
              <a:t>-</a:t>
            </a:r>
            <a:r>
              <a:rPr lang="en-US" sz="1600" b="0" i="0" u="none" strike="noStrike" baseline="0" dirty="0">
                <a:cs typeface="Arial" panose="020B0604020202020204" pitchFamily="34" charset="0"/>
              </a:rPr>
              <a:t> and Na</a:t>
            </a:r>
            <a:r>
              <a:rPr lang="en-US" sz="1600" b="0" i="0" u="none" strike="noStrike" baseline="30000" dirty="0">
                <a:cs typeface="Arial" panose="020B0604020202020204" pitchFamily="34" charset="0"/>
              </a:rPr>
              <a:t>+</a:t>
            </a:r>
            <a:r>
              <a:rPr lang="en-US" sz="1600" b="0" i="0" u="none" strike="noStrike" baseline="0" dirty="0">
                <a:cs typeface="Arial" panose="020B0604020202020204" pitchFamily="34" charset="0"/>
              </a:rPr>
              <a:t>, and a number of processes unique to the nitrogen </a:t>
            </a:r>
            <a:r>
              <a:rPr lang="en-IN" sz="1600" b="0" i="0" u="none" strike="noStrike" baseline="0" dirty="0">
                <a:cs typeface="Arial" panose="020B0604020202020204" pitchFamily="34" charset="0"/>
              </a:rPr>
              <a:t>and phosphorous cycles (nitrification, denitrification, N2 </a:t>
            </a:r>
            <a:r>
              <a:rPr lang="en-US" sz="1600" b="0" i="0" u="none" strike="noStrike" baseline="0" dirty="0">
                <a:cs typeface="Arial" panose="020B0604020202020204" pitchFamily="34" charset="0"/>
              </a:rPr>
              <a:t>fixation, adsorption of phosphate on ferric oxides, and </a:t>
            </a:r>
            <a:r>
              <a:rPr lang="en-IN" sz="1600" b="0" i="0" u="none" strike="noStrike" baseline="0" dirty="0">
                <a:cs typeface="Arial" panose="020B0604020202020204" pitchFamily="34" charset="0"/>
              </a:rPr>
              <a:t>authigenic apatite formation).</a:t>
            </a:r>
            <a:endParaRPr lang="en-US" sz="1600" dirty="0">
              <a:cs typeface="Arial" panose="020B0604020202020204" pitchFamily="34" charset="0"/>
            </a:endParaRPr>
          </a:p>
          <a:p>
            <a:pPr algn="l"/>
            <a:endParaRPr lang="en-IN" dirty="0"/>
          </a:p>
        </p:txBody>
      </p:sp>
    </p:spTree>
    <p:extLst>
      <p:ext uri="{BB962C8B-B14F-4D97-AF65-F5344CB8AC3E}">
        <p14:creationId xmlns:p14="http://schemas.microsoft.com/office/powerpoint/2010/main" val="8686201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1C93F3-3F45-1099-30BC-70982903017B}"/>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D058DC5-9CA6-F385-457C-08681D495315}"/>
              </a:ext>
            </a:extLst>
          </p:cNvPr>
          <p:cNvSpPr txBox="1"/>
          <p:nvPr/>
        </p:nvSpPr>
        <p:spPr>
          <a:xfrm>
            <a:off x="0" y="0"/>
            <a:ext cx="9144000" cy="523220"/>
          </a:xfrm>
          <a:prstGeom prst="rect">
            <a:avLst/>
          </a:prstGeom>
          <a:noFill/>
        </p:spPr>
        <p:txBody>
          <a:bodyPr wrap="square">
            <a:spAutoFit/>
          </a:bodyPr>
          <a:lstStyle/>
          <a:p>
            <a:pPr algn="ctr"/>
            <a:r>
              <a:rPr lang="en-US" sz="2800" dirty="0">
                <a:solidFill>
                  <a:schemeClr val="tx2"/>
                </a:solidFill>
                <a:latin typeface="+mn-lt"/>
                <a:ea typeface="+mj-ea"/>
                <a:cs typeface="+mj-cs"/>
              </a:rPr>
              <a:t>Mass balance of dissolved constituents </a:t>
            </a:r>
            <a:r>
              <a:rPr lang="en-IN" sz="2800" dirty="0">
                <a:solidFill>
                  <a:schemeClr val="tx2"/>
                </a:solidFill>
                <a:latin typeface="+mn-lt"/>
                <a:ea typeface="+mj-ea"/>
                <a:cs typeface="+mj-cs"/>
              </a:rPr>
              <a:t>in seawater</a:t>
            </a:r>
          </a:p>
        </p:txBody>
      </p:sp>
      <p:pic>
        <p:nvPicPr>
          <p:cNvPr id="8" name="Picture 7">
            <a:extLst>
              <a:ext uri="{FF2B5EF4-FFF2-40B4-BE49-F238E27FC236}">
                <a16:creationId xmlns:a16="http://schemas.microsoft.com/office/drawing/2014/main" id="{3862DD52-DBE9-6912-6D72-5D21E699A6FA}"/>
              </a:ext>
            </a:extLst>
          </p:cNvPr>
          <p:cNvPicPr>
            <a:picLocks noChangeAspect="1"/>
          </p:cNvPicPr>
          <p:nvPr/>
        </p:nvPicPr>
        <p:blipFill>
          <a:blip r:embed="rId2"/>
          <a:stretch>
            <a:fillRect/>
          </a:stretch>
        </p:blipFill>
        <p:spPr>
          <a:xfrm>
            <a:off x="1455292" y="609600"/>
            <a:ext cx="6233416" cy="5341781"/>
          </a:xfrm>
          <a:prstGeom prst="rect">
            <a:avLst/>
          </a:prstGeom>
        </p:spPr>
      </p:pic>
    </p:spTree>
    <p:extLst>
      <p:ext uri="{BB962C8B-B14F-4D97-AF65-F5344CB8AC3E}">
        <p14:creationId xmlns:p14="http://schemas.microsoft.com/office/powerpoint/2010/main" val="22100491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BDFE44-84B6-9F3D-BA14-2BDF0F864985}"/>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6E35BED-A151-AF49-A221-53D4A135C630}"/>
              </a:ext>
            </a:extLst>
          </p:cNvPr>
          <p:cNvSpPr txBox="1"/>
          <p:nvPr/>
        </p:nvSpPr>
        <p:spPr>
          <a:xfrm>
            <a:off x="0" y="8104"/>
            <a:ext cx="9144000" cy="523220"/>
          </a:xfrm>
          <a:prstGeom prst="rect">
            <a:avLst/>
          </a:prstGeom>
          <a:noFill/>
        </p:spPr>
        <p:txBody>
          <a:bodyPr wrap="square">
            <a:spAutoFit/>
          </a:bodyPr>
          <a:lstStyle/>
          <a:p>
            <a:pPr algn="ctr"/>
            <a:r>
              <a:rPr lang="en-US" sz="2800" dirty="0">
                <a:solidFill>
                  <a:schemeClr val="tx2"/>
                </a:solidFill>
                <a:latin typeface="+mn-lt"/>
                <a:ea typeface="+mj-ea"/>
                <a:cs typeface="+mj-cs"/>
              </a:rPr>
              <a:t>Evolution of the oceans over </a:t>
            </a:r>
            <a:r>
              <a:rPr lang="en-IN" sz="2800" dirty="0">
                <a:solidFill>
                  <a:schemeClr val="tx2"/>
                </a:solidFill>
                <a:latin typeface="+mn-lt"/>
                <a:ea typeface="+mj-ea"/>
                <a:cs typeface="+mj-cs"/>
              </a:rPr>
              <a:t>geologic time</a:t>
            </a:r>
          </a:p>
        </p:txBody>
      </p:sp>
      <p:sp>
        <p:nvSpPr>
          <p:cNvPr id="4" name="TextBox 3">
            <a:extLst>
              <a:ext uri="{FF2B5EF4-FFF2-40B4-BE49-F238E27FC236}">
                <a16:creationId xmlns:a16="http://schemas.microsoft.com/office/drawing/2014/main" id="{7D0A5881-4B5B-ABA8-726D-9EEFFDCD58DC}"/>
              </a:ext>
            </a:extLst>
          </p:cNvPr>
          <p:cNvSpPr txBox="1"/>
          <p:nvPr/>
        </p:nvSpPr>
        <p:spPr>
          <a:xfrm>
            <a:off x="457200" y="838200"/>
            <a:ext cx="8229600" cy="3970318"/>
          </a:xfrm>
          <a:prstGeom prst="rect">
            <a:avLst/>
          </a:prstGeom>
          <a:noFill/>
        </p:spPr>
        <p:txBody>
          <a:bodyPr wrap="square">
            <a:spAutoFit/>
          </a:bodyPr>
          <a:lstStyle/>
          <a:p>
            <a:pPr algn="l"/>
            <a:r>
              <a:rPr lang="en-IN" sz="1800" b="1" i="1" u="none" strike="noStrike" baseline="0" dirty="0">
                <a:latin typeface="SabonLTStd-BoldItalic"/>
              </a:rPr>
              <a:t>Origin of the oceans</a:t>
            </a:r>
          </a:p>
          <a:p>
            <a:pPr algn="l"/>
            <a:endParaRPr lang="en-IN" sz="1800" b="1" i="1" u="none" strike="noStrike" baseline="0" dirty="0">
              <a:latin typeface="SabonLTStd-BoldItalic"/>
            </a:endParaRPr>
          </a:p>
          <a:p>
            <a:pPr algn="l"/>
            <a:r>
              <a:rPr lang="en-IN" sz="1800" b="1" i="1" u="none" strike="noStrike" baseline="0" dirty="0">
                <a:solidFill>
                  <a:srgbClr val="FF0000"/>
                </a:solidFill>
                <a:latin typeface="SabonLTStd-Italic"/>
              </a:rPr>
              <a:t>Age of the oceans</a:t>
            </a:r>
            <a:r>
              <a:rPr lang="en-IN" b="1" i="1" dirty="0">
                <a:solidFill>
                  <a:srgbClr val="FF0000"/>
                </a:solidFill>
                <a:latin typeface="SabonLTStd-Italic"/>
              </a:rPr>
              <a:t>:</a:t>
            </a:r>
          </a:p>
          <a:p>
            <a:pPr algn="l"/>
            <a:endParaRPr lang="en-IN" sz="1800" b="1" i="1" u="none" strike="noStrike" baseline="0" dirty="0">
              <a:solidFill>
                <a:srgbClr val="FF0000"/>
              </a:solidFill>
              <a:latin typeface="SabonLTStd-Italic"/>
            </a:endParaRPr>
          </a:p>
          <a:p>
            <a:pPr marL="285750" indent="-285750" algn="just">
              <a:buFont typeface="Wingdings" panose="05000000000000000000" pitchFamily="2" charset="2"/>
              <a:buChar char="Ø"/>
            </a:pPr>
            <a:r>
              <a:rPr lang="en-US" sz="1800" b="0" i="0" u="none" strike="noStrike" baseline="0" dirty="0">
                <a:latin typeface="SabonLTStd-Roman"/>
              </a:rPr>
              <a:t>The occurrence of chemical sediments (such as BIFs) in the 3.8-Gyr-old </a:t>
            </a:r>
            <a:r>
              <a:rPr lang="en-US" sz="1800" b="0" i="0" u="none" strike="noStrike" baseline="0" dirty="0" err="1">
                <a:latin typeface="SabonLTStd-Roman"/>
              </a:rPr>
              <a:t>Isua</a:t>
            </a:r>
            <a:r>
              <a:rPr lang="en-US" sz="1800" b="0" i="0" u="none" strike="noStrike" baseline="0" dirty="0">
                <a:latin typeface="SabonLTStd-Roman"/>
              </a:rPr>
              <a:t> sequence in west Greenland (</a:t>
            </a:r>
            <a:r>
              <a:rPr lang="en-US" sz="1800" b="0" i="0" u="none" strike="noStrike" baseline="0" dirty="0" err="1">
                <a:latin typeface="SabonLTStd-Roman"/>
              </a:rPr>
              <a:t>Nutman</a:t>
            </a:r>
            <a:r>
              <a:rPr lang="en-US" sz="1800" b="0" i="0" u="none" strike="noStrike" baseline="0" dirty="0">
                <a:latin typeface="SabonLTStd-Roman"/>
              </a:rPr>
              <a:t> </a:t>
            </a:r>
            <a:r>
              <a:rPr lang="en-US" sz="1800" b="0" i="1" u="none" strike="noStrike" baseline="0" dirty="0">
                <a:latin typeface="SabonLTStd-Italic"/>
              </a:rPr>
              <a:t>et al</a:t>
            </a:r>
            <a:r>
              <a:rPr lang="en-US" sz="1800" b="0" i="0" u="none" strike="noStrike" baseline="0" dirty="0">
                <a:latin typeface="SabonLTStd-Roman"/>
              </a:rPr>
              <a:t>., 1997; Whitehouse </a:t>
            </a:r>
            <a:r>
              <a:rPr lang="en-US" sz="1800" b="0" i="1" u="none" strike="noStrike" baseline="0" dirty="0">
                <a:latin typeface="SabonLTStd-Italic"/>
              </a:rPr>
              <a:t>et al</a:t>
            </a:r>
            <a:r>
              <a:rPr lang="en-US" sz="1800" b="0" i="0" u="none" strike="noStrike" baseline="0" dirty="0">
                <a:latin typeface="SabonLTStd-Roman"/>
              </a:rPr>
              <a:t>., 1999) is indisputable evidence that liquid water was present on the Earth by that time.</a:t>
            </a:r>
          </a:p>
          <a:p>
            <a:pPr algn="just"/>
            <a:endParaRPr lang="en-US" dirty="0">
              <a:latin typeface="SabonLTStd-Roman"/>
            </a:endParaRPr>
          </a:p>
          <a:p>
            <a:pPr marL="285750" indent="-285750" algn="just">
              <a:buFont typeface="Wingdings" panose="05000000000000000000" pitchFamily="2" charset="2"/>
              <a:buChar char="Ø"/>
            </a:pPr>
            <a:r>
              <a:rPr lang="en-IN" sz="1800" b="0" i="0" u="none" strike="noStrike" baseline="0" dirty="0">
                <a:latin typeface="SabonLTStd-Roman"/>
              </a:rPr>
              <a:t>A much </a:t>
            </a:r>
            <a:r>
              <a:rPr lang="en-US" sz="1800" b="0" i="0" u="none" strike="noStrike" baseline="0" dirty="0">
                <a:latin typeface="SabonLTStd-Roman"/>
              </a:rPr>
              <a:t>earlier presence of liquid water on the Earth has been inferred from the </a:t>
            </a:r>
            <a:r>
              <a:rPr lang="en-US" sz="1800" b="0" i="0" u="none" strike="noStrike" baseline="0" dirty="0">
                <a:solidFill>
                  <a:schemeClr val="accent6"/>
                </a:solidFill>
                <a:latin typeface="SabonLTStd-Roman"/>
              </a:rPr>
              <a:t>18O-enriched oxygen isotope composition of &gt; 3900-Myr-old magmatic zircon </a:t>
            </a:r>
            <a:r>
              <a:rPr lang="en-US" sz="1800" b="0" i="0" u="none" strike="noStrike" baseline="0" dirty="0">
                <a:latin typeface="SabonLTStd-Roman"/>
              </a:rPr>
              <a:t>crystals recovered from the Jack Hills metasedimentary belt of Western Australia (</a:t>
            </a:r>
            <a:r>
              <a:rPr lang="en-US" sz="1800" b="0" i="0" u="none" strike="noStrike" baseline="0" dirty="0" err="1">
                <a:latin typeface="SabonLTStd-Roman"/>
              </a:rPr>
              <a:t>Mojzsis</a:t>
            </a:r>
            <a:r>
              <a:rPr lang="en-US" dirty="0">
                <a:latin typeface="SabonLTStd-Roman"/>
              </a:rPr>
              <a:t> </a:t>
            </a:r>
            <a:r>
              <a:rPr lang="en-IN" sz="1800" b="0" i="1" u="none" strike="noStrike" baseline="0" dirty="0">
                <a:latin typeface="SabonLTStd-Italic"/>
              </a:rPr>
              <a:t>et al</a:t>
            </a:r>
            <a:r>
              <a:rPr lang="en-IN" sz="1800" b="0" i="0" u="none" strike="noStrike" baseline="0" dirty="0">
                <a:latin typeface="SabonLTStd-Roman"/>
              </a:rPr>
              <a:t>., 2001; Peck </a:t>
            </a:r>
            <a:r>
              <a:rPr lang="en-IN" sz="1800" b="0" i="1" u="none" strike="noStrike" baseline="0" dirty="0">
                <a:latin typeface="SabonLTStd-Italic"/>
              </a:rPr>
              <a:t>et al</a:t>
            </a:r>
            <a:r>
              <a:rPr lang="en-IN" sz="1800" b="0" i="0" u="none" strike="noStrike" baseline="0" dirty="0">
                <a:latin typeface="SabonLTStd-Roman"/>
              </a:rPr>
              <a:t>., 2001; </a:t>
            </a:r>
            <a:r>
              <a:rPr lang="en-IN" sz="1800" b="0" i="0" u="none" strike="noStrike" baseline="0" dirty="0" err="1">
                <a:latin typeface="SabonLTStd-Roman"/>
              </a:rPr>
              <a:t>Cavosie</a:t>
            </a:r>
            <a:r>
              <a:rPr lang="en-IN" sz="1800" b="0" i="0" u="none" strike="noStrike" baseline="0" dirty="0">
                <a:latin typeface="SabonLTStd-Roman"/>
              </a:rPr>
              <a:t> </a:t>
            </a:r>
            <a:r>
              <a:rPr lang="en-IN" sz="1800" b="0" i="1" u="none" strike="noStrike" baseline="0" dirty="0">
                <a:latin typeface="SabonLTStd-Italic"/>
              </a:rPr>
              <a:t>et al</a:t>
            </a:r>
            <a:r>
              <a:rPr lang="en-IN" sz="1800" b="0" i="0" u="none" strike="noStrike" baseline="0" dirty="0">
                <a:latin typeface="SabonLTStd-Roman"/>
              </a:rPr>
              <a:t>., 2005)</a:t>
            </a:r>
            <a:endParaRPr lang="en-US" sz="1800" b="0" i="0" u="none" strike="noStrike" baseline="0" dirty="0">
              <a:latin typeface="SabonLTStd-Roman"/>
            </a:endParaRPr>
          </a:p>
          <a:p>
            <a:pPr algn="l"/>
            <a:endParaRPr lang="en-US" dirty="0">
              <a:latin typeface="SabonLTStd-Roman"/>
            </a:endParaRPr>
          </a:p>
          <a:p>
            <a:pPr algn="l"/>
            <a:endParaRPr lang="en-IN" dirty="0"/>
          </a:p>
        </p:txBody>
      </p:sp>
    </p:spTree>
    <p:extLst>
      <p:ext uri="{BB962C8B-B14F-4D97-AF65-F5344CB8AC3E}">
        <p14:creationId xmlns:p14="http://schemas.microsoft.com/office/powerpoint/2010/main" val="40689843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E18AEA-5580-0328-018C-4E13F125DE31}"/>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F314FF25-59F5-F5B8-315A-F842B45CD3B5}"/>
              </a:ext>
            </a:extLst>
          </p:cNvPr>
          <p:cNvSpPr txBox="1"/>
          <p:nvPr/>
        </p:nvSpPr>
        <p:spPr>
          <a:xfrm>
            <a:off x="0" y="8104"/>
            <a:ext cx="9144000" cy="523220"/>
          </a:xfrm>
          <a:prstGeom prst="rect">
            <a:avLst/>
          </a:prstGeom>
          <a:noFill/>
        </p:spPr>
        <p:txBody>
          <a:bodyPr wrap="square">
            <a:spAutoFit/>
          </a:bodyPr>
          <a:lstStyle/>
          <a:p>
            <a:pPr algn="ctr"/>
            <a:r>
              <a:rPr lang="en-US" sz="2800" dirty="0">
                <a:solidFill>
                  <a:schemeClr val="tx2"/>
                </a:solidFill>
                <a:latin typeface="+mn-lt"/>
                <a:ea typeface="+mj-ea"/>
                <a:cs typeface="+mj-cs"/>
              </a:rPr>
              <a:t>Evolution of the oceans over </a:t>
            </a:r>
            <a:r>
              <a:rPr lang="en-IN" sz="2800" dirty="0">
                <a:solidFill>
                  <a:schemeClr val="tx2"/>
                </a:solidFill>
                <a:latin typeface="+mn-lt"/>
                <a:ea typeface="+mj-ea"/>
                <a:cs typeface="+mj-cs"/>
              </a:rPr>
              <a:t>geologic time</a:t>
            </a:r>
          </a:p>
        </p:txBody>
      </p:sp>
      <p:sp>
        <p:nvSpPr>
          <p:cNvPr id="4" name="TextBox 3">
            <a:extLst>
              <a:ext uri="{FF2B5EF4-FFF2-40B4-BE49-F238E27FC236}">
                <a16:creationId xmlns:a16="http://schemas.microsoft.com/office/drawing/2014/main" id="{31D53F09-D4E7-A7CF-194F-4E35D0F4B11C}"/>
              </a:ext>
            </a:extLst>
          </p:cNvPr>
          <p:cNvSpPr txBox="1"/>
          <p:nvPr/>
        </p:nvSpPr>
        <p:spPr>
          <a:xfrm>
            <a:off x="457200" y="838200"/>
            <a:ext cx="8229600" cy="3139321"/>
          </a:xfrm>
          <a:prstGeom prst="rect">
            <a:avLst/>
          </a:prstGeom>
          <a:noFill/>
        </p:spPr>
        <p:txBody>
          <a:bodyPr wrap="square">
            <a:spAutoFit/>
          </a:bodyPr>
          <a:lstStyle/>
          <a:p>
            <a:pPr algn="l"/>
            <a:r>
              <a:rPr lang="en-IN" sz="1800" b="1" i="1" u="none" strike="noStrike" baseline="0" dirty="0">
                <a:latin typeface="SabonLTStd-BoldItalic"/>
              </a:rPr>
              <a:t>Source of waters</a:t>
            </a:r>
            <a:endParaRPr lang="en-IN" b="1" i="1" dirty="0">
              <a:latin typeface="SabonLTStd-BoldItalic"/>
            </a:endParaRPr>
          </a:p>
          <a:p>
            <a:pPr algn="l"/>
            <a:endParaRPr lang="en-IN" b="1" i="1" dirty="0">
              <a:latin typeface="SabonLTStd-BoldItalic"/>
            </a:endParaRPr>
          </a:p>
          <a:p>
            <a:pPr marL="285750" indent="-285750" algn="just">
              <a:buFont typeface="Wingdings" panose="05000000000000000000" pitchFamily="2" charset="2"/>
              <a:buChar char="q"/>
            </a:pPr>
            <a:r>
              <a:rPr lang="en-US" dirty="0">
                <a:latin typeface="SabonLTStd-Roman"/>
              </a:rPr>
              <a:t>S</a:t>
            </a:r>
            <a:r>
              <a:rPr lang="en-US" sz="1800" b="0" i="0" u="none" strike="noStrike" baseline="0" dirty="0">
                <a:latin typeface="SabonLTStd-Roman"/>
              </a:rPr>
              <a:t>ources of water in the terrestrial planets include:</a:t>
            </a:r>
          </a:p>
          <a:p>
            <a:pPr algn="just"/>
            <a:r>
              <a:rPr lang="en-US" sz="1800" b="0" i="0" u="none" strike="noStrike" baseline="0" dirty="0">
                <a:latin typeface="SabonLTStd-Roman"/>
              </a:rPr>
              <a:t> </a:t>
            </a:r>
          </a:p>
          <a:p>
            <a:pPr marL="285750" indent="-285750" algn="just">
              <a:buFont typeface="Wingdings" panose="05000000000000000000" pitchFamily="2" charset="2"/>
              <a:buChar char="Ø"/>
            </a:pPr>
            <a:r>
              <a:rPr lang="en-US" dirty="0">
                <a:latin typeface="SabonLTStd-Roman"/>
              </a:rPr>
              <a:t>C</a:t>
            </a:r>
            <a:r>
              <a:rPr lang="en-US" sz="1800" b="0" i="0" u="none" strike="noStrike" baseline="0" dirty="0">
                <a:latin typeface="SabonLTStd-Roman"/>
              </a:rPr>
              <a:t>omets; </a:t>
            </a:r>
          </a:p>
          <a:p>
            <a:pPr marL="285750" indent="-285750" algn="just">
              <a:buFont typeface="Wingdings" panose="05000000000000000000" pitchFamily="2" charset="2"/>
              <a:buChar char="Ø"/>
            </a:pPr>
            <a:endParaRPr lang="en-IN" sz="1800" b="0" i="0" u="none" strike="noStrike" baseline="0" dirty="0">
              <a:latin typeface="SabonLTStd-Roman"/>
            </a:endParaRPr>
          </a:p>
          <a:p>
            <a:pPr marL="285750" indent="-285750" algn="just">
              <a:buFont typeface="Wingdings" panose="05000000000000000000" pitchFamily="2" charset="2"/>
              <a:buChar char="Ø"/>
            </a:pPr>
            <a:r>
              <a:rPr lang="en-IN" dirty="0">
                <a:latin typeface="SabonLTStd-Roman"/>
              </a:rPr>
              <a:t>H</a:t>
            </a:r>
            <a:r>
              <a:rPr lang="en-IN" sz="1800" b="0" i="0" u="none" strike="noStrike" baseline="0" dirty="0">
                <a:latin typeface="SabonLTStd-Roman"/>
              </a:rPr>
              <a:t>ydrous asteroids</a:t>
            </a:r>
          </a:p>
          <a:p>
            <a:pPr marL="285750" indent="-285750" algn="just">
              <a:buFont typeface="Wingdings" panose="05000000000000000000" pitchFamily="2" charset="2"/>
              <a:buChar char="Ø"/>
            </a:pPr>
            <a:endParaRPr lang="en-IN" sz="1800" b="0" i="0" u="none" strike="noStrike" baseline="0" dirty="0">
              <a:latin typeface="SabonLTStd-Roman"/>
            </a:endParaRPr>
          </a:p>
          <a:p>
            <a:pPr marL="285750" indent="-285750" algn="just">
              <a:buFont typeface="Wingdings" panose="05000000000000000000" pitchFamily="2" charset="2"/>
              <a:buChar char="Ø"/>
            </a:pPr>
            <a:r>
              <a:rPr lang="en-IN" dirty="0">
                <a:latin typeface="SabonLTStd-Roman"/>
              </a:rPr>
              <a:t>P</a:t>
            </a:r>
            <a:r>
              <a:rPr lang="en-IN" sz="1800" b="0" i="0" u="none" strike="noStrike" baseline="0" dirty="0">
                <a:latin typeface="SabonLTStd-Roman"/>
              </a:rPr>
              <a:t>hyllosilicates migrating from </a:t>
            </a:r>
            <a:r>
              <a:rPr lang="en-US" sz="1800" b="0" i="0" u="none" strike="noStrike" baseline="0" dirty="0">
                <a:latin typeface="SabonLTStd-Roman"/>
              </a:rPr>
              <a:t>the asteroid belt</a:t>
            </a:r>
          </a:p>
          <a:p>
            <a:pPr marL="285750" indent="-285750" algn="just">
              <a:buFont typeface="Wingdings" panose="05000000000000000000" pitchFamily="2" charset="2"/>
              <a:buChar char="Ø"/>
            </a:pPr>
            <a:endParaRPr lang="en-US" dirty="0">
              <a:latin typeface="SabonLTStd-Roman"/>
            </a:endParaRPr>
          </a:p>
          <a:p>
            <a:pPr marL="285750" indent="-285750" algn="just">
              <a:buFont typeface="Wingdings" panose="05000000000000000000" pitchFamily="2" charset="2"/>
              <a:buChar char="Ø"/>
            </a:pPr>
            <a:r>
              <a:rPr lang="en-US" dirty="0">
                <a:latin typeface="SabonLTStd-Roman"/>
              </a:rPr>
              <a:t>A</a:t>
            </a:r>
            <a:r>
              <a:rPr lang="en-US" sz="1800" b="0" i="0" u="none" strike="noStrike" baseline="0" dirty="0">
                <a:latin typeface="SabonLTStd-Roman"/>
              </a:rPr>
              <a:t>ccreting “wet” planetesimals. : Adsorption of H₂O onto Dust Grains</a:t>
            </a:r>
            <a:endParaRPr lang="en-IN" dirty="0"/>
          </a:p>
        </p:txBody>
      </p:sp>
    </p:spTree>
    <p:extLst>
      <p:ext uri="{BB962C8B-B14F-4D97-AF65-F5344CB8AC3E}">
        <p14:creationId xmlns:p14="http://schemas.microsoft.com/office/powerpoint/2010/main" val="2911538656"/>
      </p:ext>
    </p:extLst>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8737</TotalTime>
  <Words>1183</Words>
  <Application>Microsoft Office PowerPoint</Application>
  <PresentationFormat>On-screen Show (4:3)</PresentationFormat>
  <Paragraphs>114</Paragraphs>
  <Slides>22</Slides>
  <Notes>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22</vt:i4>
      </vt:variant>
    </vt:vector>
  </HeadingPairs>
  <TitlesOfParts>
    <vt:vector size="34" baseType="lpstr">
      <vt:lpstr>Arial</vt:lpstr>
      <vt:lpstr>Arial MT</vt:lpstr>
      <vt:lpstr>Calibri</vt:lpstr>
      <vt:lpstr>Cambria Math</vt:lpstr>
      <vt:lpstr>SabonLTStd-Bold</vt:lpstr>
      <vt:lpstr>SabonLTStd-BoldItalic</vt:lpstr>
      <vt:lpstr>SabonLTStd-Italic</vt:lpstr>
      <vt:lpstr>SabonLTStd-Roman</vt:lpstr>
      <vt:lpstr>Symbol</vt:lpstr>
      <vt:lpstr>Times New Roman</vt:lpstr>
      <vt:lpstr>Wingdings</vt:lpstr>
      <vt:lpstr>Default Design</vt:lpstr>
      <vt:lpstr>EES203: Geochemistry </vt:lpstr>
      <vt:lpstr>Geochemical evolution of atmosphere</vt:lpstr>
      <vt:lpstr>Composition of Earth’s atmosphere</vt:lpstr>
      <vt:lpstr>Composition of Volcanic Gases</vt:lpstr>
      <vt:lpstr>Urey reaction: H2O + CO2 + CaSiO3 = CaCO3 + SiO2 + H2O</vt:lpstr>
      <vt:lpstr>EVOLUTION OF THE OCEAN-ATMOSPHERE SYSTEM: THE RISE OF FREE OXYGEN (O2)</vt:lpstr>
      <vt:lpstr>Evidence for the Rise of O2</vt:lpstr>
      <vt:lpstr>Banded Iron Formations</vt:lpstr>
      <vt:lpstr>Permian and Triassic redbeds in West Texas</vt:lpstr>
      <vt:lpstr>Possible evolution of Earth’s atmosphere over geologic time</vt:lpstr>
      <vt:lpstr>PowerPoint Presentation</vt:lpstr>
      <vt:lpstr>Geochemical evolution of hydrosphere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njcu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dfreile</dc:creator>
  <cp:lastModifiedBy>Dell</cp:lastModifiedBy>
  <cp:revision>219</cp:revision>
  <dcterms:created xsi:type="dcterms:W3CDTF">2005-10-26T18:01:58Z</dcterms:created>
  <dcterms:modified xsi:type="dcterms:W3CDTF">2025-03-02T04:46:51Z</dcterms:modified>
</cp:coreProperties>
</file>