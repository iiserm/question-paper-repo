
<file path=[Content_Types].xml><?xml version="1.0" encoding="utf-8"?>
<Types xmlns="http://schemas.openxmlformats.org/package/2006/content-types">
  <Default Extension="gif" ContentType="image/gif"/>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sldIdLst>
    <p:sldId id="256" r:id="rId2"/>
    <p:sldId id="302" r:id="rId3"/>
    <p:sldId id="414" r:id="rId4"/>
    <p:sldId id="303" r:id="rId5"/>
    <p:sldId id="308" r:id="rId6"/>
    <p:sldId id="304" r:id="rId7"/>
    <p:sldId id="305" r:id="rId8"/>
    <p:sldId id="306" r:id="rId9"/>
    <p:sldId id="263" r:id="rId10"/>
    <p:sldId id="264" r:id="rId11"/>
    <p:sldId id="265" r:id="rId12"/>
    <p:sldId id="426" r:id="rId13"/>
    <p:sldId id="271" r:id="rId14"/>
    <p:sldId id="269" r:id="rId15"/>
    <p:sldId id="416" r:id="rId16"/>
    <p:sldId id="417" r:id="rId17"/>
    <p:sldId id="278" r:id="rId18"/>
    <p:sldId id="431" r:id="rId19"/>
    <p:sldId id="268" r:id="rId20"/>
    <p:sldId id="418" r:id="rId21"/>
    <p:sldId id="284" r:id="rId22"/>
    <p:sldId id="419" r:id="rId23"/>
    <p:sldId id="430" r:id="rId24"/>
    <p:sldId id="286" r:id="rId25"/>
    <p:sldId id="287" r:id="rId26"/>
    <p:sldId id="429" r:id="rId27"/>
    <p:sldId id="428" r:id="rId28"/>
    <p:sldId id="427" r:id="rId29"/>
    <p:sldId id="420" r:id="rId30"/>
    <p:sldId id="421" r:id="rId31"/>
    <p:sldId id="274" r:id="rId32"/>
    <p:sldId id="275" r:id="rId33"/>
    <p:sldId id="433" r:id="rId34"/>
    <p:sldId id="272" r:id="rId35"/>
    <p:sldId id="424" r:id="rId36"/>
    <p:sldId id="279" r:id="rId37"/>
    <p:sldId id="280" r:id="rId38"/>
    <p:sldId id="282" r:id="rId39"/>
    <p:sldId id="434" r:id="rId40"/>
    <p:sldId id="425" r:id="rId41"/>
    <p:sldId id="361" r:id="rId42"/>
    <p:sldId id="372" r:id="rId43"/>
    <p:sldId id="373" r:id="rId44"/>
    <p:sldId id="360" r:id="rId45"/>
    <p:sldId id="386" r:id="rId46"/>
    <p:sldId id="415" r:id="rId47"/>
    <p:sldId id="266" r:id="rId48"/>
    <p:sldId id="267" r:id="rId49"/>
    <p:sldId id="436" r:id="rId50"/>
  </p:sldIdLst>
  <p:sldSz cx="9144000" cy="6858000" type="screen4x3"/>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61" d="100"/>
          <a:sy n="61" d="100"/>
        </p:scale>
        <p:origin x="764" y="60"/>
      </p:cViewPr>
      <p:guideLst>
        <p:guide orient="horz" pos="2160"/>
        <p:guide pos="2880"/>
      </p:guideLst>
    </p:cSldViewPr>
  </p:slideViewPr>
  <p:notesTextViewPr>
    <p:cViewPr>
      <p:scale>
        <a:sx n="100" d="100"/>
        <a:sy n="100" d="100"/>
      </p:scale>
      <p:origin x="0" y="0"/>
    </p:cViewPr>
  </p:notesTextViewPr>
  <p:sorterViewPr>
    <p:cViewPr>
      <p:scale>
        <a:sx n="66" d="100"/>
        <a:sy n="66" d="100"/>
      </p:scale>
      <p:origin x="0" y="74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 /><Relationship Id="rId18" Type="http://schemas.openxmlformats.org/officeDocument/2006/relationships/slide" Target="slides/slide17.xml" /><Relationship Id="rId26" Type="http://schemas.openxmlformats.org/officeDocument/2006/relationships/slide" Target="slides/slide25.xml" /><Relationship Id="rId39" Type="http://schemas.openxmlformats.org/officeDocument/2006/relationships/slide" Target="slides/slide38.xml" /><Relationship Id="rId21" Type="http://schemas.openxmlformats.org/officeDocument/2006/relationships/slide" Target="slides/slide20.xml" /><Relationship Id="rId34" Type="http://schemas.openxmlformats.org/officeDocument/2006/relationships/slide" Target="slides/slide33.xml" /><Relationship Id="rId42" Type="http://schemas.openxmlformats.org/officeDocument/2006/relationships/slide" Target="slides/slide41.xml" /><Relationship Id="rId47" Type="http://schemas.openxmlformats.org/officeDocument/2006/relationships/slide" Target="slides/slide46.xml" /><Relationship Id="rId50" Type="http://schemas.openxmlformats.org/officeDocument/2006/relationships/slide" Target="slides/slide49.xml" /><Relationship Id="rId55" Type="http://schemas.openxmlformats.org/officeDocument/2006/relationships/tableStyles" Target="tableStyles.xml" /><Relationship Id="rId7" Type="http://schemas.openxmlformats.org/officeDocument/2006/relationships/slide" Target="slides/slide6.xml" /><Relationship Id="rId12" Type="http://schemas.openxmlformats.org/officeDocument/2006/relationships/slide" Target="slides/slide11.xml" /><Relationship Id="rId17" Type="http://schemas.openxmlformats.org/officeDocument/2006/relationships/slide" Target="slides/slide16.xml" /><Relationship Id="rId25" Type="http://schemas.openxmlformats.org/officeDocument/2006/relationships/slide" Target="slides/slide24.xml" /><Relationship Id="rId33" Type="http://schemas.openxmlformats.org/officeDocument/2006/relationships/slide" Target="slides/slide32.xml" /><Relationship Id="rId38" Type="http://schemas.openxmlformats.org/officeDocument/2006/relationships/slide" Target="slides/slide37.xml" /><Relationship Id="rId46" Type="http://schemas.openxmlformats.org/officeDocument/2006/relationships/slide" Target="slides/slide45.xml" /><Relationship Id="rId2" Type="http://schemas.openxmlformats.org/officeDocument/2006/relationships/slide" Target="slides/slide1.xml" /><Relationship Id="rId16" Type="http://schemas.openxmlformats.org/officeDocument/2006/relationships/slide" Target="slides/slide15.xml" /><Relationship Id="rId20" Type="http://schemas.openxmlformats.org/officeDocument/2006/relationships/slide" Target="slides/slide19.xml" /><Relationship Id="rId29" Type="http://schemas.openxmlformats.org/officeDocument/2006/relationships/slide" Target="slides/slide28.xml" /><Relationship Id="rId41" Type="http://schemas.openxmlformats.org/officeDocument/2006/relationships/slide" Target="slides/slide40.xml" /><Relationship Id="rId54" Type="http://schemas.openxmlformats.org/officeDocument/2006/relationships/theme" Target="theme/theme1.xml" /><Relationship Id="rId1" Type="http://schemas.openxmlformats.org/officeDocument/2006/relationships/slideMaster" Target="slideMasters/slideMaster1.xml" /><Relationship Id="rId6" Type="http://schemas.openxmlformats.org/officeDocument/2006/relationships/slide" Target="slides/slide5.xml" /><Relationship Id="rId11" Type="http://schemas.openxmlformats.org/officeDocument/2006/relationships/slide" Target="slides/slide10.xml" /><Relationship Id="rId24" Type="http://schemas.openxmlformats.org/officeDocument/2006/relationships/slide" Target="slides/slide23.xml" /><Relationship Id="rId32" Type="http://schemas.openxmlformats.org/officeDocument/2006/relationships/slide" Target="slides/slide31.xml" /><Relationship Id="rId37" Type="http://schemas.openxmlformats.org/officeDocument/2006/relationships/slide" Target="slides/slide36.xml" /><Relationship Id="rId40" Type="http://schemas.openxmlformats.org/officeDocument/2006/relationships/slide" Target="slides/slide39.xml" /><Relationship Id="rId45" Type="http://schemas.openxmlformats.org/officeDocument/2006/relationships/slide" Target="slides/slide44.xml" /><Relationship Id="rId53" Type="http://schemas.openxmlformats.org/officeDocument/2006/relationships/viewProps" Target="viewProps.xml" /><Relationship Id="rId5" Type="http://schemas.openxmlformats.org/officeDocument/2006/relationships/slide" Target="slides/slide4.xml" /><Relationship Id="rId15" Type="http://schemas.openxmlformats.org/officeDocument/2006/relationships/slide" Target="slides/slide14.xml" /><Relationship Id="rId23" Type="http://schemas.openxmlformats.org/officeDocument/2006/relationships/slide" Target="slides/slide22.xml" /><Relationship Id="rId28" Type="http://schemas.openxmlformats.org/officeDocument/2006/relationships/slide" Target="slides/slide27.xml" /><Relationship Id="rId36" Type="http://schemas.openxmlformats.org/officeDocument/2006/relationships/slide" Target="slides/slide35.xml" /><Relationship Id="rId49" Type="http://schemas.openxmlformats.org/officeDocument/2006/relationships/slide" Target="slides/slide48.xml" /><Relationship Id="rId10" Type="http://schemas.openxmlformats.org/officeDocument/2006/relationships/slide" Target="slides/slide9.xml" /><Relationship Id="rId19" Type="http://schemas.openxmlformats.org/officeDocument/2006/relationships/slide" Target="slides/slide18.xml" /><Relationship Id="rId31" Type="http://schemas.openxmlformats.org/officeDocument/2006/relationships/slide" Target="slides/slide30.xml" /><Relationship Id="rId44" Type="http://schemas.openxmlformats.org/officeDocument/2006/relationships/slide" Target="slides/slide43.xml" /><Relationship Id="rId52" Type="http://schemas.openxmlformats.org/officeDocument/2006/relationships/presProps" Target="presProps.xml" /><Relationship Id="rId4" Type="http://schemas.openxmlformats.org/officeDocument/2006/relationships/slide" Target="slides/slide3.xml" /><Relationship Id="rId9" Type="http://schemas.openxmlformats.org/officeDocument/2006/relationships/slide" Target="slides/slide8.xml" /><Relationship Id="rId14" Type="http://schemas.openxmlformats.org/officeDocument/2006/relationships/slide" Target="slides/slide13.xml" /><Relationship Id="rId22" Type="http://schemas.openxmlformats.org/officeDocument/2006/relationships/slide" Target="slides/slide21.xml" /><Relationship Id="rId27" Type="http://schemas.openxmlformats.org/officeDocument/2006/relationships/slide" Target="slides/slide26.xml" /><Relationship Id="rId30" Type="http://schemas.openxmlformats.org/officeDocument/2006/relationships/slide" Target="slides/slide29.xml" /><Relationship Id="rId35" Type="http://schemas.openxmlformats.org/officeDocument/2006/relationships/slide" Target="slides/slide34.xml" /><Relationship Id="rId43" Type="http://schemas.openxmlformats.org/officeDocument/2006/relationships/slide" Target="slides/slide42.xml" /><Relationship Id="rId48" Type="http://schemas.openxmlformats.org/officeDocument/2006/relationships/slide" Target="slides/slide47.xml" /><Relationship Id="rId8" Type="http://schemas.openxmlformats.org/officeDocument/2006/relationships/slide" Target="slides/slide7.xml" /><Relationship Id="rId51" Type="http://schemas.openxmlformats.org/officeDocument/2006/relationships/notesMaster" Target="notesMasters/notesMaster1.xml" /><Relationship Id="rId3" Type="http://schemas.openxmlformats.org/officeDocument/2006/relationships/slide" Target="slides/slide2.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B12BC94-826C-44CC-9139-4D8AF4CCD754}"/>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Arial" charset="0"/>
              </a:defRPr>
            </a:lvl1pPr>
          </a:lstStyle>
          <a:p>
            <a:pPr>
              <a:defRPr/>
            </a:pPr>
            <a:endParaRPr lang="en-IN"/>
          </a:p>
        </p:txBody>
      </p:sp>
      <p:sp>
        <p:nvSpPr>
          <p:cNvPr id="3" name="Date Placeholder 2">
            <a:extLst>
              <a:ext uri="{FF2B5EF4-FFF2-40B4-BE49-F238E27FC236}">
                <a16:creationId xmlns:a16="http://schemas.microsoft.com/office/drawing/2014/main" id="{405DB217-5036-48E7-9F80-D8568EC4E5C6}"/>
              </a:ext>
            </a:extLst>
          </p:cNvPr>
          <p:cNvSpPr>
            <a:spLocks noGrp="1"/>
          </p:cNvSpPr>
          <p:nvPr>
            <p:ph type="dt" idx="1"/>
          </p:nvPr>
        </p:nvSpPr>
        <p:spPr>
          <a:xfrm>
            <a:off x="3884613" y="0"/>
            <a:ext cx="2971800" cy="457200"/>
          </a:xfrm>
          <a:prstGeom prst="rect">
            <a:avLst/>
          </a:prstGeom>
        </p:spPr>
        <p:txBody>
          <a:bodyPr vert="horz" lIns="91440" tIns="45720" rIns="91440" bIns="45720" rtlCol="0"/>
          <a:lstStyle>
            <a:lvl1pPr algn="r" eaLnBrk="1" hangingPunct="1">
              <a:defRPr sz="1200">
                <a:latin typeface="Arial" charset="0"/>
              </a:defRPr>
            </a:lvl1pPr>
          </a:lstStyle>
          <a:p>
            <a:pPr>
              <a:defRPr/>
            </a:pPr>
            <a:fld id="{4495E4C6-17AD-4BA4-85ED-1CEF5353A859}" type="datetimeFigureOut">
              <a:rPr lang="en-IN"/>
              <a:pPr>
                <a:defRPr/>
              </a:pPr>
              <a:t>05-02-2025</a:t>
            </a:fld>
            <a:endParaRPr lang="en-IN"/>
          </a:p>
        </p:txBody>
      </p:sp>
      <p:sp>
        <p:nvSpPr>
          <p:cNvPr id="4" name="Slide Image Placeholder 3">
            <a:extLst>
              <a:ext uri="{FF2B5EF4-FFF2-40B4-BE49-F238E27FC236}">
                <a16:creationId xmlns:a16="http://schemas.microsoft.com/office/drawing/2014/main" id="{6E099106-0BB6-43A6-A3E2-09D734B298C9}"/>
              </a:ext>
            </a:extLst>
          </p:cNvPr>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IN" noProof="0"/>
          </a:p>
        </p:txBody>
      </p:sp>
      <p:sp>
        <p:nvSpPr>
          <p:cNvPr id="5" name="Notes Placeholder 4">
            <a:extLst>
              <a:ext uri="{FF2B5EF4-FFF2-40B4-BE49-F238E27FC236}">
                <a16:creationId xmlns:a16="http://schemas.microsoft.com/office/drawing/2014/main" id="{DFBCB12F-E21B-4BB3-98A4-F84DE794225D}"/>
              </a:ext>
            </a:extLst>
          </p:cNvPr>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IN" noProof="0"/>
          </a:p>
        </p:txBody>
      </p:sp>
      <p:sp>
        <p:nvSpPr>
          <p:cNvPr id="6" name="Footer Placeholder 5">
            <a:extLst>
              <a:ext uri="{FF2B5EF4-FFF2-40B4-BE49-F238E27FC236}">
                <a16:creationId xmlns:a16="http://schemas.microsoft.com/office/drawing/2014/main" id="{B7B2BC49-BC64-4703-B80A-9476428F9481}"/>
              </a:ext>
            </a:extLst>
          </p:cNvPr>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1" hangingPunct="1">
              <a:defRPr sz="1200">
                <a:latin typeface="Arial" charset="0"/>
              </a:defRPr>
            </a:lvl1pPr>
          </a:lstStyle>
          <a:p>
            <a:pPr>
              <a:defRPr/>
            </a:pPr>
            <a:endParaRPr lang="en-IN"/>
          </a:p>
        </p:txBody>
      </p:sp>
      <p:sp>
        <p:nvSpPr>
          <p:cNvPr id="7" name="Slide Number Placeholder 6">
            <a:extLst>
              <a:ext uri="{FF2B5EF4-FFF2-40B4-BE49-F238E27FC236}">
                <a16:creationId xmlns:a16="http://schemas.microsoft.com/office/drawing/2014/main" id="{26FD10B2-65DA-4A6A-9411-A7CE5F94A9C7}"/>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vl1pPr>
          </a:lstStyle>
          <a:p>
            <a:pPr>
              <a:defRPr/>
            </a:pPr>
            <a:fld id="{DA50488F-DB6A-40AC-8FA4-772BF47F0323}" type="slidenum">
              <a:rPr lang="en-IN" altLang="en-US"/>
              <a:pPr>
                <a:defRPr/>
              </a:pPr>
              <a:t>‹#›</a:t>
            </a:fld>
            <a:endParaRPr lang="en-IN"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a:extLst>
              <a:ext uri="{FF2B5EF4-FFF2-40B4-BE49-F238E27FC236}">
                <a16:creationId xmlns:a16="http://schemas.microsoft.com/office/drawing/2014/main" id="{0A05764E-8255-42A8-A75E-A2201060A7E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fld id="{D0A07EF6-D995-4030-ABDF-DCA9F0A51AD2}" type="slidenum">
              <a:rPr lang="en-US" altLang="en-US"/>
              <a:pPr eaLnBrk="1" hangingPunct="1"/>
              <a:t>42</a:t>
            </a:fld>
            <a:endParaRPr lang="en-US" altLang="en-US"/>
          </a:p>
        </p:txBody>
      </p:sp>
      <p:sp>
        <p:nvSpPr>
          <p:cNvPr id="34819" name="Rectangle 2">
            <a:extLst>
              <a:ext uri="{FF2B5EF4-FFF2-40B4-BE49-F238E27FC236}">
                <a16:creationId xmlns:a16="http://schemas.microsoft.com/office/drawing/2014/main" id="{AC3524FB-399F-486B-8775-508B14D1301C}"/>
              </a:ext>
            </a:extLst>
          </p:cNvPr>
          <p:cNvSpPr>
            <a:spLocks noGrp="1" noRot="1" noChangeAspect="1" noChangeArrowheads="1" noTextEdit="1"/>
          </p:cNvSpPr>
          <p:nvPr>
            <p:ph type="sldImg"/>
          </p:nvPr>
        </p:nvSpPr>
        <p:spPr>
          <a:ln/>
        </p:spPr>
      </p:sp>
      <p:sp>
        <p:nvSpPr>
          <p:cNvPr id="34820" name="Rectangle 3">
            <a:extLst>
              <a:ext uri="{FF2B5EF4-FFF2-40B4-BE49-F238E27FC236}">
                <a16:creationId xmlns:a16="http://schemas.microsoft.com/office/drawing/2014/main" id="{81B5BBD8-43B1-407C-A1A5-9F354E6E18D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7">
            <a:extLst>
              <a:ext uri="{FF2B5EF4-FFF2-40B4-BE49-F238E27FC236}">
                <a16:creationId xmlns:a16="http://schemas.microsoft.com/office/drawing/2014/main" id="{54BDCB0E-61E3-4614-9AC9-784BA30D2DB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fld id="{BCAED6BF-C32E-4927-B931-C6F49FA3788A}" type="slidenum">
              <a:rPr lang="en-US" altLang="en-US"/>
              <a:pPr eaLnBrk="1" hangingPunct="1"/>
              <a:t>43</a:t>
            </a:fld>
            <a:endParaRPr lang="en-US" altLang="en-US"/>
          </a:p>
        </p:txBody>
      </p:sp>
      <p:sp>
        <p:nvSpPr>
          <p:cNvPr id="35843" name="Rectangle 2">
            <a:extLst>
              <a:ext uri="{FF2B5EF4-FFF2-40B4-BE49-F238E27FC236}">
                <a16:creationId xmlns:a16="http://schemas.microsoft.com/office/drawing/2014/main" id="{36826300-BE32-4F88-B2F6-58459B15322E}"/>
              </a:ext>
            </a:extLst>
          </p:cNvPr>
          <p:cNvSpPr>
            <a:spLocks noGrp="1" noRot="1" noChangeAspect="1" noChangeArrowheads="1" noTextEdit="1"/>
          </p:cNvSpPr>
          <p:nvPr>
            <p:ph type="sldImg"/>
          </p:nvPr>
        </p:nvSpPr>
        <p:spPr>
          <a:ln/>
        </p:spPr>
      </p:sp>
      <p:sp>
        <p:nvSpPr>
          <p:cNvPr id="35844" name="Rectangle 3">
            <a:extLst>
              <a:ext uri="{FF2B5EF4-FFF2-40B4-BE49-F238E27FC236}">
                <a16:creationId xmlns:a16="http://schemas.microsoft.com/office/drawing/2014/main" id="{8CC5E8EB-354C-4385-9C1B-FDB133FDEA9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a:extLst>
              <a:ext uri="{FF2B5EF4-FFF2-40B4-BE49-F238E27FC236}">
                <a16:creationId xmlns:a16="http://schemas.microsoft.com/office/drawing/2014/main" id="{ACB425AC-A054-4E2F-9248-9C3F7700AA5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fld id="{7287DFE1-CAB2-46F3-A351-C6E67CCEA9BD}" type="slidenum">
              <a:rPr lang="en-US" altLang="en-US"/>
              <a:pPr eaLnBrk="1" hangingPunct="1"/>
              <a:t>44</a:t>
            </a:fld>
            <a:endParaRPr lang="en-US" altLang="en-US"/>
          </a:p>
        </p:txBody>
      </p:sp>
      <p:sp>
        <p:nvSpPr>
          <p:cNvPr id="36867" name="Rectangle 2">
            <a:extLst>
              <a:ext uri="{FF2B5EF4-FFF2-40B4-BE49-F238E27FC236}">
                <a16:creationId xmlns:a16="http://schemas.microsoft.com/office/drawing/2014/main" id="{6843DC8C-26EA-4A70-8A8E-D0C0CE1BAD0D}"/>
              </a:ext>
            </a:extLst>
          </p:cNvPr>
          <p:cNvSpPr>
            <a:spLocks noGrp="1" noRot="1" noChangeAspect="1" noChangeArrowheads="1" noTextEdit="1"/>
          </p:cNvSpPr>
          <p:nvPr>
            <p:ph type="sldImg"/>
          </p:nvPr>
        </p:nvSpPr>
        <p:spPr>
          <a:ln/>
        </p:spPr>
      </p:sp>
      <p:sp>
        <p:nvSpPr>
          <p:cNvPr id="36868" name="Rectangle 3">
            <a:extLst>
              <a:ext uri="{FF2B5EF4-FFF2-40B4-BE49-F238E27FC236}">
                <a16:creationId xmlns:a16="http://schemas.microsoft.com/office/drawing/2014/main" id="{2EBFE093-4DC7-41BE-B677-43810F44912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7">
            <a:extLst>
              <a:ext uri="{FF2B5EF4-FFF2-40B4-BE49-F238E27FC236}">
                <a16:creationId xmlns:a16="http://schemas.microsoft.com/office/drawing/2014/main" id="{C681FA0F-4BFB-4DE7-B6C9-53073AA9162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fld id="{6FBA0E14-FE9D-449D-B6AE-6669B8A28083}" type="slidenum">
              <a:rPr lang="en-US" altLang="en-US"/>
              <a:pPr eaLnBrk="1" hangingPunct="1"/>
              <a:t>45</a:t>
            </a:fld>
            <a:endParaRPr lang="en-US" altLang="en-US"/>
          </a:p>
        </p:txBody>
      </p:sp>
      <p:sp>
        <p:nvSpPr>
          <p:cNvPr id="38915" name="Rectangle 2">
            <a:extLst>
              <a:ext uri="{FF2B5EF4-FFF2-40B4-BE49-F238E27FC236}">
                <a16:creationId xmlns:a16="http://schemas.microsoft.com/office/drawing/2014/main" id="{9D9D2296-0D0E-4E10-993D-A9AAF63F11B7}"/>
              </a:ext>
            </a:extLst>
          </p:cNvPr>
          <p:cNvSpPr>
            <a:spLocks noGrp="1" noRot="1" noChangeAspect="1" noChangeArrowheads="1" noTextEdit="1"/>
          </p:cNvSpPr>
          <p:nvPr>
            <p:ph type="sldImg"/>
          </p:nvPr>
        </p:nvSpPr>
        <p:spPr>
          <a:ln/>
        </p:spPr>
      </p:sp>
      <p:sp>
        <p:nvSpPr>
          <p:cNvPr id="38916" name="Rectangle 3">
            <a:extLst>
              <a:ext uri="{FF2B5EF4-FFF2-40B4-BE49-F238E27FC236}">
                <a16:creationId xmlns:a16="http://schemas.microsoft.com/office/drawing/2014/main" id="{A02B61BE-D607-403D-BF70-5E173BD59C4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endParaRPr lang="en-IN"/>
          </a:p>
        </p:txBody>
      </p:sp>
      <p:sp>
        <p:nvSpPr>
          <p:cNvPr id="4" name="Rectangle 4">
            <a:extLst>
              <a:ext uri="{FF2B5EF4-FFF2-40B4-BE49-F238E27FC236}">
                <a16:creationId xmlns:a16="http://schemas.microsoft.com/office/drawing/2014/main" id="{DBEE118F-D257-4318-A3A2-EECA19410BF3}"/>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4C97103C-CE56-4C35-B5D2-E932D10544C4}"/>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631569ED-472A-4591-B1C8-91A8AA55F43B}"/>
              </a:ext>
            </a:extLst>
          </p:cNvPr>
          <p:cNvSpPr>
            <a:spLocks noGrp="1" noChangeArrowheads="1"/>
          </p:cNvSpPr>
          <p:nvPr>
            <p:ph type="sldNum" sz="quarter" idx="12"/>
          </p:nvPr>
        </p:nvSpPr>
        <p:spPr>
          <a:ln/>
        </p:spPr>
        <p:txBody>
          <a:bodyPr/>
          <a:lstStyle>
            <a:lvl1pPr>
              <a:defRPr/>
            </a:lvl1pPr>
          </a:lstStyle>
          <a:p>
            <a:pPr>
              <a:defRPr/>
            </a:pPr>
            <a:fld id="{E91EFD36-5984-457D-BADD-B4A3F349C23E}" type="slidenum">
              <a:rPr lang="en-US" altLang="en-US"/>
              <a:pPr>
                <a:defRPr/>
              </a:pPr>
              <a:t>‹#›</a:t>
            </a:fld>
            <a:endParaRPr lang="en-US" altLang="en-US"/>
          </a:p>
        </p:txBody>
      </p:sp>
    </p:spTree>
    <p:extLst>
      <p:ext uri="{BB962C8B-B14F-4D97-AF65-F5344CB8AC3E}">
        <p14:creationId xmlns:p14="http://schemas.microsoft.com/office/powerpoint/2010/main" val="42549790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Rectangle 4">
            <a:extLst>
              <a:ext uri="{FF2B5EF4-FFF2-40B4-BE49-F238E27FC236}">
                <a16:creationId xmlns:a16="http://schemas.microsoft.com/office/drawing/2014/main" id="{4C13EFD9-AB6D-434D-BC2E-8B73CC13FEA3}"/>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4B0ED277-8375-4E95-B412-94EF1677FAD8}"/>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D71C59AB-1EAD-4FD8-95DC-AD356CFA4FC2}"/>
              </a:ext>
            </a:extLst>
          </p:cNvPr>
          <p:cNvSpPr>
            <a:spLocks noGrp="1" noChangeArrowheads="1"/>
          </p:cNvSpPr>
          <p:nvPr>
            <p:ph type="sldNum" sz="quarter" idx="12"/>
          </p:nvPr>
        </p:nvSpPr>
        <p:spPr>
          <a:ln/>
        </p:spPr>
        <p:txBody>
          <a:bodyPr/>
          <a:lstStyle>
            <a:lvl1pPr>
              <a:defRPr/>
            </a:lvl1pPr>
          </a:lstStyle>
          <a:p>
            <a:pPr>
              <a:defRPr/>
            </a:pPr>
            <a:fld id="{196D8436-06A3-43A4-BA5B-8AF70AEB648F}" type="slidenum">
              <a:rPr lang="en-US" altLang="en-US"/>
              <a:pPr>
                <a:defRPr/>
              </a:pPr>
              <a:t>‹#›</a:t>
            </a:fld>
            <a:endParaRPr lang="en-US" altLang="en-US"/>
          </a:p>
        </p:txBody>
      </p:sp>
    </p:spTree>
    <p:extLst>
      <p:ext uri="{BB962C8B-B14F-4D97-AF65-F5344CB8AC3E}">
        <p14:creationId xmlns:p14="http://schemas.microsoft.com/office/powerpoint/2010/main" val="30275482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8924E2C6-9E75-43EE-99CD-453E04C86553}"/>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25018E45-3328-444D-8796-75B3B701D17E}"/>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8A16A509-F4A7-48F3-809D-CBD23ED80F55}"/>
              </a:ext>
            </a:extLst>
          </p:cNvPr>
          <p:cNvSpPr>
            <a:spLocks noGrp="1" noChangeArrowheads="1"/>
          </p:cNvSpPr>
          <p:nvPr>
            <p:ph type="sldNum" sz="quarter" idx="12"/>
          </p:nvPr>
        </p:nvSpPr>
        <p:spPr>
          <a:ln/>
        </p:spPr>
        <p:txBody>
          <a:bodyPr/>
          <a:lstStyle>
            <a:lvl1pPr>
              <a:defRPr/>
            </a:lvl1pPr>
          </a:lstStyle>
          <a:p>
            <a:pPr>
              <a:defRPr/>
            </a:pPr>
            <a:fld id="{D3974763-CD29-4242-A606-D01C110AD1A3}" type="slidenum">
              <a:rPr lang="en-US" altLang="en-US"/>
              <a:pPr>
                <a:defRPr/>
              </a:pPr>
              <a:t>‹#›</a:t>
            </a:fld>
            <a:endParaRPr lang="en-US" altLang="en-US"/>
          </a:p>
        </p:txBody>
      </p:sp>
    </p:spTree>
    <p:extLst>
      <p:ext uri="{BB962C8B-B14F-4D97-AF65-F5344CB8AC3E}">
        <p14:creationId xmlns:p14="http://schemas.microsoft.com/office/powerpoint/2010/main" val="39860142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Rectangle 4">
            <a:extLst>
              <a:ext uri="{FF2B5EF4-FFF2-40B4-BE49-F238E27FC236}">
                <a16:creationId xmlns:a16="http://schemas.microsoft.com/office/drawing/2014/main" id="{1D060A66-D792-4197-A450-15640D1F3CB3}"/>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5139D150-B008-4810-A642-BB58C29B5761}"/>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BBECF246-2CD9-4EFD-B3F8-DA766CBABFB9}"/>
              </a:ext>
            </a:extLst>
          </p:cNvPr>
          <p:cNvSpPr>
            <a:spLocks noGrp="1" noChangeArrowheads="1"/>
          </p:cNvSpPr>
          <p:nvPr>
            <p:ph type="sldNum" sz="quarter" idx="12"/>
          </p:nvPr>
        </p:nvSpPr>
        <p:spPr>
          <a:ln/>
        </p:spPr>
        <p:txBody>
          <a:bodyPr/>
          <a:lstStyle>
            <a:lvl1pPr>
              <a:defRPr/>
            </a:lvl1pPr>
          </a:lstStyle>
          <a:p>
            <a:pPr>
              <a:defRPr/>
            </a:pPr>
            <a:fld id="{32343884-E97C-43AC-91BE-818B2A6132AF}" type="slidenum">
              <a:rPr lang="en-US" altLang="en-US"/>
              <a:pPr>
                <a:defRPr/>
              </a:pPr>
              <a:t>‹#›</a:t>
            </a:fld>
            <a:endParaRPr lang="en-US" altLang="en-US"/>
          </a:p>
        </p:txBody>
      </p:sp>
    </p:spTree>
    <p:extLst>
      <p:ext uri="{BB962C8B-B14F-4D97-AF65-F5344CB8AC3E}">
        <p14:creationId xmlns:p14="http://schemas.microsoft.com/office/powerpoint/2010/main" val="3532149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Rectangle 4">
            <a:extLst>
              <a:ext uri="{FF2B5EF4-FFF2-40B4-BE49-F238E27FC236}">
                <a16:creationId xmlns:a16="http://schemas.microsoft.com/office/drawing/2014/main" id="{695DB130-3059-4B58-BDA5-BD072F56A81F}"/>
              </a:ext>
            </a:extLst>
          </p:cNvPr>
          <p:cNvSpPr>
            <a:spLocks noGrp="1" noChangeArrowheads="1"/>
          </p:cNvSpPr>
          <p:nvPr>
            <p:ph type="dt" sz="half" idx="10"/>
          </p:nvPr>
        </p:nvSpPr>
        <p:spPr>
          <a:ln/>
        </p:spPr>
        <p:txBody>
          <a:bodyPr/>
          <a:lstStyle>
            <a:lvl1pPr>
              <a:defRPr/>
            </a:lvl1pPr>
          </a:lstStyle>
          <a:p>
            <a:pPr>
              <a:defRPr/>
            </a:pPr>
            <a:endParaRPr lang="en-US"/>
          </a:p>
        </p:txBody>
      </p:sp>
      <p:sp>
        <p:nvSpPr>
          <p:cNvPr id="8" name="Rectangle 5">
            <a:extLst>
              <a:ext uri="{FF2B5EF4-FFF2-40B4-BE49-F238E27FC236}">
                <a16:creationId xmlns:a16="http://schemas.microsoft.com/office/drawing/2014/main" id="{9754EE56-C6A2-4D14-AF3C-BAE635180FF1}"/>
              </a:ext>
            </a:extLst>
          </p:cNvPr>
          <p:cNvSpPr>
            <a:spLocks noGrp="1" noChangeArrowheads="1"/>
          </p:cNvSpPr>
          <p:nvPr>
            <p:ph type="ftr" sz="quarter" idx="11"/>
          </p:nvPr>
        </p:nvSpPr>
        <p:spPr>
          <a:ln/>
        </p:spPr>
        <p:txBody>
          <a:bodyPr/>
          <a:lstStyle>
            <a:lvl1pPr>
              <a:defRPr/>
            </a:lvl1pPr>
          </a:lstStyle>
          <a:p>
            <a:pPr>
              <a:defRPr/>
            </a:pPr>
            <a:endParaRPr lang="en-US"/>
          </a:p>
        </p:txBody>
      </p:sp>
      <p:sp>
        <p:nvSpPr>
          <p:cNvPr id="9" name="Rectangle 6">
            <a:extLst>
              <a:ext uri="{FF2B5EF4-FFF2-40B4-BE49-F238E27FC236}">
                <a16:creationId xmlns:a16="http://schemas.microsoft.com/office/drawing/2014/main" id="{E24C1A1F-C41E-4454-A02E-BDE2567839B8}"/>
              </a:ext>
            </a:extLst>
          </p:cNvPr>
          <p:cNvSpPr>
            <a:spLocks noGrp="1" noChangeArrowheads="1"/>
          </p:cNvSpPr>
          <p:nvPr>
            <p:ph type="sldNum" sz="quarter" idx="12"/>
          </p:nvPr>
        </p:nvSpPr>
        <p:spPr>
          <a:ln/>
        </p:spPr>
        <p:txBody>
          <a:bodyPr/>
          <a:lstStyle>
            <a:lvl1pPr>
              <a:defRPr/>
            </a:lvl1pPr>
          </a:lstStyle>
          <a:p>
            <a:pPr>
              <a:defRPr/>
            </a:pPr>
            <a:fld id="{C052C66B-8C25-4FE5-81EA-D279F10B6BD3}" type="slidenum">
              <a:rPr lang="en-US" altLang="en-US"/>
              <a:pPr>
                <a:defRPr/>
              </a:pPr>
              <a:t>‹#›</a:t>
            </a:fld>
            <a:endParaRPr lang="en-US" altLang="en-US"/>
          </a:p>
        </p:txBody>
      </p:sp>
    </p:spTree>
    <p:extLst>
      <p:ext uri="{BB962C8B-B14F-4D97-AF65-F5344CB8AC3E}">
        <p14:creationId xmlns:p14="http://schemas.microsoft.com/office/powerpoint/2010/main" val="34111315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Rectangle 4">
            <a:extLst>
              <a:ext uri="{FF2B5EF4-FFF2-40B4-BE49-F238E27FC236}">
                <a16:creationId xmlns:a16="http://schemas.microsoft.com/office/drawing/2014/main" id="{8073D249-74BA-4FC7-9180-228CFD77E1BA}"/>
              </a:ext>
            </a:extLst>
          </p:cNvPr>
          <p:cNvSpPr>
            <a:spLocks noGrp="1" noChangeArrowheads="1"/>
          </p:cNvSpPr>
          <p:nvPr>
            <p:ph type="dt" sz="half" idx="10"/>
          </p:nvPr>
        </p:nvSpPr>
        <p:spPr>
          <a:ln/>
        </p:spPr>
        <p:txBody>
          <a:bodyPr/>
          <a:lstStyle>
            <a:lvl1pPr>
              <a:defRPr/>
            </a:lvl1pPr>
          </a:lstStyle>
          <a:p>
            <a:pPr>
              <a:defRPr/>
            </a:pPr>
            <a:endParaRPr lang="en-US"/>
          </a:p>
        </p:txBody>
      </p:sp>
      <p:sp>
        <p:nvSpPr>
          <p:cNvPr id="4" name="Rectangle 5">
            <a:extLst>
              <a:ext uri="{FF2B5EF4-FFF2-40B4-BE49-F238E27FC236}">
                <a16:creationId xmlns:a16="http://schemas.microsoft.com/office/drawing/2014/main" id="{2DD93F01-8B96-4D54-88E5-CA53B833D85F}"/>
              </a:ext>
            </a:extLst>
          </p:cNvPr>
          <p:cNvSpPr>
            <a:spLocks noGrp="1" noChangeArrowheads="1"/>
          </p:cNvSpPr>
          <p:nvPr>
            <p:ph type="ftr" sz="quarter" idx="11"/>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ED2D4A28-53D6-497F-985F-B1CEC7D70C40}"/>
              </a:ext>
            </a:extLst>
          </p:cNvPr>
          <p:cNvSpPr>
            <a:spLocks noGrp="1" noChangeArrowheads="1"/>
          </p:cNvSpPr>
          <p:nvPr>
            <p:ph type="sldNum" sz="quarter" idx="12"/>
          </p:nvPr>
        </p:nvSpPr>
        <p:spPr>
          <a:ln/>
        </p:spPr>
        <p:txBody>
          <a:bodyPr/>
          <a:lstStyle>
            <a:lvl1pPr>
              <a:defRPr/>
            </a:lvl1pPr>
          </a:lstStyle>
          <a:p>
            <a:pPr>
              <a:defRPr/>
            </a:pPr>
            <a:fld id="{E9ABF0EF-67B1-4AA0-81ED-91DE03744A40}" type="slidenum">
              <a:rPr lang="en-US" altLang="en-US"/>
              <a:pPr>
                <a:defRPr/>
              </a:pPr>
              <a:t>‹#›</a:t>
            </a:fld>
            <a:endParaRPr lang="en-US" altLang="en-US"/>
          </a:p>
        </p:txBody>
      </p:sp>
    </p:spTree>
    <p:extLst>
      <p:ext uri="{BB962C8B-B14F-4D97-AF65-F5344CB8AC3E}">
        <p14:creationId xmlns:p14="http://schemas.microsoft.com/office/powerpoint/2010/main" val="28334602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3793C45B-F71B-46A7-A2A8-FEA3D8300722}"/>
              </a:ext>
            </a:extLst>
          </p:cNvPr>
          <p:cNvSpPr>
            <a:spLocks noGrp="1" noChangeArrowheads="1"/>
          </p:cNvSpPr>
          <p:nvPr>
            <p:ph type="dt" sz="half" idx="10"/>
          </p:nvPr>
        </p:nvSpPr>
        <p:spPr>
          <a:ln/>
        </p:spPr>
        <p:txBody>
          <a:bodyPr/>
          <a:lstStyle>
            <a:lvl1pPr>
              <a:defRPr/>
            </a:lvl1pPr>
          </a:lstStyle>
          <a:p>
            <a:pPr>
              <a:defRPr/>
            </a:pPr>
            <a:endParaRPr lang="en-US"/>
          </a:p>
        </p:txBody>
      </p:sp>
      <p:sp>
        <p:nvSpPr>
          <p:cNvPr id="3" name="Rectangle 5">
            <a:extLst>
              <a:ext uri="{FF2B5EF4-FFF2-40B4-BE49-F238E27FC236}">
                <a16:creationId xmlns:a16="http://schemas.microsoft.com/office/drawing/2014/main" id="{0E0F0BA5-4205-4DA9-8FA1-D723A7B5DEB0}"/>
              </a:ext>
            </a:extLst>
          </p:cNvPr>
          <p:cNvSpPr>
            <a:spLocks noGrp="1" noChangeArrowheads="1"/>
          </p:cNvSpPr>
          <p:nvPr>
            <p:ph type="ftr" sz="quarter" idx="11"/>
          </p:nvPr>
        </p:nvSpPr>
        <p:spPr>
          <a:ln/>
        </p:spPr>
        <p:txBody>
          <a:bodyPr/>
          <a:lstStyle>
            <a:lvl1pPr>
              <a:defRPr/>
            </a:lvl1pPr>
          </a:lstStyle>
          <a:p>
            <a:pPr>
              <a:defRPr/>
            </a:pPr>
            <a:endParaRPr lang="en-US"/>
          </a:p>
        </p:txBody>
      </p:sp>
      <p:sp>
        <p:nvSpPr>
          <p:cNvPr id="4" name="Rectangle 6">
            <a:extLst>
              <a:ext uri="{FF2B5EF4-FFF2-40B4-BE49-F238E27FC236}">
                <a16:creationId xmlns:a16="http://schemas.microsoft.com/office/drawing/2014/main" id="{DAB7F91C-3F88-4469-8440-DA0A8B7F5768}"/>
              </a:ext>
            </a:extLst>
          </p:cNvPr>
          <p:cNvSpPr>
            <a:spLocks noGrp="1" noChangeArrowheads="1"/>
          </p:cNvSpPr>
          <p:nvPr>
            <p:ph type="sldNum" sz="quarter" idx="12"/>
          </p:nvPr>
        </p:nvSpPr>
        <p:spPr>
          <a:ln/>
        </p:spPr>
        <p:txBody>
          <a:bodyPr/>
          <a:lstStyle>
            <a:lvl1pPr>
              <a:defRPr/>
            </a:lvl1pPr>
          </a:lstStyle>
          <a:p>
            <a:pPr>
              <a:defRPr/>
            </a:pPr>
            <a:fld id="{C139F030-B1DE-440E-85E3-A637DEB7A7C7}" type="slidenum">
              <a:rPr lang="en-US" altLang="en-US"/>
              <a:pPr>
                <a:defRPr/>
              </a:pPr>
              <a:t>‹#›</a:t>
            </a:fld>
            <a:endParaRPr lang="en-US" altLang="en-US"/>
          </a:p>
        </p:txBody>
      </p:sp>
    </p:spTree>
    <p:extLst>
      <p:ext uri="{BB962C8B-B14F-4D97-AF65-F5344CB8AC3E}">
        <p14:creationId xmlns:p14="http://schemas.microsoft.com/office/powerpoint/2010/main" val="10488869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61462272-BBA7-43EA-9594-79B56445FE80}"/>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F519C3EE-B0C4-43D8-8138-EBD6BB89F08D}"/>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938D149F-91B7-4D2A-80E9-143AB91277E6}"/>
              </a:ext>
            </a:extLst>
          </p:cNvPr>
          <p:cNvSpPr>
            <a:spLocks noGrp="1" noChangeArrowheads="1"/>
          </p:cNvSpPr>
          <p:nvPr>
            <p:ph type="sldNum" sz="quarter" idx="12"/>
          </p:nvPr>
        </p:nvSpPr>
        <p:spPr>
          <a:ln/>
        </p:spPr>
        <p:txBody>
          <a:bodyPr/>
          <a:lstStyle>
            <a:lvl1pPr>
              <a:defRPr/>
            </a:lvl1pPr>
          </a:lstStyle>
          <a:p>
            <a:pPr>
              <a:defRPr/>
            </a:pPr>
            <a:fld id="{06B7294A-24AF-420B-8505-410263194C68}" type="slidenum">
              <a:rPr lang="en-US" altLang="en-US"/>
              <a:pPr>
                <a:defRPr/>
              </a:pPr>
              <a:t>‹#›</a:t>
            </a:fld>
            <a:endParaRPr lang="en-US" altLang="en-US"/>
          </a:p>
        </p:txBody>
      </p:sp>
    </p:spTree>
    <p:extLst>
      <p:ext uri="{BB962C8B-B14F-4D97-AF65-F5344CB8AC3E}">
        <p14:creationId xmlns:p14="http://schemas.microsoft.com/office/powerpoint/2010/main" val="33062983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IN"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BB011047-FFB1-4281-8AA7-C67D7FC1720E}"/>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0BA64777-0A6E-44A1-9A52-089347C95544}"/>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8D066FD0-7FB1-4473-9F5A-052CDF76D2C7}"/>
              </a:ext>
            </a:extLst>
          </p:cNvPr>
          <p:cNvSpPr>
            <a:spLocks noGrp="1" noChangeArrowheads="1"/>
          </p:cNvSpPr>
          <p:nvPr>
            <p:ph type="sldNum" sz="quarter" idx="12"/>
          </p:nvPr>
        </p:nvSpPr>
        <p:spPr>
          <a:ln/>
        </p:spPr>
        <p:txBody>
          <a:bodyPr/>
          <a:lstStyle>
            <a:lvl1pPr>
              <a:defRPr/>
            </a:lvl1pPr>
          </a:lstStyle>
          <a:p>
            <a:pPr>
              <a:defRPr/>
            </a:pPr>
            <a:fld id="{464B33AA-D7D6-4AF9-8507-39A6605B27C6}" type="slidenum">
              <a:rPr lang="en-US" altLang="en-US"/>
              <a:pPr>
                <a:defRPr/>
              </a:pPr>
              <a:t>‹#›</a:t>
            </a:fld>
            <a:endParaRPr lang="en-US" altLang="en-US"/>
          </a:p>
        </p:txBody>
      </p:sp>
    </p:spTree>
    <p:extLst>
      <p:ext uri="{BB962C8B-B14F-4D97-AF65-F5344CB8AC3E}">
        <p14:creationId xmlns:p14="http://schemas.microsoft.com/office/powerpoint/2010/main" val="31725100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Rectangle 4">
            <a:extLst>
              <a:ext uri="{FF2B5EF4-FFF2-40B4-BE49-F238E27FC236}">
                <a16:creationId xmlns:a16="http://schemas.microsoft.com/office/drawing/2014/main" id="{D3E3C6A4-4B1A-4C68-BC9E-108062B1B49E}"/>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9C1AA137-5DE1-4D94-A5C4-663255771BE2}"/>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2A788E28-AD11-4AD1-9E0C-EB1CB0AB2E0E}"/>
              </a:ext>
            </a:extLst>
          </p:cNvPr>
          <p:cNvSpPr>
            <a:spLocks noGrp="1" noChangeArrowheads="1"/>
          </p:cNvSpPr>
          <p:nvPr>
            <p:ph type="sldNum" sz="quarter" idx="12"/>
          </p:nvPr>
        </p:nvSpPr>
        <p:spPr>
          <a:ln/>
        </p:spPr>
        <p:txBody>
          <a:bodyPr/>
          <a:lstStyle>
            <a:lvl1pPr>
              <a:defRPr/>
            </a:lvl1pPr>
          </a:lstStyle>
          <a:p>
            <a:pPr>
              <a:defRPr/>
            </a:pPr>
            <a:fld id="{5707F969-126B-4625-93B3-22279DA28B61}" type="slidenum">
              <a:rPr lang="en-US" altLang="en-US"/>
              <a:pPr>
                <a:defRPr/>
              </a:pPr>
              <a:t>‹#›</a:t>
            </a:fld>
            <a:endParaRPr lang="en-US" altLang="en-US"/>
          </a:p>
        </p:txBody>
      </p:sp>
    </p:spTree>
    <p:extLst>
      <p:ext uri="{BB962C8B-B14F-4D97-AF65-F5344CB8AC3E}">
        <p14:creationId xmlns:p14="http://schemas.microsoft.com/office/powerpoint/2010/main" val="3783556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Rectangle 4">
            <a:extLst>
              <a:ext uri="{FF2B5EF4-FFF2-40B4-BE49-F238E27FC236}">
                <a16:creationId xmlns:a16="http://schemas.microsoft.com/office/drawing/2014/main" id="{E9EFAED9-FCC2-4312-9DB9-099CCCC9F0CB}"/>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5">
            <a:extLst>
              <a:ext uri="{FF2B5EF4-FFF2-40B4-BE49-F238E27FC236}">
                <a16:creationId xmlns:a16="http://schemas.microsoft.com/office/drawing/2014/main" id="{DF9ABCCB-6606-4ED6-BC8F-C27228E26092}"/>
              </a:ext>
            </a:extLst>
          </p:cNvPr>
          <p:cNvSpPr>
            <a:spLocks noGrp="1" noChangeArrowheads="1"/>
          </p:cNvSpPr>
          <p:nvPr>
            <p:ph type="ftr" sz="quarter" idx="11"/>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EB9E9A27-7F1E-4BB5-A7E3-48D09E2086F5}"/>
              </a:ext>
            </a:extLst>
          </p:cNvPr>
          <p:cNvSpPr>
            <a:spLocks noGrp="1" noChangeArrowheads="1"/>
          </p:cNvSpPr>
          <p:nvPr>
            <p:ph type="sldNum" sz="quarter" idx="12"/>
          </p:nvPr>
        </p:nvSpPr>
        <p:spPr>
          <a:ln/>
        </p:spPr>
        <p:txBody>
          <a:bodyPr/>
          <a:lstStyle>
            <a:lvl1pPr>
              <a:defRPr/>
            </a:lvl1pPr>
          </a:lstStyle>
          <a:p>
            <a:pPr>
              <a:defRPr/>
            </a:pPr>
            <a:fld id="{4BCD6217-5208-4DAE-8F2B-4AF241D0CED9}" type="slidenum">
              <a:rPr lang="en-US" altLang="en-US"/>
              <a:pPr>
                <a:defRPr/>
              </a:pPr>
              <a:t>‹#›</a:t>
            </a:fld>
            <a:endParaRPr lang="en-US" altLang="en-US"/>
          </a:p>
        </p:txBody>
      </p:sp>
    </p:spTree>
    <p:extLst>
      <p:ext uri="{BB962C8B-B14F-4D97-AF65-F5344CB8AC3E}">
        <p14:creationId xmlns:p14="http://schemas.microsoft.com/office/powerpoint/2010/main" val="14508883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endParaRPr lang="en-IN"/>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Rectangle 4">
            <a:extLst>
              <a:ext uri="{FF2B5EF4-FFF2-40B4-BE49-F238E27FC236}">
                <a16:creationId xmlns:a16="http://schemas.microsoft.com/office/drawing/2014/main" id="{2B860734-F86E-485B-BE6F-D403DEB8552F}"/>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9962688C-8C09-49D2-A3CF-4C4EFFBA9D90}"/>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A1977806-7D51-41C3-94F1-95ECDE1BC91E}"/>
              </a:ext>
            </a:extLst>
          </p:cNvPr>
          <p:cNvSpPr>
            <a:spLocks noGrp="1" noChangeArrowheads="1"/>
          </p:cNvSpPr>
          <p:nvPr>
            <p:ph type="sldNum" sz="quarter" idx="12"/>
          </p:nvPr>
        </p:nvSpPr>
        <p:spPr>
          <a:ln/>
        </p:spPr>
        <p:txBody>
          <a:bodyPr/>
          <a:lstStyle>
            <a:lvl1pPr>
              <a:defRPr/>
            </a:lvl1pPr>
          </a:lstStyle>
          <a:p>
            <a:pPr>
              <a:defRPr/>
            </a:pPr>
            <a:fld id="{F9EAD34F-7ECA-488C-A8FC-C0C1447E8996}" type="slidenum">
              <a:rPr lang="en-US" altLang="en-US"/>
              <a:pPr>
                <a:defRPr/>
              </a:pPr>
              <a:t>‹#›</a:t>
            </a:fld>
            <a:endParaRPr lang="en-US" altLang="en-US"/>
          </a:p>
        </p:txBody>
      </p:sp>
    </p:spTree>
    <p:extLst>
      <p:ext uri="{BB962C8B-B14F-4D97-AF65-F5344CB8AC3E}">
        <p14:creationId xmlns:p14="http://schemas.microsoft.com/office/powerpoint/2010/main" val="394847024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ClipArt" preserve="1">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p>
            <a:r>
              <a:rPr lang="en-US"/>
              <a:t>Click to edit Master title style</a:t>
            </a:r>
            <a:endParaRPr lang="en-IN"/>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lipArt Placeholder 3"/>
          <p:cNvSpPr>
            <a:spLocks noGrp="1"/>
          </p:cNvSpPr>
          <p:nvPr>
            <p:ph type="clipArt" sz="half" idx="2"/>
          </p:nvPr>
        </p:nvSpPr>
        <p:spPr>
          <a:xfrm>
            <a:off x="4648200" y="1600200"/>
            <a:ext cx="4038600" cy="4525963"/>
          </a:xfrm>
        </p:spPr>
        <p:txBody>
          <a:bodyPr/>
          <a:lstStyle/>
          <a:p>
            <a:pPr lvl="0"/>
            <a:endParaRPr lang="en-IN" noProof="0"/>
          </a:p>
        </p:txBody>
      </p:sp>
      <p:sp>
        <p:nvSpPr>
          <p:cNvPr id="5" name="Rectangle 4">
            <a:extLst>
              <a:ext uri="{FF2B5EF4-FFF2-40B4-BE49-F238E27FC236}">
                <a16:creationId xmlns:a16="http://schemas.microsoft.com/office/drawing/2014/main" id="{476E3B21-9DDA-4FAF-8452-B0EFA960C312}"/>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5">
            <a:extLst>
              <a:ext uri="{FF2B5EF4-FFF2-40B4-BE49-F238E27FC236}">
                <a16:creationId xmlns:a16="http://schemas.microsoft.com/office/drawing/2014/main" id="{6FFC52A2-EE11-4000-BC5D-3C1345468226}"/>
              </a:ext>
            </a:extLst>
          </p:cNvPr>
          <p:cNvSpPr>
            <a:spLocks noGrp="1" noChangeArrowheads="1"/>
          </p:cNvSpPr>
          <p:nvPr>
            <p:ph type="ftr" sz="quarter" idx="11"/>
          </p:nvPr>
        </p:nvSpPr>
        <p:spPr>
          <a:ln/>
        </p:spPr>
        <p:txBody>
          <a:bodyPr/>
          <a:lstStyle>
            <a:lvl1pPr>
              <a:defRPr/>
            </a:lvl1pPr>
          </a:lstStyle>
          <a:p>
            <a:pPr>
              <a:defRPr/>
            </a:pPr>
            <a:endParaRPr lang="en-US"/>
          </a:p>
        </p:txBody>
      </p:sp>
      <p:sp>
        <p:nvSpPr>
          <p:cNvPr id="7" name="Rectangle 6">
            <a:extLst>
              <a:ext uri="{FF2B5EF4-FFF2-40B4-BE49-F238E27FC236}">
                <a16:creationId xmlns:a16="http://schemas.microsoft.com/office/drawing/2014/main" id="{C9ABEACE-6FB7-4B99-9A67-9CEBD7FFC91C}"/>
              </a:ext>
            </a:extLst>
          </p:cNvPr>
          <p:cNvSpPr>
            <a:spLocks noGrp="1" noChangeArrowheads="1"/>
          </p:cNvSpPr>
          <p:nvPr>
            <p:ph type="sldNum" sz="quarter" idx="12"/>
          </p:nvPr>
        </p:nvSpPr>
        <p:spPr>
          <a:ln/>
        </p:spPr>
        <p:txBody>
          <a:bodyPr/>
          <a:lstStyle>
            <a:lvl1pPr>
              <a:defRPr/>
            </a:lvl1pPr>
          </a:lstStyle>
          <a:p>
            <a:pPr>
              <a:defRPr/>
            </a:pPr>
            <a:fld id="{652F27C2-0E5F-4AAB-8874-A93956E577BC}" type="slidenum">
              <a:rPr lang="en-US" altLang="en-US"/>
              <a:pPr>
                <a:defRPr/>
              </a:pPr>
              <a:t>‹#›</a:t>
            </a:fld>
            <a:endParaRPr lang="en-US" altLang="en-US"/>
          </a:p>
        </p:txBody>
      </p:sp>
    </p:spTree>
    <p:extLst>
      <p:ext uri="{BB962C8B-B14F-4D97-AF65-F5344CB8AC3E}">
        <p14:creationId xmlns:p14="http://schemas.microsoft.com/office/powerpoint/2010/main" val="2318300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 /><Relationship Id="rId13" Type="http://schemas.openxmlformats.org/officeDocument/2006/relationships/slideLayout" Target="../slideLayouts/slideLayout13.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 Id="rId14"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8E5B2030-82C9-44DC-877E-5851501067E2}"/>
              </a:ext>
            </a:extLst>
          </p:cNvPr>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69A63B46-2CC7-4C4C-B290-7BAAA1F63AC2}"/>
              </a:ext>
            </a:extLst>
          </p:cNvPr>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a:extLst>
              <a:ext uri="{FF2B5EF4-FFF2-40B4-BE49-F238E27FC236}">
                <a16:creationId xmlns:a16="http://schemas.microsoft.com/office/drawing/2014/main" id="{1FAE760F-22F1-45C9-8239-30305B70D9B2}"/>
              </a:ext>
            </a:extLst>
          </p:cNvPr>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400">
                <a:latin typeface="Arial" pitchFamily="34" charset="0"/>
              </a:defRPr>
            </a:lvl1pPr>
          </a:lstStyle>
          <a:p>
            <a:pPr>
              <a:defRPr/>
            </a:pPr>
            <a:endParaRPr lang="en-US"/>
          </a:p>
        </p:txBody>
      </p:sp>
      <p:sp>
        <p:nvSpPr>
          <p:cNvPr id="1029" name="Rectangle 5">
            <a:extLst>
              <a:ext uri="{FF2B5EF4-FFF2-40B4-BE49-F238E27FC236}">
                <a16:creationId xmlns:a16="http://schemas.microsoft.com/office/drawing/2014/main" id="{1D35B8D3-8F19-4A2C-AD58-BE3E89625A4E}"/>
              </a:ext>
            </a:extLst>
          </p:cNvPr>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400">
                <a:latin typeface="Arial" pitchFamily="34" charset="0"/>
              </a:defRPr>
            </a:lvl1pPr>
          </a:lstStyle>
          <a:p>
            <a:pPr>
              <a:defRPr/>
            </a:pPr>
            <a:endParaRPr lang="en-US"/>
          </a:p>
        </p:txBody>
      </p:sp>
      <p:sp>
        <p:nvSpPr>
          <p:cNvPr id="1030" name="Rectangle 6">
            <a:extLst>
              <a:ext uri="{FF2B5EF4-FFF2-40B4-BE49-F238E27FC236}">
                <a16:creationId xmlns:a16="http://schemas.microsoft.com/office/drawing/2014/main" id="{068A7449-CC58-4CEF-AE5E-3A0514B9DB26}"/>
              </a:ext>
            </a:extLst>
          </p:cNvPr>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a:lvl1pPr>
          </a:lstStyle>
          <a:p>
            <a:pPr>
              <a:defRPr/>
            </a:pPr>
            <a:fld id="{5A6E29DF-0E91-4F06-8705-C054EB6BBDCE}"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pitchFamily="34" charset="0"/>
        </a:defRPr>
      </a:lvl2pPr>
      <a:lvl3pPr algn="ctr" rtl="0" eaLnBrk="0" fontAlgn="base" hangingPunct="0">
        <a:spcBef>
          <a:spcPct val="0"/>
        </a:spcBef>
        <a:spcAft>
          <a:spcPct val="0"/>
        </a:spcAft>
        <a:defRPr sz="4400">
          <a:solidFill>
            <a:schemeClr val="tx2"/>
          </a:solidFill>
          <a:latin typeface="Arial" pitchFamily="34" charset="0"/>
        </a:defRPr>
      </a:lvl3pPr>
      <a:lvl4pPr algn="ctr" rtl="0" eaLnBrk="0" fontAlgn="base" hangingPunct="0">
        <a:spcBef>
          <a:spcPct val="0"/>
        </a:spcBef>
        <a:spcAft>
          <a:spcPct val="0"/>
        </a:spcAft>
        <a:defRPr sz="4400">
          <a:solidFill>
            <a:schemeClr val="tx2"/>
          </a:solidFill>
          <a:latin typeface="Arial" pitchFamily="34" charset="0"/>
        </a:defRPr>
      </a:lvl4pPr>
      <a:lvl5pPr algn="ctr" rtl="0" eaLnBrk="0" fontAlgn="base" hangingPunct="0">
        <a:spcBef>
          <a:spcPct val="0"/>
        </a:spcBef>
        <a:spcAft>
          <a:spcPct val="0"/>
        </a:spcAft>
        <a:defRPr sz="4400">
          <a:solidFill>
            <a:schemeClr val="tx2"/>
          </a:solidFill>
          <a:latin typeface="Arial" pitchFamily="34" charset="0"/>
        </a:defRPr>
      </a:lvl5pPr>
      <a:lvl6pPr marL="457200" algn="ctr" rtl="0" fontAlgn="base">
        <a:spcBef>
          <a:spcPct val="0"/>
        </a:spcBef>
        <a:spcAft>
          <a:spcPct val="0"/>
        </a:spcAft>
        <a:defRPr sz="4400">
          <a:solidFill>
            <a:schemeClr val="tx2"/>
          </a:solidFill>
          <a:latin typeface="Arial" pitchFamily="34" charset="0"/>
        </a:defRPr>
      </a:lvl6pPr>
      <a:lvl7pPr marL="914400" algn="ctr" rtl="0" fontAlgn="base">
        <a:spcBef>
          <a:spcPct val="0"/>
        </a:spcBef>
        <a:spcAft>
          <a:spcPct val="0"/>
        </a:spcAft>
        <a:defRPr sz="4400">
          <a:solidFill>
            <a:schemeClr val="tx2"/>
          </a:solidFill>
          <a:latin typeface="Arial" pitchFamily="34" charset="0"/>
        </a:defRPr>
      </a:lvl7pPr>
      <a:lvl8pPr marL="1371600" algn="ctr" rtl="0" fontAlgn="base">
        <a:spcBef>
          <a:spcPct val="0"/>
        </a:spcBef>
        <a:spcAft>
          <a:spcPct val="0"/>
        </a:spcAft>
        <a:defRPr sz="4400">
          <a:solidFill>
            <a:schemeClr val="tx2"/>
          </a:solidFill>
          <a:latin typeface="Arial" pitchFamily="34" charset="0"/>
        </a:defRPr>
      </a:lvl8pPr>
      <a:lvl9pPr marL="1828800" algn="ctr" rtl="0" fontAlgn="base">
        <a:spcBef>
          <a:spcPct val="0"/>
        </a:spcBef>
        <a:spcAft>
          <a:spcPct val="0"/>
        </a:spcAft>
        <a:defRPr sz="4400">
          <a:solidFill>
            <a:schemeClr val="tx2"/>
          </a:solidFill>
          <a:latin typeface="Arial" pitchFamily="34"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anoop@iisermohali.ac.in" TargetMode="External" /><Relationship Id="rId1" Type="http://schemas.openxmlformats.org/officeDocument/2006/relationships/slideLayout" Target="../slideLayouts/slideLayout2.xml" /></Relationships>
</file>

<file path=ppt/slides/_rels/slide2.xml.rels><?xml version="1.0" encoding="UTF-8" standalone="yes"?>
<Relationships xmlns="http://schemas.openxmlformats.org/package/2006/relationships"><Relationship Id="rId2" Type="http://schemas.openxmlformats.org/officeDocument/2006/relationships/image" Target="../media/image1.jpeg" /><Relationship Id="rId1" Type="http://schemas.openxmlformats.org/officeDocument/2006/relationships/slideLayout" Target="../slideLayouts/slideLayout6.xml" /></Relationships>
</file>

<file path=ppt/slides/_rels/slide3.xml.rels><?xml version="1.0" encoding="UTF-8" standalone="yes"?>
<Relationships xmlns="http://schemas.openxmlformats.org/package/2006/relationships"><Relationship Id="rId2" Type="http://schemas.openxmlformats.org/officeDocument/2006/relationships/image" Target="../media/image2.png"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Relationship Id="rId2" Type="http://schemas.openxmlformats.org/officeDocument/2006/relationships/image" Target="../media/image3.jpeg" /><Relationship Id="rId1" Type="http://schemas.openxmlformats.org/officeDocument/2006/relationships/slideLayout" Target="../slideLayouts/slideLayout6.xml" /></Relationships>
</file>

<file path=ppt/slides/_rels/slide5.xml.rels><?xml version="1.0" encoding="UTF-8" standalone="yes"?>
<Relationships xmlns="http://schemas.openxmlformats.org/package/2006/relationships"><Relationship Id="rId2" Type="http://schemas.openxmlformats.org/officeDocument/2006/relationships/image" Target="../media/image4.jpeg" /><Relationship Id="rId1" Type="http://schemas.openxmlformats.org/officeDocument/2006/relationships/slideLayout" Target="../slideLayouts/slideLayout6.xml" /></Relationships>
</file>

<file path=ppt/slides/_rels/slide6.xml.rels><?xml version="1.0" encoding="UTF-8" standalone="yes"?>
<Relationships xmlns="http://schemas.openxmlformats.org/package/2006/relationships"><Relationship Id="rId2" Type="http://schemas.openxmlformats.org/officeDocument/2006/relationships/image" Target="../media/image5.jpeg" /><Relationship Id="rId1" Type="http://schemas.openxmlformats.org/officeDocument/2006/relationships/slideLayout" Target="../slideLayouts/slideLayout6.xml" /></Relationships>
</file>

<file path=ppt/slides/_rels/slide7.xml.rels><?xml version="1.0" encoding="UTF-8" standalone="yes"?>
<Relationships xmlns="http://schemas.openxmlformats.org/package/2006/relationships"><Relationship Id="rId2" Type="http://schemas.openxmlformats.org/officeDocument/2006/relationships/image" Target="../media/image6.gif" /><Relationship Id="rId1" Type="http://schemas.openxmlformats.org/officeDocument/2006/relationships/slideLayout" Target="../slideLayouts/slideLayout6.xml" /></Relationships>
</file>

<file path=ppt/slides/_rels/slide8.xml.rels><?xml version="1.0" encoding="UTF-8" standalone="yes"?>
<Relationships xmlns="http://schemas.openxmlformats.org/package/2006/relationships"><Relationship Id="rId2" Type="http://schemas.openxmlformats.org/officeDocument/2006/relationships/image" Target="../media/image7.jpeg" /><Relationship Id="rId1" Type="http://schemas.openxmlformats.org/officeDocument/2006/relationships/slideLayout" Target="../slideLayouts/slideLayout6.xml" /></Relationships>
</file>

<file path=ppt/slides/_rels/slide9.xml.rels><?xml version="1.0" encoding="UTF-8" standalone="yes"?>
<Relationships xmlns="http://schemas.openxmlformats.org/package/2006/relationships"><Relationship Id="rId3" Type="http://schemas.openxmlformats.org/officeDocument/2006/relationships/image" Target="../media/image9.jpg" /><Relationship Id="rId2" Type="http://schemas.openxmlformats.org/officeDocument/2006/relationships/image" Target="../media/image8.png" /><Relationship Id="rId1" Type="http://schemas.openxmlformats.org/officeDocument/2006/relationships/slideLayout" Target="../slideLayouts/slideLayout2.xml" /></Relationships>
</file>

<file path=ppt/slides/_rels/slide10.xml.rels><?xml version="1.0" encoding="UTF-8" standalone="yes"?>
<Relationships xmlns="http://schemas.openxmlformats.org/package/2006/relationships"><Relationship Id="rId2" Type="http://schemas.openxmlformats.org/officeDocument/2006/relationships/image" Target="../media/image10.png" /><Relationship Id="rId1" Type="http://schemas.openxmlformats.org/officeDocument/2006/relationships/slideLayout" Target="../slideLayouts/slideLayout2.xml" /></Relationships>
</file>

<file path=ppt/slides/_rels/slide11.xml.rels><?xml version="1.0" encoding="UTF-8" standalone="yes"?>
<Relationships xmlns="http://schemas.openxmlformats.org/package/2006/relationships"><Relationship Id="rId2" Type="http://schemas.openxmlformats.org/officeDocument/2006/relationships/image" Target="../media/image11.jpeg" /><Relationship Id="rId1" Type="http://schemas.openxmlformats.org/officeDocument/2006/relationships/slideLayout" Target="../slideLayouts/slideLayout2.xml" /></Relationships>
</file>

<file path=ppt/slides/_rels/slide12.xml.rels><?xml version="1.0" encoding="UTF-8" standalone="yes"?>
<Relationships xmlns="http://schemas.openxmlformats.org/package/2006/relationships"><Relationship Id="rId3" Type="http://schemas.openxmlformats.org/officeDocument/2006/relationships/image" Target="../media/image11.jpeg" /><Relationship Id="rId2" Type="http://schemas.openxmlformats.org/officeDocument/2006/relationships/image" Target="../media/image12.jpeg" /><Relationship Id="rId1" Type="http://schemas.openxmlformats.org/officeDocument/2006/relationships/slideLayout" Target="../slideLayouts/slideLayout2.xml" /></Relationships>
</file>

<file path=ppt/slides/_rels/slide13.xml.rels><?xml version="1.0" encoding="UTF-8" standalone="yes"?>
<Relationships xmlns="http://schemas.openxmlformats.org/package/2006/relationships"><Relationship Id="rId8" Type="http://schemas.openxmlformats.org/officeDocument/2006/relationships/image" Target="../media/image19.jpeg" /><Relationship Id="rId3" Type="http://schemas.openxmlformats.org/officeDocument/2006/relationships/image" Target="../media/image14.jpeg" /><Relationship Id="rId7" Type="http://schemas.openxmlformats.org/officeDocument/2006/relationships/image" Target="../media/image18.jpeg" /><Relationship Id="rId2" Type="http://schemas.openxmlformats.org/officeDocument/2006/relationships/image" Target="../media/image13.jpeg" /><Relationship Id="rId1" Type="http://schemas.openxmlformats.org/officeDocument/2006/relationships/slideLayout" Target="../slideLayouts/slideLayout2.xml" /><Relationship Id="rId6" Type="http://schemas.openxmlformats.org/officeDocument/2006/relationships/image" Target="../media/image17.jpeg" /><Relationship Id="rId5" Type="http://schemas.openxmlformats.org/officeDocument/2006/relationships/image" Target="../media/image16.jpeg" /><Relationship Id="rId4" Type="http://schemas.openxmlformats.org/officeDocument/2006/relationships/image" Target="../media/image15.jpeg" /><Relationship Id="rId9" Type="http://schemas.openxmlformats.org/officeDocument/2006/relationships/image" Target="../media/image20.png" /></Relationships>
</file>

<file path=ppt/slides/_rels/slide14.xml.rels><?xml version="1.0" encoding="UTF-8" standalone="yes"?>
<Relationships xmlns="http://schemas.openxmlformats.org/package/2006/relationships"><Relationship Id="rId2" Type="http://schemas.openxmlformats.org/officeDocument/2006/relationships/image" Target="../media/image21.png"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 standalone="yes"?>
<Relationships xmlns="http://schemas.openxmlformats.org/package/2006/relationships"><Relationship Id="rId2" Type="http://schemas.openxmlformats.org/officeDocument/2006/relationships/image" Target="../media/image22.jpeg" /><Relationship Id="rId1" Type="http://schemas.openxmlformats.org/officeDocument/2006/relationships/slideLayout" Target="../slideLayouts/slideLayout2.xml" /></Relationships>
</file>

<file path=ppt/slides/_rels/slide18.xml.rels><?xml version="1.0" encoding="UTF-8" standalone="yes"?>
<Relationships xmlns="http://schemas.openxmlformats.org/package/2006/relationships"><Relationship Id="rId2" Type="http://schemas.openxmlformats.org/officeDocument/2006/relationships/image" Target="../media/image23.gif" /><Relationship Id="rId1" Type="http://schemas.openxmlformats.org/officeDocument/2006/relationships/slideLayout" Target="../slideLayouts/slideLayout2.xml" /></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 standalone="yes"?>
<Relationships xmlns="http://schemas.openxmlformats.org/package/2006/relationships"><Relationship Id="rId2" Type="http://schemas.openxmlformats.org/officeDocument/2006/relationships/image" Target="../media/image24.jpeg" /><Relationship Id="rId1" Type="http://schemas.openxmlformats.org/officeDocument/2006/relationships/slideLayout" Target="../slideLayouts/slideLayout7.xml" /></Relationships>
</file>

<file path=ppt/slides/_rels/slide23.xml.rels><?xml version="1.0" encoding="UTF-8" standalone="yes"?>
<Relationships xmlns="http://schemas.openxmlformats.org/package/2006/relationships"><Relationship Id="rId2" Type="http://schemas.openxmlformats.org/officeDocument/2006/relationships/image" Target="../media/image25.png" /><Relationship Id="rId1" Type="http://schemas.openxmlformats.org/officeDocument/2006/relationships/slideLayout" Target="../slideLayouts/slideLayout2.xml" /></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 standalone="yes"?>
<Relationships xmlns="http://schemas.openxmlformats.org/package/2006/relationships"><Relationship Id="rId2" Type="http://schemas.openxmlformats.org/officeDocument/2006/relationships/image" Target="../media/image26.gif" /><Relationship Id="rId1" Type="http://schemas.openxmlformats.org/officeDocument/2006/relationships/slideLayout" Target="../slideLayouts/slideLayout2.xml" /></Relationships>
</file>

<file path=ppt/slides/_rels/slide27.xml.rels><?xml version="1.0" encoding="UTF-8" standalone="yes"?>
<Relationships xmlns="http://schemas.openxmlformats.org/package/2006/relationships"><Relationship Id="rId2" Type="http://schemas.openxmlformats.org/officeDocument/2006/relationships/image" Target="../media/image27.png" /><Relationship Id="rId1" Type="http://schemas.openxmlformats.org/officeDocument/2006/relationships/slideLayout" Target="../slideLayouts/slideLayout2.xml" /></Relationships>
</file>

<file path=ppt/slides/_rels/slide28.xml.rels><?xml version="1.0" encoding="UTF-8" standalone="yes"?>
<Relationships xmlns="http://schemas.openxmlformats.org/package/2006/relationships"><Relationship Id="rId3" Type="http://schemas.openxmlformats.org/officeDocument/2006/relationships/image" Target="../media/image29.jpeg" /><Relationship Id="rId2" Type="http://schemas.openxmlformats.org/officeDocument/2006/relationships/image" Target="../media/image28.jpeg" /><Relationship Id="rId1" Type="http://schemas.openxmlformats.org/officeDocument/2006/relationships/slideLayout" Target="../slideLayouts/slideLayout2.xml" /></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 standalone="yes"?>
<Relationships xmlns="http://schemas.openxmlformats.org/package/2006/relationships"><Relationship Id="rId2" Type="http://schemas.openxmlformats.org/officeDocument/2006/relationships/image" Target="../media/image30.jpeg" /><Relationship Id="rId1" Type="http://schemas.openxmlformats.org/officeDocument/2006/relationships/slideLayout" Target="../slideLayouts/slideLayout2.xml" /></Relationships>
</file>

<file path=ppt/slides/_rels/slide34.xml.rels><?xml version="1.0" encoding="UTF-8" standalone="yes"?>
<Relationships xmlns="http://schemas.openxmlformats.org/package/2006/relationships"><Relationship Id="rId3" Type="http://schemas.openxmlformats.org/officeDocument/2006/relationships/image" Target="../media/image32.jpeg" /><Relationship Id="rId2" Type="http://schemas.openxmlformats.org/officeDocument/2006/relationships/image" Target="../media/image31.jpeg" /><Relationship Id="rId1" Type="http://schemas.openxmlformats.org/officeDocument/2006/relationships/slideLayout" Target="../slideLayouts/slideLayout7.xml" /></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 standalone="yes"?>
<Relationships xmlns="http://schemas.openxmlformats.org/package/2006/relationships"><Relationship Id="rId2" Type="http://schemas.openxmlformats.org/officeDocument/2006/relationships/image" Target="../media/image33.jpeg" /><Relationship Id="rId1" Type="http://schemas.openxmlformats.org/officeDocument/2006/relationships/slideLayout" Target="../slideLayouts/slideLayout2.xml" /></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 standalone="yes"?>
<Relationships xmlns="http://schemas.openxmlformats.org/package/2006/relationships"><Relationship Id="rId2" Type="http://schemas.openxmlformats.org/officeDocument/2006/relationships/image" Target="../media/image34.png" /><Relationship Id="rId1" Type="http://schemas.openxmlformats.org/officeDocument/2006/relationships/slideLayout" Target="../slideLayouts/slideLayout2.xml" /></Relationships>
</file>

<file path=ppt/slides/_rels/slide39.xml.rels><?xml version="1.0" encoding="UTF-8" standalone="yes"?>
<Relationships xmlns="http://schemas.openxmlformats.org/package/2006/relationships"><Relationship Id="rId2" Type="http://schemas.openxmlformats.org/officeDocument/2006/relationships/image" Target="../media/image35.png" /><Relationship Id="rId1" Type="http://schemas.openxmlformats.org/officeDocument/2006/relationships/slideLayout" Target="../slideLayouts/slideLayout2.xml" /></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 standalone="yes"?>
<Relationships xmlns="http://schemas.openxmlformats.org/package/2006/relationships"><Relationship Id="rId2" Type="http://schemas.openxmlformats.org/officeDocument/2006/relationships/image" Target="../media/image36.png" /><Relationship Id="rId1" Type="http://schemas.openxmlformats.org/officeDocument/2006/relationships/slideLayout" Target="../slideLayouts/slideLayout2.xml" /></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xml" /><Relationship Id="rId1" Type="http://schemas.openxmlformats.org/officeDocument/2006/relationships/slideLayout" Target="../slideLayouts/slideLayout2.xml" /></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xml" /><Relationship Id="rId1" Type="http://schemas.openxmlformats.org/officeDocument/2006/relationships/slideLayout" Target="../slideLayouts/slideLayout2.xml" /></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xml" /><Relationship Id="rId1" Type="http://schemas.openxmlformats.org/officeDocument/2006/relationships/slideLayout" Target="../slideLayouts/slideLayout2.xml" /></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xml" /><Relationship Id="rId1" Type="http://schemas.openxmlformats.org/officeDocument/2006/relationships/slideLayout" Target="../slideLayouts/slideLayout2.xml" /></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 standalone="yes"?>
<Relationships xmlns="http://schemas.openxmlformats.org/package/2006/relationships"><Relationship Id="rId2" Type="http://schemas.openxmlformats.org/officeDocument/2006/relationships/image" Target="../media/image37.png" /><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a:extLst>
              <a:ext uri="{FF2B5EF4-FFF2-40B4-BE49-F238E27FC236}">
                <a16:creationId xmlns:a16="http://schemas.microsoft.com/office/drawing/2014/main" id="{58EF3740-78F8-4AF7-B9C0-B2112BDC1833}"/>
              </a:ext>
            </a:extLst>
          </p:cNvPr>
          <p:cNvSpPr txBox="1">
            <a:spLocks noGrp="1"/>
          </p:cNvSpPr>
          <p:nvPr>
            <p:ph type="title"/>
          </p:nvPr>
        </p:nvSpPr>
        <p:spPr>
          <a:xfrm>
            <a:off x="609600" y="1295400"/>
            <a:ext cx="7459663" cy="641350"/>
          </a:xfrm>
        </p:spPr>
        <p:txBody>
          <a:bodyPr lIns="0" tIns="38100" rIns="0" bIns="0">
            <a:spAutoFit/>
          </a:bodyPr>
          <a:lstStyle/>
          <a:p>
            <a:pPr marL="1901825" indent="-1889125">
              <a:lnSpc>
                <a:spcPts val="4700"/>
              </a:lnSpc>
              <a:spcBef>
                <a:spcPts val="300"/>
              </a:spcBef>
            </a:pPr>
            <a:r>
              <a:rPr lang="en-IN" altLang="en-US">
                <a:solidFill>
                  <a:srgbClr val="000000"/>
                </a:solidFill>
              </a:rPr>
              <a:t>EES203: Geochemistry </a:t>
            </a:r>
            <a:endParaRPr lang="en-US" altLang="en-US">
              <a:solidFill>
                <a:srgbClr val="000000"/>
              </a:solidFill>
              <a:latin typeface="Times New Roman" panose="02020603050405020304" pitchFamily="18" charset="0"/>
              <a:cs typeface="Times New Roman" panose="02020603050405020304" pitchFamily="18" charset="0"/>
            </a:endParaRPr>
          </a:p>
        </p:txBody>
      </p:sp>
      <p:sp>
        <p:nvSpPr>
          <p:cNvPr id="3" name="object 3">
            <a:extLst>
              <a:ext uri="{FF2B5EF4-FFF2-40B4-BE49-F238E27FC236}">
                <a16:creationId xmlns:a16="http://schemas.microsoft.com/office/drawing/2014/main" id="{656A1D54-95EB-4BB2-BAD9-B64ADC3C8E58}"/>
              </a:ext>
            </a:extLst>
          </p:cNvPr>
          <p:cNvSpPr txBox="1"/>
          <p:nvPr/>
        </p:nvSpPr>
        <p:spPr>
          <a:xfrm>
            <a:off x="1555750" y="2133600"/>
            <a:ext cx="7848600" cy="1198563"/>
          </a:xfrm>
          <a:prstGeom prst="rect">
            <a:avLst/>
          </a:prstGeom>
        </p:spPr>
        <p:txBody>
          <a:bodyPr lIns="0" tIns="110490" rIns="0" bIns="0">
            <a:spAutoFit/>
          </a:bodyPr>
          <a:lstStyle/>
          <a:p>
            <a:pPr marL="12700">
              <a:spcBef>
                <a:spcPts val="765"/>
              </a:spcBef>
              <a:defRPr/>
            </a:pPr>
            <a:r>
              <a:rPr sz="3200" dirty="0">
                <a:latin typeface="Times New Roman"/>
                <a:cs typeface="Times New Roman"/>
              </a:rPr>
              <a:t>Instructor:</a:t>
            </a:r>
            <a:r>
              <a:rPr sz="3200" spc="-235" dirty="0">
                <a:latin typeface="Times New Roman"/>
                <a:cs typeface="Times New Roman"/>
              </a:rPr>
              <a:t> </a:t>
            </a:r>
            <a:r>
              <a:rPr sz="3200" dirty="0">
                <a:latin typeface="Times New Roman"/>
                <a:cs typeface="Times New Roman"/>
              </a:rPr>
              <a:t>Anoop</a:t>
            </a:r>
            <a:r>
              <a:rPr sz="3200" spc="-195" dirty="0">
                <a:latin typeface="Times New Roman"/>
                <a:cs typeface="Times New Roman"/>
              </a:rPr>
              <a:t> </a:t>
            </a:r>
            <a:r>
              <a:rPr sz="3200" spc="-10" dirty="0">
                <a:latin typeface="Times New Roman"/>
                <a:cs typeface="Times New Roman"/>
              </a:rPr>
              <a:t>Ambili</a:t>
            </a:r>
            <a:endParaRPr lang="en-IN" sz="3200" spc="-10" dirty="0">
              <a:latin typeface="Times New Roman"/>
              <a:cs typeface="Times New Roman"/>
            </a:endParaRPr>
          </a:p>
          <a:p>
            <a:pPr marL="12700">
              <a:spcBef>
                <a:spcPts val="770"/>
              </a:spcBef>
              <a:defRPr/>
            </a:pPr>
            <a:r>
              <a:rPr sz="3200" dirty="0">
                <a:latin typeface="Times New Roman"/>
                <a:cs typeface="Times New Roman"/>
              </a:rPr>
              <a:t>Email</a:t>
            </a:r>
            <a:r>
              <a:rPr sz="3200" spc="-35" dirty="0">
                <a:latin typeface="Times New Roman"/>
                <a:cs typeface="Times New Roman"/>
              </a:rPr>
              <a:t> </a:t>
            </a:r>
            <a:r>
              <a:rPr sz="3200" dirty="0">
                <a:latin typeface="Times New Roman"/>
                <a:cs typeface="Times New Roman"/>
              </a:rPr>
              <a:t>id: </a:t>
            </a:r>
            <a:r>
              <a:rPr sz="3200" spc="-10" dirty="0">
                <a:latin typeface="Times New Roman"/>
                <a:cs typeface="Times New Roman"/>
                <a:hlinkClick r:id="rId2"/>
              </a:rPr>
              <a:t>anoop@iisermohali.ac.in</a:t>
            </a:r>
            <a:endParaRPr sz="3200" dirty="0">
              <a:latin typeface="Times New Roman"/>
              <a:cs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128" descr="Fig 2-2a.jpg">
            <a:extLst>
              <a:ext uri="{FF2B5EF4-FFF2-40B4-BE49-F238E27FC236}">
                <a16:creationId xmlns:a16="http://schemas.microsoft.com/office/drawing/2014/main" id="{002C4F65-751A-439F-A499-B4F2FDABF04F}"/>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743200" y="0"/>
            <a:ext cx="6256338"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442" name="Rectangle 2">
            <a:extLst>
              <a:ext uri="{FF2B5EF4-FFF2-40B4-BE49-F238E27FC236}">
                <a16:creationId xmlns:a16="http://schemas.microsoft.com/office/drawing/2014/main" id="{FCF3C493-B7A4-4848-A4A4-BB7255AFEB84}"/>
              </a:ext>
            </a:extLst>
          </p:cNvPr>
          <p:cNvSpPr>
            <a:spLocks noGrp="1" noChangeArrowheads="1"/>
          </p:cNvSpPr>
          <p:nvPr>
            <p:ph type="title"/>
          </p:nvPr>
        </p:nvSpPr>
        <p:spPr>
          <a:xfrm>
            <a:off x="0" y="762000"/>
            <a:ext cx="3581400" cy="3886200"/>
          </a:xfrm>
        </p:spPr>
        <p:txBody>
          <a:bodyPr/>
          <a:lstStyle/>
          <a:p>
            <a:pPr>
              <a:defRPr/>
            </a:pPr>
            <a:r>
              <a:rPr lang="en-US" sz="4000" dirty="0">
                <a:solidFill>
                  <a:srgbClr val="FF0000"/>
                </a:solidFill>
              </a:rPr>
              <a:t>Classification of Igneous Rocks</a:t>
            </a:r>
          </a:p>
        </p:txBody>
      </p:sp>
      <p:sp>
        <p:nvSpPr>
          <p:cNvPr id="6148" name="Text Box 3">
            <a:extLst>
              <a:ext uri="{FF2B5EF4-FFF2-40B4-BE49-F238E27FC236}">
                <a16:creationId xmlns:a16="http://schemas.microsoft.com/office/drawing/2014/main" id="{F4AA55C8-B6B5-4622-A3E2-CACC68481389}"/>
              </a:ext>
            </a:extLst>
          </p:cNvPr>
          <p:cNvSpPr txBox="1">
            <a:spLocks noChangeArrowheads="1"/>
          </p:cNvSpPr>
          <p:nvPr/>
        </p:nvSpPr>
        <p:spPr bwMode="auto">
          <a:xfrm>
            <a:off x="228600" y="5257800"/>
            <a:ext cx="5029200" cy="82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r>
              <a:rPr lang="en-US" altLang="en-US" sz="1600" b="1">
                <a:solidFill>
                  <a:srgbClr val="FF0000"/>
                </a:solidFill>
                <a:latin typeface="Times New Roman" panose="02020603050405020304" pitchFamily="18" charset="0"/>
                <a:cs typeface="Times New Roman" panose="02020603050405020304" pitchFamily="18" charset="0"/>
              </a:rPr>
              <a:t>Figure 2.2a</a:t>
            </a:r>
            <a:r>
              <a:rPr lang="en-US" altLang="en-US" sz="1600">
                <a:solidFill>
                  <a:srgbClr val="FF0000"/>
                </a:solidFill>
                <a:latin typeface="Times New Roman" panose="02020603050405020304" pitchFamily="18" charset="0"/>
                <a:cs typeface="Times New Roman" panose="02020603050405020304" pitchFamily="18" charset="0"/>
              </a:rPr>
              <a:t>.</a:t>
            </a:r>
            <a:r>
              <a:rPr lang="en-US" altLang="en-US" sz="1600">
                <a:solidFill>
                  <a:schemeClr val="bg2"/>
                </a:solidFill>
                <a:latin typeface="Times New Roman" panose="02020603050405020304" pitchFamily="18" charset="0"/>
                <a:cs typeface="Times New Roman" panose="02020603050405020304" pitchFamily="18" charset="0"/>
              </a:rPr>
              <a:t> A classification of the phaneritic igneous rocks: Phaneritic rocks with more than 10% (quartz + feldspar + feldspathoids). After IUGS.</a:t>
            </a:r>
            <a:endParaRPr lang="en-US" altLang="en-US" sz="1600">
              <a:solidFill>
                <a:schemeClr val="bg2"/>
              </a:solidFill>
              <a:latin typeface="Times New Roman" panose="02020603050405020304" pitchFamily="18" charset="0"/>
              <a:cs typeface="Arial" panose="020B060402020202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8658" name="Picture 1026">
            <a:extLst>
              <a:ext uri="{FF2B5EF4-FFF2-40B4-BE49-F238E27FC236}">
                <a16:creationId xmlns:a16="http://schemas.microsoft.com/office/drawing/2014/main" id="{8FF17083-D3CF-4C3C-BD56-8DB24C82C6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0638"/>
            <a:ext cx="7696200" cy="6837362"/>
          </a:xfrm>
          <a:prstGeom prst="rect">
            <a:avLst/>
          </a:prstGeom>
          <a:noFill/>
          <a:extLst>
            <a:ext uri="{909E8E84-426E-40DD-AFC4-6F175D3DCCD1}">
              <a14:hiddenFill xmlns:a14="http://schemas.microsoft.com/office/drawing/2010/main">
                <a:solidFill>
                  <a:srgbClr val="FFFFFF"/>
                </a:solidFill>
              </a14:hiddenFill>
            </a:ext>
          </a:extLst>
        </p:spPr>
      </p:pic>
      <p:sp>
        <p:nvSpPr>
          <p:cNvPr id="198659" name="Text Box 1027">
            <a:extLst>
              <a:ext uri="{FF2B5EF4-FFF2-40B4-BE49-F238E27FC236}">
                <a16:creationId xmlns:a16="http://schemas.microsoft.com/office/drawing/2014/main" id="{BF6A0BDD-0729-4F3B-9FE1-610701985A3C}"/>
              </a:ext>
            </a:extLst>
          </p:cNvPr>
          <p:cNvSpPr txBox="1">
            <a:spLocks noChangeArrowheads="1"/>
          </p:cNvSpPr>
          <p:nvPr/>
        </p:nvSpPr>
        <p:spPr bwMode="auto">
          <a:xfrm>
            <a:off x="5486400" y="457200"/>
            <a:ext cx="3657600" cy="265430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en-US">
                <a:solidFill>
                  <a:schemeClr val="tx1"/>
                </a:solidFill>
              </a:rPr>
              <a:t>Feldspars have names for very  specific ranges of composition. Most cannot be identified in hand specimens.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3">
            <a:extLst>
              <a:ext uri="{FF2B5EF4-FFF2-40B4-BE49-F238E27FC236}">
                <a16:creationId xmlns:a16="http://schemas.microsoft.com/office/drawing/2014/main" id="{D4CBEB88-B968-4FDA-A2F5-1D9AB8891C55}"/>
              </a:ext>
            </a:extLst>
          </p:cNvPr>
          <p:cNvSpPr>
            <a:spLocks noGrp="1" noChangeArrowheads="1"/>
          </p:cNvSpPr>
          <p:nvPr>
            <p:ph type="title"/>
          </p:nvPr>
        </p:nvSpPr>
        <p:spPr>
          <a:xfrm>
            <a:off x="0" y="0"/>
            <a:ext cx="9144000" cy="914400"/>
          </a:xfrm>
        </p:spPr>
        <p:txBody>
          <a:bodyPr/>
          <a:lstStyle/>
          <a:p>
            <a:pPr algn="ctr">
              <a:defRPr/>
            </a:pPr>
            <a:r>
              <a:rPr lang="en-US" sz="4000" dirty="0">
                <a:solidFill>
                  <a:srgbClr val="FF0000"/>
                </a:solidFill>
              </a:rPr>
              <a:t>Classification of Igneous Rocks</a:t>
            </a:r>
          </a:p>
        </p:txBody>
      </p:sp>
      <p:pic>
        <p:nvPicPr>
          <p:cNvPr id="7171" name="Picture 47" descr="Fig 2-2b.jpg">
            <a:extLst>
              <a:ext uri="{FF2B5EF4-FFF2-40B4-BE49-F238E27FC236}">
                <a16:creationId xmlns:a16="http://schemas.microsoft.com/office/drawing/2014/main" id="{DC39527D-FFCB-41D8-BF90-A6968AAEF3D8}"/>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600200" y="914400"/>
            <a:ext cx="5715000" cy="470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72" name="Text Box 4">
            <a:extLst>
              <a:ext uri="{FF2B5EF4-FFF2-40B4-BE49-F238E27FC236}">
                <a16:creationId xmlns:a16="http://schemas.microsoft.com/office/drawing/2014/main" id="{D7E8E096-34BA-4CB5-8EA5-CB7C3CD98BF4}"/>
              </a:ext>
            </a:extLst>
          </p:cNvPr>
          <p:cNvSpPr txBox="1">
            <a:spLocks noChangeArrowheads="1"/>
          </p:cNvSpPr>
          <p:nvPr/>
        </p:nvSpPr>
        <p:spPr bwMode="auto">
          <a:xfrm>
            <a:off x="2438400" y="5791200"/>
            <a:ext cx="4114800"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r>
              <a:rPr lang="en-US" altLang="en-US" sz="1600" b="1">
                <a:solidFill>
                  <a:srgbClr val="FF0033"/>
                </a:solidFill>
                <a:latin typeface="Times New Roman" panose="02020603050405020304" pitchFamily="18" charset="0"/>
                <a:cs typeface="Times New Roman" panose="02020603050405020304" pitchFamily="18" charset="0"/>
              </a:rPr>
              <a:t>Figure 2.2b.</a:t>
            </a:r>
            <a:r>
              <a:rPr lang="en-US" altLang="en-US" sz="1600">
                <a:solidFill>
                  <a:srgbClr val="FF9933"/>
                </a:solidFill>
                <a:latin typeface="Times New Roman" panose="02020603050405020304" pitchFamily="18" charset="0"/>
                <a:cs typeface="Times New Roman" panose="02020603050405020304" pitchFamily="18" charset="0"/>
              </a:rPr>
              <a:t> </a:t>
            </a:r>
            <a:r>
              <a:rPr lang="en-US" altLang="en-US" sz="1600">
                <a:solidFill>
                  <a:schemeClr val="bg2"/>
                </a:solidFill>
                <a:latin typeface="Times New Roman" panose="02020603050405020304" pitchFamily="18" charset="0"/>
                <a:cs typeface="Times New Roman" panose="02020603050405020304" pitchFamily="18" charset="0"/>
              </a:rPr>
              <a:t>A classification of the phaneritic igneous rocks: Gabbroic rocks. After IUGS.</a:t>
            </a:r>
            <a:endParaRPr lang="en-US" altLang="en-US" sz="1600">
              <a:solidFill>
                <a:schemeClr val="bg2"/>
              </a:solidFill>
              <a:latin typeface="Times New Roman" panose="02020603050405020304" pitchFamily="18" charset="0"/>
              <a:cs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3">
            <a:extLst>
              <a:ext uri="{FF2B5EF4-FFF2-40B4-BE49-F238E27FC236}">
                <a16:creationId xmlns:a16="http://schemas.microsoft.com/office/drawing/2014/main" id="{6023BA56-778A-48D7-B196-CA8686BF7F5F}"/>
              </a:ext>
            </a:extLst>
          </p:cNvPr>
          <p:cNvSpPr>
            <a:spLocks noGrp="1" noChangeArrowheads="1"/>
          </p:cNvSpPr>
          <p:nvPr>
            <p:ph type="title"/>
          </p:nvPr>
        </p:nvSpPr>
        <p:spPr>
          <a:xfrm>
            <a:off x="0" y="0"/>
            <a:ext cx="9144000" cy="914400"/>
          </a:xfrm>
        </p:spPr>
        <p:txBody>
          <a:bodyPr/>
          <a:lstStyle/>
          <a:p>
            <a:pPr algn="ctr">
              <a:defRPr/>
            </a:pPr>
            <a:r>
              <a:rPr lang="en-US" sz="4000" dirty="0">
                <a:solidFill>
                  <a:srgbClr val="FF0000"/>
                </a:solidFill>
              </a:rPr>
              <a:t>Classification of Igneous Rocks</a:t>
            </a:r>
          </a:p>
        </p:txBody>
      </p:sp>
      <p:sp>
        <p:nvSpPr>
          <p:cNvPr id="8195" name="Text Box 4">
            <a:extLst>
              <a:ext uri="{FF2B5EF4-FFF2-40B4-BE49-F238E27FC236}">
                <a16:creationId xmlns:a16="http://schemas.microsoft.com/office/drawing/2014/main" id="{109F4FAB-6F01-4BE2-8D31-D2F8D256B33D}"/>
              </a:ext>
            </a:extLst>
          </p:cNvPr>
          <p:cNvSpPr txBox="1">
            <a:spLocks noChangeArrowheads="1"/>
          </p:cNvSpPr>
          <p:nvPr/>
        </p:nvSpPr>
        <p:spPr bwMode="auto">
          <a:xfrm>
            <a:off x="2438400" y="5791200"/>
            <a:ext cx="4114800"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r>
              <a:rPr lang="en-US" altLang="en-US" sz="1600" b="1">
                <a:solidFill>
                  <a:srgbClr val="FF0033"/>
                </a:solidFill>
                <a:latin typeface="Times New Roman" panose="02020603050405020304" pitchFamily="18" charset="0"/>
                <a:cs typeface="Times New Roman" panose="02020603050405020304" pitchFamily="18" charset="0"/>
              </a:rPr>
              <a:t>Figure 2.2c.</a:t>
            </a:r>
            <a:r>
              <a:rPr lang="en-US" altLang="en-US" sz="1600">
                <a:solidFill>
                  <a:srgbClr val="FF9933"/>
                </a:solidFill>
                <a:latin typeface="Times New Roman" panose="02020603050405020304" pitchFamily="18" charset="0"/>
                <a:cs typeface="Times New Roman" panose="02020603050405020304" pitchFamily="18" charset="0"/>
              </a:rPr>
              <a:t> </a:t>
            </a:r>
            <a:r>
              <a:rPr lang="en-US" altLang="en-US" sz="1600">
                <a:solidFill>
                  <a:schemeClr val="bg2"/>
                </a:solidFill>
                <a:latin typeface="Times New Roman" panose="02020603050405020304" pitchFamily="18" charset="0"/>
                <a:cs typeface="Times New Roman" panose="02020603050405020304" pitchFamily="18" charset="0"/>
              </a:rPr>
              <a:t>A classification of the phaneritic igneous rocks: Ultramafic rocks. After IUGS.</a:t>
            </a:r>
            <a:endParaRPr lang="en-US" altLang="en-US" sz="1600">
              <a:solidFill>
                <a:schemeClr val="bg2"/>
              </a:solidFill>
              <a:latin typeface="Times New Roman" panose="02020603050405020304" pitchFamily="18" charset="0"/>
              <a:cs typeface="Arial" panose="020B0604020202020204" pitchFamily="34" charset="0"/>
            </a:endParaRPr>
          </a:p>
        </p:txBody>
      </p:sp>
      <p:pic>
        <p:nvPicPr>
          <p:cNvPr id="8196" name="Picture 4" descr="Fig 2-2c.jpg">
            <a:extLst>
              <a:ext uri="{FF2B5EF4-FFF2-40B4-BE49-F238E27FC236}">
                <a16:creationId xmlns:a16="http://schemas.microsoft.com/office/drawing/2014/main" id="{2726CEFC-FB4C-4E04-A451-6A166852B48F}"/>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238250" y="1343025"/>
            <a:ext cx="6667500" cy="4171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a:extLst>
              <a:ext uri="{FF2B5EF4-FFF2-40B4-BE49-F238E27FC236}">
                <a16:creationId xmlns:a16="http://schemas.microsoft.com/office/drawing/2014/main" id="{C9CB0AB8-E62C-484E-921B-C74BA61D362A}"/>
              </a:ext>
            </a:extLst>
          </p:cNvPr>
          <p:cNvSpPr>
            <a:spLocks noGrp="1" noChangeArrowheads="1"/>
          </p:cNvSpPr>
          <p:nvPr>
            <p:ph type="title"/>
          </p:nvPr>
        </p:nvSpPr>
        <p:spPr>
          <a:xfrm>
            <a:off x="0" y="0"/>
            <a:ext cx="4953000" cy="2133600"/>
          </a:xfrm>
        </p:spPr>
        <p:txBody>
          <a:bodyPr/>
          <a:lstStyle/>
          <a:p>
            <a:pPr algn="ctr">
              <a:defRPr/>
            </a:pPr>
            <a:r>
              <a:rPr lang="en-US" sz="4000" dirty="0">
                <a:solidFill>
                  <a:srgbClr val="FF0000"/>
                </a:solidFill>
              </a:rPr>
              <a:t>Classification of Igneous Rocks</a:t>
            </a:r>
          </a:p>
        </p:txBody>
      </p:sp>
      <p:sp>
        <p:nvSpPr>
          <p:cNvPr id="9219" name="Text Box 3">
            <a:extLst>
              <a:ext uri="{FF2B5EF4-FFF2-40B4-BE49-F238E27FC236}">
                <a16:creationId xmlns:a16="http://schemas.microsoft.com/office/drawing/2014/main" id="{3CCB2D79-F6D2-49AD-A20E-3EB28CD09914}"/>
              </a:ext>
            </a:extLst>
          </p:cNvPr>
          <p:cNvSpPr txBox="1">
            <a:spLocks noChangeArrowheads="1"/>
          </p:cNvSpPr>
          <p:nvPr/>
        </p:nvSpPr>
        <p:spPr bwMode="auto">
          <a:xfrm>
            <a:off x="381000" y="4495800"/>
            <a:ext cx="4114800"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r>
              <a:rPr lang="en-US" altLang="en-US" sz="1600" b="1">
                <a:solidFill>
                  <a:srgbClr val="FF0033"/>
                </a:solidFill>
                <a:latin typeface="Times New Roman" panose="02020603050405020304" pitchFamily="18" charset="0"/>
                <a:cs typeface="Times New Roman" panose="02020603050405020304" pitchFamily="18" charset="0"/>
              </a:rPr>
              <a:t>Figure 2.3</a:t>
            </a:r>
            <a:r>
              <a:rPr lang="en-US" altLang="en-US" sz="1600">
                <a:solidFill>
                  <a:srgbClr val="FF0033"/>
                </a:solidFill>
                <a:latin typeface="Times New Roman" panose="02020603050405020304" pitchFamily="18" charset="0"/>
                <a:cs typeface="Times New Roman" panose="02020603050405020304" pitchFamily="18" charset="0"/>
              </a:rPr>
              <a:t>. </a:t>
            </a:r>
            <a:r>
              <a:rPr lang="en-US" altLang="en-US" sz="1600">
                <a:solidFill>
                  <a:schemeClr val="bg2"/>
                </a:solidFill>
                <a:latin typeface="Times New Roman" panose="02020603050405020304" pitchFamily="18" charset="0"/>
                <a:cs typeface="Times New Roman" panose="02020603050405020304" pitchFamily="18" charset="0"/>
              </a:rPr>
              <a:t>A classification and nomenclature of volcanic rocks. After IUGS.</a:t>
            </a:r>
            <a:r>
              <a:rPr lang="en-US" altLang="en-US" sz="1600">
                <a:solidFill>
                  <a:schemeClr val="bg2"/>
                </a:solidFill>
                <a:latin typeface="Times New Roman" panose="02020603050405020304" pitchFamily="18" charset="0"/>
                <a:cs typeface="Arial" panose="020B0604020202020204" pitchFamily="34" charset="0"/>
              </a:rPr>
              <a:t> </a:t>
            </a:r>
          </a:p>
        </p:txBody>
      </p:sp>
      <p:pic>
        <p:nvPicPr>
          <p:cNvPr id="9220" name="Picture 4" descr="Fig 2-3.jpg">
            <a:extLst>
              <a:ext uri="{FF2B5EF4-FFF2-40B4-BE49-F238E27FC236}">
                <a16:creationId xmlns:a16="http://schemas.microsoft.com/office/drawing/2014/main" id="{28F9CEA9-799B-4AF7-8E5B-EB4A6837ED5D}"/>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495800" y="0"/>
            <a:ext cx="4186238"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a:extLst>
              <a:ext uri="{FF2B5EF4-FFF2-40B4-BE49-F238E27FC236}">
                <a16:creationId xmlns:a16="http://schemas.microsoft.com/office/drawing/2014/main" id="{39117961-242C-4045-8CDF-F09D38D02833}"/>
              </a:ext>
            </a:extLst>
          </p:cNvPr>
          <p:cNvSpPr>
            <a:spLocks noGrp="1" noChangeArrowheads="1"/>
          </p:cNvSpPr>
          <p:nvPr>
            <p:ph type="title"/>
          </p:nvPr>
        </p:nvSpPr>
        <p:spPr>
          <a:xfrm>
            <a:off x="0" y="0"/>
            <a:ext cx="8991600" cy="762000"/>
          </a:xfrm>
        </p:spPr>
        <p:txBody>
          <a:bodyPr/>
          <a:lstStyle/>
          <a:p>
            <a:pPr algn="ctr">
              <a:defRPr/>
            </a:pPr>
            <a:r>
              <a:rPr lang="en-US" sz="4000" dirty="0">
                <a:solidFill>
                  <a:srgbClr val="FF0000"/>
                </a:solidFill>
              </a:rPr>
              <a:t>Classification of Igneous Rocks</a:t>
            </a:r>
          </a:p>
        </p:txBody>
      </p:sp>
      <p:sp>
        <p:nvSpPr>
          <p:cNvPr id="10243" name="Text Box 3">
            <a:extLst>
              <a:ext uri="{FF2B5EF4-FFF2-40B4-BE49-F238E27FC236}">
                <a16:creationId xmlns:a16="http://schemas.microsoft.com/office/drawing/2014/main" id="{3D53E4FD-CD57-4561-87DB-D949E2975FA1}"/>
              </a:ext>
            </a:extLst>
          </p:cNvPr>
          <p:cNvSpPr txBox="1">
            <a:spLocks noChangeArrowheads="1"/>
          </p:cNvSpPr>
          <p:nvPr/>
        </p:nvSpPr>
        <p:spPr bwMode="auto">
          <a:xfrm>
            <a:off x="457200" y="6172200"/>
            <a:ext cx="8458200"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r>
              <a:rPr lang="en-US" altLang="en-US" sz="1600" b="1">
                <a:solidFill>
                  <a:srgbClr val="FF0033"/>
                </a:solidFill>
                <a:latin typeface="Times New Roman" panose="02020603050405020304" pitchFamily="18" charset="0"/>
                <a:cs typeface="Times New Roman" panose="02020603050405020304" pitchFamily="18" charset="0"/>
              </a:rPr>
              <a:t>Figure 2.4</a:t>
            </a:r>
            <a:r>
              <a:rPr lang="en-US" altLang="en-US" sz="1600">
                <a:solidFill>
                  <a:srgbClr val="FF0033"/>
                </a:solidFill>
                <a:latin typeface="Times New Roman" panose="02020603050405020304" pitchFamily="18" charset="0"/>
                <a:cs typeface="Times New Roman" panose="02020603050405020304" pitchFamily="18" charset="0"/>
              </a:rPr>
              <a:t>.</a:t>
            </a:r>
            <a:r>
              <a:rPr lang="en-US" altLang="en-US" sz="1600">
                <a:solidFill>
                  <a:srgbClr val="FF9933"/>
                </a:solidFill>
                <a:latin typeface="Times New Roman" panose="02020603050405020304" pitchFamily="18" charset="0"/>
                <a:cs typeface="Times New Roman" panose="02020603050405020304" pitchFamily="18" charset="0"/>
              </a:rPr>
              <a:t> </a:t>
            </a:r>
            <a:r>
              <a:rPr lang="en-US" altLang="en-US" sz="1600">
                <a:solidFill>
                  <a:schemeClr val="bg2"/>
                </a:solidFill>
                <a:latin typeface="Times New Roman" panose="02020603050405020304" pitchFamily="18" charset="0"/>
                <a:cs typeface="Times New Roman" panose="02020603050405020304" pitchFamily="18" charset="0"/>
              </a:rPr>
              <a:t>A chemical classification of volcanics based on total alkalis vs. silica. After Le Maitre (2002) . Igneous Rocks: A Classification and Glossary of Terms. Cambridge University Press.</a:t>
            </a:r>
          </a:p>
        </p:txBody>
      </p:sp>
      <p:pic>
        <p:nvPicPr>
          <p:cNvPr id="4098" name="Picture 2">
            <a:extLst>
              <a:ext uri="{FF2B5EF4-FFF2-40B4-BE49-F238E27FC236}">
                <a16:creationId xmlns:a16="http://schemas.microsoft.com/office/drawing/2014/main" id="{44B9E9F6-BF12-4E9E-B014-7CC9F839E5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9200" y="1315333"/>
            <a:ext cx="6353175" cy="485686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a:extLst>
              <a:ext uri="{FF2B5EF4-FFF2-40B4-BE49-F238E27FC236}">
                <a16:creationId xmlns:a16="http://schemas.microsoft.com/office/drawing/2014/main" id="{CACAF343-60C5-4CA1-9FF2-A413ACCBEE7D}"/>
              </a:ext>
            </a:extLst>
          </p:cNvPr>
          <p:cNvSpPr>
            <a:spLocks noGrp="1" noChangeArrowheads="1"/>
          </p:cNvSpPr>
          <p:nvPr>
            <p:ph type="title"/>
          </p:nvPr>
        </p:nvSpPr>
        <p:spPr>
          <a:xfrm>
            <a:off x="0" y="0"/>
            <a:ext cx="8991600" cy="762000"/>
          </a:xfrm>
        </p:spPr>
        <p:txBody>
          <a:bodyPr/>
          <a:lstStyle/>
          <a:p>
            <a:pPr algn="ctr">
              <a:defRPr/>
            </a:pPr>
            <a:r>
              <a:rPr lang="en-US" sz="4000" dirty="0">
                <a:solidFill>
                  <a:srgbClr val="FF0000"/>
                </a:solidFill>
              </a:rPr>
              <a:t>Classification of Igneous Rocks</a:t>
            </a:r>
          </a:p>
        </p:txBody>
      </p:sp>
      <p:sp>
        <p:nvSpPr>
          <p:cNvPr id="11267" name="Text Box 3">
            <a:extLst>
              <a:ext uri="{FF2B5EF4-FFF2-40B4-BE49-F238E27FC236}">
                <a16:creationId xmlns:a16="http://schemas.microsoft.com/office/drawing/2014/main" id="{3CFCC2A7-7EFE-412C-B748-8D9BECA8436C}"/>
              </a:ext>
            </a:extLst>
          </p:cNvPr>
          <p:cNvSpPr txBox="1">
            <a:spLocks noChangeArrowheads="1"/>
          </p:cNvSpPr>
          <p:nvPr/>
        </p:nvSpPr>
        <p:spPr bwMode="auto">
          <a:xfrm>
            <a:off x="457200" y="5865813"/>
            <a:ext cx="83820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spcBef>
                <a:spcPct val="0"/>
              </a:spcBef>
              <a:spcAft>
                <a:spcPct val="0"/>
              </a:spcAft>
              <a:defRPr sz="2400">
                <a:solidFill>
                  <a:schemeClr val="tx1"/>
                </a:solidFill>
                <a:latin typeface="Arial" panose="020B0604020202020204" pitchFamily="34" charset="0"/>
              </a:defRPr>
            </a:lvl6pPr>
            <a:lvl7pPr marL="2971800" indent="-228600" eaLnBrk="0" fontAlgn="base" hangingPunct="0">
              <a:spcBef>
                <a:spcPct val="0"/>
              </a:spcBef>
              <a:spcAft>
                <a:spcPct val="0"/>
              </a:spcAft>
              <a:defRPr sz="2400">
                <a:solidFill>
                  <a:schemeClr val="tx1"/>
                </a:solidFill>
                <a:latin typeface="Arial" panose="020B0604020202020204" pitchFamily="34" charset="0"/>
              </a:defRPr>
            </a:lvl7pPr>
            <a:lvl8pPr marL="3429000" indent="-228600" eaLnBrk="0" fontAlgn="base" hangingPunct="0">
              <a:spcBef>
                <a:spcPct val="0"/>
              </a:spcBef>
              <a:spcAft>
                <a:spcPct val="0"/>
              </a:spcAft>
              <a:defRPr sz="2400">
                <a:solidFill>
                  <a:schemeClr val="tx1"/>
                </a:solidFill>
                <a:latin typeface="Arial" panose="020B0604020202020204" pitchFamily="34" charset="0"/>
              </a:defRPr>
            </a:lvl8pPr>
            <a:lvl9pPr marL="3886200" indent="-228600" eaLnBrk="0" fontAlgn="base" hangingPunct="0">
              <a:spcBef>
                <a:spcPct val="0"/>
              </a:spcBef>
              <a:spcAft>
                <a:spcPct val="0"/>
              </a:spcAft>
              <a:defRPr sz="2400">
                <a:solidFill>
                  <a:schemeClr val="tx1"/>
                </a:solidFill>
                <a:latin typeface="Arial" panose="020B0604020202020204" pitchFamily="34" charset="0"/>
              </a:defRPr>
            </a:lvl9pPr>
          </a:lstStyle>
          <a:p>
            <a:r>
              <a:rPr lang="en-US" altLang="en-US" sz="1600" b="1">
                <a:solidFill>
                  <a:srgbClr val="FF0033"/>
                </a:solidFill>
                <a:latin typeface="Times New Roman" panose="02020603050405020304" pitchFamily="18" charset="0"/>
                <a:cs typeface="Times New Roman" panose="02020603050405020304" pitchFamily="18" charset="0"/>
              </a:rPr>
              <a:t>Figure 2.5</a:t>
            </a:r>
            <a:r>
              <a:rPr lang="en-US" altLang="en-US" sz="1600">
                <a:solidFill>
                  <a:srgbClr val="FF0033"/>
                </a:solidFill>
                <a:latin typeface="Times New Roman" panose="02020603050405020304" pitchFamily="18" charset="0"/>
                <a:cs typeface="Times New Roman" panose="02020603050405020304" pitchFamily="18" charset="0"/>
              </a:rPr>
              <a:t>.</a:t>
            </a:r>
            <a:r>
              <a:rPr lang="en-US" altLang="en-US" sz="1600">
                <a:solidFill>
                  <a:srgbClr val="FF9933"/>
                </a:solidFill>
                <a:latin typeface="Times New Roman" panose="02020603050405020304" pitchFamily="18" charset="0"/>
                <a:cs typeface="Times New Roman" panose="02020603050405020304" pitchFamily="18" charset="0"/>
              </a:rPr>
              <a:t> </a:t>
            </a:r>
            <a:r>
              <a:rPr lang="en-US" altLang="en-US" sz="1600">
                <a:solidFill>
                  <a:schemeClr val="bg2"/>
                </a:solidFill>
                <a:latin typeface="Times New Roman" panose="02020603050405020304" pitchFamily="18" charset="0"/>
                <a:cs typeface="Times New Roman" panose="02020603050405020304" pitchFamily="18" charset="0"/>
              </a:rPr>
              <a:t>Classification of the pyroclastic rocks. After Fisher (1966) Earth Sci. Rev., </a:t>
            </a:r>
            <a:r>
              <a:rPr lang="en-US" altLang="en-US" sz="1600" b="1">
                <a:solidFill>
                  <a:schemeClr val="bg2"/>
                </a:solidFill>
                <a:latin typeface="Times New Roman" panose="02020603050405020304" pitchFamily="18" charset="0"/>
                <a:cs typeface="Times New Roman" panose="02020603050405020304" pitchFamily="18" charset="0"/>
              </a:rPr>
              <a:t>1</a:t>
            </a:r>
            <a:r>
              <a:rPr lang="en-US" altLang="en-US" sz="1600">
                <a:solidFill>
                  <a:schemeClr val="bg2"/>
                </a:solidFill>
                <a:latin typeface="Times New Roman" panose="02020603050405020304" pitchFamily="18" charset="0"/>
                <a:cs typeface="Times New Roman" panose="02020603050405020304" pitchFamily="18" charset="0"/>
              </a:rPr>
              <a:t>, 287-298. </a:t>
            </a:r>
          </a:p>
        </p:txBody>
      </p:sp>
      <p:pic>
        <p:nvPicPr>
          <p:cNvPr id="11268" name="Picture 38" descr="Fig-2-5NewColor">
            <a:extLst>
              <a:ext uri="{FF2B5EF4-FFF2-40B4-BE49-F238E27FC236}">
                <a16:creationId xmlns:a16="http://schemas.microsoft.com/office/drawing/2014/main" id="{0001F8B2-9B2B-4EC1-8EBF-8A28D95BF9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4000" y="838200"/>
            <a:ext cx="5715000" cy="4943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1752600" y="-46229"/>
            <a:ext cx="10499271" cy="702756"/>
          </a:xfrm>
          <a:prstGeom prst="rect">
            <a:avLst/>
          </a:prstGeom>
        </p:spPr>
        <p:txBody>
          <a:bodyPr vert="horz" wrap="square" lIns="0" tIns="25400" rIns="0" bIns="0" numCol="1" rtlCol="0" anchor="ctr" anchorCtr="0" compatLnSpc="1">
            <a:prstTxWarp prst="textNoShape">
              <a:avLst/>
            </a:prstTxWarp>
            <a:spAutoFit/>
          </a:bodyPr>
          <a:lstStyle/>
          <a:p>
            <a:pPr marL="25400">
              <a:spcBef>
                <a:spcPts val="200"/>
              </a:spcBef>
            </a:pPr>
            <a:r>
              <a:rPr dirty="0"/>
              <a:t>Igneous</a:t>
            </a:r>
            <a:r>
              <a:rPr spc="-140" dirty="0"/>
              <a:t> </a:t>
            </a:r>
            <a:r>
              <a:rPr spc="-20" dirty="0"/>
              <a:t>geochemistry</a:t>
            </a:r>
          </a:p>
        </p:txBody>
      </p:sp>
      <p:sp>
        <p:nvSpPr>
          <p:cNvPr id="4" name="object 4"/>
          <p:cNvSpPr txBox="1"/>
          <p:nvPr/>
        </p:nvSpPr>
        <p:spPr>
          <a:xfrm>
            <a:off x="304800" y="1133225"/>
            <a:ext cx="8321040" cy="1102866"/>
          </a:xfrm>
          <a:prstGeom prst="rect">
            <a:avLst/>
          </a:prstGeom>
        </p:spPr>
        <p:txBody>
          <a:bodyPr vert="horz" wrap="square" lIns="0" tIns="25400" rIns="0" bIns="0" rtlCol="0">
            <a:spAutoFit/>
          </a:bodyPr>
          <a:lstStyle/>
          <a:p>
            <a:pPr marL="50800">
              <a:spcBef>
                <a:spcPts val="1190"/>
              </a:spcBef>
            </a:pPr>
            <a:r>
              <a:rPr sz="2000" dirty="0">
                <a:solidFill>
                  <a:srgbClr val="0000FF"/>
                </a:solidFill>
                <a:latin typeface="Arial MT"/>
                <a:cs typeface="Arial MT"/>
              </a:rPr>
              <a:t>SiO</a:t>
            </a:r>
            <a:r>
              <a:rPr sz="1950" baseline="-21367" dirty="0">
                <a:solidFill>
                  <a:srgbClr val="0000FF"/>
                </a:solidFill>
                <a:latin typeface="Arial MT"/>
                <a:cs typeface="Arial MT"/>
              </a:rPr>
              <a:t>2</a:t>
            </a:r>
            <a:r>
              <a:rPr sz="1950" spc="254" baseline="-21367" dirty="0">
                <a:solidFill>
                  <a:srgbClr val="0000FF"/>
                </a:solidFill>
                <a:latin typeface="Arial MT"/>
                <a:cs typeface="Arial MT"/>
              </a:rPr>
              <a:t> </a:t>
            </a:r>
            <a:r>
              <a:rPr sz="2000" dirty="0">
                <a:latin typeface="Arial MT"/>
                <a:cs typeface="Arial MT"/>
              </a:rPr>
              <a:t>content</a:t>
            </a:r>
            <a:r>
              <a:rPr sz="2000" spc="-20" dirty="0">
                <a:latin typeface="Arial MT"/>
                <a:cs typeface="Arial MT"/>
              </a:rPr>
              <a:t> </a:t>
            </a:r>
            <a:r>
              <a:rPr sz="2000" dirty="0">
                <a:latin typeface="Arial MT"/>
                <a:cs typeface="Arial MT"/>
              </a:rPr>
              <a:t>in</a:t>
            </a:r>
            <a:r>
              <a:rPr sz="2000" spc="-20" dirty="0">
                <a:latin typeface="Arial MT"/>
                <a:cs typeface="Arial MT"/>
              </a:rPr>
              <a:t> </a:t>
            </a:r>
            <a:r>
              <a:rPr sz="2000" dirty="0">
                <a:latin typeface="Arial MT"/>
                <a:cs typeface="Arial MT"/>
              </a:rPr>
              <a:t>igneous</a:t>
            </a:r>
            <a:r>
              <a:rPr sz="2000" spc="10" dirty="0">
                <a:latin typeface="Arial MT"/>
                <a:cs typeface="Arial MT"/>
              </a:rPr>
              <a:t> </a:t>
            </a:r>
            <a:r>
              <a:rPr sz="2000" dirty="0">
                <a:latin typeface="Arial MT"/>
                <a:cs typeface="Arial MT"/>
              </a:rPr>
              <a:t>rocks</a:t>
            </a:r>
            <a:r>
              <a:rPr sz="2000" spc="-80" dirty="0">
                <a:latin typeface="Arial MT"/>
                <a:cs typeface="Arial MT"/>
              </a:rPr>
              <a:t> </a:t>
            </a:r>
            <a:r>
              <a:rPr sz="2000" dirty="0">
                <a:latin typeface="Arial MT"/>
                <a:cs typeface="Arial MT"/>
              </a:rPr>
              <a:t>is</a:t>
            </a:r>
            <a:r>
              <a:rPr sz="2000" spc="-20" dirty="0">
                <a:latin typeface="Arial MT"/>
                <a:cs typeface="Arial MT"/>
              </a:rPr>
              <a:t> </a:t>
            </a:r>
            <a:r>
              <a:rPr sz="2000" b="1" i="1" dirty="0">
                <a:latin typeface="Arial"/>
                <a:cs typeface="Arial"/>
              </a:rPr>
              <a:t>bimodal</a:t>
            </a:r>
            <a:r>
              <a:rPr sz="2000" dirty="0">
                <a:latin typeface="Arial MT"/>
                <a:cs typeface="Arial MT"/>
              </a:rPr>
              <a:t>,</a:t>
            </a:r>
            <a:r>
              <a:rPr sz="2000" spc="-40" dirty="0">
                <a:latin typeface="Arial MT"/>
                <a:cs typeface="Arial MT"/>
              </a:rPr>
              <a:t> </a:t>
            </a:r>
            <a:r>
              <a:rPr sz="2000" dirty="0">
                <a:latin typeface="Arial MT"/>
                <a:cs typeface="Arial MT"/>
              </a:rPr>
              <a:t>as</a:t>
            </a:r>
            <a:r>
              <a:rPr sz="2000" spc="-40" dirty="0">
                <a:latin typeface="Arial MT"/>
                <a:cs typeface="Arial MT"/>
              </a:rPr>
              <a:t> </a:t>
            </a:r>
            <a:r>
              <a:rPr sz="2000" dirty="0">
                <a:latin typeface="Arial MT"/>
                <a:cs typeface="Arial MT"/>
              </a:rPr>
              <a:t>is </a:t>
            </a:r>
            <a:r>
              <a:rPr sz="2000" dirty="0">
                <a:solidFill>
                  <a:srgbClr val="FF0000"/>
                </a:solidFill>
                <a:latin typeface="Arial MT"/>
                <a:cs typeface="Arial MT"/>
              </a:rPr>
              <a:t>CaO</a:t>
            </a:r>
            <a:r>
              <a:rPr sz="2000" spc="-30" dirty="0">
                <a:solidFill>
                  <a:srgbClr val="FF0000"/>
                </a:solidFill>
                <a:latin typeface="Arial MT"/>
                <a:cs typeface="Arial MT"/>
              </a:rPr>
              <a:t> </a:t>
            </a:r>
            <a:r>
              <a:rPr sz="2000" dirty="0">
                <a:latin typeface="Arial MT"/>
                <a:cs typeface="Arial MT"/>
              </a:rPr>
              <a:t>and</a:t>
            </a:r>
            <a:r>
              <a:rPr sz="2000" spc="-30" dirty="0">
                <a:latin typeface="Arial MT"/>
                <a:cs typeface="Arial MT"/>
              </a:rPr>
              <a:t> </a:t>
            </a:r>
            <a:r>
              <a:rPr sz="2000" spc="-50" dirty="0">
                <a:solidFill>
                  <a:srgbClr val="6600CC"/>
                </a:solidFill>
                <a:latin typeface="Arial MT"/>
                <a:cs typeface="Arial MT"/>
              </a:rPr>
              <a:t>K</a:t>
            </a:r>
            <a:r>
              <a:rPr sz="1950" spc="-74" baseline="-21367" dirty="0">
                <a:solidFill>
                  <a:srgbClr val="6600CC"/>
                </a:solidFill>
                <a:latin typeface="Arial MT"/>
                <a:cs typeface="Arial MT"/>
              </a:rPr>
              <a:t>2</a:t>
            </a:r>
            <a:r>
              <a:rPr sz="2000" spc="-50" dirty="0">
                <a:solidFill>
                  <a:srgbClr val="6600CC"/>
                </a:solidFill>
                <a:latin typeface="Arial MT"/>
                <a:cs typeface="Arial MT"/>
              </a:rPr>
              <a:t>O</a:t>
            </a:r>
            <a:endParaRPr sz="2000" dirty="0">
              <a:latin typeface="Arial MT"/>
              <a:cs typeface="Arial MT"/>
            </a:endParaRPr>
          </a:p>
          <a:p>
            <a:pPr marL="50800">
              <a:spcBef>
                <a:spcPts val="1220"/>
              </a:spcBef>
            </a:pPr>
            <a:r>
              <a:rPr lang="en-IN" sz="2000" dirty="0">
                <a:latin typeface="Webdings"/>
                <a:cs typeface="Arial MT"/>
              </a:rPr>
              <a:t> </a:t>
            </a:r>
            <a:r>
              <a:rPr sz="2000" dirty="0">
                <a:latin typeface="Arial MT"/>
                <a:cs typeface="Arial MT"/>
              </a:rPr>
              <a:t>Each</a:t>
            </a:r>
            <a:r>
              <a:rPr sz="2000" spc="-20" dirty="0">
                <a:latin typeface="Arial MT"/>
                <a:cs typeface="Arial MT"/>
              </a:rPr>
              <a:t> </a:t>
            </a:r>
            <a:r>
              <a:rPr sz="2000" dirty="0">
                <a:latin typeface="Arial MT"/>
                <a:cs typeface="Arial MT"/>
              </a:rPr>
              <a:t>of</a:t>
            </a:r>
            <a:r>
              <a:rPr sz="2000" spc="-40" dirty="0">
                <a:latin typeface="Arial MT"/>
                <a:cs typeface="Arial MT"/>
              </a:rPr>
              <a:t> </a:t>
            </a:r>
            <a:r>
              <a:rPr sz="2000" dirty="0">
                <a:latin typeface="Arial MT"/>
                <a:cs typeface="Arial MT"/>
              </a:rPr>
              <a:t>the</a:t>
            </a:r>
            <a:r>
              <a:rPr sz="2000" spc="-30" dirty="0">
                <a:latin typeface="Arial MT"/>
                <a:cs typeface="Arial MT"/>
              </a:rPr>
              <a:t> </a:t>
            </a:r>
            <a:r>
              <a:rPr sz="2000" dirty="0">
                <a:latin typeface="Arial MT"/>
                <a:cs typeface="Arial MT"/>
              </a:rPr>
              <a:t>other</a:t>
            </a:r>
            <a:r>
              <a:rPr sz="2000" spc="-40" dirty="0">
                <a:latin typeface="Arial MT"/>
                <a:cs typeface="Arial MT"/>
              </a:rPr>
              <a:t> </a:t>
            </a:r>
            <a:r>
              <a:rPr sz="2000" dirty="0">
                <a:latin typeface="Arial MT"/>
                <a:cs typeface="Arial MT"/>
              </a:rPr>
              <a:t>major</a:t>
            </a:r>
            <a:r>
              <a:rPr sz="2000" spc="-50" dirty="0">
                <a:latin typeface="Arial MT"/>
                <a:cs typeface="Arial MT"/>
              </a:rPr>
              <a:t> </a:t>
            </a:r>
            <a:r>
              <a:rPr sz="2000" dirty="0">
                <a:latin typeface="Arial MT"/>
                <a:cs typeface="Arial MT"/>
              </a:rPr>
              <a:t>element</a:t>
            </a:r>
            <a:r>
              <a:rPr sz="2000" spc="-40" dirty="0">
                <a:latin typeface="Arial MT"/>
                <a:cs typeface="Arial MT"/>
              </a:rPr>
              <a:t> </a:t>
            </a:r>
            <a:r>
              <a:rPr sz="2000" dirty="0">
                <a:latin typeface="Arial MT"/>
                <a:cs typeface="Arial MT"/>
              </a:rPr>
              <a:t>oxides</a:t>
            </a:r>
            <a:r>
              <a:rPr sz="2000" spc="-10" dirty="0">
                <a:latin typeface="Arial MT"/>
                <a:cs typeface="Arial MT"/>
              </a:rPr>
              <a:t> </a:t>
            </a:r>
            <a:r>
              <a:rPr sz="2000" dirty="0">
                <a:latin typeface="Arial MT"/>
                <a:cs typeface="Arial MT"/>
              </a:rPr>
              <a:t>has</a:t>
            </a:r>
            <a:r>
              <a:rPr sz="2000" spc="10" dirty="0">
                <a:latin typeface="Arial MT"/>
                <a:cs typeface="Arial MT"/>
              </a:rPr>
              <a:t> </a:t>
            </a:r>
            <a:r>
              <a:rPr sz="2000" b="1" i="1" spc="-50" dirty="0">
                <a:latin typeface="Arial"/>
                <a:cs typeface="Arial"/>
              </a:rPr>
              <a:t>one</a:t>
            </a:r>
            <a:endParaRPr sz="2000" dirty="0">
              <a:latin typeface="Arial"/>
              <a:cs typeface="Arial"/>
            </a:endParaRPr>
          </a:p>
          <a:p>
            <a:pPr marL="400050"/>
            <a:r>
              <a:rPr sz="2000" dirty="0">
                <a:latin typeface="Arial MT"/>
                <a:cs typeface="Arial MT"/>
              </a:rPr>
              <a:t>dominant</a:t>
            </a:r>
            <a:r>
              <a:rPr sz="2000" spc="-40" dirty="0">
                <a:latin typeface="Arial MT"/>
                <a:cs typeface="Arial MT"/>
              </a:rPr>
              <a:t> </a:t>
            </a:r>
            <a:r>
              <a:rPr sz="2000" dirty="0">
                <a:latin typeface="Arial MT"/>
                <a:cs typeface="Arial MT"/>
              </a:rPr>
              <a:t>range</a:t>
            </a:r>
            <a:r>
              <a:rPr sz="2000" spc="-30" dirty="0">
                <a:latin typeface="Arial MT"/>
                <a:cs typeface="Arial MT"/>
              </a:rPr>
              <a:t> </a:t>
            </a:r>
            <a:r>
              <a:rPr sz="2000" dirty="0">
                <a:latin typeface="Arial MT"/>
                <a:cs typeface="Arial MT"/>
              </a:rPr>
              <a:t>of</a:t>
            </a:r>
            <a:r>
              <a:rPr sz="2000" spc="-40" dirty="0">
                <a:latin typeface="Arial MT"/>
                <a:cs typeface="Arial MT"/>
              </a:rPr>
              <a:t> </a:t>
            </a:r>
            <a:r>
              <a:rPr sz="2000" spc="-20" dirty="0">
                <a:latin typeface="Arial MT"/>
                <a:cs typeface="Arial MT"/>
              </a:rPr>
              <a:t>composition</a:t>
            </a:r>
            <a:endParaRPr sz="2000" dirty="0">
              <a:latin typeface="Arial MT"/>
              <a:cs typeface="Arial MT"/>
            </a:endParaRPr>
          </a:p>
        </p:txBody>
      </p:sp>
      <p:grpSp>
        <p:nvGrpSpPr>
          <p:cNvPr id="5" name="object 5"/>
          <p:cNvGrpSpPr/>
          <p:nvPr/>
        </p:nvGrpSpPr>
        <p:grpSpPr>
          <a:xfrm>
            <a:off x="-23874" y="-22603"/>
            <a:ext cx="9192260" cy="6904990"/>
            <a:chOff x="-11937" y="-11302"/>
            <a:chExt cx="4596130" cy="3452495"/>
          </a:xfrm>
        </p:grpSpPr>
        <p:pic>
          <p:nvPicPr>
            <p:cNvPr id="6" name="object 6"/>
            <p:cNvPicPr/>
            <p:nvPr/>
          </p:nvPicPr>
          <p:blipFill>
            <a:blip r:embed="rId2" cstate="print"/>
            <a:stretch>
              <a:fillRect/>
            </a:stretch>
          </p:blipFill>
          <p:spPr>
            <a:xfrm>
              <a:off x="53975" y="1469263"/>
              <a:ext cx="2917825" cy="1883537"/>
            </a:xfrm>
            <a:prstGeom prst="rect">
              <a:avLst/>
            </a:prstGeom>
          </p:spPr>
        </p:pic>
        <p:pic>
          <p:nvPicPr>
            <p:cNvPr id="7" name="object 7"/>
            <p:cNvPicPr/>
            <p:nvPr/>
          </p:nvPicPr>
          <p:blipFill>
            <a:blip r:embed="rId3" cstate="print"/>
            <a:stretch>
              <a:fillRect/>
            </a:stretch>
          </p:blipFill>
          <p:spPr>
            <a:xfrm>
              <a:off x="2971800" y="1486725"/>
              <a:ext cx="1469715" cy="1131887"/>
            </a:xfrm>
            <a:prstGeom prst="rect">
              <a:avLst/>
            </a:prstGeom>
          </p:spPr>
        </p:pic>
        <p:sp>
          <p:nvSpPr>
            <p:cNvPr id="8" name="object 8"/>
            <p:cNvSpPr/>
            <p:nvPr/>
          </p:nvSpPr>
          <p:spPr>
            <a:xfrm>
              <a:off x="3714750" y="1104899"/>
              <a:ext cx="342900" cy="381000"/>
            </a:xfrm>
            <a:custGeom>
              <a:avLst/>
              <a:gdLst/>
              <a:ahLst/>
              <a:cxnLst/>
              <a:rect l="l" t="t" r="r" b="b"/>
              <a:pathLst>
                <a:path w="342900" h="381000">
                  <a:moveTo>
                    <a:pt x="38100" y="342900"/>
                  </a:moveTo>
                  <a:lnTo>
                    <a:pt x="25400" y="342900"/>
                  </a:lnTo>
                  <a:lnTo>
                    <a:pt x="25400" y="0"/>
                  </a:lnTo>
                  <a:lnTo>
                    <a:pt x="12700" y="0"/>
                  </a:lnTo>
                  <a:lnTo>
                    <a:pt x="12700" y="342900"/>
                  </a:lnTo>
                  <a:lnTo>
                    <a:pt x="0" y="342900"/>
                  </a:lnTo>
                  <a:lnTo>
                    <a:pt x="19050" y="381000"/>
                  </a:lnTo>
                  <a:lnTo>
                    <a:pt x="34925" y="349250"/>
                  </a:lnTo>
                  <a:lnTo>
                    <a:pt x="38100" y="342900"/>
                  </a:lnTo>
                  <a:close/>
                </a:path>
                <a:path w="342900" h="381000">
                  <a:moveTo>
                    <a:pt x="342900" y="342900"/>
                  </a:moveTo>
                  <a:lnTo>
                    <a:pt x="330200" y="342900"/>
                  </a:lnTo>
                  <a:lnTo>
                    <a:pt x="330200" y="0"/>
                  </a:lnTo>
                  <a:lnTo>
                    <a:pt x="317500" y="0"/>
                  </a:lnTo>
                  <a:lnTo>
                    <a:pt x="317500" y="342900"/>
                  </a:lnTo>
                  <a:lnTo>
                    <a:pt x="304800" y="342900"/>
                  </a:lnTo>
                  <a:lnTo>
                    <a:pt x="323850" y="381000"/>
                  </a:lnTo>
                  <a:lnTo>
                    <a:pt x="339725" y="349250"/>
                  </a:lnTo>
                  <a:lnTo>
                    <a:pt x="342900" y="342900"/>
                  </a:lnTo>
                  <a:close/>
                </a:path>
              </a:pathLst>
            </a:custGeom>
            <a:solidFill>
              <a:srgbClr val="0000FF"/>
            </a:solidFill>
          </p:spPr>
          <p:txBody>
            <a:bodyPr wrap="square" lIns="0" tIns="0" rIns="0" bIns="0" rtlCol="0"/>
            <a:lstStyle/>
            <a:p>
              <a:endParaRPr/>
            </a:p>
          </p:txBody>
        </p:sp>
        <p:sp>
          <p:nvSpPr>
            <p:cNvPr id="9" name="object 9"/>
            <p:cNvSpPr/>
            <p:nvPr/>
          </p:nvSpPr>
          <p:spPr>
            <a:xfrm>
              <a:off x="247650" y="2171699"/>
              <a:ext cx="762000" cy="571500"/>
            </a:xfrm>
            <a:custGeom>
              <a:avLst/>
              <a:gdLst/>
              <a:ahLst/>
              <a:cxnLst/>
              <a:rect l="l" t="t" r="r" b="b"/>
              <a:pathLst>
                <a:path w="762000" h="571500">
                  <a:moveTo>
                    <a:pt x="38100" y="152400"/>
                  </a:moveTo>
                  <a:lnTo>
                    <a:pt x="25400" y="152400"/>
                  </a:lnTo>
                  <a:lnTo>
                    <a:pt x="25400" y="0"/>
                  </a:lnTo>
                  <a:lnTo>
                    <a:pt x="12700" y="0"/>
                  </a:lnTo>
                  <a:lnTo>
                    <a:pt x="12700" y="152400"/>
                  </a:lnTo>
                  <a:lnTo>
                    <a:pt x="0" y="152400"/>
                  </a:lnTo>
                  <a:lnTo>
                    <a:pt x="19050" y="190500"/>
                  </a:lnTo>
                  <a:lnTo>
                    <a:pt x="34925" y="158750"/>
                  </a:lnTo>
                  <a:lnTo>
                    <a:pt x="38100" y="152400"/>
                  </a:lnTo>
                  <a:close/>
                </a:path>
                <a:path w="762000" h="571500">
                  <a:moveTo>
                    <a:pt x="762000" y="533400"/>
                  </a:moveTo>
                  <a:lnTo>
                    <a:pt x="749300" y="533400"/>
                  </a:lnTo>
                  <a:lnTo>
                    <a:pt x="749300" y="381000"/>
                  </a:lnTo>
                  <a:lnTo>
                    <a:pt x="736600" y="381000"/>
                  </a:lnTo>
                  <a:lnTo>
                    <a:pt x="736600" y="533400"/>
                  </a:lnTo>
                  <a:lnTo>
                    <a:pt x="723900" y="533400"/>
                  </a:lnTo>
                  <a:lnTo>
                    <a:pt x="742950" y="571500"/>
                  </a:lnTo>
                  <a:lnTo>
                    <a:pt x="758825" y="539750"/>
                  </a:lnTo>
                  <a:lnTo>
                    <a:pt x="762000" y="533400"/>
                  </a:lnTo>
                  <a:close/>
                </a:path>
              </a:pathLst>
            </a:custGeom>
            <a:solidFill>
              <a:srgbClr val="FF0000"/>
            </a:solidFill>
          </p:spPr>
          <p:txBody>
            <a:bodyPr wrap="square" lIns="0" tIns="0" rIns="0" bIns="0" rtlCol="0"/>
            <a:lstStyle/>
            <a:p>
              <a:endParaRPr/>
            </a:p>
          </p:txBody>
        </p:sp>
        <p:sp>
          <p:nvSpPr>
            <p:cNvPr id="10" name="object 10"/>
            <p:cNvSpPr/>
            <p:nvPr/>
          </p:nvSpPr>
          <p:spPr>
            <a:xfrm>
              <a:off x="361950" y="2095499"/>
              <a:ext cx="342900" cy="342900"/>
            </a:xfrm>
            <a:custGeom>
              <a:avLst/>
              <a:gdLst/>
              <a:ahLst/>
              <a:cxnLst/>
              <a:rect l="l" t="t" r="r" b="b"/>
              <a:pathLst>
                <a:path w="342900" h="342900">
                  <a:moveTo>
                    <a:pt x="38100" y="152400"/>
                  </a:moveTo>
                  <a:lnTo>
                    <a:pt x="25400" y="152400"/>
                  </a:lnTo>
                  <a:lnTo>
                    <a:pt x="25400" y="0"/>
                  </a:lnTo>
                  <a:lnTo>
                    <a:pt x="12700" y="0"/>
                  </a:lnTo>
                  <a:lnTo>
                    <a:pt x="12700" y="152400"/>
                  </a:lnTo>
                  <a:lnTo>
                    <a:pt x="0" y="152400"/>
                  </a:lnTo>
                  <a:lnTo>
                    <a:pt x="19050" y="190500"/>
                  </a:lnTo>
                  <a:lnTo>
                    <a:pt x="34925" y="158750"/>
                  </a:lnTo>
                  <a:lnTo>
                    <a:pt x="38100" y="152400"/>
                  </a:lnTo>
                  <a:close/>
                </a:path>
                <a:path w="342900" h="342900">
                  <a:moveTo>
                    <a:pt x="342900" y="304800"/>
                  </a:moveTo>
                  <a:lnTo>
                    <a:pt x="330200" y="304800"/>
                  </a:lnTo>
                  <a:lnTo>
                    <a:pt x="330200" y="152400"/>
                  </a:lnTo>
                  <a:lnTo>
                    <a:pt x="317500" y="152400"/>
                  </a:lnTo>
                  <a:lnTo>
                    <a:pt x="317500" y="304800"/>
                  </a:lnTo>
                  <a:lnTo>
                    <a:pt x="304800" y="304800"/>
                  </a:lnTo>
                  <a:lnTo>
                    <a:pt x="323850" y="342900"/>
                  </a:lnTo>
                  <a:lnTo>
                    <a:pt x="339725" y="311150"/>
                  </a:lnTo>
                  <a:lnTo>
                    <a:pt x="342900" y="304800"/>
                  </a:lnTo>
                  <a:close/>
                </a:path>
              </a:pathLst>
            </a:custGeom>
            <a:solidFill>
              <a:srgbClr val="800080"/>
            </a:solidFill>
          </p:spPr>
          <p:txBody>
            <a:bodyPr wrap="square" lIns="0" tIns="0" rIns="0" bIns="0" rtlCol="0"/>
            <a:lstStyle/>
            <a:p>
              <a:endParaRPr/>
            </a:p>
          </p:txBody>
        </p:sp>
        <p:sp>
          <p:nvSpPr>
            <p:cNvPr id="11" name="object 11"/>
            <p:cNvSpPr/>
            <p:nvPr/>
          </p:nvSpPr>
          <p:spPr>
            <a:xfrm>
              <a:off x="253" y="889"/>
              <a:ext cx="4571365" cy="3428365"/>
            </a:xfrm>
            <a:custGeom>
              <a:avLst/>
              <a:gdLst/>
              <a:ahLst/>
              <a:cxnLst/>
              <a:rect l="l" t="t" r="r" b="b"/>
              <a:pathLst>
                <a:path w="4571365" h="3428365">
                  <a:moveTo>
                    <a:pt x="0" y="3428110"/>
                  </a:moveTo>
                  <a:lnTo>
                    <a:pt x="4571365" y="3428110"/>
                  </a:lnTo>
                  <a:lnTo>
                    <a:pt x="4571365" y="0"/>
                  </a:lnTo>
                  <a:lnTo>
                    <a:pt x="0" y="0"/>
                  </a:lnTo>
                  <a:lnTo>
                    <a:pt x="0" y="3428110"/>
                  </a:lnTo>
                  <a:close/>
                </a:path>
              </a:pathLst>
            </a:custGeom>
            <a:ln w="24384">
              <a:solidFill>
                <a:srgbClr val="000000"/>
              </a:solidFill>
            </a:ln>
          </p:spPr>
          <p:txBody>
            <a:bodyPr wrap="square" lIns="0" tIns="0" rIns="0" bIns="0" rtlCol="0"/>
            <a:lstStyle/>
            <a:p>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object 4"/>
          <p:cNvPicPr/>
          <p:nvPr/>
        </p:nvPicPr>
        <p:blipFill>
          <a:blip r:embed="rId2" cstate="print"/>
          <a:stretch>
            <a:fillRect/>
          </a:stretch>
        </p:blipFill>
        <p:spPr>
          <a:xfrm>
            <a:off x="1295401" y="2292350"/>
            <a:ext cx="5973826" cy="4399500"/>
          </a:xfrm>
          <a:prstGeom prst="rect">
            <a:avLst/>
          </a:prstGeom>
        </p:spPr>
      </p:pic>
      <p:sp>
        <p:nvSpPr>
          <p:cNvPr id="5" name="object 5"/>
          <p:cNvSpPr txBox="1"/>
          <p:nvPr/>
        </p:nvSpPr>
        <p:spPr>
          <a:xfrm>
            <a:off x="242062" y="533400"/>
            <a:ext cx="8058150" cy="1710725"/>
          </a:xfrm>
          <a:prstGeom prst="rect">
            <a:avLst/>
          </a:prstGeom>
        </p:spPr>
        <p:txBody>
          <a:bodyPr vert="horz" wrap="square" lIns="0" tIns="25400" rIns="0" bIns="0" rtlCol="0">
            <a:spAutoFit/>
          </a:bodyPr>
          <a:lstStyle/>
          <a:p>
            <a:pPr marL="25400" marR="10160" algn="just">
              <a:spcBef>
                <a:spcPts val="200"/>
              </a:spcBef>
            </a:pPr>
            <a:r>
              <a:rPr sz="2400" dirty="0">
                <a:latin typeface="Arial MT"/>
                <a:cs typeface="Arial MT"/>
              </a:rPr>
              <a:t>The</a:t>
            </a:r>
            <a:r>
              <a:rPr sz="2400" spc="-60" dirty="0">
                <a:latin typeface="Arial MT"/>
                <a:cs typeface="Arial MT"/>
              </a:rPr>
              <a:t> </a:t>
            </a:r>
            <a:r>
              <a:rPr sz="2400" dirty="0">
                <a:latin typeface="Arial MT"/>
                <a:cs typeface="Arial MT"/>
              </a:rPr>
              <a:t>major</a:t>
            </a:r>
            <a:r>
              <a:rPr sz="2400" spc="-50" dirty="0">
                <a:latin typeface="Arial MT"/>
                <a:cs typeface="Arial MT"/>
              </a:rPr>
              <a:t> </a:t>
            </a:r>
            <a:r>
              <a:rPr sz="2400" dirty="0">
                <a:latin typeface="Arial MT"/>
                <a:cs typeface="Arial MT"/>
              </a:rPr>
              <a:t>elements</a:t>
            </a:r>
            <a:r>
              <a:rPr sz="2400" spc="-60" dirty="0">
                <a:latin typeface="Arial MT"/>
                <a:cs typeface="Arial MT"/>
              </a:rPr>
              <a:t> </a:t>
            </a:r>
            <a:r>
              <a:rPr sz="2400" dirty="0">
                <a:latin typeface="Arial MT"/>
                <a:cs typeface="Arial MT"/>
              </a:rPr>
              <a:t>are</a:t>
            </a:r>
            <a:r>
              <a:rPr sz="2400" spc="-40" dirty="0">
                <a:latin typeface="Arial MT"/>
                <a:cs typeface="Arial MT"/>
              </a:rPr>
              <a:t> </a:t>
            </a:r>
            <a:r>
              <a:rPr sz="2400" dirty="0">
                <a:latin typeface="Arial MT"/>
                <a:cs typeface="Arial MT"/>
              </a:rPr>
              <a:t>found</a:t>
            </a:r>
            <a:r>
              <a:rPr sz="2400" spc="-60" dirty="0">
                <a:latin typeface="Arial MT"/>
                <a:cs typeface="Arial MT"/>
              </a:rPr>
              <a:t> </a:t>
            </a:r>
            <a:r>
              <a:rPr sz="2400" dirty="0">
                <a:latin typeface="Arial MT"/>
                <a:cs typeface="Arial MT"/>
              </a:rPr>
              <a:t>in</a:t>
            </a:r>
            <a:r>
              <a:rPr sz="2400" spc="-40" dirty="0">
                <a:latin typeface="Arial MT"/>
                <a:cs typeface="Arial MT"/>
              </a:rPr>
              <a:t> </a:t>
            </a:r>
            <a:r>
              <a:rPr sz="2400" dirty="0">
                <a:latin typeface="Arial MT"/>
                <a:cs typeface="Arial MT"/>
              </a:rPr>
              <a:t>different</a:t>
            </a:r>
            <a:r>
              <a:rPr sz="2400" spc="-110" dirty="0">
                <a:latin typeface="Arial MT"/>
                <a:cs typeface="Arial MT"/>
              </a:rPr>
              <a:t> </a:t>
            </a:r>
            <a:r>
              <a:rPr sz="2400" dirty="0">
                <a:latin typeface="Arial MT"/>
                <a:cs typeface="Arial MT"/>
              </a:rPr>
              <a:t>proportions</a:t>
            </a:r>
            <a:r>
              <a:rPr sz="2400" spc="-40" dirty="0">
                <a:latin typeface="Arial MT"/>
                <a:cs typeface="Arial MT"/>
              </a:rPr>
              <a:t> </a:t>
            </a:r>
            <a:r>
              <a:rPr sz="2400" dirty="0">
                <a:latin typeface="Arial MT"/>
                <a:cs typeface="Arial MT"/>
              </a:rPr>
              <a:t>in</a:t>
            </a:r>
            <a:r>
              <a:rPr sz="2400" spc="-20" dirty="0">
                <a:latin typeface="Arial MT"/>
                <a:cs typeface="Arial MT"/>
              </a:rPr>
              <a:t> </a:t>
            </a:r>
            <a:r>
              <a:rPr sz="2400" spc="-50" dirty="0">
                <a:latin typeface="Arial MT"/>
                <a:cs typeface="Arial MT"/>
              </a:rPr>
              <a:t>the </a:t>
            </a:r>
            <a:r>
              <a:rPr sz="2400" dirty="0">
                <a:latin typeface="Arial MT"/>
                <a:cs typeface="Arial MT"/>
              </a:rPr>
              <a:t>main</a:t>
            </a:r>
            <a:r>
              <a:rPr sz="2400" spc="-50" dirty="0">
                <a:latin typeface="Arial MT"/>
                <a:cs typeface="Arial MT"/>
              </a:rPr>
              <a:t> </a:t>
            </a:r>
            <a:r>
              <a:rPr sz="2400" dirty="0">
                <a:latin typeface="Arial MT"/>
                <a:cs typeface="Arial MT"/>
              </a:rPr>
              <a:t>minerals</a:t>
            </a:r>
            <a:r>
              <a:rPr sz="2400" spc="-50" dirty="0">
                <a:latin typeface="Arial MT"/>
                <a:cs typeface="Arial MT"/>
              </a:rPr>
              <a:t> </a:t>
            </a:r>
            <a:r>
              <a:rPr sz="2400" dirty="0">
                <a:latin typeface="Arial MT"/>
                <a:cs typeface="Arial MT"/>
              </a:rPr>
              <a:t>of</a:t>
            </a:r>
            <a:r>
              <a:rPr sz="2400" spc="-50" dirty="0">
                <a:latin typeface="Arial MT"/>
                <a:cs typeface="Arial MT"/>
              </a:rPr>
              <a:t> </a:t>
            </a:r>
            <a:r>
              <a:rPr sz="2400" dirty="0">
                <a:latin typeface="Arial MT"/>
                <a:cs typeface="Arial MT"/>
              </a:rPr>
              <a:t>igneous</a:t>
            </a:r>
            <a:r>
              <a:rPr sz="2400" spc="-20" dirty="0">
                <a:latin typeface="Arial MT"/>
                <a:cs typeface="Arial MT"/>
              </a:rPr>
              <a:t> </a:t>
            </a:r>
            <a:r>
              <a:rPr sz="2400" dirty="0">
                <a:latin typeface="Arial MT"/>
                <a:cs typeface="Arial MT"/>
              </a:rPr>
              <a:t>rocks,</a:t>
            </a:r>
            <a:r>
              <a:rPr sz="2400" spc="-50" dirty="0">
                <a:latin typeface="Arial MT"/>
                <a:cs typeface="Arial MT"/>
              </a:rPr>
              <a:t> </a:t>
            </a:r>
            <a:r>
              <a:rPr sz="2400" dirty="0">
                <a:latin typeface="Arial MT"/>
                <a:cs typeface="Arial MT"/>
              </a:rPr>
              <a:t>and</a:t>
            </a:r>
            <a:r>
              <a:rPr sz="2400" spc="-40" dirty="0">
                <a:latin typeface="Arial MT"/>
                <a:cs typeface="Arial MT"/>
              </a:rPr>
              <a:t> </a:t>
            </a:r>
            <a:r>
              <a:rPr sz="2400" dirty="0">
                <a:latin typeface="Arial MT"/>
                <a:cs typeface="Arial MT"/>
              </a:rPr>
              <a:t>these</a:t>
            </a:r>
            <a:r>
              <a:rPr sz="2400" spc="-60" dirty="0">
                <a:latin typeface="Arial MT"/>
                <a:cs typeface="Arial MT"/>
              </a:rPr>
              <a:t> </a:t>
            </a:r>
            <a:r>
              <a:rPr sz="2400" dirty="0">
                <a:latin typeface="Arial MT"/>
                <a:cs typeface="Arial MT"/>
              </a:rPr>
              <a:t>minerals</a:t>
            </a:r>
            <a:r>
              <a:rPr sz="2400" spc="-60" dirty="0">
                <a:latin typeface="Arial MT"/>
                <a:cs typeface="Arial MT"/>
              </a:rPr>
              <a:t> </a:t>
            </a:r>
            <a:r>
              <a:rPr sz="2400" dirty="0">
                <a:latin typeface="Arial MT"/>
                <a:cs typeface="Arial MT"/>
              </a:rPr>
              <a:t>vary</a:t>
            </a:r>
            <a:r>
              <a:rPr sz="2400" spc="-10" dirty="0">
                <a:latin typeface="Arial MT"/>
                <a:cs typeface="Arial MT"/>
              </a:rPr>
              <a:t> </a:t>
            </a:r>
            <a:r>
              <a:rPr sz="2400" spc="-50" dirty="0">
                <a:latin typeface="Arial MT"/>
                <a:cs typeface="Arial MT"/>
              </a:rPr>
              <a:t>in </a:t>
            </a:r>
            <a:r>
              <a:rPr sz="2400" dirty="0">
                <a:latin typeface="Arial MT"/>
                <a:cs typeface="Arial MT"/>
              </a:rPr>
              <a:t>proportion</a:t>
            </a:r>
            <a:r>
              <a:rPr sz="2400" spc="-60" dirty="0">
                <a:latin typeface="Arial MT"/>
                <a:cs typeface="Arial MT"/>
              </a:rPr>
              <a:t> </a:t>
            </a:r>
            <a:r>
              <a:rPr sz="2400" dirty="0">
                <a:latin typeface="Arial MT"/>
                <a:cs typeface="Arial MT"/>
              </a:rPr>
              <a:t>and</a:t>
            </a:r>
            <a:r>
              <a:rPr sz="2400" spc="-80" dirty="0">
                <a:latin typeface="Arial MT"/>
                <a:cs typeface="Arial MT"/>
              </a:rPr>
              <a:t> </a:t>
            </a:r>
            <a:r>
              <a:rPr sz="2400" dirty="0">
                <a:latin typeface="Arial MT"/>
                <a:cs typeface="Arial MT"/>
              </a:rPr>
              <a:t>composition</a:t>
            </a:r>
            <a:r>
              <a:rPr sz="2400" spc="-80" dirty="0">
                <a:latin typeface="Arial MT"/>
                <a:cs typeface="Arial MT"/>
              </a:rPr>
              <a:t> </a:t>
            </a:r>
            <a:r>
              <a:rPr sz="2400" dirty="0">
                <a:latin typeface="Arial MT"/>
                <a:cs typeface="Arial MT"/>
              </a:rPr>
              <a:t>with</a:t>
            </a:r>
            <a:r>
              <a:rPr sz="2400" spc="-10" dirty="0">
                <a:latin typeface="Arial MT"/>
                <a:cs typeface="Arial MT"/>
              </a:rPr>
              <a:t> </a:t>
            </a:r>
            <a:r>
              <a:rPr sz="2400" dirty="0">
                <a:latin typeface="Arial MT"/>
                <a:cs typeface="Arial MT"/>
              </a:rPr>
              <a:t>rock</a:t>
            </a:r>
            <a:r>
              <a:rPr sz="2400" spc="-30" dirty="0">
                <a:latin typeface="Arial MT"/>
                <a:cs typeface="Arial MT"/>
              </a:rPr>
              <a:t> </a:t>
            </a:r>
            <a:r>
              <a:rPr sz="2400" spc="-40" dirty="0">
                <a:latin typeface="Arial MT"/>
                <a:cs typeface="Arial MT"/>
              </a:rPr>
              <a:t>type.</a:t>
            </a:r>
            <a:endParaRPr sz="2400" dirty="0">
              <a:latin typeface="Arial MT"/>
              <a:cs typeface="Arial MT"/>
            </a:endParaRPr>
          </a:p>
          <a:p>
            <a:pPr marL="361950" algn="ctr">
              <a:spcBef>
                <a:spcPts val="2110"/>
              </a:spcBef>
              <a:tabLst>
                <a:tab pos="4926330" algn="l"/>
              </a:tabLst>
            </a:pPr>
            <a:r>
              <a:rPr sz="2000" spc="-20" dirty="0">
                <a:solidFill>
                  <a:srgbClr val="CC0000"/>
                </a:solidFill>
                <a:latin typeface="Arial MT"/>
                <a:cs typeface="Arial MT"/>
              </a:rPr>
              <a:t>Silicic</a:t>
            </a:r>
            <a:r>
              <a:rPr sz="2000" dirty="0">
                <a:solidFill>
                  <a:srgbClr val="CC0000"/>
                </a:solidFill>
                <a:latin typeface="Arial MT"/>
                <a:cs typeface="Arial MT"/>
              </a:rPr>
              <a:t>	</a:t>
            </a:r>
            <a:r>
              <a:rPr sz="2000" spc="-40" dirty="0">
                <a:solidFill>
                  <a:srgbClr val="0000FF"/>
                </a:solidFill>
                <a:latin typeface="Arial MT"/>
                <a:cs typeface="Arial MT"/>
              </a:rPr>
              <a:t>Mafic</a:t>
            </a:r>
            <a:endParaRPr sz="2000" dirty="0">
              <a:latin typeface="Arial MT"/>
              <a:cs typeface="Arial MT"/>
            </a:endParaRPr>
          </a:p>
        </p:txBody>
      </p:sp>
      <p:grpSp>
        <p:nvGrpSpPr>
          <p:cNvPr id="6" name="object 6"/>
          <p:cNvGrpSpPr/>
          <p:nvPr/>
        </p:nvGrpSpPr>
        <p:grpSpPr>
          <a:xfrm>
            <a:off x="1622553" y="2257299"/>
            <a:ext cx="5858510" cy="1032510"/>
            <a:chOff x="811276" y="1128649"/>
            <a:chExt cx="2929255" cy="516255"/>
          </a:xfrm>
        </p:grpSpPr>
        <p:sp>
          <p:nvSpPr>
            <p:cNvPr id="7" name="object 7"/>
            <p:cNvSpPr/>
            <p:nvPr/>
          </p:nvSpPr>
          <p:spPr>
            <a:xfrm>
              <a:off x="817626" y="1134999"/>
              <a:ext cx="1392555" cy="457200"/>
            </a:xfrm>
            <a:custGeom>
              <a:avLst/>
              <a:gdLst/>
              <a:ahLst/>
              <a:cxnLst/>
              <a:rect l="l" t="t" r="r" b="b"/>
              <a:pathLst>
                <a:path w="1392555" h="457200">
                  <a:moveTo>
                    <a:pt x="0" y="457200"/>
                  </a:moveTo>
                  <a:lnTo>
                    <a:pt x="1392174" y="457200"/>
                  </a:lnTo>
                  <a:lnTo>
                    <a:pt x="1392174" y="0"/>
                  </a:lnTo>
                  <a:lnTo>
                    <a:pt x="0" y="0"/>
                  </a:lnTo>
                  <a:lnTo>
                    <a:pt x="0" y="457200"/>
                  </a:lnTo>
                  <a:close/>
                </a:path>
              </a:pathLst>
            </a:custGeom>
            <a:ln w="12700">
              <a:solidFill>
                <a:srgbClr val="CC3300"/>
              </a:solidFill>
            </a:ln>
          </p:spPr>
          <p:txBody>
            <a:bodyPr wrap="square" lIns="0" tIns="0" rIns="0" bIns="0" rtlCol="0"/>
            <a:lstStyle/>
            <a:p>
              <a:endParaRPr/>
            </a:p>
          </p:txBody>
        </p:sp>
        <p:sp>
          <p:nvSpPr>
            <p:cNvPr id="8" name="object 8"/>
            <p:cNvSpPr/>
            <p:nvPr/>
          </p:nvSpPr>
          <p:spPr>
            <a:xfrm>
              <a:off x="2476499" y="1134999"/>
              <a:ext cx="1181100" cy="457200"/>
            </a:xfrm>
            <a:custGeom>
              <a:avLst/>
              <a:gdLst/>
              <a:ahLst/>
              <a:cxnLst/>
              <a:rect l="l" t="t" r="r" b="b"/>
              <a:pathLst>
                <a:path w="1181100" h="457200">
                  <a:moveTo>
                    <a:pt x="0" y="457200"/>
                  </a:moveTo>
                  <a:lnTo>
                    <a:pt x="1181100" y="457200"/>
                  </a:lnTo>
                  <a:lnTo>
                    <a:pt x="1181100" y="0"/>
                  </a:lnTo>
                  <a:lnTo>
                    <a:pt x="0" y="0"/>
                  </a:lnTo>
                  <a:lnTo>
                    <a:pt x="0" y="457200"/>
                  </a:lnTo>
                  <a:close/>
                </a:path>
              </a:pathLst>
            </a:custGeom>
            <a:ln w="12700">
              <a:solidFill>
                <a:srgbClr val="0000FF"/>
              </a:solidFill>
            </a:ln>
          </p:spPr>
          <p:txBody>
            <a:bodyPr wrap="square" lIns="0" tIns="0" rIns="0" bIns="0" rtlCol="0"/>
            <a:lstStyle/>
            <a:p>
              <a:endParaRPr/>
            </a:p>
          </p:txBody>
        </p:sp>
        <p:sp>
          <p:nvSpPr>
            <p:cNvPr id="9" name="object 9"/>
            <p:cNvSpPr/>
            <p:nvPr/>
          </p:nvSpPr>
          <p:spPr>
            <a:xfrm>
              <a:off x="3238499" y="1257300"/>
              <a:ext cx="495300" cy="381000"/>
            </a:xfrm>
            <a:custGeom>
              <a:avLst/>
              <a:gdLst/>
              <a:ahLst/>
              <a:cxnLst/>
              <a:rect l="l" t="t" r="r" b="b"/>
              <a:pathLst>
                <a:path w="495300" h="381000">
                  <a:moveTo>
                    <a:pt x="0" y="381000"/>
                  </a:moveTo>
                  <a:lnTo>
                    <a:pt x="495300" y="381000"/>
                  </a:lnTo>
                  <a:lnTo>
                    <a:pt x="495300" y="0"/>
                  </a:lnTo>
                  <a:lnTo>
                    <a:pt x="0" y="0"/>
                  </a:lnTo>
                  <a:lnTo>
                    <a:pt x="0" y="381000"/>
                  </a:lnTo>
                  <a:close/>
                </a:path>
              </a:pathLst>
            </a:custGeom>
            <a:ln w="12700">
              <a:solidFill>
                <a:srgbClr val="0000FF"/>
              </a:solidFill>
              <a:prstDash val="sysDash"/>
            </a:ln>
          </p:spPr>
          <p:txBody>
            <a:bodyPr wrap="square" lIns="0" tIns="0" rIns="0" bIns="0" rtlCol="0"/>
            <a:lstStyle/>
            <a:p>
              <a:endParaRPr/>
            </a:p>
          </p:txBody>
        </p:sp>
      </p:grpSp>
      <p:sp>
        <p:nvSpPr>
          <p:cNvPr id="10" name="object 10"/>
          <p:cNvSpPr txBox="1"/>
          <p:nvPr/>
        </p:nvSpPr>
        <p:spPr>
          <a:xfrm>
            <a:off x="7230618" y="3275483"/>
            <a:ext cx="1155700" cy="332142"/>
          </a:xfrm>
          <a:prstGeom prst="rect">
            <a:avLst/>
          </a:prstGeom>
        </p:spPr>
        <p:txBody>
          <a:bodyPr vert="horz" wrap="square" lIns="0" tIns="24130" rIns="0" bIns="0" rtlCol="0">
            <a:spAutoFit/>
          </a:bodyPr>
          <a:lstStyle/>
          <a:p>
            <a:pPr marL="25400">
              <a:spcBef>
                <a:spcPts val="190"/>
              </a:spcBef>
            </a:pPr>
            <a:r>
              <a:rPr sz="2000" spc="-20" dirty="0">
                <a:solidFill>
                  <a:srgbClr val="0000FF"/>
                </a:solidFill>
                <a:latin typeface="Arial MT"/>
                <a:cs typeface="Arial MT"/>
              </a:rPr>
              <a:t>ultramafic</a:t>
            </a:r>
            <a:endParaRPr sz="2000" dirty="0">
              <a:latin typeface="Arial MT"/>
              <a:cs typeface="Arial MT"/>
            </a:endParaRPr>
          </a:p>
        </p:txBody>
      </p:sp>
      <p:sp>
        <p:nvSpPr>
          <p:cNvPr id="11" name="object 11"/>
          <p:cNvSpPr/>
          <p:nvPr/>
        </p:nvSpPr>
        <p:spPr>
          <a:xfrm>
            <a:off x="3463797" y="2438400"/>
            <a:ext cx="1946910" cy="838200"/>
          </a:xfrm>
          <a:custGeom>
            <a:avLst/>
            <a:gdLst/>
            <a:ahLst/>
            <a:cxnLst/>
            <a:rect l="l" t="t" r="r" b="b"/>
            <a:pathLst>
              <a:path w="973455" h="419100">
                <a:moveTo>
                  <a:pt x="0" y="419100"/>
                </a:moveTo>
                <a:lnTo>
                  <a:pt x="973137" y="419100"/>
                </a:lnTo>
                <a:lnTo>
                  <a:pt x="973137" y="0"/>
                </a:lnTo>
                <a:lnTo>
                  <a:pt x="0" y="0"/>
                </a:lnTo>
                <a:lnTo>
                  <a:pt x="0" y="419100"/>
                </a:lnTo>
                <a:close/>
              </a:path>
            </a:pathLst>
          </a:custGeom>
          <a:ln w="12700">
            <a:solidFill>
              <a:srgbClr val="CC3300"/>
            </a:solidFill>
            <a:prstDash val="sysDash"/>
          </a:ln>
        </p:spPr>
        <p:txBody>
          <a:bodyPr wrap="square" lIns="0" tIns="0" rIns="0" bIns="0" rtlCol="0"/>
          <a:lstStyle/>
          <a:p>
            <a:endParaRPr/>
          </a:p>
        </p:txBody>
      </p:sp>
      <p:sp>
        <p:nvSpPr>
          <p:cNvPr id="12" name="object 12"/>
          <p:cNvSpPr txBox="1"/>
          <p:nvPr/>
        </p:nvSpPr>
        <p:spPr>
          <a:xfrm>
            <a:off x="2734310" y="3245610"/>
            <a:ext cx="1445260" cy="332142"/>
          </a:xfrm>
          <a:prstGeom prst="rect">
            <a:avLst/>
          </a:prstGeom>
        </p:spPr>
        <p:txBody>
          <a:bodyPr vert="horz" wrap="square" lIns="0" tIns="24130" rIns="0" bIns="0" rtlCol="0">
            <a:spAutoFit/>
          </a:bodyPr>
          <a:lstStyle/>
          <a:p>
            <a:pPr marL="25400">
              <a:spcBef>
                <a:spcPts val="190"/>
              </a:spcBef>
            </a:pPr>
            <a:r>
              <a:rPr sz="2000" spc="-20" dirty="0">
                <a:solidFill>
                  <a:srgbClr val="CC0000"/>
                </a:solidFill>
                <a:latin typeface="Arial MT"/>
                <a:cs typeface="Arial MT"/>
              </a:rPr>
              <a:t>intermediate</a:t>
            </a:r>
            <a:endParaRPr sz="2000">
              <a:latin typeface="Arial MT"/>
              <a:cs typeface="Arial MT"/>
            </a:endParaRPr>
          </a:p>
        </p:txBody>
      </p:sp>
      <p:sp>
        <p:nvSpPr>
          <p:cNvPr id="13" name="object 13"/>
          <p:cNvSpPr/>
          <p:nvPr/>
        </p:nvSpPr>
        <p:spPr>
          <a:xfrm>
            <a:off x="507" y="509"/>
            <a:ext cx="9142730" cy="6856730"/>
          </a:xfrm>
          <a:custGeom>
            <a:avLst/>
            <a:gdLst/>
            <a:ahLst/>
            <a:cxnLst/>
            <a:rect l="l" t="t" r="r" b="b"/>
            <a:pathLst>
              <a:path w="4571365" h="3428365">
                <a:moveTo>
                  <a:pt x="0" y="3428111"/>
                </a:moveTo>
                <a:lnTo>
                  <a:pt x="4571365" y="3428111"/>
                </a:lnTo>
                <a:lnTo>
                  <a:pt x="4571365" y="0"/>
                </a:lnTo>
                <a:lnTo>
                  <a:pt x="0" y="0"/>
                </a:lnTo>
                <a:lnTo>
                  <a:pt x="0" y="3428111"/>
                </a:lnTo>
                <a:close/>
              </a:path>
            </a:pathLst>
          </a:custGeom>
          <a:ln w="24384">
            <a:solidFill>
              <a:srgbClr val="000000"/>
            </a:solidFill>
          </a:ln>
        </p:spPr>
        <p:txBody>
          <a:bodyPr wrap="square" lIns="0" tIns="0" rIns="0" bIns="0" rtlCol="0"/>
          <a:lstStyle/>
          <a: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0" y="-84288"/>
            <a:ext cx="5791200" cy="702756"/>
          </a:xfrm>
          <a:prstGeom prst="rect">
            <a:avLst/>
          </a:prstGeom>
        </p:spPr>
        <p:txBody>
          <a:bodyPr vert="horz" wrap="square" lIns="0" tIns="25400" rIns="0" bIns="0" numCol="1" rtlCol="0" anchor="ctr" anchorCtr="0" compatLnSpc="1">
            <a:prstTxWarp prst="textNoShape">
              <a:avLst/>
            </a:prstTxWarp>
            <a:spAutoFit/>
          </a:bodyPr>
          <a:lstStyle/>
          <a:p>
            <a:pPr marL="25400">
              <a:spcBef>
                <a:spcPts val="200"/>
              </a:spcBef>
            </a:pPr>
            <a:r>
              <a:rPr dirty="0"/>
              <a:t>Igneous</a:t>
            </a:r>
            <a:r>
              <a:rPr spc="-140" dirty="0"/>
              <a:t> </a:t>
            </a:r>
            <a:r>
              <a:rPr spc="-20" dirty="0"/>
              <a:t>geochemistry</a:t>
            </a:r>
          </a:p>
        </p:txBody>
      </p:sp>
      <p:sp>
        <p:nvSpPr>
          <p:cNvPr id="5" name="object 5"/>
          <p:cNvSpPr txBox="1"/>
          <p:nvPr/>
        </p:nvSpPr>
        <p:spPr>
          <a:xfrm>
            <a:off x="0" y="1828800"/>
            <a:ext cx="5191253" cy="1381147"/>
          </a:xfrm>
          <a:prstGeom prst="rect">
            <a:avLst/>
          </a:prstGeom>
        </p:spPr>
        <p:txBody>
          <a:bodyPr vert="horz" wrap="square" lIns="0" tIns="26670" rIns="0" bIns="0" rtlCol="0">
            <a:spAutoFit/>
          </a:bodyPr>
          <a:lstStyle/>
          <a:p>
            <a:pPr marL="101600" marR="212090">
              <a:spcBef>
                <a:spcPts val="1320"/>
              </a:spcBef>
            </a:pPr>
            <a:r>
              <a:rPr sz="2200" i="1" dirty="0">
                <a:solidFill>
                  <a:srgbClr val="00AF50"/>
                </a:solidFill>
                <a:latin typeface="Arial"/>
                <a:cs typeface="Arial"/>
              </a:rPr>
              <a:t>chemical</a:t>
            </a:r>
            <a:r>
              <a:rPr sz="2200" i="1" spc="10" dirty="0">
                <a:solidFill>
                  <a:srgbClr val="00AF50"/>
                </a:solidFill>
                <a:latin typeface="Arial"/>
                <a:cs typeface="Arial"/>
              </a:rPr>
              <a:t> </a:t>
            </a:r>
            <a:r>
              <a:rPr sz="2200" spc="-20" dirty="0">
                <a:latin typeface="Arial MT"/>
                <a:cs typeface="Arial MT"/>
              </a:rPr>
              <a:t>classifications</a:t>
            </a:r>
            <a:r>
              <a:rPr sz="2200" spc="-10" dirty="0">
                <a:latin typeface="Arial MT"/>
                <a:cs typeface="Arial MT"/>
              </a:rPr>
              <a:t> </a:t>
            </a:r>
            <a:r>
              <a:rPr sz="2200" spc="-50" dirty="0">
                <a:latin typeface="Arial MT"/>
                <a:cs typeface="Arial MT"/>
              </a:rPr>
              <a:t>of </a:t>
            </a:r>
            <a:r>
              <a:rPr sz="2200" dirty="0">
                <a:latin typeface="Arial MT"/>
                <a:cs typeface="Arial MT"/>
              </a:rPr>
              <a:t>the</a:t>
            </a:r>
            <a:r>
              <a:rPr sz="2200" spc="-80" dirty="0">
                <a:latin typeface="Arial MT"/>
                <a:cs typeface="Arial MT"/>
              </a:rPr>
              <a:t> </a:t>
            </a:r>
            <a:r>
              <a:rPr sz="2200" dirty="0">
                <a:latin typeface="Arial MT"/>
                <a:cs typeface="Arial MT"/>
              </a:rPr>
              <a:t>main</a:t>
            </a:r>
            <a:r>
              <a:rPr sz="2200" spc="-60" dirty="0">
                <a:latin typeface="Arial MT"/>
                <a:cs typeface="Arial MT"/>
              </a:rPr>
              <a:t> </a:t>
            </a:r>
            <a:r>
              <a:rPr sz="2200" dirty="0">
                <a:latin typeface="Arial MT"/>
                <a:cs typeface="Arial MT"/>
              </a:rPr>
              <a:t>volcanic</a:t>
            </a:r>
            <a:r>
              <a:rPr sz="2200" spc="-50" dirty="0">
                <a:latin typeface="Arial MT"/>
                <a:cs typeface="Arial MT"/>
              </a:rPr>
              <a:t> </a:t>
            </a:r>
            <a:r>
              <a:rPr sz="2200" dirty="0">
                <a:latin typeface="Arial MT"/>
                <a:cs typeface="Arial MT"/>
              </a:rPr>
              <a:t>and</a:t>
            </a:r>
            <a:r>
              <a:rPr sz="2200" spc="-60" dirty="0">
                <a:latin typeface="Arial MT"/>
                <a:cs typeface="Arial MT"/>
              </a:rPr>
              <a:t> </a:t>
            </a:r>
            <a:r>
              <a:rPr sz="2200" dirty="0">
                <a:latin typeface="Arial MT"/>
                <a:cs typeface="Arial MT"/>
              </a:rPr>
              <a:t>plutonic</a:t>
            </a:r>
            <a:r>
              <a:rPr sz="2200" spc="-40" dirty="0">
                <a:latin typeface="Arial MT"/>
                <a:cs typeface="Arial MT"/>
              </a:rPr>
              <a:t> rock </a:t>
            </a:r>
            <a:r>
              <a:rPr sz="2200" dirty="0">
                <a:latin typeface="Arial MT"/>
                <a:cs typeface="Arial MT"/>
              </a:rPr>
              <a:t>types in</a:t>
            </a:r>
            <a:r>
              <a:rPr sz="2200" spc="-10" dirty="0">
                <a:latin typeface="Arial MT"/>
                <a:cs typeface="Arial MT"/>
              </a:rPr>
              <a:t> </a:t>
            </a:r>
            <a:r>
              <a:rPr sz="2200" dirty="0">
                <a:latin typeface="Arial MT"/>
                <a:cs typeface="Arial MT"/>
              </a:rPr>
              <a:t>terms</a:t>
            </a:r>
            <a:r>
              <a:rPr sz="2200" spc="-40" dirty="0">
                <a:latin typeface="Arial MT"/>
                <a:cs typeface="Arial MT"/>
              </a:rPr>
              <a:t> </a:t>
            </a:r>
            <a:r>
              <a:rPr sz="2200" dirty="0">
                <a:latin typeface="Arial MT"/>
                <a:cs typeface="Arial MT"/>
              </a:rPr>
              <a:t>of</a:t>
            </a:r>
            <a:r>
              <a:rPr sz="2200" spc="-10" dirty="0">
                <a:latin typeface="Arial MT"/>
                <a:cs typeface="Arial MT"/>
              </a:rPr>
              <a:t> </a:t>
            </a:r>
            <a:r>
              <a:rPr sz="2200" dirty="0">
                <a:solidFill>
                  <a:srgbClr val="CC0000"/>
                </a:solidFill>
                <a:latin typeface="Arial MT"/>
                <a:cs typeface="Arial MT"/>
              </a:rPr>
              <a:t>SiO</a:t>
            </a:r>
            <a:r>
              <a:rPr sz="2100" baseline="-19841" dirty="0">
                <a:solidFill>
                  <a:srgbClr val="CC0000"/>
                </a:solidFill>
                <a:latin typeface="Arial MT"/>
                <a:cs typeface="Arial MT"/>
              </a:rPr>
              <a:t>2</a:t>
            </a:r>
            <a:r>
              <a:rPr sz="2100" spc="314" baseline="-19841" dirty="0">
                <a:solidFill>
                  <a:srgbClr val="CC0000"/>
                </a:solidFill>
                <a:latin typeface="Arial MT"/>
                <a:cs typeface="Arial MT"/>
              </a:rPr>
              <a:t> </a:t>
            </a:r>
            <a:r>
              <a:rPr sz="2200" dirty="0">
                <a:latin typeface="Arial MT"/>
                <a:cs typeface="Arial MT"/>
              </a:rPr>
              <a:t>and </a:t>
            </a:r>
            <a:r>
              <a:rPr sz="2200" spc="-20" dirty="0">
                <a:solidFill>
                  <a:srgbClr val="CC0000"/>
                </a:solidFill>
                <a:latin typeface="Arial MT"/>
                <a:cs typeface="Arial MT"/>
              </a:rPr>
              <a:t>total </a:t>
            </a:r>
            <a:r>
              <a:rPr sz="2200" dirty="0">
                <a:solidFill>
                  <a:srgbClr val="CC0000"/>
                </a:solidFill>
                <a:latin typeface="Arial MT"/>
                <a:cs typeface="Arial MT"/>
              </a:rPr>
              <a:t>alkalis</a:t>
            </a:r>
            <a:r>
              <a:rPr sz="2200" spc="-40" dirty="0">
                <a:solidFill>
                  <a:srgbClr val="CC0000"/>
                </a:solidFill>
                <a:latin typeface="Arial MT"/>
                <a:cs typeface="Arial MT"/>
              </a:rPr>
              <a:t> </a:t>
            </a:r>
            <a:r>
              <a:rPr sz="2200" spc="-40" dirty="0">
                <a:latin typeface="Arial MT"/>
                <a:cs typeface="Arial MT"/>
              </a:rPr>
              <a:t>(TAS </a:t>
            </a:r>
            <a:r>
              <a:rPr sz="2200" dirty="0">
                <a:latin typeface="Arial MT"/>
                <a:cs typeface="Arial MT"/>
              </a:rPr>
              <a:t>=</a:t>
            </a:r>
            <a:r>
              <a:rPr sz="2200" spc="-30" dirty="0">
                <a:latin typeface="Arial MT"/>
                <a:cs typeface="Arial MT"/>
              </a:rPr>
              <a:t> </a:t>
            </a:r>
            <a:r>
              <a:rPr sz="2200" dirty="0">
                <a:latin typeface="Arial MT"/>
                <a:cs typeface="Arial MT"/>
              </a:rPr>
              <a:t>Na</a:t>
            </a:r>
            <a:r>
              <a:rPr sz="2100" baseline="-19841" dirty="0">
                <a:latin typeface="Arial MT"/>
                <a:cs typeface="Arial MT"/>
              </a:rPr>
              <a:t>2</a:t>
            </a:r>
            <a:r>
              <a:rPr sz="2200" dirty="0">
                <a:latin typeface="Arial MT"/>
                <a:cs typeface="Arial MT"/>
              </a:rPr>
              <a:t>O</a:t>
            </a:r>
            <a:r>
              <a:rPr sz="2200" spc="-30" dirty="0">
                <a:latin typeface="Arial MT"/>
                <a:cs typeface="Arial MT"/>
              </a:rPr>
              <a:t> </a:t>
            </a:r>
            <a:r>
              <a:rPr sz="2200" dirty="0">
                <a:latin typeface="Arial MT"/>
                <a:cs typeface="Arial MT"/>
              </a:rPr>
              <a:t>+</a:t>
            </a:r>
            <a:r>
              <a:rPr sz="2200" spc="-30" dirty="0">
                <a:latin typeface="Arial MT"/>
                <a:cs typeface="Arial MT"/>
              </a:rPr>
              <a:t> </a:t>
            </a:r>
            <a:r>
              <a:rPr sz="2200" spc="-40" dirty="0">
                <a:latin typeface="Arial MT"/>
                <a:cs typeface="Arial MT"/>
              </a:rPr>
              <a:t>K</a:t>
            </a:r>
            <a:r>
              <a:rPr sz="2100" spc="-60" baseline="-19841" dirty="0">
                <a:latin typeface="Arial MT"/>
                <a:cs typeface="Arial MT"/>
              </a:rPr>
              <a:t>2</a:t>
            </a:r>
            <a:r>
              <a:rPr sz="2200" spc="-40" dirty="0">
                <a:latin typeface="Arial MT"/>
                <a:cs typeface="Arial MT"/>
              </a:rPr>
              <a:t>O) </a:t>
            </a:r>
            <a:r>
              <a:rPr sz="2200" dirty="0">
                <a:latin typeface="Arial MT"/>
                <a:cs typeface="Arial MT"/>
              </a:rPr>
              <a:t>concentrations</a:t>
            </a:r>
            <a:r>
              <a:rPr sz="2200" spc="-100" dirty="0">
                <a:latin typeface="Arial MT"/>
                <a:cs typeface="Arial MT"/>
              </a:rPr>
              <a:t> </a:t>
            </a:r>
            <a:r>
              <a:rPr sz="2200" dirty="0">
                <a:latin typeface="Arial MT"/>
                <a:cs typeface="Arial MT"/>
              </a:rPr>
              <a:t>in</a:t>
            </a:r>
            <a:r>
              <a:rPr sz="2200" spc="-50" dirty="0">
                <a:latin typeface="Arial MT"/>
                <a:cs typeface="Arial MT"/>
              </a:rPr>
              <a:t> </a:t>
            </a:r>
            <a:r>
              <a:rPr sz="2200" spc="-40" dirty="0">
                <a:latin typeface="Arial MT"/>
                <a:cs typeface="Arial MT"/>
              </a:rPr>
              <a:t>wt%.</a:t>
            </a:r>
            <a:endParaRPr sz="2200" dirty="0">
              <a:latin typeface="Arial MT"/>
              <a:cs typeface="Arial MT"/>
            </a:endParaRPr>
          </a:p>
        </p:txBody>
      </p:sp>
      <p:sp>
        <p:nvSpPr>
          <p:cNvPr id="6" name="object 6"/>
          <p:cNvSpPr txBox="1"/>
          <p:nvPr/>
        </p:nvSpPr>
        <p:spPr>
          <a:xfrm>
            <a:off x="5817476" y="318198"/>
            <a:ext cx="2666236" cy="332142"/>
          </a:xfrm>
          <a:prstGeom prst="rect">
            <a:avLst/>
          </a:prstGeom>
        </p:spPr>
        <p:txBody>
          <a:bodyPr vert="horz" wrap="square" lIns="0" tIns="24130" rIns="0" bIns="0" rtlCol="0">
            <a:spAutoFit/>
          </a:bodyPr>
          <a:lstStyle/>
          <a:p>
            <a:pPr marL="525780">
              <a:spcBef>
                <a:spcPts val="190"/>
              </a:spcBef>
            </a:pPr>
            <a:r>
              <a:rPr sz="2000" spc="-50" dirty="0">
                <a:solidFill>
                  <a:srgbClr val="CC0000"/>
                </a:solidFill>
                <a:latin typeface="Arial MT"/>
                <a:cs typeface="Arial MT"/>
              </a:rPr>
              <a:t>TAS</a:t>
            </a:r>
            <a:r>
              <a:rPr lang="en-IN" sz="2000" dirty="0">
                <a:latin typeface="Arial MT"/>
                <a:cs typeface="Arial MT"/>
              </a:rPr>
              <a:t> </a:t>
            </a:r>
            <a:r>
              <a:rPr sz="2000" spc="-20" dirty="0">
                <a:solidFill>
                  <a:srgbClr val="CC0000"/>
                </a:solidFill>
                <a:latin typeface="Arial MT"/>
                <a:cs typeface="Arial MT"/>
              </a:rPr>
              <a:t>diagrams</a:t>
            </a:r>
            <a:endParaRPr sz="2000" dirty="0">
              <a:latin typeface="Arial MT"/>
              <a:cs typeface="Arial MT"/>
            </a:endParaRPr>
          </a:p>
        </p:txBody>
      </p:sp>
      <p:sp>
        <p:nvSpPr>
          <p:cNvPr id="7" name="object 7"/>
          <p:cNvSpPr/>
          <p:nvPr/>
        </p:nvSpPr>
        <p:spPr>
          <a:xfrm>
            <a:off x="507" y="1779"/>
            <a:ext cx="9142730" cy="6856730"/>
          </a:xfrm>
          <a:custGeom>
            <a:avLst/>
            <a:gdLst/>
            <a:ahLst/>
            <a:cxnLst/>
            <a:rect l="l" t="t" r="r" b="b"/>
            <a:pathLst>
              <a:path w="4571365" h="3428365">
                <a:moveTo>
                  <a:pt x="0" y="3428110"/>
                </a:moveTo>
                <a:lnTo>
                  <a:pt x="4571365" y="3428110"/>
                </a:lnTo>
                <a:lnTo>
                  <a:pt x="4571365" y="0"/>
                </a:lnTo>
                <a:lnTo>
                  <a:pt x="0" y="0"/>
                </a:lnTo>
                <a:lnTo>
                  <a:pt x="0" y="3428110"/>
                </a:lnTo>
                <a:close/>
              </a:path>
            </a:pathLst>
          </a:custGeom>
          <a:ln w="24384">
            <a:solidFill>
              <a:srgbClr val="000000"/>
            </a:solidFill>
          </a:ln>
        </p:spPr>
        <p:txBody>
          <a:bodyPr wrap="square" lIns="0" tIns="0" rIns="0" bIns="0" rtlCol="0"/>
          <a:lstStyle/>
          <a:p>
            <a:endParaRPr/>
          </a:p>
        </p:txBody>
      </p:sp>
      <p:pic>
        <p:nvPicPr>
          <p:cNvPr id="1026" name="Picture 2">
            <a:extLst>
              <a:ext uri="{FF2B5EF4-FFF2-40B4-BE49-F238E27FC236}">
                <a16:creationId xmlns:a16="http://schemas.microsoft.com/office/drawing/2014/main" id="{1E9D0F06-D5F9-4A69-8B17-FB80E978D8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28241" y="898425"/>
            <a:ext cx="4214996" cy="3140087"/>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9B75C2FA-5C05-4BFE-A90E-819C4FBFBECB}"/>
              </a:ext>
            </a:extLst>
          </p:cNvPr>
          <p:cNvSpPr txBox="1"/>
          <p:nvPr/>
        </p:nvSpPr>
        <p:spPr>
          <a:xfrm>
            <a:off x="5447554" y="4143976"/>
            <a:ext cx="4650826" cy="369332"/>
          </a:xfrm>
          <a:prstGeom prst="rect">
            <a:avLst/>
          </a:prstGeom>
          <a:noFill/>
        </p:spPr>
        <p:txBody>
          <a:bodyPr wrap="square">
            <a:spAutoFit/>
          </a:bodyPr>
          <a:lstStyle/>
          <a:p>
            <a:pPr marL="25400">
              <a:spcBef>
                <a:spcPts val="190"/>
              </a:spcBef>
            </a:pPr>
            <a:r>
              <a:rPr lang="en-IN" sz="1800" spc="-20" dirty="0">
                <a:solidFill>
                  <a:srgbClr val="0000FF"/>
                </a:solidFill>
                <a:latin typeface="Arial MT"/>
                <a:cs typeface="Arial MT"/>
              </a:rPr>
              <a:t>Source: Yu et al., 2011</a:t>
            </a:r>
            <a:endParaRPr lang="en-IN" sz="1800" dirty="0">
              <a:latin typeface="Arial MT"/>
              <a:cs typeface="Arial M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E2168-A335-457D-A379-AECE4768E0E3}"/>
              </a:ext>
            </a:extLst>
          </p:cNvPr>
          <p:cNvSpPr>
            <a:spLocks noGrp="1"/>
          </p:cNvSpPr>
          <p:nvPr>
            <p:ph type="title"/>
          </p:nvPr>
        </p:nvSpPr>
        <p:spPr/>
        <p:txBody>
          <a:bodyPr/>
          <a:lstStyle/>
          <a:p>
            <a:r>
              <a:rPr lang="en-IN" dirty="0"/>
              <a:t>TAS diagrams in geochemistry</a:t>
            </a:r>
          </a:p>
        </p:txBody>
      </p:sp>
      <p:pic>
        <p:nvPicPr>
          <p:cNvPr id="4098" name="Picture 2">
            <a:extLst>
              <a:ext uri="{FF2B5EF4-FFF2-40B4-BE49-F238E27FC236}">
                <a16:creationId xmlns:a16="http://schemas.microsoft.com/office/drawing/2014/main" id="{5F43CE75-AC6E-4612-9C5D-F3E9639A97F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95648" y="1676400"/>
            <a:ext cx="4397946" cy="387569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C52B66AE-F277-4927-BC36-FC704FE386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2012" y="1755508"/>
            <a:ext cx="4397945" cy="327638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BE884EB-9F95-4624-9244-CB0522F99111}"/>
              </a:ext>
            </a:extLst>
          </p:cNvPr>
          <p:cNvSpPr txBox="1"/>
          <p:nvPr/>
        </p:nvSpPr>
        <p:spPr>
          <a:xfrm>
            <a:off x="6019800" y="6214030"/>
            <a:ext cx="3276600" cy="369332"/>
          </a:xfrm>
          <a:prstGeom prst="rect">
            <a:avLst/>
          </a:prstGeom>
          <a:noFill/>
        </p:spPr>
        <p:txBody>
          <a:bodyPr wrap="square">
            <a:spAutoFit/>
          </a:bodyPr>
          <a:lstStyle/>
          <a:p>
            <a:pPr marL="25400">
              <a:spcBef>
                <a:spcPts val="190"/>
              </a:spcBef>
            </a:pPr>
            <a:r>
              <a:rPr lang="en-IN" sz="1800" spc="-20" dirty="0">
                <a:solidFill>
                  <a:srgbClr val="0000FF"/>
                </a:solidFill>
                <a:latin typeface="Arial MT"/>
                <a:cs typeface="Arial MT"/>
              </a:rPr>
              <a:t>Source:</a:t>
            </a:r>
            <a:r>
              <a:rPr lang="da-DK" sz="1800" spc="-20" dirty="0">
                <a:solidFill>
                  <a:srgbClr val="0000FF"/>
                </a:solidFill>
                <a:latin typeface="Arial MT"/>
                <a:cs typeface="Arial MT"/>
              </a:rPr>
              <a:t>Cox et al., 1979</a:t>
            </a:r>
            <a:r>
              <a:rPr lang="en-IN" sz="1800" spc="-20" dirty="0">
                <a:solidFill>
                  <a:srgbClr val="0000FF"/>
                </a:solidFill>
                <a:latin typeface="Arial MT"/>
                <a:cs typeface="Arial MT"/>
              </a:rPr>
              <a:t> </a:t>
            </a:r>
            <a:endParaRPr lang="en-IN" sz="1800" dirty="0">
              <a:latin typeface="Arial MT"/>
              <a:cs typeface="Arial MT"/>
            </a:endParaRPr>
          </a:p>
        </p:txBody>
      </p:sp>
    </p:spTree>
    <p:extLst>
      <p:ext uri="{BB962C8B-B14F-4D97-AF65-F5344CB8AC3E}">
        <p14:creationId xmlns:p14="http://schemas.microsoft.com/office/powerpoint/2010/main" val="8006087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3" name="Rectangle 5"/>
          <p:cNvSpPr>
            <a:spLocks noGrp="1" noChangeArrowheads="1"/>
          </p:cNvSpPr>
          <p:nvPr>
            <p:ph type="body" idx="1"/>
          </p:nvPr>
        </p:nvSpPr>
        <p:spPr>
          <a:xfrm>
            <a:off x="228600" y="228601"/>
            <a:ext cx="8686800" cy="1219200"/>
          </a:xfrm>
        </p:spPr>
        <p:txBody>
          <a:bodyPr/>
          <a:lstStyle/>
          <a:p>
            <a:pPr algn="just">
              <a:buFontTx/>
              <a:buNone/>
            </a:pPr>
            <a:r>
              <a:rPr lang="en-US" sz="3600" dirty="0">
                <a:effectLst>
                  <a:outerShdw blurRad="38100" dist="38100" dir="2700000" algn="tl">
                    <a:srgbClr val="000000"/>
                  </a:outerShdw>
                </a:effectLst>
                <a:latin typeface="Arial" pitchFamily="34" charset="0"/>
                <a:cs typeface="Arial" pitchFamily="34" charset="0"/>
              </a:rPr>
              <a:t>  Why do we get so much variation in igneous rocks?</a:t>
            </a:r>
          </a:p>
          <a:p>
            <a:pPr>
              <a:buFontTx/>
              <a:buNone/>
            </a:pPr>
            <a:endParaRPr lang="en-US" dirty="0">
              <a:solidFill>
                <a:srgbClr val="FF6600"/>
              </a:solidFill>
              <a:effectLst>
                <a:outerShdw blurRad="38100" dist="38100" dir="2700000" algn="tl">
                  <a:srgbClr val="000000"/>
                </a:outerShdw>
              </a:effectLst>
              <a:latin typeface="Arial Black" pitchFamily="34" charset="0"/>
            </a:endParaRPr>
          </a:p>
        </p:txBody>
      </p:sp>
      <p:pic>
        <p:nvPicPr>
          <p:cNvPr id="2054" name="Picture 6" descr="DSC01272"/>
          <p:cNvPicPr>
            <a:picLocks noChangeAspect="1" noChangeArrowheads="1"/>
          </p:cNvPicPr>
          <p:nvPr/>
        </p:nvPicPr>
        <p:blipFill>
          <a:blip r:embed="rId2" cstate="print"/>
          <a:srcRect/>
          <a:stretch>
            <a:fillRect/>
          </a:stretch>
        </p:blipFill>
        <p:spPr bwMode="auto">
          <a:xfrm>
            <a:off x="4876800" y="3429000"/>
            <a:ext cx="2057400" cy="1543050"/>
          </a:xfrm>
          <a:prstGeom prst="rect">
            <a:avLst/>
          </a:prstGeom>
          <a:noFill/>
        </p:spPr>
      </p:pic>
      <p:pic>
        <p:nvPicPr>
          <p:cNvPr id="2055" name="Picture 7" descr="DSC01265"/>
          <p:cNvPicPr>
            <a:picLocks noChangeAspect="1" noChangeArrowheads="1"/>
          </p:cNvPicPr>
          <p:nvPr/>
        </p:nvPicPr>
        <p:blipFill>
          <a:blip r:embed="rId3" cstate="print"/>
          <a:srcRect/>
          <a:stretch>
            <a:fillRect/>
          </a:stretch>
        </p:blipFill>
        <p:spPr bwMode="auto">
          <a:xfrm>
            <a:off x="7010400" y="3371850"/>
            <a:ext cx="2057400" cy="1543050"/>
          </a:xfrm>
          <a:prstGeom prst="rect">
            <a:avLst/>
          </a:prstGeom>
          <a:noFill/>
        </p:spPr>
      </p:pic>
      <p:pic>
        <p:nvPicPr>
          <p:cNvPr id="2057" name="Picture 9" descr="DSC01267"/>
          <p:cNvPicPr>
            <a:picLocks noChangeAspect="1" noChangeArrowheads="1"/>
          </p:cNvPicPr>
          <p:nvPr/>
        </p:nvPicPr>
        <p:blipFill>
          <a:blip r:embed="rId4" cstate="print"/>
          <a:srcRect/>
          <a:stretch>
            <a:fillRect/>
          </a:stretch>
        </p:blipFill>
        <p:spPr bwMode="auto">
          <a:xfrm>
            <a:off x="4800600" y="1676400"/>
            <a:ext cx="2133600" cy="1600200"/>
          </a:xfrm>
          <a:prstGeom prst="rect">
            <a:avLst/>
          </a:prstGeom>
          <a:noFill/>
        </p:spPr>
      </p:pic>
      <p:pic>
        <p:nvPicPr>
          <p:cNvPr id="2058" name="Picture 10" descr="DSC01268"/>
          <p:cNvPicPr>
            <a:picLocks noChangeAspect="1" noChangeArrowheads="1"/>
          </p:cNvPicPr>
          <p:nvPr/>
        </p:nvPicPr>
        <p:blipFill>
          <a:blip r:embed="rId5" cstate="print"/>
          <a:srcRect/>
          <a:stretch>
            <a:fillRect/>
          </a:stretch>
        </p:blipFill>
        <p:spPr bwMode="auto">
          <a:xfrm>
            <a:off x="228600" y="1676400"/>
            <a:ext cx="2209800" cy="1657350"/>
          </a:xfrm>
          <a:prstGeom prst="rect">
            <a:avLst/>
          </a:prstGeom>
          <a:noFill/>
        </p:spPr>
      </p:pic>
      <p:pic>
        <p:nvPicPr>
          <p:cNvPr id="2059" name="Picture 11" descr="DSC01269"/>
          <p:cNvPicPr>
            <a:picLocks noChangeAspect="1" noChangeArrowheads="1"/>
          </p:cNvPicPr>
          <p:nvPr/>
        </p:nvPicPr>
        <p:blipFill>
          <a:blip r:embed="rId6" cstate="print"/>
          <a:srcRect/>
          <a:stretch>
            <a:fillRect/>
          </a:stretch>
        </p:blipFill>
        <p:spPr bwMode="auto">
          <a:xfrm>
            <a:off x="2590800" y="3429000"/>
            <a:ext cx="1981200" cy="1466850"/>
          </a:xfrm>
          <a:prstGeom prst="rect">
            <a:avLst/>
          </a:prstGeom>
          <a:noFill/>
        </p:spPr>
      </p:pic>
      <p:sp>
        <p:nvSpPr>
          <p:cNvPr id="14" name="TextBox 13"/>
          <p:cNvSpPr txBox="1"/>
          <p:nvPr/>
        </p:nvSpPr>
        <p:spPr>
          <a:xfrm>
            <a:off x="228600" y="5105400"/>
            <a:ext cx="8763000" cy="830997"/>
          </a:xfrm>
          <a:prstGeom prst="rect">
            <a:avLst/>
          </a:prstGeom>
          <a:noFill/>
        </p:spPr>
        <p:txBody>
          <a:bodyPr wrap="square" rtlCol="0">
            <a:spAutoFit/>
          </a:bodyPr>
          <a:lstStyle/>
          <a:p>
            <a:pPr algn="just"/>
            <a:endParaRPr lang="en-US" sz="2000" b="1" dirty="0">
              <a:latin typeface="Arial" pitchFamily="34" charset="0"/>
              <a:cs typeface="Arial" pitchFamily="34" charset="0"/>
            </a:endParaRPr>
          </a:p>
          <a:p>
            <a:pPr algn="just"/>
            <a:r>
              <a:rPr lang="en-US" sz="2000" b="1" dirty="0">
                <a:latin typeface="Arial" pitchFamily="34" charset="0"/>
                <a:cs typeface="Arial" pitchFamily="34" charset="0"/>
              </a:rPr>
              <a:t>Over </a:t>
            </a:r>
            <a:r>
              <a:rPr lang="en-US" sz="2800" b="1" dirty="0">
                <a:latin typeface="Arial" pitchFamily="34" charset="0"/>
                <a:cs typeface="Arial" pitchFamily="34" charset="0"/>
              </a:rPr>
              <a:t>700 types </a:t>
            </a:r>
            <a:r>
              <a:rPr lang="en-US" sz="2000" b="1" dirty="0">
                <a:latin typeface="Arial" pitchFamily="34" charset="0"/>
                <a:cs typeface="Arial" pitchFamily="34" charset="0"/>
              </a:rPr>
              <a:t>of igneous rocks are found. </a:t>
            </a:r>
          </a:p>
        </p:txBody>
      </p:sp>
      <p:pic>
        <p:nvPicPr>
          <p:cNvPr id="12" name="Picture 24" descr="D:\Glens stuff\CDLI Project\pics\Unit 3\Igneous\Basalt.jpg"/>
          <p:cNvPicPr>
            <a:picLocks noChangeAspect="1" noChangeArrowheads="1"/>
          </p:cNvPicPr>
          <p:nvPr/>
        </p:nvPicPr>
        <p:blipFill>
          <a:blip r:embed="rId7"/>
          <a:srcRect/>
          <a:stretch>
            <a:fillRect/>
          </a:stretch>
        </p:blipFill>
        <p:spPr bwMode="auto">
          <a:xfrm>
            <a:off x="7010400" y="1592468"/>
            <a:ext cx="1981200" cy="1607931"/>
          </a:xfrm>
          <a:prstGeom prst="rect">
            <a:avLst/>
          </a:prstGeom>
          <a:noFill/>
        </p:spPr>
      </p:pic>
      <p:pic>
        <p:nvPicPr>
          <p:cNvPr id="13" name="Picture 3"/>
          <p:cNvPicPr>
            <a:picLocks noChangeAspect="1" noChangeArrowheads="1"/>
          </p:cNvPicPr>
          <p:nvPr/>
        </p:nvPicPr>
        <p:blipFill>
          <a:blip r:embed="rId8"/>
          <a:srcRect/>
          <a:stretch>
            <a:fillRect/>
          </a:stretch>
        </p:blipFill>
        <p:spPr bwMode="auto">
          <a:xfrm>
            <a:off x="2590800" y="1676400"/>
            <a:ext cx="2148840" cy="1600200"/>
          </a:xfrm>
          <a:prstGeom prst="rect">
            <a:avLst/>
          </a:prstGeom>
          <a:noFill/>
          <a:ln w="9525">
            <a:noFill/>
            <a:miter lim="800000"/>
            <a:headEnd/>
            <a:tailEnd/>
          </a:ln>
          <a:effectLst/>
        </p:spPr>
      </p:pic>
      <p:pic>
        <p:nvPicPr>
          <p:cNvPr id="15" name="Picture 2"/>
          <p:cNvPicPr>
            <a:picLocks noChangeAspect="1" noChangeArrowheads="1"/>
          </p:cNvPicPr>
          <p:nvPr/>
        </p:nvPicPr>
        <p:blipFill>
          <a:blip r:embed="rId9"/>
          <a:srcRect/>
          <a:stretch>
            <a:fillRect/>
          </a:stretch>
        </p:blipFill>
        <p:spPr bwMode="auto">
          <a:xfrm>
            <a:off x="304800" y="3505200"/>
            <a:ext cx="2057400" cy="1371600"/>
          </a:xfrm>
          <a:prstGeom prst="rect">
            <a:avLst/>
          </a:prstGeom>
          <a:noFill/>
          <a:ln w="9525">
            <a:noFill/>
            <a:miter lim="800000"/>
            <a:headEnd/>
            <a:tailEnd/>
          </a:ln>
          <a:effectLst/>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012.png"/>
          <p:cNvPicPr>
            <a:picLocks noChangeAspect="1"/>
          </p:cNvPicPr>
          <p:nvPr/>
        </p:nvPicPr>
        <p:blipFill>
          <a:blip r:embed="rId2"/>
          <a:stretch>
            <a:fillRect/>
          </a:stretch>
        </p:blipFill>
        <p:spPr>
          <a:xfrm>
            <a:off x="47151" y="914400"/>
            <a:ext cx="9020649" cy="3581400"/>
          </a:xfrm>
          <a:prstGeom prst="rect">
            <a:avLst/>
          </a:prstGeom>
        </p:spPr>
      </p:pic>
      <p:sp>
        <p:nvSpPr>
          <p:cNvPr id="3" name="Title 1">
            <a:extLst>
              <a:ext uri="{FF2B5EF4-FFF2-40B4-BE49-F238E27FC236}">
                <a16:creationId xmlns:a16="http://schemas.microsoft.com/office/drawing/2014/main" id="{63E14E6B-2D8A-42F0-8B6D-E54CA2BC2F99}"/>
              </a:ext>
            </a:extLst>
          </p:cNvPr>
          <p:cNvSpPr txBox="1">
            <a:spLocks/>
          </p:cNvSpPr>
          <p:nvPr/>
        </p:nvSpPr>
        <p:spPr>
          <a:xfrm>
            <a:off x="-1143000" y="-18393"/>
            <a:ext cx="8229600" cy="715962"/>
          </a:xfrm>
          <a:prstGeom prst="rect">
            <a:avLst/>
          </a:prstGeom>
        </p:spPr>
        <p:txBody>
          <a:bodyPr>
            <a:normAutofit fontScale="97500"/>
          </a:bodyPr>
          <a:lst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Arial" pitchFamily="34" charset="0"/>
              </a:defRPr>
            </a:lvl2pPr>
            <a:lvl3pPr algn="ctr" rtl="0" eaLnBrk="0" fontAlgn="base" hangingPunct="0">
              <a:spcBef>
                <a:spcPct val="0"/>
              </a:spcBef>
              <a:spcAft>
                <a:spcPct val="0"/>
              </a:spcAft>
              <a:defRPr sz="4400">
                <a:solidFill>
                  <a:schemeClr val="tx2"/>
                </a:solidFill>
                <a:latin typeface="Arial" pitchFamily="34" charset="0"/>
              </a:defRPr>
            </a:lvl3pPr>
            <a:lvl4pPr algn="ctr" rtl="0" eaLnBrk="0" fontAlgn="base" hangingPunct="0">
              <a:spcBef>
                <a:spcPct val="0"/>
              </a:spcBef>
              <a:spcAft>
                <a:spcPct val="0"/>
              </a:spcAft>
              <a:defRPr sz="4400">
                <a:solidFill>
                  <a:schemeClr val="tx2"/>
                </a:solidFill>
                <a:latin typeface="Arial" pitchFamily="34" charset="0"/>
              </a:defRPr>
            </a:lvl4pPr>
            <a:lvl5pPr algn="ctr" rtl="0" eaLnBrk="0" fontAlgn="base" hangingPunct="0">
              <a:spcBef>
                <a:spcPct val="0"/>
              </a:spcBef>
              <a:spcAft>
                <a:spcPct val="0"/>
              </a:spcAft>
              <a:defRPr sz="4400">
                <a:solidFill>
                  <a:schemeClr val="tx2"/>
                </a:solidFill>
                <a:latin typeface="Arial" pitchFamily="34" charset="0"/>
              </a:defRPr>
            </a:lvl5pPr>
            <a:lvl6pPr marL="457200" algn="ctr" rtl="0" fontAlgn="base">
              <a:spcBef>
                <a:spcPct val="0"/>
              </a:spcBef>
              <a:spcAft>
                <a:spcPct val="0"/>
              </a:spcAft>
              <a:defRPr sz="4400">
                <a:solidFill>
                  <a:schemeClr val="tx2"/>
                </a:solidFill>
                <a:latin typeface="Arial" pitchFamily="34" charset="0"/>
              </a:defRPr>
            </a:lvl6pPr>
            <a:lvl7pPr marL="914400" algn="ctr" rtl="0" fontAlgn="base">
              <a:spcBef>
                <a:spcPct val="0"/>
              </a:spcBef>
              <a:spcAft>
                <a:spcPct val="0"/>
              </a:spcAft>
              <a:defRPr sz="4400">
                <a:solidFill>
                  <a:schemeClr val="tx2"/>
                </a:solidFill>
                <a:latin typeface="Arial" pitchFamily="34" charset="0"/>
              </a:defRPr>
            </a:lvl7pPr>
            <a:lvl8pPr marL="1371600" algn="ctr" rtl="0" fontAlgn="base">
              <a:spcBef>
                <a:spcPct val="0"/>
              </a:spcBef>
              <a:spcAft>
                <a:spcPct val="0"/>
              </a:spcAft>
              <a:defRPr sz="4400">
                <a:solidFill>
                  <a:schemeClr val="tx2"/>
                </a:solidFill>
                <a:latin typeface="Arial" pitchFamily="34" charset="0"/>
              </a:defRPr>
            </a:lvl8pPr>
            <a:lvl9pPr marL="1828800" algn="ctr" rtl="0" fontAlgn="base">
              <a:spcBef>
                <a:spcPct val="0"/>
              </a:spcBef>
              <a:spcAft>
                <a:spcPct val="0"/>
              </a:spcAft>
              <a:defRPr sz="4400">
                <a:solidFill>
                  <a:schemeClr val="tx2"/>
                </a:solidFill>
                <a:latin typeface="Arial" pitchFamily="34" charset="0"/>
              </a:defRPr>
            </a:lvl9pPr>
          </a:lstStyle>
          <a:p>
            <a:r>
              <a:rPr lang="en-US" sz="4000" b="1" kern="0" dirty="0">
                <a:latin typeface="Arial" pitchFamily="34" charset="0"/>
                <a:cs typeface="Arial" pitchFamily="34" charset="0"/>
              </a:rPr>
              <a:t>Magmatic Differentiation </a:t>
            </a:r>
            <a:endParaRPr lang="en-US" b="1" kern="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52400"/>
            <a:ext cx="8229600" cy="715962"/>
          </a:xfrm>
        </p:spPr>
        <p:txBody>
          <a:bodyPr>
            <a:normAutofit fontScale="90000"/>
          </a:bodyPr>
          <a:lstStyle/>
          <a:p>
            <a:r>
              <a:rPr lang="en-US" b="1" dirty="0"/>
              <a:t>Mechanism of </a:t>
            </a:r>
            <a:r>
              <a:rPr lang="en-US" sz="3600" b="1" dirty="0">
                <a:latin typeface="Arial" pitchFamily="34" charset="0"/>
                <a:cs typeface="Arial" pitchFamily="34" charset="0"/>
              </a:rPr>
              <a:t>Differentiation</a:t>
            </a:r>
          </a:p>
        </p:txBody>
      </p:sp>
      <p:sp>
        <p:nvSpPr>
          <p:cNvPr id="3" name="Content Placeholder 2"/>
          <p:cNvSpPr>
            <a:spLocks noGrp="1"/>
          </p:cNvSpPr>
          <p:nvPr>
            <p:ph idx="1"/>
          </p:nvPr>
        </p:nvSpPr>
        <p:spPr>
          <a:xfrm>
            <a:off x="381000" y="914400"/>
            <a:ext cx="8610600" cy="5638800"/>
          </a:xfrm>
        </p:spPr>
        <p:txBody>
          <a:bodyPr>
            <a:normAutofit/>
          </a:bodyPr>
          <a:lstStyle/>
          <a:p>
            <a:pPr marL="0" indent="0">
              <a:buNone/>
            </a:pPr>
            <a:endParaRPr lang="en-US" dirty="0">
              <a:latin typeface="Arial" pitchFamily="34" charset="0"/>
              <a:cs typeface="Arial" pitchFamily="34" charset="0"/>
            </a:endParaRPr>
          </a:p>
          <a:p>
            <a:pPr lvl="1"/>
            <a:r>
              <a:rPr lang="en-US" dirty="0">
                <a:latin typeface="Arial" pitchFamily="34" charset="0"/>
                <a:cs typeface="Arial" pitchFamily="34" charset="0"/>
              </a:rPr>
              <a:t>Fractional Crystallization</a:t>
            </a:r>
          </a:p>
          <a:p>
            <a:pPr lvl="1">
              <a:buNone/>
            </a:pPr>
            <a:endParaRPr lang="en-US" dirty="0">
              <a:latin typeface="Arial" pitchFamily="34" charset="0"/>
              <a:cs typeface="Arial" pitchFamily="34" charset="0"/>
            </a:endParaRPr>
          </a:p>
          <a:p>
            <a:pPr lvl="1"/>
            <a:r>
              <a:rPr lang="en-US" dirty="0">
                <a:latin typeface="Arial" pitchFamily="34" charset="0"/>
                <a:cs typeface="Arial" pitchFamily="34" charset="0"/>
              </a:rPr>
              <a:t>Liquid Immiscibility</a:t>
            </a:r>
          </a:p>
          <a:p>
            <a:pPr marL="457200" lvl="1" indent="0">
              <a:buNone/>
            </a:pPr>
            <a:endParaRPr lang="en-US" dirty="0">
              <a:latin typeface="Arial" pitchFamily="34" charset="0"/>
              <a:cs typeface="Arial" pitchFamily="34" charset="0"/>
            </a:endParaRPr>
          </a:p>
          <a:p>
            <a:pPr lvl="1"/>
            <a:r>
              <a:rPr lang="en-US" dirty="0">
                <a:latin typeface="Arial" pitchFamily="34" charset="0"/>
                <a:cs typeface="Arial" pitchFamily="34" charset="0"/>
              </a:rPr>
              <a:t>Assimilation</a:t>
            </a:r>
          </a:p>
          <a:p>
            <a:pPr lvl="1">
              <a:buNone/>
            </a:pPr>
            <a:endParaRPr lang="en-US" dirty="0">
              <a:latin typeface="Arial" pitchFamily="34" charset="0"/>
              <a:cs typeface="Arial" pitchFamily="34" charset="0"/>
            </a:endParaRPr>
          </a:p>
          <a:p>
            <a:pPr lvl="1">
              <a:buNone/>
            </a:pPr>
            <a:endParaRPr lang="en-US" dirty="0">
              <a:latin typeface="Arial" pitchFamily="34" charset="0"/>
              <a:cs typeface="Arial"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792162"/>
          </a:xfrm>
        </p:spPr>
        <p:txBody>
          <a:bodyPr>
            <a:normAutofit/>
          </a:bodyPr>
          <a:lstStyle/>
          <a:p>
            <a:r>
              <a:rPr lang="en-US" sz="3600" b="1" dirty="0">
                <a:latin typeface="Arial" pitchFamily="34" charset="0"/>
                <a:cs typeface="Arial" pitchFamily="34" charset="0"/>
              </a:rPr>
              <a:t>Fractional Crystallization</a:t>
            </a:r>
          </a:p>
        </p:txBody>
      </p:sp>
      <p:sp>
        <p:nvSpPr>
          <p:cNvPr id="3" name="Content Placeholder 2"/>
          <p:cNvSpPr>
            <a:spLocks noGrp="1"/>
          </p:cNvSpPr>
          <p:nvPr>
            <p:ph idx="1"/>
          </p:nvPr>
        </p:nvSpPr>
        <p:spPr>
          <a:xfrm>
            <a:off x="76200" y="983674"/>
            <a:ext cx="8915400" cy="5645726"/>
          </a:xfrm>
        </p:spPr>
        <p:txBody>
          <a:bodyPr/>
          <a:lstStyle/>
          <a:p>
            <a:pPr algn="just"/>
            <a:r>
              <a:rPr lang="en-US" sz="2800" dirty="0">
                <a:latin typeface="Arial" pitchFamily="34" charset="0"/>
                <a:cs typeface="Arial" pitchFamily="34" charset="0"/>
              </a:rPr>
              <a:t>Most dominant mechanism of magmatic differentiation.</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Fractional crystallization is the segregation and removal  of crystallized minerals from a melt, which changes the composition of the melt.</a:t>
            </a:r>
          </a:p>
          <a:p>
            <a:pPr algn="just"/>
            <a:endParaRPr lang="en-US" sz="2800" dirty="0">
              <a:latin typeface="Arial" pitchFamily="34" charset="0"/>
              <a:cs typeface="Arial" pitchFamily="34" charset="0"/>
            </a:endParaRPr>
          </a:p>
          <a:p>
            <a:pPr algn="just"/>
            <a:endParaRPr lang="en-US" sz="2800" dirty="0">
              <a:latin typeface="Arial" pitchFamily="34" charset="0"/>
              <a:cs typeface="Arial" pitchFamily="34" charset="0"/>
            </a:endParaRPr>
          </a:p>
          <a:p>
            <a:pPr algn="just"/>
            <a:endParaRPr lang="en-US" sz="2800" dirty="0">
              <a:latin typeface="Arial" pitchFamily="34" charset="0"/>
              <a:cs typeface="Arial" pitchFamily="34" charset="0"/>
            </a:endParaRPr>
          </a:p>
          <a:p>
            <a:pPr marL="914400" lvl="1" indent="-457200" algn="just">
              <a:buNone/>
            </a:pPr>
            <a:r>
              <a:rPr lang="en-US" dirty="0">
                <a:latin typeface="Arial" pitchFamily="34" charset="0"/>
                <a:cs typeface="Arial" pitchFamily="34" charset="0"/>
              </a:rPr>
              <a:t> </a:t>
            </a:r>
          </a:p>
          <a:p>
            <a:pPr>
              <a:buNone/>
            </a:pPr>
            <a:endParaRPr lang="en-US" dirty="0"/>
          </a:p>
          <a:p>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04800" y="144518"/>
            <a:ext cx="8534400" cy="5897563"/>
          </a:xfrm>
        </p:spPr>
        <p:txBody>
          <a:bodyPr/>
          <a:lstStyle/>
          <a:p>
            <a:pPr algn="just"/>
            <a:r>
              <a:rPr lang="en-US" sz="2800" dirty="0">
                <a:latin typeface="Arial" pitchFamily="34" charset="0"/>
                <a:cs typeface="Arial" pitchFamily="34" charset="0"/>
              </a:rPr>
              <a:t>The process of Fractional Crystallization involves the separation and preservation of early-forming minerals, usually due to density differences.</a:t>
            </a:r>
          </a:p>
          <a:p>
            <a:endParaRPr lang="en-US" dirty="0"/>
          </a:p>
        </p:txBody>
      </p:sp>
      <p:pic>
        <p:nvPicPr>
          <p:cNvPr id="4" name="Picture 3" descr="015.jpg"/>
          <p:cNvPicPr>
            <a:picLocks noChangeAspect="1"/>
          </p:cNvPicPr>
          <p:nvPr/>
        </p:nvPicPr>
        <p:blipFill>
          <a:blip r:embed="rId2" cstate="print"/>
          <a:stretch>
            <a:fillRect/>
          </a:stretch>
        </p:blipFill>
        <p:spPr>
          <a:xfrm>
            <a:off x="381000" y="1600200"/>
            <a:ext cx="3886200" cy="5190236"/>
          </a:xfrm>
          <a:prstGeom prst="rect">
            <a:avLst/>
          </a:prstGeom>
        </p:spPr>
      </p:pic>
      <p:sp>
        <p:nvSpPr>
          <p:cNvPr id="5" name="TextBox 4"/>
          <p:cNvSpPr txBox="1"/>
          <p:nvPr/>
        </p:nvSpPr>
        <p:spPr>
          <a:xfrm>
            <a:off x="4343400" y="1905000"/>
            <a:ext cx="4572000" cy="3785652"/>
          </a:xfrm>
          <a:prstGeom prst="rect">
            <a:avLst/>
          </a:prstGeom>
          <a:noFill/>
        </p:spPr>
        <p:txBody>
          <a:bodyPr wrap="square" rtlCol="0">
            <a:spAutoFit/>
          </a:bodyPr>
          <a:lstStyle/>
          <a:p>
            <a:r>
              <a:rPr lang="en-US" sz="2000" dirty="0">
                <a:latin typeface="Arial" pitchFamily="34" charset="0"/>
                <a:cs typeface="Arial" pitchFamily="34" charset="0"/>
              </a:rPr>
              <a:t>Figure A show CRYSTAL SETTLING (a form of FRACTIONAL CRYSTALLIZATION.)  </a:t>
            </a:r>
          </a:p>
          <a:p>
            <a:endParaRPr lang="en-US" sz="2000" dirty="0">
              <a:latin typeface="Arial" pitchFamily="34" charset="0"/>
              <a:cs typeface="Arial" pitchFamily="34" charset="0"/>
            </a:endParaRPr>
          </a:p>
          <a:p>
            <a:endParaRPr lang="en-US" sz="2000" dirty="0">
              <a:latin typeface="Arial" pitchFamily="34" charset="0"/>
              <a:cs typeface="Arial" pitchFamily="34" charset="0"/>
            </a:endParaRPr>
          </a:p>
          <a:p>
            <a:endParaRPr lang="en-US" sz="2000" dirty="0">
              <a:latin typeface="Arial" pitchFamily="34" charset="0"/>
              <a:cs typeface="Arial" pitchFamily="34" charset="0"/>
            </a:endParaRPr>
          </a:p>
          <a:p>
            <a:endParaRPr lang="en-US" sz="2000" dirty="0">
              <a:latin typeface="Arial" pitchFamily="34" charset="0"/>
              <a:cs typeface="Arial" pitchFamily="34" charset="0"/>
            </a:endParaRPr>
          </a:p>
          <a:p>
            <a:endParaRPr lang="en-US" sz="2000" dirty="0">
              <a:latin typeface="Arial" pitchFamily="34" charset="0"/>
              <a:cs typeface="Arial" pitchFamily="34" charset="0"/>
            </a:endParaRPr>
          </a:p>
          <a:p>
            <a:endParaRPr lang="en-US" sz="2000" dirty="0">
              <a:latin typeface="Arial" pitchFamily="34" charset="0"/>
              <a:cs typeface="Arial" pitchFamily="34" charset="0"/>
            </a:endParaRPr>
          </a:p>
          <a:p>
            <a:r>
              <a:rPr lang="en-US" sz="2000" dirty="0">
                <a:latin typeface="Arial" pitchFamily="34" charset="0"/>
                <a:cs typeface="Arial" pitchFamily="34" charset="0"/>
              </a:rPr>
              <a:t>Figure B show MAGMA MIGRATION (another form of FRACTIONAL CRYSTALLIZATION.)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a:extLst>
              <a:ext uri="{FF2B5EF4-FFF2-40B4-BE49-F238E27FC236}">
                <a16:creationId xmlns:a16="http://schemas.microsoft.com/office/drawing/2014/main" id="{1C18C14A-DDCB-460F-804F-43D4503982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53200" y="3331122"/>
            <a:ext cx="2681288" cy="332849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F1F1072-7B07-4C54-A929-9F2BB8C6C68D}"/>
              </a:ext>
            </a:extLst>
          </p:cNvPr>
          <p:cNvSpPr txBox="1"/>
          <p:nvPr/>
        </p:nvSpPr>
        <p:spPr>
          <a:xfrm>
            <a:off x="304800" y="843677"/>
            <a:ext cx="6248400" cy="4196020"/>
          </a:xfrm>
          <a:prstGeom prst="rect">
            <a:avLst/>
          </a:prstGeom>
          <a:noFill/>
        </p:spPr>
        <p:txBody>
          <a:bodyPr wrap="square">
            <a:spAutoFit/>
          </a:bodyPr>
          <a:lstStyle/>
          <a:p>
            <a:pPr marL="285750" indent="-285750" algn="just">
              <a:lnSpc>
                <a:spcPct val="150000"/>
              </a:lnSpc>
              <a:buFont typeface="Wingdings" panose="05000000000000000000" pitchFamily="2" charset="2"/>
              <a:buChar char="§"/>
            </a:pPr>
            <a:r>
              <a:rPr lang="en-US" sz="1800" dirty="0">
                <a:latin typeface="Arial" pitchFamily="34" charset="0"/>
                <a:cs typeface="Arial" pitchFamily="34" charset="0"/>
              </a:rPr>
              <a:t>Gravity plays a very important role in settling of early formed crystals from the melt.</a:t>
            </a:r>
          </a:p>
          <a:p>
            <a:pPr marL="285750" indent="-285750" algn="just">
              <a:lnSpc>
                <a:spcPct val="150000"/>
              </a:lnSpc>
              <a:buFont typeface="Wingdings" panose="05000000000000000000" pitchFamily="2" charset="2"/>
              <a:buChar char="§"/>
            </a:pPr>
            <a:endParaRPr lang="en-US" sz="1800" dirty="0">
              <a:latin typeface="Arial" pitchFamily="34" charset="0"/>
              <a:cs typeface="Arial" pitchFamily="34" charset="0"/>
            </a:endParaRPr>
          </a:p>
          <a:p>
            <a:pPr marL="285750" indent="-285750" algn="just">
              <a:lnSpc>
                <a:spcPct val="150000"/>
              </a:lnSpc>
              <a:buFont typeface="Wingdings" panose="05000000000000000000" pitchFamily="2" charset="2"/>
              <a:buChar char="§"/>
            </a:pPr>
            <a:r>
              <a:rPr lang="en-US" sz="1800" dirty="0">
                <a:latin typeface="Arial" pitchFamily="34" charset="0"/>
                <a:cs typeface="Arial" pitchFamily="34" charset="0"/>
              </a:rPr>
              <a:t>Parting between crystals and melt within a magmatic body may also be observed in flowing magma (documented in many dykes and sills), where greater concentration of large sized crystals commonly occur at the core (inner part) of dyke or sill (slow cooling at inner region so crystal grow in large size). This is known as </a:t>
            </a:r>
            <a:r>
              <a:rPr lang="en-US" sz="1800" b="1" dirty="0">
                <a:latin typeface="Arial" pitchFamily="34" charset="0"/>
                <a:cs typeface="Arial" pitchFamily="34" charset="0"/>
              </a:rPr>
              <a:t>Flowage Segregation</a:t>
            </a:r>
            <a:r>
              <a:rPr lang="en-US" sz="1800" dirty="0">
                <a:latin typeface="Arial" pitchFamily="34" charset="0"/>
                <a:cs typeface="Arial" pitchFamily="34" charset="0"/>
              </a:rPr>
              <a:t>.</a:t>
            </a:r>
          </a:p>
        </p:txBody>
      </p:sp>
      <p:sp>
        <p:nvSpPr>
          <p:cNvPr id="7" name="Title 1">
            <a:extLst>
              <a:ext uri="{FF2B5EF4-FFF2-40B4-BE49-F238E27FC236}">
                <a16:creationId xmlns:a16="http://schemas.microsoft.com/office/drawing/2014/main" id="{8439026B-ABA3-4380-BD39-C3AA6F0E1CB6}"/>
              </a:ext>
            </a:extLst>
          </p:cNvPr>
          <p:cNvSpPr>
            <a:spLocks noGrp="1"/>
          </p:cNvSpPr>
          <p:nvPr>
            <p:ph type="title"/>
          </p:nvPr>
        </p:nvSpPr>
        <p:spPr>
          <a:xfrm>
            <a:off x="457200" y="76200"/>
            <a:ext cx="8229600" cy="792162"/>
          </a:xfrm>
        </p:spPr>
        <p:txBody>
          <a:bodyPr>
            <a:normAutofit/>
          </a:bodyPr>
          <a:lstStyle/>
          <a:p>
            <a:r>
              <a:rPr lang="en-US" sz="3600" b="1" dirty="0">
                <a:latin typeface="Arial" pitchFamily="34" charset="0"/>
                <a:cs typeface="Arial" pitchFamily="34" charset="0"/>
              </a:rPr>
              <a:t>Fractional Crystallization</a:t>
            </a:r>
          </a:p>
        </p:txBody>
      </p:sp>
    </p:spTree>
    <p:extLst>
      <p:ext uri="{BB962C8B-B14F-4D97-AF65-F5344CB8AC3E}">
        <p14:creationId xmlns:p14="http://schemas.microsoft.com/office/powerpoint/2010/main" val="14503070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609600"/>
            <a:ext cx="8686800" cy="6324600"/>
          </a:xfrm>
        </p:spPr>
        <p:txBody>
          <a:bodyPr>
            <a:normAutofit/>
          </a:bodyPr>
          <a:lstStyle/>
          <a:p>
            <a:pPr algn="just"/>
            <a:endParaRPr lang="en-US" sz="2800" dirty="0">
              <a:latin typeface="Arial" pitchFamily="34" charset="0"/>
              <a:cs typeface="Arial" pitchFamily="34" charset="0"/>
            </a:endParaRPr>
          </a:p>
          <a:p>
            <a:pPr algn="just"/>
            <a:r>
              <a:rPr lang="en-US" sz="2800" b="1" dirty="0">
                <a:latin typeface="Arial" pitchFamily="34" charset="0"/>
                <a:cs typeface="Arial" pitchFamily="34" charset="0"/>
              </a:rPr>
              <a:t>Tectonic movements</a:t>
            </a:r>
            <a:r>
              <a:rPr lang="en-US" sz="2800" dirty="0">
                <a:latin typeface="Arial" pitchFamily="34" charset="0"/>
                <a:cs typeface="Arial" pitchFamily="34" charset="0"/>
              </a:rPr>
              <a:t> and some time the “</a:t>
            </a:r>
            <a:r>
              <a:rPr lang="en-US" sz="2800" b="1" dirty="0">
                <a:latin typeface="Arial" pitchFamily="34" charset="0"/>
                <a:cs typeface="Arial" pitchFamily="34" charset="0"/>
              </a:rPr>
              <a:t>Filter Pressing”- </a:t>
            </a:r>
            <a:r>
              <a:rPr lang="en-US" sz="2800" dirty="0">
                <a:latin typeface="Arial" pitchFamily="34" charset="0"/>
                <a:cs typeface="Arial" pitchFamily="34" charset="0"/>
              </a:rPr>
              <a:t>this mechanism has been proposed as a way to separate a liquid from a crystal-liquid mush. </a:t>
            </a:r>
          </a:p>
          <a:p>
            <a:pPr algn="just"/>
            <a:endParaRPr lang="en-US" sz="2800" dirty="0">
              <a:latin typeface="Arial" pitchFamily="34" charset="0"/>
              <a:cs typeface="Arial" pitchFamily="34" charset="0"/>
            </a:endParaRPr>
          </a:p>
          <a:p>
            <a:pPr algn="just"/>
            <a:endParaRPr lang="en-US" dirty="0">
              <a:latin typeface="Arial" pitchFamily="34" charset="0"/>
              <a:cs typeface="Arial" pitchFamily="34" charset="0"/>
            </a:endParaRPr>
          </a:p>
          <a:p>
            <a:endParaRPr lang="en-US" dirty="0"/>
          </a:p>
        </p:txBody>
      </p:sp>
      <p:graphicFrame>
        <p:nvGraphicFramePr>
          <p:cNvPr id="2" name="Table 1">
            <a:extLst>
              <a:ext uri="{FF2B5EF4-FFF2-40B4-BE49-F238E27FC236}">
                <a16:creationId xmlns:a16="http://schemas.microsoft.com/office/drawing/2014/main" id="{2C4A415A-8292-42B7-9006-A0907CE3B0F6}"/>
              </a:ext>
            </a:extLst>
          </p:cNvPr>
          <p:cNvGraphicFramePr>
            <a:graphicFrameLocks noGrp="1"/>
          </p:cNvGraphicFramePr>
          <p:nvPr>
            <p:extLst>
              <p:ext uri="{D42A27DB-BD31-4B8C-83A1-F6EECF244321}">
                <p14:modId xmlns:p14="http://schemas.microsoft.com/office/powerpoint/2010/main" val="3453446068"/>
              </p:ext>
            </p:extLst>
          </p:nvPr>
        </p:nvGraphicFramePr>
        <p:xfrm>
          <a:off x="723900" y="1828800"/>
          <a:ext cx="7696200" cy="4525962"/>
        </p:xfrm>
        <a:graphic>
          <a:graphicData uri="http://schemas.openxmlformats.org/drawingml/2006/table">
            <a:tbl>
              <a:tblPr/>
              <a:tblGrid>
                <a:gridCol w="2565400">
                  <a:extLst>
                    <a:ext uri="{9D8B030D-6E8A-4147-A177-3AD203B41FA5}">
                      <a16:colId xmlns:a16="http://schemas.microsoft.com/office/drawing/2014/main" val="2120574207"/>
                    </a:ext>
                  </a:extLst>
                </a:gridCol>
                <a:gridCol w="2565400">
                  <a:extLst>
                    <a:ext uri="{9D8B030D-6E8A-4147-A177-3AD203B41FA5}">
                      <a16:colId xmlns:a16="http://schemas.microsoft.com/office/drawing/2014/main" val="3375343125"/>
                    </a:ext>
                  </a:extLst>
                </a:gridCol>
                <a:gridCol w="2565400">
                  <a:extLst>
                    <a:ext uri="{9D8B030D-6E8A-4147-A177-3AD203B41FA5}">
                      <a16:colId xmlns:a16="http://schemas.microsoft.com/office/drawing/2014/main" val="2000939302"/>
                    </a:ext>
                  </a:extLst>
                </a:gridCol>
              </a:tblGrid>
              <a:tr h="372726">
                <a:tc>
                  <a:txBody>
                    <a:bodyPr/>
                    <a:lstStyle/>
                    <a:p>
                      <a:r>
                        <a:rPr lang="en-IN" sz="1000" b="1" dirty="0"/>
                        <a:t>stage</a:t>
                      </a:r>
                      <a:endParaRPr lang="en-IN" sz="1000" dirty="0"/>
                    </a:p>
                  </a:txBody>
                  <a:tcPr marL="53247" marR="53247" marT="26623" marB="26623" anchor="ctr">
                    <a:lnL>
                      <a:noFill/>
                    </a:lnL>
                    <a:lnR>
                      <a:noFill/>
                    </a:lnR>
                    <a:lnT>
                      <a:noFill/>
                    </a:lnT>
                    <a:lnB>
                      <a:noFill/>
                    </a:lnB>
                  </a:tcPr>
                </a:tc>
                <a:tc>
                  <a:txBody>
                    <a:bodyPr/>
                    <a:lstStyle/>
                    <a:p>
                      <a:r>
                        <a:rPr lang="en-IN" sz="1000" b="1"/>
                        <a:t>Process</a:t>
                      </a:r>
                      <a:endParaRPr lang="en-IN" sz="1000"/>
                    </a:p>
                  </a:txBody>
                  <a:tcPr marL="53247" marR="53247" marT="26623" marB="26623" anchor="ctr">
                    <a:lnL>
                      <a:noFill/>
                    </a:lnL>
                    <a:lnR>
                      <a:noFill/>
                    </a:lnR>
                    <a:lnT>
                      <a:noFill/>
                    </a:lnT>
                    <a:lnB>
                      <a:noFill/>
                    </a:lnB>
                  </a:tcPr>
                </a:tc>
                <a:tc>
                  <a:txBody>
                    <a:bodyPr/>
                    <a:lstStyle/>
                    <a:p>
                      <a:r>
                        <a:rPr lang="en-IN" sz="1000" b="1"/>
                        <a:t>Effect on Magma Chamber</a:t>
                      </a:r>
                      <a:endParaRPr lang="en-IN" sz="1000"/>
                    </a:p>
                  </a:txBody>
                  <a:tcPr marL="53247" marR="53247" marT="26623" marB="26623" anchor="ctr">
                    <a:lnL>
                      <a:noFill/>
                    </a:lnL>
                    <a:lnR>
                      <a:noFill/>
                    </a:lnR>
                    <a:lnT>
                      <a:noFill/>
                    </a:lnT>
                    <a:lnB>
                      <a:noFill/>
                    </a:lnB>
                  </a:tcPr>
                </a:tc>
                <a:extLst>
                  <a:ext uri="{0D108BD9-81ED-4DB2-BD59-A6C34878D82A}">
                    <a16:rowId xmlns:a16="http://schemas.microsoft.com/office/drawing/2014/main" val="2834354566"/>
                  </a:ext>
                </a:extLst>
              </a:tr>
              <a:tr h="851946">
                <a:tc>
                  <a:txBody>
                    <a:bodyPr/>
                    <a:lstStyle/>
                    <a:p>
                      <a:r>
                        <a:rPr lang="en-IN" sz="1000" b="1"/>
                        <a:t>1. Crystallization Begins</a:t>
                      </a:r>
                      <a:endParaRPr lang="en-IN" sz="1000"/>
                    </a:p>
                  </a:txBody>
                  <a:tcPr marL="53247" marR="53247" marT="26623" marB="26623" anchor="ctr">
                    <a:lnL>
                      <a:noFill/>
                    </a:lnL>
                    <a:lnR>
                      <a:noFill/>
                    </a:lnR>
                    <a:lnT>
                      <a:noFill/>
                    </a:lnT>
                    <a:lnB>
                      <a:noFill/>
                    </a:lnB>
                  </a:tcPr>
                </a:tc>
                <a:tc>
                  <a:txBody>
                    <a:bodyPr/>
                    <a:lstStyle/>
                    <a:p>
                      <a:r>
                        <a:rPr lang="en-IN" sz="1000"/>
                        <a:t>Early-formed minerals (e.g., olivine, pyroxene, plagioclase) start crystallizing from magma.</a:t>
                      </a:r>
                    </a:p>
                  </a:txBody>
                  <a:tcPr marL="53247" marR="53247" marT="26623" marB="26623" anchor="ctr">
                    <a:lnL>
                      <a:noFill/>
                    </a:lnL>
                    <a:lnR>
                      <a:noFill/>
                    </a:lnR>
                    <a:lnT>
                      <a:noFill/>
                    </a:lnT>
                    <a:lnB>
                      <a:noFill/>
                    </a:lnB>
                  </a:tcPr>
                </a:tc>
                <a:tc>
                  <a:txBody>
                    <a:bodyPr/>
                    <a:lstStyle/>
                    <a:p>
                      <a:r>
                        <a:rPr lang="en-US" sz="1000"/>
                        <a:t>Formation of a </a:t>
                      </a:r>
                      <a:r>
                        <a:rPr lang="en-US" sz="1000" b="1"/>
                        <a:t>crystal-liquid mush</a:t>
                      </a:r>
                      <a:r>
                        <a:rPr lang="en-US" sz="1000"/>
                        <a:t> with interstitial melt.</a:t>
                      </a:r>
                    </a:p>
                  </a:txBody>
                  <a:tcPr marL="53247" marR="53247" marT="26623" marB="26623" anchor="ctr">
                    <a:lnL>
                      <a:noFill/>
                    </a:lnL>
                    <a:lnR>
                      <a:noFill/>
                    </a:lnR>
                    <a:lnT>
                      <a:noFill/>
                    </a:lnT>
                    <a:lnB>
                      <a:noFill/>
                    </a:lnB>
                  </a:tcPr>
                </a:tc>
                <a:extLst>
                  <a:ext uri="{0D108BD9-81ED-4DB2-BD59-A6C34878D82A}">
                    <a16:rowId xmlns:a16="http://schemas.microsoft.com/office/drawing/2014/main" val="406607329"/>
                  </a:ext>
                </a:extLst>
              </a:tr>
              <a:tr h="692206">
                <a:tc>
                  <a:txBody>
                    <a:bodyPr/>
                    <a:lstStyle/>
                    <a:p>
                      <a:r>
                        <a:rPr lang="en-IN" sz="1000" b="1"/>
                        <a:t>2. Crystal Accumulation</a:t>
                      </a:r>
                      <a:endParaRPr lang="en-IN" sz="1000"/>
                    </a:p>
                  </a:txBody>
                  <a:tcPr marL="53247" marR="53247" marT="26623" marB="26623" anchor="ctr">
                    <a:lnL>
                      <a:noFill/>
                    </a:lnL>
                    <a:lnR>
                      <a:noFill/>
                    </a:lnR>
                    <a:lnT>
                      <a:noFill/>
                    </a:lnT>
                    <a:lnB>
                      <a:noFill/>
                    </a:lnB>
                  </a:tcPr>
                </a:tc>
                <a:tc>
                  <a:txBody>
                    <a:bodyPr/>
                    <a:lstStyle/>
                    <a:p>
                      <a:r>
                        <a:rPr lang="en-US" sz="1000"/>
                        <a:t>Crystals settle at the base of the magma chamber due to gravity (cumulus crystals).</a:t>
                      </a:r>
                    </a:p>
                  </a:txBody>
                  <a:tcPr marL="53247" marR="53247" marT="26623" marB="26623" anchor="ctr">
                    <a:lnL>
                      <a:noFill/>
                    </a:lnL>
                    <a:lnR>
                      <a:noFill/>
                    </a:lnR>
                    <a:lnT>
                      <a:noFill/>
                    </a:lnT>
                    <a:lnB>
                      <a:noFill/>
                    </a:lnB>
                  </a:tcPr>
                </a:tc>
                <a:tc>
                  <a:txBody>
                    <a:bodyPr/>
                    <a:lstStyle/>
                    <a:p>
                      <a:r>
                        <a:rPr lang="en-US" sz="1000" b="1"/>
                        <a:t>Crystal-rich layers</a:t>
                      </a:r>
                      <a:r>
                        <a:rPr lang="en-US" sz="1000"/>
                        <a:t> start forming, while melt remains trapped.</a:t>
                      </a:r>
                    </a:p>
                  </a:txBody>
                  <a:tcPr marL="53247" marR="53247" marT="26623" marB="26623" anchor="ctr">
                    <a:lnL>
                      <a:noFill/>
                    </a:lnL>
                    <a:lnR>
                      <a:noFill/>
                    </a:lnR>
                    <a:lnT>
                      <a:noFill/>
                    </a:lnT>
                    <a:lnB>
                      <a:noFill/>
                    </a:lnB>
                  </a:tcPr>
                </a:tc>
                <a:extLst>
                  <a:ext uri="{0D108BD9-81ED-4DB2-BD59-A6C34878D82A}">
                    <a16:rowId xmlns:a16="http://schemas.microsoft.com/office/drawing/2014/main" val="820285363"/>
                  </a:ext>
                </a:extLst>
              </a:tr>
              <a:tr h="692206">
                <a:tc>
                  <a:txBody>
                    <a:bodyPr/>
                    <a:lstStyle/>
                    <a:p>
                      <a:r>
                        <a:rPr lang="en-IN" sz="1000" b="1" dirty="0"/>
                        <a:t>3. Pressure Increases</a:t>
                      </a:r>
                      <a:endParaRPr lang="en-IN" sz="1000" dirty="0"/>
                    </a:p>
                  </a:txBody>
                  <a:tcPr marL="53247" marR="53247" marT="26623" marB="26623" anchor="ctr">
                    <a:lnL>
                      <a:noFill/>
                    </a:lnL>
                    <a:lnR>
                      <a:noFill/>
                    </a:lnR>
                    <a:lnT>
                      <a:noFill/>
                    </a:lnT>
                    <a:lnB>
                      <a:noFill/>
                    </a:lnB>
                  </a:tcPr>
                </a:tc>
                <a:tc>
                  <a:txBody>
                    <a:bodyPr/>
                    <a:lstStyle/>
                    <a:p>
                      <a:r>
                        <a:rPr lang="en-US" sz="1000" dirty="0"/>
                        <a:t>Overlying material and continued crystallization increase pressure on the mush.</a:t>
                      </a:r>
                    </a:p>
                  </a:txBody>
                  <a:tcPr marL="53247" marR="53247" marT="26623" marB="26623" anchor="ctr">
                    <a:lnL>
                      <a:noFill/>
                    </a:lnL>
                    <a:lnR>
                      <a:noFill/>
                    </a:lnR>
                    <a:lnT>
                      <a:noFill/>
                    </a:lnT>
                    <a:lnB>
                      <a:noFill/>
                    </a:lnB>
                  </a:tcPr>
                </a:tc>
                <a:tc>
                  <a:txBody>
                    <a:bodyPr/>
                    <a:lstStyle/>
                    <a:p>
                      <a:r>
                        <a:rPr lang="en-US" sz="1000"/>
                        <a:t>Crystals begin compacting, forcing melt to migrate.</a:t>
                      </a:r>
                    </a:p>
                  </a:txBody>
                  <a:tcPr marL="53247" marR="53247" marT="26623" marB="26623" anchor="ctr">
                    <a:lnL>
                      <a:noFill/>
                    </a:lnL>
                    <a:lnR>
                      <a:noFill/>
                    </a:lnR>
                    <a:lnT>
                      <a:noFill/>
                    </a:lnT>
                    <a:lnB>
                      <a:noFill/>
                    </a:lnB>
                  </a:tcPr>
                </a:tc>
                <a:extLst>
                  <a:ext uri="{0D108BD9-81ED-4DB2-BD59-A6C34878D82A}">
                    <a16:rowId xmlns:a16="http://schemas.microsoft.com/office/drawing/2014/main" val="2414796937"/>
                  </a:ext>
                </a:extLst>
              </a:tr>
              <a:tr h="532466">
                <a:tc>
                  <a:txBody>
                    <a:bodyPr/>
                    <a:lstStyle/>
                    <a:p>
                      <a:r>
                        <a:rPr lang="sv-SE" sz="1000" b="1"/>
                        <a:t>4. Melt Migration (Filter Pressing Occurs)</a:t>
                      </a:r>
                      <a:endParaRPr lang="sv-SE" sz="1000"/>
                    </a:p>
                  </a:txBody>
                  <a:tcPr marL="53247" marR="53247" marT="26623" marB="26623" anchor="ctr">
                    <a:lnL>
                      <a:noFill/>
                    </a:lnL>
                    <a:lnR>
                      <a:noFill/>
                    </a:lnR>
                    <a:lnT>
                      <a:noFill/>
                    </a:lnT>
                    <a:lnB>
                      <a:noFill/>
                    </a:lnB>
                  </a:tcPr>
                </a:tc>
                <a:tc>
                  <a:txBody>
                    <a:bodyPr/>
                    <a:lstStyle/>
                    <a:p>
                      <a:r>
                        <a:rPr lang="en-US" sz="1000"/>
                        <a:t>Interstitial melt is squeezed out due to compaction and stress.</a:t>
                      </a:r>
                    </a:p>
                  </a:txBody>
                  <a:tcPr marL="53247" marR="53247" marT="26623" marB="26623" anchor="ctr">
                    <a:lnL>
                      <a:noFill/>
                    </a:lnL>
                    <a:lnR>
                      <a:noFill/>
                    </a:lnR>
                    <a:lnT>
                      <a:noFill/>
                    </a:lnT>
                    <a:lnB>
                      <a:noFill/>
                    </a:lnB>
                  </a:tcPr>
                </a:tc>
                <a:tc>
                  <a:txBody>
                    <a:bodyPr/>
                    <a:lstStyle/>
                    <a:p>
                      <a:r>
                        <a:rPr lang="en-US" sz="1000" b="1"/>
                        <a:t>Residual melt moves upward</a:t>
                      </a:r>
                      <a:r>
                        <a:rPr lang="en-US" sz="1000"/>
                        <a:t>, leaving behind a more solidified layer.</a:t>
                      </a:r>
                    </a:p>
                  </a:txBody>
                  <a:tcPr marL="53247" marR="53247" marT="26623" marB="26623" anchor="ctr">
                    <a:lnL>
                      <a:noFill/>
                    </a:lnL>
                    <a:lnR>
                      <a:noFill/>
                    </a:lnR>
                    <a:lnT>
                      <a:noFill/>
                    </a:lnT>
                    <a:lnB>
                      <a:noFill/>
                    </a:lnB>
                  </a:tcPr>
                </a:tc>
                <a:extLst>
                  <a:ext uri="{0D108BD9-81ED-4DB2-BD59-A6C34878D82A}">
                    <a16:rowId xmlns:a16="http://schemas.microsoft.com/office/drawing/2014/main" val="2436834765"/>
                  </a:ext>
                </a:extLst>
              </a:tr>
              <a:tr h="692206">
                <a:tc>
                  <a:txBody>
                    <a:bodyPr/>
                    <a:lstStyle/>
                    <a:p>
                      <a:r>
                        <a:rPr lang="en-IN" sz="1000" b="1"/>
                        <a:t>5. Differentiation of Melt</a:t>
                      </a:r>
                      <a:endParaRPr lang="en-IN" sz="1000"/>
                    </a:p>
                  </a:txBody>
                  <a:tcPr marL="53247" marR="53247" marT="26623" marB="26623" anchor="ctr">
                    <a:lnL>
                      <a:noFill/>
                    </a:lnL>
                    <a:lnR>
                      <a:noFill/>
                    </a:lnR>
                    <a:lnT>
                      <a:noFill/>
                    </a:lnT>
                    <a:lnB>
                      <a:noFill/>
                    </a:lnB>
                  </a:tcPr>
                </a:tc>
                <a:tc>
                  <a:txBody>
                    <a:bodyPr/>
                    <a:lstStyle/>
                    <a:p>
                      <a:r>
                        <a:rPr lang="en-US" sz="1000"/>
                        <a:t>Expelled melt becomes enriched in felsic components (Si, Na, K, volatiles).</a:t>
                      </a:r>
                    </a:p>
                  </a:txBody>
                  <a:tcPr marL="53247" marR="53247" marT="26623" marB="26623" anchor="ctr">
                    <a:lnL>
                      <a:noFill/>
                    </a:lnL>
                    <a:lnR>
                      <a:noFill/>
                    </a:lnR>
                    <a:lnT>
                      <a:noFill/>
                    </a:lnT>
                    <a:lnB>
                      <a:noFill/>
                    </a:lnB>
                  </a:tcPr>
                </a:tc>
                <a:tc>
                  <a:txBody>
                    <a:bodyPr/>
                    <a:lstStyle/>
                    <a:p>
                      <a:r>
                        <a:rPr lang="en-US" sz="1000"/>
                        <a:t>Can lead to the formation of </a:t>
                      </a:r>
                      <a:r>
                        <a:rPr lang="en-US" sz="1000" b="1"/>
                        <a:t>pegmatites or felsic intrusions</a:t>
                      </a:r>
                      <a:r>
                        <a:rPr lang="en-US" sz="1000"/>
                        <a:t>.</a:t>
                      </a:r>
                    </a:p>
                  </a:txBody>
                  <a:tcPr marL="53247" marR="53247" marT="26623" marB="26623" anchor="ctr">
                    <a:lnL>
                      <a:noFill/>
                    </a:lnL>
                    <a:lnR>
                      <a:noFill/>
                    </a:lnR>
                    <a:lnT>
                      <a:noFill/>
                    </a:lnT>
                    <a:lnB>
                      <a:noFill/>
                    </a:lnB>
                  </a:tcPr>
                </a:tc>
                <a:extLst>
                  <a:ext uri="{0D108BD9-81ED-4DB2-BD59-A6C34878D82A}">
                    <a16:rowId xmlns:a16="http://schemas.microsoft.com/office/drawing/2014/main" val="2570156300"/>
                  </a:ext>
                </a:extLst>
              </a:tr>
              <a:tr h="692206">
                <a:tc>
                  <a:txBody>
                    <a:bodyPr/>
                    <a:lstStyle/>
                    <a:p>
                      <a:r>
                        <a:rPr lang="en-US" sz="1000" b="1"/>
                        <a:t>6. Layered Igneous Rock Formation</a:t>
                      </a:r>
                      <a:endParaRPr lang="en-US" sz="1000"/>
                    </a:p>
                  </a:txBody>
                  <a:tcPr marL="53247" marR="53247" marT="26623" marB="26623" anchor="ctr">
                    <a:lnL>
                      <a:noFill/>
                    </a:lnL>
                    <a:lnR>
                      <a:noFill/>
                    </a:lnR>
                    <a:lnT>
                      <a:noFill/>
                    </a:lnT>
                    <a:lnB>
                      <a:noFill/>
                    </a:lnB>
                  </a:tcPr>
                </a:tc>
                <a:tc>
                  <a:txBody>
                    <a:bodyPr/>
                    <a:lstStyle/>
                    <a:p>
                      <a:r>
                        <a:rPr lang="en-US" sz="1000"/>
                        <a:t>Crystal-rich layers solidify, and melt-depleted rocks remain below.</a:t>
                      </a:r>
                    </a:p>
                  </a:txBody>
                  <a:tcPr marL="53247" marR="53247" marT="26623" marB="26623" anchor="ctr">
                    <a:lnL>
                      <a:noFill/>
                    </a:lnL>
                    <a:lnR>
                      <a:noFill/>
                    </a:lnR>
                    <a:lnT>
                      <a:noFill/>
                    </a:lnT>
                    <a:lnB>
                      <a:noFill/>
                    </a:lnB>
                  </a:tcPr>
                </a:tc>
                <a:tc>
                  <a:txBody>
                    <a:bodyPr/>
                    <a:lstStyle/>
                    <a:p>
                      <a:r>
                        <a:rPr lang="en-US" sz="1000" dirty="0"/>
                        <a:t>Development of </a:t>
                      </a:r>
                      <a:r>
                        <a:rPr lang="en-US" sz="1000" b="1" dirty="0"/>
                        <a:t>layered mafic intrusions</a:t>
                      </a:r>
                      <a:r>
                        <a:rPr lang="en-US" sz="1000" dirty="0"/>
                        <a:t>, compositional zoning in magma chambers.</a:t>
                      </a:r>
                    </a:p>
                  </a:txBody>
                  <a:tcPr marL="53247" marR="53247" marT="26623" marB="26623" anchor="ctr">
                    <a:lnL>
                      <a:noFill/>
                    </a:lnL>
                    <a:lnR>
                      <a:noFill/>
                    </a:lnR>
                    <a:lnT>
                      <a:noFill/>
                    </a:lnT>
                    <a:lnB>
                      <a:noFill/>
                    </a:lnB>
                  </a:tcPr>
                </a:tc>
                <a:extLst>
                  <a:ext uri="{0D108BD9-81ED-4DB2-BD59-A6C34878D82A}">
                    <a16:rowId xmlns:a16="http://schemas.microsoft.com/office/drawing/2014/main" val="221290903"/>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715962"/>
          </a:xfrm>
        </p:spPr>
        <p:txBody>
          <a:bodyPr>
            <a:normAutofit/>
          </a:bodyPr>
          <a:lstStyle/>
          <a:p>
            <a:r>
              <a:rPr lang="en-US" sz="3600" dirty="0">
                <a:latin typeface="Arial" pitchFamily="34" charset="0"/>
                <a:cs typeface="Arial" pitchFamily="34" charset="0"/>
              </a:rPr>
              <a:t>Bowen’s Reaction Series</a:t>
            </a:r>
          </a:p>
        </p:txBody>
      </p:sp>
      <p:sp>
        <p:nvSpPr>
          <p:cNvPr id="5" name="Content Placeholder 2">
            <a:extLst>
              <a:ext uri="{FF2B5EF4-FFF2-40B4-BE49-F238E27FC236}">
                <a16:creationId xmlns:a16="http://schemas.microsoft.com/office/drawing/2014/main" id="{B1AA6ECD-A4F8-4DBE-BEDC-B0F386633B9E}"/>
              </a:ext>
            </a:extLst>
          </p:cNvPr>
          <p:cNvSpPr txBox="1">
            <a:spLocks/>
          </p:cNvSpPr>
          <p:nvPr/>
        </p:nvSpPr>
        <p:spPr bwMode="auto">
          <a:xfrm>
            <a:off x="266700" y="990600"/>
            <a:ext cx="8610600" cy="548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a:bodyPr>
          <a:lst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algn="just"/>
            <a:r>
              <a:rPr lang="en-US" sz="2800" kern="0" dirty="0">
                <a:latin typeface="Arial" pitchFamily="34" charset="0"/>
                <a:cs typeface="Arial" pitchFamily="34" charset="0"/>
              </a:rPr>
              <a:t>N.L. Bowen (1928) explained magmatic differentiation through </a:t>
            </a:r>
            <a:r>
              <a:rPr lang="en-US" sz="2800" kern="0" dirty="0">
                <a:solidFill>
                  <a:srgbClr val="0070C0"/>
                </a:solidFill>
                <a:latin typeface="Arial" pitchFamily="34" charset="0"/>
                <a:cs typeface="Arial" pitchFamily="34" charset="0"/>
              </a:rPr>
              <a:t>Fractional Crystallization</a:t>
            </a:r>
            <a:r>
              <a:rPr lang="en-US" sz="2800" kern="0" dirty="0">
                <a:latin typeface="Arial" pitchFamily="34" charset="0"/>
                <a:cs typeface="Arial" pitchFamily="34" charset="0"/>
              </a:rPr>
              <a:t>, known as Bowen’s Reaction Series. </a:t>
            </a:r>
          </a:p>
          <a:p>
            <a:pPr algn="just"/>
            <a:r>
              <a:rPr lang="en-US" sz="2800" kern="0" dirty="0">
                <a:latin typeface="Arial" pitchFamily="34" charset="0"/>
                <a:cs typeface="Arial" pitchFamily="34" charset="0"/>
              </a:rPr>
              <a:t>It describes the sequential crystallization of minerals during magma cooling, determining whether the magma solidifies into a single rock type or diversifies into multiple rock types.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228600"/>
            <a:ext cx="8686800" cy="6400800"/>
          </a:xfrm>
        </p:spPr>
        <p:txBody>
          <a:bodyPr>
            <a:normAutofit fontScale="92500"/>
          </a:bodyPr>
          <a:lstStyle/>
          <a:p>
            <a:pPr algn="just"/>
            <a:r>
              <a:rPr lang="en-US" sz="2800" dirty="0">
                <a:latin typeface="Arial" pitchFamily="34" charset="0"/>
                <a:cs typeface="Arial" pitchFamily="34" charset="0"/>
              </a:rPr>
              <a:t>According to Bowen’s Reaction Principle </a:t>
            </a:r>
            <a:r>
              <a:rPr lang="en-US" sz="2800" b="1" i="1" dirty="0">
                <a:latin typeface="Arial" pitchFamily="34" charset="0"/>
                <a:cs typeface="Arial" pitchFamily="34" charset="0"/>
              </a:rPr>
              <a:t>“ As crystallization of magma starts, there is a tendency for equilibrium to be maintained between solid (crystals) and liquid (residual melt) phases. To maintain this equilibrium, the early formed crystals (unless removed from the melt) react with the residual melt and change in composition (formation of new mineral) takes place”.</a:t>
            </a:r>
          </a:p>
          <a:p>
            <a:endParaRPr lang="en-US" dirty="0"/>
          </a:p>
          <a:p>
            <a:pPr algn="just"/>
            <a:r>
              <a:rPr lang="en-US" sz="3000" dirty="0">
                <a:latin typeface="Arial" pitchFamily="34" charset="0"/>
                <a:cs typeface="Arial" pitchFamily="34" charset="0"/>
              </a:rPr>
              <a:t>Bowen’ Reaction Principle illustrates how a primary basaltic magma may give rise granite or other igneous rocks (depending upon the degree of crystallization and reaction of early formed crystals with melt or removal of these crystals from the melt.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014.jpg"/>
          <p:cNvPicPr>
            <a:picLocks noChangeAspect="1"/>
          </p:cNvPicPr>
          <p:nvPr/>
        </p:nvPicPr>
        <p:blipFill>
          <a:blip r:embed="rId2"/>
          <a:stretch>
            <a:fillRect/>
          </a:stretch>
        </p:blipFill>
        <p:spPr>
          <a:xfrm>
            <a:off x="465120" y="228600"/>
            <a:ext cx="8145480" cy="5562600"/>
          </a:xfrm>
          <a:prstGeom prst="rect">
            <a:avLst/>
          </a:prstGeom>
        </p:spPr>
      </p:pic>
    </p:spTree>
    <p:extLst>
      <p:ext uri="{BB962C8B-B14F-4D97-AF65-F5344CB8AC3E}">
        <p14:creationId xmlns:p14="http://schemas.microsoft.com/office/powerpoint/2010/main" val="5059266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4C3584AA-4DD0-4415-90C5-3776F7353DDE}"/>
              </a:ext>
            </a:extLst>
          </p:cNvPr>
          <p:cNvSpPr>
            <a:spLocks noGrp="1"/>
          </p:cNvSpPr>
          <p:nvPr>
            <p:ph type="title"/>
          </p:nvPr>
        </p:nvSpPr>
        <p:spPr>
          <a:xfrm>
            <a:off x="457200" y="-228600"/>
            <a:ext cx="8229600" cy="1143000"/>
          </a:xfrm>
        </p:spPr>
        <p:txBody>
          <a:bodyPr/>
          <a:lstStyle/>
          <a:p>
            <a:r>
              <a:rPr lang="en-IN" dirty="0"/>
              <a:t>Solid solution series-Olivine</a:t>
            </a:r>
          </a:p>
        </p:txBody>
      </p:sp>
      <p:pic>
        <p:nvPicPr>
          <p:cNvPr id="4" name="Picture 3">
            <a:extLst>
              <a:ext uri="{FF2B5EF4-FFF2-40B4-BE49-F238E27FC236}">
                <a16:creationId xmlns:a16="http://schemas.microsoft.com/office/drawing/2014/main" id="{7952EB7F-3851-4D07-BFFB-C61648C90184}"/>
              </a:ext>
            </a:extLst>
          </p:cNvPr>
          <p:cNvPicPr>
            <a:picLocks noChangeAspect="1"/>
          </p:cNvPicPr>
          <p:nvPr/>
        </p:nvPicPr>
        <p:blipFill rotWithShape="1">
          <a:blip r:embed="rId2"/>
          <a:srcRect l="2151" t="4029" r="1075" b="1768"/>
          <a:stretch/>
        </p:blipFill>
        <p:spPr>
          <a:xfrm>
            <a:off x="990600" y="914400"/>
            <a:ext cx="6858000" cy="5715000"/>
          </a:xfrm>
          <a:prstGeom prst="rect">
            <a:avLst/>
          </a:prstGeom>
        </p:spPr>
      </p:pic>
    </p:spTree>
    <p:extLst>
      <p:ext uri="{BB962C8B-B14F-4D97-AF65-F5344CB8AC3E}">
        <p14:creationId xmlns:p14="http://schemas.microsoft.com/office/powerpoint/2010/main" val="25570100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228600"/>
            <a:ext cx="8763000" cy="6477000"/>
          </a:xfrm>
        </p:spPr>
        <p:txBody>
          <a:bodyPr>
            <a:normAutofit/>
          </a:bodyPr>
          <a:lstStyle/>
          <a:p>
            <a:pPr algn="just"/>
            <a:r>
              <a:rPr lang="en-US" sz="2800" b="1" u="sng" dirty="0">
                <a:latin typeface="Arial" pitchFamily="34" charset="0"/>
                <a:cs typeface="Arial" pitchFamily="34" charset="0"/>
              </a:rPr>
              <a:t>Discontinuous Series</a:t>
            </a:r>
            <a:r>
              <a:rPr lang="en-US" sz="2800" b="1" dirty="0">
                <a:latin typeface="Arial" pitchFamily="34" charset="0"/>
                <a:cs typeface="Arial" pitchFamily="34" charset="0"/>
              </a:rPr>
              <a:t>: </a:t>
            </a:r>
            <a:r>
              <a:rPr lang="en-US" sz="2800" dirty="0">
                <a:latin typeface="Arial" pitchFamily="34" charset="0"/>
                <a:cs typeface="Arial" pitchFamily="34" charset="0"/>
              </a:rPr>
              <a:t>At lowering of temperature (cooling starts), first mineral to crystallized is “Olivine”. As soon as it formed (unless it removed from the melt), with falling temperature the “Olivine” react with the melt and convert into “Mg-Pyroxene”. This will continue till whole “Olivine” get convert into “Mg-Pyroxenes”.</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Later on the reaction remain continue and “Mg-Pyroxene” (unless removed from the melt), react with the melt and convert into “Ca-Pyroxene” and then “Hornblende”, then “Biotite”, with the falling temperature.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144517"/>
            <a:ext cx="8763000" cy="6477000"/>
          </a:xfrm>
        </p:spPr>
        <p:txBody>
          <a:bodyPr>
            <a:normAutofit/>
          </a:bodyPr>
          <a:lstStyle/>
          <a:p>
            <a:pPr algn="just"/>
            <a:r>
              <a:rPr lang="en-US" sz="2800" b="1" u="sng" dirty="0">
                <a:latin typeface="Arial" pitchFamily="34" charset="0"/>
                <a:cs typeface="Arial" pitchFamily="34" charset="0"/>
              </a:rPr>
              <a:t>Continuous Series</a:t>
            </a:r>
            <a:r>
              <a:rPr lang="en-US" sz="2800" dirty="0">
                <a:latin typeface="Arial" pitchFamily="34" charset="0"/>
                <a:cs typeface="Arial" pitchFamily="34" charset="0"/>
              </a:rPr>
              <a:t>: At lowering of temperature (cooling starts), first plagioclase to crystallized is rich in Ca (Ca-Plagioclase). As the reaction goes on and temperature drops, the crystals become more and more sodic (unless remove from the melt).</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 The Potash Felspar and Muscovite are formed at later stages and the last formed mineral is “</a:t>
            </a:r>
            <a:r>
              <a:rPr lang="en-US" sz="2800" b="1" dirty="0">
                <a:latin typeface="Arial" pitchFamily="34" charset="0"/>
                <a:cs typeface="Arial" pitchFamily="34" charset="0"/>
              </a:rPr>
              <a:t>Quartz</a:t>
            </a:r>
            <a:r>
              <a:rPr lang="en-US" sz="2800" dirty="0">
                <a:latin typeface="Arial" pitchFamily="34" charset="0"/>
                <a:cs typeface="Arial" pitchFamily="34" charset="0"/>
              </a:rPr>
              <a:t>”.</a:t>
            </a:r>
          </a:p>
          <a:p>
            <a:pPr algn="just"/>
            <a:endParaRPr lang="en-US" sz="2800" dirty="0">
              <a:latin typeface="Arial" pitchFamily="34" charset="0"/>
              <a:cs typeface="Arial" pitchFamily="34"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5A34E-910D-406A-B81A-4F414872B983}"/>
              </a:ext>
            </a:extLst>
          </p:cNvPr>
          <p:cNvSpPr>
            <a:spLocks noGrp="1"/>
          </p:cNvSpPr>
          <p:nvPr>
            <p:ph type="title"/>
          </p:nvPr>
        </p:nvSpPr>
        <p:spPr>
          <a:xfrm>
            <a:off x="457200" y="0"/>
            <a:ext cx="8229600" cy="1143000"/>
          </a:xfrm>
        </p:spPr>
        <p:txBody>
          <a:bodyPr/>
          <a:lstStyle/>
          <a:p>
            <a:r>
              <a:rPr lang="en-IN" dirty="0"/>
              <a:t>Solid solution series- Anorthite</a:t>
            </a:r>
          </a:p>
        </p:txBody>
      </p:sp>
      <p:pic>
        <p:nvPicPr>
          <p:cNvPr id="9218" name="Picture 2">
            <a:extLst>
              <a:ext uri="{FF2B5EF4-FFF2-40B4-BE49-F238E27FC236}">
                <a16:creationId xmlns:a16="http://schemas.microsoft.com/office/drawing/2014/main" id="{B5B3F981-3F85-42E2-A238-455BB70E723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7557"/>
          <a:stretch/>
        </p:blipFill>
        <p:spPr bwMode="auto">
          <a:xfrm>
            <a:off x="1543050" y="1219200"/>
            <a:ext cx="6057900" cy="52635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41490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674D66-9077-44AD-80C1-A103673A5DF4}"/>
              </a:ext>
            </a:extLst>
          </p:cNvPr>
          <p:cNvSpPr>
            <a:spLocks noGrp="1"/>
          </p:cNvSpPr>
          <p:nvPr>
            <p:ph type="title"/>
          </p:nvPr>
        </p:nvSpPr>
        <p:spPr/>
        <p:txBody>
          <a:bodyPr/>
          <a:lstStyle/>
          <a:p>
            <a:r>
              <a:rPr lang="en-IN"/>
              <a:t>Lever rule</a:t>
            </a:r>
          </a:p>
        </p:txBody>
      </p:sp>
      <p:pic>
        <p:nvPicPr>
          <p:cNvPr id="5" name="Content Placeholder 4">
            <a:extLst>
              <a:ext uri="{FF2B5EF4-FFF2-40B4-BE49-F238E27FC236}">
                <a16:creationId xmlns:a16="http://schemas.microsoft.com/office/drawing/2014/main" id="{D4A26D13-80A6-434A-AA4B-3981CDF78307}"/>
              </a:ext>
            </a:extLst>
          </p:cNvPr>
          <p:cNvPicPr>
            <a:picLocks noGrp="1" noChangeAspect="1"/>
          </p:cNvPicPr>
          <p:nvPr>
            <p:ph idx="1"/>
          </p:nvPr>
        </p:nvPicPr>
        <p:blipFill>
          <a:blip r:embed="rId2"/>
          <a:stretch>
            <a:fillRect/>
          </a:stretch>
        </p:blipFill>
        <p:spPr>
          <a:xfrm>
            <a:off x="656644" y="2226894"/>
            <a:ext cx="8059059" cy="3234589"/>
          </a:xfrm>
        </p:spPr>
      </p:pic>
    </p:spTree>
    <p:extLst>
      <p:ext uri="{BB962C8B-B14F-4D97-AF65-F5344CB8AC3E}">
        <p14:creationId xmlns:p14="http://schemas.microsoft.com/office/powerpoint/2010/main" val="2462758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25BBE-C692-4F5F-9538-C48BA501BAD8}"/>
              </a:ext>
            </a:extLst>
          </p:cNvPr>
          <p:cNvSpPr>
            <a:spLocks noGrp="1"/>
          </p:cNvSpPr>
          <p:nvPr>
            <p:ph type="title"/>
          </p:nvPr>
        </p:nvSpPr>
        <p:spPr>
          <a:xfrm>
            <a:off x="0" y="0"/>
            <a:ext cx="8229600" cy="1143000"/>
          </a:xfrm>
        </p:spPr>
        <p:txBody>
          <a:bodyPr/>
          <a:lstStyle/>
          <a:p>
            <a:r>
              <a:rPr lang="en-IN" dirty="0"/>
              <a:t>Binary eutectic system</a:t>
            </a:r>
          </a:p>
        </p:txBody>
      </p:sp>
      <p:pic>
        <p:nvPicPr>
          <p:cNvPr id="5122" name="Picture 2">
            <a:extLst>
              <a:ext uri="{FF2B5EF4-FFF2-40B4-BE49-F238E27FC236}">
                <a16:creationId xmlns:a16="http://schemas.microsoft.com/office/drawing/2014/main" id="{B70A0796-DC17-462B-A29F-CE07951490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2451" y="1905000"/>
            <a:ext cx="5943600" cy="4238943"/>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a:extLst>
              <a:ext uri="{FF2B5EF4-FFF2-40B4-BE49-F238E27FC236}">
                <a16:creationId xmlns:a16="http://schemas.microsoft.com/office/drawing/2014/main" id="{DAA129A4-F470-4077-A970-5292A27B903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48400" y="2590800"/>
            <a:ext cx="2763149" cy="23431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25871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715962"/>
          </a:xfrm>
        </p:spPr>
        <p:txBody>
          <a:bodyPr>
            <a:normAutofit/>
          </a:bodyPr>
          <a:lstStyle/>
          <a:p>
            <a:r>
              <a:rPr lang="en-US" sz="3600" b="1" dirty="0">
                <a:latin typeface="Arial" pitchFamily="34" charset="0"/>
                <a:cs typeface="Arial" pitchFamily="34" charset="0"/>
              </a:rPr>
              <a:t>Liquid Immiscibility</a:t>
            </a:r>
          </a:p>
        </p:txBody>
      </p:sp>
      <p:sp>
        <p:nvSpPr>
          <p:cNvPr id="3" name="Content Placeholder 2"/>
          <p:cNvSpPr>
            <a:spLocks noGrp="1"/>
          </p:cNvSpPr>
          <p:nvPr>
            <p:ph idx="1"/>
          </p:nvPr>
        </p:nvSpPr>
        <p:spPr>
          <a:xfrm>
            <a:off x="228600" y="990600"/>
            <a:ext cx="8686800" cy="5562600"/>
          </a:xfrm>
        </p:spPr>
        <p:txBody>
          <a:bodyPr>
            <a:normAutofit/>
          </a:bodyPr>
          <a:lstStyle/>
          <a:p>
            <a:pPr algn="just"/>
            <a:r>
              <a:rPr lang="en-US" sz="2800" dirty="0">
                <a:latin typeface="Arial" pitchFamily="34" charset="0"/>
                <a:cs typeface="Arial" pitchFamily="34" charset="0"/>
              </a:rPr>
              <a:t>Laboratory experiments have shown that the Liquid Immiscibility also play an important role in magmatic differentiation and diversification of igneous rocks.</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It is believed that a homogenous liquid magma on cooling, split into two immiscible liquid fractions (having different composition).</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For e.g. a Tholeiitic liquid magma on cooling may split into two fractions (a) Granitic melt (b) Fe-Mg rich melt.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3124200"/>
            <a:ext cx="8686800" cy="3505200"/>
          </a:xfrm>
        </p:spPr>
        <p:txBody>
          <a:bodyPr>
            <a:normAutofit fontScale="92500" lnSpcReduction="10000"/>
          </a:bodyPr>
          <a:lstStyle/>
          <a:p>
            <a:pPr algn="just"/>
            <a:r>
              <a:rPr lang="en-US" sz="2800" dirty="0">
                <a:latin typeface="Arial" pitchFamily="34" charset="0"/>
                <a:cs typeface="Arial" pitchFamily="34" charset="0"/>
              </a:rPr>
              <a:t>Likewise, from </a:t>
            </a:r>
            <a:r>
              <a:rPr lang="en-US" sz="2800" dirty="0" err="1">
                <a:latin typeface="Arial" pitchFamily="34" charset="0"/>
                <a:cs typeface="Arial" pitchFamily="34" charset="0"/>
              </a:rPr>
              <a:t>mafic</a:t>
            </a:r>
            <a:r>
              <a:rPr lang="en-US" sz="2800" dirty="0">
                <a:latin typeface="Arial" pitchFamily="34" charset="0"/>
                <a:cs typeface="Arial" pitchFamily="34" charset="0"/>
              </a:rPr>
              <a:t> silicate magmas, </a:t>
            </a:r>
            <a:r>
              <a:rPr lang="en-US" sz="2800" b="1" dirty="0">
                <a:latin typeface="Arial" pitchFamily="34" charset="0"/>
                <a:cs typeface="Arial" pitchFamily="34" charset="0"/>
              </a:rPr>
              <a:t>Sulfide</a:t>
            </a:r>
            <a:r>
              <a:rPr lang="en-US" sz="2800" dirty="0">
                <a:latin typeface="Arial" pitchFamily="34" charset="0"/>
                <a:cs typeface="Arial" pitchFamily="34" charset="0"/>
              </a:rPr>
              <a:t> liquids may separate as immiscible fraction.</a:t>
            </a:r>
          </a:p>
          <a:p>
            <a:pPr algn="just"/>
            <a:r>
              <a:rPr lang="en-US" sz="2800" dirty="0">
                <a:latin typeface="Arial" pitchFamily="34" charset="0"/>
                <a:cs typeface="Arial" pitchFamily="34" charset="0"/>
              </a:rPr>
              <a:t>Similarly, highly alkaline magmas rich in CO</a:t>
            </a:r>
            <a:r>
              <a:rPr lang="en-US" sz="2800" baseline="-25000" dirty="0">
                <a:latin typeface="Arial" pitchFamily="34" charset="0"/>
                <a:cs typeface="Arial" pitchFamily="34" charset="0"/>
              </a:rPr>
              <a:t>2</a:t>
            </a:r>
            <a:r>
              <a:rPr lang="en-US" sz="2800" dirty="0">
                <a:latin typeface="Arial" pitchFamily="34" charset="0"/>
                <a:cs typeface="Arial" pitchFamily="34" charset="0"/>
              </a:rPr>
              <a:t> may separate into two liquids, one rich in carbonate, and the other rich in silica and alkalis.  This process may be responsible for forming the rare </a:t>
            </a:r>
            <a:r>
              <a:rPr lang="en-US" sz="2800" dirty="0" err="1">
                <a:latin typeface="Arial" pitchFamily="34" charset="0"/>
                <a:cs typeface="Arial" pitchFamily="34" charset="0"/>
              </a:rPr>
              <a:t>carbonatite</a:t>
            </a:r>
            <a:r>
              <a:rPr lang="en-US" sz="2800" dirty="0">
                <a:latin typeface="Arial" pitchFamily="34" charset="0"/>
                <a:cs typeface="Arial" pitchFamily="34" charset="0"/>
              </a:rPr>
              <a:t> magmas. </a:t>
            </a:r>
            <a:r>
              <a:rPr lang="en-US" sz="2800" b="1" dirty="0">
                <a:latin typeface="Arial" pitchFamily="34" charset="0"/>
                <a:cs typeface="Arial" pitchFamily="34" charset="0"/>
              </a:rPr>
              <a:t>Carbonatites  (alkaline igneous rocks) are commonly generated through the process of liquid immiscibility.</a:t>
            </a:r>
          </a:p>
          <a:p>
            <a:pPr algn="just"/>
            <a:endParaRPr lang="en-US" sz="2800" dirty="0">
              <a:latin typeface="Arial" pitchFamily="34" charset="0"/>
              <a:cs typeface="Arial" pitchFamily="34" charset="0"/>
            </a:endParaRPr>
          </a:p>
        </p:txBody>
      </p:sp>
      <p:sp>
        <p:nvSpPr>
          <p:cNvPr id="6" name="Flowchart: Process 5"/>
          <p:cNvSpPr/>
          <p:nvPr/>
        </p:nvSpPr>
        <p:spPr>
          <a:xfrm>
            <a:off x="2590800" y="304800"/>
            <a:ext cx="3733800" cy="612648"/>
          </a:xfrm>
          <a:prstGeom prst="flowChartProcess">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2400" dirty="0" err="1">
                <a:solidFill>
                  <a:schemeClr val="tx1"/>
                </a:solidFill>
                <a:latin typeface="Arial" pitchFamily="34" charset="0"/>
                <a:cs typeface="Arial" pitchFamily="34" charset="0"/>
              </a:rPr>
              <a:t>Tholeiitic</a:t>
            </a:r>
            <a:r>
              <a:rPr lang="en-US" sz="2400" dirty="0">
                <a:solidFill>
                  <a:schemeClr val="tx1"/>
                </a:solidFill>
                <a:latin typeface="Arial" pitchFamily="34" charset="0"/>
                <a:cs typeface="Arial" pitchFamily="34" charset="0"/>
              </a:rPr>
              <a:t> Magma</a:t>
            </a:r>
          </a:p>
        </p:txBody>
      </p:sp>
      <p:sp>
        <p:nvSpPr>
          <p:cNvPr id="7" name="Down Arrow 6"/>
          <p:cNvSpPr/>
          <p:nvPr/>
        </p:nvSpPr>
        <p:spPr>
          <a:xfrm rot="1921413">
            <a:off x="3595825" y="880655"/>
            <a:ext cx="484632" cy="113080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lowchart: Process 7"/>
          <p:cNvSpPr/>
          <p:nvPr/>
        </p:nvSpPr>
        <p:spPr>
          <a:xfrm>
            <a:off x="1676400" y="2133600"/>
            <a:ext cx="2667000" cy="612648"/>
          </a:xfrm>
          <a:prstGeom prst="flowChartProcess">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400" dirty="0">
                <a:solidFill>
                  <a:schemeClr val="tx1"/>
                </a:solidFill>
                <a:latin typeface="Arial" pitchFamily="34" charset="0"/>
                <a:cs typeface="Arial" pitchFamily="34" charset="0"/>
              </a:rPr>
              <a:t>Granitic Melt</a:t>
            </a:r>
          </a:p>
        </p:txBody>
      </p:sp>
      <p:sp>
        <p:nvSpPr>
          <p:cNvPr id="9" name="Flowchart: Process 8"/>
          <p:cNvSpPr/>
          <p:nvPr/>
        </p:nvSpPr>
        <p:spPr>
          <a:xfrm>
            <a:off x="4648200" y="2133600"/>
            <a:ext cx="2667000" cy="612648"/>
          </a:xfrm>
          <a:prstGeom prst="flowChartProcess">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solidFill>
                  <a:schemeClr val="tx1"/>
                </a:solidFill>
                <a:latin typeface="Arial" pitchFamily="34" charset="0"/>
                <a:cs typeface="Arial" pitchFamily="34" charset="0"/>
              </a:rPr>
              <a:t>Fe-Mg rich  Melt</a:t>
            </a:r>
          </a:p>
        </p:txBody>
      </p:sp>
      <p:sp>
        <p:nvSpPr>
          <p:cNvPr id="10" name="Down Arrow 9"/>
          <p:cNvSpPr/>
          <p:nvPr/>
        </p:nvSpPr>
        <p:spPr>
          <a:xfrm rot="19039600">
            <a:off x="4738683" y="852745"/>
            <a:ext cx="484632" cy="1130808"/>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5410200" y="1143000"/>
            <a:ext cx="898003" cy="369332"/>
          </a:xfrm>
          <a:prstGeom prst="rect">
            <a:avLst/>
          </a:prstGeom>
          <a:noFill/>
        </p:spPr>
        <p:txBody>
          <a:bodyPr wrap="none" rtlCol="0">
            <a:spAutoFit/>
          </a:bodyPr>
          <a:lstStyle/>
          <a:p>
            <a:r>
              <a:rPr lang="en-US" b="1" dirty="0"/>
              <a:t>Cooling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715962"/>
          </a:xfrm>
        </p:spPr>
        <p:txBody>
          <a:bodyPr>
            <a:normAutofit/>
          </a:bodyPr>
          <a:lstStyle/>
          <a:p>
            <a:r>
              <a:rPr lang="en-US" sz="4000" b="1" dirty="0">
                <a:latin typeface="Arial" pitchFamily="34" charset="0"/>
                <a:cs typeface="Arial" pitchFamily="34" charset="0"/>
              </a:rPr>
              <a:t>Assimilation</a:t>
            </a:r>
          </a:p>
        </p:txBody>
      </p:sp>
      <p:sp>
        <p:nvSpPr>
          <p:cNvPr id="3" name="Content Placeholder 2"/>
          <p:cNvSpPr>
            <a:spLocks noGrp="1"/>
          </p:cNvSpPr>
          <p:nvPr>
            <p:ph idx="1"/>
          </p:nvPr>
        </p:nvSpPr>
        <p:spPr>
          <a:xfrm>
            <a:off x="228600" y="838200"/>
            <a:ext cx="8686800" cy="5791200"/>
          </a:xfrm>
        </p:spPr>
        <p:txBody>
          <a:bodyPr>
            <a:normAutofit lnSpcReduction="10000"/>
          </a:bodyPr>
          <a:lstStyle/>
          <a:p>
            <a:pPr algn="just"/>
            <a:r>
              <a:rPr lang="en-US" sz="2800" dirty="0">
                <a:latin typeface="Arial" pitchFamily="34" charset="0"/>
                <a:cs typeface="Arial" pitchFamily="34" charset="0"/>
              </a:rPr>
              <a:t>Assimilation is another process of responsible for diversification of igneous rock types.</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Assimilation is the incorporation of matter from wall rocks into the magma to give a contaminated or hybrid magma.</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During the intrusion of magma in wall rocks, some of the fraction of wall rock mixed in the magma and may become partially or completely melted (due to heat of magma) and merged into the liquid fraction of magma (causing change of composition of primary magma).</a:t>
            </a:r>
          </a:p>
          <a:p>
            <a:endParaRPr lang="en-US" dirty="0"/>
          </a:p>
          <a:p>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228600"/>
            <a:ext cx="8686800" cy="6324600"/>
          </a:xfrm>
        </p:spPr>
        <p:txBody>
          <a:bodyPr>
            <a:normAutofit/>
          </a:bodyPr>
          <a:lstStyle/>
          <a:p>
            <a:pPr algn="just"/>
            <a:r>
              <a:rPr lang="en-US" sz="2800" dirty="0">
                <a:latin typeface="Arial" pitchFamily="34" charset="0"/>
                <a:cs typeface="Arial" pitchFamily="34" charset="0"/>
              </a:rPr>
              <a:t>According to the Bowen (1928), a considerable amount of heat is necessary to melt the minerals of country rocks.</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For the process of assimilation, magmatic temperature should be high otherwise only those minerals of wall rock will melt, which are having lower melting temperature. Wholesale (Bulk) assimilation by a liquid magma requires a superheated magma (very high temperature).</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The presence of xenoliths (fractured portion of country rocks) is indicative of assimilation.</a:t>
            </a:r>
          </a:p>
          <a:p>
            <a:pPr algn="just">
              <a:buNone/>
            </a:pPr>
            <a:endParaRPr lang="en-US" sz="2800" dirty="0">
              <a:latin typeface="Arial" pitchFamily="34" charset="0"/>
              <a:cs typeface="Arial" pitchFamily="34" charset="0"/>
            </a:endParaRPr>
          </a:p>
          <a:p>
            <a:pPr algn="just"/>
            <a:endParaRPr lang="en-US" sz="2800" dirty="0">
              <a:latin typeface="Arial" pitchFamily="34" charset="0"/>
              <a:cs typeface="Arial" pitchFamily="34" charset="0"/>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0" name="Picture 2">
            <a:extLst>
              <a:ext uri="{FF2B5EF4-FFF2-40B4-BE49-F238E27FC236}">
                <a16:creationId xmlns:a16="http://schemas.microsoft.com/office/drawing/2014/main" id="{B1C537E1-9451-4E2E-B54D-EF52E76D20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0" y="914400"/>
            <a:ext cx="7924800" cy="47920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026306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017.jpg"/>
          <p:cNvPicPr>
            <a:picLocks noChangeAspect="1"/>
          </p:cNvPicPr>
          <p:nvPr/>
        </p:nvPicPr>
        <p:blipFill>
          <a:blip r:embed="rId2" cstate="print"/>
          <a:stretch>
            <a:fillRect/>
          </a:stretch>
        </p:blipFill>
        <p:spPr>
          <a:xfrm>
            <a:off x="381000" y="323308"/>
            <a:ext cx="4038600" cy="3572352"/>
          </a:xfrm>
          <a:prstGeom prst="rect">
            <a:avLst/>
          </a:prstGeom>
        </p:spPr>
      </p:pic>
      <p:pic>
        <p:nvPicPr>
          <p:cNvPr id="13314" name="Picture 2">
            <a:extLst>
              <a:ext uri="{FF2B5EF4-FFF2-40B4-BE49-F238E27FC236}">
                <a16:creationId xmlns:a16="http://schemas.microsoft.com/office/drawing/2014/main" id="{9E6B8F38-1C5B-42F7-BBC2-FFF2005709A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3202" r="50000"/>
          <a:stretch/>
        </p:blipFill>
        <p:spPr bwMode="auto">
          <a:xfrm>
            <a:off x="5257800" y="533400"/>
            <a:ext cx="3352800" cy="460516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76200"/>
            <a:ext cx="8229600" cy="715962"/>
          </a:xfrm>
        </p:spPr>
        <p:txBody>
          <a:bodyPr>
            <a:normAutofit/>
          </a:bodyPr>
          <a:lstStyle/>
          <a:p>
            <a:r>
              <a:rPr lang="en-US" sz="4000" b="1" dirty="0">
                <a:latin typeface="Arial" pitchFamily="34" charset="0"/>
                <a:cs typeface="Arial" pitchFamily="34" charset="0"/>
              </a:rPr>
              <a:t>Magma Mixing</a:t>
            </a:r>
          </a:p>
        </p:txBody>
      </p:sp>
      <p:sp>
        <p:nvSpPr>
          <p:cNvPr id="3" name="Content Placeholder 2"/>
          <p:cNvSpPr>
            <a:spLocks noGrp="1"/>
          </p:cNvSpPr>
          <p:nvPr>
            <p:ph idx="1"/>
          </p:nvPr>
        </p:nvSpPr>
        <p:spPr>
          <a:xfrm>
            <a:off x="152400" y="838200"/>
            <a:ext cx="8763000" cy="5715000"/>
          </a:xfrm>
        </p:spPr>
        <p:txBody>
          <a:bodyPr>
            <a:normAutofit/>
          </a:bodyPr>
          <a:lstStyle/>
          <a:p>
            <a:pPr algn="just"/>
            <a:r>
              <a:rPr lang="en-US" sz="2800" dirty="0">
                <a:latin typeface="Arial" pitchFamily="34" charset="0"/>
                <a:cs typeface="Arial" pitchFamily="34" charset="0"/>
              </a:rPr>
              <a:t>The process of magma mixing is also responsible for variation in igneous rocks.</a:t>
            </a:r>
          </a:p>
          <a:p>
            <a:pPr algn="just"/>
            <a:endParaRPr lang="en-US" sz="2800" dirty="0">
              <a:latin typeface="Arial" pitchFamily="34" charset="0"/>
              <a:cs typeface="Arial" pitchFamily="34" charset="0"/>
            </a:endParaRPr>
          </a:p>
          <a:p>
            <a:pPr algn="just"/>
            <a:r>
              <a:rPr lang="en-US" sz="2800" dirty="0">
                <a:latin typeface="Arial" pitchFamily="34" charset="0"/>
                <a:cs typeface="Arial" pitchFamily="34" charset="0"/>
              </a:rPr>
              <a:t>Bunsen (1851) first suggested that the mixing of two contrast primary magmas (basaltic and </a:t>
            </a:r>
            <a:r>
              <a:rPr lang="en-US" sz="2800" dirty="0" err="1">
                <a:latin typeface="Arial" pitchFamily="34" charset="0"/>
                <a:cs typeface="Arial" pitchFamily="34" charset="0"/>
              </a:rPr>
              <a:t>rhyolitic</a:t>
            </a:r>
            <a:r>
              <a:rPr lang="en-US" sz="2800" dirty="0">
                <a:latin typeface="Arial" pitchFamily="34" charset="0"/>
                <a:cs typeface="Arial" pitchFamily="34" charset="0"/>
              </a:rPr>
              <a:t>) may account for the range of variation in the lava. Later on Durocher (1909) explained that all igneous rocks are derived from two primary magma only.</a:t>
            </a:r>
          </a:p>
          <a:p>
            <a:pPr algn="just">
              <a:buNone/>
            </a:pPr>
            <a:endParaRPr lang="en-US" sz="2800" dirty="0">
              <a:latin typeface="Arial" pitchFamily="34" charset="0"/>
              <a:cs typeface="Arial" pitchFamily="34" charset="0"/>
            </a:endParaRPr>
          </a:p>
          <a:p>
            <a:pPr algn="just"/>
            <a:r>
              <a:rPr lang="en-US" sz="2800" dirty="0">
                <a:latin typeface="Arial" pitchFamily="34" charset="0"/>
                <a:cs typeface="Arial" pitchFamily="34" charset="0"/>
              </a:rPr>
              <a:t>Magma mixing do occur in nature but </a:t>
            </a:r>
            <a:r>
              <a:rPr lang="en-US" sz="2800" dirty="0" err="1">
                <a:latin typeface="Arial" pitchFamily="34" charset="0"/>
                <a:cs typeface="Arial" pitchFamily="34" charset="0"/>
              </a:rPr>
              <a:t>petrologists</a:t>
            </a:r>
            <a:r>
              <a:rPr lang="en-US" sz="2800" dirty="0">
                <a:latin typeface="Arial" pitchFamily="34" charset="0"/>
                <a:cs typeface="Arial" pitchFamily="34" charset="0"/>
              </a:rPr>
              <a:t> do not consider it as the principal factor in magmatic evolution.</a:t>
            </a:r>
          </a:p>
          <a:p>
            <a:pPr algn="just"/>
            <a:endParaRPr lang="en-US" sz="2800" dirty="0">
              <a:latin typeface="Arial" pitchFamily="34" charset="0"/>
              <a:cs typeface="Arial" pitchFamily="34" charset="0"/>
            </a:endParaRPr>
          </a:p>
          <a:p>
            <a:pPr algn="just"/>
            <a:endParaRPr lang="en-US" sz="2800" dirty="0">
              <a:latin typeface="Arial" pitchFamily="34" charset="0"/>
              <a:cs typeface="Arial" pitchFamily="34" charset="0"/>
            </a:endParaRPr>
          </a:p>
          <a:p>
            <a:pPr algn="just"/>
            <a:endParaRPr lang="en-US" sz="2800" dirty="0">
              <a:latin typeface="Arial" pitchFamily="34" charset="0"/>
              <a:cs typeface="Arial" pitchFamily="34" charset="0"/>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0" y="304800"/>
            <a:ext cx="8763000" cy="5821363"/>
          </a:xfrm>
        </p:spPr>
        <p:txBody>
          <a:bodyPr>
            <a:normAutofit/>
          </a:bodyPr>
          <a:lstStyle/>
          <a:p>
            <a:pPr algn="just"/>
            <a:r>
              <a:rPr lang="en-US" sz="2800" dirty="0">
                <a:latin typeface="Arial" pitchFamily="34" charset="0"/>
                <a:cs typeface="Arial" pitchFamily="34" charset="0"/>
              </a:rPr>
              <a:t>The magma mixing may be partial or complete. In partial mixing, the separate body or </a:t>
            </a:r>
            <a:r>
              <a:rPr lang="en-US" sz="2800" dirty="0" err="1">
                <a:latin typeface="Arial" pitchFamily="34" charset="0"/>
                <a:cs typeface="Arial" pitchFamily="34" charset="0"/>
              </a:rPr>
              <a:t>xenolith</a:t>
            </a:r>
            <a:r>
              <a:rPr lang="en-US" sz="2800" dirty="0">
                <a:latin typeface="Arial" pitchFamily="34" charset="0"/>
                <a:cs typeface="Arial" pitchFamily="34" charset="0"/>
              </a:rPr>
              <a:t> on one magma type is found in another. If it mixed completely, then it form a magma of different composition (hybrid magma).</a:t>
            </a:r>
          </a:p>
        </p:txBody>
      </p:sp>
      <p:pic>
        <p:nvPicPr>
          <p:cNvPr id="4" name="Picture 3" descr="018.jpg"/>
          <p:cNvPicPr>
            <a:picLocks noChangeAspect="1"/>
          </p:cNvPicPr>
          <p:nvPr/>
        </p:nvPicPr>
        <p:blipFill>
          <a:blip r:embed="rId2"/>
          <a:stretch>
            <a:fillRect/>
          </a:stretch>
        </p:blipFill>
        <p:spPr>
          <a:xfrm>
            <a:off x="533400" y="2769108"/>
            <a:ext cx="8001000" cy="381762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81000" y="228600"/>
            <a:ext cx="8534400" cy="6400800"/>
          </a:xfrm>
        </p:spPr>
        <p:txBody>
          <a:bodyPr>
            <a:normAutofit fontScale="92500" lnSpcReduction="10000"/>
          </a:bodyPr>
          <a:lstStyle/>
          <a:p>
            <a:pPr algn="just"/>
            <a:r>
              <a:rPr lang="en-US" b="0" i="0" dirty="0">
                <a:solidFill>
                  <a:srgbClr val="222222"/>
                </a:solidFill>
                <a:effectLst/>
                <a:latin typeface="Merriweather" panose="00000500000000000000" pitchFamily="2" charset="0"/>
              </a:rPr>
              <a:t>magma mixing into two separate physico/chemical processes: </a:t>
            </a:r>
          </a:p>
          <a:p>
            <a:pPr algn="just"/>
            <a:r>
              <a:rPr lang="en-US" b="0" i="0" dirty="0">
                <a:solidFill>
                  <a:srgbClr val="222222"/>
                </a:solidFill>
                <a:effectLst/>
                <a:latin typeface="Merriweather" panose="00000500000000000000" pitchFamily="2" charset="0"/>
              </a:rPr>
              <a:t>(i) </a:t>
            </a:r>
            <a:r>
              <a:rPr lang="en-US" b="0" i="0" dirty="0">
                <a:solidFill>
                  <a:srgbClr val="0070C0"/>
                </a:solidFill>
                <a:effectLst/>
                <a:latin typeface="Merriweather" panose="00000500000000000000" pitchFamily="2" charset="0"/>
              </a:rPr>
              <a:t>mechanical mixing </a:t>
            </a:r>
            <a:r>
              <a:rPr lang="en-US" b="0" i="0" dirty="0">
                <a:solidFill>
                  <a:srgbClr val="222222"/>
                </a:solidFill>
                <a:effectLst/>
                <a:latin typeface="Merriweather" panose="00000500000000000000" pitchFamily="2" charset="0"/>
              </a:rPr>
              <a:t>(also referred to as “magma mingling”), by which two or more batches of magma mingle without chemical exchanges between them, </a:t>
            </a:r>
          </a:p>
          <a:p>
            <a:pPr algn="just"/>
            <a:r>
              <a:rPr lang="en-US" b="0" i="0" dirty="0">
                <a:solidFill>
                  <a:srgbClr val="222222"/>
                </a:solidFill>
                <a:effectLst/>
                <a:latin typeface="Merriweather" panose="00000500000000000000" pitchFamily="2" charset="0"/>
              </a:rPr>
              <a:t>(ii) </a:t>
            </a:r>
            <a:r>
              <a:rPr lang="en-US" b="0" i="0" dirty="0">
                <a:solidFill>
                  <a:srgbClr val="0070C0"/>
                </a:solidFill>
                <a:effectLst/>
                <a:latin typeface="Merriweather" panose="00000500000000000000" pitchFamily="2" charset="0"/>
              </a:rPr>
              <a:t>a chemical mixing </a:t>
            </a:r>
            <a:r>
              <a:rPr lang="en-US" b="0" i="0" dirty="0">
                <a:solidFill>
                  <a:srgbClr val="222222"/>
                </a:solidFill>
                <a:effectLst/>
                <a:latin typeface="Merriweather" panose="00000500000000000000" pitchFamily="2" charset="0"/>
              </a:rPr>
              <a:t>(also referred to as “magma mixing”) triggered by chemical exchanges between the interacting magmas in which elements move from one magma to the other according to compositional gradients continuously generated by the mechanical dispersion of the two magmas </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2" descr="figure 1">
            <a:extLst>
              <a:ext uri="{FF2B5EF4-FFF2-40B4-BE49-F238E27FC236}">
                <a16:creationId xmlns:a16="http://schemas.microsoft.com/office/drawing/2014/main" id="{7F952A4C-D615-450B-83C8-37574A1C91A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6744" y="533400"/>
            <a:ext cx="7910512" cy="603970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FF5BC7-80C4-42D2-BBD5-372596BF7D50}"/>
              </a:ext>
            </a:extLst>
          </p:cNvPr>
          <p:cNvSpPr>
            <a:spLocks noGrp="1"/>
          </p:cNvSpPr>
          <p:nvPr>
            <p:ph type="title"/>
          </p:nvPr>
        </p:nvSpPr>
        <p:spPr>
          <a:xfrm>
            <a:off x="6046076" y="5715000"/>
            <a:ext cx="3124200" cy="1143000"/>
          </a:xfrm>
        </p:spPr>
        <p:txBody>
          <a:bodyPr/>
          <a:lstStyle/>
          <a:p>
            <a:r>
              <a:rPr lang="en-IN" sz="1600" dirty="0"/>
              <a:t>Source: Morgavi et al., 2017</a:t>
            </a:r>
          </a:p>
        </p:txBody>
      </p:sp>
      <p:pic>
        <p:nvPicPr>
          <p:cNvPr id="15362" name="Picture 2" descr="figure 2">
            <a:extLst>
              <a:ext uri="{FF2B5EF4-FFF2-40B4-BE49-F238E27FC236}">
                <a16:creationId xmlns:a16="http://schemas.microsoft.com/office/drawing/2014/main" id="{3D609A6B-9F7C-43F4-9888-4080C524177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48633"/>
          <a:stretch/>
        </p:blipFill>
        <p:spPr bwMode="auto">
          <a:xfrm>
            <a:off x="685800" y="2133600"/>
            <a:ext cx="7566828" cy="331946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ED35098-EA82-4BAA-9E50-3CA3380A4711}"/>
              </a:ext>
            </a:extLst>
          </p:cNvPr>
          <p:cNvSpPr txBox="1"/>
          <p:nvPr/>
        </p:nvSpPr>
        <p:spPr>
          <a:xfrm>
            <a:off x="304800" y="152400"/>
            <a:ext cx="3200400" cy="523220"/>
          </a:xfrm>
          <a:prstGeom prst="rect">
            <a:avLst/>
          </a:prstGeom>
          <a:noFill/>
        </p:spPr>
        <p:txBody>
          <a:bodyPr wrap="square">
            <a:spAutoFit/>
          </a:bodyPr>
          <a:lstStyle/>
          <a:p>
            <a:pPr algn="just"/>
            <a:r>
              <a:rPr lang="en-US" sz="2800" b="0" i="0" dirty="0">
                <a:solidFill>
                  <a:srgbClr val="222222"/>
                </a:solidFill>
                <a:effectLst/>
                <a:latin typeface="Merriweather" panose="00000500000000000000" pitchFamily="2" charset="0"/>
              </a:rPr>
              <a:t>Magma Mixing</a:t>
            </a:r>
          </a:p>
        </p:txBody>
      </p:sp>
    </p:spTree>
    <p:extLst>
      <p:ext uri="{BB962C8B-B14F-4D97-AF65-F5344CB8AC3E}">
        <p14:creationId xmlns:p14="http://schemas.microsoft.com/office/powerpoint/2010/main" val="35979369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6E4316A-E549-4DE0-8D16-8882E9456941}"/>
              </a:ext>
            </a:extLst>
          </p:cNvPr>
          <p:cNvSpPr>
            <a:spLocks noGrp="1"/>
          </p:cNvSpPr>
          <p:nvPr>
            <p:ph idx="1"/>
          </p:nvPr>
        </p:nvSpPr>
        <p:spPr>
          <a:xfrm>
            <a:off x="21021" y="2209800"/>
            <a:ext cx="8991600" cy="4525963"/>
          </a:xfrm>
        </p:spPr>
        <p:txBody>
          <a:bodyPr/>
          <a:lstStyle/>
          <a:p>
            <a:pPr marL="0" indent="0">
              <a:buNone/>
            </a:pPr>
            <a:r>
              <a:rPr lang="en-IN" dirty="0"/>
              <a:t> Trace elements during magmatic differentiation </a:t>
            </a:r>
          </a:p>
        </p:txBody>
      </p:sp>
    </p:spTree>
    <p:extLst>
      <p:ext uri="{BB962C8B-B14F-4D97-AF65-F5344CB8AC3E}">
        <p14:creationId xmlns:p14="http://schemas.microsoft.com/office/powerpoint/2010/main" val="6025780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06A0D-AD17-4F11-BC74-3D2CD9C0BE58}"/>
              </a:ext>
            </a:extLst>
          </p:cNvPr>
          <p:cNvSpPr>
            <a:spLocks noGrp="1"/>
          </p:cNvSpPr>
          <p:nvPr>
            <p:ph type="title"/>
          </p:nvPr>
        </p:nvSpPr>
        <p:spPr>
          <a:xfrm>
            <a:off x="0" y="-76200"/>
            <a:ext cx="9677400" cy="1143000"/>
          </a:xfrm>
        </p:spPr>
        <p:txBody>
          <a:bodyPr/>
          <a:lstStyle/>
          <a:p>
            <a:r>
              <a:rPr lang="en-IN" dirty="0"/>
              <a:t>Ionic Radius and substitution</a:t>
            </a:r>
          </a:p>
        </p:txBody>
      </p:sp>
      <p:pic>
        <p:nvPicPr>
          <p:cNvPr id="5" name="Content Placeholder 4">
            <a:extLst>
              <a:ext uri="{FF2B5EF4-FFF2-40B4-BE49-F238E27FC236}">
                <a16:creationId xmlns:a16="http://schemas.microsoft.com/office/drawing/2014/main" id="{F173A3D3-882C-445F-9AC8-17B1E19E3D09}"/>
              </a:ext>
            </a:extLst>
          </p:cNvPr>
          <p:cNvPicPr>
            <a:picLocks noGrp="1" noChangeAspect="1"/>
          </p:cNvPicPr>
          <p:nvPr>
            <p:ph idx="1"/>
          </p:nvPr>
        </p:nvPicPr>
        <p:blipFill>
          <a:blip r:embed="rId2"/>
          <a:stretch>
            <a:fillRect/>
          </a:stretch>
        </p:blipFill>
        <p:spPr>
          <a:xfrm>
            <a:off x="1524000" y="1219200"/>
            <a:ext cx="5791200" cy="5612552"/>
          </a:xfrm>
        </p:spPr>
      </p:pic>
    </p:spTree>
    <p:extLst>
      <p:ext uri="{BB962C8B-B14F-4D97-AF65-F5344CB8AC3E}">
        <p14:creationId xmlns:p14="http://schemas.microsoft.com/office/powerpoint/2010/main" val="40036271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8ECE6A51-5DDE-4D7A-BC0E-17CD2416EF33}"/>
              </a:ext>
            </a:extLst>
          </p:cNvPr>
          <p:cNvSpPr>
            <a:spLocks noGrp="1" noChangeArrowheads="1"/>
          </p:cNvSpPr>
          <p:nvPr>
            <p:ph type="title"/>
          </p:nvPr>
        </p:nvSpPr>
        <p:spPr>
          <a:xfrm>
            <a:off x="685800" y="533400"/>
            <a:ext cx="7772400" cy="685800"/>
          </a:xfrm>
        </p:spPr>
        <p:txBody>
          <a:bodyPr/>
          <a:lstStyle/>
          <a:p>
            <a:pPr eaLnBrk="1" hangingPunct="1"/>
            <a:r>
              <a:rPr lang="en-US" altLang="en-US" sz="3600"/>
              <a:t>GOLDSCHMIDT’S RULES</a:t>
            </a:r>
          </a:p>
        </p:txBody>
      </p:sp>
      <p:sp>
        <p:nvSpPr>
          <p:cNvPr id="6147" name="Rectangle 3">
            <a:extLst>
              <a:ext uri="{FF2B5EF4-FFF2-40B4-BE49-F238E27FC236}">
                <a16:creationId xmlns:a16="http://schemas.microsoft.com/office/drawing/2014/main" id="{8765E3FE-B1C3-456F-B708-2216090D93D3}"/>
              </a:ext>
            </a:extLst>
          </p:cNvPr>
          <p:cNvSpPr>
            <a:spLocks noGrp="1" noChangeArrowheads="1"/>
          </p:cNvSpPr>
          <p:nvPr>
            <p:ph type="body" idx="1"/>
          </p:nvPr>
        </p:nvSpPr>
        <p:spPr>
          <a:xfrm>
            <a:off x="304800" y="1371600"/>
            <a:ext cx="8686800" cy="5257800"/>
          </a:xfrm>
        </p:spPr>
        <p:txBody>
          <a:bodyPr/>
          <a:lstStyle/>
          <a:p>
            <a:pPr eaLnBrk="1" hangingPunct="1">
              <a:buFontTx/>
              <a:buNone/>
            </a:pPr>
            <a:r>
              <a:rPr lang="en-US" altLang="en-US" sz="2800" dirty="0"/>
              <a:t>1. The ions of one element can extensively replace those of another in ionic crystals if their radii differ by less than approximately 15%.</a:t>
            </a:r>
          </a:p>
          <a:p>
            <a:pPr eaLnBrk="1" hangingPunct="1">
              <a:buFontTx/>
              <a:buNone/>
            </a:pPr>
            <a:r>
              <a:rPr lang="en-US" altLang="en-US" sz="2800" dirty="0"/>
              <a:t>2. Ions whose charges differ by one unit substitute readily for one another provided electrical neutrality of the crystal is maintained. If the charges differ by more than one unit, substitution is generally slight.</a:t>
            </a:r>
          </a:p>
          <a:p>
            <a:pPr eaLnBrk="1" hangingPunct="1">
              <a:buFontTx/>
              <a:buNone/>
            </a:pPr>
            <a:r>
              <a:rPr lang="en-US" altLang="en-US" sz="2800" dirty="0"/>
              <a:t>3. When two different ions can occupy a particular position in a crystal lattice, the ion with the higher ionic potential forms a stronger bond with the anions surrounding the site.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03561A5E-F2B1-4723-AF5F-2C6A8A0074A4}"/>
              </a:ext>
            </a:extLst>
          </p:cNvPr>
          <p:cNvSpPr>
            <a:spLocks noGrp="1" noChangeArrowheads="1"/>
          </p:cNvSpPr>
          <p:nvPr>
            <p:ph type="title"/>
          </p:nvPr>
        </p:nvSpPr>
        <p:spPr>
          <a:xfrm>
            <a:off x="685800" y="304800"/>
            <a:ext cx="7772400" cy="1219200"/>
          </a:xfrm>
        </p:spPr>
        <p:txBody>
          <a:bodyPr/>
          <a:lstStyle/>
          <a:p>
            <a:pPr eaLnBrk="1" hangingPunct="1"/>
            <a:r>
              <a:rPr lang="en-US" altLang="en-US" sz="3600"/>
              <a:t>RINGWOOD’S MODIFICATION OF</a:t>
            </a:r>
            <a:br>
              <a:rPr lang="en-US" altLang="en-US" sz="3600"/>
            </a:br>
            <a:r>
              <a:rPr lang="en-US" altLang="en-US" sz="3600"/>
              <a:t>GOLDSCHMIDT’S RULES</a:t>
            </a:r>
          </a:p>
        </p:txBody>
      </p:sp>
      <p:sp>
        <p:nvSpPr>
          <p:cNvPr id="7171" name="Rectangle 3">
            <a:extLst>
              <a:ext uri="{FF2B5EF4-FFF2-40B4-BE49-F238E27FC236}">
                <a16:creationId xmlns:a16="http://schemas.microsoft.com/office/drawing/2014/main" id="{B9037528-6C40-44ED-9CEB-44993908CACE}"/>
              </a:ext>
            </a:extLst>
          </p:cNvPr>
          <p:cNvSpPr>
            <a:spLocks noGrp="1" noChangeArrowheads="1"/>
          </p:cNvSpPr>
          <p:nvPr>
            <p:ph type="body" idx="1"/>
          </p:nvPr>
        </p:nvSpPr>
        <p:spPr>
          <a:xfrm>
            <a:off x="457200" y="1828800"/>
            <a:ext cx="8305800" cy="3810000"/>
          </a:xfrm>
        </p:spPr>
        <p:txBody>
          <a:bodyPr/>
          <a:lstStyle/>
          <a:p>
            <a:pPr eaLnBrk="1" hangingPunct="1">
              <a:buFontTx/>
              <a:buNone/>
            </a:pPr>
            <a:r>
              <a:rPr lang="en-US" altLang="en-US" sz="2800" dirty="0"/>
              <a:t>4. Substitutions may be limited, even when the size and charge criteria are satisfied, when the competing ions have </a:t>
            </a:r>
            <a:r>
              <a:rPr lang="en-US" altLang="en-US" sz="2800" dirty="0">
                <a:solidFill>
                  <a:schemeClr val="accent6">
                    <a:lumMod val="60000"/>
                    <a:lumOff val="40000"/>
                  </a:schemeClr>
                </a:solidFill>
              </a:rPr>
              <a:t>different electronegativities and form bonds of different ionic character</a:t>
            </a:r>
            <a:r>
              <a:rPr lang="en-US" altLang="en-US" sz="2800" dirty="0"/>
              <a:t>.</a:t>
            </a:r>
          </a:p>
          <a:p>
            <a:pPr eaLnBrk="1" hangingPunct="1">
              <a:buFontTx/>
              <a:buNone/>
            </a:pPr>
            <a:r>
              <a:rPr lang="en-US" altLang="en-US" sz="2800" dirty="0"/>
              <a:t>This rule was proposed in 1955 to explain discrepancies with respect to the first three Goldschmidt rules. </a:t>
            </a:r>
          </a:p>
          <a:p>
            <a:pPr eaLnBrk="1" hangingPunct="1">
              <a:buFontTx/>
              <a:buNone/>
            </a:pPr>
            <a:r>
              <a:rPr lang="en-US" altLang="en-US" sz="2800" dirty="0"/>
              <a:t>For example, Na</a:t>
            </a:r>
            <a:r>
              <a:rPr lang="en-US" altLang="en-US" sz="2800" baseline="30000" dirty="0"/>
              <a:t>+ </a:t>
            </a:r>
            <a:r>
              <a:rPr lang="en-US" altLang="en-US" sz="2800" dirty="0"/>
              <a:t>and Cu</a:t>
            </a:r>
            <a:r>
              <a:rPr lang="en-US" altLang="en-US" sz="2800" baseline="30000" dirty="0"/>
              <a:t>+</a:t>
            </a:r>
            <a:r>
              <a:rPr lang="en-US" altLang="en-US" sz="2800" dirty="0"/>
              <a:t> have the same radius and charge, but do not substitute for one another.</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50F457EA-E133-4254-BB3B-247E1AA72B35}"/>
              </a:ext>
            </a:extLst>
          </p:cNvPr>
          <p:cNvSpPr>
            <a:spLocks noGrp="1" noChangeArrowheads="1"/>
          </p:cNvSpPr>
          <p:nvPr>
            <p:ph type="title"/>
          </p:nvPr>
        </p:nvSpPr>
        <p:spPr/>
        <p:txBody>
          <a:bodyPr/>
          <a:lstStyle/>
          <a:p>
            <a:pPr eaLnBrk="1" hangingPunct="1"/>
            <a:r>
              <a:rPr lang="en-US" altLang="en-US"/>
              <a:t>Coupled Substitution</a:t>
            </a:r>
          </a:p>
        </p:txBody>
      </p:sp>
      <p:sp>
        <p:nvSpPr>
          <p:cNvPr id="8195" name="Rectangle 3">
            <a:extLst>
              <a:ext uri="{FF2B5EF4-FFF2-40B4-BE49-F238E27FC236}">
                <a16:creationId xmlns:a16="http://schemas.microsoft.com/office/drawing/2014/main" id="{9EB10584-ADFD-4B6F-9DF3-CBF43FBBB859}"/>
              </a:ext>
            </a:extLst>
          </p:cNvPr>
          <p:cNvSpPr>
            <a:spLocks noGrp="1" noChangeArrowheads="1"/>
          </p:cNvSpPr>
          <p:nvPr>
            <p:ph type="body" idx="1"/>
          </p:nvPr>
        </p:nvSpPr>
        <p:spPr>
          <a:xfrm>
            <a:off x="457200" y="1600200"/>
            <a:ext cx="8305800" cy="4953000"/>
          </a:xfrm>
        </p:spPr>
        <p:txBody>
          <a:bodyPr/>
          <a:lstStyle/>
          <a:p>
            <a:pPr eaLnBrk="1" hangingPunct="1"/>
            <a:r>
              <a:rPr lang="en-US" altLang="en-US" sz="2800"/>
              <a:t>When the ion of a major element in a mineral is replaced with something having a different charge, the charge imbalance created must be neutralized by addition of a counter ion</a:t>
            </a:r>
          </a:p>
          <a:p>
            <a:pPr eaLnBrk="1" hangingPunct="1"/>
            <a:r>
              <a:rPr lang="en-US" altLang="en-US" sz="2800"/>
              <a:t>Example </a:t>
            </a:r>
            <a:r>
              <a:rPr lang="en-US" altLang="en-US" sz="2800">
                <a:sym typeface="Wingdings" panose="05000000000000000000" pitchFamily="2" charset="2"/>
              </a:rPr>
              <a:t> addition of Al</a:t>
            </a:r>
            <a:r>
              <a:rPr lang="en-US" altLang="en-US" sz="2800" baseline="30000">
                <a:sym typeface="Wingdings" panose="05000000000000000000" pitchFamily="2" charset="2"/>
              </a:rPr>
              <a:t>3+</a:t>
            </a:r>
            <a:r>
              <a:rPr lang="en-US" altLang="en-US" sz="2800">
                <a:sym typeface="Wingdings" panose="05000000000000000000" pitchFamily="2" charset="2"/>
              </a:rPr>
              <a:t> in a silicate structure (replacing Si</a:t>
            </a:r>
            <a:r>
              <a:rPr lang="en-US" altLang="en-US" sz="2800" baseline="30000">
                <a:sym typeface="Wingdings" panose="05000000000000000000" pitchFamily="2" charset="2"/>
              </a:rPr>
              <a:t>4+</a:t>
            </a:r>
            <a:r>
              <a:rPr lang="en-US" altLang="en-US" sz="2800">
                <a:sym typeface="Wingdings" panose="05000000000000000000" pitchFamily="2" charset="2"/>
              </a:rPr>
              <a:t>) requires addition of a Na</a:t>
            </a:r>
            <a:r>
              <a:rPr lang="en-US" altLang="en-US" sz="2800" baseline="30000">
                <a:sym typeface="Wingdings" panose="05000000000000000000" pitchFamily="2" charset="2"/>
              </a:rPr>
              <a:t>+</a:t>
            </a:r>
            <a:r>
              <a:rPr lang="en-US" altLang="en-US" sz="2800">
                <a:sym typeface="Wingdings" panose="05000000000000000000" pitchFamily="2" charset="2"/>
              </a:rPr>
              <a:t> or K</a:t>
            </a:r>
            <a:r>
              <a:rPr lang="en-US" altLang="en-US" sz="2800" baseline="30000">
                <a:sym typeface="Wingdings" panose="05000000000000000000" pitchFamily="2" charset="2"/>
              </a:rPr>
              <a:t>+</a:t>
            </a:r>
            <a:r>
              <a:rPr lang="en-US" altLang="en-US" sz="2800">
                <a:sym typeface="Wingdings" panose="05000000000000000000" pitchFamily="2" charset="2"/>
              </a:rPr>
              <a:t> (Key to understanding feldspar chemistry…).  When 2 Al</a:t>
            </a:r>
            <a:r>
              <a:rPr lang="en-US" altLang="en-US" sz="2800" baseline="30000">
                <a:sym typeface="Wingdings" panose="05000000000000000000" pitchFamily="2" charset="2"/>
              </a:rPr>
              <a:t>3+</a:t>
            </a:r>
            <a:r>
              <a:rPr lang="en-US" altLang="en-US" sz="2800">
                <a:sym typeface="Wingdings" panose="05000000000000000000" pitchFamily="2" charset="2"/>
              </a:rPr>
              <a:t> are added for Si</a:t>
            </a:r>
            <a:r>
              <a:rPr lang="en-US" altLang="en-US" sz="2800" baseline="30000">
                <a:sym typeface="Wingdings" panose="05000000000000000000" pitchFamily="2" charset="2"/>
              </a:rPr>
              <a:t>4+</a:t>
            </a:r>
            <a:r>
              <a:rPr lang="en-US" altLang="en-US" sz="2800">
                <a:sym typeface="Wingdings" panose="05000000000000000000" pitchFamily="2" charset="2"/>
              </a:rPr>
              <a:t>, this then can be balanced by adding a Ca</a:t>
            </a:r>
            <a:r>
              <a:rPr lang="en-US" altLang="en-US" sz="2800" baseline="30000">
                <a:sym typeface="Wingdings" panose="05000000000000000000" pitchFamily="2" charset="2"/>
              </a:rPr>
              <a:t>2+</a:t>
            </a:r>
            <a:r>
              <a:rPr lang="en-US" altLang="en-US" sz="2800">
                <a:sym typeface="Wingdings" panose="05000000000000000000" pitchFamily="2" charset="2"/>
              </a:rPr>
              <a:t> ion</a:t>
            </a:r>
            <a:endParaRPr lang="en-US" altLang="en-US" sz="2800" baseline="3000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62B27506-1116-4D9E-8874-AE32F9AB244C}"/>
              </a:ext>
            </a:extLst>
          </p:cNvPr>
          <p:cNvSpPr>
            <a:spLocks noGrp="1" noChangeArrowheads="1"/>
          </p:cNvSpPr>
          <p:nvPr>
            <p:ph type="title"/>
          </p:nvPr>
        </p:nvSpPr>
        <p:spPr>
          <a:xfrm>
            <a:off x="685800" y="152400"/>
            <a:ext cx="7772400" cy="1143000"/>
          </a:xfrm>
        </p:spPr>
        <p:txBody>
          <a:bodyPr/>
          <a:lstStyle/>
          <a:p>
            <a:pPr eaLnBrk="1" hangingPunct="1"/>
            <a:r>
              <a:rPr lang="en-US" altLang="en-US"/>
              <a:t>SOLID SOLUTION</a:t>
            </a:r>
          </a:p>
        </p:txBody>
      </p:sp>
      <p:sp>
        <p:nvSpPr>
          <p:cNvPr id="10243" name="Rectangle 3">
            <a:extLst>
              <a:ext uri="{FF2B5EF4-FFF2-40B4-BE49-F238E27FC236}">
                <a16:creationId xmlns:a16="http://schemas.microsoft.com/office/drawing/2014/main" id="{AFD4210B-CAE9-43C6-AA93-EB9D7AC3BE79}"/>
              </a:ext>
            </a:extLst>
          </p:cNvPr>
          <p:cNvSpPr>
            <a:spLocks noGrp="1" noChangeArrowheads="1"/>
          </p:cNvSpPr>
          <p:nvPr>
            <p:ph type="body" idx="1"/>
          </p:nvPr>
        </p:nvSpPr>
        <p:spPr>
          <a:xfrm>
            <a:off x="152400" y="1143000"/>
            <a:ext cx="8763000" cy="5715000"/>
          </a:xfrm>
        </p:spPr>
        <p:txBody>
          <a:bodyPr/>
          <a:lstStyle/>
          <a:p>
            <a:pPr eaLnBrk="1" hangingPunct="1"/>
            <a:r>
              <a:rPr lang="en-US" altLang="en-US" dirty="0"/>
              <a:t>Occurs when, in a crystalline solid, one element substitutes for another..</a:t>
            </a:r>
          </a:p>
          <a:p>
            <a:pPr eaLnBrk="1" hangingPunct="1"/>
            <a:r>
              <a:rPr lang="en-US" altLang="en-US" dirty="0"/>
              <a:t>The garnet is a solid solution of the following end member components:</a:t>
            </a:r>
          </a:p>
          <a:p>
            <a:pPr eaLnBrk="1" hangingPunct="1">
              <a:buFontTx/>
              <a:buNone/>
            </a:pPr>
            <a:r>
              <a:rPr lang="en-US" altLang="en-US" sz="3000" dirty="0"/>
              <a:t>Pyrope - Mg</a:t>
            </a:r>
            <a:r>
              <a:rPr lang="en-US" altLang="en-US" sz="3000" baseline="-25000" dirty="0"/>
              <a:t>3</a:t>
            </a:r>
            <a:r>
              <a:rPr lang="en-US" altLang="en-US" sz="3000" dirty="0"/>
              <a:t>Al</a:t>
            </a:r>
            <a:r>
              <a:rPr lang="en-US" altLang="en-US" sz="3000" baseline="-25000" dirty="0"/>
              <a:t>2</a:t>
            </a:r>
            <a:r>
              <a:rPr lang="en-US" altLang="en-US" sz="3000" dirty="0"/>
              <a:t>Si</a:t>
            </a:r>
            <a:r>
              <a:rPr lang="en-US" altLang="en-US" sz="3000" baseline="-25000" dirty="0"/>
              <a:t>3</a:t>
            </a:r>
            <a:r>
              <a:rPr lang="en-US" altLang="en-US" sz="3000" dirty="0"/>
              <a:t>O</a:t>
            </a:r>
            <a:r>
              <a:rPr lang="en-US" altLang="en-US" sz="3000" baseline="-25000" dirty="0"/>
              <a:t>12</a:t>
            </a:r>
            <a:r>
              <a:rPr lang="en-US" altLang="en-US" sz="3000" dirty="0"/>
              <a:t>; Spessartine - Mn</a:t>
            </a:r>
            <a:r>
              <a:rPr lang="en-US" altLang="en-US" sz="3000" baseline="-25000" dirty="0"/>
              <a:t>3</a:t>
            </a:r>
            <a:r>
              <a:rPr lang="en-US" altLang="en-US" sz="3000" dirty="0"/>
              <a:t>Al</a:t>
            </a:r>
            <a:r>
              <a:rPr lang="en-US" altLang="en-US" sz="3000" baseline="-25000" dirty="0"/>
              <a:t>2</a:t>
            </a:r>
            <a:r>
              <a:rPr lang="en-US" altLang="en-US" sz="3000" dirty="0"/>
              <a:t>Si</a:t>
            </a:r>
            <a:r>
              <a:rPr lang="en-US" altLang="en-US" sz="3000" baseline="-25000" dirty="0"/>
              <a:t>3</a:t>
            </a:r>
            <a:r>
              <a:rPr lang="en-US" altLang="en-US" sz="3000" dirty="0"/>
              <a:t>O</a:t>
            </a:r>
            <a:r>
              <a:rPr lang="en-US" altLang="en-US" sz="3000" baseline="-25000" dirty="0"/>
              <a:t>12</a:t>
            </a:r>
            <a:r>
              <a:rPr lang="en-US" altLang="en-US" sz="3000" dirty="0"/>
              <a:t>;</a:t>
            </a:r>
          </a:p>
          <a:p>
            <a:pPr eaLnBrk="1" hangingPunct="1">
              <a:buFontTx/>
              <a:buNone/>
            </a:pPr>
            <a:r>
              <a:rPr lang="en-US" altLang="en-US" sz="3000" dirty="0"/>
              <a:t>Almandine - Fe</a:t>
            </a:r>
            <a:r>
              <a:rPr lang="en-US" altLang="en-US" sz="3000" baseline="-25000" dirty="0"/>
              <a:t>3</a:t>
            </a:r>
            <a:r>
              <a:rPr lang="en-US" altLang="en-US" sz="3000" dirty="0"/>
              <a:t>Al</a:t>
            </a:r>
            <a:r>
              <a:rPr lang="en-US" altLang="en-US" sz="3000" baseline="-25000" dirty="0"/>
              <a:t>2</a:t>
            </a:r>
            <a:r>
              <a:rPr lang="en-US" altLang="en-US" sz="3000" dirty="0"/>
              <a:t>Si</a:t>
            </a:r>
            <a:r>
              <a:rPr lang="en-US" altLang="en-US" sz="3000" baseline="-25000" dirty="0"/>
              <a:t>3</a:t>
            </a:r>
            <a:r>
              <a:rPr lang="en-US" altLang="en-US" sz="3000" dirty="0"/>
              <a:t>O</a:t>
            </a:r>
            <a:r>
              <a:rPr lang="en-US" altLang="en-US" sz="3000" baseline="-25000" dirty="0"/>
              <a:t>12</a:t>
            </a:r>
            <a:r>
              <a:rPr lang="en-US" altLang="en-US" sz="3000" dirty="0"/>
              <a:t>; and Grossular - Ca</a:t>
            </a:r>
            <a:r>
              <a:rPr lang="en-US" altLang="en-US" sz="3000" baseline="-25000" dirty="0"/>
              <a:t>3</a:t>
            </a:r>
            <a:r>
              <a:rPr lang="en-US" altLang="en-US" sz="3000" dirty="0"/>
              <a:t>Al</a:t>
            </a:r>
            <a:r>
              <a:rPr lang="en-US" altLang="en-US" sz="3000" baseline="-25000" dirty="0"/>
              <a:t>2</a:t>
            </a:r>
            <a:r>
              <a:rPr lang="en-US" altLang="en-US" sz="3000" dirty="0"/>
              <a:t>Si</a:t>
            </a:r>
            <a:r>
              <a:rPr lang="en-US" altLang="en-US" sz="3000" baseline="-25000" dirty="0"/>
              <a:t>3</a:t>
            </a:r>
            <a:r>
              <a:rPr lang="en-US" altLang="en-US" sz="3000" dirty="0"/>
              <a:t>O</a:t>
            </a:r>
            <a:r>
              <a:rPr lang="en-US" altLang="en-US" sz="3000" baseline="-25000" dirty="0"/>
              <a:t>12</a:t>
            </a:r>
            <a:r>
              <a:rPr lang="en-US" altLang="en-US" sz="3000" dirty="0"/>
              <a:t>.</a:t>
            </a:r>
            <a:endParaRPr lang="en-US" altLang="en-US" sz="3000" baseline="-25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2690" name="Rectangle 2"/>
          <p:cNvSpPr>
            <a:spLocks noGrp="1" noChangeArrowheads="1"/>
          </p:cNvSpPr>
          <p:nvPr>
            <p:ph type="title"/>
          </p:nvPr>
        </p:nvSpPr>
        <p:spPr>
          <a:xfrm>
            <a:off x="685800" y="381000"/>
            <a:ext cx="7772400" cy="457200"/>
          </a:xfrm>
        </p:spPr>
        <p:txBody>
          <a:bodyPr/>
          <a:lstStyle/>
          <a:p>
            <a:pPr eaLnBrk="1" hangingPunct="1">
              <a:defRPr/>
            </a:pPr>
            <a:r>
              <a:rPr lang="en-US" sz="2400" dirty="0">
                <a:solidFill>
                  <a:schemeClr val="tx1"/>
                </a:solidFill>
              </a:rPr>
              <a:t>Partition coefficient or Distribution coefficient </a:t>
            </a:r>
          </a:p>
        </p:txBody>
      </p:sp>
      <p:sp>
        <p:nvSpPr>
          <p:cNvPr id="33795" name="Rectangle 3"/>
          <p:cNvSpPr>
            <a:spLocks noGrp="1" noChangeArrowheads="1"/>
          </p:cNvSpPr>
          <p:nvPr>
            <p:ph type="body" idx="1"/>
          </p:nvPr>
        </p:nvSpPr>
        <p:spPr>
          <a:xfrm>
            <a:off x="685800" y="990600"/>
            <a:ext cx="7772400" cy="5105400"/>
          </a:xfrm>
        </p:spPr>
        <p:txBody>
          <a:bodyPr/>
          <a:lstStyle/>
          <a:p>
            <a:pPr eaLnBrk="1" hangingPunct="1">
              <a:lnSpc>
                <a:spcPct val="90000"/>
              </a:lnSpc>
            </a:pPr>
            <a:r>
              <a:rPr lang="en-US" altLang="en-US" sz="2400"/>
              <a:t>It is assumed that at equilibrium, the ratio of concentration of a trace element in a solid phase (C</a:t>
            </a:r>
            <a:r>
              <a:rPr lang="en-US" altLang="en-US" sz="2400" baseline="-25000"/>
              <a:t>s) </a:t>
            </a:r>
            <a:r>
              <a:rPr lang="en-US" altLang="en-US" sz="2400"/>
              <a:t>to its concentration in liquid (C</a:t>
            </a:r>
            <a:r>
              <a:rPr lang="en-US" altLang="en-US" sz="2400" baseline="-25000"/>
              <a:t>L</a:t>
            </a:r>
            <a:r>
              <a:rPr lang="en-US" altLang="en-US" sz="2400"/>
              <a:t>) is a constant (D):</a:t>
            </a:r>
          </a:p>
          <a:p>
            <a:pPr eaLnBrk="1" hangingPunct="1">
              <a:lnSpc>
                <a:spcPct val="90000"/>
              </a:lnSpc>
            </a:pPr>
            <a:endParaRPr lang="en-US" altLang="en-US" sz="2400"/>
          </a:p>
          <a:p>
            <a:pPr eaLnBrk="1" hangingPunct="1">
              <a:lnSpc>
                <a:spcPct val="90000"/>
              </a:lnSpc>
            </a:pPr>
            <a:r>
              <a:rPr lang="en-US" altLang="en-US" sz="2400"/>
              <a:t>                           D= C</a:t>
            </a:r>
            <a:r>
              <a:rPr lang="en-US" altLang="en-US" sz="2400" baseline="-25000"/>
              <a:t>s</a:t>
            </a:r>
            <a:r>
              <a:rPr lang="en-US" altLang="en-US" sz="2400"/>
              <a:t>/C</a:t>
            </a:r>
            <a:r>
              <a:rPr lang="en-US" altLang="en-US" sz="2400" baseline="-25000"/>
              <a:t>L</a:t>
            </a:r>
          </a:p>
          <a:p>
            <a:pPr eaLnBrk="1" hangingPunct="1">
              <a:lnSpc>
                <a:spcPct val="90000"/>
              </a:lnSpc>
            </a:pPr>
            <a:r>
              <a:rPr lang="en-US" altLang="en-US" sz="2400"/>
              <a:t>The constant is called PARTITION COEFFICIENT or DISTRIBUTION COEFFICIENT or NERNST PARTITION COEFFICIENT.</a:t>
            </a:r>
          </a:p>
          <a:p>
            <a:pPr eaLnBrk="1" hangingPunct="1">
              <a:lnSpc>
                <a:spcPct val="90000"/>
              </a:lnSpc>
            </a:pPr>
            <a:r>
              <a:rPr lang="en-US" altLang="en-US" sz="2400"/>
              <a:t>It is also denoted  as K</a:t>
            </a:r>
            <a:r>
              <a:rPr lang="en-US" altLang="en-US" sz="2400" baseline="-25000"/>
              <a:t>D</a:t>
            </a:r>
          </a:p>
          <a:p>
            <a:pPr eaLnBrk="1" hangingPunct="1">
              <a:lnSpc>
                <a:spcPct val="90000"/>
              </a:lnSpc>
            </a:pPr>
            <a:r>
              <a:rPr lang="en-US" altLang="en-US" sz="2400"/>
              <a:t>Eg: Silicate melt</a:t>
            </a:r>
          </a:p>
          <a:p>
            <a:pPr eaLnBrk="1" hangingPunct="1">
              <a:lnSpc>
                <a:spcPct val="90000"/>
              </a:lnSpc>
            </a:pPr>
            <a:r>
              <a:rPr lang="en-US" altLang="en-US" sz="2400"/>
              <a:t>500 ppm of Sr in a plagioclase phenocryst</a:t>
            </a:r>
          </a:p>
          <a:p>
            <a:pPr eaLnBrk="1" hangingPunct="1">
              <a:lnSpc>
                <a:spcPct val="90000"/>
              </a:lnSpc>
            </a:pPr>
            <a:r>
              <a:rPr lang="en-US" altLang="en-US" sz="2400"/>
              <a:t>125 ppm  of Sr in glassy matrix </a:t>
            </a:r>
          </a:p>
          <a:p>
            <a:pPr eaLnBrk="1" hangingPunct="1">
              <a:lnSpc>
                <a:spcPct val="90000"/>
              </a:lnSpc>
            </a:pPr>
            <a:r>
              <a:rPr lang="en-US" altLang="en-US" sz="2400"/>
              <a:t>K</a:t>
            </a:r>
            <a:r>
              <a:rPr lang="en-US" altLang="en-US" sz="2400" baseline="-25000"/>
              <a:t>D </a:t>
            </a:r>
            <a:r>
              <a:rPr lang="en-US" altLang="en-US" sz="2400"/>
              <a:t>of Sr for that melt is 4</a:t>
            </a:r>
          </a:p>
          <a:p>
            <a:pPr lvl="1" eaLnBrk="1" hangingPunct="1">
              <a:lnSpc>
                <a:spcPct val="90000"/>
              </a:lnSpc>
              <a:buFontTx/>
              <a:buNone/>
            </a:pPr>
            <a:endParaRPr lang="en-US" altLang="en-US" sz="2000"/>
          </a:p>
          <a:p>
            <a:pPr eaLnBrk="1" hangingPunct="1">
              <a:lnSpc>
                <a:spcPct val="90000"/>
              </a:lnSpc>
            </a:pPr>
            <a:endParaRPr lang="en-US" altLang="en-US" sz="2400" baseline="-25000"/>
          </a:p>
          <a:p>
            <a:pPr eaLnBrk="1" hangingPunct="1">
              <a:lnSpc>
                <a:spcPct val="90000"/>
              </a:lnSpc>
            </a:pPr>
            <a:endParaRPr lang="en-US" altLang="en-US" sz="2400" baseline="-25000"/>
          </a:p>
        </p:txBody>
      </p:sp>
    </p:spTree>
    <p:extLst>
      <p:ext uri="{BB962C8B-B14F-4D97-AF65-F5344CB8AC3E}">
        <p14:creationId xmlns:p14="http://schemas.microsoft.com/office/powerpoint/2010/main" val="6643154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3714" name="Rectangle 2"/>
          <p:cNvSpPr>
            <a:spLocks noGrp="1" noChangeArrowheads="1"/>
          </p:cNvSpPr>
          <p:nvPr>
            <p:ph type="title"/>
          </p:nvPr>
        </p:nvSpPr>
        <p:spPr>
          <a:xfrm>
            <a:off x="685800" y="304800"/>
            <a:ext cx="7772400" cy="304800"/>
          </a:xfrm>
        </p:spPr>
        <p:txBody>
          <a:bodyPr/>
          <a:lstStyle/>
          <a:p>
            <a:pPr eaLnBrk="1" hangingPunct="1">
              <a:defRPr/>
            </a:pPr>
            <a:r>
              <a:rPr lang="en-US" sz="2400"/>
              <a:t>Partition coefficient or Distribution coefficient - 2</a:t>
            </a:r>
          </a:p>
        </p:txBody>
      </p:sp>
      <p:sp>
        <p:nvSpPr>
          <p:cNvPr id="34819" name="Rectangle 3"/>
          <p:cNvSpPr>
            <a:spLocks noGrp="1" noChangeArrowheads="1"/>
          </p:cNvSpPr>
          <p:nvPr>
            <p:ph type="body" idx="1"/>
          </p:nvPr>
        </p:nvSpPr>
        <p:spPr>
          <a:xfrm>
            <a:off x="685800" y="838200"/>
            <a:ext cx="7772400" cy="5257800"/>
          </a:xfrm>
        </p:spPr>
        <p:txBody>
          <a:bodyPr/>
          <a:lstStyle/>
          <a:p>
            <a:pPr eaLnBrk="1" hangingPunct="1"/>
            <a:r>
              <a:rPr lang="en-US" altLang="en-US" sz="2800" dirty="0"/>
              <a:t>If K</a:t>
            </a:r>
            <a:r>
              <a:rPr lang="en-US" altLang="en-US" sz="2800" baseline="-25000" dirty="0"/>
              <a:t>D </a:t>
            </a:r>
            <a:r>
              <a:rPr lang="en-US" altLang="en-US" sz="2800" dirty="0"/>
              <a:t>= 1, then trace element is equally distributed between mineral and melt</a:t>
            </a:r>
          </a:p>
          <a:p>
            <a:pPr eaLnBrk="1" hangingPunct="1"/>
            <a:r>
              <a:rPr lang="en-US" altLang="en-US" sz="2800" dirty="0"/>
              <a:t>If K</a:t>
            </a:r>
            <a:r>
              <a:rPr lang="en-US" altLang="en-US" sz="2800" baseline="-25000" dirty="0"/>
              <a:t>D </a:t>
            </a:r>
            <a:r>
              <a:rPr lang="en-US" altLang="en-US" sz="2800" dirty="0"/>
              <a:t>= &gt; 1, then trace element has a ‘preference’ for mineral phase &amp; in the mineral-melt system under investigation and is a compatible trace element.</a:t>
            </a:r>
          </a:p>
          <a:p>
            <a:pPr eaLnBrk="1" hangingPunct="1"/>
            <a:r>
              <a:rPr lang="en-US" altLang="en-US" sz="2800" dirty="0"/>
              <a:t>If K</a:t>
            </a:r>
            <a:r>
              <a:rPr lang="en-US" altLang="en-US" sz="2800" baseline="-25000" dirty="0"/>
              <a:t>D </a:t>
            </a:r>
            <a:r>
              <a:rPr lang="en-US" altLang="en-US" sz="2800" dirty="0"/>
              <a:t>= &lt; 1, then trace element has a ‘preference’ for melt phase &amp; in the mineral-melt system under investigation and is a incompatible trace element.</a:t>
            </a:r>
          </a:p>
          <a:p>
            <a:pPr eaLnBrk="1" hangingPunct="1"/>
            <a:endParaRPr lang="en-US" altLang="en-US" sz="2800" dirty="0"/>
          </a:p>
        </p:txBody>
      </p:sp>
    </p:spTree>
    <p:extLst>
      <p:ext uri="{BB962C8B-B14F-4D97-AF65-F5344CB8AC3E}">
        <p14:creationId xmlns:p14="http://schemas.microsoft.com/office/powerpoint/2010/main" val="361457393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4738" name="Rectangle 2"/>
          <p:cNvSpPr>
            <a:spLocks noGrp="1" noChangeArrowheads="1"/>
          </p:cNvSpPr>
          <p:nvPr>
            <p:ph type="title"/>
          </p:nvPr>
        </p:nvSpPr>
        <p:spPr>
          <a:xfrm>
            <a:off x="685800" y="304800"/>
            <a:ext cx="7772400" cy="457200"/>
          </a:xfrm>
        </p:spPr>
        <p:txBody>
          <a:bodyPr/>
          <a:lstStyle/>
          <a:p>
            <a:pPr eaLnBrk="1" hangingPunct="1">
              <a:defRPr/>
            </a:pPr>
            <a:r>
              <a:rPr lang="en-US" sz="2800"/>
              <a:t>BULK PARTITION COEFFICIENT</a:t>
            </a:r>
          </a:p>
        </p:txBody>
      </p:sp>
      <p:sp>
        <p:nvSpPr>
          <p:cNvPr id="35843" name="Rectangle 3"/>
          <p:cNvSpPr>
            <a:spLocks noGrp="1" noChangeArrowheads="1"/>
          </p:cNvSpPr>
          <p:nvPr>
            <p:ph type="body" idx="1"/>
          </p:nvPr>
        </p:nvSpPr>
        <p:spPr>
          <a:xfrm>
            <a:off x="304800" y="1219200"/>
            <a:ext cx="8382000" cy="4953000"/>
          </a:xfrm>
        </p:spPr>
        <p:txBody>
          <a:bodyPr/>
          <a:lstStyle/>
          <a:p>
            <a:pPr algn="just" eaLnBrk="1" hangingPunct="1">
              <a:lnSpc>
                <a:spcPct val="90000"/>
              </a:lnSpc>
            </a:pPr>
            <a:r>
              <a:rPr lang="en-US" altLang="en-US" sz="2400" dirty="0"/>
              <a:t>A rock is an aggregate of minerals, so the </a:t>
            </a:r>
            <a:r>
              <a:rPr lang="en-US" altLang="en-US" sz="2400" dirty="0">
                <a:solidFill>
                  <a:srgbClr val="0070C0"/>
                </a:solidFill>
              </a:rPr>
              <a:t>Bulk distribution coefficient for a rock for a specific element  can be calculated from partition coefficients of constituent minerals weighed according to their proportion</a:t>
            </a:r>
            <a:r>
              <a:rPr lang="en-US" altLang="en-US" sz="2400" dirty="0"/>
              <a:t>. It is defined by expression</a:t>
            </a:r>
          </a:p>
          <a:p>
            <a:pPr algn="just" eaLnBrk="1" hangingPunct="1">
              <a:lnSpc>
                <a:spcPct val="90000"/>
              </a:lnSpc>
            </a:pPr>
            <a:r>
              <a:rPr lang="en-US" altLang="en-US" sz="2400" dirty="0"/>
              <a:t>D</a:t>
            </a:r>
            <a:r>
              <a:rPr lang="en-US" altLang="en-US" sz="2400" i="1" baseline="-25000" dirty="0"/>
              <a:t>i</a:t>
            </a:r>
            <a:r>
              <a:rPr lang="en-US" altLang="en-US" sz="2400" baseline="-25000" dirty="0"/>
              <a:t> </a:t>
            </a:r>
            <a:r>
              <a:rPr lang="en-US" altLang="en-US" sz="2400" dirty="0"/>
              <a:t>= x</a:t>
            </a:r>
            <a:r>
              <a:rPr lang="en-US" altLang="en-US" sz="2400" baseline="-25000" dirty="0"/>
              <a:t>1</a:t>
            </a:r>
            <a:r>
              <a:rPr lang="en-US" altLang="en-US" sz="2400" dirty="0"/>
              <a:t> K</a:t>
            </a:r>
            <a:r>
              <a:rPr lang="en-US" altLang="en-US" sz="2400" baseline="-25000" dirty="0"/>
              <a:t>d1</a:t>
            </a:r>
            <a:r>
              <a:rPr lang="en-US" altLang="en-US" sz="2400" dirty="0"/>
              <a:t> + X</a:t>
            </a:r>
            <a:r>
              <a:rPr lang="en-US" altLang="en-US" sz="2400" baseline="-25000" dirty="0"/>
              <a:t>2</a:t>
            </a:r>
            <a:r>
              <a:rPr lang="en-US" altLang="en-US" sz="2400" dirty="0"/>
              <a:t>K</a:t>
            </a:r>
            <a:r>
              <a:rPr lang="en-US" altLang="en-US" sz="2400" baseline="-25000" dirty="0"/>
              <a:t>d2</a:t>
            </a:r>
            <a:r>
              <a:rPr lang="en-US" altLang="en-US" sz="2400" dirty="0"/>
              <a:t> + X</a:t>
            </a:r>
            <a:r>
              <a:rPr lang="en-US" altLang="en-US" sz="2400" baseline="-25000" dirty="0"/>
              <a:t>3</a:t>
            </a:r>
            <a:r>
              <a:rPr lang="en-US" altLang="en-US" sz="2400" dirty="0"/>
              <a:t>K </a:t>
            </a:r>
            <a:r>
              <a:rPr lang="en-US" altLang="en-US" sz="2400" baseline="-25000" dirty="0"/>
              <a:t>d3</a:t>
            </a:r>
            <a:r>
              <a:rPr lang="en-US" altLang="en-US" sz="2400" dirty="0"/>
              <a:t>…</a:t>
            </a:r>
          </a:p>
          <a:p>
            <a:pPr algn="just" eaLnBrk="1" hangingPunct="1">
              <a:lnSpc>
                <a:spcPct val="90000"/>
              </a:lnSpc>
            </a:pPr>
            <a:r>
              <a:rPr lang="en-US" altLang="en-US" sz="2400" dirty="0"/>
              <a:t>D</a:t>
            </a:r>
            <a:r>
              <a:rPr lang="en-US" altLang="en-US" sz="2400" baseline="-25000" dirty="0"/>
              <a:t>i</a:t>
            </a:r>
            <a:r>
              <a:rPr lang="en-US" altLang="en-US" sz="2400" dirty="0"/>
              <a:t> = bulk partition coefficient for element I</a:t>
            </a:r>
          </a:p>
          <a:p>
            <a:pPr algn="just" eaLnBrk="1" hangingPunct="1">
              <a:lnSpc>
                <a:spcPct val="90000"/>
              </a:lnSpc>
            </a:pPr>
            <a:r>
              <a:rPr lang="en-US" altLang="en-US" sz="2400" dirty="0"/>
              <a:t>X</a:t>
            </a:r>
            <a:r>
              <a:rPr lang="en-US" altLang="en-US" sz="2400" baseline="-25000" dirty="0"/>
              <a:t>1</a:t>
            </a:r>
            <a:r>
              <a:rPr lang="en-US" altLang="en-US" sz="2400" dirty="0"/>
              <a:t> = modal proportion of mineral 1 etc</a:t>
            </a:r>
          </a:p>
          <a:p>
            <a:pPr algn="just" eaLnBrk="1" hangingPunct="1">
              <a:lnSpc>
                <a:spcPct val="90000"/>
              </a:lnSpc>
            </a:pPr>
            <a:r>
              <a:rPr lang="en-US" altLang="en-US" sz="2400" dirty="0"/>
              <a:t>K</a:t>
            </a:r>
            <a:r>
              <a:rPr lang="en-US" altLang="en-US" sz="2400" baseline="-25000" dirty="0"/>
              <a:t>d1</a:t>
            </a:r>
            <a:r>
              <a:rPr lang="en-US" altLang="en-US" sz="2400" dirty="0"/>
              <a:t> = </a:t>
            </a:r>
            <a:r>
              <a:rPr lang="en-US" altLang="en-US" sz="2400" dirty="0" err="1"/>
              <a:t>parition</a:t>
            </a:r>
            <a:r>
              <a:rPr lang="en-US" altLang="en-US" sz="2400" dirty="0"/>
              <a:t> coefficient for element </a:t>
            </a:r>
            <a:r>
              <a:rPr lang="en-US" altLang="en-US" sz="2400" i="1" dirty="0"/>
              <a:t>i</a:t>
            </a:r>
            <a:r>
              <a:rPr lang="en-US" altLang="en-US" sz="2400" dirty="0"/>
              <a:t> in mineral1</a:t>
            </a:r>
          </a:p>
          <a:p>
            <a:pPr algn="just" eaLnBrk="1" hangingPunct="1">
              <a:lnSpc>
                <a:spcPct val="90000"/>
              </a:lnSpc>
            </a:pPr>
            <a:r>
              <a:rPr lang="en-US" altLang="en-US" sz="2400" dirty="0"/>
              <a:t>For </a:t>
            </a:r>
            <a:r>
              <a:rPr lang="en-US" altLang="en-US" sz="2400" dirty="0" err="1"/>
              <a:t>eg.</a:t>
            </a:r>
            <a:r>
              <a:rPr lang="en-US" altLang="en-US" sz="2400" dirty="0"/>
              <a:t> In a rock containing 50% olivine, 30% </a:t>
            </a:r>
            <a:r>
              <a:rPr lang="en-US" altLang="en-US" sz="2400" dirty="0" err="1"/>
              <a:t>Opx</a:t>
            </a:r>
            <a:r>
              <a:rPr lang="en-US" altLang="en-US" sz="2400" dirty="0"/>
              <a:t> &amp; 20% </a:t>
            </a:r>
            <a:r>
              <a:rPr lang="en-US" altLang="en-US" sz="2400" dirty="0" err="1"/>
              <a:t>cpx</a:t>
            </a:r>
            <a:r>
              <a:rPr lang="en-US" altLang="en-US" sz="2400" dirty="0"/>
              <a:t>, the bulk partition coefficient would be </a:t>
            </a:r>
          </a:p>
          <a:p>
            <a:pPr algn="just" eaLnBrk="1" hangingPunct="1">
              <a:lnSpc>
                <a:spcPct val="90000"/>
              </a:lnSpc>
            </a:pPr>
            <a:r>
              <a:rPr lang="en-US" altLang="en-US" sz="2400" dirty="0"/>
              <a:t>D</a:t>
            </a:r>
            <a:r>
              <a:rPr lang="en-US" altLang="en-US" sz="2400" i="1" baseline="-25000" dirty="0"/>
              <a:t>i</a:t>
            </a:r>
            <a:r>
              <a:rPr lang="en-US" altLang="en-US" sz="2400" baseline="-25000" dirty="0"/>
              <a:t> </a:t>
            </a:r>
            <a:r>
              <a:rPr lang="en-US" altLang="en-US" sz="2400" dirty="0"/>
              <a:t>= 0.5 K</a:t>
            </a:r>
            <a:r>
              <a:rPr lang="en-US" altLang="en-US" sz="2400" baseline="30000" dirty="0"/>
              <a:t>ol</a:t>
            </a:r>
            <a:r>
              <a:rPr lang="en-US" altLang="en-US" sz="2400" baseline="-25000" dirty="0"/>
              <a:t>d1</a:t>
            </a:r>
            <a:r>
              <a:rPr lang="en-US" altLang="en-US" sz="2400" dirty="0"/>
              <a:t> + 0.3K</a:t>
            </a:r>
            <a:r>
              <a:rPr lang="en-US" altLang="en-US" sz="2400" baseline="30000" dirty="0"/>
              <a:t>opx</a:t>
            </a:r>
            <a:r>
              <a:rPr lang="en-US" altLang="en-US" sz="2400" baseline="-25000" dirty="0"/>
              <a:t>d2</a:t>
            </a:r>
            <a:r>
              <a:rPr lang="en-US" altLang="en-US" sz="2400" dirty="0"/>
              <a:t> + 0.2K</a:t>
            </a:r>
            <a:r>
              <a:rPr lang="en-US" altLang="en-US" sz="2400" baseline="30000" dirty="0"/>
              <a:t>cpx</a:t>
            </a:r>
            <a:r>
              <a:rPr lang="en-US" altLang="en-US" sz="2400" dirty="0"/>
              <a:t> </a:t>
            </a:r>
            <a:r>
              <a:rPr lang="en-US" altLang="en-US" sz="2400" baseline="-25000" dirty="0"/>
              <a:t>d3</a:t>
            </a:r>
            <a:r>
              <a:rPr lang="en-US" altLang="en-US" sz="2400" dirty="0"/>
              <a:t>…</a:t>
            </a:r>
          </a:p>
          <a:p>
            <a:pPr eaLnBrk="1" hangingPunct="1">
              <a:lnSpc>
                <a:spcPct val="90000"/>
              </a:lnSpc>
            </a:pPr>
            <a:endParaRPr lang="en-US" altLang="en-US" sz="2400" baseline="-25000" dirty="0">
              <a:solidFill>
                <a:srgbClr val="FFFF00"/>
              </a:solidFill>
            </a:endParaRPr>
          </a:p>
          <a:p>
            <a:pPr eaLnBrk="1" hangingPunct="1">
              <a:lnSpc>
                <a:spcPct val="90000"/>
              </a:lnSpc>
            </a:pPr>
            <a:endParaRPr lang="en-US" altLang="en-US" sz="2400" baseline="-25000" dirty="0">
              <a:solidFill>
                <a:srgbClr val="FFFF00"/>
              </a:solidFill>
            </a:endParaRPr>
          </a:p>
        </p:txBody>
      </p:sp>
    </p:spTree>
    <p:extLst>
      <p:ext uri="{BB962C8B-B14F-4D97-AF65-F5344CB8AC3E}">
        <p14:creationId xmlns:p14="http://schemas.microsoft.com/office/powerpoint/2010/main" val="56043188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7976DF4-6B0B-0E4C-40BB-E101AEC0F2AA}"/>
              </a:ext>
            </a:extLst>
          </p:cNvPr>
          <p:cNvPicPr>
            <a:picLocks noChangeAspect="1"/>
          </p:cNvPicPr>
          <p:nvPr/>
        </p:nvPicPr>
        <p:blipFill>
          <a:blip r:embed="rId2"/>
          <a:stretch>
            <a:fillRect/>
          </a:stretch>
        </p:blipFill>
        <p:spPr>
          <a:xfrm>
            <a:off x="1371600" y="457200"/>
            <a:ext cx="7049170" cy="4354512"/>
          </a:xfrm>
          <a:prstGeom prst="rect">
            <a:avLst/>
          </a:prstGeom>
        </p:spPr>
      </p:pic>
      <p:sp>
        <p:nvSpPr>
          <p:cNvPr id="7" name="TextBox 6">
            <a:extLst>
              <a:ext uri="{FF2B5EF4-FFF2-40B4-BE49-F238E27FC236}">
                <a16:creationId xmlns:a16="http://schemas.microsoft.com/office/drawing/2014/main" id="{0FC5D8AF-727B-EE87-8F59-0876610EE657}"/>
              </a:ext>
            </a:extLst>
          </p:cNvPr>
          <p:cNvSpPr txBox="1"/>
          <p:nvPr/>
        </p:nvSpPr>
        <p:spPr>
          <a:xfrm>
            <a:off x="400385" y="5205849"/>
            <a:ext cx="8743615" cy="1345048"/>
          </a:xfrm>
          <a:prstGeom prst="rect">
            <a:avLst/>
          </a:prstGeom>
          <a:noFill/>
        </p:spPr>
        <p:txBody>
          <a:bodyPr wrap="square">
            <a:spAutoFit/>
          </a:bodyPr>
          <a:lstStyle/>
          <a:p>
            <a:pPr>
              <a:lnSpc>
                <a:spcPct val="150000"/>
              </a:lnSpc>
            </a:pPr>
            <a:r>
              <a:rPr lang="en-IN" sz="1400" b="0" i="0" u="none" strike="noStrike" baseline="0" dirty="0">
                <a:latin typeface="+mn-lt"/>
              </a:rPr>
              <a:t>Example: hypothetical garnet lherzolite = 60% olivine, 25%, </a:t>
            </a:r>
            <a:r>
              <a:rPr lang="en-US" sz="1400" b="0" i="0" u="none" strike="noStrike" baseline="0" dirty="0">
                <a:latin typeface="+mn-lt"/>
              </a:rPr>
              <a:t>orthopyroxene, 10% clinopyroxene, and 5% garnet (all by </a:t>
            </a:r>
            <a:r>
              <a:rPr lang="en-US" sz="1400" b="0" i="1" u="none" strike="noStrike" baseline="0" dirty="0">
                <a:latin typeface="+mn-lt"/>
              </a:rPr>
              <a:t>weight</a:t>
            </a:r>
            <a:r>
              <a:rPr lang="en-US" sz="1400" b="0" i="0" u="none" strike="noStrike" baseline="0" dirty="0">
                <a:latin typeface="+mn-lt"/>
              </a:rPr>
              <a:t>), using the data in Table 9.1, is:</a:t>
            </a:r>
          </a:p>
          <a:p>
            <a:pPr>
              <a:lnSpc>
                <a:spcPct val="150000"/>
              </a:lnSpc>
            </a:pPr>
            <a:endParaRPr lang="en-US" sz="1400" b="0" i="0" u="none" strike="noStrike" baseline="0" dirty="0">
              <a:latin typeface="+mn-lt"/>
            </a:endParaRPr>
          </a:p>
          <a:p>
            <a:pPr>
              <a:lnSpc>
                <a:spcPct val="150000"/>
              </a:lnSpc>
            </a:pPr>
            <a:r>
              <a:rPr lang="en-IN" sz="1400" b="0" i="0" u="none" strike="noStrike" baseline="0" dirty="0" err="1">
                <a:latin typeface="+mn-lt"/>
              </a:rPr>
              <a:t>DEr</a:t>
            </a:r>
            <a:r>
              <a:rPr lang="en-IN" sz="1400" b="0" i="0" u="none" strike="noStrike" baseline="0" dirty="0">
                <a:latin typeface="+mn-lt"/>
              </a:rPr>
              <a:t> = (0.6 · 0.026) + (0.25 · 0.23) + (0.10 · 0.583) + (0.05 · 4.7) = </a:t>
            </a:r>
            <a:r>
              <a:rPr lang="en-IN" sz="1400" b="1" i="0" u="none" strike="noStrike" baseline="0" dirty="0">
                <a:latin typeface="+mn-lt"/>
              </a:rPr>
              <a:t>0.366 </a:t>
            </a:r>
            <a:endParaRPr lang="en-IN" sz="1400" b="1" dirty="0">
              <a:latin typeface="+mn-lt"/>
            </a:endParaRPr>
          </a:p>
        </p:txBody>
      </p:sp>
    </p:spTree>
    <p:extLst>
      <p:ext uri="{BB962C8B-B14F-4D97-AF65-F5344CB8AC3E}">
        <p14:creationId xmlns:p14="http://schemas.microsoft.com/office/powerpoint/2010/main" val="332818846"/>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5117</TotalTime>
  <Words>2272</Words>
  <Application>Microsoft Office PowerPoint</Application>
  <PresentationFormat>On-screen Show (4:3)</PresentationFormat>
  <Paragraphs>186</Paragraphs>
  <Slides>49</Slides>
  <Notes>4</Notes>
  <HiddenSlides>0</HiddenSlides>
  <MMClips>0</MMClips>
  <ScaleCrop>false</ScaleCrop>
  <HeadingPairs>
    <vt:vector size="4" baseType="variant">
      <vt:variant>
        <vt:lpstr>Theme</vt:lpstr>
      </vt:variant>
      <vt:variant>
        <vt:i4>1</vt:i4>
      </vt:variant>
      <vt:variant>
        <vt:lpstr>Slide Titles</vt:lpstr>
      </vt:variant>
      <vt:variant>
        <vt:i4>49</vt:i4>
      </vt:variant>
    </vt:vector>
  </HeadingPairs>
  <TitlesOfParts>
    <vt:vector size="50" baseType="lpstr">
      <vt:lpstr>Default Design</vt:lpstr>
      <vt:lpstr>EES203: Geochemistry </vt:lpstr>
      <vt:lpstr>Classification of Igneous Rocks</vt:lpstr>
      <vt:lpstr>PowerPoint Presentation</vt:lpstr>
      <vt:lpstr>Classification of Igneous Rocks</vt:lpstr>
      <vt:lpstr>Classification of Igneous Rocks</vt:lpstr>
      <vt:lpstr>Classification of Igneous Rocks</vt:lpstr>
      <vt:lpstr>Classification of Igneous Rocks</vt:lpstr>
      <vt:lpstr>Classification of Igneous Rocks</vt:lpstr>
      <vt:lpstr>Igneous geochemistry</vt:lpstr>
      <vt:lpstr>PowerPoint Presentation</vt:lpstr>
      <vt:lpstr>Igneous geochemistry</vt:lpstr>
      <vt:lpstr>TAS diagrams in geochemistry</vt:lpstr>
      <vt:lpstr>PowerPoint Presentation</vt:lpstr>
      <vt:lpstr>PowerPoint Presentation</vt:lpstr>
      <vt:lpstr>Mechanism of Differentiation</vt:lpstr>
      <vt:lpstr>Fractional Crystallization</vt:lpstr>
      <vt:lpstr>PowerPoint Presentation</vt:lpstr>
      <vt:lpstr>Fractional Crystallization</vt:lpstr>
      <vt:lpstr>PowerPoint Presentation</vt:lpstr>
      <vt:lpstr>Bowen’s Reaction Series</vt:lpstr>
      <vt:lpstr>PowerPoint Presentation</vt:lpstr>
      <vt:lpstr>PowerPoint Presentation</vt:lpstr>
      <vt:lpstr>Solid solution series-Olivine</vt:lpstr>
      <vt:lpstr>PowerPoint Presentation</vt:lpstr>
      <vt:lpstr>PowerPoint Presentation</vt:lpstr>
      <vt:lpstr>Solid solution series- Anorthite</vt:lpstr>
      <vt:lpstr>Lever rule</vt:lpstr>
      <vt:lpstr>Binary eutectic system</vt:lpstr>
      <vt:lpstr>Liquid Immiscibility</vt:lpstr>
      <vt:lpstr>PowerPoint Presentation</vt:lpstr>
      <vt:lpstr>Assimilation</vt:lpstr>
      <vt:lpstr>PowerPoint Presentation</vt:lpstr>
      <vt:lpstr>PowerPoint Presentation</vt:lpstr>
      <vt:lpstr>PowerPoint Presentation</vt:lpstr>
      <vt:lpstr>Magma Mixing</vt:lpstr>
      <vt:lpstr>PowerPoint Presentation</vt:lpstr>
      <vt:lpstr>PowerPoint Presentation</vt:lpstr>
      <vt:lpstr>PowerPoint Presentation</vt:lpstr>
      <vt:lpstr>Source: Morgavi et al., 2017</vt:lpstr>
      <vt:lpstr>PowerPoint Presentation</vt:lpstr>
      <vt:lpstr>Ionic Radius and substitution</vt:lpstr>
      <vt:lpstr>GOLDSCHMIDT’S RULES</vt:lpstr>
      <vt:lpstr>RINGWOOD’S MODIFICATION OF GOLDSCHMIDT’S RULES</vt:lpstr>
      <vt:lpstr>Coupled Substitution</vt:lpstr>
      <vt:lpstr>SOLID SOLUTION</vt:lpstr>
      <vt:lpstr>Partition coefficient or Distribution coefficient </vt:lpstr>
      <vt:lpstr>Partition coefficient or Distribution coefficient - 2</vt:lpstr>
      <vt:lpstr>BULK PARTITION COEFFICIENT</vt:lpstr>
      <vt:lpstr>PowerPoint Presentation</vt:lpstr>
    </vt:vector>
  </TitlesOfParts>
  <Company>njcu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dfreile</dc:creator>
  <cp:lastModifiedBy>jasmeenk4505@gmail.com</cp:lastModifiedBy>
  <cp:revision>122</cp:revision>
  <dcterms:created xsi:type="dcterms:W3CDTF">2005-10-26T18:01:58Z</dcterms:created>
  <dcterms:modified xsi:type="dcterms:W3CDTF">2025-02-04T19:16:19Z</dcterms:modified>
</cp:coreProperties>
</file>