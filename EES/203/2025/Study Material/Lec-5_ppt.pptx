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359" r:id="rId3"/>
    <p:sldId id="318" r:id="rId4"/>
    <p:sldId id="263" r:id="rId5"/>
    <p:sldId id="370" r:id="rId6"/>
    <p:sldId id="363" r:id="rId7"/>
    <p:sldId id="366" r:id="rId8"/>
    <p:sldId id="364" r:id="rId9"/>
    <p:sldId id="324" r:id="rId10"/>
    <p:sldId id="325" r:id="rId11"/>
    <p:sldId id="321" r:id="rId12"/>
    <p:sldId id="259" r:id="rId13"/>
    <p:sldId id="369" r:id="rId14"/>
    <p:sldId id="367" r:id="rId15"/>
    <p:sldId id="276" r:id="rId16"/>
    <p:sldId id="262" r:id="rId17"/>
    <p:sldId id="277" r:id="rId18"/>
    <p:sldId id="368" r:id="rId19"/>
    <p:sldId id="371" r:id="rId20"/>
    <p:sldId id="258" r:id="rId21"/>
    <p:sldId id="320" r:id="rId22"/>
    <p:sldId id="361" r:id="rId23"/>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1" d="100"/>
          <a:sy n="61" d="100"/>
        </p:scale>
        <p:origin x="1440" y="60"/>
      </p:cViewPr>
      <p:guideLst>
        <p:guide orient="horz" pos="2160"/>
        <p:guide pos="2880"/>
      </p:guideLst>
    </p:cSldViewPr>
  </p:slideViewPr>
  <p:notesTextViewPr>
    <p:cViewPr>
      <p:scale>
        <a:sx n="100" d="100"/>
        <a:sy n="100" d="100"/>
      </p:scale>
      <p:origin x="0" y="0"/>
    </p:cViewPr>
  </p:notesTextViewPr>
  <p:sorterViewPr>
    <p:cViewPr>
      <p:scale>
        <a:sx n="66" d="100"/>
        <a:sy n="66" d="100"/>
      </p:scale>
      <p:origin x="0" y="748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B12BC94-826C-44CC-9139-4D8AF4CCD754}"/>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en-IN"/>
          </a:p>
        </p:txBody>
      </p:sp>
      <p:sp>
        <p:nvSpPr>
          <p:cNvPr id="3" name="Date Placeholder 2">
            <a:extLst>
              <a:ext uri="{FF2B5EF4-FFF2-40B4-BE49-F238E27FC236}">
                <a16:creationId xmlns:a16="http://schemas.microsoft.com/office/drawing/2014/main" id="{405DB217-5036-48E7-9F80-D8568EC4E5C6}"/>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4495E4C6-17AD-4BA4-85ED-1CEF5353A859}" type="datetimeFigureOut">
              <a:rPr lang="en-IN"/>
              <a:pPr>
                <a:defRPr/>
              </a:pPr>
              <a:t>24-01-2025</a:t>
            </a:fld>
            <a:endParaRPr lang="en-IN"/>
          </a:p>
        </p:txBody>
      </p:sp>
      <p:sp>
        <p:nvSpPr>
          <p:cNvPr id="4" name="Slide Image Placeholder 3">
            <a:extLst>
              <a:ext uri="{FF2B5EF4-FFF2-40B4-BE49-F238E27FC236}">
                <a16:creationId xmlns:a16="http://schemas.microsoft.com/office/drawing/2014/main" id="{6E099106-0BB6-43A6-A3E2-09D734B298C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IN" noProof="0"/>
          </a:p>
        </p:txBody>
      </p:sp>
      <p:sp>
        <p:nvSpPr>
          <p:cNvPr id="5" name="Notes Placeholder 4">
            <a:extLst>
              <a:ext uri="{FF2B5EF4-FFF2-40B4-BE49-F238E27FC236}">
                <a16:creationId xmlns:a16="http://schemas.microsoft.com/office/drawing/2014/main" id="{DFBCB12F-E21B-4BB3-98A4-F84DE794225D}"/>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a:extLst>
              <a:ext uri="{FF2B5EF4-FFF2-40B4-BE49-F238E27FC236}">
                <a16:creationId xmlns:a16="http://schemas.microsoft.com/office/drawing/2014/main" id="{B7B2BC49-BC64-4703-B80A-9476428F9481}"/>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en-IN"/>
          </a:p>
        </p:txBody>
      </p:sp>
      <p:sp>
        <p:nvSpPr>
          <p:cNvPr id="7" name="Slide Number Placeholder 6">
            <a:extLst>
              <a:ext uri="{FF2B5EF4-FFF2-40B4-BE49-F238E27FC236}">
                <a16:creationId xmlns:a16="http://schemas.microsoft.com/office/drawing/2014/main" id="{26FD10B2-65DA-4A6A-9411-A7CE5F94A9C7}"/>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DA50488F-DB6A-40AC-8FA4-772BF47F0323}" type="slidenum">
              <a:rPr lang="en-IN" altLang="en-US"/>
              <a:pPr>
                <a:defRPr/>
              </a:pPr>
              <a:t>‹#›</a:t>
            </a:fld>
            <a:endParaRPr lang="en-IN"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PlaceHolder 1"/>
          <p:cNvSpPr>
            <a:spLocks noGrp="1" noRot="1" noChangeAspect="1"/>
          </p:cNvSpPr>
          <p:nvPr>
            <p:ph type="sldImg"/>
          </p:nvPr>
        </p:nvSpPr>
        <p:spPr>
          <a:xfrm>
            <a:off x="1589088" y="1006475"/>
            <a:ext cx="4594225" cy="3446463"/>
          </a:xfrm>
          <a:prstGeom prst="rect">
            <a:avLst/>
          </a:prstGeom>
        </p:spPr>
      </p:sp>
      <p:sp>
        <p:nvSpPr>
          <p:cNvPr id="48" name="PlaceHolder 2"/>
          <p:cNvSpPr>
            <a:spLocks noGrp="1"/>
          </p:cNvSpPr>
          <p:nvPr>
            <p:ph type="body"/>
          </p:nvPr>
        </p:nvSpPr>
        <p:spPr>
          <a:xfrm>
            <a:off x="1185120" y="4787640"/>
            <a:ext cx="5407560" cy="8783280"/>
          </a:xfrm>
          <a:prstGeom prst="rect">
            <a:avLst/>
          </a:prstGeom>
        </p:spPr>
        <p:txBody>
          <a:bodyPr lIns="0" tIns="0" rIns="0" bIns="0">
            <a:normAutofit lnSpcReduction="10000"/>
          </a:bodyPr>
          <a:lstStyle/>
          <a:p>
            <a:r>
              <a:rPr lang="en-US" sz="2000" b="0" strike="noStrike" spc="-1" dirty="0">
                <a:latin typeface="Arial"/>
              </a:rPr>
              <a:t>Metamorphic facies diagram based on assemblages of metabasaltic rocks with representative geotherms for subduction and collision. The geotherms are curves that show the increase in temperature with depth within the Earth, and their position depends on the geotectonic setting. Key reactions that defined the boundaries of the eclogite facies are indicated (</a:t>
            </a:r>
            <a:r>
              <a:rPr lang="en-US" sz="2000" b="0" strike="noStrike" spc="-1" dirty="0" err="1">
                <a:latin typeface="Arial"/>
              </a:rPr>
              <a:t>Grt</a:t>
            </a:r>
            <a:r>
              <a:rPr lang="en-US" sz="2000" b="0" strike="noStrike" spc="-1" dirty="0">
                <a:latin typeface="Arial"/>
              </a:rPr>
              <a:t> = garnet, </a:t>
            </a:r>
            <a:r>
              <a:rPr lang="en-US" sz="2000" b="0" strike="noStrike" spc="-1" dirty="0" err="1">
                <a:latin typeface="Arial"/>
              </a:rPr>
              <a:t>Omp</a:t>
            </a:r>
            <a:r>
              <a:rPr lang="en-US" sz="2000" b="0" strike="noStrike" spc="-1" dirty="0">
                <a:latin typeface="Arial"/>
              </a:rPr>
              <a:t> = omphacite, Gln = glaucophane, Pg = paragonite, Pl = plagioclase, </a:t>
            </a:r>
            <a:r>
              <a:rPr lang="en-US" sz="2000" b="0" strike="noStrike" spc="-1" dirty="0" err="1">
                <a:latin typeface="Arial"/>
              </a:rPr>
              <a:t>Hbl</a:t>
            </a:r>
            <a:r>
              <a:rPr lang="en-US" sz="2000" b="0" strike="noStrike" spc="-1" dirty="0">
                <a:latin typeface="Arial"/>
              </a:rPr>
              <a:t> = hornblende). Phase transitions of the aluminosilicates (Al2SiO5) are given for comparison (Ky = kyanite, Sil = sillimanite, And = andalusite) (modified from Bucher and Grapes 2011).</a:t>
            </a:r>
          </a:p>
          <a:p>
            <a:r>
              <a:rPr lang="en-US" sz="2000" b="0" strike="noStrike" spc="-1" dirty="0">
                <a:latin typeface="Arial"/>
              </a:rPr>
              <a:t>IF THIS IMAGE HAS BEEN PROVIDED BY OR IS OWNED BY A THIRD PARTY, AS INDICATED IN THE CAPTION LINE, THEN FURTHER PERMISSION MAY BE NEEDED BEFORE ANY FURTHER USE. PLEASE CONTACT WILEY'S PERMISSIONS DEPARTMENT ON PERMISSIONS@WILEY.COM OR USE THE RIGHTSLINK SERVICE BY CLICKING ON THE 'REQUEST PERMISSIONS' LINK ACCOMPANYING THIS ARTICLE. WILEY OR AUTHOR OWNED IMAGES MAY BE USED FOR NON-COMMERCIAL PURPOSES, SUBJECT TO PROPER CITATION OF THE ARTICLE, AUTHOR, AND PUBLISHER.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PlaceHolder 1"/>
          <p:cNvSpPr>
            <a:spLocks noGrp="1" noRot="1" noChangeAspect="1"/>
          </p:cNvSpPr>
          <p:nvPr>
            <p:ph type="sldImg"/>
          </p:nvPr>
        </p:nvSpPr>
        <p:spPr>
          <a:xfrm>
            <a:off x="1589088" y="1006475"/>
            <a:ext cx="4594225" cy="3446463"/>
          </a:xfrm>
          <a:prstGeom prst="rect">
            <a:avLst/>
          </a:prstGeom>
        </p:spPr>
      </p:sp>
      <p:sp>
        <p:nvSpPr>
          <p:cNvPr id="48" name="PlaceHolder 2"/>
          <p:cNvSpPr>
            <a:spLocks noGrp="1"/>
          </p:cNvSpPr>
          <p:nvPr>
            <p:ph type="body"/>
          </p:nvPr>
        </p:nvSpPr>
        <p:spPr>
          <a:xfrm>
            <a:off x="1185120" y="4787640"/>
            <a:ext cx="5407560" cy="11616480"/>
          </a:xfrm>
          <a:prstGeom prst="rect">
            <a:avLst/>
          </a:prstGeom>
        </p:spPr>
        <p:txBody>
          <a:bodyPr lIns="0" tIns="0" rIns="0" bIns="0">
            <a:normAutofit lnSpcReduction="10000"/>
          </a:bodyPr>
          <a:lstStyle/>
          <a:p>
            <a:r>
              <a:rPr lang="en-US" sz="2000" b="0" strike="noStrike" spc="-1" dirty="0">
                <a:latin typeface="Arial"/>
              </a:rPr>
              <a:t>Eclogites in polished sections and thin sections. (a) Eclogite from Glenelg (Scotland). Pink garnet and light green omphacite are the major minerals, brown rutile occurs as accessory mineral, and dark green amphibole replaces omphacite. (b) Eclogite from the Raspas Complex (Ecuador) with garnet, omphacite and phengite. The protolith is a mid‐ocean ridge basalt. (c) La </a:t>
            </a:r>
            <a:r>
              <a:rPr lang="en-US" sz="2000" b="0" strike="noStrike" spc="-1" dirty="0" err="1">
                <a:latin typeface="Arial"/>
              </a:rPr>
              <a:t>Compointrie</a:t>
            </a:r>
            <a:r>
              <a:rPr lang="en-US" sz="2000" b="0" strike="noStrike" spc="-1" dirty="0">
                <a:latin typeface="Arial"/>
              </a:rPr>
              <a:t> eclogite (La </a:t>
            </a:r>
            <a:r>
              <a:rPr lang="en-US" sz="2000" b="0" strike="noStrike" spc="-1" dirty="0" err="1">
                <a:latin typeface="Arial"/>
              </a:rPr>
              <a:t>Piltière</a:t>
            </a:r>
            <a:r>
              <a:rPr lang="en-US" sz="2000" b="0" strike="noStrike" spc="-1" dirty="0">
                <a:latin typeface="Arial"/>
              </a:rPr>
              <a:t>, Saint‐</a:t>
            </a:r>
            <a:r>
              <a:rPr lang="en-US" sz="2000" b="0" strike="noStrike" spc="-1" dirty="0" err="1">
                <a:latin typeface="Arial"/>
              </a:rPr>
              <a:t>Philbert</a:t>
            </a:r>
            <a:r>
              <a:rPr lang="en-US" sz="2000" b="0" strike="noStrike" spc="-1" dirty="0">
                <a:latin typeface="Arial"/>
              </a:rPr>
              <a:t>‐de‐Grand‐Lieu, France), a Mg‐rich eclogite with red garnet, bluish kyanite and emerald‐green omphacite surrounded by a matte greenish matrix. Retrogression is indicated by pseudomorphs after kyanite (white spots) and amphibole‐rich coronas around garnet. The protolith is a cumulate of a tholeiitic differentiation sequence (olivine leucogabbro). (d) Eclogite xenolith from the </a:t>
            </a:r>
            <a:r>
              <a:rPr lang="en-US" sz="2000" b="0" strike="noStrike" spc="-1" dirty="0" err="1">
                <a:latin typeface="Arial"/>
              </a:rPr>
              <a:t>Koidu</a:t>
            </a:r>
            <a:r>
              <a:rPr lang="en-US" sz="2000" b="0" strike="noStrike" spc="-1" dirty="0">
                <a:latin typeface="Arial"/>
              </a:rPr>
              <a:t> kimberlite cluster (Sierra Leone). During ascent of the xenolith in the kimberlite melt, decompression causes the minerals to crack, which facilitates melt infiltration and alteration that can be seen as the dark green material (Photo courtesy of Sonja </a:t>
            </a:r>
            <a:r>
              <a:rPr lang="en-US" sz="2000" b="0" strike="noStrike" spc="-1" dirty="0" err="1">
                <a:latin typeface="Arial"/>
              </a:rPr>
              <a:t>Aulbach</a:t>
            </a:r>
            <a:r>
              <a:rPr lang="en-US" sz="2000" b="0" strike="noStrike" spc="-1" dirty="0">
                <a:latin typeface="Arial"/>
              </a:rPr>
              <a:t>).</a:t>
            </a:r>
          </a:p>
          <a:p>
            <a:r>
              <a:rPr lang="en-US" sz="2000" b="0" strike="noStrike" spc="-1" dirty="0">
                <a:latin typeface="Arial"/>
              </a:rPr>
              <a:t>IF THIS IMAGE HAS BEEN PROVIDED BY OR IS OWNED BY A THIRD PARTY, AS INDICATED IN THE CAPTION LINE, THEN FURTHER PERMISSION MAY BE NEEDED BEFORE ANY FURTHER USE. PLEASE CONTACT WILEY'S PERMISSIONS DEPARTMENT ON PERMISSIONS@WILEY.COM OR USE THE RIGHTSLINK SERVICE BY CLICKING ON THE 'REQUEST PERMISSIONS' LINK ACCOMPANYING THIS ARTICLE. WILEY OR AUTHOR OWNED IMAGES MAY BE USED FOR NON-COMMERCIAL PURPOSES, SUBJECT TO PROPER CITATION OF THE ARTICLE, AUTHOR, AND PUBLISHER.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The red line on the graph is the geothermal gradient which shows the rate of increasing temperature with respect to increase with depth into the Earth’s interior. On average (i.e. away from plate boundaries) temperature increases at a rate of </a:t>
            </a:r>
            <a:r>
              <a:rPr lang="en-US" sz="1200" kern="1200" dirty="0">
                <a:solidFill>
                  <a:schemeClr val="tx1"/>
                </a:solidFill>
                <a:effectLst/>
                <a:latin typeface="+mn-lt"/>
                <a:ea typeface="+mn-ea"/>
                <a:cs typeface="+mn-cs"/>
              </a:rPr>
              <a:t>25-30°C per km in the lithosphere. The kink in the geothermal gradient indicates the lithosphere-asthenosphere boundary which occurs at 1300°C.</a:t>
            </a:r>
            <a:endParaRPr lang="en-GB"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rocks to melt the geothermal gradient (or </a:t>
            </a:r>
            <a:r>
              <a:rPr lang="en-GB" sz="1200" kern="1200" dirty="0" err="1">
                <a:solidFill>
                  <a:schemeClr val="tx1"/>
                </a:solidFill>
                <a:effectLst/>
                <a:latin typeface="+mn-lt"/>
                <a:ea typeface="+mn-ea"/>
                <a:cs typeface="+mn-cs"/>
              </a:rPr>
              <a:t>geotherm</a:t>
            </a:r>
            <a:r>
              <a:rPr lang="en-GB" sz="1200" kern="1200" dirty="0">
                <a:solidFill>
                  <a:schemeClr val="tx1"/>
                </a:solidFill>
                <a:effectLst/>
                <a:latin typeface="+mn-lt"/>
                <a:ea typeface="+mn-ea"/>
                <a:cs typeface="+mn-cs"/>
              </a:rPr>
              <a:t>) must cross the solidus (blue line). The solidus marks the transition from solid mantle rock to rock that can melt and form pockets of magma. Because of pressure increases the solidus increases in temperature the further down you go. In an average section of crust and mantle the </a:t>
            </a:r>
            <a:r>
              <a:rPr lang="en-GB" sz="1200" kern="1200" dirty="0" err="1">
                <a:solidFill>
                  <a:schemeClr val="tx1"/>
                </a:solidFill>
                <a:effectLst/>
                <a:latin typeface="+mn-lt"/>
                <a:ea typeface="+mn-ea"/>
                <a:cs typeface="+mn-cs"/>
              </a:rPr>
              <a:t>geotherm</a:t>
            </a:r>
            <a:r>
              <a:rPr lang="en-GB" sz="1200" kern="1200" dirty="0">
                <a:solidFill>
                  <a:schemeClr val="tx1"/>
                </a:solidFill>
                <a:effectLst/>
                <a:latin typeface="+mn-lt"/>
                <a:ea typeface="+mn-ea"/>
                <a:cs typeface="+mn-cs"/>
              </a:rPr>
              <a:t> </a:t>
            </a:r>
            <a:r>
              <a:rPr lang="en-GB" sz="1200" u="sng" kern="1200" dirty="0">
                <a:solidFill>
                  <a:schemeClr val="tx1"/>
                </a:solidFill>
                <a:effectLst/>
                <a:latin typeface="+mn-lt"/>
                <a:ea typeface="+mn-ea"/>
                <a:cs typeface="+mn-cs"/>
              </a:rPr>
              <a:t>does not cross </a:t>
            </a:r>
            <a:r>
              <a:rPr lang="en-GB" sz="1200" kern="1200" dirty="0">
                <a:solidFill>
                  <a:schemeClr val="tx1"/>
                </a:solidFill>
                <a:effectLst/>
                <a:latin typeface="+mn-lt"/>
                <a:ea typeface="+mn-ea"/>
                <a:cs typeface="+mn-cs"/>
              </a:rPr>
              <a:t>the solidus and therefore no liquid magma can be produced (the solidus is for the rock peridotite which makes up the average composition of the mantle).</a:t>
            </a:r>
          </a:p>
          <a:p>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There are three situations where we can get 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to cross the solidus and therefore we can get melting and so we can get magma for our volcanoes.</a:t>
            </a:r>
            <a:endParaRPr lang="en-GB" sz="1200" kern="1200" dirty="0">
              <a:solidFill>
                <a:schemeClr val="tx1"/>
              </a:solidFill>
              <a:effectLst/>
              <a:latin typeface="+mn-lt"/>
              <a:ea typeface="+mn-ea"/>
              <a:cs typeface="+mn-cs"/>
            </a:endParaRPr>
          </a:p>
          <a:p>
            <a:endParaRPr lang="en-GB"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39D1C3DC-E66A-4610-98F0-10FE57766BBC}" type="slidenum">
              <a:rPr lang="en-GB" smtClean="0"/>
              <a:t>12</a:t>
            </a:fld>
            <a:endParaRPr lang="en-GB"/>
          </a:p>
        </p:txBody>
      </p:sp>
    </p:spTree>
    <p:extLst>
      <p:ext uri="{BB962C8B-B14F-4D97-AF65-F5344CB8AC3E}">
        <p14:creationId xmlns:p14="http://schemas.microsoft.com/office/powerpoint/2010/main" val="2686763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graph shows what happens at a constructive/divergent boundary – a point where two plates are moving away from each other (for example in the Mid Atlantic ridge). Because the lithosphere is thinned here, the asthenosphere (which is hotter) rises and therefore</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is much shallower and crosses the solidus near the top of the graph. Therefore in this zone magma can be generated and we can get volcanoes and new basaltic ocean crust.</a:t>
            </a:r>
            <a:endParaRPr lang="en-GB" sz="120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10"/>
          </p:nvPr>
        </p:nvSpPr>
        <p:spPr/>
        <p:txBody>
          <a:bodyPr/>
          <a:lstStyle/>
          <a:p>
            <a:fld id="{39D1C3DC-E66A-4610-98F0-10FE57766BBC}" type="slidenum">
              <a:rPr lang="en-GB" smtClean="0"/>
              <a:t>14</a:t>
            </a:fld>
            <a:endParaRPr lang="en-GB"/>
          </a:p>
        </p:txBody>
      </p:sp>
    </p:spTree>
    <p:extLst>
      <p:ext uri="{BB962C8B-B14F-4D97-AF65-F5344CB8AC3E}">
        <p14:creationId xmlns:p14="http://schemas.microsoft.com/office/powerpoint/2010/main" val="12314160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71056C37-C509-452C-B4C4-99A6AF8CAC7D}"/>
              </a:ext>
            </a:extLst>
          </p:cNvPr>
          <p:cNvSpPr>
            <a:spLocks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7411" name="Rectangle 3">
            <a:extLst>
              <a:ext uri="{FF2B5EF4-FFF2-40B4-BE49-F238E27FC236}">
                <a16:creationId xmlns:a16="http://schemas.microsoft.com/office/drawing/2014/main" id="{0EE18872-09F0-45E7-B20A-C19515F3AA46}"/>
              </a:ext>
            </a:extLst>
          </p:cNvPr>
          <p:cNvSpPr>
            <a:spLocks noGrp="1" noChangeArrowheads="1"/>
          </p:cNvSpPr>
          <p:nvPr>
            <p:ph type="body" idx="1"/>
          </p:nvPr>
        </p:nvSpPr>
        <p:spPr bwMode="auto">
          <a:xfrm>
            <a:off x="914400" y="4343400"/>
            <a:ext cx="50292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lvl="1"/>
            <a:r>
              <a:rPr lang="en-US" altLang="en-US">
                <a:solidFill>
                  <a:srgbClr val="00FF00"/>
                </a:solidFill>
              </a:rPr>
              <a:t>Adiabatic</a:t>
            </a:r>
            <a:r>
              <a:rPr lang="en-US" altLang="en-US">
                <a:solidFill>
                  <a:srgbClr val="FFCC00"/>
                </a:solidFill>
              </a:rPr>
              <a:t> rise of mantle with no conductive heat loss</a:t>
            </a:r>
          </a:p>
          <a:p>
            <a:pPr lvl="1"/>
            <a:r>
              <a:rPr lang="en-US" altLang="en-US">
                <a:solidFill>
                  <a:srgbClr val="FFCC00"/>
                </a:solidFill>
              </a:rPr>
              <a:t>	Steeper than solidus</a:t>
            </a:r>
          </a:p>
          <a:p>
            <a:pPr lvl="1"/>
            <a:r>
              <a:rPr lang="en-US" altLang="en-US">
                <a:solidFill>
                  <a:srgbClr val="FFCC00"/>
                </a:solidFill>
              </a:rPr>
              <a:t>	Intersects solidus</a:t>
            </a:r>
          </a:p>
          <a:p>
            <a:pPr lvl="2"/>
            <a:r>
              <a:rPr lang="en-US" altLang="en-US">
                <a:solidFill>
                  <a:srgbClr val="FFCC00"/>
                </a:solidFill>
                <a:latin typeface="Symbol" panose="05050102010706020507" pitchFamily="18" charset="2"/>
              </a:rPr>
              <a:t>		D</a:t>
            </a:r>
            <a:r>
              <a:rPr lang="en-US" altLang="en-US">
                <a:solidFill>
                  <a:srgbClr val="FFCC00"/>
                </a:solidFill>
              </a:rPr>
              <a:t> slope = heat of fusion as mantle melts</a:t>
            </a:r>
          </a:p>
          <a:p>
            <a:pPr lvl="1"/>
            <a:r>
              <a:rPr lang="en-US" altLang="en-US">
                <a:solidFill>
                  <a:srgbClr val="00FF00"/>
                </a:solidFill>
              </a:rPr>
              <a:t>Decompression </a:t>
            </a:r>
            <a:r>
              <a:rPr lang="en-US" altLang="en-US" sz="1400">
                <a:solidFill>
                  <a:srgbClr val="00FF00"/>
                </a:solidFill>
              </a:rPr>
              <a:t>melting</a:t>
            </a:r>
            <a:r>
              <a:rPr lang="en-US" altLang="en-US" sz="1400">
                <a:solidFill>
                  <a:srgbClr val="FFCC00"/>
                </a:solidFill>
              </a:rPr>
              <a:t> could melt at least 30%</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graph shows what happens when water gets into the mantle – this is what happens at subduction zones (destructive/convergent boundaries) where one tectonic plate is thrust beneath another. Hydrated minerals in the crust heat up and release water into  the mantle lowers the mantles melting point and therefore the shape of the solidus changes – hydrated mantle rocks melt at a lower temperature and whilst 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has stayed the same, it now crosses over the solidus and can generate magma. </a:t>
            </a:r>
            <a:endParaRPr lang="en-GB" sz="120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10"/>
          </p:nvPr>
        </p:nvSpPr>
        <p:spPr/>
        <p:txBody>
          <a:bodyPr/>
          <a:lstStyle/>
          <a:p>
            <a:fld id="{39D1C3DC-E66A-4610-98F0-10FE57766BBC}" type="slidenum">
              <a:rPr lang="en-GB" smtClean="0"/>
              <a:t>16</a:t>
            </a:fld>
            <a:endParaRPr lang="en-GB"/>
          </a:p>
        </p:txBody>
      </p:sp>
    </p:spTree>
    <p:extLst>
      <p:ext uri="{BB962C8B-B14F-4D97-AF65-F5344CB8AC3E}">
        <p14:creationId xmlns:p14="http://schemas.microsoft.com/office/powerpoint/2010/main" val="39783795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C7F540B7-DD2D-4353-B6FC-61AE3ED0FD0D}"/>
              </a:ext>
            </a:extLst>
          </p:cNvPr>
          <p:cNvSpPr>
            <a:spLocks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9459" name="Rectangle 3">
            <a:extLst>
              <a:ext uri="{FF2B5EF4-FFF2-40B4-BE49-F238E27FC236}">
                <a16:creationId xmlns:a16="http://schemas.microsoft.com/office/drawing/2014/main" id="{D1E8C48D-B84C-4706-A0FE-B786D99E8401}"/>
              </a:ext>
            </a:extLst>
          </p:cNvPr>
          <p:cNvSpPr>
            <a:spLocks noGrp="1" noChangeArrowheads="1"/>
          </p:cNvSpPr>
          <p:nvPr>
            <p:ph type="body" idx="1"/>
          </p:nvPr>
        </p:nvSpPr>
        <p:spPr bwMode="auto">
          <a:xfrm>
            <a:off x="914400" y="4343400"/>
            <a:ext cx="50292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This graph shows what happens when we increase the temperature of the mantle. This happens when there is a hotspot in the mantle for example under the Hawaiian Islands. Because the mantle temperature is hotter than usual, the </a:t>
            </a:r>
            <a:r>
              <a:rPr lang="en-US" sz="1200" kern="1200" dirty="0" err="1">
                <a:solidFill>
                  <a:schemeClr val="tx1"/>
                </a:solidFill>
                <a:effectLst/>
                <a:latin typeface="+mn-lt"/>
                <a:ea typeface="+mn-ea"/>
                <a:cs typeface="+mn-cs"/>
              </a:rPr>
              <a:t>geotherm</a:t>
            </a:r>
            <a:r>
              <a:rPr lang="en-US" sz="1200" kern="1200" dirty="0">
                <a:solidFill>
                  <a:schemeClr val="tx1"/>
                </a:solidFill>
                <a:effectLst/>
                <a:latin typeface="+mn-lt"/>
                <a:ea typeface="+mn-ea"/>
                <a:cs typeface="+mn-cs"/>
              </a:rPr>
              <a:t> shifts to the right and crosses the mantle solidus. Therefore we can generate molten magma.</a:t>
            </a:r>
            <a:endParaRPr lang="en-GB" sz="120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10"/>
          </p:nvPr>
        </p:nvSpPr>
        <p:spPr/>
        <p:txBody>
          <a:bodyPr/>
          <a:lstStyle/>
          <a:p>
            <a:fld id="{39D1C3DC-E66A-4610-98F0-10FE57766BBC}" type="slidenum">
              <a:rPr lang="en-GB" smtClean="0"/>
              <a:t>18</a:t>
            </a:fld>
            <a:endParaRPr lang="en-GB"/>
          </a:p>
        </p:txBody>
      </p:sp>
    </p:spTree>
    <p:extLst>
      <p:ext uri="{BB962C8B-B14F-4D97-AF65-F5344CB8AC3E}">
        <p14:creationId xmlns:p14="http://schemas.microsoft.com/office/powerpoint/2010/main" val="6846318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BB6736DF-49D8-40D5-80C7-9FF4CABD4A2E}" type="slidenum">
              <a:rPr lang="en-GB" smtClean="0"/>
              <a:t>20</a:t>
            </a:fld>
            <a:endParaRPr lang="en-GB"/>
          </a:p>
        </p:txBody>
      </p:sp>
    </p:spTree>
    <p:extLst>
      <p:ext uri="{BB962C8B-B14F-4D97-AF65-F5344CB8AC3E}">
        <p14:creationId xmlns:p14="http://schemas.microsoft.com/office/powerpoint/2010/main" val="2906649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endParaRPr lang="en-IN"/>
          </a:p>
        </p:txBody>
      </p:sp>
      <p:sp>
        <p:nvSpPr>
          <p:cNvPr id="4" name="Rectangle 4">
            <a:extLst>
              <a:ext uri="{FF2B5EF4-FFF2-40B4-BE49-F238E27FC236}">
                <a16:creationId xmlns:a16="http://schemas.microsoft.com/office/drawing/2014/main" id="{DBEE118F-D257-4318-A3A2-EECA19410BF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C97103C-CE56-4C35-B5D2-E932D10544C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631569ED-472A-4591-B1C8-91A8AA55F43B}"/>
              </a:ext>
            </a:extLst>
          </p:cNvPr>
          <p:cNvSpPr>
            <a:spLocks noGrp="1" noChangeArrowheads="1"/>
          </p:cNvSpPr>
          <p:nvPr>
            <p:ph type="sldNum" sz="quarter" idx="12"/>
          </p:nvPr>
        </p:nvSpPr>
        <p:spPr>
          <a:ln/>
        </p:spPr>
        <p:txBody>
          <a:bodyPr/>
          <a:lstStyle>
            <a:lvl1pPr>
              <a:defRPr/>
            </a:lvl1pPr>
          </a:lstStyle>
          <a:p>
            <a:pPr>
              <a:defRPr/>
            </a:pPr>
            <a:fld id="{E91EFD36-5984-457D-BADD-B4A3F349C23E}" type="slidenum">
              <a:rPr lang="en-US" altLang="en-US"/>
              <a:pPr>
                <a:defRPr/>
              </a:pPr>
              <a:t>‹#›</a:t>
            </a:fld>
            <a:endParaRPr lang="en-US" altLang="en-US"/>
          </a:p>
        </p:txBody>
      </p:sp>
    </p:spTree>
    <p:extLst>
      <p:ext uri="{BB962C8B-B14F-4D97-AF65-F5344CB8AC3E}">
        <p14:creationId xmlns:p14="http://schemas.microsoft.com/office/powerpoint/2010/main" val="42549790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4C13EFD9-AB6D-434D-BC2E-8B73CC13FEA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B0ED277-8375-4E95-B412-94EF1677FAD8}"/>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D71C59AB-1EAD-4FD8-95DC-AD356CFA4FC2}"/>
              </a:ext>
            </a:extLst>
          </p:cNvPr>
          <p:cNvSpPr>
            <a:spLocks noGrp="1" noChangeArrowheads="1"/>
          </p:cNvSpPr>
          <p:nvPr>
            <p:ph type="sldNum" sz="quarter" idx="12"/>
          </p:nvPr>
        </p:nvSpPr>
        <p:spPr>
          <a:ln/>
        </p:spPr>
        <p:txBody>
          <a:bodyPr/>
          <a:lstStyle>
            <a:lvl1pPr>
              <a:defRPr/>
            </a:lvl1pPr>
          </a:lstStyle>
          <a:p>
            <a:pPr>
              <a:defRPr/>
            </a:pPr>
            <a:fld id="{196D8436-06A3-43A4-BA5B-8AF70AEB648F}" type="slidenum">
              <a:rPr lang="en-US" altLang="en-US"/>
              <a:pPr>
                <a:defRPr/>
              </a:pPr>
              <a:t>‹#›</a:t>
            </a:fld>
            <a:endParaRPr lang="en-US" altLang="en-US"/>
          </a:p>
        </p:txBody>
      </p:sp>
    </p:spTree>
    <p:extLst>
      <p:ext uri="{BB962C8B-B14F-4D97-AF65-F5344CB8AC3E}">
        <p14:creationId xmlns:p14="http://schemas.microsoft.com/office/powerpoint/2010/main" val="3027548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8924E2C6-9E75-43EE-99CD-453E04C8655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25018E45-3328-444D-8796-75B3B701D17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8A16A509-F4A7-48F3-809D-CBD23ED80F55}"/>
              </a:ext>
            </a:extLst>
          </p:cNvPr>
          <p:cNvSpPr>
            <a:spLocks noGrp="1" noChangeArrowheads="1"/>
          </p:cNvSpPr>
          <p:nvPr>
            <p:ph type="sldNum" sz="quarter" idx="12"/>
          </p:nvPr>
        </p:nvSpPr>
        <p:spPr>
          <a:ln/>
        </p:spPr>
        <p:txBody>
          <a:bodyPr/>
          <a:lstStyle>
            <a:lvl1pPr>
              <a:defRPr/>
            </a:lvl1pPr>
          </a:lstStyle>
          <a:p>
            <a:pPr>
              <a:defRPr/>
            </a:pPr>
            <a:fld id="{D3974763-CD29-4242-A606-D01C110AD1A3}" type="slidenum">
              <a:rPr lang="en-US" altLang="en-US"/>
              <a:pPr>
                <a:defRPr/>
              </a:pPr>
              <a:t>‹#›</a:t>
            </a:fld>
            <a:endParaRPr lang="en-US" altLang="en-US"/>
          </a:p>
        </p:txBody>
      </p:sp>
    </p:spTree>
    <p:extLst>
      <p:ext uri="{BB962C8B-B14F-4D97-AF65-F5344CB8AC3E}">
        <p14:creationId xmlns:p14="http://schemas.microsoft.com/office/powerpoint/2010/main" val="3986014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1D060A66-D792-4197-A450-15640D1F3CB3}"/>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5139D150-B008-4810-A642-BB58C29B576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BBECF246-2CD9-4EFD-B3F8-DA766CBABFB9}"/>
              </a:ext>
            </a:extLst>
          </p:cNvPr>
          <p:cNvSpPr>
            <a:spLocks noGrp="1" noChangeArrowheads="1"/>
          </p:cNvSpPr>
          <p:nvPr>
            <p:ph type="sldNum" sz="quarter" idx="12"/>
          </p:nvPr>
        </p:nvSpPr>
        <p:spPr>
          <a:ln/>
        </p:spPr>
        <p:txBody>
          <a:bodyPr/>
          <a:lstStyle>
            <a:lvl1pPr>
              <a:defRPr/>
            </a:lvl1pPr>
          </a:lstStyle>
          <a:p>
            <a:pPr>
              <a:defRPr/>
            </a:pPr>
            <a:fld id="{32343884-E97C-43AC-91BE-818B2A6132AF}" type="slidenum">
              <a:rPr lang="en-US" altLang="en-US"/>
              <a:pPr>
                <a:defRPr/>
              </a:pPr>
              <a:t>‹#›</a:t>
            </a:fld>
            <a:endParaRPr lang="en-US" altLang="en-US"/>
          </a:p>
        </p:txBody>
      </p:sp>
    </p:spTree>
    <p:extLst>
      <p:ext uri="{BB962C8B-B14F-4D97-AF65-F5344CB8AC3E}">
        <p14:creationId xmlns:p14="http://schemas.microsoft.com/office/powerpoint/2010/main" val="353214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Rectangle 4">
            <a:extLst>
              <a:ext uri="{FF2B5EF4-FFF2-40B4-BE49-F238E27FC236}">
                <a16:creationId xmlns:a16="http://schemas.microsoft.com/office/drawing/2014/main" id="{695DB130-3059-4B58-BDA5-BD072F56A81F}"/>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9754EE56-C6A2-4D14-AF3C-BAE635180FF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E24C1A1F-C41E-4454-A02E-BDE2567839B8}"/>
              </a:ext>
            </a:extLst>
          </p:cNvPr>
          <p:cNvSpPr>
            <a:spLocks noGrp="1" noChangeArrowheads="1"/>
          </p:cNvSpPr>
          <p:nvPr>
            <p:ph type="sldNum" sz="quarter" idx="12"/>
          </p:nvPr>
        </p:nvSpPr>
        <p:spPr>
          <a:ln/>
        </p:spPr>
        <p:txBody>
          <a:bodyPr/>
          <a:lstStyle>
            <a:lvl1pPr>
              <a:defRPr/>
            </a:lvl1pPr>
          </a:lstStyle>
          <a:p>
            <a:pPr>
              <a:defRPr/>
            </a:pPr>
            <a:fld id="{C052C66B-8C25-4FE5-81EA-D279F10B6BD3}" type="slidenum">
              <a:rPr lang="en-US" altLang="en-US"/>
              <a:pPr>
                <a:defRPr/>
              </a:pPr>
              <a:t>‹#›</a:t>
            </a:fld>
            <a:endParaRPr lang="en-US" altLang="en-US"/>
          </a:p>
        </p:txBody>
      </p:sp>
    </p:spTree>
    <p:extLst>
      <p:ext uri="{BB962C8B-B14F-4D97-AF65-F5344CB8AC3E}">
        <p14:creationId xmlns:p14="http://schemas.microsoft.com/office/powerpoint/2010/main" val="3411131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Rectangle 4">
            <a:extLst>
              <a:ext uri="{FF2B5EF4-FFF2-40B4-BE49-F238E27FC236}">
                <a16:creationId xmlns:a16="http://schemas.microsoft.com/office/drawing/2014/main" id="{8073D249-74BA-4FC7-9180-228CFD77E1BA}"/>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2DD93F01-8B96-4D54-88E5-CA53B833D85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ED2D4A28-53D6-497F-985F-B1CEC7D70C40}"/>
              </a:ext>
            </a:extLst>
          </p:cNvPr>
          <p:cNvSpPr>
            <a:spLocks noGrp="1" noChangeArrowheads="1"/>
          </p:cNvSpPr>
          <p:nvPr>
            <p:ph type="sldNum" sz="quarter" idx="12"/>
          </p:nvPr>
        </p:nvSpPr>
        <p:spPr>
          <a:ln/>
        </p:spPr>
        <p:txBody>
          <a:bodyPr/>
          <a:lstStyle>
            <a:lvl1pPr>
              <a:defRPr/>
            </a:lvl1pPr>
          </a:lstStyle>
          <a:p>
            <a:pPr>
              <a:defRPr/>
            </a:pPr>
            <a:fld id="{E9ABF0EF-67B1-4AA0-81ED-91DE03744A40}" type="slidenum">
              <a:rPr lang="en-US" altLang="en-US"/>
              <a:pPr>
                <a:defRPr/>
              </a:pPr>
              <a:t>‹#›</a:t>
            </a:fld>
            <a:endParaRPr lang="en-US" altLang="en-US"/>
          </a:p>
        </p:txBody>
      </p:sp>
    </p:spTree>
    <p:extLst>
      <p:ext uri="{BB962C8B-B14F-4D97-AF65-F5344CB8AC3E}">
        <p14:creationId xmlns:p14="http://schemas.microsoft.com/office/powerpoint/2010/main" val="28334602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3793C45B-F71B-46A7-A2A8-FEA3D830072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0E0F0BA5-4205-4DA9-8FA1-D723A7B5DEB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DAB7F91C-3F88-4469-8440-DA0A8B7F5768}"/>
              </a:ext>
            </a:extLst>
          </p:cNvPr>
          <p:cNvSpPr>
            <a:spLocks noGrp="1" noChangeArrowheads="1"/>
          </p:cNvSpPr>
          <p:nvPr>
            <p:ph type="sldNum" sz="quarter" idx="12"/>
          </p:nvPr>
        </p:nvSpPr>
        <p:spPr>
          <a:ln/>
        </p:spPr>
        <p:txBody>
          <a:bodyPr/>
          <a:lstStyle>
            <a:lvl1pPr>
              <a:defRPr/>
            </a:lvl1pPr>
          </a:lstStyle>
          <a:p>
            <a:pPr>
              <a:defRPr/>
            </a:pPr>
            <a:fld id="{C139F030-B1DE-440E-85E3-A637DEB7A7C7}" type="slidenum">
              <a:rPr lang="en-US" altLang="en-US"/>
              <a:pPr>
                <a:defRPr/>
              </a:pPr>
              <a:t>‹#›</a:t>
            </a:fld>
            <a:endParaRPr lang="en-US" altLang="en-US"/>
          </a:p>
        </p:txBody>
      </p:sp>
    </p:spTree>
    <p:extLst>
      <p:ext uri="{BB962C8B-B14F-4D97-AF65-F5344CB8AC3E}">
        <p14:creationId xmlns:p14="http://schemas.microsoft.com/office/powerpoint/2010/main" val="10488869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61462272-BBA7-43EA-9594-79B56445FE80}"/>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F519C3EE-B0C4-43D8-8138-EBD6BB89F08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938D149F-91B7-4D2A-80E9-143AB91277E6}"/>
              </a:ext>
            </a:extLst>
          </p:cNvPr>
          <p:cNvSpPr>
            <a:spLocks noGrp="1" noChangeArrowheads="1"/>
          </p:cNvSpPr>
          <p:nvPr>
            <p:ph type="sldNum" sz="quarter" idx="12"/>
          </p:nvPr>
        </p:nvSpPr>
        <p:spPr>
          <a:ln/>
        </p:spPr>
        <p:txBody>
          <a:bodyPr/>
          <a:lstStyle>
            <a:lvl1pPr>
              <a:defRPr/>
            </a:lvl1pPr>
          </a:lstStyle>
          <a:p>
            <a:pPr>
              <a:defRPr/>
            </a:pPr>
            <a:fld id="{06B7294A-24AF-420B-8505-410263194C68}" type="slidenum">
              <a:rPr lang="en-US" altLang="en-US"/>
              <a:pPr>
                <a:defRPr/>
              </a:pPr>
              <a:t>‹#›</a:t>
            </a:fld>
            <a:endParaRPr lang="en-US" altLang="en-US"/>
          </a:p>
        </p:txBody>
      </p:sp>
    </p:spTree>
    <p:extLst>
      <p:ext uri="{BB962C8B-B14F-4D97-AF65-F5344CB8AC3E}">
        <p14:creationId xmlns:p14="http://schemas.microsoft.com/office/powerpoint/2010/main" val="3306298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IN"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B011047-FFB1-4281-8AA7-C67D7FC1720E}"/>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0BA64777-0A6E-44A1-9A52-089347C9554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8D066FD0-7FB1-4473-9F5A-052CDF76D2C7}"/>
              </a:ext>
            </a:extLst>
          </p:cNvPr>
          <p:cNvSpPr>
            <a:spLocks noGrp="1" noChangeArrowheads="1"/>
          </p:cNvSpPr>
          <p:nvPr>
            <p:ph type="sldNum" sz="quarter" idx="12"/>
          </p:nvPr>
        </p:nvSpPr>
        <p:spPr>
          <a:ln/>
        </p:spPr>
        <p:txBody>
          <a:bodyPr/>
          <a:lstStyle>
            <a:lvl1pPr>
              <a:defRPr/>
            </a:lvl1pPr>
          </a:lstStyle>
          <a:p>
            <a:pPr>
              <a:defRPr/>
            </a:pPr>
            <a:fld id="{464B33AA-D7D6-4AF9-8507-39A6605B27C6}" type="slidenum">
              <a:rPr lang="en-US" altLang="en-US"/>
              <a:pPr>
                <a:defRPr/>
              </a:pPr>
              <a:t>‹#›</a:t>
            </a:fld>
            <a:endParaRPr lang="en-US" altLang="en-US"/>
          </a:p>
        </p:txBody>
      </p:sp>
    </p:spTree>
    <p:extLst>
      <p:ext uri="{BB962C8B-B14F-4D97-AF65-F5344CB8AC3E}">
        <p14:creationId xmlns:p14="http://schemas.microsoft.com/office/powerpoint/2010/main" val="31725100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D3E3C6A4-4B1A-4C68-BC9E-108062B1B49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C1AA137-5DE1-4D94-A5C4-663255771BE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A788E28-AD11-4AD1-9E0C-EB1CB0AB2E0E}"/>
              </a:ext>
            </a:extLst>
          </p:cNvPr>
          <p:cNvSpPr>
            <a:spLocks noGrp="1" noChangeArrowheads="1"/>
          </p:cNvSpPr>
          <p:nvPr>
            <p:ph type="sldNum" sz="quarter" idx="12"/>
          </p:nvPr>
        </p:nvSpPr>
        <p:spPr>
          <a:ln/>
        </p:spPr>
        <p:txBody>
          <a:bodyPr/>
          <a:lstStyle>
            <a:lvl1pPr>
              <a:defRPr/>
            </a:lvl1pPr>
          </a:lstStyle>
          <a:p>
            <a:pPr>
              <a:defRPr/>
            </a:pPr>
            <a:fld id="{5707F969-126B-4625-93B3-22279DA28B61}" type="slidenum">
              <a:rPr lang="en-US" altLang="en-US"/>
              <a:pPr>
                <a:defRPr/>
              </a:pPr>
              <a:t>‹#›</a:t>
            </a:fld>
            <a:endParaRPr lang="en-US" altLang="en-US"/>
          </a:p>
        </p:txBody>
      </p:sp>
    </p:spTree>
    <p:extLst>
      <p:ext uri="{BB962C8B-B14F-4D97-AF65-F5344CB8AC3E}">
        <p14:creationId xmlns:p14="http://schemas.microsoft.com/office/powerpoint/2010/main" val="378355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E9EFAED9-FCC2-4312-9DB9-099CCCC9F0CB}"/>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DF9ABCCB-6606-4ED6-BC8F-C27228E2609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EB9E9A27-7F1E-4BB5-A7E3-48D09E2086F5}"/>
              </a:ext>
            </a:extLst>
          </p:cNvPr>
          <p:cNvSpPr>
            <a:spLocks noGrp="1" noChangeArrowheads="1"/>
          </p:cNvSpPr>
          <p:nvPr>
            <p:ph type="sldNum" sz="quarter" idx="12"/>
          </p:nvPr>
        </p:nvSpPr>
        <p:spPr>
          <a:ln/>
        </p:spPr>
        <p:txBody>
          <a:bodyPr/>
          <a:lstStyle>
            <a:lvl1pPr>
              <a:defRPr/>
            </a:lvl1pPr>
          </a:lstStyle>
          <a:p>
            <a:pPr>
              <a:defRPr/>
            </a:pPr>
            <a:fld id="{4BCD6217-5208-4DAE-8F2B-4AF241D0CED9}" type="slidenum">
              <a:rPr lang="en-US" altLang="en-US"/>
              <a:pPr>
                <a:defRPr/>
              </a:pPr>
              <a:t>‹#›</a:t>
            </a:fld>
            <a:endParaRPr lang="en-US" altLang="en-US"/>
          </a:p>
        </p:txBody>
      </p:sp>
    </p:spTree>
    <p:extLst>
      <p:ext uri="{BB962C8B-B14F-4D97-AF65-F5344CB8AC3E}">
        <p14:creationId xmlns:p14="http://schemas.microsoft.com/office/powerpoint/2010/main" val="14508883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2B860734-F86E-485B-BE6F-D403DEB8552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9962688C-8C09-49D2-A3CF-4C4EFFBA9D9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A1977806-7D51-41C3-94F1-95ECDE1BC91E}"/>
              </a:ext>
            </a:extLst>
          </p:cNvPr>
          <p:cNvSpPr>
            <a:spLocks noGrp="1" noChangeArrowheads="1"/>
          </p:cNvSpPr>
          <p:nvPr>
            <p:ph type="sldNum" sz="quarter" idx="12"/>
          </p:nvPr>
        </p:nvSpPr>
        <p:spPr>
          <a:ln/>
        </p:spPr>
        <p:txBody>
          <a:bodyPr/>
          <a:lstStyle>
            <a:lvl1pPr>
              <a:defRPr/>
            </a:lvl1pPr>
          </a:lstStyle>
          <a:p>
            <a:pPr>
              <a:defRPr/>
            </a:pPr>
            <a:fld id="{F9EAD34F-7ECA-488C-A8FC-C0C1447E8996}" type="slidenum">
              <a:rPr lang="en-US" altLang="en-US"/>
              <a:pPr>
                <a:defRPr/>
              </a:pPr>
              <a:t>‹#›</a:t>
            </a:fld>
            <a:endParaRPr lang="en-US" altLang="en-US"/>
          </a:p>
        </p:txBody>
      </p:sp>
    </p:spTree>
    <p:extLst>
      <p:ext uri="{BB962C8B-B14F-4D97-AF65-F5344CB8AC3E}">
        <p14:creationId xmlns:p14="http://schemas.microsoft.com/office/powerpoint/2010/main" val="3948470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lipArt Placeholder 3"/>
          <p:cNvSpPr>
            <a:spLocks noGrp="1"/>
          </p:cNvSpPr>
          <p:nvPr>
            <p:ph type="clipArt" sz="half" idx="2"/>
          </p:nvPr>
        </p:nvSpPr>
        <p:spPr>
          <a:xfrm>
            <a:off x="4648200" y="1600200"/>
            <a:ext cx="4038600" cy="4525963"/>
          </a:xfrm>
        </p:spPr>
        <p:txBody>
          <a:bodyPr/>
          <a:lstStyle/>
          <a:p>
            <a:pPr lvl="0"/>
            <a:endParaRPr lang="en-IN" noProof="0"/>
          </a:p>
        </p:txBody>
      </p:sp>
      <p:sp>
        <p:nvSpPr>
          <p:cNvPr id="5" name="Rectangle 4">
            <a:extLst>
              <a:ext uri="{FF2B5EF4-FFF2-40B4-BE49-F238E27FC236}">
                <a16:creationId xmlns:a16="http://schemas.microsoft.com/office/drawing/2014/main" id="{476E3B21-9DDA-4FAF-8452-B0EFA960C312}"/>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6FFC52A2-EE11-4000-BC5D-3C1345468226}"/>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C9ABEACE-6FB7-4B99-9A67-9CEBD7FFC91C}"/>
              </a:ext>
            </a:extLst>
          </p:cNvPr>
          <p:cNvSpPr>
            <a:spLocks noGrp="1" noChangeArrowheads="1"/>
          </p:cNvSpPr>
          <p:nvPr>
            <p:ph type="sldNum" sz="quarter" idx="12"/>
          </p:nvPr>
        </p:nvSpPr>
        <p:spPr>
          <a:ln/>
        </p:spPr>
        <p:txBody>
          <a:bodyPr/>
          <a:lstStyle>
            <a:lvl1pPr>
              <a:defRPr/>
            </a:lvl1pPr>
          </a:lstStyle>
          <a:p>
            <a:pPr>
              <a:defRPr/>
            </a:pPr>
            <a:fld id="{652F27C2-0E5F-4AAB-8874-A93956E577BC}" type="slidenum">
              <a:rPr lang="en-US" altLang="en-US"/>
              <a:pPr>
                <a:defRPr/>
              </a:pPr>
              <a:t>‹#›</a:t>
            </a:fld>
            <a:endParaRPr lang="en-US" altLang="en-US"/>
          </a:p>
        </p:txBody>
      </p:sp>
    </p:spTree>
    <p:extLst>
      <p:ext uri="{BB962C8B-B14F-4D97-AF65-F5344CB8AC3E}">
        <p14:creationId xmlns:p14="http://schemas.microsoft.com/office/powerpoint/2010/main" val="2318300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1_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3600"/>
            <a:ext cx="8229240" cy="1144800"/>
          </a:xfrm>
          <a:prstGeom prst="rect">
            <a:avLst/>
          </a:prstGeom>
        </p:spPr>
        <p:txBody>
          <a:bodyPr lIns="0" tIns="0" rIns="0" bIns="0" anchor="ctr"/>
          <a:lstStyle/>
          <a:p>
            <a:pPr algn="ctr"/>
            <a:endParaRPr lang="en-US" sz="4400" b="0" strike="noStrike" spc="-1">
              <a:latin typeface="Arial"/>
            </a:endParaRPr>
          </a:p>
        </p:txBody>
      </p:sp>
      <p:sp>
        <p:nvSpPr>
          <p:cNvPr id="3" name="PlaceHolder 2"/>
          <p:cNvSpPr>
            <a:spLocks noGrp="1"/>
          </p:cNvSpPr>
          <p:nvPr>
            <p:ph type="subTitle"/>
          </p:nvPr>
        </p:nvSpPr>
        <p:spPr>
          <a:xfrm>
            <a:off x="457200" y="1604520"/>
            <a:ext cx="8229240" cy="3977280"/>
          </a:xfrm>
          <a:prstGeom prst="rect">
            <a:avLst/>
          </a:prstGeom>
        </p:spPr>
        <p:txBody>
          <a:bodyPr lIns="0" tIns="0" rIns="0" bIns="0" anchor="ctr"/>
          <a:lstStyle/>
          <a:p>
            <a:pPr algn="ctr"/>
            <a:endParaRPr lang="en-US" sz="3200" b="0" strike="noStrike" spc="-1">
              <a:latin typeface="Arial"/>
            </a:endParaRPr>
          </a:p>
        </p:txBody>
      </p:sp>
    </p:spTree>
    <p:extLst>
      <p:ext uri="{BB962C8B-B14F-4D97-AF65-F5344CB8AC3E}">
        <p14:creationId xmlns:p14="http://schemas.microsoft.com/office/powerpoint/2010/main" val="31275658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8E5B2030-82C9-44DC-877E-5851501067E2}"/>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69A63B46-2CC7-4C4C-B290-7BAAA1F63AC2}"/>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1FAE760F-22F1-45C9-8239-30305B70D9B2}"/>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pitchFamily="34" charset="0"/>
              </a:defRPr>
            </a:lvl1pPr>
          </a:lstStyle>
          <a:p>
            <a:pPr>
              <a:defRPr/>
            </a:pPr>
            <a:endParaRPr lang="en-US"/>
          </a:p>
        </p:txBody>
      </p:sp>
      <p:sp>
        <p:nvSpPr>
          <p:cNvPr id="1029" name="Rectangle 5">
            <a:extLst>
              <a:ext uri="{FF2B5EF4-FFF2-40B4-BE49-F238E27FC236}">
                <a16:creationId xmlns:a16="http://schemas.microsoft.com/office/drawing/2014/main" id="{1D35B8D3-8F19-4A2C-AD58-BE3E89625A4E}"/>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pitchFamily="34" charset="0"/>
              </a:defRPr>
            </a:lvl1pPr>
          </a:lstStyle>
          <a:p>
            <a:pPr>
              <a:defRPr/>
            </a:pPr>
            <a:endParaRPr lang="en-US"/>
          </a:p>
        </p:txBody>
      </p:sp>
      <p:sp>
        <p:nvSpPr>
          <p:cNvPr id="1030" name="Rectangle 6">
            <a:extLst>
              <a:ext uri="{FF2B5EF4-FFF2-40B4-BE49-F238E27FC236}">
                <a16:creationId xmlns:a16="http://schemas.microsoft.com/office/drawing/2014/main" id="{068A7449-CC58-4CEF-AE5E-3A0514B9DB26}"/>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5A6E29DF-0E91-4F06-8705-C054EB6BBDCE}"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anoop@iisermohali.ac.in"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58EF3740-78F8-4AF7-B9C0-B2112BDC1833}"/>
              </a:ext>
            </a:extLst>
          </p:cNvPr>
          <p:cNvSpPr txBox="1">
            <a:spLocks noGrp="1"/>
          </p:cNvSpPr>
          <p:nvPr>
            <p:ph type="title"/>
          </p:nvPr>
        </p:nvSpPr>
        <p:spPr>
          <a:xfrm>
            <a:off x="609600" y="1295400"/>
            <a:ext cx="7459663" cy="641350"/>
          </a:xfrm>
        </p:spPr>
        <p:txBody>
          <a:bodyPr lIns="0" tIns="38100" rIns="0" bIns="0">
            <a:spAutoFit/>
          </a:bodyPr>
          <a:lstStyle/>
          <a:p>
            <a:pPr marL="1901825" indent="-1889125">
              <a:lnSpc>
                <a:spcPts val="4700"/>
              </a:lnSpc>
              <a:spcBef>
                <a:spcPts val="300"/>
              </a:spcBef>
            </a:pPr>
            <a:r>
              <a:rPr lang="en-IN" altLang="en-US">
                <a:solidFill>
                  <a:srgbClr val="000000"/>
                </a:solidFill>
              </a:rPr>
              <a:t>EES203: Geochemistry </a:t>
            </a:r>
            <a:endParaRPr lang="en-US" altLang="en-US">
              <a:solidFill>
                <a:srgbClr val="000000"/>
              </a:solidFill>
              <a:latin typeface="Times New Roman" panose="02020603050405020304" pitchFamily="18" charset="0"/>
              <a:cs typeface="Times New Roman" panose="02020603050405020304" pitchFamily="18" charset="0"/>
            </a:endParaRPr>
          </a:p>
        </p:txBody>
      </p:sp>
      <p:sp>
        <p:nvSpPr>
          <p:cNvPr id="3" name="object 3">
            <a:extLst>
              <a:ext uri="{FF2B5EF4-FFF2-40B4-BE49-F238E27FC236}">
                <a16:creationId xmlns:a16="http://schemas.microsoft.com/office/drawing/2014/main" id="{656A1D54-95EB-4BB2-BAD9-B64ADC3C8E58}"/>
              </a:ext>
            </a:extLst>
          </p:cNvPr>
          <p:cNvSpPr txBox="1"/>
          <p:nvPr/>
        </p:nvSpPr>
        <p:spPr>
          <a:xfrm>
            <a:off x="1555750" y="2133600"/>
            <a:ext cx="7848600" cy="1198563"/>
          </a:xfrm>
          <a:prstGeom prst="rect">
            <a:avLst/>
          </a:prstGeom>
        </p:spPr>
        <p:txBody>
          <a:bodyPr lIns="0" tIns="110490" rIns="0" bIns="0">
            <a:spAutoFit/>
          </a:bodyPr>
          <a:lstStyle/>
          <a:p>
            <a:pPr marL="12700">
              <a:spcBef>
                <a:spcPts val="765"/>
              </a:spcBef>
              <a:defRPr/>
            </a:pPr>
            <a:r>
              <a:rPr sz="3200" dirty="0">
                <a:latin typeface="Times New Roman"/>
                <a:cs typeface="Times New Roman"/>
              </a:rPr>
              <a:t>Instructor:</a:t>
            </a:r>
            <a:r>
              <a:rPr sz="3200" spc="-235" dirty="0">
                <a:latin typeface="Times New Roman"/>
                <a:cs typeface="Times New Roman"/>
              </a:rPr>
              <a:t> </a:t>
            </a:r>
            <a:r>
              <a:rPr sz="3200" dirty="0">
                <a:latin typeface="Times New Roman"/>
                <a:cs typeface="Times New Roman"/>
              </a:rPr>
              <a:t>Anoop</a:t>
            </a:r>
            <a:r>
              <a:rPr sz="3200" spc="-195" dirty="0">
                <a:latin typeface="Times New Roman"/>
                <a:cs typeface="Times New Roman"/>
              </a:rPr>
              <a:t> </a:t>
            </a:r>
            <a:r>
              <a:rPr sz="3200" spc="-10" dirty="0">
                <a:latin typeface="Times New Roman"/>
                <a:cs typeface="Times New Roman"/>
              </a:rPr>
              <a:t>Ambili</a:t>
            </a:r>
            <a:endParaRPr lang="en-IN" sz="3200" spc="-10" dirty="0">
              <a:latin typeface="Times New Roman"/>
              <a:cs typeface="Times New Roman"/>
            </a:endParaRPr>
          </a:p>
          <a:p>
            <a:pPr marL="12700">
              <a:spcBef>
                <a:spcPts val="770"/>
              </a:spcBef>
              <a:defRPr/>
            </a:pPr>
            <a:r>
              <a:rPr sz="3200" dirty="0">
                <a:latin typeface="Times New Roman"/>
                <a:cs typeface="Times New Roman"/>
              </a:rPr>
              <a:t>Email</a:t>
            </a:r>
            <a:r>
              <a:rPr sz="3200" spc="-35" dirty="0">
                <a:latin typeface="Times New Roman"/>
                <a:cs typeface="Times New Roman"/>
              </a:rPr>
              <a:t> </a:t>
            </a:r>
            <a:r>
              <a:rPr sz="3200" dirty="0">
                <a:latin typeface="Times New Roman"/>
                <a:cs typeface="Times New Roman"/>
              </a:rPr>
              <a:t>id: </a:t>
            </a:r>
            <a:r>
              <a:rPr sz="3200" spc="-10" dirty="0">
                <a:latin typeface="Times New Roman"/>
                <a:cs typeface="Times New Roman"/>
                <a:hlinkClick r:id="rId2"/>
              </a:rPr>
              <a:t>anoop@iisermohali.ac.in</a:t>
            </a:r>
            <a:endParaRPr sz="3200" dirty="0">
              <a:latin typeface="Times New Roman"/>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698" name="Picture 2">
            <a:extLst>
              <a:ext uri="{FF2B5EF4-FFF2-40B4-BE49-F238E27FC236}">
                <a16:creationId xmlns:a16="http://schemas.microsoft.com/office/drawing/2014/main" id="{B1756CB3-1BF6-4043-835D-5237CED01C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800" y="517525"/>
            <a:ext cx="8001000" cy="600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D93C22EC-6267-41A9-A604-2F65A70A8B6F}"/>
              </a:ext>
            </a:extLst>
          </p:cNvPr>
          <p:cNvSpPr txBox="1"/>
          <p:nvPr/>
        </p:nvSpPr>
        <p:spPr>
          <a:xfrm>
            <a:off x="685800" y="6340475"/>
            <a:ext cx="6553200" cy="369332"/>
          </a:xfrm>
          <a:prstGeom prst="rect">
            <a:avLst/>
          </a:prstGeom>
          <a:noFill/>
        </p:spPr>
        <p:txBody>
          <a:bodyPr wrap="square">
            <a:spAutoFit/>
          </a:bodyPr>
          <a:lstStyle/>
          <a:p>
            <a:r>
              <a:rPr lang="en-US" dirty="0"/>
              <a:t>Mantle: 83% of the volume and 68.3% of the mass of the Earth</a:t>
            </a: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4">
            <a:extLst>
              <a:ext uri="{FF2B5EF4-FFF2-40B4-BE49-F238E27FC236}">
                <a16:creationId xmlns:a16="http://schemas.microsoft.com/office/drawing/2014/main" id="{508198FD-4F8E-497F-B7C6-8867B134D4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0875" y="708025"/>
            <a:ext cx="6156325" cy="588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96893DAC-7913-4F0F-87CD-DEA029E128B5}"/>
              </a:ext>
            </a:extLst>
          </p:cNvPr>
          <p:cNvSpPr>
            <a:spLocks noGrp="1" noChangeArrowheads="1"/>
          </p:cNvSpPr>
          <p:nvPr>
            <p:ph type="title"/>
          </p:nvPr>
        </p:nvSpPr>
        <p:spPr>
          <a:xfrm>
            <a:off x="666750" y="444500"/>
            <a:ext cx="7772400" cy="1143000"/>
          </a:xfrm>
          <a:noFill/>
          <a:ln/>
        </p:spPr>
        <p:txBody>
          <a:bodyPr lIns="92075" tIns="46038" rIns="92075" bIns="46038"/>
          <a:lstStyle/>
          <a:p>
            <a:r>
              <a:rPr lang="en-US" altLang="en-US" sz="4000">
                <a:solidFill>
                  <a:schemeClr val="tx1"/>
                </a:solidFill>
              </a:rPr>
              <a:t>Lherzolite: A type of peridotite with Olivine &gt; Opx + Cpx</a:t>
            </a:r>
          </a:p>
        </p:txBody>
      </p:sp>
      <p:sp>
        <p:nvSpPr>
          <p:cNvPr id="13315" name="Freeform 3">
            <a:extLst>
              <a:ext uri="{FF2B5EF4-FFF2-40B4-BE49-F238E27FC236}">
                <a16:creationId xmlns:a16="http://schemas.microsoft.com/office/drawing/2014/main" id="{EB947208-B537-41CD-89EC-6FC1FA079CB5}"/>
              </a:ext>
            </a:extLst>
          </p:cNvPr>
          <p:cNvSpPr>
            <a:spLocks/>
          </p:cNvSpPr>
          <p:nvPr/>
        </p:nvSpPr>
        <p:spPr bwMode="auto">
          <a:xfrm>
            <a:off x="2765425" y="2338388"/>
            <a:ext cx="3897313" cy="3462337"/>
          </a:xfrm>
          <a:custGeom>
            <a:avLst/>
            <a:gdLst>
              <a:gd name="T0" fmla="*/ 1215 w 2455"/>
              <a:gd name="T1" fmla="*/ 0 h 2181"/>
              <a:gd name="T2" fmla="*/ 0 w 2455"/>
              <a:gd name="T3" fmla="*/ 2180 h 2181"/>
              <a:gd name="T4" fmla="*/ 2454 w 2455"/>
              <a:gd name="T5" fmla="*/ 2180 h 2181"/>
              <a:gd name="T6" fmla="*/ 1215 w 2455"/>
              <a:gd name="T7" fmla="*/ 0 h 2181"/>
            </a:gdLst>
            <a:ahLst/>
            <a:cxnLst>
              <a:cxn ang="0">
                <a:pos x="T0" y="T1"/>
              </a:cxn>
              <a:cxn ang="0">
                <a:pos x="T2" y="T3"/>
              </a:cxn>
              <a:cxn ang="0">
                <a:pos x="T4" y="T5"/>
              </a:cxn>
              <a:cxn ang="0">
                <a:pos x="T6" y="T7"/>
              </a:cxn>
            </a:cxnLst>
            <a:rect l="0" t="0" r="r" b="b"/>
            <a:pathLst>
              <a:path w="2455" h="2181">
                <a:moveTo>
                  <a:pt x="1215" y="0"/>
                </a:moveTo>
                <a:lnTo>
                  <a:pt x="0" y="2180"/>
                </a:lnTo>
                <a:lnTo>
                  <a:pt x="2454" y="2180"/>
                </a:lnTo>
                <a:lnTo>
                  <a:pt x="1215" y="0"/>
                </a:lnTo>
              </a:path>
            </a:pathLst>
          </a:custGeom>
          <a:solidFill>
            <a:srgbClr val="FFC080"/>
          </a:solidFill>
          <a:ln>
            <a:noFill/>
          </a:ln>
          <a:effectLst/>
          <a:extLst>
            <a:ext uri="{91240B29-F687-4F45-9708-019B960494DF}">
              <a14:hiddenLine xmlns:a14="http://schemas.microsoft.com/office/drawing/2010/main" w="9525" cap="rnd">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16" name="AutoShape 4">
            <a:extLst>
              <a:ext uri="{FF2B5EF4-FFF2-40B4-BE49-F238E27FC236}">
                <a16:creationId xmlns:a16="http://schemas.microsoft.com/office/drawing/2014/main" id="{CA0FAE75-759A-4AE7-89D1-5FEFA4C26DB3}"/>
              </a:ext>
            </a:extLst>
          </p:cNvPr>
          <p:cNvSpPr>
            <a:spLocks noChangeArrowheads="1"/>
          </p:cNvSpPr>
          <p:nvPr/>
        </p:nvSpPr>
        <p:spPr bwMode="auto">
          <a:xfrm>
            <a:off x="3641725" y="2728913"/>
            <a:ext cx="2079625" cy="1817687"/>
          </a:xfrm>
          <a:prstGeom prst="triangle">
            <a:avLst>
              <a:gd name="adj" fmla="val 49995"/>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17" name="Freeform 5">
            <a:extLst>
              <a:ext uri="{FF2B5EF4-FFF2-40B4-BE49-F238E27FC236}">
                <a16:creationId xmlns:a16="http://schemas.microsoft.com/office/drawing/2014/main" id="{35B05214-EF70-4D07-AB66-8C807C128E1A}"/>
              </a:ext>
            </a:extLst>
          </p:cNvPr>
          <p:cNvSpPr>
            <a:spLocks/>
          </p:cNvSpPr>
          <p:nvPr/>
        </p:nvSpPr>
        <p:spPr bwMode="auto">
          <a:xfrm>
            <a:off x="2760663" y="2332038"/>
            <a:ext cx="3906837" cy="3473450"/>
          </a:xfrm>
          <a:custGeom>
            <a:avLst/>
            <a:gdLst>
              <a:gd name="T0" fmla="*/ 1221 w 2461"/>
              <a:gd name="T1" fmla="*/ 0 h 2188"/>
              <a:gd name="T2" fmla="*/ 1216 w 2461"/>
              <a:gd name="T3" fmla="*/ 0 h 2188"/>
              <a:gd name="T4" fmla="*/ 0 w 2461"/>
              <a:gd name="T5" fmla="*/ 2180 h 2188"/>
              <a:gd name="T6" fmla="*/ 0 w 2461"/>
              <a:gd name="T7" fmla="*/ 2187 h 2188"/>
              <a:gd name="T8" fmla="*/ 2460 w 2461"/>
              <a:gd name="T9" fmla="*/ 2187 h 2188"/>
              <a:gd name="T10" fmla="*/ 2460 w 2461"/>
              <a:gd name="T11" fmla="*/ 2180 h 2188"/>
              <a:gd name="T12" fmla="*/ 1221 w 2461"/>
              <a:gd name="T13" fmla="*/ 0 h 2188"/>
              <a:gd name="T14" fmla="*/ 1216 w 2461"/>
              <a:gd name="T15" fmla="*/ 6 h 2188"/>
              <a:gd name="T16" fmla="*/ 2453 w 2461"/>
              <a:gd name="T17" fmla="*/ 2187 h 2188"/>
              <a:gd name="T18" fmla="*/ 2456 w 2461"/>
              <a:gd name="T19" fmla="*/ 2180 h 2188"/>
              <a:gd name="T20" fmla="*/ 3 w 2461"/>
              <a:gd name="T21" fmla="*/ 2180 h 2188"/>
              <a:gd name="T22" fmla="*/ 6 w 2461"/>
              <a:gd name="T23" fmla="*/ 2187 h 2188"/>
              <a:gd name="T24" fmla="*/ 1221 w 2461"/>
              <a:gd name="T25" fmla="*/ 6 h 2188"/>
              <a:gd name="T26" fmla="*/ 1216 w 2461"/>
              <a:gd name="T27" fmla="*/ 6 h 2188"/>
              <a:gd name="T28" fmla="*/ 1221 w 2461"/>
              <a:gd name="T29" fmla="*/ 0 h 2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461" h="2188">
                <a:moveTo>
                  <a:pt x="1221" y="0"/>
                </a:moveTo>
                <a:lnTo>
                  <a:pt x="1216" y="0"/>
                </a:lnTo>
                <a:lnTo>
                  <a:pt x="0" y="2180"/>
                </a:lnTo>
                <a:lnTo>
                  <a:pt x="0" y="2187"/>
                </a:lnTo>
                <a:lnTo>
                  <a:pt x="2460" y="2187"/>
                </a:lnTo>
                <a:lnTo>
                  <a:pt x="2460" y="2180"/>
                </a:lnTo>
                <a:lnTo>
                  <a:pt x="1221" y="0"/>
                </a:lnTo>
                <a:lnTo>
                  <a:pt x="1216" y="6"/>
                </a:lnTo>
                <a:lnTo>
                  <a:pt x="2453" y="2187"/>
                </a:lnTo>
                <a:lnTo>
                  <a:pt x="2456" y="2180"/>
                </a:lnTo>
                <a:lnTo>
                  <a:pt x="3" y="2180"/>
                </a:lnTo>
                <a:lnTo>
                  <a:pt x="6" y="2187"/>
                </a:lnTo>
                <a:lnTo>
                  <a:pt x="1221" y="6"/>
                </a:lnTo>
                <a:lnTo>
                  <a:pt x="1216" y="6"/>
                </a:lnTo>
                <a:lnTo>
                  <a:pt x="1221" y="0"/>
                </a:lnTo>
              </a:path>
            </a:pathLst>
          </a:custGeom>
          <a:solidFill>
            <a:srgbClr val="000000"/>
          </a:solidFill>
          <a:ln>
            <a:noFill/>
          </a:ln>
          <a:effectLst/>
          <a:extLst>
            <a:ext uri="{91240B29-F687-4F45-9708-019B960494DF}">
              <a14:hiddenLine xmlns:a14="http://schemas.microsoft.com/office/drawing/2010/main" w="9525" cap="rnd">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18" name="Freeform 6">
            <a:extLst>
              <a:ext uri="{FF2B5EF4-FFF2-40B4-BE49-F238E27FC236}">
                <a16:creationId xmlns:a16="http://schemas.microsoft.com/office/drawing/2014/main" id="{32C82D6C-51A1-4DC7-A299-16983EBA843A}"/>
              </a:ext>
            </a:extLst>
          </p:cNvPr>
          <p:cNvSpPr>
            <a:spLocks/>
          </p:cNvSpPr>
          <p:nvPr/>
        </p:nvSpPr>
        <p:spPr bwMode="auto">
          <a:xfrm>
            <a:off x="3051175" y="5613400"/>
            <a:ext cx="3308350" cy="42863"/>
          </a:xfrm>
          <a:custGeom>
            <a:avLst/>
            <a:gdLst>
              <a:gd name="T0" fmla="*/ 3 w 2084"/>
              <a:gd name="T1" fmla="*/ 0 h 27"/>
              <a:gd name="T2" fmla="*/ 0 w 2084"/>
              <a:gd name="T3" fmla="*/ 0 h 27"/>
              <a:gd name="T4" fmla="*/ 0 w 2084"/>
              <a:gd name="T5" fmla="*/ 15 h 27"/>
              <a:gd name="T6" fmla="*/ 3 w 2084"/>
              <a:gd name="T7" fmla="*/ 15 h 27"/>
              <a:gd name="T8" fmla="*/ 2079 w 2084"/>
              <a:gd name="T9" fmla="*/ 26 h 27"/>
              <a:gd name="T10" fmla="*/ 2083 w 2084"/>
              <a:gd name="T11" fmla="*/ 26 h 27"/>
              <a:gd name="T12" fmla="*/ 2083 w 2084"/>
              <a:gd name="T13" fmla="*/ 10 h 27"/>
              <a:gd name="T14" fmla="*/ 2079 w 2084"/>
              <a:gd name="T15" fmla="*/ 10 h 27"/>
              <a:gd name="T16" fmla="*/ 3 w 2084"/>
              <a:gd name="T17"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84" h="27">
                <a:moveTo>
                  <a:pt x="3" y="0"/>
                </a:moveTo>
                <a:lnTo>
                  <a:pt x="0" y="0"/>
                </a:lnTo>
                <a:lnTo>
                  <a:pt x="0" y="15"/>
                </a:lnTo>
                <a:lnTo>
                  <a:pt x="3" y="15"/>
                </a:lnTo>
                <a:lnTo>
                  <a:pt x="2079" y="26"/>
                </a:lnTo>
                <a:lnTo>
                  <a:pt x="2083" y="26"/>
                </a:lnTo>
                <a:lnTo>
                  <a:pt x="2083" y="10"/>
                </a:lnTo>
                <a:lnTo>
                  <a:pt x="2079" y="10"/>
                </a:lnTo>
                <a:lnTo>
                  <a:pt x="3" y="0"/>
                </a:lnTo>
              </a:path>
            </a:pathLst>
          </a:custGeom>
          <a:solidFill>
            <a:srgbClr val="000000"/>
          </a:solidFill>
          <a:ln>
            <a:noFill/>
          </a:ln>
          <a:effectLst/>
          <a:extLst>
            <a:ext uri="{91240B29-F687-4F45-9708-019B960494DF}">
              <a14:hiddenLine xmlns:a14="http://schemas.microsoft.com/office/drawing/2010/main" w="9525" cap="rnd">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19" name="Freeform 7">
            <a:extLst>
              <a:ext uri="{FF2B5EF4-FFF2-40B4-BE49-F238E27FC236}">
                <a16:creationId xmlns:a16="http://schemas.microsoft.com/office/drawing/2014/main" id="{E0FC6010-02DB-4812-9E43-18D2EE25E942}"/>
              </a:ext>
            </a:extLst>
          </p:cNvPr>
          <p:cNvSpPr>
            <a:spLocks/>
          </p:cNvSpPr>
          <p:nvPr/>
        </p:nvSpPr>
        <p:spPr bwMode="auto">
          <a:xfrm>
            <a:off x="6270625" y="5435600"/>
            <a:ext cx="185738" cy="369888"/>
          </a:xfrm>
          <a:custGeom>
            <a:avLst/>
            <a:gdLst>
              <a:gd name="T0" fmla="*/ 116 w 117"/>
              <a:gd name="T1" fmla="*/ 3 h 233"/>
              <a:gd name="T2" fmla="*/ 116 w 117"/>
              <a:gd name="T3" fmla="*/ 0 h 233"/>
              <a:gd name="T4" fmla="*/ 109 w 117"/>
              <a:gd name="T5" fmla="*/ 0 h 233"/>
              <a:gd name="T6" fmla="*/ 109 w 117"/>
              <a:gd name="T7" fmla="*/ 3 h 233"/>
              <a:gd name="T8" fmla="*/ 0 w 117"/>
              <a:gd name="T9" fmla="*/ 228 h 233"/>
              <a:gd name="T10" fmla="*/ 0 w 117"/>
              <a:gd name="T11" fmla="*/ 232 h 233"/>
              <a:gd name="T12" fmla="*/ 4 w 117"/>
              <a:gd name="T13" fmla="*/ 232 h 233"/>
              <a:gd name="T14" fmla="*/ 4 w 117"/>
              <a:gd name="T15" fmla="*/ 228 h 233"/>
              <a:gd name="T16" fmla="*/ 116 w 117"/>
              <a:gd name="T17" fmla="*/ 3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7" h="233">
                <a:moveTo>
                  <a:pt x="116" y="3"/>
                </a:moveTo>
                <a:lnTo>
                  <a:pt x="116" y="0"/>
                </a:lnTo>
                <a:lnTo>
                  <a:pt x="109" y="0"/>
                </a:lnTo>
                <a:lnTo>
                  <a:pt x="109" y="3"/>
                </a:lnTo>
                <a:lnTo>
                  <a:pt x="0" y="228"/>
                </a:lnTo>
                <a:lnTo>
                  <a:pt x="0" y="232"/>
                </a:lnTo>
                <a:lnTo>
                  <a:pt x="4" y="232"/>
                </a:lnTo>
                <a:lnTo>
                  <a:pt x="4" y="228"/>
                </a:lnTo>
                <a:lnTo>
                  <a:pt x="116" y="3"/>
                </a:lnTo>
              </a:path>
            </a:pathLst>
          </a:custGeom>
          <a:solidFill>
            <a:srgbClr val="000000"/>
          </a:solidFill>
          <a:ln>
            <a:noFill/>
          </a:ln>
          <a:effectLst/>
          <a:extLst>
            <a:ext uri="{91240B29-F687-4F45-9708-019B960494DF}">
              <a14:hiddenLine xmlns:a14="http://schemas.microsoft.com/office/drawing/2010/main" w="9525" cap="rnd">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20" name="Freeform 8">
            <a:extLst>
              <a:ext uri="{FF2B5EF4-FFF2-40B4-BE49-F238E27FC236}">
                <a16:creationId xmlns:a16="http://schemas.microsoft.com/office/drawing/2014/main" id="{19B5D0BD-28FA-442A-AA35-6660A4A98A91}"/>
              </a:ext>
            </a:extLst>
          </p:cNvPr>
          <p:cNvSpPr>
            <a:spLocks/>
          </p:cNvSpPr>
          <p:nvPr/>
        </p:nvSpPr>
        <p:spPr bwMode="auto">
          <a:xfrm>
            <a:off x="2957513" y="5446713"/>
            <a:ext cx="184150" cy="354012"/>
          </a:xfrm>
          <a:custGeom>
            <a:avLst/>
            <a:gdLst>
              <a:gd name="T0" fmla="*/ 6 w 116"/>
              <a:gd name="T1" fmla="*/ 1 h 223"/>
              <a:gd name="T2" fmla="*/ 6 w 116"/>
              <a:gd name="T3" fmla="*/ 0 h 223"/>
              <a:gd name="T4" fmla="*/ 0 w 116"/>
              <a:gd name="T5" fmla="*/ 0 h 223"/>
              <a:gd name="T6" fmla="*/ 0 w 116"/>
              <a:gd name="T7" fmla="*/ 1 h 223"/>
              <a:gd name="T8" fmla="*/ 108 w 116"/>
              <a:gd name="T9" fmla="*/ 218 h 223"/>
              <a:gd name="T10" fmla="*/ 108 w 116"/>
              <a:gd name="T11" fmla="*/ 222 h 223"/>
              <a:gd name="T12" fmla="*/ 115 w 116"/>
              <a:gd name="T13" fmla="*/ 222 h 223"/>
              <a:gd name="T14" fmla="*/ 115 w 116"/>
              <a:gd name="T15" fmla="*/ 218 h 223"/>
              <a:gd name="T16" fmla="*/ 6 w 116"/>
              <a:gd name="T17" fmla="*/ 1 h 2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6" h="223">
                <a:moveTo>
                  <a:pt x="6" y="1"/>
                </a:moveTo>
                <a:lnTo>
                  <a:pt x="6" y="0"/>
                </a:lnTo>
                <a:lnTo>
                  <a:pt x="0" y="0"/>
                </a:lnTo>
                <a:lnTo>
                  <a:pt x="0" y="1"/>
                </a:lnTo>
                <a:lnTo>
                  <a:pt x="108" y="218"/>
                </a:lnTo>
                <a:lnTo>
                  <a:pt x="108" y="222"/>
                </a:lnTo>
                <a:lnTo>
                  <a:pt x="115" y="222"/>
                </a:lnTo>
                <a:lnTo>
                  <a:pt x="115" y="218"/>
                </a:lnTo>
                <a:lnTo>
                  <a:pt x="6" y="1"/>
                </a:lnTo>
              </a:path>
            </a:pathLst>
          </a:custGeom>
          <a:solidFill>
            <a:srgbClr val="000000"/>
          </a:solidFill>
          <a:ln>
            <a:noFill/>
          </a:ln>
          <a:effectLst/>
          <a:extLst>
            <a:ext uri="{91240B29-F687-4F45-9708-019B960494DF}">
              <a14:hiddenLine xmlns:a14="http://schemas.microsoft.com/office/drawing/2010/main" w="9525" cap="rnd">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21" name="Freeform 9">
            <a:extLst>
              <a:ext uri="{FF2B5EF4-FFF2-40B4-BE49-F238E27FC236}">
                <a16:creationId xmlns:a16="http://schemas.microsoft.com/office/drawing/2014/main" id="{CAF593FD-1E15-482E-B9C9-27CF24EBCB00}"/>
              </a:ext>
            </a:extLst>
          </p:cNvPr>
          <p:cNvSpPr>
            <a:spLocks/>
          </p:cNvSpPr>
          <p:nvPr/>
        </p:nvSpPr>
        <p:spPr bwMode="auto">
          <a:xfrm>
            <a:off x="3038475" y="2732088"/>
            <a:ext cx="1655763" cy="2890837"/>
          </a:xfrm>
          <a:custGeom>
            <a:avLst/>
            <a:gdLst>
              <a:gd name="T0" fmla="*/ 1042 w 1043"/>
              <a:gd name="T1" fmla="*/ 6 h 1821"/>
              <a:gd name="T2" fmla="*/ 1042 w 1043"/>
              <a:gd name="T3" fmla="*/ 0 h 1821"/>
              <a:gd name="T4" fmla="*/ 1035 w 1043"/>
              <a:gd name="T5" fmla="*/ 0 h 1821"/>
              <a:gd name="T6" fmla="*/ 0 w 1043"/>
              <a:gd name="T7" fmla="*/ 1815 h 1821"/>
              <a:gd name="T8" fmla="*/ 0 w 1043"/>
              <a:gd name="T9" fmla="*/ 1820 h 1821"/>
              <a:gd name="T10" fmla="*/ 6 w 1043"/>
              <a:gd name="T11" fmla="*/ 1820 h 1821"/>
              <a:gd name="T12" fmla="*/ 1042 w 1043"/>
              <a:gd name="T13" fmla="*/ 6 h 1821"/>
            </a:gdLst>
            <a:ahLst/>
            <a:cxnLst>
              <a:cxn ang="0">
                <a:pos x="T0" y="T1"/>
              </a:cxn>
              <a:cxn ang="0">
                <a:pos x="T2" y="T3"/>
              </a:cxn>
              <a:cxn ang="0">
                <a:pos x="T4" y="T5"/>
              </a:cxn>
              <a:cxn ang="0">
                <a:pos x="T6" y="T7"/>
              </a:cxn>
              <a:cxn ang="0">
                <a:pos x="T8" y="T9"/>
              </a:cxn>
              <a:cxn ang="0">
                <a:pos x="T10" y="T11"/>
              </a:cxn>
              <a:cxn ang="0">
                <a:pos x="T12" y="T13"/>
              </a:cxn>
            </a:cxnLst>
            <a:rect l="0" t="0" r="r" b="b"/>
            <a:pathLst>
              <a:path w="1043" h="1821">
                <a:moveTo>
                  <a:pt x="1042" y="6"/>
                </a:moveTo>
                <a:lnTo>
                  <a:pt x="1042" y="0"/>
                </a:lnTo>
                <a:lnTo>
                  <a:pt x="1035" y="0"/>
                </a:lnTo>
                <a:lnTo>
                  <a:pt x="0" y="1815"/>
                </a:lnTo>
                <a:lnTo>
                  <a:pt x="0" y="1820"/>
                </a:lnTo>
                <a:lnTo>
                  <a:pt x="6" y="1820"/>
                </a:lnTo>
                <a:lnTo>
                  <a:pt x="1042" y="6"/>
                </a:lnTo>
              </a:path>
            </a:pathLst>
          </a:custGeom>
          <a:solidFill>
            <a:srgbClr val="000000"/>
          </a:solidFill>
          <a:ln>
            <a:noFill/>
          </a:ln>
          <a:effectLst/>
          <a:extLst>
            <a:ext uri="{91240B29-F687-4F45-9708-019B960494DF}">
              <a14:hiddenLine xmlns:a14="http://schemas.microsoft.com/office/drawing/2010/main" w="9525" cap="rnd">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22" name="Freeform 10">
            <a:extLst>
              <a:ext uri="{FF2B5EF4-FFF2-40B4-BE49-F238E27FC236}">
                <a16:creationId xmlns:a16="http://schemas.microsoft.com/office/drawing/2014/main" id="{E8A67952-0EF0-4BB8-8543-A95649FFA308}"/>
              </a:ext>
            </a:extLst>
          </p:cNvPr>
          <p:cNvSpPr>
            <a:spLocks/>
          </p:cNvSpPr>
          <p:nvPr/>
        </p:nvSpPr>
        <p:spPr bwMode="auto">
          <a:xfrm>
            <a:off x="4687888" y="2727325"/>
            <a:ext cx="1674812" cy="2900363"/>
          </a:xfrm>
          <a:custGeom>
            <a:avLst/>
            <a:gdLst>
              <a:gd name="T0" fmla="*/ 4 w 1055"/>
              <a:gd name="T1" fmla="*/ 0 h 1827"/>
              <a:gd name="T2" fmla="*/ 0 w 1055"/>
              <a:gd name="T3" fmla="*/ 0 h 1827"/>
              <a:gd name="T4" fmla="*/ 0 w 1055"/>
              <a:gd name="T5" fmla="*/ 6 h 1827"/>
              <a:gd name="T6" fmla="*/ 1047 w 1055"/>
              <a:gd name="T7" fmla="*/ 1826 h 1827"/>
              <a:gd name="T8" fmla="*/ 1054 w 1055"/>
              <a:gd name="T9" fmla="*/ 1826 h 1827"/>
              <a:gd name="T10" fmla="*/ 1054 w 1055"/>
              <a:gd name="T11" fmla="*/ 1821 h 1827"/>
              <a:gd name="T12" fmla="*/ 4 w 1055"/>
              <a:gd name="T13" fmla="*/ 0 h 1827"/>
            </a:gdLst>
            <a:ahLst/>
            <a:cxnLst>
              <a:cxn ang="0">
                <a:pos x="T0" y="T1"/>
              </a:cxn>
              <a:cxn ang="0">
                <a:pos x="T2" y="T3"/>
              </a:cxn>
              <a:cxn ang="0">
                <a:pos x="T4" y="T5"/>
              </a:cxn>
              <a:cxn ang="0">
                <a:pos x="T6" y="T7"/>
              </a:cxn>
              <a:cxn ang="0">
                <a:pos x="T8" y="T9"/>
              </a:cxn>
              <a:cxn ang="0">
                <a:pos x="T10" y="T11"/>
              </a:cxn>
              <a:cxn ang="0">
                <a:pos x="T12" y="T13"/>
              </a:cxn>
            </a:cxnLst>
            <a:rect l="0" t="0" r="r" b="b"/>
            <a:pathLst>
              <a:path w="1055" h="1827">
                <a:moveTo>
                  <a:pt x="4" y="0"/>
                </a:moveTo>
                <a:lnTo>
                  <a:pt x="0" y="0"/>
                </a:lnTo>
                <a:lnTo>
                  <a:pt x="0" y="6"/>
                </a:lnTo>
                <a:lnTo>
                  <a:pt x="1047" y="1826"/>
                </a:lnTo>
                <a:lnTo>
                  <a:pt x="1054" y="1826"/>
                </a:lnTo>
                <a:lnTo>
                  <a:pt x="1054" y="1821"/>
                </a:lnTo>
                <a:lnTo>
                  <a:pt x="4" y="0"/>
                </a:lnTo>
              </a:path>
            </a:pathLst>
          </a:custGeom>
          <a:solidFill>
            <a:srgbClr val="000000"/>
          </a:solidFill>
          <a:ln>
            <a:noFill/>
          </a:ln>
          <a:effectLst/>
          <a:extLst>
            <a:ext uri="{91240B29-F687-4F45-9708-019B960494DF}">
              <a14:hiddenLine xmlns:a14="http://schemas.microsoft.com/office/drawing/2010/main" w="9525" cap="rnd">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23" name="Line 11">
            <a:extLst>
              <a:ext uri="{FF2B5EF4-FFF2-40B4-BE49-F238E27FC236}">
                <a16:creationId xmlns:a16="http://schemas.microsoft.com/office/drawing/2014/main" id="{7F0A3395-05B2-4189-841E-5BED053F7604}"/>
              </a:ext>
            </a:extLst>
          </p:cNvPr>
          <p:cNvSpPr>
            <a:spLocks noChangeShapeType="1"/>
          </p:cNvSpPr>
          <p:nvPr/>
        </p:nvSpPr>
        <p:spPr bwMode="auto">
          <a:xfrm flipH="1">
            <a:off x="4648200" y="2525713"/>
            <a:ext cx="407988" cy="93662"/>
          </a:xfrm>
          <a:prstGeom prst="line">
            <a:avLst/>
          </a:prstGeom>
          <a:noFill/>
          <a:ln w="12700">
            <a:solidFill>
              <a:srgbClr val="FF66CC"/>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24" name="Line 12">
            <a:extLst>
              <a:ext uri="{FF2B5EF4-FFF2-40B4-BE49-F238E27FC236}">
                <a16:creationId xmlns:a16="http://schemas.microsoft.com/office/drawing/2014/main" id="{110CA5E9-2894-4697-9E97-6FC3881CED21}"/>
              </a:ext>
            </a:extLst>
          </p:cNvPr>
          <p:cNvSpPr>
            <a:spLocks noChangeShapeType="1"/>
          </p:cNvSpPr>
          <p:nvPr/>
        </p:nvSpPr>
        <p:spPr bwMode="auto">
          <a:xfrm>
            <a:off x="2811463" y="5276850"/>
            <a:ext cx="114300" cy="390525"/>
          </a:xfrm>
          <a:prstGeom prst="line">
            <a:avLst/>
          </a:prstGeom>
          <a:noFill/>
          <a:ln w="12700">
            <a:solidFill>
              <a:srgbClr val="FF66CC"/>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25" name="Rectangle 13">
            <a:extLst>
              <a:ext uri="{FF2B5EF4-FFF2-40B4-BE49-F238E27FC236}">
                <a16:creationId xmlns:a16="http://schemas.microsoft.com/office/drawing/2014/main" id="{830D263F-F172-4F04-B45D-F6B61FAB1214}"/>
              </a:ext>
            </a:extLst>
          </p:cNvPr>
          <p:cNvSpPr>
            <a:spLocks noChangeArrowheads="1"/>
          </p:cNvSpPr>
          <p:nvPr/>
        </p:nvSpPr>
        <p:spPr bwMode="auto">
          <a:xfrm>
            <a:off x="4208463" y="1946275"/>
            <a:ext cx="862012"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600" b="1">
                <a:solidFill>
                  <a:srgbClr val="FF66CC"/>
                </a:solidFill>
                <a:effectLst>
                  <a:outerShdw blurRad="38100" dist="38100" dir="2700000" algn="tl">
                    <a:srgbClr val="000000"/>
                  </a:outerShdw>
                </a:effectLst>
                <a:latin typeface="Arial" panose="020B0604020202020204" pitchFamily="34" charset="0"/>
              </a:rPr>
              <a:t>Olivine</a:t>
            </a:r>
          </a:p>
        </p:txBody>
      </p:sp>
      <p:sp>
        <p:nvSpPr>
          <p:cNvPr id="13326" name="Rectangle 14">
            <a:extLst>
              <a:ext uri="{FF2B5EF4-FFF2-40B4-BE49-F238E27FC236}">
                <a16:creationId xmlns:a16="http://schemas.microsoft.com/office/drawing/2014/main" id="{E019A527-5F31-42C1-BC7A-795FC18D5374}"/>
              </a:ext>
            </a:extLst>
          </p:cNvPr>
          <p:cNvSpPr>
            <a:spLocks noChangeArrowheads="1"/>
          </p:cNvSpPr>
          <p:nvPr/>
        </p:nvSpPr>
        <p:spPr bwMode="auto">
          <a:xfrm>
            <a:off x="6246813" y="5842000"/>
            <a:ext cx="1595437"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600" b="1">
                <a:solidFill>
                  <a:srgbClr val="FF66CC"/>
                </a:solidFill>
                <a:effectLst>
                  <a:outerShdw blurRad="38100" dist="38100" dir="2700000" algn="tl">
                    <a:srgbClr val="000000"/>
                  </a:outerShdw>
                </a:effectLst>
                <a:latin typeface="Arial" panose="020B0604020202020204" pitchFamily="34" charset="0"/>
              </a:rPr>
              <a:t>Clinopyroxene</a:t>
            </a:r>
          </a:p>
        </p:txBody>
      </p:sp>
      <p:sp>
        <p:nvSpPr>
          <p:cNvPr id="13327" name="Rectangle 15">
            <a:extLst>
              <a:ext uri="{FF2B5EF4-FFF2-40B4-BE49-F238E27FC236}">
                <a16:creationId xmlns:a16="http://schemas.microsoft.com/office/drawing/2014/main" id="{DDC5636D-0AFB-440D-84CD-0D8FE673BA3A}"/>
              </a:ext>
            </a:extLst>
          </p:cNvPr>
          <p:cNvSpPr>
            <a:spLocks noChangeArrowheads="1"/>
          </p:cNvSpPr>
          <p:nvPr/>
        </p:nvSpPr>
        <p:spPr bwMode="auto">
          <a:xfrm>
            <a:off x="1995488" y="5816600"/>
            <a:ext cx="164147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600" b="1">
                <a:solidFill>
                  <a:srgbClr val="FF66CC"/>
                </a:solidFill>
                <a:effectLst>
                  <a:outerShdw blurRad="38100" dist="38100" dir="2700000" algn="tl">
                    <a:srgbClr val="000000"/>
                  </a:outerShdw>
                </a:effectLst>
                <a:latin typeface="Arial" panose="020B0604020202020204" pitchFamily="34" charset="0"/>
              </a:rPr>
              <a:t>Orthopyroxene</a:t>
            </a:r>
          </a:p>
        </p:txBody>
      </p:sp>
      <p:sp>
        <p:nvSpPr>
          <p:cNvPr id="13328" name="Rectangle 16">
            <a:extLst>
              <a:ext uri="{FF2B5EF4-FFF2-40B4-BE49-F238E27FC236}">
                <a16:creationId xmlns:a16="http://schemas.microsoft.com/office/drawing/2014/main" id="{C1D21FD5-DF2B-4831-AAA0-054F83F0D907}"/>
              </a:ext>
            </a:extLst>
          </p:cNvPr>
          <p:cNvSpPr>
            <a:spLocks noChangeArrowheads="1"/>
          </p:cNvSpPr>
          <p:nvPr/>
        </p:nvSpPr>
        <p:spPr bwMode="auto">
          <a:xfrm>
            <a:off x="4144963" y="3713163"/>
            <a:ext cx="1144587"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600" b="1">
                <a:solidFill>
                  <a:srgbClr val="FF5050"/>
                </a:solidFill>
                <a:effectLst>
                  <a:outerShdw blurRad="38100" dist="38100" dir="2700000" algn="tl">
                    <a:srgbClr val="000000"/>
                  </a:outerShdw>
                </a:effectLst>
                <a:latin typeface="Arial" panose="020B0604020202020204" pitchFamily="34" charset="0"/>
              </a:rPr>
              <a:t>Lherzolite</a:t>
            </a:r>
          </a:p>
        </p:txBody>
      </p:sp>
      <p:sp>
        <p:nvSpPr>
          <p:cNvPr id="13329" name="Rectangle 17">
            <a:extLst>
              <a:ext uri="{FF2B5EF4-FFF2-40B4-BE49-F238E27FC236}">
                <a16:creationId xmlns:a16="http://schemas.microsoft.com/office/drawing/2014/main" id="{EB4BEEAC-2736-4AF3-B2A2-3A9CC937F399}"/>
              </a:ext>
            </a:extLst>
          </p:cNvPr>
          <p:cNvSpPr>
            <a:spLocks noChangeArrowheads="1"/>
          </p:cNvSpPr>
          <p:nvPr/>
        </p:nvSpPr>
        <p:spPr bwMode="auto">
          <a:xfrm rot="17925000">
            <a:off x="3414713" y="3748088"/>
            <a:ext cx="1030287"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200" b="1">
                <a:solidFill>
                  <a:srgbClr val="000000"/>
                </a:solidFill>
                <a:latin typeface="Arial" panose="020B0604020202020204" pitchFamily="34" charset="0"/>
              </a:rPr>
              <a:t>Harzburgite</a:t>
            </a:r>
          </a:p>
        </p:txBody>
      </p:sp>
      <p:sp>
        <p:nvSpPr>
          <p:cNvPr id="13330" name="Rectangle 18">
            <a:extLst>
              <a:ext uri="{FF2B5EF4-FFF2-40B4-BE49-F238E27FC236}">
                <a16:creationId xmlns:a16="http://schemas.microsoft.com/office/drawing/2014/main" id="{C05A262D-75F8-4637-A653-E7C0845168DF}"/>
              </a:ext>
            </a:extLst>
          </p:cNvPr>
          <p:cNvSpPr>
            <a:spLocks noChangeArrowheads="1"/>
          </p:cNvSpPr>
          <p:nvPr/>
        </p:nvSpPr>
        <p:spPr bwMode="auto">
          <a:xfrm rot="3536250">
            <a:off x="4929188" y="3511550"/>
            <a:ext cx="785812"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200" b="1">
                <a:solidFill>
                  <a:srgbClr val="000000"/>
                </a:solidFill>
                <a:latin typeface="Arial" panose="020B0604020202020204" pitchFamily="34" charset="0"/>
              </a:rPr>
              <a:t>Wehrlite</a:t>
            </a:r>
          </a:p>
        </p:txBody>
      </p:sp>
      <p:sp>
        <p:nvSpPr>
          <p:cNvPr id="13331" name="Rectangle 19">
            <a:extLst>
              <a:ext uri="{FF2B5EF4-FFF2-40B4-BE49-F238E27FC236}">
                <a16:creationId xmlns:a16="http://schemas.microsoft.com/office/drawing/2014/main" id="{0B648E2F-8175-420D-ADDF-0EDE9BB5EF9E}"/>
              </a:ext>
            </a:extLst>
          </p:cNvPr>
          <p:cNvSpPr>
            <a:spLocks noChangeArrowheads="1"/>
          </p:cNvSpPr>
          <p:nvPr/>
        </p:nvSpPr>
        <p:spPr bwMode="auto">
          <a:xfrm>
            <a:off x="4214813" y="5578475"/>
            <a:ext cx="963612"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200" b="1">
                <a:solidFill>
                  <a:srgbClr val="000000"/>
                </a:solidFill>
                <a:latin typeface="Arial" panose="020B0604020202020204" pitchFamily="34" charset="0"/>
              </a:rPr>
              <a:t>Websterite</a:t>
            </a:r>
          </a:p>
        </p:txBody>
      </p:sp>
      <p:sp>
        <p:nvSpPr>
          <p:cNvPr id="13332" name="Rectangle 20">
            <a:extLst>
              <a:ext uri="{FF2B5EF4-FFF2-40B4-BE49-F238E27FC236}">
                <a16:creationId xmlns:a16="http://schemas.microsoft.com/office/drawing/2014/main" id="{0D88E546-713C-47ED-8E2E-E666623B5B5C}"/>
              </a:ext>
            </a:extLst>
          </p:cNvPr>
          <p:cNvSpPr>
            <a:spLocks noChangeArrowheads="1"/>
          </p:cNvSpPr>
          <p:nvPr/>
        </p:nvSpPr>
        <p:spPr bwMode="auto">
          <a:xfrm>
            <a:off x="1643063" y="4968875"/>
            <a:ext cx="1370012"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200" b="1">
                <a:solidFill>
                  <a:srgbClr val="FFFF00"/>
                </a:solidFill>
                <a:effectLst>
                  <a:outerShdw blurRad="38100" dist="38100" dir="2700000" algn="tl">
                    <a:srgbClr val="000000"/>
                  </a:outerShdw>
                </a:effectLst>
                <a:latin typeface="Arial" panose="020B0604020202020204" pitchFamily="34" charset="0"/>
              </a:rPr>
              <a:t>Orthopyroxenite</a:t>
            </a:r>
          </a:p>
        </p:txBody>
      </p:sp>
      <p:sp>
        <p:nvSpPr>
          <p:cNvPr id="13333" name="Rectangle 21">
            <a:extLst>
              <a:ext uri="{FF2B5EF4-FFF2-40B4-BE49-F238E27FC236}">
                <a16:creationId xmlns:a16="http://schemas.microsoft.com/office/drawing/2014/main" id="{C8AC9E13-7025-41FC-A8AE-49E09411F3B8}"/>
              </a:ext>
            </a:extLst>
          </p:cNvPr>
          <p:cNvSpPr>
            <a:spLocks noChangeArrowheads="1"/>
          </p:cNvSpPr>
          <p:nvPr/>
        </p:nvSpPr>
        <p:spPr bwMode="auto">
          <a:xfrm>
            <a:off x="4854575" y="5757863"/>
            <a:ext cx="1335088"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200" b="1">
                <a:solidFill>
                  <a:srgbClr val="FFFF00"/>
                </a:solidFill>
                <a:effectLst>
                  <a:outerShdw blurRad="38100" dist="38100" dir="2700000" algn="tl">
                    <a:srgbClr val="000000"/>
                  </a:outerShdw>
                </a:effectLst>
                <a:latin typeface="Arial" panose="020B0604020202020204" pitchFamily="34" charset="0"/>
              </a:rPr>
              <a:t>Clinopyroxenite</a:t>
            </a:r>
          </a:p>
        </p:txBody>
      </p:sp>
      <p:sp>
        <p:nvSpPr>
          <p:cNvPr id="13334" name="Rectangle 22">
            <a:extLst>
              <a:ext uri="{FF2B5EF4-FFF2-40B4-BE49-F238E27FC236}">
                <a16:creationId xmlns:a16="http://schemas.microsoft.com/office/drawing/2014/main" id="{AB8A7CE6-7596-4C25-8978-0740C02DFAFF}"/>
              </a:ext>
            </a:extLst>
          </p:cNvPr>
          <p:cNvSpPr>
            <a:spLocks noChangeArrowheads="1"/>
          </p:cNvSpPr>
          <p:nvPr/>
        </p:nvSpPr>
        <p:spPr bwMode="auto">
          <a:xfrm>
            <a:off x="3862388" y="4894263"/>
            <a:ext cx="15144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200" b="1">
                <a:solidFill>
                  <a:srgbClr val="000000"/>
                </a:solidFill>
                <a:latin typeface="Arial" panose="020B0604020202020204" pitchFamily="34" charset="0"/>
              </a:rPr>
              <a:t>Olivine Websterite</a:t>
            </a:r>
          </a:p>
        </p:txBody>
      </p:sp>
      <p:sp>
        <p:nvSpPr>
          <p:cNvPr id="13335" name="Rectangle 23">
            <a:extLst>
              <a:ext uri="{FF2B5EF4-FFF2-40B4-BE49-F238E27FC236}">
                <a16:creationId xmlns:a16="http://schemas.microsoft.com/office/drawing/2014/main" id="{E76720AC-EA77-4B0B-8D0C-AB0AC619D4DC}"/>
              </a:ext>
            </a:extLst>
          </p:cNvPr>
          <p:cNvSpPr>
            <a:spLocks noChangeArrowheads="1"/>
          </p:cNvSpPr>
          <p:nvPr/>
        </p:nvSpPr>
        <p:spPr bwMode="auto">
          <a:xfrm>
            <a:off x="6535738" y="3176588"/>
            <a:ext cx="123507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600" b="1">
                <a:solidFill>
                  <a:srgbClr val="FFFF00"/>
                </a:solidFill>
                <a:effectLst>
                  <a:outerShdw blurRad="38100" dist="38100" dir="2700000" algn="tl">
                    <a:srgbClr val="000000"/>
                  </a:outerShdw>
                </a:effectLst>
                <a:latin typeface="Arial" panose="020B0604020202020204" pitchFamily="34" charset="0"/>
              </a:rPr>
              <a:t>Peridotites</a:t>
            </a:r>
          </a:p>
        </p:txBody>
      </p:sp>
      <p:sp>
        <p:nvSpPr>
          <p:cNvPr id="13336" name="Rectangle 24">
            <a:extLst>
              <a:ext uri="{FF2B5EF4-FFF2-40B4-BE49-F238E27FC236}">
                <a16:creationId xmlns:a16="http://schemas.microsoft.com/office/drawing/2014/main" id="{B1DFE428-ADA2-40D1-8E3C-EB7FDA6897D7}"/>
              </a:ext>
            </a:extLst>
          </p:cNvPr>
          <p:cNvSpPr>
            <a:spLocks noChangeArrowheads="1"/>
          </p:cNvSpPr>
          <p:nvPr/>
        </p:nvSpPr>
        <p:spPr bwMode="auto">
          <a:xfrm>
            <a:off x="6581775" y="4846638"/>
            <a:ext cx="133667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600" b="1">
                <a:solidFill>
                  <a:srgbClr val="FFFF00"/>
                </a:solidFill>
                <a:effectLst>
                  <a:outerShdw blurRad="38100" dist="38100" dir="2700000" algn="tl">
                    <a:srgbClr val="000000"/>
                  </a:outerShdw>
                </a:effectLst>
                <a:latin typeface="Arial" panose="020B0604020202020204" pitchFamily="34" charset="0"/>
              </a:rPr>
              <a:t>Pyroxenites</a:t>
            </a:r>
          </a:p>
        </p:txBody>
      </p:sp>
      <p:sp>
        <p:nvSpPr>
          <p:cNvPr id="13337" name="Line 25">
            <a:extLst>
              <a:ext uri="{FF2B5EF4-FFF2-40B4-BE49-F238E27FC236}">
                <a16:creationId xmlns:a16="http://schemas.microsoft.com/office/drawing/2014/main" id="{CABFA46E-ADAB-431C-8488-D28BF89FE30D}"/>
              </a:ext>
            </a:extLst>
          </p:cNvPr>
          <p:cNvSpPr>
            <a:spLocks noChangeShapeType="1"/>
          </p:cNvSpPr>
          <p:nvPr/>
        </p:nvSpPr>
        <p:spPr bwMode="auto">
          <a:xfrm>
            <a:off x="4797425" y="2332038"/>
            <a:ext cx="3201988" cy="0"/>
          </a:xfrm>
          <a:prstGeom prst="line">
            <a:avLst/>
          </a:prstGeom>
          <a:noFill/>
          <a:ln w="12700">
            <a:solidFill>
              <a:srgbClr val="FFFF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38" name="Line 26">
            <a:extLst>
              <a:ext uri="{FF2B5EF4-FFF2-40B4-BE49-F238E27FC236}">
                <a16:creationId xmlns:a16="http://schemas.microsoft.com/office/drawing/2014/main" id="{AE059693-A67F-4AF8-87B5-AAD19EC410D6}"/>
              </a:ext>
            </a:extLst>
          </p:cNvPr>
          <p:cNvSpPr>
            <a:spLocks noChangeShapeType="1"/>
          </p:cNvSpPr>
          <p:nvPr/>
        </p:nvSpPr>
        <p:spPr bwMode="auto">
          <a:xfrm>
            <a:off x="6065838" y="4546600"/>
            <a:ext cx="1970087" cy="0"/>
          </a:xfrm>
          <a:prstGeom prst="line">
            <a:avLst/>
          </a:prstGeom>
          <a:noFill/>
          <a:ln w="12700">
            <a:solidFill>
              <a:srgbClr val="FFFF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39" name="Line 27">
            <a:extLst>
              <a:ext uri="{FF2B5EF4-FFF2-40B4-BE49-F238E27FC236}">
                <a16:creationId xmlns:a16="http://schemas.microsoft.com/office/drawing/2014/main" id="{4BB8B9E4-5A7E-4A86-BDCA-61EE96519047}"/>
              </a:ext>
            </a:extLst>
          </p:cNvPr>
          <p:cNvSpPr>
            <a:spLocks noChangeShapeType="1"/>
          </p:cNvSpPr>
          <p:nvPr/>
        </p:nvSpPr>
        <p:spPr bwMode="auto">
          <a:xfrm flipV="1">
            <a:off x="6724650" y="5791200"/>
            <a:ext cx="1316038" cy="3175"/>
          </a:xfrm>
          <a:prstGeom prst="line">
            <a:avLst/>
          </a:prstGeom>
          <a:noFill/>
          <a:ln w="12700">
            <a:solidFill>
              <a:srgbClr val="FFFF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40" name="Line 28">
            <a:extLst>
              <a:ext uri="{FF2B5EF4-FFF2-40B4-BE49-F238E27FC236}">
                <a16:creationId xmlns:a16="http://schemas.microsoft.com/office/drawing/2014/main" id="{8C87EC9B-78BA-4AE6-90BF-688E991F862E}"/>
              </a:ext>
            </a:extLst>
          </p:cNvPr>
          <p:cNvSpPr>
            <a:spLocks noChangeShapeType="1"/>
          </p:cNvSpPr>
          <p:nvPr/>
        </p:nvSpPr>
        <p:spPr bwMode="auto">
          <a:xfrm>
            <a:off x="7243763" y="4551363"/>
            <a:ext cx="0" cy="395287"/>
          </a:xfrm>
          <a:prstGeom prst="line">
            <a:avLst/>
          </a:prstGeom>
          <a:noFill/>
          <a:ln w="12700">
            <a:solidFill>
              <a:srgbClr val="FFFF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41" name="Freeform 29">
            <a:extLst>
              <a:ext uri="{FF2B5EF4-FFF2-40B4-BE49-F238E27FC236}">
                <a16:creationId xmlns:a16="http://schemas.microsoft.com/office/drawing/2014/main" id="{7EF58AF4-39FC-4B4D-B649-1CD646F42D1B}"/>
              </a:ext>
            </a:extLst>
          </p:cNvPr>
          <p:cNvSpPr>
            <a:spLocks/>
          </p:cNvSpPr>
          <p:nvPr/>
        </p:nvSpPr>
        <p:spPr bwMode="auto">
          <a:xfrm>
            <a:off x="7216775" y="4551363"/>
            <a:ext cx="63500" cy="66675"/>
          </a:xfrm>
          <a:custGeom>
            <a:avLst/>
            <a:gdLst>
              <a:gd name="T0" fmla="*/ 39 w 40"/>
              <a:gd name="T1" fmla="*/ 41 h 42"/>
              <a:gd name="T2" fmla="*/ 17 w 40"/>
              <a:gd name="T3" fmla="*/ 0 h 42"/>
              <a:gd name="T4" fmla="*/ 0 w 40"/>
              <a:gd name="T5" fmla="*/ 41 h 42"/>
              <a:gd name="T6" fmla="*/ 17 w 40"/>
              <a:gd name="T7" fmla="*/ 19 h 42"/>
              <a:gd name="T8" fmla="*/ 39 w 40"/>
              <a:gd name="T9" fmla="*/ 41 h 42"/>
            </a:gdLst>
            <a:ahLst/>
            <a:cxnLst>
              <a:cxn ang="0">
                <a:pos x="T0" y="T1"/>
              </a:cxn>
              <a:cxn ang="0">
                <a:pos x="T2" y="T3"/>
              </a:cxn>
              <a:cxn ang="0">
                <a:pos x="T4" y="T5"/>
              </a:cxn>
              <a:cxn ang="0">
                <a:pos x="T6" y="T7"/>
              </a:cxn>
              <a:cxn ang="0">
                <a:pos x="T8" y="T9"/>
              </a:cxn>
            </a:cxnLst>
            <a:rect l="0" t="0" r="r" b="b"/>
            <a:pathLst>
              <a:path w="40" h="42">
                <a:moveTo>
                  <a:pt x="39" y="41"/>
                </a:moveTo>
                <a:lnTo>
                  <a:pt x="17" y="0"/>
                </a:lnTo>
                <a:lnTo>
                  <a:pt x="0" y="41"/>
                </a:lnTo>
                <a:lnTo>
                  <a:pt x="17" y="19"/>
                </a:lnTo>
                <a:lnTo>
                  <a:pt x="39" y="41"/>
                </a:lnTo>
              </a:path>
            </a:pathLst>
          </a:custGeom>
          <a:solidFill>
            <a:srgbClr val="FFFF00"/>
          </a:solidFill>
          <a:ln w="12700" cap="rnd" cmpd="sng">
            <a:solidFill>
              <a:srgbClr val="FFFF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42" name="Line 30">
            <a:extLst>
              <a:ext uri="{FF2B5EF4-FFF2-40B4-BE49-F238E27FC236}">
                <a16:creationId xmlns:a16="http://schemas.microsoft.com/office/drawing/2014/main" id="{6F8E8404-723C-4C44-951F-FC6ED06DA5CE}"/>
              </a:ext>
            </a:extLst>
          </p:cNvPr>
          <p:cNvSpPr>
            <a:spLocks noChangeShapeType="1"/>
          </p:cNvSpPr>
          <p:nvPr/>
        </p:nvSpPr>
        <p:spPr bwMode="auto">
          <a:xfrm>
            <a:off x="7243763" y="5108575"/>
            <a:ext cx="0" cy="682625"/>
          </a:xfrm>
          <a:prstGeom prst="line">
            <a:avLst/>
          </a:prstGeom>
          <a:noFill/>
          <a:ln w="12700">
            <a:solidFill>
              <a:srgbClr val="FFFF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43" name="Freeform 31">
            <a:extLst>
              <a:ext uri="{FF2B5EF4-FFF2-40B4-BE49-F238E27FC236}">
                <a16:creationId xmlns:a16="http://schemas.microsoft.com/office/drawing/2014/main" id="{24424DCD-ED80-43E8-B85B-254686A4EAFB}"/>
              </a:ext>
            </a:extLst>
          </p:cNvPr>
          <p:cNvSpPr>
            <a:spLocks/>
          </p:cNvSpPr>
          <p:nvPr/>
        </p:nvSpPr>
        <p:spPr bwMode="auto">
          <a:xfrm>
            <a:off x="7216775" y="5727700"/>
            <a:ext cx="63500" cy="65088"/>
          </a:xfrm>
          <a:custGeom>
            <a:avLst/>
            <a:gdLst>
              <a:gd name="T0" fmla="*/ 39 w 40"/>
              <a:gd name="T1" fmla="*/ 0 h 41"/>
              <a:gd name="T2" fmla="*/ 17 w 40"/>
              <a:gd name="T3" fmla="*/ 40 h 41"/>
              <a:gd name="T4" fmla="*/ 0 w 40"/>
              <a:gd name="T5" fmla="*/ 0 h 41"/>
              <a:gd name="T6" fmla="*/ 17 w 40"/>
              <a:gd name="T7" fmla="*/ 20 h 41"/>
              <a:gd name="T8" fmla="*/ 39 w 40"/>
              <a:gd name="T9" fmla="*/ 0 h 41"/>
            </a:gdLst>
            <a:ahLst/>
            <a:cxnLst>
              <a:cxn ang="0">
                <a:pos x="T0" y="T1"/>
              </a:cxn>
              <a:cxn ang="0">
                <a:pos x="T2" y="T3"/>
              </a:cxn>
              <a:cxn ang="0">
                <a:pos x="T4" y="T5"/>
              </a:cxn>
              <a:cxn ang="0">
                <a:pos x="T6" y="T7"/>
              </a:cxn>
              <a:cxn ang="0">
                <a:pos x="T8" y="T9"/>
              </a:cxn>
            </a:cxnLst>
            <a:rect l="0" t="0" r="r" b="b"/>
            <a:pathLst>
              <a:path w="40" h="41">
                <a:moveTo>
                  <a:pt x="39" y="0"/>
                </a:moveTo>
                <a:lnTo>
                  <a:pt x="17" y="40"/>
                </a:lnTo>
                <a:lnTo>
                  <a:pt x="0" y="0"/>
                </a:lnTo>
                <a:lnTo>
                  <a:pt x="17" y="20"/>
                </a:lnTo>
                <a:lnTo>
                  <a:pt x="39" y="0"/>
                </a:lnTo>
              </a:path>
            </a:pathLst>
          </a:custGeom>
          <a:solidFill>
            <a:srgbClr val="000000"/>
          </a:solidFill>
          <a:ln w="12700" cap="rnd" cmpd="sng">
            <a:solidFill>
              <a:srgbClr val="FFFF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44" name="Line 32">
            <a:extLst>
              <a:ext uri="{FF2B5EF4-FFF2-40B4-BE49-F238E27FC236}">
                <a16:creationId xmlns:a16="http://schemas.microsoft.com/office/drawing/2014/main" id="{43336AEA-A1C0-459E-83BC-D3AAB9027087}"/>
              </a:ext>
            </a:extLst>
          </p:cNvPr>
          <p:cNvSpPr>
            <a:spLocks noChangeShapeType="1"/>
          </p:cNvSpPr>
          <p:nvPr/>
        </p:nvSpPr>
        <p:spPr bwMode="auto">
          <a:xfrm>
            <a:off x="7243763" y="3455988"/>
            <a:ext cx="0" cy="1095375"/>
          </a:xfrm>
          <a:prstGeom prst="line">
            <a:avLst/>
          </a:prstGeom>
          <a:noFill/>
          <a:ln w="12700">
            <a:solidFill>
              <a:srgbClr val="FFFF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45" name="Freeform 33">
            <a:extLst>
              <a:ext uri="{FF2B5EF4-FFF2-40B4-BE49-F238E27FC236}">
                <a16:creationId xmlns:a16="http://schemas.microsoft.com/office/drawing/2014/main" id="{7130B798-E5BC-4F70-9270-D4405A8C7D96}"/>
              </a:ext>
            </a:extLst>
          </p:cNvPr>
          <p:cNvSpPr>
            <a:spLocks/>
          </p:cNvSpPr>
          <p:nvPr/>
        </p:nvSpPr>
        <p:spPr bwMode="auto">
          <a:xfrm>
            <a:off x="7216775" y="4487863"/>
            <a:ext cx="63500" cy="65087"/>
          </a:xfrm>
          <a:custGeom>
            <a:avLst/>
            <a:gdLst>
              <a:gd name="T0" fmla="*/ 39 w 40"/>
              <a:gd name="T1" fmla="*/ 0 h 41"/>
              <a:gd name="T2" fmla="*/ 17 w 40"/>
              <a:gd name="T3" fmla="*/ 40 h 41"/>
              <a:gd name="T4" fmla="*/ 0 w 40"/>
              <a:gd name="T5" fmla="*/ 0 h 41"/>
              <a:gd name="T6" fmla="*/ 17 w 40"/>
              <a:gd name="T7" fmla="*/ 19 h 41"/>
              <a:gd name="T8" fmla="*/ 39 w 40"/>
              <a:gd name="T9" fmla="*/ 0 h 41"/>
            </a:gdLst>
            <a:ahLst/>
            <a:cxnLst>
              <a:cxn ang="0">
                <a:pos x="T0" y="T1"/>
              </a:cxn>
              <a:cxn ang="0">
                <a:pos x="T2" y="T3"/>
              </a:cxn>
              <a:cxn ang="0">
                <a:pos x="T4" y="T5"/>
              </a:cxn>
              <a:cxn ang="0">
                <a:pos x="T6" y="T7"/>
              </a:cxn>
              <a:cxn ang="0">
                <a:pos x="T8" y="T9"/>
              </a:cxn>
            </a:cxnLst>
            <a:rect l="0" t="0" r="r" b="b"/>
            <a:pathLst>
              <a:path w="40" h="41">
                <a:moveTo>
                  <a:pt x="39" y="0"/>
                </a:moveTo>
                <a:lnTo>
                  <a:pt x="17" y="40"/>
                </a:lnTo>
                <a:lnTo>
                  <a:pt x="0" y="0"/>
                </a:lnTo>
                <a:lnTo>
                  <a:pt x="17" y="19"/>
                </a:lnTo>
                <a:lnTo>
                  <a:pt x="39" y="0"/>
                </a:lnTo>
              </a:path>
            </a:pathLst>
          </a:custGeom>
          <a:solidFill>
            <a:srgbClr val="FFFF00"/>
          </a:solidFill>
          <a:ln w="12700" cap="rnd" cmpd="sng">
            <a:solidFill>
              <a:srgbClr val="FFFF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46" name="Line 34">
            <a:extLst>
              <a:ext uri="{FF2B5EF4-FFF2-40B4-BE49-F238E27FC236}">
                <a16:creationId xmlns:a16="http://schemas.microsoft.com/office/drawing/2014/main" id="{D69D25BC-8BA4-4B11-BAA0-B00355B334A1}"/>
              </a:ext>
            </a:extLst>
          </p:cNvPr>
          <p:cNvSpPr>
            <a:spLocks noChangeShapeType="1"/>
          </p:cNvSpPr>
          <p:nvPr/>
        </p:nvSpPr>
        <p:spPr bwMode="auto">
          <a:xfrm>
            <a:off x="7246938" y="2338388"/>
            <a:ext cx="0" cy="885825"/>
          </a:xfrm>
          <a:prstGeom prst="line">
            <a:avLst/>
          </a:prstGeom>
          <a:noFill/>
          <a:ln w="12700">
            <a:solidFill>
              <a:srgbClr val="FFFF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47" name="Freeform 35">
            <a:extLst>
              <a:ext uri="{FF2B5EF4-FFF2-40B4-BE49-F238E27FC236}">
                <a16:creationId xmlns:a16="http://schemas.microsoft.com/office/drawing/2014/main" id="{C73C14A2-5C6D-48BD-B3F2-6E54EBB8844C}"/>
              </a:ext>
            </a:extLst>
          </p:cNvPr>
          <p:cNvSpPr>
            <a:spLocks/>
          </p:cNvSpPr>
          <p:nvPr/>
        </p:nvSpPr>
        <p:spPr bwMode="auto">
          <a:xfrm>
            <a:off x="7221538" y="2338388"/>
            <a:ext cx="63500" cy="65087"/>
          </a:xfrm>
          <a:custGeom>
            <a:avLst/>
            <a:gdLst>
              <a:gd name="T0" fmla="*/ 39 w 40"/>
              <a:gd name="T1" fmla="*/ 40 h 41"/>
              <a:gd name="T2" fmla="*/ 17 w 40"/>
              <a:gd name="T3" fmla="*/ 0 h 41"/>
              <a:gd name="T4" fmla="*/ 0 w 40"/>
              <a:gd name="T5" fmla="*/ 40 h 41"/>
              <a:gd name="T6" fmla="*/ 17 w 40"/>
              <a:gd name="T7" fmla="*/ 17 h 41"/>
              <a:gd name="T8" fmla="*/ 39 w 40"/>
              <a:gd name="T9" fmla="*/ 40 h 41"/>
            </a:gdLst>
            <a:ahLst/>
            <a:cxnLst>
              <a:cxn ang="0">
                <a:pos x="T0" y="T1"/>
              </a:cxn>
              <a:cxn ang="0">
                <a:pos x="T2" y="T3"/>
              </a:cxn>
              <a:cxn ang="0">
                <a:pos x="T4" y="T5"/>
              </a:cxn>
              <a:cxn ang="0">
                <a:pos x="T6" y="T7"/>
              </a:cxn>
              <a:cxn ang="0">
                <a:pos x="T8" y="T9"/>
              </a:cxn>
            </a:cxnLst>
            <a:rect l="0" t="0" r="r" b="b"/>
            <a:pathLst>
              <a:path w="40" h="41">
                <a:moveTo>
                  <a:pt x="39" y="40"/>
                </a:moveTo>
                <a:lnTo>
                  <a:pt x="17" y="0"/>
                </a:lnTo>
                <a:lnTo>
                  <a:pt x="0" y="40"/>
                </a:lnTo>
                <a:lnTo>
                  <a:pt x="17" y="17"/>
                </a:lnTo>
                <a:lnTo>
                  <a:pt x="39" y="40"/>
                </a:lnTo>
              </a:path>
            </a:pathLst>
          </a:custGeom>
          <a:solidFill>
            <a:srgbClr val="000000"/>
          </a:solidFill>
          <a:ln w="12700" cap="rnd" cmpd="sng">
            <a:solidFill>
              <a:srgbClr val="FFFF00"/>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13348" name="Rectangle 36">
            <a:extLst>
              <a:ext uri="{FF2B5EF4-FFF2-40B4-BE49-F238E27FC236}">
                <a16:creationId xmlns:a16="http://schemas.microsoft.com/office/drawing/2014/main" id="{0B2DA910-6049-4CA0-9BC5-BF60745C0F75}"/>
              </a:ext>
            </a:extLst>
          </p:cNvPr>
          <p:cNvSpPr>
            <a:spLocks noChangeArrowheads="1"/>
          </p:cNvSpPr>
          <p:nvPr/>
        </p:nvSpPr>
        <p:spPr bwMode="auto">
          <a:xfrm>
            <a:off x="4154488" y="2589213"/>
            <a:ext cx="311150" cy="22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900" b="1">
                <a:solidFill>
                  <a:srgbClr val="FFFF00"/>
                </a:solidFill>
                <a:latin typeface="Arial" panose="020B0604020202020204" pitchFamily="34" charset="0"/>
              </a:rPr>
              <a:t>90</a:t>
            </a:r>
          </a:p>
        </p:txBody>
      </p:sp>
      <p:sp>
        <p:nvSpPr>
          <p:cNvPr id="13349" name="Rectangle 37">
            <a:extLst>
              <a:ext uri="{FF2B5EF4-FFF2-40B4-BE49-F238E27FC236}">
                <a16:creationId xmlns:a16="http://schemas.microsoft.com/office/drawing/2014/main" id="{F430D258-411B-45A0-9502-E24EA6F590E0}"/>
              </a:ext>
            </a:extLst>
          </p:cNvPr>
          <p:cNvSpPr>
            <a:spLocks noChangeArrowheads="1"/>
          </p:cNvSpPr>
          <p:nvPr/>
        </p:nvSpPr>
        <p:spPr bwMode="auto">
          <a:xfrm>
            <a:off x="3141663" y="4408488"/>
            <a:ext cx="311150" cy="22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900" b="1">
                <a:solidFill>
                  <a:srgbClr val="FFFF00"/>
                </a:solidFill>
                <a:latin typeface="Arial" panose="020B0604020202020204" pitchFamily="34" charset="0"/>
              </a:rPr>
              <a:t>40</a:t>
            </a:r>
          </a:p>
        </p:txBody>
      </p:sp>
      <p:sp>
        <p:nvSpPr>
          <p:cNvPr id="13350" name="Rectangle 38">
            <a:extLst>
              <a:ext uri="{FF2B5EF4-FFF2-40B4-BE49-F238E27FC236}">
                <a16:creationId xmlns:a16="http://schemas.microsoft.com/office/drawing/2014/main" id="{014CC3D1-35AF-420E-B9A7-A8745DEABE18}"/>
              </a:ext>
            </a:extLst>
          </p:cNvPr>
          <p:cNvSpPr>
            <a:spLocks noChangeArrowheads="1"/>
          </p:cNvSpPr>
          <p:nvPr/>
        </p:nvSpPr>
        <p:spPr bwMode="auto">
          <a:xfrm>
            <a:off x="6280150" y="5138738"/>
            <a:ext cx="311150" cy="22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900" b="1">
                <a:solidFill>
                  <a:srgbClr val="FFFF00"/>
                </a:solidFill>
                <a:latin typeface="Arial" panose="020B0604020202020204" pitchFamily="34" charset="0"/>
              </a:rPr>
              <a:t>10</a:t>
            </a:r>
          </a:p>
        </p:txBody>
      </p:sp>
      <p:sp>
        <p:nvSpPr>
          <p:cNvPr id="13351" name="Rectangle 39">
            <a:extLst>
              <a:ext uri="{FF2B5EF4-FFF2-40B4-BE49-F238E27FC236}">
                <a16:creationId xmlns:a16="http://schemas.microsoft.com/office/drawing/2014/main" id="{2A88D641-107D-4C0D-A97C-9485F04CE81D}"/>
              </a:ext>
            </a:extLst>
          </p:cNvPr>
          <p:cNvSpPr>
            <a:spLocks noChangeArrowheads="1"/>
          </p:cNvSpPr>
          <p:nvPr/>
        </p:nvSpPr>
        <p:spPr bwMode="auto">
          <a:xfrm>
            <a:off x="2968625" y="5700713"/>
            <a:ext cx="311150" cy="22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900" b="1">
                <a:solidFill>
                  <a:srgbClr val="FFFF00"/>
                </a:solidFill>
                <a:latin typeface="Arial" panose="020B0604020202020204" pitchFamily="34" charset="0"/>
              </a:rPr>
              <a:t>10</a:t>
            </a:r>
          </a:p>
        </p:txBody>
      </p:sp>
      <p:sp>
        <p:nvSpPr>
          <p:cNvPr id="13352" name="Line 40">
            <a:extLst>
              <a:ext uri="{FF2B5EF4-FFF2-40B4-BE49-F238E27FC236}">
                <a16:creationId xmlns:a16="http://schemas.microsoft.com/office/drawing/2014/main" id="{0106D738-062C-4860-B013-C46E0A1D6B53}"/>
              </a:ext>
            </a:extLst>
          </p:cNvPr>
          <p:cNvSpPr>
            <a:spLocks noChangeShapeType="1"/>
          </p:cNvSpPr>
          <p:nvPr/>
        </p:nvSpPr>
        <p:spPr bwMode="auto">
          <a:xfrm flipV="1">
            <a:off x="6102350" y="5721350"/>
            <a:ext cx="311150" cy="168275"/>
          </a:xfrm>
          <a:prstGeom prst="line">
            <a:avLst/>
          </a:prstGeom>
          <a:noFill/>
          <a:ln w="12700">
            <a:solidFill>
              <a:srgbClr val="FF66CC"/>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53" name="Rectangle 41">
            <a:extLst>
              <a:ext uri="{FF2B5EF4-FFF2-40B4-BE49-F238E27FC236}">
                <a16:creationId xmlns:a16="http://schemas.microsoft.com/office/drawing/2014/main" id="{E0ED6C30-0F59-41A4-B25A-F049A97DC511}"/>
              </a:ext>
            </a:extLst>
          </p:cNvPr>
          <p:cNvSpPr>
            <a:spLocks noChangeArrowheads="1"/>
          </p:cNvSpPr>
          <p:nvPr/>
        </p:nvSpPr>
        <p:spPr bwMode="auto">
          <a:xfrm>
            <a:off x="4978400" y="2330450"/>
            <a:ext cx="658813"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200" b="1">
                <a:solidFill>
                  <a:srgbClr val="FFFF00"/>
                </a:solidFill>
                <a:effectLst>
                  <a:outerShdw blurRad="38100" dist="38100" dir="2700000" algn="tl">
                    <a:srgbClr val="000000"/>
                  </a:outerShdw>
                </a:effectLst>
                <a:latin typeface="Arial" panose="020B0604020202020204" pitchFamily="34" charset="0"/>
              </a:rPr>
              <a:t>Dunite</a:t>
            </a:r>
          </a:p>
        </p:txBody>
      </p:sp>
      <p:sp>
        <p:nvSpPr>
          <p:cNvPr id="13354" name="Line 42">
            <a:extLst>
              <a:ext uri="{FF2B5EF4-FFF2-40B4-BE49-F238E27FC236}">
                <a16:creationId xmlns:a16="http://schemas.microsoft.com/office/drawing/2014/main" id="{1939B6B8-0394-494E-8A95-D97DFD7CDAF8}"/>
              </a:ext>
            </a:extLst>
          </p:cNvPr>
          <p:cNvSpPr>
            <a:spLocks noChangeShapeType="1"/>
          </p:cNvSpPr>
          <p:nvPr/>
        </p:nvSpPr>
        <p:spPr bwMode="auto">
          <a:xfrm>
            <a:off x="3463925" y="4538663"/>
            <a:ext cx="2481263"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55" name="Line 43">
            <a:extLst>
              <a:ext uri="{FF2B5EF4-FFF2-40B4-BE49-F238E27FC236}">
                <a16:creationId xmlns:a16="http://schemas.microsoft.com/office/drawing/2014/main" id="{E4B01BD2-9153-4760-861D-B733CB05EFAD}"/>
              </a:ext>
            </a:extLst>
          </p:cNvPr>
          <p:cNvSpPr>
            <a:spLocks noChangeShapeType="1"/>
          </p:cNvSpPr>
          <p:nvPr/>
        </p:nvSpPr>
        <p:spPr bwMode="auto">
          <a:xfrm>
            <a:off x="4481513" y="2728913"/>
            <a:ext cx="438150" cy="0"/>
          </a:xfrm>
          <a:prstGeom prst="line">
            <a:avLst/>
          </a:prstGeom>
          <a:noFill/>
          <a:ln w="12700">
            <a:solidFill>
              <a:schemeClr val="bg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a:p>
        </p:txBody>
      </p:sp>
      <p:sp>
        <p:nvSpPr>
          <p:cNvPr id="13356" name="Rectangle 44">
            <a:extLst>
              <a:ext uri="{FF2B5EF4-FFF2-40B4-BE49-F238E27FC236}">
                <a16:creationId xmlns:a16="http://schemas.microsoft.com/office/drawing/2014/main" id="{F7E0F291-870C-459E-B21B-36865A96556C}"/>
              </a:ext>
            </a:extLst>
          </p:cNvPr>
          <p:cNvSpPr>
            <a:spLocks noChangeArrowheads="1"/>
          </p:cNvSpPr>
          <p:nvPr/>
        </p:nvSpPr>
        <p:spPr bwMode="auto">
          <a:xfrm>
            <a:off x="3500438" y="6296025"/>
            <a:ext cx="24828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eaLnBrk="0" hangingPunct="0"/>
            <a:r>
              <a:rPr lang="en-US" altLang="en-US" sz="1800">
                <a:solidFill>
                  <a:srgbClr val="FF5050"/>
                </a:solidFill>
                <a:effectLst>
                  <a:outerShdw blurRad="38100" dist="38100" dir="2700000" algn="tl">
                    <a:srgbClr val="000000"/>
                  </a:outerShdw>
                </a:effectLst>
              </a:rPr>
              <a:t>Figure 2-2 C After IUGS</a:t>
            </a:r>
          </a:p>
        </p:txBody>
      </p:sp>
    </p:spTree>
    <p:extLst>
      <p:ext uri="{BB962C8B-B14F-4D97-AF65-F5344CB8AC3E}">
        <p14:creationId xmlns:p14="http://schemas.microsoft.com/office/powerpoint/2010/main" val="2804973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DB9BB-E1F8-4ABF-BB83-5A9807C6EDB3}"/>
              </a:ext>
            </a:extLst>
          </p:cNvPr>
          <p:cNvSpPr>
            <a:spLocks noGrp="1"/>
          </p:cNvSpPr>
          <p:nvPr>
            <p:ph type="title"/>
          </p:nvPr>
        </p:nvSpPr>
        <p:spPr/>
        <p:txBody>
          <a:bodyPr/>
          <a:lstStyle/>
          <a:p>
            <a:endParaRPr lang="en-IN"/>
          </a:p>
        </p:txBody>
      </p:sp>
      <p:pic>
        <p:nvPicPr>
          <p:cNvPr id="1026" name="Picture 2">
            <a:extLst>
              <a:ext uri="{FF2B5EF4-FFF2-40B4-BE49-F238E27FC236}">
                <a16:creationId xmlns:a16="http://schemas.microsoft.com/office/drawing/2014/main" id="{4041060E-6C78-4BB5-90A4-E83C6DC89A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2038350"/>
            <a:ext cx="63436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965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Shape 1"/>
          <p:cNvSpPr txBox="1"/>
          <p:nvPr/>
        </p:nvSpPr>
        <p:spPr>
          <a:xfrm>
            <a:off x="1260000" y="152280"/>
            <a:ext cx="7200000" cy="451800"/>
          </a:xfrm>
          <a:prstGeom prst="rect">
            <a:avLst/>
          </a:prstGeom>
          <a:noFill/>
          <a:ln>
            <a:noFill/>
          </a:ln>
        </p:spPr>
        <p:txBody>
          <a:bodyPr lIns="90000" tIns="46800" rIns="90000" bIns="46800"/>
          <a:lstStyle/>
          <a:p>
            <a:r>
              <a:rPr lang="en-US" sz="1100" b="0" strike="noStrike" spc="-1">
                <a:solidFill>
                  <a:srgbClr val="000000"/>
                </a:solidFill>
                <a:latin typeface="Arial"/>
              </a:rPr>
              <a:t>Eclogites</a:t>
            </a:r>
          </a:p>
        </p:txBody>
      </p:sp>
      <p:sp>
        <p:nvSpPr>
          <p:cNvPr id="45" name="TextShape 2"/>
          <p:cNvSpPr txBox="1"/>
          <p:nvPr/>
        </p:nvSpPr>
        <p:spPr>
          <a:xfrm>
            <a:off x="252000" y="6563903"/>
            <a:ext cx="8640000" cy="451800"/>
          </a:xfrm>
          <a:prstGeom prst="rect">
            <a:avLst/>
          </a:prstGeom>
          <a:noFill/>
          <a:ln>
            <a:noFill/>
          </a:ln>
        </p:spPr>
        <p:txBody>
          <a:bodyPr lIns="90000" tIns="45000" rIns="90000" bIns="45000"/>
          <a:lstStyle/>
          <a:p>
            <a:r>
              <a:rPr lang="en-US" sz="800" b="1" strike="noStrike" spc="-1">
                <a:solidFill>
                  <a:srgbClr val="0054A6"/>
                </a:solidFill>
                <a:latin typeface="Arial"/>
              </a:rPr>
              <a:t>Geology Today, Volume: 40, Issue: 1, Pages: 33-40, First published: 08 February 2024, DOI: (10.1111/gto.12462) </a:t>
            </a:r>
            <a:endParaRPr lang="en-US" sz="800" b="0" strike="noStrike" spc="-1">
              <a:solidFill>
                <a:srgbClr val="000000"/>
              </a:solidFill>
              <a:latin typeface="Arial"/>
            </a:endParaRPr>
          </a:p>
        </p:txBody>
      </p:sp>
      <p:pic>
        <p:nvPicPr>
          <p:cNvPr id="46" name="Main graphic"/>
          <p:cNvPicPr/>
          <p:nvPr/>
        </p:nvPicPr>
        <p:blipFill>
          <a:blip r:embed="rId3"/>
          <a:stretch/>
        </p:blipFill>
        <p:spPr>
          <a:xfrm>
            <a:off x="1361090" y="131259"/>
            <a:ext cx="6421820" cy="5985521"/>
          </a:xfrm>
          <a:prstGeom prst="rect">
            <a:avLst/>
          </a:prstGeom>
          <a:ln>
            <a:noFill/>
          </a:ln>
        </p:spPr>
      </p:pic>
      <p:sp>
        <p:nvSpPr>
          <p:cNvPr id="6" name="TextBox 5">
            <a:extLst>
              <a:ext uri="{FF2B5EF4-FFF2-40B4-BE49-F238E27FC236}">
                <a16:creationId xmlns:a16="http://schemas.microsoft.com/office/drawing/2014/main" id="{52BECF40-2C0B-4C14-93E7-73C4EC4EE6B7}"/>
              </a:ext>
            </a:extLst>
          </p:cNvPr>
          <p:cNvSpPr txBox="1"/>
          <p:nvPr/>
        </p:nvSpPr>
        <p:spPr>
          <a:xfrm>
            <a:off x="0" y="6116780"/>
            <a:ext cx="4572000" cy="369332"/>
          </a:xfrm>
          <a:prstGeom prst="rect">
            <a:avLst/>
          </a:prstGeom>
          <a:noFill/>
        </p:spPr>
        <p:txBody>
          <a:bodyPr wrap="square">
            <a:spAutoFit/>
          </a:bodyPr>
          <a:lstStyle/>
          <a:p>
            <a:r>
              <a:rPr lang="it-IT" dirty="0"/>
              <a:t>Glaucophane: Na2​Mg3​Al2​Si8​O22​(OH)</a:t>
            </a:r>
            <a:endParaRPr lang="en-IN" dirty="0"/>
          </a:p>
        </p:txBody>
      </p:sp>
    </p:spTree>
  </p:cSld>
  <p:clrMapOvr>
    <a:masterClrMapping/>
  </p:clrMapOvr>
  <p:transition>
    <p:wipe dir="r"/>
  </p:transition>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7C136F8-8B9E-4EF2-8161-F773E2C6C0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81766"/>
            <a:ext cx="7543800" cy="50361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6622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Shape 1"/>
          <p:cNvSpPr txBox="1"/>
          <p:nvPr/>
        </p:nvSpPr>
        <p:spPr>
          <a:xfrm>
            <a:off x="1260000" y="152280"/>
            <a:ext cx="7200000" cy="451800"/>
          </a:xfrm>
          <a:prstGeom prst="rect">
            <a:avLst/>
          </a:prstGeom>
          <a:noFill/>
          <a:ln>
            <a:noFill/>
          </a:ln>
        </p:spPr>
        <p:txBody>
          <a:bodyPr lIns="90000" tIns="46800" rIns="90000" bIns="46800"/>
          <a:lstStyle/>
          <a:p>
            <a:r>
              <a:rPr lang="en-US" sz="1100" b="0" strike="noStrike" spc="-1">
                <a:solidFill>
                  <a:srgbClr val="000000"/>
                </a:solidFill>
                <a:latin typeface="Arial"/>
              </a:rPr>
              <a:t>Eclogites</a:t>
            </a:r>
          </a:p>
        </p:txBody>
      </p:sp>
      <p:sp>
        <p:nvSpPr>
          <p:cNvPr id="45" name="TextShape 2"/>
          <p:cNvSpPr txBox="1"/>
          <p:nvPr/>
        </p:nvSpPr>
        <p:spPr>
          <a:xfrm>
            <a:off x="328469" y="6391800"/>
            <a:ext cx="8640000" cy="451800"/>
          </a:xfrm>
          <a:prstGeom prst="rect">
            <a:avLst/>
          </a:prstGeom>
          <a:noFill/>
          <a:ln>
            <a:noFill/>
          </a:ln>
        </p:spPr>
        <p:txBody>
          <a:bodyPr lIns="90000" tIns="45000" rIns="90000" bIns="45000"/>
          <a:lstStyle/>
          <a:p>
            <a:r>
              <a:rPr lang="en-US" sz="800" b="1" strike="noStrike" spc="-1" dirty="0">
                <a:solidFill>
                  <a:srgbClr val="0054A6"/>
                </a:solidFill>
                <a:latin typeface="Arial"/>
              </a:rPr>
              <a:t>Geology Today, Volume: 40, Issue: 1, Pages: 33-40, First published: 08 February 2024, DOI: (10.1111/gto.12462) </a:t>
            </a:r>
            <a:endParaRPr lang="en-US" sz="800" b="0" strike="noStrike" spc="-1" dirty="0">
              <a:solidFill>
                <a:srgbClr val="000000"/>
              </a:solidFill>
              <a:latin typeface="Arial"/>
            </a:endParaRPr>
          </a:p>
        </p:txBody>
      </p:sp>
      <p:pic>
        <p:nvPicPr>
          <p:cNvPr id="46" name="Main graphic"/>
          <p:cNvPicPr/>
          <p:nvPr/>
        </p:nvPicPr>
        <p:blipFill>
          <a:blip r:embed="rId3"/>
          <a:stretch/>
        </p:blipFill>
        <p:spPr>
          <a:xfrm>
            <a:off x="1418897" y="762119"/>
            <a:ext cx="6905295" cy="5228777"/>
          </a:xfrm>
          <a:prstGeom prst="rect">
            <a:avLst/>
          </a:prstGeom>
          <a:ln>
            <a:noFill/>
          </a:ln>
        </p:spPr>
      </p:pic>
    </p:spTree>
  </p:cSld>
  <p:clrMapOvr>
    <a:masterClrMapping/>
  </p:clrMapOvr>
  <p:transition>
    <p:wipe dir="r"/>
  </p:transition>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7" name="Picture 2">
            <a:extLst>
              <a:ext uri="{FF2B5EF4-FFF2-40B4-BE49-F238E27FC236}">
                <a16:creationId xmlns:a16="http://schemas.microsoft.com/office/drawing/2014/main" id="{0AEF5383-8248-4EFC-AD4E-777FF1C22F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99432" y="1219200"/>
            <a:ext cx="4114800" cy="529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49" name="Picture 5" descr="File:Ophiolite Formation.pdf - Wikimedia Commons">
            <a:extLst>
              <a:ext uri="{FF2B5EF4-FFF2-40B4-BE49-F238E27FC236}">
                <a16:creationId xmlns:a16="http://schemas.microsoft.com/office/drawing/2014/main" id="{8F2726DF-13BB-4E30-B779-3BBBC3ECC7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6448" y="4670641"/>
            <a:ext cx="3227832" cy="2187359"/>
          </a:xfrm>
          <a:prstGeom prst="rect">
            <a:avLst/>
          </a:prstGeom>
          <a:noFill/>
          <a:extLst>
            <a:ext uri="{909E8E84-426E-40DD-AFC4-6F175D3DCCD1}">
              <a14:hiddenFill xmlns:a14="http://schemas.microsoft.com/office/drawing/2010/main">
                <a:solidFill>
                  <a:srgbClr val="FFFFFF"/>
                </a:solidFill>
              </a14:hiddenFill>
            </a:ext>
          </a:extLst>
        </p:spPr>
      </p:pic>
      <p:pic>
        <p:nvPicPr>
          <p:cNvPr id="31751" name="Picture 7">
            <a:extLst>
              <a:ext uri="{FF2B5EF4-FFF2-40B4-BE49-F238E27FC236}">
                <a16:creationId xmlns:a16="http://schemas.microsoft.com/office/drawing/2014/main" id="{68C45BFC-6455-48CE-A68E-73EFE83986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9768" y="304800"/>
            <a:ext cx="2071370" cy="42672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B282A64-EE90-46F4-822A-EF9427A6B1F1}"/>
              </a:ext>
            </a:extLst>
          </p:cNvPr>
          <p:cNvSpPr/>
          <p:nvPr/>
        </p:nvSpPr>
        <p:spPr>
          <a:xfrm>
            <a:off x="536448" y="2971800"/>
            <a:ext cx="606552" cy="228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6">
            <a:extLst>
              <a:ext uri="{FF2B5EF4-FFF2-40B4-BE49-F238E27FC236}">
                <a16:creationId xmlns:a16="http://schemas.microsoft.com/office/drawing/2014/main" id="{8F7C8E3F-E2F2-4CE5-ACC9-5897C4039317}"/>
              </a:ext>
            </a:extLst>
          </p:cNvPr>
          <p:cNvSpPr/>
          <p:nvPr/>
        </p:nvSpPr>
        <p:spPr>
          <a:xfrm>
            <a:off x="475488" y="685800"/>
            <a:ext cx="606552" cy="152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C0E11B7B-457D-47B5-B2C2-A434ED75B363}"/>
              </a:ext>
            </a:extLst>
          </p:cNvPr>
          <p:cNvSpPr/>
          <p:nvPr/>
        </p:nvSpPr>
        <p:spPr>
          <a:xfrm>
            <a:off x="536448" y="1143000"/>
            <a:ext cx="606552" cy="152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455F9CA0-A8E6-4DC8-8006-8C2F135DEDDB}"/>
              </a:ext>
            </a:extLst>
          </p:cNvPr>
          <p:cNvSpPr/>
          <p:nvPr/>
        </p:nvSpPr>
        <p:spPr>
          <a:xfrm>
            <a:off x="536448" y="1773384"/>
            <a:ext cx="606552" cy="152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0D4117C-8596-4D06-BF3F-8EDB41413D24}"/>
              </a:ext>
            </a:extLst>
          </p:cNvPr>
          <p:cNvSpPr/>
          <p:nvPr/>
        </p:nvSpPr>
        <p:spPr>
          <a:xfrm>
            <a:off x="393192" y="3962400"/>
            <a:ext cx="893064" cy="3602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1" name="Picture 4">
            <a:extLst>
              <a:ext uri="{FF2B5EF4-FFF2-40B4-BE49-F238E27FC236}">
                <a16:creationId xmlns:a16="http://schemas.microsoft.com/office/drawing/2014/main" id="{D4FB9EF5-E724-4E4A-AB4E-769A51CBFD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8604" r="842"/>
          <a:stretch>
            <a:fillRect/>
          </a:stretch>
        </p:blipFill>
        <p:spPr bwMode="auto">
          <a:xfrm>
            <a:off x="2590800" y="-20027"/>
            <a:ext cx="6553200" cy="71273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a:extLst>
              <a:ext uri="{FF2B5EF4-FFF2-40B4-BE49-F238E27FC236}">
                <a16:creationId xmlns:a16="http://schemas.microsoft.com/office/drawing/2014/main" id="{0CCD1813-ECFF-47D6-B878-EC570F417413}"/>
              </a:ext>
            </a:extLst>
          </p:cNvPr>
          <p:cNvSpPr>
            <a:spLocks noGrp="1"/>
          </p:cNvSpPr>
          <p:nvPr>
            <p:ph type="title"/>
          </p:nvPr>
        </p:nvSpPr>
        <p:spPr>
          <a:xfrm>
            <a:off x="457200" y="1905000"/>
            <a:ext cx="3200400" cy="1143000"/>
          </a:xfrm>
        </p:spPr>
        <p:txBody>
          <a:bodyPr/>
          <a:lstStyle/>
          <a:p>
            <a:pPr algn="l"/>
            <a:r>
              <a:rPr lang="en-IN" sz="2000" dirty="0">
                <a:latin typeface="+mn-lt"/>
              </a:rPr>
              <a:t>Spinel: </a:t>
            </a:r>
            <a:r>
              <a:rPr lang="en-IN" sz="2000" b="1" dirty="0"/>
              <a:t>magnesium aluminate (MgAl₂O₄)</a:t>
            </a:r>
            <a:r>
              <a:rPr lang="en-IN" sz="2000" dirty="0"/>
              <a:t>,</a:t>
            </a:r>
            <a:r>
              <a:rPr lang="en-IN" sz="2000" dirty="0">
                <a:latin typeface="+mn-lt"/>
              </a:rPr>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795" name="Picture 4">
            <a:extLst>
              <a:ext uri="{FF2B5EF4-FFF2-40B4-BE49-F238E27FC236}">
                <a16:creationId xmlns:a16="http://schemas.microsoft.com/office/drawing/2014/main" id="{75C82116-B735-422F-8A35-F298CDBA78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3175"/>
            <a:ext cx="8991600" cy="4014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771800" y="1772816"/>
            <a:ext cx="3205294" cy="2857415"/>
          </a:xfrm>
        </p:spPr>
      </p:pic>
      <p:pic>
        <p:nvPicPr>
          <p:cNvPr id="12" name="Picture 1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3" name="Down Arrow 12"/>
          <p:cNvSpPr/>
          <p:nvPr/>
        </p:nvSpPr>
        <p:spPr>
          <a:xfrm>
            <a:off x="538129" y="4005064"/>
            <a:ext cx="290877" cy="1241599"/>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p:cNvSpPr txBox="1"/>
          <p:nvPr/>
        </p:nvSpPr>
        <p:spPr>
          <a:xfrm>
            <a:off x="265542" y="2058200"/>
            <a:ext cx="2858658" cy="1938992"/>
          </a:xfrm>
          <a:prstGeom prst="rect">
            <a:avLst/>
          </a:prstGeom>
          <a:noFill/>
        </p:spPr>
        <p:txBody>
          <a:bodyPr wrap="square" rtlCol="0">
            <a:spAutoFit/>
          </a:bodyPr>
          <a:lstStyle/>
          <a:p>
            <a:r>
              <a:rPr lang="en-GB" sz="2400" b="1" dirty="0"/>
              <a:t>Average section of crust and mantle (i.e. away from plate boundaries)</a:t>
            </a:r>
          </a:p>
        </p:txBody>
      </p:sp>
      <p:sp>
        <p:nvSpPr>
          <p:cNvPr id="15" name="TextBox 14"/>
          <p:cNvSpPr txBox="1"/>
          <p:nvPr/>
        </p:nvSpPr>
        <p:spPr>
          <a:xfrm>
            <a:off x="6372200" y="3027696"/>
            <a:ext cx="2376264" cy="830997"/>
          </a:xfrm>
          <a:prstGeom prst="rect">
            <a:avLst/>
          </a:prstGeom>
          <a:noFill/>
        </p:spPr>
        <p:txBody>
          <a:bodyPr wrap="square" rtlCol="0">
            <a:spAutoFit/>
          </a:bodyPr>
          <a:lstStyle/>
          <a:p>
            <a:r>
              <a:rPr lang="en-GB" sz="2400" b="1" dirty="0"/>
              <a:t>No magma generated</a:t>
            </a:r>
          </a:p>
        </p:txBody>
      </p:sp>
      <p:sp>
        <p:nvSpPr>
          <p:cNvPr id="16" name="Title 15"/>
          <p:cNvSpPr>
            <a:spLocks noGrp="1"/>
          </p:cNvSpPr>
          <p:nvPr>
            <p:ph type="title"/>
          </p:nvPr>
        </p:nvSpPr>
        <p:spPr/>
        <p:txBody>
          <a:bodyPr/>
          <a:lstStyle/>
          <a:p>
            <a:r>
              <a:rPr lang="en-GB" dirty="0"/>
              <a:t>Magma generation</a:t>
            </a:r>
          </a:p>
        </p:txBody>
      </p:sp>
    </p:spTree>
    <p:extLst>
      <p:ext uri="{BB962C8B-B14F-4D97-AF65-F5344CB8AC3E}">
        <p14:creationId xmlns:p14="http://schemas.microsoft.com/office/powerpoint/2010/main" val="42317324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122">
            <a:extLst>
              <a:ext uri="{FF2B5EF4-FFF2-40B4-BE49-F238E27FC236}">
                <a16:creationId xmlns:a16="http://schemas.microsoft.com/office/drawing/2014/main" id="{3250DFB4-9A6A-4903-A826-5EA1C132DA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416803"/>
            <a:ext cx="5867400" cy="5985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48731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55776" y="1690824"/>
            <a:ext cx="3384376" cy="3017061"/>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5" name="Down Arrow 14"/>
          <p:cNvSpPr/>
          <p:nvPr/>
        </p:nvSpPr>
        <p:spPr>
          <a:xfrm rot="20427613">
            <a:off x="1746921" y="3194770"/>
            <a:ext cx="290877" cy="1241599"/>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p:cNvSpPr txBox="1"/>
          <p:nvPr/>
        </p:nvSpPr>
        <p:spPr>
          <a:xfrm>
            <a:off x="561906" y="2350881"/>
            <a:ext cx="1971514" cy="830997"/>
          </a:xfrm>
          <a:prstGeom prst="rect">
            <a:avLst/>
          </a:prstGeom>
          <a:noFill/>
        </p:spPr>
        <p:txBody>
          <a:bodyPr wrap="square" rtlCol="0">
            <a:spAutoFit/>
          </a:bodyPr>
          <a:lstStyle/>
          <a:p>
            <a:pPr algn="ctr"/>
            <a:r>
              <a:rPr lang="en-GB" sz="2400" b="1" dirty="0"/>
              <a:t>1. Mid ocean ridge</a:t>
            </a:r>
          </a:p>
        </p:txBody>
      </p:sp>
      <p:sp>
        <p:nvSpPr>
          <p:cNvPr id="18" name="TextBox 17"/>
          <p:cNvSpPr txBox="1"/>
          <p:nvPr/>
        </p:nvSpPr>
        <p:spPr>
          <a:xfrm>
            <a:off x="6349424" y="2227195"/>
            <a:ext cx="2376264" cy="830997"/>
          </a:xfrm>
          <a:prstGeom prst="rect">
            <a:avLst/>
          </a:prstGeom>
          <a:noFill/>
        </p:spPr>
        <p:txBody>
          <a:bodyPr wrap="square" rtlCol="0">
            <a:spAutoFit/>
          </a:bodyPr>
          <a:lstStyle/>
          <a:p>
            <a:r>
              <a:rPr lang="en-GB" sz="2400" b="1" dirty="0"/>
              <a:t>Magma generated</a:t>
            </a:r>
          </a:p>
        </p:txBody>
      </p:sp>
      <p:cxnSp>
        <p:nvCxnSpPr>
          <p:cNvPr id="21" name="Straight Arrow Connector 20"/>
          <p:cNvCxnSpPr/>
          <p:nvPr/>
        </p:nvCxnSpPr>
        <p:spPr>
          <a:xfrm flipH="1" flipV="1">
            <a:off x="4807560" y="2392614"/>
            <a:ext cx="1656184" cy="216024"/>
          </a:xfrm>
          <a:prstGeom prst="straightConnector1">
            <a:avLst/>
          </a:prstGeom>
          <a:ln w="28575">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717" y="233499"/>
            <a:ext cx="855345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61831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7" name="Rectangle 3">
            <a:extLst>
              <a:ext uri="{FF2B5EF4-FFF2-40B4-BE49-F238E27FC236}">
                <a16:creationId xmlns:a16="http://schemas.microsoft.com/office/drawing/2014/main" id="{332A248F-EA2B-423F-9D32-6DAED3A98D1D}"/>
              </a:ext>
            </a:extLst>
          </p:cNvPr>
          <p:cNvSpPr>
            <a:spLocks noGrp="1" noChangeArrowheads="1"/>
          </p:cNvSpPr>
          <p:nvPr>
            <p:ph type="body" idx="1"/>
          </p:nvPr>
        </p:nvSpPr>
        <p:spPr>
          <a:xfrm>
            <a:off x="171450" y="457200"/>
            <a:ext cx="8650288" cy="6046788"/>
          </a:xfrm>
        </p:spPr>
        <p:txBody>
          <a:bodyPr/>
          <a:lstStyle/>
          <a:p>
            <a:pPr lvl="1">
              <a:defRPr/>
            </a:pPr>
            <a:r>
              <a:rPr lang="en-US" altLang="en-US" dirty="0">
                <a:solidFill>
                  <a:srgbClr val="00FF00"/>
                </a:solidFill>
              </a:rPr>
              <a:t>Decompression melting</a:t>
            </a:r>
            <a:r>
              <a:rPr lang="en-US" altLang="en-US" dirty="0">
                <a:solidFill>
                  <a:srgbClr val="FFCC00"/>
                </a:solidFill>
              </a:rPr>
              <a:t> could melt at least 30%</a:t>
            </a:r>
          </a:p>
        </p:txBody>
      </p:sp>
      <p:pic>
        <p:nvPicPr>
          <p:cNvPr id="2" name="Picture 102">
            <a:extLst>
              <a:ext uri="{FF2B5EF4-FFF2-40B4-BE49-F238E27FC236}">
                <a16:creationId xmlns:a16="http://schemas.microsoft.com/office/drawing/2014/main" id="{E8F1C6C6-8A76-4A54-A86A-6B190CD5EF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1112" y="1447801"/>
            <a:ext cx="7142755" cy="46016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487" name="Rectangle 103">
            <a:extLst>
              <a:ext uri="{FF2B5EF4-FFF2-40B4-BE49-F238E27FC236}">
                <a16:creationId xmlns:a16="http://schemas.microsoft.com/office/drawing/2014/main" id="{635AEF75-4474-44FE-AA6A-92B290FF3037}"/>
              </a:ext>
            </a:extLst>
          </p:cNvPr>
          <p:cNvSpPr>
            <a:spLocks noChangeArrowheads="1"/>
          </p:cNvSpPr>
          <p:nvPr/>
        </p:nvSpPr>
        <p:spPr bwMode="auto">
          <a:xfrm>
            <a:off x="836613" y="6400800"/>
            <a:ext cx="7734300" cy="462307"/>
          </a:xfrm>
          <a:prstGeom prst="rect">
            <a:avLst/>
          </a:prstGeom>
          <a:noFill/>
          <a:ln>
            <a:noFill/>
          </a:ln>
          <a:effectLst/>
        </p:spPr>
        <p:txBody>
          <a:bodyPr lIns="92075" tIns="46038" rIns="92075" bIns="46038">
            <a:spAutoFit/>
          </a:bodyPr>
          <a:lstStyle/>
          <a:p>
            <a:pPr>
              <a:defRPr/>
            </a:pPr>
            <a:r>
              <a:rPr lang="en-US" altLang="en-US" sz="1200" b="1" dirty="0">
                <a:solidFill>
                  <a:srgbClr val="FF5050"/>
                </a:solidFill>
                <a:effectLst>
                  <a:outerShdw blurRad="38100" dist="38100" dir="2700000" algn="tl">
                    <a:srgbClr val="000000"/>
                  </a:outerShdw>
                </a:effectLst>
                <a:latin typeface="Arial" panose="020B0604020202020204" pitchFamily="34" charset="0"/>
              </a:rPr>
              <a:t>Figure 10-4. </a:t>
            </a:r>
            <a:r>
              <a:rPr lang="en-US" altLang="en-US" sz="1200" b="1" dirty="0">
                <a:solidFill>
                  <a:srgbClr val="FFCC00"/>
                </a:solidFill>
                <a:latin typeface="Arial" panose="020B0604020202020204" pitchFamily="34" charset="0"/>
              </a:rPr>
              <a:t>Melting by pressure reduction. Melting begins when the adiabat crosses the solidus and traverses the shaded melting interval. Dashed lines represent approximate % melting.</a:t>
            </a:r>
            <a:r>
              <a:rPr lang="en-US" altLang="en-US" sz="1200" dirty="0">
                <a:solidFill>
                  <a:srgbClr val="FFCC00"/>
                </a:solidFill>
                <a:latin typeface="Arial" panose="020B0604020202020204" pitchFamily="34" charset="0"/>
              </a:rPr>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6387">
                                            <p:txEl>
                                              <p:pRg st="0" end="0"/>
                                            </p:txEl>
                                          </p:spTgt>
                                        </p:tgtEl>
                                        <p:attrNameLst>
                                          <p:attrName>style.visibility</p:attrName>
                                        </p:attrNameLst>
                                      </p:cBhvr>
                                      <p:to>
                                        <p:strVal val="visible"/>
                                      </p:to>
                                    </p:set>
                                    <p:anim calcmode="lin" valueType="num">
                                      <p:cBhvr additive="base">
                                        <p:cTn id="7" dur="500" fill="hold"/>
                                        <p:tgtEl>
                                          <p:spTgt spid="1638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38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7" grpId="0" build="p" bldLvl="2"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rotWithShape="1">
          <a:blip r:embed="rId3" cstate="print">
            <a:extLst>
              <a:ext uri="{28A0092B-C50C-407E-A947-70E740481C1C}">
                <a14:useLocalDpi xmlns:a14="http://schemas.microsoft.com/office/drawing/2010/main" val="0"/>
              </a:ext>
            </a:extLst>
          </a:blip>
          <a:srcRect l="1813"/>
          <a:stretch/>
        </p:blipFill>
        <p:spPr>
          <a:xfrm>
            <a:off x="3131840" y="1705722"/>
            <a:ext cx="3024336" cy="2666969"/>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2" name="Down Arrow 11"/>
          <p:cNvSpPr/>
          <p:nvPr/>
        </p:nvSpPr>
        <p:spPr>
          <a:xfrm rot="21070742">
            <a:off x="7241163" y="2623110"/>
            <a:ext cx="268108" cy="2069891"/>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p:cNvSpPr txBox="1"/>
          <p:nvPr/>
        </p:nvSpPr>
        <p:spPr>
          <a:xfrm>
            <a:off x="6389460" y="1817130"/>
            <a:ext cx="2602140" cy="830997"/>
          </a:xfrm>
          <a:prstGeom prst="rect">
            <a:avLst/>
          </a:prstGeom>
          <a:noFill/>
        </p:spPr>
        <p:txBody>
          <a:bodyPr wrap="square" rtlCol="0">
            <a:spAutoFit/>
          </a:bodyPr>
          <a:lstStyle/>
          <a:p>
            <a:pPr algn="ctr"/>
            <a:r>
              <a:rPr lang="en-GB" sz="2400" b="1" dirty="0"/>
              <a:t>3. Subduction zone</a:t>
            </a:r>
          </a:p>
        </p:txBody>
      </p:sp>
      <p:sp>
        <p:nvSpPr>
          <p:cNvPr id="14" name="TextBox 13"/>
          <p:cNvSpPr txBox="1"/>
          <p:nvPr/>
        </p:nvSpPr>
        <p:spPr>
          <a:xfrm>
            <a:off x="1331640" y="3356992"/>
            <a:ext cx="2376264" cy="830997"/>
          </a:xfrm>
          <a:prstGeom prst="rect">
            <a:avLst/>
          </a:prstGeom>
          <a:noFill/>
        </p:spPr>
        <p:txBody>
          <a:bodyPr wrap="square" rtlCol="0">
            <a:spAutoFit/>
          </a:bodyPr>
          <a:lstStyle/>
          <a:p>
            <a:r>
              <a:rPr lang="en-GB" sz="2400" b="1" dirty="0"/>
              <a:t>Magma generated</a:t>
            </a:r>
          </a:p>
        </p:txBody>
      </p:sp>
      <p:cxnSp>
        <p:nvCxnSpPr>
          <p:cNvPr id="15" name="Straight Arrow Connector 14"/>
          <p:cNvCxnSpPr/>
          <p:nvPr/>
        </p:nvCxnSpPr>
        <p:spPr>
          <a:xfrm flipV="1">
            <a:off x="2771800" y="3772490"/>
            <a:ext cx="2376264" cy="10615"/>
          </a:xfrm>
          <a:prstGeom prst="straightConnector1">
            <a:avLst/>
          </a:prstGeom>
          <a:ln w="28575">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6146" name="Picture 2"/>
          <p:cNvPicPr>
            <a:picLocks noChangeAspect="1" noChangeArrowheads="1"/>
          </p:cNvPicPr>
          <p:nvPr/>
        </p:nvPicPr>
        <p:blipFill rotWithShape="1">
          <a:blip r:embed="rId5">
            <a:extLst>
              <a:ext uri="{28A0092B-C50C-407E-A947-70E740481C1C}">
                <a14:useLocalDpi xmlns:a14="http://schemas.microsoft.com/office/drawing/2010/main" val="0"/>
              </a:ext>
            </a:extLst>
          </a:blip>
          <a:srcRect r="29284"/>
          <a:stretch/>
        </p:blipFill>
        <p:spPr bwMode="auto">
          <a:xfrm>
            <a:off x="107504" y="248397"/>
            <a:ext cx="6048672"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862222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F3C3483C-8358-4B0E-9497-84E8D111DE77}"/>
              </a:ext>
            </a:extLst>
          </p:cNvPr>
          <p:cNvSpPr>
            <a:spLocks noGrp="1" noChangeArrowheads="1"/>
          </p:cNvSpPr>
          <p:nvPr>
            <p:ph type="body" idx="1"/>
          </p:nvPr>
        </p:nvSpPr>
        <p:spPr>
          <a:xfrm>
            <a:off x="23813" y="242888"/>
            <a:ext cx="8540750" cy="4581525"/>
          </a:xfrm>
        </p:spPr>
        <p:txBody>
          <a:bodyPr/>
          <a:lstStyle/>
          <a:p>
            <a:pPr>
              <a:buFont typeface="Monotype Sorts" pitchFamily="2" charset="2"/>
              <a:buNone/>
              <a:defRPr/>
            </a:pPr>
            <a:r>
              <a:rPr lang="en-US" altLang="en-US" dirty="0"/>
              <a:t> </a:t>
            </a:r>
            <a:r>
              <a:rPr lang="en-US" altLang="en-US" dirty="0">
                <a:solidFill>
                  <a:srgbClr val="00FF00"/>
                </a:solidFill>
              </a:rPr>
              <a:t>Add volatiles</a:t>
            </a:r>
            <a:r>
              <a:rPr lang="en-US" altLang="en-US" dirty="0"/>
              <a:t> (especially </a:t>
            </a:r>
            <a:r>
              <a:rPr lang="en-US" altLang="en-US" dirty="0">
                <a:solidFill>
                  <a:srgbClr val="00FF00"/>
                </a:solidFill>
              </a:rPr>
              <a:t>H</a:t>
            </a:r>
            <a:r>
              <a:rPr lang="en-US" altLang="en-US" baseline="-25000" dirty="0">
                <a:solidFill>
                  <a:srgbClr val="00FF00"/>
                </a:solidFill>
              </a:rPr>
              <a:t>2</a:t>
            </a:r>
            <a:r>
              <a:rPr lang="en-US" altLang="en-US" dirty="0">
                <a:solidFill>
                  <a:srgbClr val="00FF00"/>
                </a:solidFill>
              </a:rPr>
              <a:t>O</a:t>
            </a:r>
            <a:r>
              <a:rPr lang="en-US" altLang="en-US" dirty="0"/>
              <a:t>)</a:t>
            </a:r>
          </a:p>
        </p:txBody>
      </p:sp>
      <p:pic>
        <p:nvPicPr>
          <p:cNvPr id="18435" name="Picture 214">
            <a:extLst>
              <a:ext uri="{FF2B5EF4-FFF2-40B4-BE49-F238E27FC236}">
                <a16:creationId xmlns:a16="http://schemas.microsoft.com/office/drawing/2014/main" id="{C7923173-7019-4475-8ED7-6049EBD7A3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2850" y="876300"/>
            <a:ext cx="6497638" cy="5522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624" name="Rectangle 216">
            <a:extLst>
              <a:ext uri="{FF2B5EF4-FFF2-40B4-BE49-F238E27FC236}">
                <a16:creationId xmlns:a16="http://schemas.microsoft.com/office/drawing/2014/main" id="{72E979E6-BFA2-4FF0-843D-C20A8C7AAFEF}"/>
              </a:ext>
            </a:extLst>
          </p:cNvPr>
          <p:cNvSpPr>
            <a:spLocks noChangeArrowheads="1"/>
          </p:cNvSpPr>
          <p:nvPr/>
        </p:nvSpPr>
        <p:spPr bwMode="auto">
          <a:xfrm>
            <a:off x="836613" y="6527800"/>
            <a:ext cx="7734300" cy="274638"/>
          </a:xfrm>
          <a:prstGeom prst="rect">
            <a:avLst/>
          </a:prstGeom>
          <a:noFill/>
          <a:ln>
            <a:noFill/>
          </a:ln>
          <a:effectLst/>
        </p:spPr>
        <p:txBody>
          <a:bodyPr lIns="92075" tIns="46038" rIns="92075" bIns="46038">
            <a:spAutoFit/>
          </a:bodyPr>
          <a:lstStyle/>
          <a:p>
            <a:pPr>
              <a:defRPr/>
            </a:pPr>
            <a:r>
              <a:rPr lang="en-US" altLang="en-US" sz="1200" b="1">
                <a:solidFill>
                  <a:srgbClr val="FF5050"/>
                </a:solidFill>
                <a:effectLst>
                  <a:outerShdw blurRad="38100" dist="38100" dir="2700000" algn="tl">
                    <a:srgbClr val="000000"/>
                  </a:outerShdw>
                </a:effectLst>
                <a:latin typeface="Arial" panose="020B0604020202020204" pitchFamily="34" charset="0"/>
              </a:rPr>
              <a:t>Figure 10-4. </a:t>
            </a:r>
            <a:r>
              <a:rPr lang="en-US" altLang="en-US" sz="1200" b="1">
                <a:solidFill>
                  <a:srgbClr val="FFCC00"/>
                </a:solidFill>
                <a:latin typeface="Arial" panose="020B0604020202020204" pitchFamily="34" charset="0"/>
              </a:rPr>
              <a:t>Dry peridotite solidus compared to several experiments on H2O-saturated peridotites.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7410">
                                            <p:txEl>
                                              <p:pRg st="0" end="0"/>
                                            </p:txEl>
                                          </p:spTgt>
                                        </p:tgtEl>
                                        <p:attrNameLst>
                                          <p:attrName>style.visibility</p:attrName>
                                        </p:attrNameLst>
                                      </p:cBhvr>
                                      <p:to>
                                        <p:strVal val="visible"/>
                                      </p:to>
                                    </p:set>
                                    <p:anim calcmode="lin" valueType="num">
                                      <p:cBhvr additive="base">
                                        <p:cTn id="7" dur="500" fill="hold"/>
                                        <p:tgtEl>
                                          <p:spTgt spid="17410">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410">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build="p" bldLvl="2"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56970" y="1673429"/>
            <a:ext cx="3112417" cy="2786354"/>
          </a:xfrm>
          <a:prstGeom prst="rect">
            <a:avLst/>
          </a:prstGeom>
        </p:spPr>
      </p:pic>
      <p:pic>
        <p:nvPicPr>
          <p:cNvPr id="10" name="Picture 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94" y="4488246"/>
            <a:ext cx="8470570" cy="2152396"/>
          </a:xfrm>
          <a:prstGeom prst="rect">
            <a:avLst/>
          </a:prstGeom>
        </p:spPr>
      </p:pic>
      <p:sp>
        <p:nvSpPr>
          <p:cNvPr id="12" name="Down Arrow 11"/>
          <p:cNvSpPr/>
          <p:nvPr/>
        </p:nvSpPr>
        <p:spPr>
          <a:xfrm rot="2255885">
            <a:off x="6033512" y="3310304"/>
            <a:ext cx="268108" cy="2285667"/>
          </a:xfrm>
          <a:prstGeom prst="down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p:cNvSpPr txBox="1"/>
          <p:nvPr/>
        </p:nvSpPr>
        <p:spPr>
          <a:xfrm>
            <a:off x="6646728" y="3200202"/>
            <a:ext cx="1971514" cy="461665"/>
          </a:xfrm>
          <a:prstGeom prst="rect">
            <a:avLst/>
          </a:prstGeom>
          <a:noFill/>
        </p:spPr>
        <p:txBody>
          <a:bodyPr wrap="square" rtlCol="0">
            <a:spAutoFit/>
          </a:bodyPr>
          <a:lstStyle/>
          <a:p>
            <a:pPr algn="ctr"/>
            <a:r>
              <a:rPr lang="en-GB" sz="2400" b="1" dirty="0"/>
              <a:t>2. Hotspot</a:t>
            </a:r>
          </a:p>
        </p:txBody>
      </p:sp>
      <p:sp>
        <p:nvSpPr>
          <p:cNvPr id="14" name="TextBox 13"/>
          <p:cNvSpPr txBox="1"/>
          <p:nvPr/>
        </p:nvSpPr>
        <p:spPr>
          <a:xfrm>
            <a:off x="6660232" y="1673429"/>
            <a:ext cx="2376264" cy="830997"/>
          </a:xfrm>
          <a:prstGeom prst="rect">
            <a:avLst/>
          </a:prstGeom>
          <a:noFill/>
        </p:spPr>
        <p:txBody>
          <a:bodyPr wrap="square" rtlCol="0">
            <a:spAutoFit/>
          </a:bodyPr>
          <a:lstStyle/>
          <a:p>
            <a:r>
              <a:rPr lang="en-GB" sz="2400" b="1" dirty="0"/>
              <a:t>Magma generated</a:t>
            </a:r>
          </a:p>
        </p:txBody>
      </p:sp>
      <p:cxnSp>
        <p:nvCxnSpPr>
          <p:cNvPr id="15" name="Straight Arrow Connector 14"/>
          <p:cNvCxnSpPr/>
          <p:nvPr/>
        </p:nvCxnSpPr>
        <p:spPr>
          <a:xfrm flipH="1">
            <a:off x="5652120" y="2132856"/>
            <a:ext cx="1008112" cy="1368152"/>
          </a:xfrm>
          <a:prstGeom prst="straightConnector1">
            <a:avLst/>
          </a:prstGeom>
          <a:ln w="28575">
            <a:solidFill>
              <a:schemeClr val="tx1"/>
            </a:solidFill>
            <a:tailEnd type="oval"/>
          </a:ln>
        </p:spPr>
        <p:style>
          <a:lnRef idx="1">
            <a:schemeClr val="accent1"/>
          </a:lnRef>
          <a:fillRef idx="0">
            <a:schemeClr val="accent1"/>
          </a:fillRef>
          <a:effectRef idx="0">
            <a:schemeClr val="accent1"/>
          </a:effectRef>
          <a:fontRef idx="minor">
            <a:schemeClr val="tx1"/>
          </a:fontRef>
        </p:style>
      </p:cxnSp>
      <p:pic>
        <p:nvPicPr>
          <p:cNvPr id="5122"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792" y="216104"/>
            <a:ext cx="855345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63462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27C5C-4763-48C9-8E36-C8FD00B5100D}"/>
              </a:ext>
            </a:extLst>
          </p:cNvPr>
          <p:cNvSpPr>
            <a:spLocks noGrp="1"/>
          </p:cNvSpPr>
          <p:nvPr>
            <p:ph type="title"/>
          </p:nvPr>
        </p:nvSpPr>
        <p:spPr/>
        <p:txBody>
          <a:bodyPr/>
          <a:lstStyle/>
          <a:p>
            <a:r>
              <a:rPr lang="en-IN" dirty="0"/>
              <a:t>Hotspots</a:t>
            </a:r>
          </a:p>
        </p:txBody>
      </p:sp>
      <p:pic>
        <p:nvPicPr>
          <p:cNvPr id="2050" name="Picture 2" descr="Magnetic Anomalies at the World's ...">
            <a:extLst>
              <a:ext uri="{FF2B5EF4-FFF2-40B4-BE49-F238E27FC236}">
                <a16:creationId xmlns:a16="http://schemas.microsoft.com/office/drawing/2014/main" id="{9BD40469-1D1A-46D7-BF7B-2CFF318FD67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57200" y="1828800"/>
            <a:ext cx="8498010" cy="43711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2329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1350" y="2009364"/>
            <a:ext cx="8085508" cy="4640655"/>
          </a:xfrm>
          <a:prstGeom prst="rect">
            <a:avLst/>
          </a:prstGeom>
        </p:spPr>
      </p:pic>
      <p:sp>
        <p:nvSpPr>
          <p:cNvPr id="5" name="TextBox 4"/>
          <p:cNvSpPr txBox="1"/>
          <p:nvPr/>
        </p:nvSpPr>
        <p:spPr>
          <a:xfrm>
            <a:off x="361350" y="1890213"/>
            <a:ext cx="504056" cy="369332"/>
          </a:xfrm>
          <a:prstGeom prst="rect">
            <a:avLst/>
          </a:prstGeom>
          <a:noFill/>
        </p:spPr>
        <p:txBody>
          <a:bodyPr wrap="square" rtlCol="0">
            <a:spAutoFit/>
          </a:bodyPr>
          <a:lstStyle/>
          <a:p>
            <a:r>
              <a:rPr lang="en-GB" b="1" dirty="0"/>
              <a:t>a)</a:t>
            </a:r>
          </a:p>
        </p:txBody>
      </p:sp>
      <p:sp>
        <p:nvSpPr>
          <p:cNvPr id="7" name="TextBox 6"/>
          <p:cNvSpPr txBox="1"/>
          <p:nvPr/>
        </p:nvSpPr>
        <p:spPr>
          <a:xfrm>
            <a:off x="2461525" y="1824698"/>
            <a:ext cx="504056" cy="369332"/>
          </a:xfrm>
          <a:prstGeom prst="rect">
            <a:avLst/>
          </a:prstGeom>
          <a:noFill/>
        </p:spPr>
        <p:txBody>
          <a:bodyPr wrap="square" rtlCol="0">
            <a:spAutoFit/>
          </a:bodyPr>
          <a:lstStyle/>
          <a:p>
            <a:r>
              <a:rPr lang="en-GB" b="1" dirty="0"/>
              <a:t>b)</a:t>
            </a:r>
          </a:p>
        </p:txBody>
      </p:sp>
      <p:sp>
        <p:nvSpPr>
          <p:cNvPr id="8" name="TextBox 7"/>
          <p:cNvSpPr txBox="1"/>
          <p:nvPr/>
        </p:nvSpPr>
        <p:spPr>
          <a:xfrm>
            <a:off x="4379091" y="1824395"/>
            <a:ext cx="504056" cy="369332"/>
          </a:xfrm>
          <a:prstGeom prst="rect">
            <a:avLst/>
          </a:prstGeom>
          <a:noFill/>
        </p:spPr>
        <p:txBody>
          <a:bodyPr wrap="square" rtlCol="0">
            <a:spAutoFit/>
          </a:bodyPr>
          <a:lstStyle/>
          <a:p>
            <a:r>
              <a:rPr lang="en-GB" b="1" dirty="0"/>
              <a:t>c)</a:t>
            </a:r>
          </a:p>
        </p:txBody>
      </p:sp>
      <p:sp>
        <p:nvSpPr>
          <p:cNvPr id="9" name="TextBox 8"/>
          <p:cNvSpPr txBox="1"/>
          <p:nvPr/>
        </p:nvSpPr>
        <p:spPr>
          <a:xfrm>
            <a:off x="6539331" y="1792432"/>
            <a:ext cx="504056" cy="369332"/>
          </a:xfrm>
          <a:prstGeom prst="rect">
            <a:avLst/>
          </a:prstGeom>
          <a:noFill/>
        </p:spPr>
        <p:txBody>
          <a:bodyPr wrap="square" rtlCol="0">
            <a:spAutoFit/>
          </a:bodyPr>
          <a:lstStyle/>
          <a:p>
            <a:r>
              <a:rPr lang="en-GB" b="1" dirty="0"/>
              <a:t>d)</a:t>
            </a:r>
          </a:p>
        </p:txBody>
      </p:sp>
      <p:sp>
        <p:nvSpPr>
          <p:cNvPr id="4" name="Title 3"/>
          <p:cNvSpPr>
            <a:spLocks noGrp="1"/>
          </p:cNvSpPr>
          <p:nvPr>
            <p:ph type="title"/>
          </p:nvPr>
        </p:nvSpPr>
        <p:spPr>
          <a:xfrm>
            <a:off x="0" y="27921"/>
            <a:ext cx="9144000" cy="1143000"/>
          </a:xfrm>
        </p:spPr>
        <p:txBody>
          <a:bodyPr/>
          <a:lstStyle/>
          <a:p>
            <a:r>
              <a:rPr lang="en-GB" dirty="0"/>
              <a:t>Magma generation from the mantle</a:t>
            </a:r>
          </a:p>
        </p:txBody>
      </p:sp>
    </p:spTree>
    <p:extLst>
      <p:ext uri="{BB962C8B-B14F-4D97-AF65-F5344CB8AC3E}">
        <p14:creationId xmlns:p14="http://schemas.microsoft.com/office/powerpoint/2010/main" val="20068478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842" name="Picture 4">
            <a:extLst>
              <a:ext uri="{FF2B5EF4-FFF2-40B4-BE49-F238E27FC236}">
                <a16:creationId xmlns:a16="http://schemas.microsoft.com/office/drawing/2014/main" id="{4F1B944B-3240-4396-9E6A-2644FC7A96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8778"/>
          <a:stretch>
            <a:fillRect/>
          </a:stretch>
        </p:blipFill>
        <p:spPr bwMode="auto">
          <a:xfrm>
            <a:off x="3886200" y="148431"/>
            <a:ext cx="4652962" cy="6256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B90017C8-1D87-4545-93BF-5146A606165E}"/>
              </a:ext>
            </a:extLst>
          </p:cNvPr>
          <p:cNvSpPr txBox="1"/>
          <p:nvPr/>
        </p:nvSpPr>
        <p:spPr>
          <a:xfrm>
            <a:off x="152400" y="990600"/>
            <a:ext cx="3352800" cy="1703030"/>
          </a:xfrm>
          <a:prstGeom prst="rect">
            <a:avLst/>
          </a:prstGeom>
          <a:noFill/>
        </p:spPr>
        <p:txBody>
          <a:bodyPr wrap="square">
            <a:spAutoFit/>
          </a:bodyPr>
          <a:lstStyle/>
          <a:p>
            <a:pPr algn="just">
              <a:lnSpc>
                <a:spcPct val="150000"/>
              </a:lnSpc>
            </a:pPr>
            <a:r>
              <a:rPr lang="en-US" dirty="0"/>
              <a:t>The Earth’s core comprises about </a:t>
            </a:r>
            <a:r>
              <a:rPr lang="en-US" dirty="0">
                <a:solidFill>
                  <a:srgbClr val="00B050"/>
                </a:solidFill>
              </a:rPr>
              <a:t>16%</a:t>
            </a:r>
            <a:r>
              <a:rPr lang="en-US" dirty="0"/>
              <a:t> of the Earth’s volume and </a:t>
            </a:r>
            <a:r>
              <a:rPr lang="en-US" dirty="0">
                <a:solidFill>
                  <a:srgbClr val="00B050"/>
                </a:solidFill>
              </a:rPr>
              <a:t>31%</a:t>
            </a:r>
            <a:r>
              <a:rPr lang="en-US" dirty="0"/>
              <a:t> of the Earth’s mass.</a:t>
            </a:r>
            <a:endParaRPr lang="en-IN" dirty="0"/>
          </a:p>
        </p:txBody>
      </p:sp>
      <p:sp>
        <p:nvSpPr>
          <p:cNvPr id="6" name="TextBox 5">
            <a:extLst>
              <a:ext uri="{FF2B5EF4-FFF2-40B4-BE49-F238E27FC236}">
                <a16:creationId xmlns:a16="http://schemas.microsoft.com/office/drawing/2014/main" id="{9772B079-E961-4C97-B869-A5BE72BD4034}"/>
              </a:ext>
            </a:extLst>
          </p:cNvPr>
          <p:cNvSpPr txBox="1"/>
          <p:nvPr/>
        </p:nvSpPr>
        <p:spPr>
          <a:xfrm>
            <a:off x="36786" y="3276600"/>
            <a:ext cx="3429000" cy="2118529"/>
          </a:xfrm>
          <a:prstGeom prst="rect">
            <a:avLst/>
          </a:prstGeom>
          <a:noFill/>
        </p:spPr>
        <p:txBody>
          <a:bodyPr wrap="square">
            <a:spAutoFit/>
          </a:bodyPr>
          <a:lstStyle/>
          <a:p>
            <a:pPr algn="just">
              <a:lnSpc>
                <a:spcPct val="150000"/>
              </a:lnSpc>
            </a:pPr>
            <a:r>
              <a:rPr lang="en-US" dirty="0"/>
              <a:t>Composition for the core (in wt%): </a:t>
            </a:r>
            <a:r>
              <a:rPr lang="en-US" dirty="0">
                <a:solidFill>
                  <a:srgbClr val="00B050"/>
                </a:solidFill>
              </a:rPr>
              <a:t>Fe – 85.55, O – 5.18, Ni – 4.88, S – 2.69, Cr – 0.45, Mn – 0.41, P – 0.35, Co – 0.22, Cl – 0.07, and possibly K – 0.02</a:t>
            </a:r>
            <a:endParaRPr lang="en-IN" dirty="0">
              <a:solidFill>
                <a:srgbClr val="00B050"/>
              </a:solidFill>
            </a:endParaRPr>
          </a:p>
        </p:txBody>
      </p:sp>
    </p:spTree>
    <p:extLst>
      <p:ext uri="{BB962C8B-B14F-4D97-AF65-F5344CB8AC3E}">
        <p14:creationId xmlns:p14="http://schemas.microsoft.com/office/powerpoint/2010/main" val="22784239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06A0D-AD17-4F11-BC74-3D2CD9C0BE58}"/>
              </a:ext>
            </a:extLst>
          </p:cNvPr>
          <p:cNvSpPr>
            <a:spLocks noGrp="1"/>
          </p:cNvSpPr>
          <p:nvPr>
            <p:ph type="title"/>
          </p:nvPr>
        </p:nvSpPr>
        <p:spPr>
          <a:xfrm>
            <a:off x="0" y="10510"/>
            <a:ext cx="9677400" cy="1143000"/>
          </a:xfrm>
        </p:spPr>
        <p:txBody>
          <a:bodyPr/>
          <a:lstStyle/>
          <a:p>
            <a:r>
              <a:rPr lang="en-IN" dirty="0"/>
              <a:t>Magmatic differentiation and melt generation</a:t>
            </a:r>
          </a:p>
        </p:txBody>
      </p:sp>
      <p:pic>
        <p:nvPicPr>
          <p:cNvPr id="5" name="Content Placeholder 4">
            <a:extLst>
              <a:ext uri="{FF2B5EF4-FFF2-40B4-BE49-F238E27FC236}">
                <a16:creationId xmlns:a16="http://schemas.microsoft.com/office/drawing/2014/main" id="{F173A3D3-882C-445F-9AC8-17B1E19E3D09}"/>
              </a:ext>
            </a:extLst>
          </p:cNvPr>
          <p:cNvPicPr>
            <a:picLocks noGrp="1" noChangeAspect="1"/>
          </p:cNvPicPr>
          <p:nvPr>
            <p:ph idx="1"/>
          </p:nvPr>
        </p:nvPicPr>
        <p:blipFill>
          <a:blip r:embed="rId2"/>
          <a:stretch>
            <a:fillRect/>
          </a:stretch>
        </p:blipFill>
        <p:spPr>
          <a:xfrm>
            <a:off x="1295400" y="1433404"/>
            <a:ext cx="5410200" cy="5243305"/>
          </a:xfrm>
        </p:spPr>
      </p:pic>
    </p:spTree>
    <p:extLst>
      <p:ext uri="{BB962C8B-B14F-4D97-AF65-F5344CB8AC3E}">
        <p14:creationId xmlns:p14="http://schemas.microsoft.com/office/powerpoint/2010/main" val="4003627172"/>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3612</TotalTime>
  <Words>1297</Words>
  <Application>Microsoft Office PowerPoint</Application>
  <PresentationFormat>On-screen Show (4:3)</PresentationFormat>
  <Paragraphs>73</Paragraphs>
  <Slides>22</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Monotype Sorts</vt:lpstr>
      <vt:lpstr>Symbol</vt:lpstr>
      <vt:lpstr>Times New Roman</vt:lpstr>
      <vt:lpstr>Default Design</vt:lpstr>
      <vt:lpstr>EES203: Geochemistry </vt:lpstr>
      <vt:lpstr>PowerPoint Presentation</vt:lpstr>
      <vt:lpstr>PowerPoint Presentation</vt:lpstr>
      <vt:lpstr>Lherzolite: A type of peridotite with Olivine &gt; Opx + Cpx</vt:lpstr>
      <vt:lpstr>PowerPoint Presentation</vt:lpstr>
      <vt:lpstr>PowerPoint Presentation</vt:lpstr>
      <vt:lpstr>PowerPoint Presentation</vt:lpstr>
      <vt:lpstr>PowerPoint Presentation</vt:lpstr>
      <vt:lpstr>PowerPoint Presentation</vt:lpstr>
      <vt:lpstr>Spinel: magnesium aluminate (MgAl₂O₄),  </vt:lpstr>
      <vt:lpstr>PowerPoint Presentation</vt:lpstr>
      <vt:lpstr>Magma generation</vt:lpstr>
      <vt:lpstr>PowerPoint Presentation</vt:lpstr>
      <vt:lpstr>PowerPoint Presentation</vt:lpstr>
      <vt:lpstr>PowerPoint Presentation</vt:lpstr>
      <vt:lpstr>PowerPoint Presentation</vt:lpstr>
      <vt:lpstr>PowerPoint Presentation</vt:lpstr>
      <vt:lpstr>PowerPoint Presentation</vt:lpstr>
      <vt:lpstr>Hotspots</vt:lpstr>
      <vt:lpstr>Magma generation from the mantle</vt:lpstr>
      <vt:lpstr>PowerPoint Presentation</vt:lpstr>
      <vt:lpstr>Magmatic differentiation and melt generation</vt:lpstr>
    </vt:vector>
  </TitlesOfParts>
  <Company>njcu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dfreile</dc:creator>
  <cp:lastModifiedBy>Dell</cp:lastModifiedBy>
  <cp:revision>75</cp:revision>
  <dcterms:created xsi:type="dcterms:W3CDTF">2005-10-26T18:01:58Z</dcterms:created>
  <dcterms:modified xsi:type="dcterms:W3CDTF">2025-01-24T09:54:03Z</dcterms:modified>
</cp:coreProperties>
</file>