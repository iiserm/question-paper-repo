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36"/>
  </p:notesMasterIdLst>
  <p:sldIdLst>
    <p:sldId id="256" r:id="rId2"/>
    <p:sldId id="325" r:id="rId3"/>
    <p:sldId id="278" r:id="rId4"/>
    <p:sldId id="297" r:id="rId5"/>
    <p:sldId id="259" r:id="rId6"/>
    <p:sldId id="280" r:id="rId7"/>
    <p:sldId id="260" r:id="rId8"/>
    <p:sldId id="279" r:id="rId9"/>
    <p:sldId id="283" r:id="rId10"/>
    <p:sldId id="284" r:id="rId11"/>
    <p:sldId id="285" r:id="rId12"/>
    <p:sldId id="298" r:id="rId13"/>
    <p:sldId id="288" r:id="rId14"/>
    <p:sldId id="299" r:id="rId15"/>
    <p:sldId id="300" r:id="rId16"/>
    <p:sldId id="301" r:id="rId17"/>
    <p:sldId id="264" r:id="rId18"/>
    <p:sldId id="304" r:id="rId19"/>
    <p:sldId id="265" r:id="rId20"/>
    <p:sldId id="302" r:id="rId21"/>
    <p:sldId id="277" r:id="rId22"/>
    <p:sldId id="303" r:id="rId23"/>
    <p:sldId id="267" r:id="rId24"/>
    <p:sldId id="311" r:id="rId25"/>
    <p:sldId id="291" r:id="rId26"/>
    <p:sldId id="290" r:id="rId27"/>
    <p:sldId id="269" r:id="rId28"/>
    <p:sldId id="309" r:id="rId29"/>
    <p:sldId id="310" r:id="rId30"/>
    <p:sldId id="268" r:id="rId31"/>
    <p:sldId id="270" r:id="rId32"/>
    <p:sldId id="286" r:id="rId33"/>
    <p:sldId id="287" r:id="rId34"/>
    <p:sldId id="281" r:id="rId3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32" autoAdjust="0"/>
    <p:restoredTop sz="94660"/>
  </p:normalViewPr>
  <p:slideViewPr>
    <p:cSldViewPr>
      <p:cViewPr varScale="1">
        <p:scale>
          <a:sx n="66" d="100"/>
          <a:sy n="66" d="100"/>
        </p:scale>
        <p:origin x="632" y="36"/>
      </p:cViewPr>
      <p:guideLst>
        <p:guide orient="horz" pos="2160"/>
        <p:guide pos="2880"/>
      </p:guideLst>
    </p:cSldViewPr>
  </p:slideViewPr>
  <p:notesTextViewPr>
    <p:cViewPr>
      <p:scale>
        <a:sx n="100" d="100"/>
        <a:sy n="100" d="100"/>
      </p:scale>
      <p:origin x="0" y="0"/>
    </p:cViewPr>
  </p:notesTextViewPr>
  <p:notesViewPr>
    <p:cSldViewPr>
      <p:cViewPr varScale="1">
        <p:scale>
          <a:sx n="55" d="100"/>
          <a:sy n="55" d="100"/>
        </p:scale>
        <p:origin x="-2904"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291B680-6B4D-4887-BA2E-39AB1C301A18}" type="datetimeFigureOut">
              <a:rPr lang="en-US" smtClean="0"/>
              <a:pPr/>
              <a:t>5/3/2025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B81F0EA-EA05-4EC1-BE7D-6DB10C16807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https://youtu.be/tP5ZKUTWiuQ?si=K1RwNbPQPr2_qFsq</a:t>
            </a:r>
            <a:endParaRPr lang="en-US" dirty="0"/>
          </a:p>
        </p:txBody>
      </p:sp>
      <p:sp>
        <p:nvSpPr>
          <p:cNvPr id="4" name="Slide Number Placeholder 3"/>
          <p:cNvSpPr>
            <a:spLocks noGrp="1"/>
          </p:cNvSpPr>
          <p:nvPr>
            <p:ph type="sldNum" sz="quarter" idx="10"/>
          </p:nvPr>
        </p:nvSpPr>
        <p:spPr/>
        <p:txBody>
          <a:bodyPr/>
          <a:lstStyle/>
          <a:p>
            <a:fld id="{EB81F0EA-EA05-4EC1-BE7D-6DB10C168076}" type="slidenum">
              <a:rPr lang="en-US" smtClean="0"/>
              <a:pPr/>
              <a:t>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52AF0-E0EE-D796-D515-F3D9E734B5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C4FA42-7981-F746-1333-818B3D3BA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9E2492-226D-F21E-A7E3-46E2E6947513}"/>
              </a:ext>
            </a:extLst>
          </p:cNvPr>
          <p:cNvSpPr>
            <a:spLocks noGrp="1"/>
          </p:cNvSpPr>
          <p:nvPr>
            <p:ph type="body" idx="1"/>
          </p:nvPr>
        </p:nvSpPr>
        <p:spPr/>
        <p:txBody>
          <a:bodyPr>
            <a:normAutofit/>
          </a:bodyPr>
          <a:lstStyle/>
          <a:p>
            <a:r>
              <a:rPr lang="en-US"/>
              <a:t>https://youtu.be/tP5ZKUTWiuQ?si=K1RwNbPQPr2_qFsq</a:t>
            </a:r>
            <a:endParaRPr lang="en-US" dirty="0"/>
          </a:p>
        </p:txBody>
      </p:sp>
      <p:sp>
        <p:nvSpPr>
          <p:cNvPr id="4" name="Slide Number Placeholder 3">
            <a:extLst>
              <a:ext uri="{FF2B5EF4-FFF2-40B4-BE49-F238E27FC236}">
                <a16:creationId xmlns:a16="http://schemas.microsoft.com/office/drawing/2014/main" id="{30104259-9C28-FAD3-C811-02255F86E33D}"/>
              </a:ext>
            </a:extLst>
          </p:cNvPr>
          <p:cNvSpPr>
            <a:spLocks noGrp="1"/>
          </p:cNvSpPr>
          <p:nvPr>
            <p:ph type="sldNum" sz="quarter" idx="10"/>
          </p:nvPr>
        </p:nvSpPr>
        <p:spPr/>
        <p:txBody>
          <a:bodyPr/>
          <a:lstStyle/>
          <a:p>
            <a:fld id="{EB81F0EA-EA05-4EC1-BE7D-6DB10C168076}" type="slidenum">
              <a:rPr lang="en-US" smtClean="0"/>
              <a:pPr/>
              <a:t>6</a:t>
            </a:fld>
            <a:endParaRPr lang="en-US"/>
          </a:p>
        </p:txBody>
      </p:sp>
    </p:spTree>
    <p:extLst>
      <p:ext uri="{BB962C8B-B14F-4D97-AF65-F5344CB8AC3E}">
        <p14:creationId xmlns:p14="http://schemas.microsoft.com/office/powerpoint/2010/main" val="38405454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Title 13"/>
          <p:cNvSpPr>
            <a:spLocks noGrp="1"/>
          </p:cNvSpPr>
          <p:nvPr>
            <p:ph type="ctrTitle"/>
          </p:nvPr>
        </p:nvSpPr>
        <p:spPr>
          <a:xfrm>
            <a:off x="1432560" y="359898"/>
            <a:ext cx="7406640" cy="1472184"/>
          </a:xfrm>
        </p:spPr>
        <p:txBody>
          <a:bodyPr anchor="b"/>
          <a:lstStyle>
            <a:lvl1pPr algn="l">
              <a:defRPr/>
            </a:lvl1pPr>
            <a:extLst/>
          </a:lstStyle>
          <a:p>
            <a:r>
              <a:rPr kumimoji="0" lang="en-US"/>
              <a:t>Click to edit Master title style</a:t>
            </a:r>
          </a:p>
        </p:txBody>
      </p:sp>
      <p:sp>
        <p:nvSpPr>
          <p:cNvPr id="22" name="Subtitle 21"/>
          <p:cNvSpPr>
            <a:spLocks noGrp="1"/>
          </p:cNvSpPr>
          <p:nvPr>
            <p:ph type="subTitle" idx="1"/>
          </p:nvPr>
        </p:nvSpPr>
        <p:spPr>
          <a:xfrm>
            <a:off x="1432560" y="1850064"/>
            <a:ext cx="7406640" cy="1752600"/>
          </a:xfrm>
        </p:spPr>
        <p:txBody>
          <a:bodyPr tIns="0"/>
          <a:lstStyle>
            <a:lvl1pPr marL="27432" indent="0" algn="l">
              <a:buNone/>
              <a:defRPr sz="2600">
                <a:solidFill>
                  <a:schemeClr val="tx2">
                    <a:shade val="30000"/>
                    <a:satMod val="150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a:t>Click to edit Master subtitle style</a:t>
            </a:r>
          </a:p>
        </p:txBody>
      </p:sp>
      <p:sp>
        <p:nvSpPr>
          <p:cNvPr id="7" name="Date Placeholder 6"/>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20" name="Footer Placeholder 19"/>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B6F15528-21DE-4FAA-801E-634DDDAF4B2B}" type="slidenum">
              <a:rPr lang="en-US" smtClean="0"/>
              <a:pPr/>
              <a:t>‹#›</a:t>
            </a:fld>
            <a:endParaRPr lang="en-US" dirty="0"/>
          </a:p>
        </p:txBody>
      </p:sp>
      <p:sp>
        <p:nvSpPr>
          <p:cNvPr id="8" name="Oval 7"/>
          <p:cNvSpPr/>
          <p:nvPr/>
        </p:nvSpPr>
        <p:spPr>
          <a:xfrm>
            <a:off x="921433" y="1413802"/>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1157176" y="1345016"/>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transition>
    <p:wipe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2282890" y="-54"/>
            <a:ext cx="6858000"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2578392" y="2600325"/>
            <a:ext cx="6400800" cy="2286000"/>
          </a:xfrm>
        </p:spPr>
        <p:txBody>
          <a:bodyPr anchor="t"/>
          <a:lstStyle>
            <a:lvl1pPr algn="l">
              <a:lnSpc>
                <a:spcPts val="4500"/>
              </a:lnSpc>
              <a:buNone/>
              <a:defRPr sz="4000" b="1" cap="all"/>
            </a:lvl1pPr>
            <a:extLst/>
          </a:lstStyle>
          <a:p>
            <a:r>
              <a:rPr kumimoji="0" lang="en-US"/>
              <a:t>Click to edit Master title style</a:t>
            </a:r>
          </a:p>
        </p:txBody>
      </p:sp>
      <p:sp>
        <p:nvSpPr>
          <p:cNvPr id="3" name="Text Placeholder 2"/>
          <p:cNvSpPr>
            <a:spLocks noGrp="1"/>
          </p:cNvSpPr>
          <p:nvPr>
            <p:ph type="body" idx="1"/>
          </p:nvPr>
        </p:nvSpPr>
        <p:spPr>
          <a:xfrm>
            <a:off x="2578392" y="1066800"/>
            <a:ext cx="6400800" cy="1509712"/>
          </a:xfrm>
        </p:spPr>
        <p:txBody>
          <a:bodyPr anchor="b"/>
          <a:lstStyle>
            <a:lvl1pPr marL="18288" indent="0">
              <a:lnSpc>
                <a:spcPts val="2300"/>
              </a:lnSpc>
              <a:spcBef>
                <a:spcPts val="0"/>
              </a:spcBef>
              <a:buNone/>
              <a:defRPr sz="2000">
                <a:solidFill>
                  <a:schemeClr val="tx2">
                    <a:shade val="30000"/>
                    <a:satMod val="150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
        <p:nvSpPr>
          <p:cNvPr id="10" name="Rectangle 9"/>
          <p:cNvSpPr/>
          <p:nvPr/>
        </p:nvSpPr>
        <p:spPr bwMode="invGray">
          <a:xfrm>
            <a:off x="2286000" y="0"/>
            <a:ext cx="76200"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2172321" y="2814656"/>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2408064" y="2745870"/>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transition>
    <p:wipe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lstStyle/>
          <a:p>
            <a:r>
              <a:rPr kumimoji="0" lang="en-US"/>
              <a:t>Click to edit Master title style</a:t>
            </a:r>
          </a:p>
        </p:txBody>
      </p:sp>
      <p:sp>
        <p:nvSpPr>
          <p:cNvPr id="3" name="Content Placeholder 2"/>
          <p:cNvSpPr>
            <a:spLocks noGrp="1"/>
          </p:cNvSpPr>
          <p:nvPr>
            <p:ph sz="half" idx="1"/>
          </p:nvPr>
        </p:nvSpPr>
        <p:spPr>
          <a:xfrm>
            <a:off x="1435608" y="1524000"/>
            <a:ext cx="3657600" cy="4663440"/>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5276088" y="1524000"/>
            <a:ext cx="3657600" cy="4663440"/>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5160336"/>
            <a:ext cx="8229600" cy="1143000"/>
          </a:xfrm>
        </p:spPr>
        <p:txBody>
          <a:bodyPr anchor="ctr"/>
          <a:lstStyle>
            <a:lvl1pPr algn="ctr">
              <a:defRPr sz="4500" b="1" cap="none" baseline="0"/>
            </a:lvl1pPr>
            <a:extLst/>
          </a:lstStyle>
          <a:p>
            <a:r>
              <a:rPr kumimoji="0" lang="en-US"/>
              <a:t>Click to edit Master title style</a:t>
            </a:r>
          </a:p>
        </p:txBody>
      </p:sp>
      <p:sp>
        <p:nvSpPr>
          <p:cNvPr id="3" name="Text Placeholder 2"/>
          <p:cNvSpPr>
            <a:spLocks noGrp="1"/>
          </p:cNvSpPr>
          <p:nvPr>
            <p:ph type="body" idx="1"/>
          </p:nvPr>
        </p:nvSpPr>
        <p:spPr>
          <a:xfrm>
            <a:off x="457200" y="328278"/>
            <a:ext cx="4023360" cy="640080"/>
          </a:xfrm>
          <a:solidFill>
            <a:schemeClr val="bg1"/>
          </a:solidFill>
          <a:ln w="10795">
            <a:solidFill>
              <a:schemeClr val="bg1"/>
            </a:solidFill>
            <a:miter lim="800000"/>
          </a:ln>
        </p:spPr>
        <p:txBody>
          <a:bodyPr anchor="ctr"/>
          <a:lstStyle>
            <a:lvl1pPr marL="64008"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63440" y="328278"/>
            <a:ext cx="4023360" cy="640080"/>
          </a:xfrm>
          <a:solidFill>
            <a:schemeClr val="bg1"/>
          </a:solidFill>
          <a:ln w="10795">
            <a:solidFill>
              <a:schemeClr val="bg1"/>
            </a:solidFill>
            <a:miter lim="800000"/>
          </a:ln>
        </p:spPr>
        <p:txBody>
          <a:bodyPr anchor="ctr"/>
          <a:lstStyle>
            <a:lvl1pPr marL="64008"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969336"/>
            <a:ext cx="4023360" cy="4114800"/>
          </a:xfrm>
          <a:ln w="10795">
            <a:solidFill>
              <a:schemeClr val="bg1"/>
            </a:solidFill>
            <a:prstDash val="dash"/>
            <a:miter lim="800000"/>
          </a:ln>
        </p:spPr>
        <p:txBody>
          <a:bodyPr/>
          <a:lstStyle>
            <a:lvl1pPr marL="393192"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63440" y="969336"/>
            <a:ext cx="4023360" cy="4114800"/>
          </a:xfrm>
          <a:ln w="10795">
            <a:solidFill>
              <a:schemeClr val="bg1"/>
            </a:solidFill>
            <a:prstDash val="dash"/>
            <a:miter lim="800000"/>
          </a:ln>
        </p:spPr>
        <p:txBody>
          <a:bodyPr/>
          <a:lstStyle>
            <a:lvl1pPr marL="393192"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nchor="ctr"/>
          <a:lstStyle/>
          <a:p>
            <a:r>
              <a:rPr kumimoji="0"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1014984" y="0"/>
            <a:ext cx="8129016"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Date Placeholder 1"/>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dirty="0"/>
          </a:p>
        </p:txBody>
      </p:sp>
      <p:sp>
        <p:nvSpPr>
          <p:cNvPr id="6" name="Rectangle 5"/>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wipe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16778"/>
            <a:ext cx="3810000" cy="1162050"/>
          </a:xfrm>
          <a:ln>
            <a:noFill/>
          </a:ln>
        </p:spPr>
        <p:txBody>
          <a:bodyPr anchor="b"/>
          <a:lstStyle>
            <a:lvl1pPr algn="l">
              <a:lnSpc>
                <a:spcPts val="2000"/>
              </a:lnSpc>
              <a:buNone/>
              <a:defRPr sz="2200" b="1" cap="all" baseline="0"/>
            </a:lvl1pPr>
            <a:extLst/>
          </a:lstStyle>
          <a:p>
            <a:r>
              <a:rPr kumimoji="0" lang="en-US"/>
              <a:t>Click to edit Master title style</a:t>
            </a:r>
          </a:p>
        </p:txBody>
      </p:sp>
      <p:sp>
        <p:nvSpPr>
          <p:cNvPr id="3" name="Text Placeholder 2"/>
          <p:cNvSpPr>
            <a:spLocks noGrp="1"/>
          </p:cNvSpPr>
          <p:nvPr>
            <p:ph type="body" idx="2"/>
          </p:nvPr>
        </p:nvSpPr>
        <p:spPr>
          <a:xfrm>
            <a:off x="457200" y="1406964"/>
            <a:ext cx="3810000" cy="698500"/>
          </a:xfrm>
        </p:spPr>
        <p:txBody>
          <a:bodyPr/>
          <a:lstStyle>
            <a:lvl1pPr marL="45720" indent="0">
              <a:lnSpc>
                <a:spcPct val="100000"/>
              </a:lnSpc>
              <a:spcBef>
                <a:spcPts val="0"/>
              </a:spcBef>
              <a:buNone/>
              <a:defRPr sz="1400"/>
            </a:lvl1pPr>
            <a:lvl2pPr>
              <a:buNone/>
              <a:defRPr sz="1200"/>
            </a:lvl2pPr>
            <a:lvl3pPr>
              <a:buNone/>
              <a:defRPr sz="1000"/>
            </a:lvl3pPr>
            <a:lvl4pPr>
              <a:buNone/>
              <a:defRPr sz="900"/>
            </a:lvl4pPr>
            <a:lvl5pPr>
              <a:buNone/>
              <a:defRPr sz="900"/>
            </a:lvl5pPr>
            <a:extLst/>
          </a:lstStyle>
          <a:p>
            <a:pPr lvl="0" eaLnBrk="1" latinLnBrk="0" hangingPunct="1"/>
            <a:r>
              <a:rPr kumimoji="0" lang="en-US"/>
              <a:t>Click to edit Master text styles</a:t>
            </a:r>
          </a:p>
        </p:txBody>
      </p:sp>
      <p:sp>
        <p:nvSpPr>
          <p:cNvPr id="4" name="Content Placeholder 3"/>
          <p:cNvSpPr>
            <a:spLocks noGrp="1"/>
          </p:cNvSpPr>
          <p:nvPr>
            <p:ph sz="half" idx="1"/>
          </p:nvPr>
        </p:nvSpPr>
        <p:spPr>
          <a:xfrm>
            <a:off x="457200" y="2133600"/>
            <a:ext cx="8153400" cy="3992563"/>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86896" y="1066800"/>
            <a:ext cx="2743200" cy="1981200"/>
          </a:xfrm>
        </p:spPr>
        <p:txBody>
          <a:bodyPr anchor="b">
            <a:noAutofit/>
          </a:bodyPr>
          <a:lstStyle>
            <a:lvl1pPr algn="l">
              <a:buNone/>
              <a:defRPr sz="2100" b="1">
                <a:effectLst/>
              </a:defRPr>
            </a:lvl1pPr>
            <a:extLst/>
          </a:lstStyle>
          <a:p>
            <a:r>
              <a:rPr kumimoji="0" lang="en-US"/>
              <a:t>Click to edit Master title style</a:t>
            </a:r>
          </a:p>
        </p:txBody>
      </p:sp>
      <p:sp>
        <p:nvSpPr>
          <p:cNvPr id="5" name="Date Placeholder 4"/>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
        <p:nvSpPr>
          <p:cNvPr id="8" name="Rectangle 7"/>
          <p:cNvSpPr/>
          <p:nvPr/>
        </p:nvSpPr>
        <p:spPr>
          <a:xfrm>
            <a:off x="762000" y="1066800"/>
            <a:ext cx="4572000" cy="4572000"/>
          </a:xfrm>
          <a:prstGeom prst="rect">
            <a:avLst/>
          </a:prstGeom>
          <a:solidFill>
            <a:srgbClr val="FFFFFF"/>
          </a:solidFill>
          <a:ln w="88900" cap="sq">
            <a:solidFill>
              <a:srgbClr val="FFFFFF"/>
            </a:solidFill>
            <a:miter lim="800000"/>
          </a:ln>
          <a:effectLst>
            <a:outerShdw blurRad="55500" dist="18500" dir="5400000" algn="tl" rotWithShape="0">
              <a:srgbClr val="000000">
                <a:alpha val="35000"/>
              </a:srgbClr>
            </a:outerShdw>
          </a:effectLst>
          <a:scene3d>
            <a:camera prst="orthographicFront"/>
            <a:lightRig rig="twoPt" dir="t">
              <a:rot lat="0" lon="0" rev="7200000"/>
            </a:lightRig>
          </a:scene3d>
          <a:sp3d contourW="635">
            <a:bevelT w="25400" h="19050"/>
            <a:contourClr>
              <a:srgbClr val="969696"/>
            </a:contourClr>
          </a:sp3d>
        </p:spPr>
        <p:txBody>
          <a:bodyPr lIns="91440" tIns="274320" rtlCol="0" anchor="t">
            <a:normAutofit/>
          </a:bodyPr>
          <a:lstStyle/>
          <a:p>
            <a:pPr marL="0" indent="-283464" algn="l" rtl="0" eaLnBrk="1" latinLnBrk="0" hangingPunct="1">
              <a:lnSpc>
                <a:spcPts val="3000"/>
              </a:lnSpc>
              <a:spcBef>
                <a:spcPts val="600"/>
              </a:spcBef>
              <a:buClr>
                <a:schemeClr val="accent1"/>
              </a:buClr>
              <a:buSzPct val="80000"/>
              <a:buFont typeface="Wingdings 2"/>
              <a:buNone/>
            </a:pPr>
            <a:endParaRPr kumimoji="0" lang="en-US" sz="3200" kern="1200">
              <a:solidFill>
                <a:schemeClr val="tx1"/>
              </a:solidFill>
              <a:latin typeface="+mn-lt"/>
              <a:ea typeface="+mn-ea"/>
              <a:cs typeface="+mn-cs"/>
            </a:endParaRPr>
          </a:p>
        </p:txBody>
      </p:sp>
      <p:sp>
        <p:nvSpPr>
          <p:cNvPr id="3" name="Picture Placeholder 2"/>
          <p:cNvSpPr>
            <a:spLocks noGrp="1"/>
          </p:cNvSpPr>
          <p:nvPr>
            <p:ph type="pic" idx="1"/>
          </p:nvPr>
        </p:nvSpPr>
        <p:spPr>
          <a:xfrm>
            <a:off x="838200" y="1143003"/>
            <a:ext cx="4419600" cy="3514531"/>
          </a:xfrm>
          <a:prstGeom prst="roundRect">
            <a:avLst>
              <a:gd name="adj" fmla="val 783"/>
            </a:avLst>
          </a:prstGeom>
          <a:solidFill>
            <a:schemeClr val="bg2"/>
          </a:solidFill>
          <a:ln w="127000">
            <a:noFill/>
            <a:miter lim="800000"/>
          </a:ln>
          <a:effectLst/>
        </p:spPr>
        <p:txBody>
          <a:bodyPr lIns="91440" tIns="274320" anchor="t"/>
          <a:lstStyle>
            <a:lvl1pPr indent="0">
              <a:buNone/>
              <a:defRPr sz="3200"/>
            </a:lvl1pPr>
            <a:extLst/>
          </a:lstStyle>
          <a:p>
            <a:pPr marL="0" algn="l" eaLnBrk="1" latinLnBrk="0" hangingPunct="1"/>
            <a:r>
              <a:rPr kumimoji="0" lang="en-US"/>
              <a:t>Click icon to add picture</a:t>
            </a:r>
            <a:endParaRPr kumimoji="0" lang="en-US" dirty="0"/>
          </a:p>
        </p:txBody>
      </p:sp>
      <p:sp>
        <p:nvSpPr>
          <p:cNvPr id="9" name="Flowchart: Process 8"/>
          <p:cNvSpPr/>
          <p:nvPr/>
        </p:nvSpPr>
        <p:spPr>
          <a:xfrm rot="19468671">
            <a:off x="396725" y="954341"/>
            <a:ext cx="685800"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shade val="90000"/>
                <a:satMod val="200000"/>
                <a:alpha val="4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Flowchart: Process 9"/>
          <p:cNvSpPr/>
          <p:nvPr/>
        </p:nvSpPr>
        <p:spPr>
          <a:xfrm rot="2103354" flipH="1">
            <a:off x="5003667" y="936786"/>
            <a:ext cx="649224"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alpha val="2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4" name="Text Placeholder 3"/>
          <p:cNvSpPr>
            <a:spLocks noGrp="1"/>
          </p:cNvSpPr>
          <p:nvPr>
            <p:ph type="body" sz="half" idx="2"/>
          </p:nvPr>
        </p:nvSpPr>
        <p:spPr>
          <a:xfrm>
            <a:off x="838200" y="4800600"/>
            <a:ext cx="4419600" cy="762000"/>
          </a:xfrm>
        </p:spPr>
        <p:txBody>
          <a:bodyPr anchor="ctr"/>
          <a:lstStyle>
            <a:lvl1pPr marL="0" indent="0" algn="l">
              <a:lnSpc>
                <a:spcPts val="1600"/>
              </a:lnSpc>
              <a:spcBef>
                <a:spcPts val="0"/>
              </a:spcBef>
              <a:buNone/>
              <a:defRPr sz="1400">
                <a:solidFill>
                  <a:srgbClr val="777777"/>
                </a:solidFill>
              </a:defRPr>
            </a:lvl1pPr>
            <a:lvl2pPr>
              <a:defRPr sz="1200"/>
            </a:lvl2pPr>
            <a:lvl3pPr>
              <a:defRPr sz="1000"/>
            </a:lvl3pPr>
            <a:lvl4pPr>
              <a:defRPr sz="900"/>
            </a:lvl4pPr>
            <a:lvl5pPr>
              <a:defRPr sz="900"/>
            </a:lvl5pPr>
            <a:extLst/>
          </a:lstStyle>
          <a:p>
            <a:pPr lvl="0" eaLnBrk="1" latinLnBrk="0" hangingPunct="1"/>
            <a:r>
              <a:rPr kumimoji="0" lang="en-US"/>
              <a:t>Click to edit Master text styles</a:t>
            </a:r>
          </a:p>
        </p:txBody>
      </p:sp>
    </p:spTree>
  </p:cSld>
  <p:clrMapOvr>
    <a:masterClrMapping/>
  </p:clrMapOvr>
  <p:transition>
    <p:wipe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58000" y="274639"/>
            <a:ext cx="18288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1143000" y="274640"/>
            <a:ext cx="55626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5/3/2025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7" name="Pie 6"/>
          <p:cNvSpPr/>
          <p:nvPr/>
        </p:nvSpPr>
        <p:spPr>
          <a:xfrm>
            <a:off x="-815927" y="-815922"/>
            <a:ext cx="1638887" cy="1638887"/>
          </a:xfrm>
          <a:prstGeom prst="pie">
            <a:avLst>
              <a:gd name="adj1" fmla="val 0"/>
              <a:gd name="adj2" fmla="val 5402120"/>
            </a:avLst>
          </a:prstGeom>
          <a:solidFill>
            <a:schemeClr val="bg2">
              <a:tint val="18000"/>
              <a:satMod val="220000"/>
              <a:alpha val="33000"/>
            </a:schemeClr>
          </a:solidFill>
          <a:ln w="3175" cap="rnd" cmpd="sng" algn="ctr">
            <a:solidFill>
              <a:schemeClr val="bg2">
                <a:shade val="70000"/>
                <a:satMod val="200000"/>
                <a:alpha val="100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168816" y="21102"/>
            <a:ext cx="1702191" cy="1702191"/>
          </a:xfrm>
          <a:prstGeom prst="ellipse">
            <a:avLst/>
          </a:prstGeom>
          <a:noFill/>
          <a:ln w="27305" cap="rnd" cmpd="sng" algn="ctr">
            <a:solidFill>
              <a:schemeClr val="bg2">
                <a:tint val="45000"/>
                <a:satMod val="325000"/>
                <a:alpha val="100000"/>
              </a:schemeClr>
            </a:solidFill>
            <a:prstDash val="solid"/>
          </a:ln>
          <a:effectLst>
            <a:outerShdw blurRad="25400" dist="25400" dir="5400000" algn="tl" rotWithShape="0">
              <a:schemeClr val="bg2">
                <a:shade val="50000"/>
                <a:satMod val="150000"/>
                <a:alpha val="8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Donut 10"/>
          <p:cNvSpPr/>
          <p:nvPr/>
        </p:nvSpPr>
        <p:spPr>
          <a:xfrm rot="2315675">
            <a:off x="182881" y="1055077"/>
            <a:ext cx="1125717" cy="1102624"/>
          </a:xfrm>
          <a:prstGeom prst="donut">
            <a:avLst>
              <a:gd name="adj" fmla="val 11833"/>
            </a:avLst>
          </a:prstGeom>
          <a:gradFill rotWithShape="1">
            <a:gsLst>
              <a:gs pos="0">
                <a:schemeClr val="bg2">
                  <a:tint val="10000"/>
                  <a:shade val="99000"/>
                  <a:satMod val="355000"/>
                  <a:alpha val="70000"/>
                </a:schemeClr>
              </a:gs>
              <a:gs pos="70000">
                <a:schemeClr val="bg2">
                  <a:tint val="6000"/>
                  <a:shade val="100000"/>
                  <a:satMod val="400000"/>
                  <a:alpha val="55000"/>
                </a:schemeClr>
              </a:gs>
              <a:gs pos="100000">
                <a:schemeClr val="bg2">
                  <a:tint val="100000"/>
                  <a:shade val="75000"/>
                  <a:satMod val="370000"/>
                  <a:alpha val="60000"/>
                </a:schemeClr>
              </a:gs>
            </a:gsLst>
            <a:path path="circle">
              <a:fillToRect l="-407500" t="-50000" r="507500" b="150000"/>
            </a:path>
          </a:gradFill>
          <a:ln w="7350" cap="rnd" cmpd="sng" algn="ctr">
            <a:solidFill>
              <a:schemeClr val="bg2">
                <a:shade val="60000"/>
                <a:satMod val="220000"/>
                <a:alpha val="100000"/>
              </a:schemeClr>
            </a:solidFill>
            <a:prstDash val="solid"/>
          </a:ln>
          <a:effectLst>
            <a:outerShdw blurRad="12700" dist="15000" dir="4500000" algn="tl" rotWithShape="0">
              <a:schemeClr val="bg2">
                <a:shade val="10000"/>
                <a:satMod val="200000"/>
                <a:alpha val="3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1012873" y="-54"/>
            <a:ext cx="8131127"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le Placeholder 4"/>
          <p:cNvSpPr>
            <a:spLocks noGrp="1"/>
          </p:cNvSpPr>
          <p:nvPr>
            <p:ph type="title"/>
          </p:nvPr>
        </p:nvSpPr>
        <p:spPr>
          <a:xfrm>
            <a:off x="1435608" y="274638"/>
            <a:ext cx="7498080" cy="1143000"/>
          </a:xfrm>
          <a:prstGeom prst="rect">
            <a:avLst/>
          </a:prstGeom>
        </p:spPr>
        <p:txBody>
          <a:bodyPr anchor="ctr">
            <a:normAutofit/>
          </a:bodyPr>
          <a:lstStyle/>
          <a:p>
            <a:r>
              <a:rPr kumimoji="0" lang="en-US"/>
              <a:t>Click to edit Master title style</a:t>
            </a:r>
          </a:p>
        </p:txBody>
      </p:sp>
      <p:sp>
        <p:nvSpPr>
          <p:cNvPr id="9" name="Text Placeholder 8"/>
          <p:cNvSpPr>
            <a:spLocks noGrp="1"/>
          </p:cNvSpPr>
          <p:nvPr>
            <p:ph type="body" idx="1"/>
          </p:nvPr>
        </p:nvSpPr>
        <p:spPr>
          <a:xfrm>
            <a:off x="1435608" y="1447800"/>
            <a:ext cx="7498080" cy="4800600"/>
          </a:xfrm>
          <a:prstGeom prst="rect">
            <a:avLst/>
          </a:prstGeom>
        </p:spPr>
        <p:txBody>
          <a:bodyPr>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4" name="Date Placeholder 23"/>
          <p:cNvSpPr>
            <a:spLocks noGrp="1"/>
          </p:cNvSpPr>
          <p:nvPr>
            <p:ph type="dt" sz="half" idx="2"/>
          </p:nvPr>
        </p:nvSpPr>
        <p:spPr>
          <a:xfrm>
            <a:off x="3581400" y="6305550"/>
            <a:ext cx="2133600" cy="476250"/>
          </a:xfrm>
          <a:prstGeom prst="rect">
            <a:avLst/>
          </a:prstGeom>
        </p:spPr>
        <p:txBody>
          <a:bodyPr anchor="b"/>
          <a:lstStyle>
            <a:lvl1pPr algn="r" eaLnBrk="1" latinLnBrk="0" hangingPunct="1">
              <a:defRPr kumimoji="0" sz="1200">
                <a:solidFill>
                  <a:schemeClr val="bg2">
                    <a:shade val="50000"/>
                    <a:satMod val="200000"/>
                  </a:schemeClr>
                </a:solidFill>
              </a:defRPr>
            </a:lvl1pPr>
            <a:extLst/>
          </a:lstStyle>
          <a:p>
            <a:fld id="{1D8BD707-D9CF-40AE-B4C6-C98DA3205C09}" type="datetimeFigureOut">
              <a:rPr lang="en-US" smtClean="0"/>
              <a:pPr/>
              <a:t>5/3/2025</a:t>
            </a:fld>
            <a:endParaRPr lang="en-US" dirty="0"/>
          </a:p>
        </p:txBody>
      </p:sp>
      <p:sp>
        <p:nvSpPr>
          <p:cNvPr id="10" name="Footer Placeholder 9"/>
          <p:cNvSpPr>
            <a:spLocks noGrp="1"/>
          </p:cNvSpPr>
          <p:nvPr>
            <p:ph type="ftr" sz="quarter" idx="3"/>
          </p:nvPr>
        </p:nvSpPr>
        <p:spPr>
          <a:xfrm>
            <a:off x="5715000" y="6305550"/>
            <a:ext cx="2895600" cy="476250"/>
          </a:xfrm>
          <a:prstGeom prst="rect">
            <a:avLst/>
          </a:prstGeom>
        </p:spPr>
        <p:txBody>
          <a:bodyPr anchor="b"/>
          <a:lstStyle>
            <a:lvl1pPr eaLnBrk="1" latinLnBrk="0" hangingPunct="1">
              <a:defRPr kumimoji="0" sz="1200">
                <a:solidFill>
                  <a:schemeClr val="bg2">
                    <a:shade val="50000"/>
                    <a:satMod val="200000"/>
                  </a:schemeClr>
                </a:solidFill>
                <a:effectLst/>
              </a:defRPr>
            </a:lvl1pPr>
            <a:extLst/>
          </a:lstStyle>
          <a:p>
            <a:endParaRPr lang="en-US" dirty="0"/>
          </a:p>
        </p:txBody>
      </p:sp>
      <p:sp>
        <p:nvSpPr>
          <p:cNvPr id="22" name="Slide Number Placeholder 21"/>
          <p:cNvSpPr>
            <a:spLocks noGrp="1"/>
          </p:cNvSpPr>
          <p:nvPr>
            <p:ph type="sldNum" sz="quarter" idx="4"/>
          </p:nvPr>
        </p:nvSpPr>
        <p:spPr>
          <a:xfrm>
            <a:off x="8613648" y="6305550"/>
            <a:ext cx="457200" cy="476250"/>
          </a:xfrm>
          <a:prstGeom prst="rect">
            <a:avLst/>
          </a:prstGeom>
        </p:spPr>
        <p:txBody>
          <a:bodyPr anchor="b"/>
          <a:lstStyle>
            <a:lvl1pPr algn="ctr" eaLnBrk="1" latinLnBrk="0" hangingPunct="1">
              <a:defRPr kumimoji="0" sz="1200">
                <a:solidFill>
                  <a:schemeClr val="bg2">
                    <a:shade val="50000"/>
                    <a:satMod val="200000"/>
                  </a:schemeClr>
                </a:solidFill>
                <a:effectLst/>
              </a:defRPr>
            </a:lvl1pPr>
            <a:extLst/>
          </a:lstStyle>
          <a:p>
            <a:fld id="{B6F15528-21DE-4FAA-801E-634DDDAF4B2B}" type="slidenum">
              <a:rPr lang="en-US" smtClean="0"/>
              <a:pPr/>
              <a:t>‹#›</a:t>
            </a:fld>
            <a:endParaRPr lang="en-US" dirty="0"/>
          </a:p>
        </p:txBody>
      </p:sp>
      <p:sp>
        <p:nvSpPr>
          <p:cNvPr id="15" name="Rectangle 14"/>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ransition>
    <p:wipe dir="d"/>
  </p:transition>
  <p:txStyles>
    <p:title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p:titleStyle>
    <p:bodyStyle>
      <a:lvl1pPr marL="365760" indent="-283464" algn="l" rtl="0" eaLnBrk="1" latinLnBrk="0" hangingPunct="1">
        <a:lnSpc>
          <a:spcPct val="100000"/>
        </a:lnSpc>
        <a:spcBef>
          <a:spcPts val="600"/>
        </a:spcBef>
        <a:buClr>
          <a:schemeClr val="accent1"/>
        </a:buClr>
        <a:buSzPct val="80000"/>
        <a:buFont typeface="Wingdings 2"/>
        <a:buChar char=""/>
        <a:defRPr kumimoji="0" sz="3200" kern="1200">
          <a:solidFill>
            <a:schemeClr val="tx1"/>
          </a:solidFill>
          <a:latin typeface="+mn-lt"/>
          <a:ea typeface="+mn-ea"/>
          <a:cs typeface="+mn-cs"/>
        </a:defRPr>
      </a:lvl1pPr>
      <a:lvl2pPr marL="640080" indent="-237744" algn="l" rtl="0" eaLnBrk="1" latinLnBrk="0" hangingPunct="1">
        <a:lnSpc>
          <a:spcPct val="100000"/>
        </a:lnSpc>
        <a:spcBef>
          <a:spcPts val="550"/>
        </a:spcBef>
        <a:buClr>
          <a:schemeClr val="accent1"/>
        </a:buClr>
        <a:buFont typeface="Verdana"/>
        <a:buChar char="◦"/>
        <a:defRPr kumimoji="0" sz="2800" kern="1200">
          <a:solidFill>
            <a:schemeClr val="tx1"/>
          </a:solidFill>
          <a:latin typeface="+mn-lt"/>
          <a:ea typeface="+mn-ea"/>
          <a:cs typeface="+mn-cs"/>
        </a:defRPr>
      </a:lvl2pPr>
      <a:lvl3pPr marL="886968" indent="-228600" algn="l" rtl="0" eaLnBrk="1" latinLnBrk="0" hangingPunct="1">
        <a:lnSpc>
          <a:spcPct val="100000"/>
        </a:lnSpc>
        <a:spcBef>
          <a:spcPct val="20000"/>
        </a:spcBef>
        <a:buClr>
          <a:schemeClr val="accent2"/>
        </a:buClr>
        <a:buFont typeface="Wingdings 2"/>
        <a:buChar char=""/>
        <a:defRPr kumimoji="0" sz="2400" kern="1200">
          <a:solidFill>
            <a:schemeClr val="tx1"/>
          </a:solidFill>
          <a:latin typeface="+mn-lt"/>
          <a:ea typeface="+mn-ea"/>
          <a:cs typeface="+mn-cs"/>
        </a:defRPr>
      </a:lvl3pPr>
      <a:lvl4pPr marL="1097280" indent="-173736" algn="l" rtl="0" eaLnBrk="1" latinLnBrk="0" hangingPunct="1">
        <a:lnSpc>
          <a:spcPct val="100000"/>
        </a:lnSpc>
        <a:spcBef>
          <a:spcPct val="20000"/>
        </a:spcBef>
        <a:buClr>
          <a:schemeClr val="accent3"/>
        </a:buClr>
        <a:buFont typeface="Wingdings 2"/>
        <a:buChar char=""/>
        <a:defRPr kumimoji="0" sz="2000" kern="1200">
          <a:solidFill>
            <a:schemeClr val="tx1"/>
          </a:solidFill>
          <a:latin typeface="+mn-lt"/>
          <a:ea typeface="+mn-ea"/>
          <a:cs typeface="+mn-cs"/>
        </a:defRPr>
      </a:lvl4pPr>
      <a:lvl5pPr marL="1298448" indent="-182880" algn="l" rtl="0" eaLnBrk="1" latinLnBrk="0" hangingPunct="1">
        <a:lnSpc>
          <a:spcPct val="100000"/>
        </a:lnSpc>
        <a:spcBef>
          <a:spcPct val="20000"/>
        </a:spcBef>
        <a:buClr>
          <a:schemeClr val="accent4"/>
        </a:buClr>
        <a:buFont typeface="Wingdings 2"/>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a:buChar char=""/>
        <a:defRPr kumimoji="0" sz="2000" kern="1200">
          <a:solidFill>
            <a:schemeClr val="tx1"/>
          </a:solidFill>
          <a:latin typeface="+mn-lt"/>
          <a:ea typeface="+mn-ea"/>
          <a:cs typeface="+mn-cs"/>
        </a:defRPr>
      </a:lvl6pPr>
      <a:lvl7pPr marL="171907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8pPr>
      <a:lvl9pPr marL="213055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jpe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45B89A9-6891-4D95-9588-AE4F05A57FEF}"/>
              </a:ext>
            </a:extLst>
          </p:cNvPr>
          <p:cNvSpPr>
            <a:spLocks noGrp="1"/>
          </p:cNvSpPr>
          <p:nvPr>
            <p:ph type="ctrTitle"/>
          </p:nvPr>
        </p:nvSpPr>
        <p:spPr>
          <a:xfrm>
            <a:off x="1066800" y="609600"/>
            <a:ext cx="8092440" cy="5278902"/>
          </a:xfrm>
        </p:spPr>
        <p:txBody>
          <a:bodyPr>
            <a:normAutofit/>
          </a:bodyPr>
          <a:lstStyle/>
          <a:p>
            <a:pPr algn="ctr"/>
            <a:r>
              <a:rPr lang="en-US" sz="4400" b="1" i="0" u="none" strike="noStrike" baseline="0" dirty="0">
                <a:latin typeface="Times New Roman" panose="02020603050405020304" pitchFamily="18" charset="0"/>
              </a:rPr>
              <a:t>Tools for Geochemical Analysis</a:t>
            </a:r>
            <a:br>
              <a:rPr lang="en-US" sz="4400" b="1" i="0" u="none" strike="noStrike" baseline="0" dirty="0">
                <a:latin typeface="Times New Roman" panose="02020603050405020304" pitchFamily="18" charset="0"/>
              </a:rPr>
            </a:br>
            <a:br>
              <a:rPr lang="en-US" sz="4400" b="1" i="0" u="none" strike="noStrike" baseline="0" dirty="0">
                <a:latin typeface="Times New Roman" panose="02020603050405020304" pitchFamily="18" charset="0"/>
              </a:rPr>
            </a:br>
            <a:br>
              <a:rPr lang="en-US" sz="4000" b="1" i="0" u="none" strike="noStrike" baseline="0" dirty="0">
                <a:latin typeface="Times New Roman" panose="02020603050405020304" pitchFamily="18" charset="0"/>
              </a:rPr>
            </a:br>
            <a:r>
              <a:rPr lang="en-US" sz="2200" b="1" i="0" u="none" strike="noStrike" baseline="0" dirty="0">
                <a:latin typeface="Times New Roman" panose="02020603050405020304" pitchFamily="18" charset="0"/>
              </a:rPr>
              <a:t>Dr. Anoop Ambili</a:t>
            </a:r>
            <a:br>
              <a:rPr lang="en-US" sz="2200" b="1" i="0" u="none" strike="noStrike" baseline="0" dirty="0">
                <a:latin typeface="Times New Roman" panose="02020603050405020304" pitchFamily="18" charset="0"/>
              </a:rPr>
            </a:br>
            <a:endParaRPr lang="en-IN" sz="2200" dirty="0"/>
          </a:p>
        </p:txBody>
      </p:sp>
    </p:spTree>
  </p:cSld>
  <p:clrMapOvr>
    <a:masterClrMapping/>
  </p:clrMapOvr>
  <p:transition>
    <p:wipe dir="d"/>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BB96666-CD7F-4C16-970D-A8A8419A7BD4}"/>
              </a:ext>
            </a:extLst>
          </p:cNvPr>
          <p:cNvSpPr txBox="1"/>
          <p:nvPr/>
        </p:nvSpPr>
        <p:spPr>
          <a:xfrm>
            <a:off x="1219200" y="381000"/>
            <a:ext cx="4572000" cy="523220"/>
          </a:xfrm>
          <a:prstGeom prst="rect">
            <a:avLst/>
          </a:prstGeom>
          <a:noFill/>
        </p:spPr>
        <p:txBody>
          <a:bodyPr wrap="square">
            <a:spAutoFit/>
          </a:bodyPr>
          <a:lstStyle/>
          <a:p>
            <a:r>
              <a:rPr lang="en-IN" sz="2800" dirty="0"/>
              <a:t>X ray fluorescence technique </a:t>
            </a:r>
          </a:p>
        </p:txBody>
      </p:sp>
      <p:pic>
        <p:nvPicPr>
          <p:cNvPr id="1026" name="Picture 2" descr="Primary X-rays knock out an electron from one of the orbitals surrounding the nucleus within an atom of the material. A hole is produced in the orbital, resulting in a high energy, unstable configuration for the atom. To restore equilibrium, an electron from a higher energy, outer orbital falls into the hole. Since this is a lower energy position, the excess energy is emitted in the form of fluorescent X-rays.">
            <a:extLst>
              <a:ext uri="{FF2B5EF4-FFF2-40B4-BE49-F238E27FC236}">
                <a16:creationId xmlns:a16="http://schemas.microsoft.com/office/drawing/2014/main" id="{6444766A-77DF-4939-A354-CAB324A5E7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1641396"/>
            <a:ext cx="6934200" cy="32588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4781585"/>
      </p:ext>
    </p:extLst>
  </p:cSld>
  <p:clrMapOvr>
    <a:masterClrMapping/>
  </p:clrMapOvr>
  <p:transition>
    <p:wipe dir="d"/>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2F978-D8D9-F1CF-E9E4-3F9C4B97F7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1EC45C-4C97-EA76-31A1-CB03F0E58282}"/>
              </a:ext>
            </a:extLst>
          </p:cNvPr>
          <p:cNvSpPr txBox="1"/>
          <p:nvPr/>
        </p:nvSpPr>
        <p:spPr>
          <a:xfrm>
            <a:off x="990600" y="0"/>
            <a:ext cx="7848600" cy="6126485"/>
          </a:xfrm>
          <a:prstGeom prst="rect">
            <a:avLst/>
          </a:prstGeom>
          <a:noFill/>
        </p:spPr>
        <p:txBody>
          <a:bodyPr wrap="square" rtlCol="0">
            <a:spAutoFit/>
          </a:bodyPr>
          <a:lstStyle/>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Introduction</a:t>
            </a:r>
            <a:r>
              <a:rPr lang="en-IN" sz="4400" b="1" i="0" u="sng" strike="noStrike" baseline="0" dirty="0">
                <a:latin typeface="Times New Roman" panose="02020603050405020304" pitchFamily="18" charset="0"/>
              </a:rPr>
              <a:t> </a:t>
            </a:r>
            <a:endParaRPr lang="en-IN" sz="4400" b="0" i="0" u="sng" strike="noStrike" baseline="0" dirty="0">
              <a:latin typeface="Times New Roman" panose="02020603050405020304" pitchFamily="18" charset="0"/>
            </a:endParaRPr>
          </a:p>
          <a:p>
            <a:pPr algn="just">
              <a:lnSpc>
                <a:spcPct val="150000"/>
              </a:lnSpc>
            </a:pPr>
            <a:r>
              <a:rPr lang="en-US" sz="1800" b="0" i="0" u="none" strike="noStrike" baseline="0" dirty="0">
                <a:latin typeface="Wingdings" panose="05000000000000000000" pitchFamily="2" charset="2"/>
              </a:rPr>
              <a:t></a:t>
            </a:r>
            <a:r>
              <a:rPr lang="en-US" sz="1800" b="0" i="0" u="none" strike="noStrike" baseline="0" dirty="0">
                <a:latin typeface="Times New Roman" panose="02020603050405020304" pitchFamily="18" charset="0"/>
              </a:rPr>
              <a:t>ICP-MS – most widely used techniques for the rapid multi elements quantification at the ultra trace level (ppt range) – at the same time can quantify at the ppm level </a:t>
            </a:r>
          </a:p>
          <a:p>
            <a:pPr algn="just">
              <a:lnSpc>
                <a:spcPct val="150000"/>
              </a:lnSpc>
            </a:pPr>
            <a:r>
              <a:rPr lang="en-US" sz="1800" b="0" i="0" u="none" strike="noStrike" baseline="0" dirty="0">
                <a:latin typeface="Wingdings" panose="05000000000000000000" pitchFamily="2" charset="2"/>
              </a:rPr>
              <a:t></a:t>
            </a:r>
            <a:r>
              <a:rPr lang="en-US" sz="1800" b="0" i="0" u="none" strike="noStrike" baseline="0" dirty="0">
                <a:latin typeface="Times New Roman" panose="02020603050405020304" pitchFamily="18" charset="0"/>
              </a:rPr>
              <a:t>1983: First commercialized by Perkin Elmer - fastest growing trace element technique </a:t>
            </a:r>
          </a:p>
          <a:p>
            <a:pPr algn="just">
              <a:lnSpc>
                <a:spcPct val="150000"/>
              </a:lnSpc>
            </a:pPr>
            <a:r>
              <a:rPr lang="en-US" sz="1800" b="0" i="0" u="none" strike="noStrike" baseline="0" dirty="0">
                <a:latin typeface="Wingdings" panose="05000000000000000000" pitchFamily="2" charset="2"/>
              </a:rPr>
              <a:t></a:t>
            </a:r>
            <a:r>
              <a:rPr lang="en-US" sz="1800" b="0" i="0" u="none" strike="noStrike" baseline="0" dirty="0">
                <a:latin typeface="Times New Roman" panose="02020603050405020304" pitchFamily="18" charset="0"/>
              </a:rPr>
              <a:t>Originally developed for trace element quantification in liquid sample – modern instrumentation is capable of analyzing solid sample directly (LA-ICP-MS) – capable of measuring isotope ratio </a:t>
            </a:r>
          </a:p>
          <a:p>
            <a:pPr algn="just">
              <a:lnSpc>
                <a:spcPct val="150000"/>
              </a:lnSpc>
            </a:pPr>
            <a:r>
              <a:rPr lang="en-IN" sz="1800" b="0" i="0" u="none" strike="noStrike" baseline="0" dirty="0">
                <a:latin typeface="Wingdings" panose="05000000000000000000" pitchFamily="2" charset="2"/>
              </a:rPr>
              <a:t></a:t>
            </a:r>
            <a:r>
              <a:rPr lang="en-IN" sz="1800" b="0" i="0" u="none" strike="noStrike" baseline="0" dirty="0">
                <a:latin typeface="Times New Roman" panose="02020603050405020304" pitchFamily="18" charset="0"/>
              </a:rPr>
              <a:t>Diverse application fields: Environmental, Geological, Semiconductor, Biomedical, Nuclear Application, drugs and </a:t>
            </a:r>
            <a:r>
              <a:rPr lang="en-IN" dirty="0">
                <a:latin typeface="Times New Roman" panose="02020603050405020304" pitchFamily="18" charset="0"/>
              </a:rPr>
              <a:t>pharmaceuticals </a:t>
            </a:r>
            <a:r>
              <a:rPr lang="en-IN" sz="1800" b="0" i="0" u="none" strike="noStrike" baseline="0" dirty="0">
                <a:latin typeface="Times New Roman" panose="02020603050405020304" pitchFamily="18" charset="0"/>
              </a:rPr>
              <a:t>etc. </a:t>
            </a:r>
            <a:endParaRPr lang="en-IN" dirty="0">
              <a:latin typeface="Times New Roman" panose="02020603050405020304" pitchFamily="18" charset="0"/>
            </a:endParaRPr>
          </a:p>
          <a:p>
            <a:pPr algn="just"/>
            <a:endParaRPr lang="en-IN" sz="1800" b="0" i="0" u="none" strike="noStrike" baseline="0" dirty="0">
              <a:latin typeface="Times New Roman" panose="02020603050405020304" pitchFamily="18" charset="0"/>
            </a:endParaRPr>
          </a:p>
          <a:p>
            <a:pPr algn="just"/>
            <a:endParaRPr lang="en-IN" dirty="0">
              <a:latin typeface="Times New Roman" panose="02020603050405020304" pitchFamily="18" charset="0"/>
            </a:endParaRPr>
          </a:p>
          <a:p>
            <a:pPr algn="just"/>
            <a:endParaRPr lang="en-IN" sz="1800" b="0" i="0" u="none" strike="noStrike" baseline="0" dirty="0">
              <a:latin typeface="Times New Roman" panose="02020603050405020304" pitchFamily="18" charset="0"/>
            </a:endParaRPr>
          </a:p>
          <a:p>
            <a:pPr algn="just">
              <a:lnSpc>
                <a:spcPct val="150000"/>
              </a:lnSpc>
            </a:pPr>
            <a:r>
              <a:rPr lang="en-US" sz="1800" b="0" i="1" u="none" strike="noStrike" baseline="0" dirty="0">
                <a:latin typeface="Times New Roman" panose="02020603050405020304" pitchFamily="18" charset="0"/>
              </a:rPr>
              <a:t>(Lit.: Thomas R. 2013_Chapter 1; Gill, 1997_Chapter 10) </a:t>
            </a:r>
            <a:endParaRPr lang="en-IN" dirty="0"/>
          </a:p>
        </p:txBody>
      </p:sp>
    </p:spTree>
    <p:extLst>
      <p:ext uri="{BB962C8B-B14F-4D97-AF65-F5344CB8AC3E}">
        <p14:creationId xmlns:p14="http://schemas.microsoft.com/office/powerpoint/2010/main" val="3279012399"/>
      </p:ext>
    </p:extLst>
  </p:cSld>
  <p:clrMapOvr>
    <a:masterClrMapping/>
  </p:clrMapOvr>
  <p:transition>
    <p:wipe dir="d"/>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8B9D1-78E8-4B32-919F-F56955354C08}"/>
              </a:ext>
            </a:extLst>
          </p:cNvPr>
          <p:cNvSpPr>
            <a:spLocks noGrp="1"/>
          </p:cNvSpPr>
          <p:nvPr>
            <p:ph type="title"/>
          </p:nvPr>
        </p:nvSpPr>
        <p:spPr>
          <a:xfrm>
            <a:off x="2400298" y="-152400"/>
            <a:ext cx="5451891" cy="1143000"/>
          </a:xfrm>
        </p:spPr>
        <p:txBody>
          <a:bodyPr>
            <a:normAutofit/>
          </a:bodyPr>
          <a:lstStyle/>
          <a:p>
            <a:r>
              <a:rPr lang="en-IN" sz="2800" b="1" u="sng" dirty="0">
                <a:latin typeface="Times New Roman" panose="02020603050405020304" pitchFamily="18" charset="0"/>
                <a:cs typeface="Times New Roman" panose="02020603050405020304" pitchFamily="18" charset="0"/>
              </a:rPr>
              <a:t>Elements analysed using ICP-MS</a:t>
            </a:r>
          </a:p>
        </p:txBody>
      </p:sp>
      <p:pic>
        <p:nvPicPr>
          <p:cNvPr id="6" name="object 2">
            <a:extLst>
              <a:ext uri="{FF2B5EF4-FFF2-40B4-BE49-F238E27FC236}">
                <a16:creationId xmlns:a16="http://schemas.microsoft.com/office/drawing/2014/main" id="{1CE45D3D-4619-4D23-9F34-52215A512079}"/>
              </a:ext>
            </a:extLst>
          </p:cNvPr>
          <p:cNvPicPr/>
          <p:nvPr/>
        </p:nvPicPr>
        <p:blipFill>
          <a:blip r:embed="rId2" cstate="print"/>
          <a:stretch>
            <a:fillRect/>
          </a:stretch>
        </p:blipFill>
        <p:spPr>
          <a:xfrm>
            <a:off x="1219200" y="914400"/>
            <a:ext cx="7814089" cy="5801706"/>
          </a:xfrm>
          <a:prstGeom prst="rect">
            <a:avLst/>
          </a:prstGeom>
        </p:spPr>
      </p:pic>
    </p:spTree>
    <p:extLst>
      <p:ext uri="{BB962C8B-B14F-4D97-AF65-F5344CB8AC3E}">
        <p14:creationId xmlns:p14="http://schemas.microsoft.com/office/powerpoint/2010/main" val="2616076003"/>
      </p:ext>
    </p:extLst>
  </p:cSld>
  <p:clrMapOvr>
    <a:masterClrMapping/>
  </p:clrMapOvr>
  <p:transition>
    <p:wipe dir="d"/>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Straight Arrow Connector 13">
            <a:extLst>
              <a:ext uri="{FF2B5EF4-FFF2-40B4-BE49-F238E27FC236}">
                <a16:creationId xmlns:a16="http://schemas.microsoft.com/office/drawing/2014/main" id="{4115E1A9-4ECD-B7F5-02E8-050982DBDD5B}"/>
              </a:ext>
            </a:extLst>
          </p:cNvPr>
          <p:cNvCxnSpPr>
            <a:cxnSpLocks/>
            <a:stCxn id="9" idx="3"/>
          </p:cNvCxnSpPr>
          <p:nvPr/>
        </p:nvCxnSpPr>
        <p:spPr>
          <a:xfrm>
            <a:off x="2339163" y="2392233"/>
            <a:ext cx="579474" cy="223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ontent Placeholder 6">
            <a:extLst>
              <a:ext uri="{FF2B5EF4-FFF2-40B4-BE49-F238E27FC236}">
                <a16:creationId xmlns:a16="http://schemas.microsoft.com/office/drawing/2014/main" id="{FECD2B54-26F0-E54D-475B-A59044268EF5}"/>
              </a:ext>
            </a:extLst>
          </p:cNvPr>
          <p:cNvSpPr>
            <a:spLocks noGrp="1"/>
          </p:cNvSpPr>
          <p:nvPr>
            <p:ph idx="1"/>
          </p:nvPr>
        </p:nvSpPr>
        <p:spPr>
          <a:xfrm>
            <a:off x="990600" y="0"/>
            <a:ext cx="8153400" cy="6858000"/>
          </a:xfrm>
        </p:spPr>
        <p:txBody>
          <a:bodyPr/>
          <a:lstStyle/>
          <a:p>
            <a:pPr marL="0" indent="0" algn="ctr">
              <a:buNone/>
            </a:pP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Working Principle</a:t>
            </a:r>
          </a:p>
          <a:p>
            <a:pPr algn="l"/>
            <a:endParaRPr lang="en-IN" sz="1800" b="0" i="0" u="none" strike="noStrike" baseline="0" dirty="0">
              <a:solidFill>
                <a:srgbClr val="000000"/>
              </a:solidFill>
              <a:latin typeface="Times New Roman" panose="02020603050405020304" pitchFamily="18" charset="0"/>
            </a:endParaRPr>
          </a:p>
          <a:p>
            <a:pPr marL="82296" indent="0">
              <a:buNone/>
            </a:pPr>
            <a:r>
              <a:rPr lang="en-US" sz="1800" b="1" i="0" u="none" strike="noStrike" baseline="0" dirty="0">
                <a:solidFill>
                  <a:srgbClr val="0000FF"/>
                </a:solidFill>
                <a:latin typeface="Times New Roman" panose="02020603050405020304" pitchFamily="18" charset="0"/>
              </a:rPr>
              <a:t>Uses mass spectrometry – separation of ions (coming from plasma source) according to their mass/charge ratio (m/z) </a:t>
            </a:r>
            <a:endParaRPr lang="en-IN" sz="4400" b="1" dirty="0">
              <a:solidFill>
                <a:srgbClr val="0000FF"/>
              </a:solidFill>
              <a:latin typeface="Times New Roman" panose="02020603050405020304" pitchFamily="18" charset="0"/>
            </a:endParaRPr>
          </a:p>
          <a:p>
            <a:pPr marL="82296" indent="0">
              <a:buNone/>
            </a:pPr>
            <a:endParaRPr lang="en-US" sz="1800" b="1" i="0" u="none" strike="noStrike" baseline="0" dirty="0">
              <a:solidFill>
                <a:srgbClr val="0000FF"/>
              </a:solidFill>
              <a:latin typeface="Times New Roman" panose="02020603050405020304" pitchFamily="18" charset="0"/>
            </a:endParaRPr>
          </a:p>
        </p:txBody>
      </p:sp>
      <p:sp>
        <p:nvSpPr>
          <p:cNvPr id="9" name="TextBox 8">
            <a:extLst>
              <a:ext uri="{FF2B5EF4-FFF2-40B4-BE49-F238E27FC236}">
                <a16:creationId xmlns:a16="http://schemas.microsoft.com/office/drawing/2014/main" id="{52760B1E-69C0-4D42-6F27-4E13286FD08E}"/>
              </a:ext>
            </a:extLst>
          </p:cNvPr>
          <p:cNvSpPr txBox="1"/>
          <p:nvPr/>
        </p:nvSpPr>
        <p:spPr>
          <a:xfrm>
            <a:off x="1119963" y="2069067"/>
            <a:ext cx="12192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Sample</a:t>
            </a:r>
          </a:p>
          <a:p>
            <a:pPr algn="ctr"/>
            <a:endParaRPr lang="en-IN"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BA65874B-F9D1-48FE-9C47-ECF0C17C7E7A}"/>
              </a:ext>
            </a:extLst>
          </p:cNvPr>
          <p:cNvSpPr txBox="1"/>
          <p:nvPr/>
        </p:nvSpPr>
        <p:spPr>
          <a:xfrm>
            <a:off x="7588101" y="2069067"/>
            <a:ext cx="14478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Detector</a:t>
            </a:r>
          </a:p>
          <a:p>
            <a:pPr algn="ctr"/>
            <a:endParaRPr lang="en-IN"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2452DFFE-9667-8363-BFB0-708436D4D19C}"/>
              </a:ext>
            </a:extLst>
          </p:cNvPr>
          <p:cNvSpPr txBox="1"/>
          <p:nvPr/>
        </p:nvSpPr>
        <p:spPr>
          <a:xfrm>
            <a:off x="2918637" y="2070632"/>
            <a:ext cx="17526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Source of ionization</a:t>
            </a:r>
          </a:p>
        </p:txBody>
      </p:sp>
      <p:cxnSp>
        <p:nvCxnSpPr>
          <p:cNvPr id="16" name="Straight Arrow Connector 15">
            <a:extLst>
              <a:ext uri="{FF2B5EF4-FFF2-40B4-BE49-F238E27FC236}">
                <a16:creationId xmlns:a16="http://schemas.microsoft.com/office/drawing/2014/main" id="{210DBFDD-BCBF-67F7-D3C6-8730E0333D9D}"/>
              </a:ext>
            </a:extLst>
          </p:cNvPr>
          <p:cNvCxnSpPr>
            <a:cxnSpLocks/>
          </p:cNvCxnSpPr>
          <p:nvPr/>
        </p:nvCxnSpPr>
        <p:spPr>
          <a:xfrm>
            <a:off x="4688840" y="2392232"/>
            <a:ext cx="5334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3A841498-2521-A189-1870-1B815E2FB4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879" y="3410932"/>
            <a:ext cx="4079240" cy="2105203"/>
          </a:xfrm>
          <a:prstGeom prst="rect">
            <a:avLst/>
          </a:prstGeom>
        </p:spPr>
      </p:pic>
      <p:pic>
        <p:nvPicPr>
          <p:cNvPr id="22" name="Picture 21">
            <a:extLst>
              <a:ext uri="{FF2B5EF4-FFF2-40B4-BE49-F238E27FC236}">
                <a16:creationId xmlns:a16="http://schemas.microsoft.com/office/drawing/2014/main" id="{F45AB033-DE97-64EA-0F8D-1C76A9B17F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2240" y="3511503"/>
            <a:ext cx="3795639" cy="1904062"/>
          </a:xfrm>
          <a:prstGeom prst="rect">
            <a:avLst/>
          </a:prstGeom>
        </p:spPr>
      </p:pic>
      <p:sp>
        <p:nvSpPr>
          <p:cNvPr id="18" name="TextBox 17">
            <a:extLst>
              <a:ext uri="{FF2B5EF4-FFF2-40B4-BE49-F238E27FC236}">
                <a16:creationId xmlns:a16="http://schemas.microsoft.com/office/drawing/2014/main" id="{FE525279-DE60-493C-AEC4-457C03FD4042}"/>
              </a:ext>
            </a:extLst>
          </p:cNvPr>
          <p:cNvSpPr txBox="1"/>
          <p:nvPr/>
        </p:nvSpPr>
        <p:spPr>
          <a:xfrm>
            <a:off x="5257800" y="2069067"/>
            <a:ext cx="17526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Ion selection based on m/z</a:t>
            </a:r>
          </a:p>
        </p:txBody>
      </p:sp>
      <p:cxnSp>
        <p:nvCxnSpPr>
          <p:cNvPr id="19" name="Straight Arrow Connector 18">
            <a:extLst>
              <a:ext uri="{FF2B5EF4-FFF2-40B4-BE49-F238E27FC236}">
                <a16:creationId xmlns:a16="http://schemas.microsoft.com/office/drawing/2014/main" id="{E8D69D99-9F90-477B-82BD-02877F34B4E2}"/>
              </a:ext>
            </a:extLst>
          </p:cNvPr>
          <p:cNvCxnSpPr>
            <a:cxnSpLocks/>
          </p:cNvCxnSpPr>
          <p:nvPr/>
        </p:nvCxnSpPr>
        <p:spPr>
          <a:xfrm>
            <a:off x="7033437" y="2392232"/>
            <a:ext cx="5334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wipe di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9EF68-5F06-CE5A-F461-E361674C894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8089664-B69C-BE3B-A7A2-AF330FF13D24}"/>
              </a:ext>
            </a:extLst>
          </p:cNvPr>
          <p:cNvSpPr>
            <a:spLocks noGrp="1"/>
          </p:cNvSpPr>
          <p:nvPr>
            <p:ph idx="1"/>
          </p:nvPr>
        </p:nvSpPr>
        <p:spPr>
          <a:xfrm>
            <a:off x="990600" y="0"/>
            <a:ext cx="8153400" cy="6858000"/>
          </a:xfrm>
        </p:spPr>
        <p:txBody>
          <a:bodyPr/>
          <a:lstStyle/>
          <a:p>
            <a:pPr marL="0" indent="0" algn="ctr">
              <a:buNone/>
            </a:pP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Instrumentation</a:t>
            </a:r>
          </a:p>
          <a:p>
            <a:pPr algn="l"/>
            <a:endParaRPr lang="en-IN" sz="1800" b="0" i="0" u="none" strike="noStrike" baseline="0" dirty="0">
              <a:solidFill>
                <a:srgbClr val="000000"/>
              </a:solidFill>
              <a:latin typeface="Times New Roman" panose="02020603050405020304" pitchFamily="18" charset="0"/>
            </a:endParaRPr>
          </a:p>
          <a:p>
            <a:pPr marL="82296" indent="0">
              <a:buNone/>
            </a:pPr>
            <a:endParaRPr lang="en-IN" sz="4400" b="1" dirty="0">
              <a:solidFill>
                <a:srgbClr val="0000FF"/>
              </a:solidFill>
              <a:latin typeface="Times New Roman" panose="02020603050405020304" pitchFamily="18" charset="0"/>
            </a:endParaRPr>
          </a:p>
          <a:p>
            <a:pPr marL="82296" indent="0">
              <a:buNone/>
            </a:pPr>
            <a:endParaRPr lang="en-US" sz="1800" b="1" i="0" u="none" strike="noStrike" baseline="0" dirty="0">
              <a:solidFill>
                <a:srgbClr val="0000FF"/>
              </a:solidFill>
              <a:latin typeface="Times New Roman" panose="02020603050405020304" pitchFamily="18" charset="0"/>
            </a:endParaRPr>
          </a:p>
        </p:txBody>
      </p:sp>
      <p:pic>
        <p:nvPicPr>
          <p:cNvPr id="3" name="Picture 2">
            <a:extLst>
              <a:ext uri="{FF2B5EF4-FFF2-40B4-BE49-F238E27FC236}">
                <a16:creationId xmlns:a16="http://schemas.microsoft.com/office/drawing/2014/main" id="{42E62732-E658-0E32-DB68-01B6E28CF5DC}"/>
              </a:ext>
            </a:extLst>
          </p:cNvPr>
          <p:cNvPicPr>
            <a:picLocks noChangeAspect="1"/>
          </p:cNvPicPr>
          <p:nvPr/>
        </p:nvPicPr>
        <p:blipFill>
          <a:blip r:embed="rId3"/>
          <a:stretch>
            <a:fillRect/>
          </a:stretch>
        </p:blipFill>
        <p:spPr>
          <a:xfrm>
            <a:off x="2207654" y="914400"/>
            <a:ext cx="5945746" cy="3465608"/>
          </a:xfrm>
          <a:prstGeom prst="rect">
            <a:avLst/>
          </a:prstGeom>
        </p:spPr>
      </p:pic>
      <p:sp>
        <p:nvSpPr>
          <p:cNvPr id="5" name="TextBox 4">
            <a:extLst>
              <a:ext uri="{FF2B5EF4-FFF2-40B4-BE49-F238E27FC236}">
                <a16:creationId xmlns:a16="http://schemas.microsoft.com/office/drawing/2014/main" id="{B01EB46E-A46E-A329-AF0D-E5A0DF50A7D4}"/>
              </a:ext>
            </a:extLst>
          </p:cNvPr>
          <p:cNvSpPr txBox="1"/>
          <p:nvPr/>
        </p:nvSpPr>
        <p:spPr>
          <a:xfrm>
            <a:off x="1066800" y="4267200"/>
            <a:ext cx="8077200" cy="2462213"/>
          </a:xfrm>
          <a:prstGeom prst="rect">
            <a:avLst/>
          </a:prstGeom>
          <a:noFill/>
        </p:spPr>
        <p:txBody>
          <a:bodyPr wrap="square">
            <a:spAutoFit/>
          </a:bodyPr>
          <a:lstStyle/>
          <a:p>
            <a:endParaRPr lang="en-IN" sz="12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  Nebulizer                                                                 v) Vaccuum chamber                       </a:t>
            </a:r>
            <a:endParaRPr lang="en-IN" sz="18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ii) Spray chamber                                                      vi) Ion optics </a:t>
            </a:r>
            <a:endParaRPr lang="en-IN" sz="18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iii) ICP torch                                                              vii) Mass separation device</a:t>
            </a:r>
            <a:endParaRPr lang="en-IN" sz="18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iv) Interface cones                                                    viii) Ion detector </a:t>
            </a:r>
          </a:p>
          <a:p>
            <a:endParaRPr lang="en-IN" b="1" dirty="0">
              <a:latin typeface="Times New Roman" panose="02020603050405020304" pitchFamily="18" charset="0"/>
            </a:endParaRPr>
          </a:p>
          <a:p>
            <a:endParaRPr lang="en-IN" sz="1800" b="0" i="0" u="none" strike="noStrike" baseline="0" dirty="0">
              <a:latin typeface="Times New Roman" panose="02020603050405020304" pitchFamily="18" charset="0"/>
            </a:endParaRPr>
          </a:p>
          <a:p>
            <a:endParaRPr lang="en-IN" sz="1800" b="0" i="0" u="none" strike="noStrike" baseline="0" dirty="0">
              <a:latin typeface="Times New Roman" panose="02020603050405020304" pitchFamily="18" charset="0"/>
            </a:endParaRPr>
          </a:p>
          <a:p>
            <a:r>
              <a:rPr lang="en-US" sz="1600" b="0" i="1" u="none" strike="noStrike" baseline="0" dirty="0">
                <a:latin typeface="Times New Roman" panose="02020603050405020304" pitchFamily="18" charset="0"/>
              </a:rPr>
              <a:t>(Lit.: Thomas R. 2013_Chapter 1) </a:t>
            </a:r>
            <a:endParaRPr lang="en-IN" dirty="0"/>
          </a:p>
        </p:txBody>
      </p:sp>
    </p:spTree>
    <p:extLst>
      <p:ext uri="{BB962C8B-B14F-4D97-AF65-F5344CB8AC3E}">
        <p14:creationId xmlns:p14="http://schemas.microsoft.com/office/powerpoint/2010/main" val="167261080"/>
      </p:ext>
    </p:extLst>
  </p:cSld>
  <p:clrMapOvr>
    <a:masterClrMapping/>
  </p:clrMapOvr>
  <p:transition>
    <p:wipe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9014" y="20320"/>
            <a:ext cx="8078660" cy="665480"/>
          </a:xfrm>
        </p:spPr>
        <p:txBody>
          <a:bodyPr>
            <a:normAutofit/>
          </a:bodyPr>
          <a:lstStyle/>
          <a:p>
            <a:pPr algn="ctr">
              <a:spcBef>
                <a:spcPts val="600"/>
              </a:spcBef>
              <a:buClr>
                <a:schemeClr val="accent1"/>
              </a:buClr>
              <a:buSzPct val="80000"/>
            </a:pPr>
            <a:r>
              <a:rPr lang="en-US" sz="2800" b="1" u="sng" dirty="0">
                <a:latin typeface="Times New Roman" panose="02020603050405020304" pitchFamily="18" charset="0"/>
              </a:rPr>
              <a:t>Basic instrument component function</a:t>
            </a:r>
          </a:p>
        </p:txBody>
      </p:sp>
      <p:pic>
        <p:nvPicPr>
          <p:cNvPr id="7" name="Picture 6">
            <a:extLst>
              <a:ext uri="{FF2B5EF4-FFF2-40B4-BE49-F238E27FC236}">
                <a16:creationId xmlns:a16="http://schemas.microsoft.com/office/drawing/2014/main" id="{43628DEA-6C46-2C8A-6613-AAD712C0694F}"/>
              </a:ext>
            </a:extLst>
          </p:cNvPr>
          <p:cNvPicPr>
            <a:picLocks noChangeAspect="1"/>
          </p:cNvPicPr>
          <p:nvPr/>
        </p:nvPicPr>
        <p:blipFill>
          <a:blip r:embed="rId2"/>
          <a:stretch>
            <a:fillRect/>
          </a:stretch>
        </p:blipFill>
        <p:spPr>
          <a:xfrm>
            <a:off x="1143000" y="1295400"/>
            <a:ext cx="7934674" cy="3448402"/>
          </a:xfrm>
          <a:prstGeom prst="rect">
            <a:avLst/>
          </a:prstGeom>
        </p:spPr>
      </p:pic>
    </p:spTree>
  </p:cSld>
  <p:clrMapOvr>
    <a:masterClrMapping/>
  </p:clrMapOvr>
  <p:transition>
    <p:wipe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B6E49-627C-1A07-3615-606038FEADA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A148E19-8B22-5E77-3481-BCEDD526EB77}"/>
              </a:ext>
            </a:extLst>
          </p:cNvPr>
          <p:cNvPicPr>
            <a:picLocks noChangeAspect="1"/>
          </p:cNvPicPr>
          <p:nvPr/>
        </p:nvPicPr>
        <p:blipFill>
          <a:blip r:embed="rId2"/>
          <a:stretch>
            <a:fillRect/>
          </a:stretch>
        </p:blipFill>
        <p:spPr>
          <a:xfrm>
            <a:off x="2286000" y="838200"/>
            <a:ext cx="4876800" cy="4969855"/>
          </a:xfrm>
          <a:prstGeom prst="rect">
            <a:avLst/>
          </a:prstGeom>
        </p:spPr>
      </p:pic>
      <p:sp>
        <p:nvSpPr>
          <p:cNvPr id="10" name="TextBox 9">
            <a:extLst>
              <a:ext uri="{FF2B5EF4-FFF2-40B4-BE49-F238E27FC236}">
                <a16:creationId xmlns:a16="http://schemas.microsoft.com/office/drawing/2014/main" id="{B614C8E7-0798-C96E-E08F-270CEE20A0B3}"/>
              </a:ext>
            </a:extLst>
          </p:cNvPr>
          <p:cNvSpPr txBox="1"/>
          <p:nvPr/>
        </p:nvSpPr>
        <p:spPr>
          <a:xfrm>
            <a:off x="914400" y="15240"/>
            <a:ext cx="8077200" cy="523220"/>
          </a:xfrm>
          <a:prstGeom prst="rect">
            <a:avLst/>
          </a:prstGeom>
          <a:noFill/>
        </p:spPr>
        <p:txBody>
          <a:bodyPr wrap="square" rtlCol="0">
            <a:spAutoFit/>
          </a:bodyPr>
          <a:lstStyle/>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ICP-MS Samples Introduction area</a:t>
            </a:r>
          </a:p>
        </p:txBody>
      </p:sp>
    </p:spTree>
    <p:extLst>
      <p:ext uri="{BB962C8B-B14F-4D97-AF65-F5344CB8AC3E}">
        <p14:creationId xmlns:p14="http://schemas.microsoft.com/office/powerpoint/2010/main" val="2023673206"/>
      </p:ext>
    </p:extLst>
  </p:cSld>
  <p:clrMapOvr>
    <a:masterClrMapping/>
  </p:clrMapOvr>
  <p:transition>
    <p:wipe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DF8FF-8136-BA4B-9D2F-DABDB5E629FC}"/>
            </a:ext>
          </a:extLst>
        </p:cNvPr>
        <p:cNvGrpSpPr/>
        <p:nvPr/>
      </p:nvGrpSpPr>
      <p:grpSpPr>
        <a:xfrm>
          <a:off x="0" y="0"/>
          <a:ext cx="0" cy="0"/>
          <a:chOff x="0" y="0"/>
          <a:chExt cx="0" cy="0"/>
        </a:xfrm>
      </p:grpSpPr>
      <p:grpSp>
        <p:nvGrpSpPr>
          <p:cNvPr id="33" name="Group 32">
            <a:extLst>
              <a:ext uri="{FF2B5EF4-FFF2-40B4-BE49-F238E27FC236}">
                <a16:creationId xmlns:a16="http://schemas.microsoft.com/office/drawing/2014/main" id="{EC01FD6F-FF1A-B853-594C-C9FC5EC4F811}"/>
              </a:ext>
            </a:extLst>
          </p:cNvPr>
          <p:cNvGrpSpPr/>
          <p:nvPr/>
        </p:nvGrpSpPr>
        <p:grpSpPr>
          <a:xfrm>
            <a:off x="1161849" y="1808847"/>
            <a:ext cx="7982150" cy="4163636"/>
            <a:chOff x="1161849" y="1808847"/>
            <a:chExt cx="7982150" cy="4163636"/>
          </a:xfrm>
        </p:grpSpPr>
        <p:grpSp>
          <p:nvGrpSpPr>
            <p:cNvPr id="22" name="Group 21">
              <a:extLst>
                <a:ext uri="{FF2B5EF4-FFF2-40B4-BE49-F238E27FC236}">
                  <a16:creationId xmlns:a16="http://schemas.microsoft.com/office/drawing/2014/main" id="{761CC9D9-5D24-DE57-9888-03F3A1C0575A}"/>
                </a:ext>
              </a:extLst>
            </p:cNvPr>
            <p:cNvGrpSpPr/>
            <p:nvPr/>
          </p:nvGrpSpPr>
          <p:grpSpPr>
            <a:xfrm>
              <a:off x="1161849" y="1808847"/>
              <a:ext cx="7982150" cy="4163636"/>
              <a:chOff x="2396654" y="972360"/>
              <a:chExt cx="6583773" cy="3450470"/>
            </a:xfrm>
          </p:grpSpPr>
          <p:pic>
            <p:nvPicPr>
              <p:cNvPr id="11" name="Picture 10">
                <a:extLst>
                  <a:ext uri="{FF2B5EF4-FFF2-40B4-BE49-F238E27FC236}">
                    <a16:creationId xmlns:a16="http://schemas.microsoft.com/office/drawing/2014/main" id="{2F0C49E2-62E2-BB6A-7FE5-ADCB5F8F72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4600" y="1371600"/>
                <a:ext cx="5921253" cy="2651990"/>
              </a:xfrm>
              <a:prstGeom prst="rect">
                <a:avLst/>
              </a:prstGeom>
            </p:spPr>
          </p:pic>
          <p:sp>
            <p:nvSpPr>
              <p:cNvPr id="12" name="Rectangle 11">
                <a:extLst>
                  <a:ext uri="{FF2B5EF4-FFF2-40B4-BE49-F238E27FC236}">
                    <a16:creationId xmlns:a16="http://schemas.microsoft.com/office/drawing/2014/main" id="{AD144780-F2F2-A3D4-C873-2F62545EBFBF}"/>
                  </a:ext>
                </a:extLst>
              </p:cNvPr>
              <p:cNvSpPr/>
              <p:nvPr/>
            </p:nvSpPr>
            <p:spPr>
              <a:xfrm>
                <a:off x="2504440" y="327660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2A11A8B8-F627-7B08-3EB4-B9C0E7080FE5}"/>
                  </a:ext>
                </a:extLst>
              </p:cNvPr>
              <p:cNvSpPr/>
              <p:nvPr/>
            </p:nvSpPr>
            <p:spPr>
              <a:xfrm>
                <a:off x="3276600" y="3596985"/>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273CBFD8-3D4F-25D5-9D32-DC9978A213D4}"/>
                  </a:ext>
                </a:extLst>
              </p:cNvPr>
              <p:cNvSpPr/>
              <p:nvPr/>
            </p:nvSpPr>
            <p:spPr>
              <a:xfrm>
                <a:off x="4180840" y="303022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3E0696FC-8703-1858-4390-744AE244A775}"/>
                  </a:ext>
                </a:extLst>
              </p:cNvPr>
              <p:cNvSpPr/>
              <p:nvPr/>
            </p:nvSpPr>
            <p:spPr>
              <a:xfrm>
                <a:off x="4815842" y="3260205"/>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F7477530-36D4-224B-0DA2-77DC4E3F9833}"/>
                  </a:ext>
                </a:extLst>
              </p:cNvPr>
              <p:cNvSpPr/>
              <p:nvPr/>
            </p:nvSpPr>
            <p:spPr>
              <a:xfrm>
                <a:off x="6365244" y="3596985"/>
                <a:ext cx="1026156"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31F54683-9AEE-3767-D195-73C90A13C00E}"/>
                  </a:ext>
                </a:extLst>
              </p:cNvPr>
              <p:cNvSpPr/>
              <p:nvPr/>
            </p:nvSpPr>
            <p:spPr>
              <a:xfrm>
                <a:off x="7696200" y="388943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71DE8600-8872-59EB-4BD0-95FEECE80F59}"/>
                  </a:ext>
                </a:extLst>
              </p:cNvPr>
              <p:cNvSpPr/>
              <p:nvPr/>
            </p:nvSpPr>
            <p:spPr>
              <a:xfrm>
                <a:off x="8066027" y="97236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Rectangle 19">
                <a:extLst>
                  <a:ext uri="{FF2B5EF4-FFF2-40B4-BE49-F238E27FC236}">
                    <a16:creationId xmlns:a16="http://schemas.microsoft.com/office/drawing/2014/main" id="{CB66BA79-B704-FC54-B87D-4AFD4421EDB5}"/>
                  </a:ext>
                </a:extLst>
              </p:cNvPr>
              <p:cNvSpPr/>
              <p:nvPr/>
            </p:nvSpPr>
            <p:spPr>
              <a:xfrm>
                <a:off x="5257800" y="1347413"/>
                <a:ext cx="10668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Rectangle 20">
                <a:extLst>
                  <a:ext uri="{FF2B5EF4-FFF2-40B4-BE49-F238E27FC236}">
                    <a16:creationId xmlns:a16="http://schemas.microsoft.com/office/drawing/2014/main" id="{7EFF5820-DF1C-4671-32F3-759913942AA1}"/>
                  </a:ext>
                </a:extLst>
              </p:cNvPr>
              <p:cNvSpPr/>
              <p:nvPr/>
            </p:nvSpPr>
            <p:spPr>
              <a:xfrm>
                <a:off x="7796283" y="3124253"/>
                <a:ext cx="484629" cy="2924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Sa</a:t>
                </a:r>
              </a:p>
            </p:txBody>
          </p:sp>
          <p:sp>
            <p:nvSpPr>
              <p:cNvPr id="18" name="Rectangle 17">
                <a:extLst>
                  <a:ext uri="{FF2B5EF4-FFF2-40B4-BE49-F238E27FC236}">
                    <a16:creationId xmlns:a16="http://schemas.microsoft.com/office/drawing/2014/main" id="{B8A06C70-03FF-042D-62C7-7B29EBB59762}"/>
                  </a:ext>
                </a:extLst>
              </p:cNvPr>
              <p:cNvSpPr/>
              <p:nvPr/>
            </p:nvSpPr>
            <p:spPr>
              <a:xfrm>
                <a:off x="2396654" y="3596985"/>
                <a:ext cx="296413"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4" name="TextBox 23">
              <a:extLst>
                <a:ext uri="{FF2B5EF4-FFF2-40B4-BE49-F238E27FC236}">
                  <a16:creationId xmlns:a16="http://schemas.microsoft.com/office/drawing/2014/main" id="{0F7BAAFB-A34D-F2CC-31DA-DC42362A5BCD}"/>
                </a:ext>
              </a:extLst>
            </p:cNvPr>
            <p:cNvSpPr txBox="1"/>
            <p:nvPr/>
          </p:nvSpPr>
          <p:spPr>
            <a:xfrm>
              <a:off x="7587007" y="4405508"/>
              <a:ext cx="909072"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Sample</a:t>
              </a:r>
            </a:p>
          </p:txBody>
        </p:sp>
        <p:sp>
          <p:nvSpPr>
            <p:cNvPr id="25" name="TextBox 24">
              <a:extLst>
                <a:ext uri="{FF2B5EF4-FFF2-40B4-BE49-F238E27FC236}">
                  <a16:creationId xmlns:a16="http://schemas.microsoft.com/office/drawing/2014/main" id="{FE1C949C-2FA2-21AD-19C1-085780152BDD}"/>
                </a:ext>
              </a:extLst>
            </p:cNvPr>
            <p:cNvSpPr txBox="1"/>
            <p:nvPr/>
          </p:nvSpPr>
          <p:spPr>
            <a:xfrm>
              <a:off x="5784018" y="4975947"/>
              <a:ext cx="1650605"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Peristatic Pump</a:t>
              </a:r>
            </a:p>
          </p:txBody>
        </p:sp>
        <p:sp>
          <p:nvSpPr>
            <p:cNvPr id="26" name="TextBox 25">
              <a:extLst>
                <a:ext uri="{FF2B5EF4-FFF2-40B4-BE49-F238E27FC236}">
                  <a16:creationId xmlns:a16="http://schemas.microsoft.com/office/drawing/2014/main" id="{FA4651C6-7735-F7F3-1BCF-495849D15F0B}"/>
                </a:ext>
              </a:extLst>
            </p:cNvPr>
            <p:cNvSpPr txBox="1"/>
            <p:nvPr/>
          </p:nvSpPr>
          <p:spPr>
            <a:xfrm>
              <a:off x="4357473" y="4592086"/>
              <a:ext cx="1073659"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Argon in</a:t>
              </a:r>
            </a:p>
          </p:txBody>
        </p:sp>
        <p:sp>
          <p:nvSpPr>
            <p:cNvPr id="27" name="TextBox 26">
              <a:extLst>
                <a:ext uri="{FF2B5EF4-FFF2-40B4-BE49-F238E27FC236}">
                  <a16:creationId xmlns:a16="http://schemas.microsoft.com/office/drawing/2014/main" id="{F3CC2C26-BB2F-F49D-8C3E-2847F942E0ED}"/>
                </a:ext>
              </a:extLst>
            </p:cNvPr>
            <p:cNvSpPr txBox="1"/>
            <p:nvPr/>
          </p:nvSpPr>
          <p:spPr>
            <a:xfrm>
              <a:off x="4886673" y="2564920"/>
              <a:ext cx="1367529"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Nebulizer</a:t>
              </a:r>
            </a:p>
          </p:txBody>
        </p:sp>
        <p:sp>
          <p:nvSpPr>
            <p:cNvPr id="28" name="TextBox 27">
              <a:extLst>
                <a:ext uri="{FF2B5EF4-FFF2-40B4-BE49-F238E27FC236}">
                  <a16:creationId xmlns:a16="http://schemas.microsoft.com/office/drawing/2014/main" id="{1B6E102E-0145-3EF9-500A-9AF42922527E}"/>
                </a:ext>
              </a:extLst>
            </p:cNvPr>
            <p:cNvSpPr txBox="1"/>
            <p:nvPr/>
          </p:nvSpPr>
          <p:spPr>
            <a:xfrm>
              <a:off x="2372329" y="4961418"/>
              <a:ext cx="1036753"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To waste</a:t>
              </a:r>
            </a:p>
          </p:txBody>
        </p:sp>
        <p:sp>
          <p:nvSpPr>
            <p:cNvPr id="29" name="Isosceles Triangle 28">
              <a:extLst>
                <a:ext uri="{FF2B5EF4-FFF2-40B4-BE49-F238E27FC236}">
                  <a16:creationId xmlns:a16="http://schemas.microsoft.com/office/drawing/2014/main" id="{A85F1BFC-B20B-859F-1FF7-E1BEF3561444}"/>
                </a:ext>
              </a:extLst>
            </p:cNvPr>
            <p:cNvSpPr/>
            <p:nvPr/>
          </p:nvSpPr>
          <p:spPr>
            <a:xfrm rot="5400000">
              <a:off x="3716941" y="3397080"/>
              <a:ext cx="324718" cy="355120"/>
            </a:xfrm>
            <a:prstGeom prst="triangle">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F476B2ED-D221-708F-B67B-253D742FA1F4}"/>
                </a:ext>
              </a:extLst>
            </p:cNvPr>
            <p:cNvSpPr txBox="1"/>
            <p:nvPr/>
          </p:nvSpPr>
          <p:spPr>
            <a:xfrm>
              <a:off x="3445188" y="4163171"/>
              <a:ext cx="1036753" cy="646331"/>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Sample aerosol</a:t>
              </a:r>
            </a:p>
          </p:txBody>
        </p:sp>
        <p:sp>
          <p:nvSpPr>
            <p:cNvPr id="31" name="TextBox 30">
              <a:extLst>
                <a:ext uri="{FF2B5EF4-FFF2-40B4-BE49-F238E27FC236}">
                  <a16:creationId xmlns:a16="http://schemas.microsoft.com/office/drawing/2014/main" id="{E3EB448B-413D-5D5E-6F62-C1613AAC67EE}"/>
                </a:ext>
              </a:extLst>
            </p:cNvPr>
            <p:cNvSpPr txBox="1"/>
            <p:nvPr/>
          </p:nvSpPr>
          <p:spPr>
            <a:xfrm>
              <a:off x="1161849" y="4523341"/>
              <a:ext cx="1036753" cy="646331"/>
            </a:xfrm>
            <a:prstGeom prst="rect">
              <a:avLst/>
            </a:prstGeom>
            <a:noFill/>
          </p:spPr>
          <p:txBody>
            <a:bodyPr wrap="square" rtlCol="0">
              <a:spAutoFit/>
            </a:bodyPr>
            <a:lstStyle/>
            <a:p>
              <a:pPr algn="ctr"/>
              <a:r>
                <a:rPr lang="en-IN" dirty="0">
                  <a:latin typeface="Times New Roman" panose="02020603050405020304" pitchFamily="18" charset="0"/>
                  <a:cs typeface="Times New Roman" panose="02020603050405020304" pitchFamily="18" charset="0"/>
                </a:rPr>
                <a:t>Spray chamber</a:t>
              </a:r>
            </a:p>
          </p:txBody>
        </p:sp>
        <p:sp>
          <p:nvSpPr>
            <p:cNvPr id="32" name="Rectangle: Rounded Corners 31">
              <a:extLst>
                <a:ext uri="{FF2B5EF4-FFF2-40B4-BE49-F238E27FC236}">
                  <a16:creationId xmlns:a16="http://schemas.microsoft.com/office/drawing/2014/main" id="{750F7A9A-308D-49AE-7C45-FFD499E47116}"/>
                </a:ext>
              </a:extLst>
            </p:cNvPr>
            <p:cNvSpPr/>
            <p:nvPr/>
          </p:nvSpPr>
          <p:spPr>
            <a:xfrm>
              <a:off x="1161849" y="2057400"/>
              <a:ext cx="7677351" cy="391508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5" name="TextBox 34">
            <a:extLst>
              <a:ext uri="{FF2B5EF4-FFF2-40B4-BE49-F238E27FC236}">
                <a16:creationId xmlns:a16="http://schemas.microsoft.com/office/drawing/2014/main" id="{13CBABF3-FB90-A8EC-1A92-AB0BD5A503E9}"/>
              </a:ext>
            </a:extLst>
          </p:cNvPr>
          <p:cNvSpPr txBox="1"/>
          <p:nvPr/>
        </p:nvSpPr>
        <p:spPr>
          <a:xfrm>
            <a:off x="961924" y="15705"/>
            <a:ext cx="8077199" cy="1554272"/>
          </a:xfrm>
          <a:prstGeom prst="rect">
            <a:avLst/>
          </a:prstGeom>
          <a:noFill/>
        </p:spPr>
        <p:txBody>
          <a:bodyPr wrap="square">
            <a:spAutoFit/>
          </a:bodyPr>
          <a:lstStyle/>
          <a:p>
            <a:pPr algn="l"/>
            <a:endParaRPr lang="en-IN" sz="1100" b="0" i="0" u="none" strike="noStrike" baseline="0" dirty="0">
              <a:solidFill>
                <a:srgbClr val="000000"/>
              </a:solidFill>
              <a:latin typeface="Calibri" panose="020F0502020204030204" pitchFamily="34" charset="0"/>
            </a:endParaRPr>
          </a:p>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Peristaltic Pump</a:t>
            </a:r>
          </a:p>
          <a:p>
            <a:pPr algn="ctr"/>
            <a:endParaRPr lang="en-IN" sz="2000" b="0" i="0" u="none" strike="noStrike" baseline="0" dirty="0">
              <a:solidFill>
                <a:srgbClr val="0000FF"/>
              </a:solidFill>
              <a:latin typeface="Calibri" panose="020F0502020204030204" pitchFamily="34" charset="0"/>
            </a:endParaRPr>
          </a:p>
          <a:p>
            <a:pPr marL="285750" indent="-285750">
              <a:buFont typeface="Arial" panose="020B0604020202020204" pitchFamily="34" charset="0"/>
              <a:buChar char="•"/>
            </a:pPr>
            <a:r>
              <a:rPr lang="en-US" sz="1800" b="1" i="0" u="none" strike="noStrike" baseline="0" dirty="0">
                <a:solidFill>
                  <a:srgbClr val="000000"/>
                </a:solidFill>
                <a:latin typeface="Calibri" panose="020F0502020204030204" pitchFamily="34" charset="0"/>
              </a:rPr>
              <a:t>Ensures constant flow of liquid irrespective of differences in viscosity between samples, standards and blanks. Sample </a:t>
            </a:r>
            <a:r>
              <a:rPr lang="en-IN" sz="1800" b="1" i="0" u="none" strike="noStrike" baseline="0" dirty="0">
                <a:solidFill>
                  <a:srgbClr val="000000"/>
                </a:solidFill>
                <a:latin typeface="Calibri" panose="020F0502020204030204" pitchFamily="34" charset="0"/>
              </a:rPr>
              <a:t>pumped at 1ml/min </a:t>
            </a:r>
            <a:endParaRPr lang="en-IN" dirty="0"/>
          </a:p>
        </p:txBody>
      </p:sp>
    </p:spTree>
    <p:extLst>
      <p:ext uri="{BB962C8B-B14F-4D97-AF65-F5344CB8AC3E}">
        <p14:creationId xmlns:p14="http://schemas.microsoft.com/office/powerpoint/2010/main" val="2899894168"/>
      </p:ext>
    </p:extLst>
  </p:cSld>
  <p:clrMapOvr>
    <a:masterClrMapping/>
  </p:clrMapOvr>
  <p:transition>
    <p:wipe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BE8BD-3367-7867-D560-E7FC5516E7E5}"/>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7970FFC8-0FA0-88C8-C009-7596DFBBC635}"/>
              </a:ext>
            </a:extLst>
          </p:cNvPr>
          <p:cNvSpPr txBox="1"/>
          <p:nvPr/>
        </p:nvSpPr>
        <p:spPr>
          <a:xfrm>
            <a:off x="990601" y="0"/>
            <a:ext cx="8153400" cy="1123384"/>
          </a:xfrm>
          <a:prstGeom prst="rect">
            <a:avLst/>
          </a:prstGeom>
          <a:noFill/>
        </p:spPr>
        <p:txBody>
          <a:bodyPr wrap="square">
            <a:spAutoFit/>
          </a:bodyPr>
          <a:lstStyle/>
          <a:p>
            <a:pPr algn="l"/>
            <a:endParaRPr lang="en-IN" sz="1100" b="0" i="0" u="none" strike="noStrike" baseline="0" dirty="0">
              <a:solidFill>
                <a:srgbClr val="000000"/>
              </a:solidFill>
              <a:latin typeface="Calibri" panose="020F0502020204030204" pitchFamily="34" charset="0"/>
            </a:endParaRPr>
          </a:p>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Micromist Nebulizer: </a:t>
            </a:r>
          </a:p>
          <a:p>
            <a:pPr algn="ctr"/>
            <a:endParaRPr lang="en-IN" sz="2800" b="1" u="sng" dirty="0"/>
          </a:p>
        </p:txBody>
      </p:sp>
      <p:pic>
        <p:nvPicPr>
          <p:cNvPr id="3" name="Picture 2">
            <a:extLst>
              <a:ext uri="{FF2B5EF4-FFF2-40B4-BE49-F238E27FC236}">
                <a16:creationId xmlns:a16="http://schemas.microsoft.com/office/drawing/2014/main" id="{FBAD2D9F-0B8B-E46C-B000-45FEC4BCDD6C}"/>
              </a:ext>
            </a:extLst>
          </p:cNvPr>
          <p:cNvPicPr>
            <a:picLocks noChangeAspect="1"/>
          </p:cNvPicPr>
          <p:nvPr/>
        </p:nvPicPr>
        <p:blipFill>
          <a:blip r:embed="rId2"/>
          <a:stretch>
            <a:fillRect/>
          </a:stretch>
        </p:blipFill>
        <p:spPr>
          <a:xfrm>
            <a:off x="2862867" y="1371600"/>
            <a:ext cx="4408867" cy="3113509"/>
          </a:xfrm>
          <a:prstGeom prst="rect">
            <a:avLst/>
          </a:prstGeom>
        </p:spPr>
      </p:pic>
      <p:sp>
        <p:nvSpPr>
          <p:cNvPr id="4" name="Rectangle: Rounded Corners 3">
            <a:extLst>
              <a:ext uri="{FF2B5EF4-FFF2-40B4-BE49-F238E27FC236}">
                <a16:creationId xmlns:a16="http://schemas.microsoft.com/office/drawing/2014/main" id="{550E759F-5F87-E8FE-6857-BE67A2735DD2}"/>
              </a:ext>
            </a:extLst>
          </p:cNvPr>
          <p:cNvSpPr/>
          <p:nvPr/>
        </p:nvSpPr>
        <p:spPr>
          <a:xfrm>
            <a:off x="1763332" y="1097984"/>
            <a:ext cx="6390067" cy="391508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5A77FB1-FABE-112C-016E-D6A195459A15}"/>
              </a:ext>
            </a:extLst>
          </p:cNvPr>
          <p:cNvSpPr txBox="1"/>
          <p:nvPr/>
        </p:nvSpPr>
        <p:spPr>
          <a:xfrm>
            <a:off x="1143000" y="5787885"/>
            <a:ext cx="7543799" cy="646331"/>
          </a:xfrm>
          <a:prstGeom prst="rect">
            <a:avLst/>
          </a:prstGeom>
          <a:noFill/>
        </p:spPr>
        <p:txBody>
          <a:bodyPr wrap="square">
            <a:spAutoFit/>
          </a:bodyPr>
          <a:lstStyle/>
          <a:p>
            <a:pPr marL="285750" indent="-285750" algn="just">
              <a:buFont typeface="Arial" panose="020B0604020202020204" pitchFamily="34" charset="0"/>
              <a:buChar char="•"/>
            </a:pPr>
            <a:r>
              <a:rPr lang="en-US" sz="1800" i="0" u="none" strike="noStrike" baseline="0" dirty="0">
                <a:solidFill>
                  <a:srgbClr val="000000"/>
                </a:solidFill>
                <a:latin typeface="Times New Roman" panose="02020603050405020304" pitchFamily="18" charset="0"/>
                <a:cs typeface="Times New Roman" panose="02020603050405020304" pitchFamily="18" charset="0"/>
              </a:rPr>
              <a:t>Liquid is converted into a fine aerosol by pneumatic action of a flow of argon gas (~1L/min) smashing the liquid into tiny droplets.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8032793"/>
      </p:ext>
    </p:extLst>
  </p:cSld>
  <p:clrMapOvr>
    <a:masterClrMapping/>
  </p:clrMapOvr>
  <p:transition>
    <p:wipe dir="d"/>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6E853-3098-433D-F664-93D4E2E691DB}"/>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C34F210B-EA9A-C9C2-4E2A-C46F06EE3892}"/>
              </a:ext>
            </a:extLst>
          </p:cNvPr>
          <p:cNvSpPr txBox="1"/>
          <p:nvPr/>
        </p:nvSpPr>
        <p:spPr>
          <a:xfrm>
            <a:off x="990601" y="0"/>
            <a:ext cx="7924799" cy="1954381"/>
          </a:xfrm>
          <a:prstGeom prst="rect">
            <a:avLst/>
          </a:prstGeom>
          <a:noFill/>
        </p:spPr>
        <p:txBody>
          <a:bodyPr wrap="square">
            <a:spAutoFit/>
          </a:bodyPr>
          <a:lstStyle/>
          <a:p>
            <a:pPr algn="l"/>
            <a:endParaRPr lang="en-IN" sz="1100" b="0" i="0" u="none" strike="noStrike" baseline="0" dirty="0">
              <a:solidFill>
                <a:srgbClr val="000000"/>
              </a:solidFill>
              <a:latin typeface="Calibri" panose="020F0502020204030204" pitchFamily="34" charset="0"/>
            </a:endParaRPr>
          </a:p>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Double Pass Spray Chamber: </a:t>
            </a:r>
          </a:p>
          <a:p>
            <a:pPr algn="ctr"/>
            <a:endParaRPr lang="en-IN" sz="2800" b="1" u="sng" dirty="0"/>
          </a:p>
          <a:p>
            <a:pPr marL="285750" indent="-285750" algn="just">
              <a:buFont typeface="Arial" panose="020B0604020202020204" pitchFamily="34" charset="0"/>
              <a:buChar char="•"/>
            </a:pPr>
            <a:r>
              <a:rPr lang="en-US" sz="1800" b="1" i="0" u="none" strike="noStrike" baseline="0" dirty="0">
                <a:solidFill>
                  <a:srgbClr val="000000"/>
                </a:solidFill>
                <a:latin typeface="Calibri" panose="020F0502020204030204" pitchFamily="34" charset="0"/>
              </a:rPr>
              <a:t>Spray Chamber only allows small droplets (&lt;10μm) to enter the plasma. Larger droplets having higher momentum collide with wall of spray chamber, get condensed &amp; eventually fall out by gravity through the drain </a:t>
            </a:r>
            <a:endParaRPr lang="en-IN" dirty="0"/>
          </a:p>
        </p:txBody>
      </p:sp>
      <p:sp>
        <p:nvSpPr>
          <p:cNvPr id="4" name="Rectangle: Rounded Corners 3">
            <a:extLst>
              <a:ext uri="{FF2B5EF4-FFF2-40B4-BE49-F238E27FC236}">
                <a16:creationId xmlns:a16="http://schemas.microsoft.com/office/drawing/2014/main" id="{45A4D25A-DCDD-7725-7204-53DDC3ACB207}"/>
              </a:ext>
            </a:extLst>
          </p:cNvPr>
          <p:cNvSpPr/>
          <p:nvPr/>
        </p:nvSpPr>
        <p:spPr>
          <a:xfrm>
            <a:off x="1961453" y="2337559"/>
            <a:ext cx="5963347" cy="429184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DF805BC5-436A-BC51-229E-E07EA3454202}"/>
              </a:ext>
            </a:extLst>
          </p:cNvPr>
          <p:cNvPicPr>
            <a:picLocks noChangeAspect="1"/>
          </p:cNvPicPr>
          <p:nvPr/>
        </p:nvPicPr>
        <p:blipFill>
          <a:blip r:embed="rId2"/>
          <a:stretch>
            <a:fillRect/>
          </a:stretch>
        </p:blipFill>
        <p:spPr>
          <a:xfrm>
            <a:off x="2586292" y="2472556"/>
            <a:ext cx="4713667" cy="4021845"/>
          </a:xfrm>
          <a:prstGeom prst="rect">
            <a:avLst/>
          </a:prstGeom>
        </p:spPr>
      </p:pic>
    </p:spTree>
    <p:extLst>
      <p:ext uri="{BB962C8B-B14F-4D97-AF65-F5344CB8AC3E}">
        <p14:creationId xmlns:p14="http://schemas.microsoft.com/office/powerpoint/2010/main" val="1755056186"/>
      </p:ext>
    </p:extLst>
  </p:cSld>
  <p:clrMapOvr>
    <a:masterClrMapping/>
  </p:clrMapOvr>
  <p:transition>
    <p:wipe dir="d"/>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EdihardX\Downloads\ICP\ICPMS.jpg"/>
          <p:cNvPicPr/>
          <p:nvPr/>
        </p:nvPicPr>
        <p:blipFill>
          <a:blip r:embed="rId2">
            <a:extLst>
              <a:ext uri="{28A0092B-C50C-407E-A947-70E740481C1C}">
                <a14:useLocalDpi xmlns:a14="http://schemas.microsoft.com/office/drawing/2010/main" val="0"/>
              </a:ext>
            </a:extLst>
          </a:blip>
          <a:srcRect/>
          <a:stretch>
            <a:fillRect/>
          </a:stretch>
        </p:blipFill>
        <p:spPr bwMode="auto">
          <a:xfrm>
            <a:off x="1371600" y="238539"/>
            <a:ext cx="2332527" cy="250530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l="15320" t="16537" r="53811" b="26878"/>
          <a:stretch/>
        </p:blipFill>
        <p:spPr bwMode="auto">
          <a:xfrm>
            <a:off x="1295400" y="3124200"/>
            <a:ext cx="2332527" cy="250530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172" name="Picture 4"/>
          <p:cNvPicPr>
            <a:picLocks noChangeAspect="1" noChangeArrowheads="1"/>
          </p:cNvPicPr>
          <p:nvPr/>
        </p:nvPicPr>
        <p:blipFill rotWithShape="1">
          <a:blip r:embed="rId4">
            <a:extLst>
              <a:ext uri="{28A0092B-C50C-407E-A947-70E740481C1C}">
                <a14:useLocalDpi xmlns:a14="http://schemas.microsoft.com/office/drawing/2010/main" val="0"/>
              </a:ext>
            </a:extLst>
          </a:blip>
          <a:srcRect l="30564" t="14000" r="16844" b="37837"/>
          <a:stretch/>
        </p:blipFill>
        <p:spPr bwMode="auto">
          <a:xfrm>
            <a:off x="4038600" y="88420"/>
            <a:ext cx="4953000" cy="250530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175" name="Picture 7"/>
          <p:cNvPicPr>
            <a:picLocks noChangeAspect="1" noChangeArrowheads="1"/>
          </p:cNvPicPr>
          <p:nvPr/>
        </p:nvPicPr>
        <p:blipFill rotWithShape="1">
          <a:blip r:embed="rId5">
            <a:extLst>
              <a:ext uri="{28A0092B-C50C-407E-A947-70E740481C1C}">
                <a14:useLocalDpi xmlns:a14="http://schemas.microsoft.com/office/drawing/2010/main" val="0"/>
              </a:ext>
            </a:extLst>
          </a:blip>
          <a:srcRect l="4573" t="25512" r="47180" b="26807"/>
          <a:stretch/>
        </p:blipFill>
        <p:spPr bwMode="auto">
          <a:xfrm>
            <a:off x="4038600" y="3087756"/>
            <a:ext cx="4953000" cy="2505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07312480"/>
      </p:ext>
    </p:extLst>
  </p:cSld>
  <p:clrMapOvr>
    <a:masterClrMapping/>
  </p:clrMapOvr>
  <p:transition>
    <p:wipe dir="d"/>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5E257-673E-425D-807F-5B36D4C600C1}"/>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59C066D5-7A84-E8C4-630C-73A39E17FCBE}"/>
              </a:ext>
            </a:extLst>
          </p:cNvPr>
          <p:cNvSpPr txBox="1"/>
          <p:nvPr/>
        </p:nvSpPr>
        <p:spPr>
          <a:xfrm>
            <a:off x="997950" y="12932"/>
            <a:ext cx="8146050" cy="523220"/>
          </a:xfrm>
          <a:prstGeom prst="rect">
            <a:avLst/>
          </a:prstGeom>
          <a:noFill/>
        </p:spPr>
        <p:txBody>
          <a:bodyPr wrap="square">
            <a:spAutoFit/>
          </a:bodyPr>
          <a:lstStyle/>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ICP Plasma Ionization Source </a:t>
            </a:r>
          </a:p>
        </p:txBody>
      </p:sp>
      <p:sp>
        <p:nvSpPr>
          <p:cNvPr id="24" name="TextBox 23">
            <a:extLst>
              <a:ext uri="{FF2B5EF4-FFF2-40B4-BE49-F238E27FC236}">
                <a16:creationId xmlns:a16="http://schemas.microsoft.com/office/drawing/2014/main" id="{9967859A-DA02-2F28-06E1-7AC1A88830F0}"/>
              </a:ext>
            </a:extLst>
          </p:cNvPr>
          <p:cNvSpPr txBox="1"/>
          <p:nvPr/>
        </p:nvSpPr>
        <p:spPr>
          <a:xfrm>
            <a:off x="1048250" y="4991928"/>
            <a:ext cx="7738245" cy="923330"/>
          </a:xfrm>
          <a:prstGeom prst="rect">
            <a:avLst/>
          </a:prstGeom>
          <a:noFill/>
        </p:spPr>
        <p:txBody>
          <a:bodyPr wrap="square">
            <a:spAutoFit/>
          </a:bodyPr>
          <a:lstStyle/>
          <a:p>
            <a:pPr algn="just"/>
            <a:r>
              <a:rPr lang="en-US" b="1" dirty="0">
                <a:solidFill>
                  <a:srgbClr val="000000"/>
                </a:solidFill>
                <a:latin typeface="Calibri" panose="020F0502020204030204" pitchFamily="34" charset="0"/>
              </a:rPr>
              <a:t>Inductively coupled plasmas are formed by coupling energy produced by a RF generator to the plasma support gas with an electromagnetic field. The field is produced by applying an RF power (typically 700-1500 W) to a load coil. </a:t>
            </a:r>
            <a:endParaRPr lang="en-IN" b="1" dirty="0">
              <a:solidFill>
                <a:srgbClr val="000000"/>
              </a:solidFill>
              <a:latin typeface="Calibri" panose="020F0502020204030204" pitchFamily="34" charset="0"/>
            </a:endParaRPr>
          </a:p>
        </p:txBody>
      </p:sp>
      <p:grpSp>
        <p:nvGrpSpPr>
          <p:cNvPr id="25" name="object 3">
            <a:extLst>
              <a:ext uri="{FF2B5EF4-FFF2-40B4-BE49-F238E27FC236}">
                <a16:creationId xmlns:a16="http://schemas.microsoft.com/office/drawing/2014/main" id="{BD76F055-D136-453C-BDCC-A45BD8ED3D9A}"/>
              </a:ext>
            </a:extLst>
          </p:cNvPr>
          <p:cNvGrpSpPr/>
          <p:nvPr/>
        </p:nvGrpSpPr>
        <p:grpSpPr>
          <a:xfrm>
            <a:off x="1048250" y="1066801"/>
            <a:ext cx="8095750" cy="3429000"/>
            <a:chOff x="107505" y="752338"/>
            <a:chExt cx="8045450" cy="3480435"/>
          </a:xfrm>
        </p:grpSpPr>
        <p:pic>
          <p:nvPicPr>
            <p:cNvPr id="26" name="object 4">
              <a:extLst>
                <a:ext uri="{FF2B5EF4-FFF2-40B4-BE49-F238E27FC236}">
                  <a16:creationId xmlns:a16="http://schemas.microsoft.com/office/drawing/2014/main" id="{F5A3BD50-D00A-403B-AECA-64C943981B7E}"/>
                </a:ext>
              </a:extLst>
            </p:cNvPr>
            <p:cNvPicPr/>
            <p:nvPr/>
          </p:nvPicPr>
          <p:blipFill>
            <a:blip r:embed="rId2" cstate="print"/>
            <a:stretch>
              <a:fillRect/>
            </a:stretch>
          </p:blipFill>
          <p:spPr>
            <a:xfrm>
              <a:off x="107505" y="752338"/>
              <a:ext cx="7226101" cy="3480368"/>
            </a:xfrm>
            <a:prstGeom prst="rect">
              <a:avLst/>
            </a:prstGeom>
          </p:spPr>
        </p:pic>
        <p:pic>
          <p:nvPicPr>
            <p:cNvPr id="27" name="object 5">
              <a:extLst>
                <a:ext uri="{FF2B5EF4-FFF2-40B4-BE49-F238E27FC236}">
                  <a16:creationId xmlns:a16="http://schemas.microsoft.com/office/drawing/2014/main" id="{E95240A0-A19E-449A-9294-B9CD7393B6D0}"/>
                </a:ext>
              </a:extLst>
            </p:cNvPr>
            <p:cNvPicPr/>
            <p:nvPr/>
          </p:nvPicPr>
          <p:blipFill>
            <a:blip r:embed="rId3" cstate="print"/>
            <a:stretch>
              <a:fillRect/>
            </a:stretch>
          </p:blipFill>
          <p:spPr>
            <a:xfrm>
              <a:off x="5580126" y="1700784"/>
              <a:ext cx="2572385" cy="580389"/>
            </a:xfrm>
            <a:prstGeom prst="rect">
              <a:avLst/>
            </a:prstGeom>
          </p:spPr>
        </p:pic>
      </p:grpSp>
    </p:spTree>
    <p:extLst>
      <p:ext uri="{BB962C8B-B14F-4D97-AF65-F5344CB8AC3E}">
        <p14:creationId xmlns:p14="http://schemas.microsoft.com/office/powerpoint/2010/main" val="1918848040"/>
      </p:ext>
    </p:extLst>
  </p:cSld>
  <p:clrMapOvr>
    <a:masterClrMapping/>
  </p:clrMapOvr>
  <p:transition>
    <p:wipe dir="d"/>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7340" y="998551"/>
            <a:ext cx="3330575" cy="56388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4346901" y="3657600"/>
            <a:ext cx="4873299" cy="2554545"/>
          </a:xfrm>
          <a:prstGeom prst="rect">
            <a:avLst/>
          </a:prstGeom>
        </p:spPr>
        <p:txBody>
          <a:bodyPr wrap="square">
            <a:spAutoFit/>
          </a:bodyPr>
          <a:lstStyle/>
          <a:p>
            <a:pPr marL="342900" indent="-342900">
              <a:buFont typeface="Wingdings" panose="05000000000000000000" pitchFamily="2" charset="2"/>
              <a:buChar char="§"/>
            </a:pPr>
            <a:r>
              <a:rPr lang="en-US" sz="2000" dirty="0"/>
              <a:t>RF generator is a tool that provides a voltage (700-1500 watts) to ignite the plasma with Argon gas as its source. </a:t>
            </a:r>
          </a:p>
          <a:p>
            <a:pPr marL="342900" indent="-342900">
              <a:buFont typeface="Wingdings" panose="05000000000000000000" pitchFamily="2" charset="2"/>
              <a:buChar char="§"/>
            </a:pPr>
            <a:r>
              <a:rPr lang="en-US" sz="2000" dirty="0"/>
              <a:t>This voltage is transferred to the plasma through a load coil, which surrounds the peak of the Torch. </a:t>
            </a:r>
          </a:p>
          <a:p>
            <a:pPr marL="342900" indent="-342900">
              <a:buFont typeface="Wingdings" panose="05000000000000000000" pitchFamily="2" charset="2"/>
              <a:buChar char="§"/>
            </a:pPr>
            <a:r>
              <a:rPr lang="en-US" sz="2000" dirty="0"/>
              <a:t>When the sample gas into the plasma occurs excitation of atoms occurs.</a:t>
            </a:r>
          </a:p>
        </p:txBody>
      </p:sp>
      <p:sp>
        <p:nvSpPr>
          <p:cNvPr id="8" name="Title 1"/>
          <p:cNvSpPr>
            <a:spLocks noGrp="1"/>
          </p:cNvSpPr>
          <p:nvPr>
            <p:ph type="title"/>
          </p:nvPr>
        </p:nvSpPr>
        <p:spPr>
          <a:xfrm>
            <a:off x="970958" y="0"/>
            <a:ext cx="4038600" cy="956806"/>
          </a:xfrm>
        </p:spPr>
        <p:txBody>
          <a:bodyPr>
            <a:normAutofit/>
          </a:bodyPr>
          <a:lstStyle/>
          <a:p>
            <a:r>
              <a:rPr lang="en-US" sz="2800" b="1" u="sng" dirty="0">
                <a:latin typeface="Times New Roman" panose="02020603050405020304" pitchFamily="18" charset="0"/>
                <a:cs typeface="Times New Roman" panose="02020603050405020304" pitchFamily="18" charset="0"/>
              </a:rPr>
              <a:t>Ionization Process</a:t>
            </a:r>
          </a:p>
        </p:txBody>
      </p:sp>
      <p:pic>
        <p:nvPicPr>
          <p:cNvPr id="7" name="Picture 4">
            <a:extLst>
              <a:ext uri="{FF2B5EF4-FFF2-40B4-BE49-F238E27FC236}">
                <a16:creationId xmlns:a16="http://schemas.microsoft.com/office/drawing/2014/main" id="{C50D40C9-14E4-4618-B542-DE8EF8406B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74848"/>
            <a:ext cx="2571750" cy="3254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5628931"/>
      </p:ext>
    </p:extLst>
  </p:cSld>
  <p:clrMapOvr>
    <a:masterClrMapping/>
  </p:clrMapOvr>
  <p:transition>
    <p:wipe dir="d"/>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C6FE60F-B7EA-4868-9B3C-B4A18509F0C0}"/>
              </a:ext>
            </a:extLst>
          </p:cNvPr>
          <p:cNvGraphicFramePr>
            <a:graphicFrameLocks noGrp="1"/>
          </p:cNvGraphicFramePr>
          <p:nvPr>
            <p:extLst>
              <p:ext uri="{D42A27DB-BD31-4B8C-83A1-F6EECF244321}">
                <p14:modId xmlns:p14="http://schemas.microsoft.com/office/powerpoint/2010/main" val="2593646665"/>
              </p:ext>
            </p:extLst>
          </p:nvPr>
        </p:nvGraphicFramePr>
        <p:xfrm>
          <a:off x="2080126" y="1066800"/>
          <a:ext cx="5768476" cy="5410201"/>
        </p:xfrm>
        <a:graphic>
          <a:graphicData uri="http://schemas.openxmlformats.org/drawingml/2006/table">
            <a:tbl>
              <a:tblPr/>
              <a:tblGrid>
                <a:gridCol w="1442119">
                  <a:extLst>
                    <a:ext uri="{9D8B030D-6E8A-4147-A177-3AD203B41FA5}">
                      <a16:colId xmlns:a16="http://schemas.microsoft.com/office/drawing/2014/main" val="3383541121"/>
                    </a:ext>
                  </a:extLst>
                </a:gridCol>
                <a:gridCol w="1442119">
                  <a:extLst>
                    <a:ext uri="{9D8B030D-6E8A-4147-A177-3AD203B41FA5}">
                      <a16:colId xmlns:a16="http://schemas.microsoft.com/office/drawing/2014/main" val="775162557"/>
                    </a:ext>
                  </a:extLst>
                </a:gridCol>
                <a:gridCol w="1442119">
                  <a:extLst>
                    <a:ext uri="{9D8B030D-6E8A-4147-A177-3AD203B41FA5}">
                      <a16:colId xmlns:a16="http://schemas.microsoft.com/office/drawing/2014/main" val="236855259"/>
                    </a:ext>
                  </a:extLst>
                </a:gridCol>
                <a:gridCol w="1442119">
                  <a:extLst>
                    <a:ext uri="{9D8B030D-6E8A-4147-A177-3AD203B41FA5}">
                      <a16:colId xmlns:a16="http://schemas.microsoft.com/office/drawing/2014/main" val="2864298571"/>
                    </a:ext>
                  </a:extLst>
                </a:gridCol>
              </a:tblGrid>
              <a:tr h="479533">
                <a:tc>
                  <a:txBody>
                    <a:bodyPr/>
                    <a:lstStyle/>
                    <a:p>
                      <a:r>
                        <a:rPr lang="en-IN" sz="1200" b="1"/>
                        <a:t>Element</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200" b="1"/>
                        <a:t>First Ionization Potential (eV)</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200" b="1"/>
                        <a:t>Ionization Efficiency in ICP</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200" b="1" dirty="0"/>
                        <a:t>Degree of Ionization</a:t>
                      </a:r>
                      <a:endParaRPr lang="en-IN" sz="1200" dirty="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4512496"/>
                  </a:ext>
                </a:extLst>
              </a:tr>
              <a:tr h="273926">
                <a:tc>
                  <a:txBody>
                    <a:bodyPr/>
                    <a:lstStyle/>
                    <a:p>
                      <a:r>
                        <a:rPr lang="en-IN" sz="1200" b="1"/>
                        <a:t>Aluminum (Al)</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n-IN" sz="1200"/>
                        <a:t>5.98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422267805"/>
                  </a:ext>
                </a:extLst>
              </a:tr>
              <a:tr h="273926">
                <a:tc>
                  <a:txBody>
                    <a:bodyPr/>
                    <a:lstStyle/>
                    <a:p>
                      <a:r>
                        <a:rPr lang="en-IN" sz="1200" b="1"/>
                        <a:t>Calcium (Ca)</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6.11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712494292"/>
                  </a:ext>
                </a:extLst>
              </a:tr>
              <a:tr h="273926">
                <a:tc>
                  <a:txBody>
                    <a:bodyPr/>
                    <a:lstStyle/>
                    <a:p>
                      <a:r>
                        <a:rPr lang="en-IN" sz="1200" b="1"/>
                        <a:t>Iron (Fe)</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7.87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81079612"/>
                  </a:ext>
                </a:extLst>
              </a:tr>
              <a:tr h="273926">
                <a:tc>
                  <a:txBody>
                    <a:bodyPr/>
                    <a:lstStyle/>
                    <a:p>
                      <a:r>
                        <a:rPr lang="en-IN" sz="1200" b="1"/>
                        <a:t>Magnesium (Mg)</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7.64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331762252"/>
                  </a:ext>
                </a:extLst>
              </a:tr>
              <a:tr h="273926">
                <a:tc>
                  <a:txBody>
                    <a:bodyPr/>
                    <a:lstStyle/>
                    <a:p>
                      <a:r>
                        <a:rPr lang="en-IN" sz="1200" b="1"/>
                        <a:t>Sodium (Na)</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5.14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Very 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&gt;95%</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501312512"/>
                  </a:ext>
                </a:extLst>
              </a:tr>
              <a:tr h="273926">
                <a:tc>
                  <a:txBody>
                    <a:bodyPr/>
                    <a:lstStyle/>
                    <a:p>
                      <a:r>
                        <a:rPr lang="en-IN" sz="1200" b="1"/>
                        <a:t>Copper (Cu)</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7.72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680075163"/>
                  </a:ext>
                </a:extLst>
              </a:tr>
              <a:tr h="273926">
                <a:tc>
                  <a:txBody>
                    <a:bodyPr/>
                    <a:lstStyle/>
                    <a:p>
                      <a:r>
                        <a:rPr lang="en-IN" sz="1200" b="1"/>
                        <a:t>Lead (Pb)</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7.42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124253511"/>
                  </a:ext>
                </a:extLst>
              </a:tr>
              <a:tr h="273926">
                <a:tc>
                  <a:txBody>
                    <a:bodyPr/>
                    <a:lstStyle/>
                    <a:p>
                      <a:r>
                        <a:rPr lang="en-IN" sz="1200" b="1"/>
                        <a:t>Zinc (Zn)</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9.39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dirty="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&gt;80%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3458184385"/>
                  </a:ext>
                </a:extLst>
              </a:tr>
              <a:tr h="273926">
                <a:tc>
                  <a:txBody>
                    <a:bodyPr/>
                    <a:lstStyle/>
                    <a:p>
                      <a:r>
                        <a:rPr lang="en-IN" sz="1200" b="1"/>
                        <a:t>Arsenic (As)</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9.79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dirty="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&gt;80%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220711546"/>
                  </a:ext>
                </a:extLst>
              </a:tr>
              <a:tr h="273926">
                <a:tc>
                  <a:txBody>
                    <a:bodyPr/>
                    <a:lstStyle/>
                    <a:p>
                      <a:r>
                        <a:rPr lang="en-IN" sz="1200" b="1"/>
                        <a:t>Bromine (Br)</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11.81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 to 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914147263"/>
                  </a:ext>
                </a:extLst>
              </a:tr>
              <a:tr h="273926">
                <a:tc>
                  <a:txBody>
                    <a:bodyPr/>
                    <a:lstStyle/>
                    <a:p>
                      <a:r>
                        <a:rPr lang="en-IN" sz="1200" b="1"/>
                        <a:t>Mercury (Hg)</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10.44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289821859"/>
                  </a:ext>
                </a:extLst>
              </a:tr>
              <a:tr h="273926">
                <a:tc>
                  <a:txBody>
                    <a:bodyPr/>
                    <a:lstStyle/>
                    <a:p>
                      <a:r>
                        <a:rPr lang="en-IN" sz="1200" b="1"/>
                        <a:t>Gold (Au)</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9.22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3696797079"/>
                  </a:ext>
                </a:extLst>
              </a:tr>
              <a:tr h="273926">
                <a:tc>
                  <a:txBody>
                    <a:bodyPr/>
                    <a:lstStyle/>
                    <a:p>
                      <a:r>
                        <a:rPr lang="en-IN" sz="1200" b="1"/>
                        <a:t>Uranium (U)</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6.1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59498090"/>
                  </a:ext>
                </a:extLst>
              </a:tr>
              <a:tr h="273926">
                <a:tc>
                  <a:txBody>
                    <a:bodyPr/>
                    <a:lstStyle/>
                    <a:p>
                      <a:r>
                        <a:rPr lang="en-IN" sz="1200" b="1"/>
                        <a:t>Platinum (Pt)</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8.96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3722302511"/>
                  </a:ext>
                </a:extLst>
              </a:tr>
              <a:tr h="273926">
                <a:tc>
                  <a:txBody>
                    <a:bodyPr/>
                    <a:lstStyle/>
                    <a:p>
                      <a:r>
                        <a:rPr lang="en-IN" sz="1200" b="1"/>
                        <a:t>Barium (Ba)</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5.21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176906421"/>
                  </a:ext>
                </a:extLst>
              </a:tr>
              <a:tr h="273926">
                <a:tc>
                  <a:txBody>
                    <a:bodyPr/>
                    <a:lstStyle/>
                    <a:p>
                      <a:r>
                        <a:rPr lang="en-IN" sz="1200" b="1"/>
                        <a:t>Tungsten (W)</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7.98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60–80%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159505671"/>
                  </a:ext>
                </a:extLst>
              </a:tr>
              <a:tr h="273926">
                <a:tc>
                  <a:txBody>
                    <a:bodyPr/>
                    <a:lstStyle/>
                    <a:p>
                      <a:r>
                        <a:rPr lang="en-IN" sz="1200" b="1"/>
                        <a:t>Chlorine (Cl)</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12.97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739788670"/>
                  </a:ext>
                </a:extLst>
              </a:tr>
              <a:tr h="273926">
                <a:tc>
                  <a:txBody>
                    <a:bodyPr/>
                    <a:lstStyle/>
                    <a:p>
                      <a:r>
                        <a:rPr lang="en-IN" sz="1200" b="1"/>
                        <a:t>Silver (Ag)</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n-IN" sz="1200"/>
                        <a:t>7.57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n-IN" sz="1200" dirty="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0167302"/>
                  </a:ext>
                </a:extLst>
              </a:tr>
            </a:tbl>
          </a:graphicData>
        </a:graphic>
      </p:graphicFrame>
      <p:sp>
        <p:nvSpPr>
          <p:cNvPr id="5" name="Title 1">
            <a:extLst>
              <a:ext uri="{FF2B5EF4-FFF2-40B4-BE49-F238E27FC236}">
                <a16:creationId xmlns:a16="http://schemas.microsoft.com/office/drawing/2014/main" id="{72329124-99C2-4002-A7BD-6C0550BC6859}"/>
              </a:ext>
            </a:extLst>
          </p:cNvPr>
          <p:cNvSpPr>
            <a:spLocks noGrp="1"/>
          </p:cNvSpPr>
          <p:nvPr>
            <p:ph type="title"/>
          </p:nvPr>
        </p:nvSpPr>
        <p:spPr>
          <a:xfrm>
            <a:off x="2095500" y="19493"/>
            <a:ext cx="4953000" cy="796455"/>
          </a:xfrm>
        </p:spPr>
        <p:txBody>
          <a:bodyPr>
            <a:normAutofit/>
          </a:bodyPr>
          <a:lstStyle/>
          <a:p>
            <a:r>
              <a:rPr lang="en-US" sz="2800" b="1" u="sng" dirty="0">
                <a:latin typeface="Times New Roman" panose="02020603050405020304" pitchFamily="18" charset="0"/>
                <a:cs typeface="Times New Roman" panose="02020603050405020304" pitchFamily="18" charset="0"/>
              </a:rPr>
              <a:t>Typical ionization for elements</a:t>
            </a:r>
          </a:p>
        </p:txBody>
      </p:sp>
      <p:sp>
        <p:nvSpPr>
          <p:cNvPr id="7" name="TextBox 6">
            <a:extLst>
              <a:ext uri="{FF2B5EF4-FFF2-40B4-BE49-F238E27FC236}">
                <a16:creationId xmlns:a16="http://schemas.microsoft.com/office/drawing/2014/main" id="{F1F0763A-308E-4CC0-906F-13B28FD5F7EB}"/>
              </a:ext>
            </a:extLst>
          </p:cNvPr>
          <p:cNvSpPr txBox="1"/>
          <p:nvPr/>
        </p:nvSpPr>
        <p:spPr>
          <a:xfrm>
            <a:off x="1143000" y="6513185"/>
            <a:ext cx="4575974" cy="369332"/>
          </a:xfrm>
          <a:prstGeom prst="rect">
            <a:avLst/>
          </a:prstGeom>
          <a:noFill/>
        </p:spPr>
        <p:txBody>
          <a:bodyPr wrap="square">
            <a:spAutoFit/>
          </a:bodyPr>
          <a:lstStyle/>
          <a:p>
            <a:pPr marL="212725" indent="-200660">
              <a:lnSpc>
                <a:spcPct val="100000"/>
              </a:lnSpc>
              <a:spcBef>
                <a:spcPts val="95"/>
              </a:spcBef>
              <a:buSzPct val="95000"/>
              <a:buFont typeface="Wingdings"/>
              <a:buChar char=""/>
              <a:tabLst>
                <a:tab pos="213360" algn="l"/>
              </a:tabLst>
            </a:pPr>
            <a:r>
              <a:rPr lang="en-US" sz="1800" b="1" spc="-10" dirty="0">
                <a:solidFill>
                  <a:srgbClr val="CC00CC"/>
                </a:solidFill>
                <a:latin typeface="Calibri"/>
                <a:cs typeface="Calibri"/>
              </a:rPr>
              <a:t>Argon</a:t>
            </a:r>
            <a:r>
              <a:rPr lang="en-US" sz="1800" b="1" dirty="0">
                <a:solidFill>
                  <a:srgbClr val="CC00CC"/>
                </a:solidFill>
                <a:latin typeface="Calibri"/>
                <a:cs typeface="Calibri"/>
              </a:rPr>
              <a:t> </a:t>
            </a:r>
            <a:r>
              <a:rPr lang="en-US" sz="1800" b="1" spc="-15" dirty="0">
                <a:solidFill>
                  <a:srgbClr val="CC00CC"/>
                </a:solidFill>
                <a:latin typeface="Calibri"/>
                <a:cs typeface="Calibri"/>
              </a:rPr>
              <a:t>first</a:t>
            </a:r>
            <a:r>
              <a:rPr lang="en-US" sz="1800" b="1" spc="5" dirty="0">
                <a:solidFill>
                  <a:srgbClr val="CC00CC"/>
                </a:solidFill>
                <a:latin typeface="Calibri"/>
                <a:cs typeface="Calibri"/>
              </a:rPr>
              <a:t> </a:t>
            </a:r>
            <a:r>
              <a:rPr lang="en-US" sz="1800" b="1" spc="-10" dirty="0">
                <a:solidFill>
                  <a:srgbClr val="CC00CC"/>
                </a:solidFill>
                <a:latin typeface="Calibri"/>
                <a:cs typeface="Calibri"/>
              </a:rPr>
              <a:t>ionization potential </a:t>
            </a:r>
            <a:r>
              <a:rPr lang="en-US" sz="1800" b="1" spc="-5" dirty="0">
                <a:solidFill>
                  <a:srgbClr val="CC00CC"/>
                </a:solidFill>
                <a:latin typeface="Calibri"/>
                <a:cs typeface="Calibri"/>
              </a:rPr>
              <a:t>~ 15 eV</a:t>
            </a:r>
            <a:endParaRPr lang="en-US" sz="1800" dirty="0">
              <a:latin typeface="Calibri"/>
              <a:cs typeface="Calibri"/>
            </a:endParaRPr>
          </a:p>
        </p:txBody>
      </p:sp>
    </p:spTree>
    <p:extLst>
      <p:ext uri="{BB962C8B-B14F-4D97-AF65-F5344CB8AC3E}">
        <p14:creationId xmlns:p14="http://schemas.microsoft.com/office/powerpoint/2010/main" val="111200711"/>
      </p:ext>
    </p:extLst>
  </p:cSld>
  <p:clrMapOvr>
    <a:masterClrMapping/>
  </p:clrMapOvr>
  <p:transition>
    <p:wipe dir="d"/>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object 2">
            <a:extLst>
              <a:ext uri="{FF2B5EF4-FFF2-40B4-BE49-F238E27FC236}">
                <a16:creationId xmlns:a16="http://schemas.microsoft.com/office/drawing/2014/main" id="{683D3483-2B4D-4225-85C3-96E27E291D8F}"/>
              </a:ext>
            </a:extLst>
          </p:cNvPr>
          <p:cNvPicPr/>
          <p:nvPr/>
        </p:nvPicPr>
        <p:blipFill>
          <a:blip r:embed="rId2" cstate="print"/>
          <a:stretch>
            <a:fillRect/>
          </a:stretch>
        </p:blipFill>
        <p:spPr>
          <a:xfrm>
            <a:off x="1069789" y="802853"/>
            <a:ext cx="3880009" cy="3207030"/>
          </a:xfrm>
          <a:prstGeom prst="rect">
            <a:avLst/>
          </a:prstGeom>
        </p:spPr>
      </p:pic>
      <p:sp>
        <p:nvSpPr>
          <p:cNvPr id="7" name="object 3">
            <a:extLst>
              <a:ext uri="{FF2B5EF4-FFF2-40B4-BE49-F238E27FC236}">
                <a16:creationId xmlns:a16="http://schemas.microsoft.com/office/drawing/2014/main" id="{5875C2F4-0132-42F2-B122-BE47C3A63BC5}"/>
              </a:ext>
            </a:extLst>
          </p:cNvPr>
          <p:cNvSpPr txBox="1">
            <a:spLocks noGrp="1"/>
          </p:cNvSpPr>
          <p:nvPr>
            <p:ph type="title"/>
          </p:nvPr>
        </p:nvSpPr>
        <p:spPr>
          <a:xfrm>
            <a:off x="2917442" y="81430"/>
            <a:ext cx="5464557" cy="443070"/>
          </a:xfrm>
          <a:prstGeom prst="rect">
            <a:avLst/>
          </a:prstGeom>
        </p:spPr>
        <p:txBody>
          <a:bodyPr vert="horz" wrap="square" lIns="0" tIns="12065" rIns="0" bIns="0" rtlCol="0">
            <a:spAutoFit/>
          </a:bodyPr>
          <a:lstStyle/>
          <a:p>
            <a:pPr marL="12700">
              <a:lnSpc>
                <a:spcPct val="100000"/>
              </a:lnSpc>
              <a:spcBef>
                <a:spcPts val="95"/>
              </a:spcBef>
            </a:pPr>
            <a:r>
              <a:rPr sz="2800" b="1" u="sng" spc="-5" dirty="0">
                <a:latin typeface="Times New Roman" panose="02020603050405020304" pitchFamily="18" charset="0"/>
                <a:cs typeface="Times New Roman" panose="02020603050405020304" pitchFamily="18" charset="0"/>
              </a:rPr>
              <a:t>ICP</a:t>
            </a:r>
            <a:r>
              <a:rPr sz="2800" b="1" u="sng" spc="-35" dirty="0">
                <a:latin typeface="Times New Roman" panose="02020603050405020304" pitchFamily="18" charset="0"/>
                <a:cs typeface="Times New Roman" panose="02020603050405020304" pitchFamily="18" charset="0"/>
              </a:rPr>
              <a:t> </a:t>
            </a:r>
            <a:r>
              <a:rPr sz="2800" b="1" u="sng" spc="-10" dirty="0">
                <a:latin typeface="Times New Roman" panose="02020603050405020304" pitchFamily="18" charset="0"/>
                <a:cs typeface="Times New Roman" panose="02020603050405020304" pitchFamily="18" charset="0"/>
              </a:rPr>
              <a:t>Interface</a:t>
            </a:r>
            <a:r>
              <a:rPr sz="2800" b="1" u="sng" spc="-5" dirty="0">
                <a:latin typeface="Times New Roman" panose="02020603050405020304" pitchFamily="18" charset="0"/>
                <a:cs typeface="Times New Roman" panose="02020603050405020304" pitchFamily="18" charset="0"/>
              </a:rPr>
              <a:t> </a:t>
            </a:r>
            <a:r>
              <a:rPr sz="2800" b="1" u="sng" spc="-10" dirty="0">
                <a:latin typeface="Times New Roman" panose="02020603050405020304" pitchFamily="18" charset="0"/>
                <a:cs typeface="Times New Roman" panose="02020603050405020304" pitchFamily="18" charset="0"/>
              </a:rPr>
              <a:t>Region</a:t>
            </a:r>
          </a:p>
        </p:txBody>
      </p:sp>
      <p:pic>
        <p:nvPicPr>
          <p:cNvPr id="8" name="object 4">
            <a:extLst>
              <a:ext uri="{FF2B5EF4-FFF2-40B4-BE49-F238E27FC236}">
                <a16:creationId xmlns:a16="http://schemas.microsoft.com/office/drawing/2014/main" id="{4E1C6484-8ADA-42B9-883F-C1B64E74203D}"/>
              </a:ext>
            </a:extLst>
          </p:cNvPr>
          <p:cNvPicPr/>
          <p:nvPr/>
        </p:nvPicPr>
        <p:blipFill>
          <a:blip r:embed="rId3" cstate="print"/>
          <a:stretch>
            <a:fillRect/>
          </a:stretch>
        </p:blipFill>
        <p:spPr>
          <a:xfrm>
            <a:off x="1069789" y="4172821"/>
            <a:ext cx="3880009" cy="2151780"/>
          </a:xfrm>
          <a:prstGeom prst="rect">
            <a:avLst/>
          </a:prstGeom>
        </p:spPr>
      </p:pic>
      <p:sp>
        <p:nvSpPr>
          <p:cNvPr id="9" name="object 5">
            <a:extLst>
              <a:ext uri="{FF2B5EF4-FFF2-40B4-BE49-F238E27FC236}">
                <a16:creationId xmlns:a16="http://schemas.microsoft.com/office/drawing/2014/main" id="{8460E942-09E1-4B63-B3D1-8AFAF1D30C1A}"/>
              </a:ext>
            </a:extLst>
          </p:cNvPr>
          <p:cNvSpPr txBox="1"/>
          <p:nvPr/>
        </p:nvSpPr>
        <p:spPr>
          <a:xfrm>
            <a:off x="5334000" y="956760"/>
            <a:ext cx="3709810" cy="4937249"/>
          </a:xfrm>
          <a:prstGeom prst="rect">
            <a:avLst/>
          </a:prstGeom>
        </p:spPr>
        <p:txBody>
          <a:bodyPr vert="horz" wrap="square" lIns="0" tIns="12700" rIns="0" bIns="0" rtlCol="0">
            <a:spAutoFit/>
          </a:bodyPr>
          <a:lstStyle/>
          <a:p>
            <a:pPr marL="63500" marR="220979">
              <a:lnSpc>
                <a:spcPct val="100000"/>
              </a:lnSpc>
              <a:spcBef>
                <a:spcPts val="100"/>
              </a:spcBef>
              <a:buSzPct val="95833"/>
              <a:buFont typeface="Wingdings"/>
              <a:buChar char=""/>
              <a:tabLst>
                <a:tab pos="304165" algn="l"/>
                <a:tab pos="2226310" algn="l"/>
              </a:tabLst>
            </a:pPr>
            <a:r>
              <a:rPr sz="2000" b="1" dirty="0">
                <a:latin typeface="Calibri"/>
                <a:cs typeface="Calibri"/>
              </a:rPr>
              <a:t>A</a:t>
            </a:r>
            <a:r>
              <a:rPr sz="2000" b="1" spc="-35" dirty="0">
                <a:latin typeface="Calibri"/>
                <a:cs typeface="Calibri"/>
              </a:rPr>
              <a:t> </a:t>
            </a:r>
            <a:r>
              <a:rPr sz="2000" b="1" dirty="0">
                <a:latin typeface="Calibri"/>
                <a:cs typeface="Calibri"/>
              </a:rPr>
              <a:t>section</a:t>
            </a:r>
            <a:r>
              <a:rPr sz="2000" b="1" spc="-15" dirty="0">
                <a:latin typeface="Calibri"/>
                <a:cs typeface="Calibri"/>
              </a:rPr>
              <a:t> </a:t>
            </a:r>
            <a:r>
              <a:rPr sz="2000" b="1" spc="-10" dirty="0">
                <a:latin typeface="Calibri"/>
                <a:cs typeface="Calibri"/>
              </a:rPr>
              <a:t>that</a:t>
            </a:r>
            <a:r>
              <a:rPr sz="2000" b="1" spc="-15" dirty="0">
                <a:latin typeface="Calibri"/>
                <a:cs typeface="Calibri"/>
              </a:rPr>
              <a:t> </a:t>
            </a:r>
            <a:r>
              <a:rPr sz="2000" b="1" spc="-5" dirty="0">
                <a:latin typeface="Calibri"/>
                <a:cs typeface="Calibri"/>
              </a:rPr>
              <a:t>connects</a:t>
            </a:r>
            <a:r>
              <a:rPr sz="2000" b="1" spc="-15" dirty="0">
                <a:latin typeface="Calibri"/>
                <a:cs typeface="Calibri"/>
              </a:rPr>
              <a:t> </a:t>
            </a:r>
            <a:r>
              <a:rPr sz="2000" b="1" dirty="0">
                <a:latin typeface="Calibri"/>
                <a:cs typeface="Calibri"/>
              </a:rPr>
              <a:t>the </a:t>
            </a:r>
            <a:r>
              <a:rPr sz="2000" b="1" spc="-530" dirty="0">
                <a:latin typeface="Calibri"/>
                <a:cs typeface="Calibri"/>
              </a:rPr>
              <a:t> </a:t>
            </a:r>
            <a:r>
              <a:rPr sz="2000" b="1" dirty="0">
                <a:latin typeface="Calibri"/>
                <a:cs typeface="Calibri"/>
              </a:rPr>
              <a:t>ionizing section </a:t>
            </a:r>
            <a:r>
              <a:rPr sz="2000" b="1" spc="-20" dirty="0">
                <a:latin typeface="Calibri"/>
                <a:cs typeface="Calibri"/>
              </a:rPr>
              <a:t>at </a:t>
            </a:r>
            <a:r>
              <a:rPr sz="2000" b="1" spc="-5" dirty="0">
                <a:latin typeface="Calibri"/>
                <a:cs typeface="Calibri"/>
              </a:rPr>
              <a:t>ambient </a:t>
            </a:r>
            <a:r>
              <a:rPr sz="2000" b="1" dirty="0">
                <a:latin typeface="Calibri"/>
                <a:cs typeface="Calibri"/>
              </a:rPr>
              <a:t> </a:t>
            </a:r>
            <a:r>
              <a:rPr sz="2000" b="1" spc="-10" dirty="0">
                <a:latin typeface="Calibri"/>
                <a:cs typeface="Calibri"/>
              </a:rPr>
              <a:t>pressure to </a:t>
            </a:r>
            <a:r>
              <a:rPr sz="2000" b="1" dirty="0">
                <a:latin typeface="Calibri"/>
                <a:cs typeface="Calibri"/>
              </a:rPr>
              <a:t>the </a:t>
            </a:r>
            <a:r>
              <a:rPr sz="2000" b="1" spc="-5" dirty="0">
                <a:latin typeface="Calibri"/>
                <a:cs typeface="Calibri"/>
              </a:rPr>
              <a:t>mass </a:t>
            </a:r>
            <a:r>
              <a:rPr sz="2000" b="1" dirty="0">
                <a:latin typeface="Calibri"/>
                <a:cs typeface="Calibri"/>
              </a:rPr>
              <a:t> </a:t>
            </a:r>
            <a:r>
              <a:rPr sz="2000" b="1" spc="-10" dirty="0">
                <a:latin typeface="Calibri"/>
                <a:cs typeface="Calibri"/>
              </a:rPr>
              <a:t>spectrometer</a:t>
            </a:r>
            <a:r>
              <a:rPr sz="2000" b="1" spc="5" dirty="0">
                <a:latin typeface="Calibri"/>
                <a:cs typeface="Calibri"/>
              </a:rPr>
              <a:t> </a:t>
            </a:r>
            <a:r>
              <a:rPr sz="2000" b="1" spc="-15" dirty="0">
                <a:latin typeface="Calibri"/>
                <a:cs typeface="Calibri"/>
              </a:rPr>
              <a:t>at	</a:t>
            </a:r>
            <a:r>
              <a:rPr sz="2000" b="1" dirty="0">
                <a:latin typeface="Calibri"/>
                <a:cs typeface="Calibri"/>
              </a:rPr>
              <a:t>high </a:t>
            </a:r>
            <a:r>
              <a:rPr sz="2000" b="1" spc="5" dirty="0">
                <a:latin typeface="Calibri"/>
                <a:cs typeface="Calibri"/>
              </a:rPr>
              <a:t> </a:t>
            </a:r>
            <a:r>
              <a:rPr sz="2000" b="1" spc="-5" dirty="0">
                <a:latin typeface="Calibri"/>
                <a:cs typeface="Calibri"/>
              </a:rPr>
              <a:t>vacuum(~10</a:t>
            </a:r>
            <a:r>
              <a:rPr sz="2000" b="1" spc="-7" baseline="24305" dirty="0">
                <a:latin typeface="Calibri"/>
                <a:cs typeface="Calibri"/>
              </a:rPr>
              <a:t>-6</a:t>
            </a:r>
            <a:r>
              <a:rPr sz="2000" b="1" spc="240" baseline="24305" dirty="0">
                <a:latin typeface="Calibri"/>
                <a:cs typeface="Calibri"/>
              </a:rPr>
              <a:t> </a:t>
            </a:r>
            <a:r>
              <a:rPr sz="2000" b="1" spc="-10" dirty="0">
                <a:latin typeface="Calibri"/>
                <a:cs typeface="Calibri"/>
              </a:rPr>
              <a:t>torr).</a:t>
            </a:r>
            <a:endParaRPr sz="2000" dirty="0">
              <a:latin typeface="Calibri"/>
              <a:cs typeface="Calibri"/>
            </a:endParaRPr>
          </a:p>
          <a:p>
            <a:pPr>
              <a:lnSpc>
                <a:spcPct val="100000"/>
              </a:lnSpc>
              <a:spcBef>
                <a:spcPts val="10"/>
              </a:spcBef>
              <a:buClr>
                <a:srgbClr val="0000FF"/>
              </a:buClr>
              <a:buFont typeface="Wingdings"/>
              <a:buChar char=""/>
            </a:pPr>
            <a:endParaRPr sz="2000" dirty="0">
              <a:latin typeface="Calibri"/>
              <a:cs typeface="Calibri"/>
            </a:endParaRPr>
          </a:p>
          <a:p>
            <a:pPr marL="63500" marR="30480">
              <a:lnSpc>
                <a:spcPct val="100000"/>
              </a:lnSpc>
              <a:buSzPct val="95833"/>
              <a:buFont typeface="Wingdings"/>
              <a:buChar char=""/>
              <a:tabLst>
                <a:tab pos="304165" algn="l"/>
                <a:tab pos="3037840" algn="l"/>
              </a:tabLst>
            </a:pPr>
            <a:r>
              <a:rPr sz="2000" b="1" dirty="0">
                <a:latin typeface="Calibri"/>
                <a:cs typeface="Calibri"/>
              </a:rPr>
              <a:t>Function</a:t>
            </a:r>
            <a:r>
              <a:rPr sz="2000" b="1" spc="-20" dirty="0">
                <a:latin typeface="Calibri"/>
                <a:cs typeface="Calibri"/>
              </a:rPr>
              <a:t> </a:t>
            </a:r>
            <a:r>
              <a:rPr sz="2000" b="1" dirty="0">
                <a:latin typeface="Calibri"/>
                <a:cs typeface="Calibri"/>
              </a:rPr>
              <a:t>is</a:t>
            </a:r>
            <a:r>
              <a:rPr sz="2000" b="1" spc="5" dirty="0">
                <a:latin typeface="Calibri"/>
                <a:cs typeface="Calibri"/>
              </a:rPr>
              <a:t> </a:t>
            </a:r>
            <a:r>
              <a:rPr sz="2000" b="1" spc="-15" dirty="0">
                <a:latin typeface="Calibri"/>
                <a:cs typeface="Calibri"/>
              </a:rPr>
              <a:t>to</a:t>
            </a:r>
            <a:r>
              <a:rPr sz="2000" b="1" spc="5" dirty="0">
                <a:latin typeface="Calibri"/>
                <a:cs typeface="Calibri"/>
              </a:rPr>
              <a:t> </a:t>
            </a:r>
            <a:r>
              <a:rPr sz="2000" b="1" spc="-15" dirty="0">
                <a:latin typeface="Calibri"/>
                <a:cs typeface="Calibri"/>
              </a:rPr>
              <a:t>export	</a:t>
            </a:r>
            <a:r>
              <a:rPr sz="2000" b="1" dirty="0">
                <a:latin typeface="Calibri"/>
                <a:cs typeface="Calibri"/>
              </a:rPr>
              <a:t>the </a:t>
            </a:r>
            <a:r>
              <a:rPr sz="2000" b="1" spc="5" dirty="0">
                <a:latin typeface="Calibri"/>
                <a:cs typeface="Calibri"/>
              </a:rPr>
              <a:t> </a:t>
            </a:r>
            <a:r>
              <a:rPr sz="2000" b="1" dirty="0">
                <a:latin typeface="Calibri"/>
                <a:cs typeface="Calibri"/>
              </a:rPr>
              <a:t>ions</a:t>
            </a:r>
            <a:r>
              <a:rPr sz="2000" b="1" spc="-30" dirty="0">
                <a:latin typeface="Calibri"/>
                <a:cs typeface="Calibri"/>
              </a:rPr>
              <a:t> </a:t>
            </a:r>
            <a:r>
              <a:rPr sz="2000" b="1" spc="-5" dirty="0">
                <a:latin typeface="Calibri"/>
                <a:cs typeface="Calibri"/>
              </a:rPr>
              <a:t>produced</a:t>
            </a:r>
            <a:r>
              <a:rPr sz="2000" b="1" spc="-30" dirty="0">
                <a:latin typeface="Calibri"/>
                <a:cs typeface="Calibri"/>
              </a:rPr>
              <a:t> </a:t>
            </a:r>
            <a:r>
              <a:rPr sz="2000" b="1" dirty="0">
                <a:latin typeface="Calibri"/>
                <a:cs typeface="Calibri"/>
              </a:rPr>
              <a:t>in</a:t>
            </a:r>
            <a:r>
              <a:rPr sz="2000" b="1" spc="-20" dirty="0">
                <a:latin typeface="Calibri"/>
                <a:cs typeface="Calibri"/>
              </a:rPr>
              <a:t> </a:t>
            </a:r>
            <a:r>
              <a:rPr sz="2000" b="1" spc="-15" dirty="0">
                <a:latin typeface="Calibri"/>
                <a:cs typeface="Calibri"/>
              </a:rPr>
              <a:t>argon </a:t>
            </a:r>
            <a:r>
              <a:rPr sz="2000" b="1" spc="-5" dirty="0">
                <a:latin typeface="Calibri"/>
                <a:cs typeface="Calibri"/>
              </a:rPr>
              <a:t>plasma </a:t>
            </a:r>
            <a:r>
              <a:rPr sz="2000" b="1" spc="-530" dirty="0">
                <a:latin typeface="Calibri"/>
                <a:cs typeface="Calibri"/>
              </a:rPr>
              <a:t> </a:t>
            </a:r>
            <a:r>
              <a:rPr sz="2000" b="1" dirty="0">
                <a:latin typeface="Calibri"/>
                <a:cs typeface="Calibri"/>
              </a:rPr>
              <a:t>and </a:t>
            </a:r>
            <a:r>
              <a:rPr sz="2000" b="1" spc="-10" dirty="0">
                <a:latin typeface="Calibri"/>
                <a:cs typeface="Calibri"/>
              </a:rPr>
              <a:t>transport </a:t>
            </a:r>
            <a:r>
              <a:rPr sz="2000" b="1" dirty="0">
                <a:latin typeface="Calibri"/>
                <a:cs typeface="Calibri"/>
              </a:rPr>
              <a:t>them </a:t>
            </a:r>
            <a:r>
              <a:rPr sz="2000" b="1" spc="-15" dirty="0">
                <a:latin typeface="Calibri"/>
                <a:cs typeface="Calibri"/>
              </a:rPr>
              <a:t>to </a:t>
            </a:r>
            <a:r>
              <a:rPr sz="2000" b="1" dirty="0">
                <a:latin typeface="Calibri"/>
                <a:cs typeface="Calibri"/>
              </a:rPr>
              <a:t>the </a:t>
            </a:r>
            <a:r>
              <a:rPr sz="2000" b="1" spc="5" dirty="0">
                <a:latin typeface="Calibri"/>
                <a:cs typeface="Calibri"/>
              </a:rPr>
              <a:t> </a:t>
            </a:r>
            <a:r>
              <a:rPr sz="2000" b="1" spc="-5" dirty="0">
                <a:latin typeface="Calibri"/>
                <a:cs typeface="Calibri"/>
              </a:rPr>
              <a:t>mass</a:t>
            </a:r>
            <a:r>
              <a:rPr sz="2000" b="1" spc="-10" dirty="0">
                <a:latin typeface="Calibri"/>
                <a:cs typeface="Calibri"/>
              </a:rPr>
              <a:t> spectrometer</a:t>
            </a:r>
            <a:endParaRPr sz="2000" dirty="0">
              <a:latin typeface="Calibri"/>
              <a:cs typeface="Calibri"/>
            </a:endParaRPr>
          </a:p>
          <a:p>
            <a:pPr>
              <a:lnSpc>
                <a:spcPct val="100000"/>
              </a:lnSpc>
              <a:spcBef>
                <a:spcPts val="10"/>
              </a:spcBef>
              <a:buClr>
                <a:srgbClr val="0000FF"/>
              </a:buClr>
              <a:buFont typeface="Wingdings"/>
              <a:buChar char=""/>
            </a:pPr>
            <a:endParaRPr sz="2000" dirty="0">
              <a:latin typeface="Calibri"/>
              <a:cs typeface="Calibri"/>
            </a:endParaRPr>
          </a:p>
          <a:p>
            <a:pPr marL="63500" marR="32384">
              <a:lnSpc>
                <a:spcPct val="100000"/>
              </a:lnSpc>
              <a:spcBef>
                <a:spcPts val="5"/>
              </a:spcBef>
              <a:buSzPct val="95833"/>
              <a:buFont typeface="Wingdings"/>
              <a:buChar char=""/>
              <a:tabLst>
                <a:tab pos="304165" algn="l"/>
              </a:tabLst>
            </a:pPr>
            <a:r>
              <a:rPr sz="2000" b="1" spc="-35" dirty="0">
                <a:latin typeface="Calibri"/>
                <a:cs typeface="Calibri"/>
              </a:rPr>
              <a:t>Two </a:t>
            </a:r>
            <a:r>
              <a:rPr sz="2000" b="1" spc="-10" dirty="0">
                <a:latin typeface="Calibri"/>
                <a:cs typeface="Calibri"/>
              </a:rPr>
              <a:t>metallic </a:t>
            </a:r>
            <a:r>
              <a:rPr sz="2000" b="1" dirty="0">
                <a:latin typeface="Calibri"/>
                <a:cs typeface="Calibri"/>
              </a:rPr>
              <a:t>(Ni or </a:t>
            </a:r>
            <a:r>
              <a:rPr sz="2000" b="1" spc="5" dirty="0">
                <a:latin typeface="Calibri"/>
                <a:cs typeface="Calibri"/>
              </a:rPr>
              <a:t>Pt) </a:t>
            </a:r>
            <a:r>
              <a:rPr sz="2000" b="1" spc="-5" dirty="0">
                <a:latin typeface="Calibri"/>
                <a:cs typeface="Calibri"/>
              </a:rPr>
              <a:t>cones </a:t>
            </a:r>
            <a:r>
              <a:rPr sz="2000" b="1" spc="-530" dirty="0">
                <a:latin typeface="Calibri"/>
                <a:cs typeface="Calibri"/>
              </a:rPr>
              <a:t> </a:t>
            </a:r>
            <a:r>
              <a:rPr sz="2000" b="1" spc="-5" dirty="0">
                <a:latin typeface="Calibri"/>
                <a:cs typeface="Calibri"/>
              </a:rPr>
              <a:t>with </a:t>
            </a:r>
            <a:r>
              <a:rPr sz="2000" b="1" dirty="0">
                <a:latin typeface="Calibri"/>
                <a:cs typeface="Calibri"/>
              </a:rPr>
              <a:t>small </a:t>
            </a:r>
            <a:r>
              <a:rPr sz="2000" b="1" spc="-5" dirty="0">
                <a:latin typeface="Calibri"/>
                <a:cs typeface="Calibri"/>
              </a:rPr>
              <a:t>orifices</a:t>
            </a:r>
            <a:r>
              <a:rPr lang="en-IN" sz="2000" b="1" spc="-5" dirty="0">
                <a:latin typeface="Calibri"/>
                <a:cs typeface="Calibri"/>
              </a:rPr>
              <a:t> </a:t>
            </a:r>
            <a:r>
              <a:rPr sz="2000" b="1" spc="-5" dirty="0">
                <a:latin typeface="Calibri"/>
                <a:cs typeface="Calibri"/>
              </a:rPr>
              <a:t>(1mm)- </a:t>
            </a:r>
            <a:r>
              <a:rPr sz="2000" b="1" dirty="0">
                <a:latin typeface="Calibri"/>
                <a:cs typeface="Calibri"/>
              </a:rPr>
              <a:t> </a:t>
            </a:r>
            <a:r>
              <a:rPr sz="2000" b="1" spc="-5" dirty="0">
                <a:latin typeface="Calibri"/>
                <a:cs typeface="Calibri"/>
              </a:rPr>
              <a:t>Sampler and Skimmer Cones </a:t>
            </a:r>
            <a:r>
              <a:rPr sz="2000" b="1" dirty="0">
                <a:latin typeface="Calibri"/>
                <a:cs typeface="Calibri"/>
              </a:rPr>
              <a:t> </a:t>
            </a:r>
            <a:r>
              <a:rPr sz="2000" b="1" spc="-10" dirty="0">
                <a:latin typeface="Calibri"/>
                <a:cs typeface="Calibri"/>
              </a:rPr>
              <a:t>directs </a:t>
            </a:r>
            <a:r>
              <a:rPr sz="2000" b="1" dirty="0">
                <a:latin typeface="Calibri"/>
                <a:cs typeface="Calibri"/>
              </a:rPr>
              <a:t>the </a:t>
            </a:r>
            <a:r>
              <a:rPr sz="2000" b="1" spc="-10" dirty="0">
                <a:latin typeface="Calibri"/>
                <a:cs typeface="Calibri"/>
              </a:rPr>
              <a:t>expanded </a:t>
            </a:r>
            <a:r>
              <a:rPr sz="2000" b="1" spc="-15" dirty="0">
                <a:latin typeface="Calibri"/>
                <a:cs typeface="Calibri"/>
              </a:rPr>
              <a:t>gas </a:t>
            </a:r>
            <a:r>
              <a:rPr sz="2000" b="1" spc="-10" dirty="0">
                <a:latin typeface="Calibri"/>
                <a:cs typeface="Calibri"/>
              </a:rPr>
              <a:t>jet </a:t>
            </a:r>
            <a:r>
              <a:rPr sz="2000" b="1" dirty="0">
                <a:latin typeface="Calibri"/>
                <a:cs typeface="Calibri"/>
              </a:rPr>
              <a:t>of </a:t>
            </a:r>
            <a:r>
              <a:rPr sz="2000" b="1" spc="-530" dirty="0">
                <a:latin typeface="Calibri"/>
                <a:cs typeface="Calibri"/>
              </a:rPr>
              <a:t> </a:t>
            </a:r>
            <a:r>
              <a:rPr sz="2000" b="1" dirty="0">
                <a:latin typeface="Calibri"/>
                <a:cs typeface="Calibri"/>
              </a:rPr>
              <a:t>ions</a:t>
            </a:r>
            <a:r>
              <a:rPr sz="2000" b="1" spc="-20" dirty="0">
                <a:latin typeface="Calibri"/>
                <a:cs typeface="Calibri"/>
              </a:rPr>
              <a:t> </a:t>
            </a:r>
            <a:r>
              <a:rPr sz="2000" b="1" spc="-15" dirty="0">
                <a:latin typeface="Calibri"/>
                <a:cs typeface="Calibri"/>
              </a:rPr>
              <a:t>into</a:t>
            </a:r>
            <a:r>
              <a:rPr sz="2000" b="1" spc="-5" dirty="0">
                <a:latin typeface="Calibri"/>
                <a:cs typeface="Calibri"/>
              </a:rPr>
              <a:t> </a:t>
            </a:r>
            <a:r>
              <a:rPr sz="2000" b="1" dirty="0">
                <a:latin typeface="Calibri"/>
                <a:cs typeface="Calibri"/>
              </a:rPr>
              <a:t>the </a:t>
            </a:r>
            <a:r>
              <a:rPr sz="2000" b="1" spc="-5" dirty="0">
                <a:latin typeface="Calibri"/>
                <a:cs typeface="Calibri"/>
              </a:rPr>
              <a:t>MS</a:t>
            </a:r>
            <a:endParaRPr sz="2000" dirty="0">
              <a:latin typeface="Calibri"/>
              <a:cs typeface="Calibri"/>
            </a:endParaRPr>
          </a:p>
        </p:txBody>
      </p:sp>
    </p:spTree>
    <p:extLst>
      <p:ext uri="{BB962C8B-B14F-4D97-AF65-F5344CB8AC3E}">
        <p14:creationId xmlns:p14="http://schemas.microsoft.com/office/powerpoint/2010/main" val="815613201"/>
      </p:ext>
    </p:extLst>
  </p:cSld>
  <p:clrMapOvr>
    <a:masterClrMapping/>
  </p:clrMapOvr>
  <p:transition>
    <p:wipe dir="d"/>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95700" y="63897"/>
            <a:ext cx="1752600" cy="1091405"/>
          </a:xfrm>
        </p:spPr>
        <p:txBody>
          <a:bodyPr>
            <a:normAutofit/>
          </a:bodyPr>
          <a:lstStyle/>
          <a:p>
            <a:r>
              <a:rPr lang="en-US" sz="2800" b="1" u="sng" dirty="0">
                <a:latin typeface="Times New Roman" panose="02020603050405020304" pitchFamily="18" charset="0"/>
                <a:cs typeface="Times New Roman" panose="02020603050405020304" pitchFamily="18" charset="0"/>
              </a:rPr>
              <a:t>Interface</a:t>
            </a:r>
          </a:p>
        </p:txBody>
      </p:sp>
      <p:sp>
        <p:nvSpPr>
          <p:cNvPr id="3" name="Content Placeholder 2"/>
          <p:cNvSpPr>
            <a:spLocks noGrp="1"/>
          </p:cNvSpPr>
          <p:nvPr>
            <p:ph idx="1"/>
          </p:nvPr>
        </p:nvSpPr>
        <p:spPr>
          <a:xfrm>
            <a:off x="1435608" y="1447800"/>
            <a:ext cx="7403592" cy="4800600"/>
          </a:xfrm>
        </p:spPr>
        <p:txBody>
          <a:bodyPr>
            <a:normAutofit/>
          </a:bodyPr>
          <a:lstStyle/>
          <a:p>
            <a:r>
              <a:rPr lang="en-US" sz="2000" dirty="0"/>
              <a:t>Sampling Cone (1mm dia)</a:t>
            </a:r>
          </a:p>
          <a:p>
            <a:r>
              <a:rPr lang="en-US" sz="2000" dirty="0"/>
              <a:t>Skimmer Cone (0.45 mm dia)</a:t>
            </a:r>
          </a:p>
          <a:p>
            <a:endParaRPr lang="en-US" sz="2000" dirty="0"/>
          </a:p>
        </p:txBody>
      </p:sp>
      <p:pic>
        <p:nvPicPr>
          <p:cNvPr id="4" name="Picture 3" descr="Untitled.jpg"/>
          <p:cNvPicPr>
            <a:picLocks noChangeAspect="1"/>
          </p:cNvPicPr>
          <p:nvPr/>
        </p:nvPicPr>
        <p:blipFill>
          <a:blip r:embed="rId2"/>
          <a:stretch>
            <a:fillRect/>
          </a:stretch>
        </p:blipFill>
        <p:spPr>
          <a:xfrm>
            <a:off x="2667000" y="2862262"/>
            <a:ext cx="4348131" cy="19716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ransition>
    <p:wipe dir="d"/>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21710" y="26581"/>
            <a:ext cx="2286000" cy="627852"/>
          </a:xfrm>
        </p:spPr>
        <p:txBody>
          <a:bodyPr>
            <a:normAutofit/>
          </a:bodyPr>
          <a:lstStyle/>
          <a:p>
            <a:r>
              <a:rPr lang="en-US" sz="2800" b="1" u="sng" dirty="0">
                <a:latin typeface="Times New Roman" panose="02020603050405020304" pitchFamily="18" charset="0"/>
                <a:cs typeface="Times New Roman" panose="02020603050405020304" pitchFamily="18" charset="0"/>
              </a:rPr>
              <a:t>INTERFACE</a:t>
            </a:r>
          </a:p>
        </p:txBody>
      </p:sp>
      <p:pic>
        <p:nvPicPr>
          <p:cNvPr id="3" name="Picture 2"/>
          <p:cNvPicPr/>
          <p:nvPr/>
        </p:nvPicPr>
        <p:blipFill rotWithShape="1">
          <a:blip r:embed="rId2"/>
          <a:srcRect l="42044" t="20833" r="21609" b="34259"/>
          <a:stretch/>
        </p:blipFill>
        <p:spPr bwMode="auto">
          <a:xfrm>
            <a:off x="1600200" y="1143000"/>
            <a:ext cx="3064510" cy="3048000"/>
          </a:xfrm>
          <a:prstGeom prst="rect">
            <a:avLst/>
          </a:prstGeom>
          <a:ln>
            <a:noFill/>
          </a:ln>
          <a:extLst>
            <a:ext uri="{53640926-AAD7-44D8-BBD7-CCE9431645EC}">
              <a14:shadowObscured xmlns:a14="http://schemas.microsoft.com/office/drawing/2010/main"/>
            </a:ext>
          </a:extLst>
        </p:spPr>
      </p:pic>
      <p:pic>
        <p:nvPicPr>
          <p:cNvPr id="5"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7614" y="1183758"/>
            <a:ext cx="3886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1396836" y="5012522"/>
            <a:ext cx="7361555" cy="1323439"/>
          </a:xfrm>
          <a:prstGeom prst="rect">
            <a:avLst/>
          </a:prstGeom>
        </p:spPr>
        <p:txBody>
          <a:bodyPr wrap="square">
            <a:spAutoFit/>
          </a:bodyPr>
          <a:lstStyle/>
          <a:p>
            <a:pPr marL="342900" indent="-342900">
              <a:buFont typeface="Wingdings" panose="05000000000000000000" pitchFamily="2" charset="2"/>
              <a:buChar char="§"/>
            </a:pPr>
            <a:r>
              <a:rPr lang="en-US" sz="2000" dirty="0"/>
              <a:t>Interface serves to direct the ions toward the mass spectroscopy.</a:t>
            </a:r>
          </a:p>
          <a:p>
            <a:pPr marL="342900" indent="-342900">
              <a:buFont typeface="Wingdings" panose="05000000000000000000" pitchFamily="2" charset="2"/>
              <a:buChar char="§"/>
            </a:pPr>
            <a:r>
              <a:rPr lang="en-US" sz="2000" dirty="0"/>
              <a:t>Interface area consists of two conical metal (usually nickel) called sampler cone and skimmer cone, each with small holes to allow ions to pass through to the ion optics</a:t>
            </a:r>
          </a:p>
        </p:txBody>
      </p:sp>
    </p:spTree>
    <p:extLst>
      <p:ext uri="{BB962C8B-B14F-4D97-AF65-F5344CB8AC3E}">
        <p14:creationId xmlns:p14="http://schemas.microsoft.com/office/powerpoint/2010/main" val="1859710549"/>
      </p:ext>
    </p:extLst>
  </p:cSld>
  <p:clrMapOvr>
    <a:masterClrMapping/>
  </p:clrMapOvr>
  <p:transition>
    <p:wipe dir="d"/>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1504" y="0"/>
            <a:ext cx="1840992" cy="792162"/>
          </a:xfrm>
        </p:spPr>
        <p:txBody>
          <a:bodyPr>
            <a:normAutofit/>
          </a:bodyPr>
          <a:lstStyle/>
          <a:p>
            <a:r>
              <a:rPr lang="en-US" sz="2800" b="1" u="sng" dirty="0">
                <a:latin typeface="Times New Roman" panose="02020603050405020304" pitchFamily="18" charset="0"/>
                <a:cs typeface="Times New Roman" panose="02020603050405020304" pitchFamily="18" charset="0"/>
              </a:rPr>
              <a:t>Ion Lenses</a:t>
            </a:r>
          </a:p>
        </p:txBody>
      </p:sp>
      <p:sp>
        <p:nvSpPr>
          <p:cNvPr id="3" name="Content Placeholder 2"/>
          <p:cNvSpPr>
            <a:spLocks noGrp="1"/>
          </p:cNvSpPr>
          <p:nvPr>
            <p:ph idx="1"/>
          </p:nvPr>
        </p:nvSpPr>
        <p:spPr/>
        <p:txBody>
          <a:bodyPr>
            <a:normAutofit/>
          </a:bodyPr>
          <a:lstStyle/>
          <a:p>
            <a:r>
              <a:rPr lang="en-US" sz="2000" dirty="0"/>
              <a:t>Prevent Neutron and photon to enter </a:t>
            </a:r>
          </a:p>
          <a:p>
            <a:r>
              <a:rPr lang="en-US" sz="2000" dirty="0"/>
              <a:t>Reduce interferences</a:t>
            </a:r>
          </a:p>
          <a:p>
            <a:endParaRPr lang="en-US" sz="2000" dirty="0"/>
          </a:p>
          <a:p>
            <a:endParaRPr lang="en-US" sz="2000" dirty="0"/>
          </a:p>
          <a:p>
            <a:endParaRPr lang="en-US" sz="2000" dirty="0"/>
          </a:p>
          <a:p>
            <a:endParaRPr lang="en-US" sz="2000" dirty="0"/>
          </a:p>
        </p:txBody>
      </p:sp>
      <p:pic>
        <p:nvPicPr>
          <p:cNvPr id="4" name="Picture 3" descr="interface_lens_system.jpg"/>
          <p:cNvPicPr>
            <a:picLocks noChangeAspect="1"/>
          </p:cNvPicPr>
          <p:nvPr/>
        </p:nvPicPr>
        <p:blipFill>
          <a:blip r:embed="rId2"/>
          <a:stretch>
            <a:fillRect/>
          </a:stretch>
        </p:blipFill>
        <p:spPr>
          <a:xfrm>
            <a:off x="2295524" y="2895600"/>
            <a:ext cx="4552951" cy="1905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ransition>
    <p:wipe dir="d"/>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0A95AF59-6FD4-49CE-8145-2323118D5735}"/>
              </a:ext>
            </a:extLst>
          </p:cNvPr>
          <p:cNvSpPr txBox="1">
            <a:spLocks noGrp="1"/>
          </p:cNvSpPr>
          <p:nvPr>
            <p:ph type="title"/>
          </p:nvPr>
        </p:nvSpPr>
        <p:spPr>
          <a:xfrm>
            <a:off x="2590800" y="152400"/>
            <a:ext cx="3962400" cy="443070"/>
          </a:xfrm>
          <a:prstGeom prst="rect">
            <a:avLst/>
          </a:prstGeom>
        </p:spPr>
        <p:txBody>
          <a:bodyPr vert="horz" wrap="square" lIns="0" tIns="12065" rIns="0" bIns="0" rtlCol="0">
            <a:spAutoFit/>
          </a:bodyPr>
          <a:lstStyle/>
          <a:p>
            <a:pPr marL="12700">
              <a:lnSpc>
                <a:spcPct val="100000"/>
              </a:lnSpc>
              <a:spcBef>
                <a:spcPts val="95"/>
              </a:spcBef>
            </a:pPr>
            <a:r>
              <a:rPr sz="2800" b="1" u="sng" spc="-5" dirty="0">
                <a:latin typeface="Times New Roman" panose="02020603050405020304" pitchFamily="18" charset="0"/>
                <a:cs typeface="Times New Roman" panose="02020603050405020304" pitchFamily="18" charset="0"/>
              </a:rPr>
              <a:t>ICP</a:t>
            </a:r>
            <a:r>
              <a:rPr sz="2800" b="1" u="sng" spc="-30" dirty="0">
                <a:latin typeface="Times New Roman" panose="02020603050405020304" pitchFamily="18" charset="0"/>
                <a:cs typeface="Times New Roman" panose="02020603050405020304" pitchFamily="18" charset="0"/>
              </a:rPr>
              <a:t> </a:t>
            </a:r>
            <a:r>
              <a:rPr sz="2800" b="1" u="sng" spc="-5" dirty="0">
                <a:latin typeface="Times New Roman" panose="02020603050405020304" pitchFamily="18" charset="0"/>
                <a:cs typeface="Times New Roman" panose="02020603050405020304" pitchFamily="18" charset="0"/>
              </a:rPr>
              <a:t>Ion</a:t>
            </a:r>
            <a:r>
              <a:rPr sz="2800" b="1" u="sng" dirty="0">
                <a:latin typeface="Times New Roman" panose="02020603050405020304" pitchFamily="18" charset="0"/>
                <a:cs typeface="Times New Roman" panose="02020603050405020304" pitchFamily="18" charset="0"/>
              </a:rPr>
              <a:t> </a:t>
            </a:r>
            <a:r>
              <a:rPr sz="2800" b="1" u="sng" spc="-5" dirty="0">
                <a:latin typeface="Times New Roman" panose="02020603050405020304" pitchFamily="18" charset="0"/>
                <a:cs typeface="Times New Roman" panose="02020603050405020304" pitchFamily="18" charset="0"/>
              </a:rPr>
              <a:t>Focussing</a:t>
            </a:r>
            <a:r>
              <a:rPr sz="2800" b="1" u="sng" spc="5" dirty="0">
                <a:latin typeface="Times New Roman" panose="02020603050405020304" pitchFamily="18" charset="0"/>
                <a:cs typeface="Times New Roman" panose="02020603050405020304" pitchFamily="18" charset="0"/>
              </a:rPr>
              <a:t> </a:t>
            </a:r>
            <a:r>
              <a:rPr sz="2800" b="1" u="sng" spc="-10" dirty="0">
                <a:latin typeface="Times New Roman" panose="02020603050405020304" pitchFamily="18" charset="0"/>
                <a:cs typeface="Times New Roman" panose="02020603050405020304" pitchFamily="18" charset="0"/>
              </a:rPr>
              <a:t>Region</a:t>
            </a:r>
          </a:p>
        </p:txBody>
      </p:sp>
      <p:sp>
        <p:nvSpPr>
          <p:cNvPr id="5" name="object 3">
            <a:extLst>
              <a:ext uri="{FF2B5EF4-FFF2-40B4-BE49-F238E27FC236}">
                <a16:creationId xmlns:a16="http://schemas.microsoft.com/office/drawing/2014/main" id="{C33700CC-93CC-4FE1-9110-F28340953161}"/>
              </a:ext>
            </a:extLst>
          </p:cNvPr>
          <p:cNvSpPr txBox="1"/>
          <p:nvPr/>
        </p:nvSpPr>
        <p:spPr>
          <a:xfrm>
            <a:off x="1105534" y="877859"/>
            <a:ext cx="9638666" cy="5300810"/>
          </a:xfrm>
          <a:prstGeom prst="rect">
            <a:avLst/>
          </a:prstGeom>
        </p:spPr>
        <p:txBody>
          <a:bodyPr vert="horz" wrap="square" lIns="0" tIns="12065" rIns="0" bIns="0" rtlCol="0">
            <a:spAutoFit/>
          </a:bodyPr>
          <a:lstStyle/>
          <a:p>
            <a:pPr marL="12700" marR="5932805" algn="just">
              <a:lnSpc>
                <a:spcPct val="100000"/>
              </a:lnSpc>
              <a:spcBef>
                <a:spcPts val="95"/>
              </a:spcBef>
            </a:pPr>
            <a:r>
              <a:rPr sz="2000" b="1" spc="-5" dirty="0">
                <a:latin typeface="Calibri" panose="020F0502020204030204" pitchFamily="34" charset="0"/>
                <a:cs typeface="Calibri" panose="020F0502020204030204" pitchFamily="34" charset="0"/>
              </a:rPr>
              <a:t>One or </a:t>
            </a:r>
            <a:r>
              <a:rPr sz="2000" b="1" spc="-10" dirty="0">
                <a:latin typeface="Calibri" panose="020F0502020204030204" pitchFamily="34" charset="0"/>
                <a:cs typeface="Calibri" panose="020F0502020204030204" pitchFamily="34" charset="0"/>
              </a:rPr>
              <a:t>more electrostatically </a:t>
            </a:r>
            <a:r>
              <a:rPr sz="2000" b="1" spc="-44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controlled </a:t>
            </a:r>
            <a:r>
              <a:rPr sz="2000" b="1" spc="-5" dirty="0">
                <a:latin typeface="Calibri" panose="020F0502020204030204" pitchFamily="34" charset="0"/>
                <a:cs typeface="Calibri" panose="020F0502020204030204" pitchFamily="34" charset="0"/>
              </a:rPr>
              <a:t>lens component </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made up of </a:t>
            </a:r>
            <a:r>
              <a:rPr sz="2000" b="1" dirty="0">
                <a:latin typeface="Calibri" panose="020F0502020204030204" pitchFamily="34" charset="0"/>
                <a:cs typeface="Calibri" panose="020F0502020204030204" pitchFamily="34" charset="0"/>
              </a:rPr>
              <a:t>series </a:t>
            </a:r>
            <a:r>
              <a:rPr sz="2000" b="1" spc="-5" dirty="0">
                <a:latin typeface="Calibri" panose="020F0502020204030204" pitchFamily="34" charset="0"/>
                <a:cs typeface="Calibri" panose="020F0502020204030204" pitchFamily="34" charset="0"/>
              </a:rPr>
              <a:t>of </a:t>
            </a:r>
            <a:r>
              <a:rPr sz="2000" b="1" spc="-10" dirty="0">
                <a:latin typeface="Calibri" panose="020F0502020204030204" pitchFamily="34" charset="0"/>
                <a:cs typeface="Calibri" panose="020F0502020204030204" pitchFamily="34" charset="0"/>
              </a:rPr>
              <a:t>metallic </a:t>
            </a:r>
            <a:r>
              <a:rPr sz="2000" b="1" spc="-44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plates</a:t>
            </a:r>
            <a:r>
              <a:rPr sz="2000" b="1" spc="-15"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or</a:t>
            </a:r>
            <a:r>
              <a:rPr sz="2000" b="1" spc="-10" dirty="0">
                <a:latin typeface="Calibri" panose="020F0502020204030204" pitchFamily="34" charset="0"/>
                <a:cs typeface="Calibri" panose="020F0502020204030204" pitchFamily="34" charset="0"/>
              </a:rPr>
              <a:t> cylinders</a:t>
            </a:r>
            <a:r>
              <a:rPr sz="2000" b="1"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having</a:t>
            </a:r>
            <a:r>
              <a:rPr sz="2000" b="1" spc="-5" dirty="0">
                <a:latin typeface="Calibri" panose="020F0502020204030204" pitchFamily="34" charset="0"/>
                <a:cs typeface="Calibri" panose="020F0502020204030204" pitchFamily="34" charset="0"/>
              </a:rPr>
              <a:t> a </a:t>
            </a:r>
            <a:r>
              <a:rPr sz="2000" b="1"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voltage</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placed</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on them</a:t>
            </a:r>
            <a:endParaRPr lang="en-IN" sz="2000" dirty="0">
              <a:latin typeface="Calibri" panose="020F0502020204030204" pitchFamily="34" charset="0"/>
              <a:cs typeface="Calibri" panose="020F0502020204030204" pitchFamily="34" charset="0"/>
            </a:endParaRPr>
          </a:p>
          <a:p>
            <a:pPr marL="12700" marR="5932805" algn="just">
              <a:lnSpc>
                <a:spcPct val="100000"/>
              </a:lnSpc>
              <a:spcBef>
                <a:spcPts val="95"/>
              </a:spcBef>
            </a:pPr>
            <a:endParaRPr lang="en-IN" sz="2000" b="1" spc="-5" dirty="0">
              <a:latin typeface="Calibri" panose="020F0502020204030204" pitchFamily="34" charset="0"/>
              <a:cs typeface="Calibri" panose="020F0502020204030204" pitchFamily="34" charset="0"/>
            </a:endParaRPr>
          </a:p>
          <a:p>
            <a:pPr marL="12700" marR="5932805" algn="just">
              <a:lnSpc>
                <a:spcPct val="100000"/>
              </a:lnSpc>
              <a:spcBef>
                <a:spcPts val="95"/>
              </a:spcBef>
            </a:pPr>
            <a:r>
              <a:rPr sz="2000" b="1" spc="-5" dirty="0">
                <a:latin typeface="Calibri" panose="020F0502020204030204" pitchFamily="34" charset="0"/>
                <a:cs typeface="Calibri" panose="020F0502020204030204" pitchFamily="34" charset="0"/>
              </a:rPr>
              <a:t>Ions</a:t>
            </a:r>
            <a:r>
              <a:rPr sz="2000" b="1" spc="-20"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are</a:t>
            </a:r>
            <a:r>
              <a:rPr sz="2000" b="1"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separated</a:t>
            </a:r>
            <a:r>
              <a:rPr sz="2000" b="1"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from </a:t>
            </a:r>
            <a:r>
              <a:rPr sz="2000" b="1" spc="-434"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Photons </a:t>
            </a:r>
            <a:r>
              <a:rPr sz="2000" b="1" spc="-5" dirty="0">
                <a:latin typeface="Calibri" panose="020F0502020204030204" pitchFamily="34" charset="0"/>
                <a:cs typeface="Calibri" panose="020F0502020204030204" pitchFamily="34" charset="0"/>
              </a:rPr>
              <a:t>&amp; </a:t>
            </a:r>
            <a:r>
              <a:rPr sz="2000" b="1" spc="-10" dirty="0">
                <a:latin typeface="Calibri" panose="020F0502020204030204" pitchFamily="34" charset="0"/>
                <a:cs typeface="Calibri" panose="020F0502020204030204" pitchFamily="34" charset="0"/>
              </a:rPr>
              <a:t>Neutrals</a:t>
            </a:r>
            <a:r>
              <a:rPr lang="en-IN" sz="200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by </a:t>
            </a:r>
            <a:r>
              <a:rPr sz="2000" b="1" spc="-5" dirty="0">
                <a:latin typeface="Calibri" panose="020F0502020204030204" pitchFamily="34" charset="0"/>
                <a:cs typeface="Calibri" panose="020F0502020204030204" pitchFamily="34" charset="0"/>
              </a:rPr>
              <a:t>positioning</a:t>
            </a:r>
            <a:r>
              <a:rPr sz="2000" b="1" spc="-15"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MS</a:t>
            </a:r>
            <a:r>
              <a:rPr sz="2000" b="1"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off-axis</a:t>
            </a:r>
            <a:r>
              <a:rPr sz="2000" b="1" spc="10"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to </a:t>
            </a:r>
            <a:r>
              <a:rPr sz="2000" b="1" spc="-434"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the ion</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beam</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or</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using</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a </a:t>
            </a:r>
            <a:r>
              <a:rPr sz="2000" b="1"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Physical</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barrier</a:t>
            </a:r>
            <a:endParaRPr sz="2000" dirty="0">
              <a:latin typeface="Calibri" panose="020F0502020204030204" pitchFamily="34" charset="0"/>
              <a:cs typeface="Calibri" panose="020F0502020204030204" pitchFamily="34" charset="0"/>
            </a:endParaRPr>
          </a:p>
          <a:p>
            <a:pPr marL="48895" marR="48895">
              <a:lnSpc>
                <a:spcPct val="100000"/>
              </a:lnSpc>
              <a:buSzPct val="95454"/>
              <a:buFont typeface="Wingdings"/>
              <a:buChar char=""/>
              <a:tabLst>
                <a:tab pos="269875" algn="l"/>
              </a:tabLst>
            </a:pPr>
            <a:endParaRPr lang="en-IN" sz="2000" b="1" spc="-10" dirty="0">
              <a:latin typeface="Calibri" panose="020F0502020204030204" pitchFamily="34" charset="0"/>
              <a:cs typeface="Calibri" panose="020F0502020204030204" pitchFamily="34" charset="0"/>
            </a:endParaRPr>
          </a:p>
          <a:p>
            <a:pPr marL="48895" marR="48895" algn="just">
              <a:lnSpc>
                <a:spcPct val="100000"/>
              </a:lnSpc>
              <a:buSzPct val="95454"/>
              <a:buFont typeface="Wingdings"/>
              <a:buChar char=""/>
              <a:tabLst>
                <a:tab pos="269875" algn="l"/>
              </a:tabLst>
            </a:pPr>
            <a:r>
              <a:rPr sz="2000" b="1" spc="-10" dirty="0">
                <a:latin typeface="Calibri" panose="020F0502020204030204" pitchFamily="34" charset="0"/>
                <a:cs typeface="Calibri" panose="020F0502020204030204" pitchFamily="34" charset="0"/>
              </a:rPr>
              <a:t>Role</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of</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focussing</a:t>
            </a:r>
            <a:r>
              <a:rPr sz="2000" b="1" spc="-1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is </a:t>
            </a:r>
            <a:r>
              <a:rPr sz="2000" b="1" spc="-20" dirty="0">
                <a:latin typeface="Calibri" panose="020F0502020204030204" pitchFamily="34" charset="0"/>
                <a:cs typeface="Calibri" panose="020F0502020204030204" pitchFamily="34" charset="0"/>
              </a:rPr>
              <a:t>to</a:t>
            </a:r>
            <a:r>
              <a:rPr sz="2000" b="1" spc="1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transport</a:t>
            </a:r>
            <a:r>
              <a:rPr sz="2000" b="1" spc="-5" dirty="0">
                <a:latin typeface="Calibri" panose="020F0502020204030204" pitchFamily="34" charset="0"/>
                <a:cs typeface="Calibri" panose="020F0502020204030204" pitchFamily="34" charset="0"/>
              </a:rPr>
              <a:t> maximum</a:t>
            </a:r>
            <a:r>
              <a:rPr sz="2000" b="1" spc="-2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number</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of </a:t>
            </a:r>
            <a:r>
              <a:rPr sz="2000" b="1" spc="-5" dirty="0">
                <a:latin typeface="Calibri" panose="020F0502020204030204" pitchFamily="34" charset="0"/>
                <a:cs typeface="Calibri" panose="020F0502020204030204" pitchFamily="34" charset="0"/>
              </a:rPr>
              <a:t>analyte</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ions</a:t>
            </a:r>
            <a:r>
              <a:rPr sz="2000" b="1" spc="-5" dirty="0">
                <a:latin typeface="Calibri" panose="020F0502020204030204" pitchFamily="34" charset="0"/>
                <a:cs typeface="Calibri" panose="020F0502020204030204" pitchFamily="34" charset="0"/>
              </a:rPr>
              <a:t> </a:t>
            </a:r>
            <a:endParaRPr lang="en-IN" sz="2000" b="1" spc="-5" dirty="0">
              <a:latin typeface="Calibri" panose="020F0502020204030204" pitchFamily="34" charset="0"/>
              <a:cs typeface="Calibri" panose="020F0502020204030204" pitchFamily="34" charset="0"/>
            </a:endParaRPr>
          </a:p>
          <a:p>
            <a:pPr marL="48895" marR="48895" algn="just">
              <a:lnSpc>
                <a:spcPct val="100000"/>
              </a:lnSpc>
              <a:buSzPct val="95454"/>
              <a:tabLst>
                <a:tab pos="269875" algn="l"/>
              </a:tabLst>
            </a:pPr>
            <a:r>
              <a:rPr sz="2000" b="1" spc="-10" dirty="0">
                <a:latin typeface="Calibri" panose="020F0502020204030204" pitchFamily="34" charset="0"/>
                <a:cs typeface="Calibri" panose="020F0502020204030204" pitchFamily="34" charset="0"/>
              </a:rPr>
              <a:t>from </a:t>
            </a:r>
            <a:r>
              <a:rPr sz="2000" b="1" spc="-484"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5" dirty="0">
                <a:latin typeface="Calibri" panose="020F0502020204030204" pitchFamily="34" charset="0"/>
                <a:cs typeface="Calibri" panose="020F0502020204030204" pitchFamily="34" charset="0"/>
              </a:rPr>
              <a:t> hostile</a:t>
            </a:r>
            <a:r>
              <a:rPr sz="2000" b="1" spc="-10" dirty="0">
                <a:latin typeface="Calibri" panose="020F0502020204030204" pitchFamily="34" charset="0"/>
                <a:cs typeface="Calibri" panose="020F0502020204030204" pitchFamily="34" charset="0"/>
              </a:rPr>
              <a:t> environment</a:t>
            </a:r>
            <a:r>
              <a:rPr sz="2000" b="1" spc="-2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of</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plasma</a:t>
            </a:r>
            <a:r>
              <a:rPr sz="2000" b="1" spc="-15" dirty="0">
                <a:latin typeface="Calibri" panose="020F0502020204030204" pitchFamily="34" charset="0"/>
                <a:cs typeface="Calibri" panose="020F0502020204030204" pitchFamily="34" charset="0"/>
              </a:rPr>
              <a:t> to</a:t>
            </a:r>
            <a:r>
              <a:rPr sz="2000" b="1" dirty="0">
                <a:latin typeface="Calibri" panose="020F0502020204030204" pitchFamily="34" charset="0"/>
                <a:cs typeface="Calibri" panose="020F0502020204030204" pitchFamily="34" charset="0"/>
              </a:rPr>
              <a:t> the </a:t>
            </a:r>
            <a:r>
              <a:rPr sz="2000" b="1" spc="-5" dirty="0">
                <a:latin typeface="Calibri" panose="020F0502020204030204" pitchFamily="34" charset="0"/>
                <a:cs typeface="Calibri" panose="020F0502020204030204" pitchFamily="34" charset="0"/>
              </a:rPr>
              <a:t>MS</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via</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interface.</a:t>
            </a:r>
            <a:endParaRPr sz="2000" dirty="0">
              <a:latin typeface="Calibri" panose="020F0502020204030204" pitchFamily="34" charset="0"/>
              <a:cs typeface="Calibri" panose="020F0502020204030204" pitchFamily="34" charset="0"/>
            </a:endParaRPr>
          </a:p>
          <a:p>
            <a:pPr marL="48895" marR="544830" algn="just">
              <a:lnSpc>
                <a:spcPct val="100000"/>
              </a:lnSpc>
              <a:buSzPct val="95454"/>
              <a:buFont typeface="Wingdings"/>
              <a:buChar char=""/>
              <a:tabLst>
                <a:tab pos="269875" algn="l"/>
              </a:tabLst>
            </a:pPr>
            <a:r>
              <a:rPr sz="2000" b="1" spc="-10" dirty="0">
                <a:latin typeface="Calibri" panose="020F0502020204030204" pitchFamily="34" charset="0"/>
                <a:cs typeface="Calibri" panose="020F0502020204030204" pitchFamily="34" charset="0"/>
              </a:rPr>
              <a:t>Photons</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&amp;</a:t>
            </a:r>
            <a:r>
              <a:rPr sz="2000" b="1" spc="1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Neutrals</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cause</a:t>
            </a:r>
            <a:r>
              <a:rPr sz="2000" b="1" spc="15"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signal</a:t>
            </a:r>
            <a:r>
              <a:rPr sz="2000" b="1" spc="-10" dirty="0">
                <a:latin typeface="Calibri" panose="020F0502020204030204" pitchFamily="34" charset="0"/>
                <a:cs typeface="Calibri" panose="020F0502020204030204" pitchFamily="34" charset="0"/>
              </a:rPr>
              <a:t> instability</a:t>
            </a:r>
            <a:r>
              <a:rPr sz="2000" b="1" dirty="0">
                <a:latin typeface="Calibri" panose="020F0502020204030204" pitchFamily="34" charset="0"/>
                <a:cs typeface="Calibri" panose="020F0502020204030204" pitchFamily="34" charset="0"/>
              </a:rPr>
              <a:t> &amp;</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contribute</a:t>
            </a:r>
            <a:r>
              <a:rPr sz="2000" b="1" spc="5"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to</a:t>
            </a:r>
            <a:r>
              <a:rPr sz="2000" b="1" spc="20" dirty="0">
                <a:latin typeface="Calibri" panose="020F0502020204030204" pitchFamily="34" charset="0"/>
                <a:cs typeface="Calibri" panose="020F0502020204030204" pitchFamily="34" charset="0"/>
              </a:rPr>
              <a:t> </a:t>
            </a:r>
            <a:endParaRPr lang="en-IN" sz="2000" b="1" spc="20" dirty="0">
              <a:latin typeface="Calibri" panose="020F0502020204030204" pitchFamily="34" charset="0"/>
              <a:cs typeface="Calibri" panose="020F0502020204030204" pitchFamily="34" charset="0"/>
            </a:endParaRPr>
          </a:p>
          <a:p>
            <a:pPr marL="48895" marR="544830" algn="just">
              <a:lnSpc>
                <a:spcPct val="100000"/>
              </a:lnSpc>
              <a:buSzPct val="95454"/>
              <a:tabLst>
                <a:tab pos="269875" algn="l"/>
              </a:tabLst>
            </a:pPr>
            <a:r>
              <a:rPr sz="2000" b="1" spc="-5" dirty="0">
                <a:latin typeface="Calibri" panose="020F0502020204030204" pitchFamily="34" charset="0"/>
                <a:cs typeface="Calibri" panose="020F0502020204030204" pitchFamily="34" charset="0"/>
              </a:rPr>
              <a:t>background </a:t>
            </a:r>
            <a:r>
              <a:rPr sz="2000" b="1" spc="-484"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noise.</a:t>
            </a:r>
            <a:endParaRPr sz="2000" dirty="0">
              <a:latin typeface="Calibri" panose="020F0502020204030204" pitchFamily="34" charset="0"/>
              <a:cs typeface="Calibri" panose="020F0502020204030204" pitchFamily="34" charset="0"/>
            </a:endParaRPr>
          </a:p>
          <a:p>
            <a:pPr marL="48895" marR="514984" algn="just">
              <a:lnSpc>
                <a:spcPct val="100000"/>
              </a:lnSpc>
              <a:buSzPct val="95454"/>
              <a:buFont typeface="Wingdings"/>
              <a:buChar char=""/>
              <a:tabLst>
                <a:tab pos="269875" algn="l"/>
              </a:tabLst>
            </a:pPr>
            <a:r>
              <a:rPr sz="2000" b="1" spc="-25" dirty="0">
                <a:latin typeface="Calibri" panose="020F0502020204030204" pitchFamily="34" charset="0"/>
                <a:cs typeface="Calibri" panose="020F0502020204030204" pitchFamily="34" charset="0"/>
              </a:rPr>
              <a:t>Voltages</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on</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ions</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lens</a:t>
            </a:r>
            <a:r>
              <a:rPr sz="2000" b="1" spc="-5" dirty="0">
                <a:latin typeface="Calibri" panose="020F0502020204030204" pitchFamily="34" charset="0"/>
                <a:cs typeface="Calibri" panose="020F0502020204030204" pitchFamily="34" charset="0"/>
              </a:rPr>
              <a:t> components</a:t>
            </a:r>
            <a:r>
              <a:rPr sz="2000" b="1" spc="-2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electrostatically</a:t>
            </a:r>
            <a:r>
              <a:rPr sz="2000" b="1" spc="5"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steer</a:t>
            </a:r>
            <a:r>
              <a:rPr sz="2000" b="1" spc="1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ions</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of </a:t>
            </a:r>
            <a:r>
              <a:rPr sz="2000" b="1" spc="-480" dirty="0">
                <a:latin typeface="Calibri" panose="020F0502020204030204" pitchFamily="34" charset="0"/>
                <a:cs typeface="Calibri" panose="020F0502020204030204" pitchFamily="34" charset="0"/>
              </a:rPr>
              <a:t> </a:t>
            </a:r>
            <a:endParaRPr lang="en-IN" sz="2000" b="1" spc="-480" dirty="0">
              <a:latin typeface="Calibri" panose="020F0502020204030204" pitchFamily="34" charset="0"/>
              <a:cs typeface="Calibri" panose="020F0502020204030204" pitchFamily="34" charset="0"/>
            </a:endParaRPr>
          </a:p>
          <a:p>
            <a:pPr marL="48895" marR="514984" algn="just">
              <a:lnSpc>
                <a:spcPct val="100000"/>
              </a:lnSpc>
              <a:buSzPct val="95454"/>
              <a:tabLst>
                <a:tab pos="269875" algn="l"/>
              </a:tabLst>
            </a:pPr>
            <a:r>
              <a:rPr sz="2000" b="1" spc="-15" dirty="0">
                <a:latin typeface="Calibri" panose="020F0502020204030204" pitchFamily="34" charset="0"/>
                <a:cs typeface="Calibri" panose="020F0502020204030204" pitchFamily="34" charset="0"/>
              </a:rPr>
              <a:t>interest</a:t>
            </a:r>
            <a:r>
              <a:rPr sz="2000" b="1" spc="20"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into</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 </a:t>
            </a:r>
            <a:r>
              <a:rPr sz="2000" b="1" spc="-5" dirty="0">
                <a:latin typeface="Calibri" panose="020F0502020204030204" pitchFamily="34" charset="0"/>
                <a:cs typeface="Calibri" panose="020F0502020204030204" pitchFamily="34" charset="0"/>
              </a:rPr>
              <a:t>MS.</a:t>
            </a:r>
            <a:endParaRPr sz="2000" dirty="0">
              <a:latin typeface="Calibri" panose="020F0502020204030204" pitchFamily="34" charset="0"/>
              <a:cs typeface="Calibri" panose="020F0502020204030204" pitchFamily="34" charset="0"/>
            </a:endParaRPr>
          </a:p>
        </p:txBody>
      </p:sp>
      <p:pic>
        <p:nvPicPr>
          <p:cNvPr id="6" name="object 4">
            <a:extLst>
              <a:ext uri="{FF2B5EF4-FFF2-40B4-BE49-F238E27FC236}">
                <a16:creationId xmlns:a16="http://schemas.microsoft.com/office/drawing/2014/main" id="{B1F8E909-F59B-497F-8597-AB6FEAC2FD91}"/>
              </a:ext>
            </a:extLst>
          </p:cNvPr>
          <p:cNvPicPr/>
          <p:nvPr/>
        </p:nvPicPr>
        <p:blipFill>
          <a:blip r:embed="rId2" cstate="print"/>
          <a:stretch>
            <a:fillRect/>
          </a:stretch>
        </p:blipFill>
        <p:spPr>
          <a:xfrm>
            <a:off x="5110100" y="1143000"/>
            <a:ext cx="4033900" cy="2438400"/>
          </a:xfrm>
          <a:prstGeom prst="rect">
            <a:avLst/>
          </a:prstGeom>
        </p:spPr>
      </p:pic>
    </p:spTree>
    <p:extLst>
      <p:ext uri="{BB962C8B-B14F-4D97-AF65-F5344CB8AC3E}">
        <p14:creationId xmlns:p14="http://schemas.microsoft.com/office/powerpoint/2010/main" val="1998012759"/>
      </p:ext>
    </p:extLst>
  </p:cSld>
  <p:clrMapOvr>
    <a:masterClrMapping/>
  </p:clrMapOvr>
  <p:transition>
    <p:wipe dir="d"/>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3136392" cy="563880"/>
          </a:xfrm>
        </p:spPr>
        <p:txBody>
          <a:bodyPr>
            <a:normAutofit/>
          </a:bodyPr>
          <a:lstStyle/>
          <a:p>
            <a:r>
              <a:rPr lang="en-US" sz="2800" b="1" u="sng" dirty="0">
                <a:latin typeface="Times New Roman" panose="02020603050405020304" pitchFamily="18" charset="0"/>
                <a:cs typeface="Times New Roman" panose="02020603050405020304" pitchFamily="18" charset="0"/>
              </a:rPr>
              <a:t>Ion Focusing</a:t>
            </a:r>
          </a:p>
        </p:txBody>
      </p:sp>
      <p:pic>
        <p:nvPicPr>
          <p:cNvPr id="4" name="Picture 3"/>
          <p:cNvPicPr/>
          <p:nvPr/>
        </p:nvPicPr>
        <p:blipFill rotWithShape="1">
          <a:blip r:embed="rId2"/>
          <a:srcRect l="43129" t="49537" r="22423" b="16667"/>
          <a:stretch/>
        </p:blipFill>
        <p:spPr bwMode="auto">
          <a:xfrm>
            <a:off x="2590800" y="1371600"/>
            <a:ext cx="4953000" cy="2655245"/>
          </a:xfrm>
          <a:prstGeom prst="rect">
            <a:avLst/>
          </a:prstGeom>
          <a:ln>
            <a:noFill/>
          </a:ln>
          <a:extLst>
            <a:ext uri="{53640926-AAD7-44D8-BBD7-CCE9431645EC}">
              <a14:shadowObscured xmlns:a14="http://schemas.microsoft.com/office/drawing/2010/main"/>
            </a:ext>
          </a:extLst>
        </p:spPr>
      </p:pic>
      <p:sp>
        <p:nvSpPr>
          <p:cNvPr id="5" name="Rectangle 4"/>
          <p:cNvSpPr/>
          <p:nvPr/>
        </p:nvSpPr>
        <p:spPr>
          <a:xfrm>
            <a:off x="914400" y="4495800"/>
            <a:ext cx="8534400" cy="1815882"/>
          </a:xfrm>
          <a:prstGeom prst="rect">
            <a:avLst/>
          </a:prstGeom>
        </p:spPr>
        <p:txBody>
          <a:bodyPr wrap="square">
            <a:spAutoFit/>
          </a:bodyPr>
          <a:lstStyle/>
          <a:p>
            <a:pPr marL="285750" indent="-285750">
              <a:buFont typeface="Wingdings" pitchFamily="2" charset="2"/>
              <a:buChar char="Ø"/>
            </a:pPr>
            <a:r>
              <a:rPr lang="en-US" sz="2800" dirty="0"/>
              <a:t>Delivers ions toward the Quadrupole</a:t>
            </a:r>
          </a:p>
          <a:p>
            <a:pPr marL="285750" indent="-285750">
              <a:buFont typeface="Wingdings" pitchFamily="2" charset="2"/>
              <a:buChar char="Ø"/>
            </a:pPr>
            <a:endParaRPr lang="en-US" sz="2800" dirty="0"/>
          </a:p>
          <a:p>
            <a:pPr marL="285750" indent="-285750">
              <a:buFont typeface="Wingdings" pitchFamily="2" charset="2"/>
              <a:buChar char="Ø"/>
            </a:pPr>
            <a:r>
              <a:rPr lang="en-US" sz="2800" dirty="0"/>
              <a:t>Stop or hinder the electrons, protons and neutrons to the detector analyzer</a:t>
            </a:r>
          </a:p>
        </p:txBody>
      </p:sp>
    </p:spTree>
    <p:extLst>
      <p:ext uri="{BB962C8B-B14F-4D97-AF65-F5344CB8AC3E}">
        <p14:creationId xmlns:p14="http://schemas.microsoft.com/office/powerpoint/2010/main" val="3702756499"/>
      </p:ext>
    </p:extLst>
  </p:cSld>
  <p:clrMapOvr>
    <a:masterClrMapping/>
  </p:clrMapOvr>
  <p:transition>
    <p:wipe dir="d"/>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E8E190D8-01D9-4462-82C8-1E4E3EB01BFC}"/>
              </a:ext>
            </a:extLst>
          </p:cNvPr>
          <p:cNvSpPr txBox="1">
            <a:spLocks noGrp="1"/>
          </p:cNvSpPr>
          <p:nvPr>
            <p:ph type="title"/>
          </p:nvPr>
        </p:nvSpPr>
        <p:spPr>
          <a:xfrm>
            <a:off x="1737995" y="15593"/>
            <a:ext cx="6801358" cy="673902"/>
          </a:xfrm>
          <a:prstGeom prst="rect">
            <a:avLst/>
          </a:prstGeom>
        </p:spPr>
        <p:txBody>
          <a:bodyPr vert="horz" wrap="square" lIns="0" tIns="12065" rIns="0" bIns="0" rtlCol="0">
            <a:spAutoFit/>
          </a:bodyPr>
          <a:lstStyle/>
          <a:p>
            <a:pPr marL="12700">
              <a:lnSpc>
                <a:spcPct val="100000"/>
              </a:lnSpc>
              <a:spcBef>
                <a:spcPts val="95"/>
              </a:spcBef>
            </a:pPr>
            <a:r>
              <a:rPr spc="-5" dirty="0"/>
              <a:t>Mass</a:t>
            </a:r>
            <a:r>
              <a:rPr spc="-15" dirty="0"/>
              <a:t> </a:t>
            </a:r>
            <a:r>
              <a:rPr spc="-5" dirty="0"/>
              <a:t>Analyzer-</a:t>
            </a:r>
            <a:r>
              <a:rPr spc="-15" dirty="0"/>
              <a:t> </a:t>
            </a:r>
            <a:r>
              <a:rPr spc="-10" dirty="0"/>
              <a:t>Quadrupole</a:t>
            </a:r>
          </a:p>
        </p:txBody>
      </p:sp>
      <p:sp>
        <p:nvSpPr>
          <p:cNvPr id="5" name="object 3">
            <a:extLst>
              <a:ext uri="{FF2B5EF4-FFF2-40B4-BE49-F238E27FC236}">
                <a16:creationId xmlns:a16="http://schemas.microsoft.com/office/drawing/2014/main" id="{AAF1FEAC-A5E7-48BF-B24E-A5D36CD58B7B}"/>
              </a:ext>
            </a:extLst>
          </p:cNvPr>
          <p:cNvSpPr txBox="1"/>
          <p:nvPr/>
        </p:nvSpPr>
        <p:spPr>
          <a:xfrm>
            <a:off x="1242024" y="1076245"/>
            <a:ext cx="4413885" cy="945772"/>
          </a:xfrm>
          <a:prstGeom prst="rect">
            <a:avLst/>
          </a:prstGeom>
        </p:spPr>
        <p:txBody>
          <a:bodyPr vert="horz" wrap="square" lIns="0" tIns="12065" rIns="0" bIns="0" rtlCol="0">
            <a:spAutoFit/>
          </a:bodyPr>
          <a:lstStyle/>
          <a:p>
            <a:pPr marL="198120" marR="5080" indent="-186055" algn="just">
              <a:lnSpc>
                <a:spcPct val="100000"/>
              </a:lnSpc>
              <a:spcBef>
                <a:spcPts val="95"/>
              </a:spcBef>
              <a:buClr>
                <a:srgbClr val="800080"/>
              </a:buClr>
              <a:buFont typeface="Arial MT"/>
              <a:buChar char="•"/>
              <a:tabLst>
                <a:tab pos="198755" algn="l"/>
              </a:tabLst>
            </a:pPr>
            <a:r>
              <a:rPr b="1" spc="-5" dirty="0">
                <a:solidFill>
                  <a:srgbClr val="6F2F9F"/>
                </a:solidFill>
                <a:latin typeface="Calibri"/>
                <a:cs typeface="Calibri"/>
              </a:rPr>
              <a:t>Quadrupole is a sequential mass </a:t>
            </a:r>
            <a:r>
              <a:rPr b="1" spc="-30" dirty="0">
                <a:solidFill>
                  <a:srgbClr val="6F2F9F"/>
                </a:solidFill>
                <a:latin typeface="Calibri"/>
                <a:cs typeface="Calibri"/>
              </a:rPr>
              <a:t>filter, </a:t>
            </a:r>
            <a:r>
              <a:rPr b="1" spc="-25" dirty="0">
                <a:solidFill>
                  <a:srgbClr val="6F2F9F"/>
                </a:solidFill>
                <a:latin typeface="Calibri"/>
                <a:cs typeface="Calibri"/>
              </a:rPr>
              <a:t> </a:t>
            </a:r>
            <a:r>
              <a:rPr b="1" spc="-5" dirty="0">
                <a:solidFill>
                  <a:srgbClr val="6F2F9F"/>
                </a:solidFill>
                <a:latin typeface="Calibri"/>
                <a:cs typeface="Calibri"/>
              </a:rPr>
              <a:t>which</a:t>
            </a:r>
            <a:r>
              <a:rPr b="1" dirty="0">
                <a:solidFill>
                  <a:srgbClr val="6F2F9F"/>
                </a:solidFill>
                <a:latin typeface="Calibri"/>
                <a:cs typeface="Calibri"/>
              </a:rPr>
              <a:t> </a:t>
            </a:r>
            <a:r>
              <a:rPr b="1" spc="-15" dirty="0">
                <a:solidFill>
                  <a:srgbClr val="6F2F9F"/>
                </a:solidFill>
                <a:latin typeface="Calibri"/>
                <a:cs typeface="Calibri"/>
              </a:rPr>
              <a:t>separates</a:t>
            </a:r>
            <a:r>
              <a:rPr b="1" spc="-10" dirty="0">
                <a:solidFill>
                  <a:srgbClr val="6F2F9F"/>
                </a:solidFill>
                <a:latin typeface="Calibri"/>
                <a:cs typeface="Calibri"/>
              </a:rPr>
              <a:t> </a:t>
            </a:r>
            <a:r>
              <a:rPr b="1" spc="-5" dirty="0">
                <a:solidFill>
                  <a:srgbClr val="6F2F9F"/>
                </a:solidFill>
                <a:latin typeface="Calibri"/>
                <a:cs typeface="Calibri"/>
              </a:rPr>
              <a:t>ions</a:t>
            </a:r>
            <a:r>
              <a:rPr b="1" dirty="0">
                <a:solidFill>
                  <a:srgbClr val="6F2F9F"/>
                </a:solidFill>
                <a:latin typeface="Calibri"/>
                <a:cs typeface="Calibri"/>
              </a:rPr>
              <a:t> based</a:t>
            </a:r>
            <a:r>
              <a:rPr b="1" spc="5" dirty="0">
                <a:solidFill>
                  <a:srgbClr val="6F2F9F"/>
                </a:solidFill>
                <a:latin typeface="Calibri"/>
                <a:cs typeface="Calibri"/>
              </a:rPr>
              <a:t> </a:t>
            </a:r>
            <a:r>
              <a:rPr b="1" spc="-5" dirty="0">
                <a:solidFill>
                  <a:srgbClr val="6F2F9F"/>
                </a:solidFill>
                <a:latin typeface="Calibri"/>
                <a:cs typeface="Calibri"/>
              </a:rPr>
              <a:t>on</a:t>
            </a:r>
            <a:r>
              <a:rPr b="1" dirty="0">
                <a:solidFill>
                  <a:srgbClr val="6F2F9F"/>
                </a:solidFill>
                <a:latin typeface="Calibri"/>
                <a:cs typeface="Calibri"/>
              </a:rPr>
              <a:t> </a:t>
            </a:r>
            <a:r>
              <a:rPr b="1" spc="-5" dirty="0">
                <a:solidFill>
                  <a:srgbClr val="6F2F9F"/>
                </a:solidFill>
                <a:latin typeface="Calibri"/>
                <a:cs typeface="Calibri"/>
              </a:rPr>
              <a:t>their </a:t>
            </a:r>
            <a:r>
              <a:rPr b="1" dirty="0">
                <a:solidFill>
                  <a:srgbClr val="6F2F9F"/>
                </a:solidFill>
                <a:latin typeface="Calibri"/>
                <a:cs typeface="Calibri"/>
              </a:rPr>
              <a:t> </a:t>
            </a:r>
            <a:r>
              <a:rPr b="1" spc="-5" dirty="0">
                <a:solidFill>
                  <a:srgbClr val="6F2F9F"/>
                </a:solidFill>
                <a:latin typeface="Calibri"/>
                <a:cs typeface="Calibri"/>
              </a:rPr>
              <a:t>m/z.</a:t>
            </a:r>
            <a:endParaRPr dirty="0">
              <a:latin typeface="Calibri"/>
              <a:cs typeface="Calibri"/>
            </a:endParaRPr>
          </a:p>
          <a:p>
            <a:pPr marL="198120" marR="5080" indent="-186055" algn="just">
              <a:lnSpc>
                <a:spcPct val="100000"/>
              </a:lnSpc>
              <a:spcBef>
                <a:spcPts val="840"/>
              </a:spcBef>
              <a:buClr>
                <a:srgbClr val="800080"/>
              </a:buClr>
              <a:buFont typeface="Arial MT"/>
              <a:buChar char="•"/>
              <a:tabLst>
                <a:tab pos="255904" algn="l"/>
              </a:tabLst>
            </a:pPr>
            <a:r>
              <a:rPr dirty="0"/>
              <a:t>	</a:t>
            </a:r>
            <a:endParaRPr dirty="0">
              <a:latin typeface="Calibri"/>
              <a:cs typeface="Calibri"/>
            </a:endParaRPr>
          </a:p>
        </p:txBody>
      </p:sp>
      <p:sp>
        <p:nvSpPr>
          <p:cNvPr id="6" name="object 4">
            <a:extLst>
              <a:ext uri="{FF2B5EF4-FFF2-40B4-BE49-F238E27FC236}">
                <a16:creationId xmlns:a16="http://schemas.microsoft.com/office/drawing/2014/main" id="{C774A362-5DE5-47FF-8C90-498AA30CE445}"/>
              </a:ext>
            </a:extLst>
          </p:cNvPr>
          <p:cNvSpPr txBox="1">
            <a:spLocks/>
          </p:cNvSpPr>
          <p:nvPr/>
        </p:nvSpPr>
        <p:spPr>
          <a:xfrm>
            <a:off x="1242024" y="1672242"/>
            <a:ext cx="4413885" cy="2156360"/>
          </a:xfrm>
          <a:prstGeom prst="rect">
            <a:avLst/>
          </a:prstGeom>
        </p:spPr>
        <p:txBody>
          <a:bodyPr vert="horz" wrap="square" lIns="0" tIns="12065" rIns="0" bIns="0" rtlCol="0">
            <a:spAutoFit/>
          </a:bodyPr>
          <a:lstStyle>
            <a:lvl1pPr marL="365760" indent="-283464" algn="l" rtl="0" eaLnBrk="1" latinLnBrk="0" hangingPunct="1">
              <a:lnSpc>
                <a:spcPct val="100000"/>
              </a:lnSpc>
              <a:spcBef>
                <a:spcPts val="600"/>
              </a:spcBef>
              <a:buClr>
                <a:schemeClr val="accent1"/>
              </a:buClr>
              <a:buSzPct val="80000"/>
              <a:buFont typeface="Wingdings 2"/>
              <a:buChar char=""/>
              <a:defRPr kumimoji="0" sz="3200" kern="1200">
                <a:solidFill>
                  <a:schemeClr val="tx1"/>
                </a:solidFill>
                <a:latin typeface="+mn-lt"/>
                <a:ea typeface="+mn-ea"/>
                <a:cs typeface="+mn-cs"/>
              </a:defRPr>
            </a:lvl1pPr>
            <a:lvl2pPr marL="640080" indent="-237744" algn="l" rtl="0" eaLnBrk="1" latinLnBrk="0" hangingPunct="1">
              <a:lnSpc>
                <a:spcPct val="100000"/>
              </a:lnSpc>
              <a:spcBef>
                <a:spcPts val="550"/>
              </a:spcBef>
              <a:buClr>
                <a:schemeClr val="accent1"/>
              </a:buClr>
              <a:buFont typeface="Verdana"/>
              <a:buChar char="◦"/>
              <a:defRPr kumimoji="0" sz="2800" kern="1200">
                <a:solidFill>
                  <a:schemeClr val="tx1"/>
                </a:solidFill>
                <a:latin typeface="+mn-lt"/>
                <a:ea typeface="+mn-ea"/>
                <a:cs typeface="+mn-cs"/>
              </a:defRPr>
            </a:lvl2pPr>
            <a:lvl3pPr marL="886968" indent="-228600" algn="l" rtl="0" eaLnBrk="1" latinLnBrk="0" hangingPunct="1">
              <a:lnSpc>
                <a:spcPct val="100000"/>
              </a:lnSpc>
              <a:spcBef>
                <a:spcPct val="20000"/>
              </a:spcBef>
              <a:buClr>
                <a:schemeClr val="accent2"/>
              </a:buClr>
              <a:buFont typeface="Wingdings 2"/>
              <a:buChar char=""/>
              <a:defRPr kumimoji="0" sz="2400" kern="1200">
                <a:solidFill>
                  <a:schemeClr val="tx1"/>
                </a:solidFill>
                <a:latin typeface="+mn-lt"/>
                <a:ea typeface="+mn-ea"/>
                <a:cs typeface="+mn-cs"/>
              </a:defRPr>
            </a:lvl3pPr>
            <a:lvl4pPr marL="1097280" indent="-173736" algn="l" rtl="0" eaLnBrk="1" latinLnBrk="0" hangingPunct="1">
              <a:lnSpc>
                <a:spcPct val="100000"/>
              </a:lnSpc>
              <a:spcBef>
                <a:spcPct val="20000"/>
              </a:spcBef>
              <a:buClr>
                <a:schemeClr val="accent3"/>
              </a:buClr>
              <a:buFont typeface="Wingdings 2"/>
              <a:buChar char=""/>
              <a:defRPr kumimoji="0" sz="2000" kern="1200">
                <a:solidFill>
                  <a:schemeClr val="tx1"/>
                </a:solidFill>
                <a:latin typeface="+mn-lt"/>
                <a:ea typeface="+mn-ea"/>
                <a:cs typeface="+mn-cs"/>
              </a:defRPr>
            </a:lvl4pPr>
            <a:lvl5pPr marL="1298448" indent="-182880" algn="l" rtl="0" eaLnBrk="1" latinLnBrk="0" hangingPunct="1">
              <a:lnSpc>
                <a:spcPct val="100000"/>
              </a:lnSpc>
              <a:spcBef>
                <a:spcPct val="20000"/>
              </a:spcBef>
              <a:buClr>
                <a:schemeClr val="accent4"/>
              </a:buClr>
              <a:buFont typeface="Wingdings 2"/>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a:buChar char=""/>
              <a:defRPr kumimoji="0" sz="2000" kern="1200">
                <a:solidFill>
                  <a:schemeClr val="tx1"/>
                </a:solidFill>
                <a:latin typeface="+mn-lt"/>
                <a:ea typeface="+mn-ea"/>
                <a:cs typeface="+mn-cs"/>
              </a:defRPr>
            </a:lvl6pPr>
            <a:lvl7pPr marL="171907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8pPr>
            <a:lvl9pPr marL="213055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9pPr>
            <a:extLst/>
          </a:lstStyle>
          <a:p>
            <a:pPr marL="0" marR="5715" indent="0" algn="just">
              <a:spcBef>
                <a:spcPts val="95"/>
              </a:spcBef>
              <a:buNone/>
            </a:pPr>
            <a:endParaRPr lang="en-US" sz="1800" spc="-5" dirty="0"/>
          </a:p>
          <a:p>
            <a:pPr marL="198120" marR="5715" indent="-186055" algn="just">
              <a:spcBef>
                <a:spcPts val="840"/>
              </a:spcBef>
              <a:buClr>
                <a:srgbClr val="800080"/>
              </a:buClr>
              <a:buFont typeface="Arial MT"/>
              <a:buChar char="•"/>
              <a:tabLst>
                <a:tab pos="198755" algn="l"/>
              </a:tabLst>
            </a:pPr>
            <a:r>
              <a:rPr lang="en-US" sz="1800" spc="-30" dirty="0"/>
              <a:t>Two </a:t>
            </a:r>
            <a:r>
              <a:rPr lang="en-US" sz="1800" spc="-10" dirty="0"/>
              <a:t>pairs </a:t>
            </a:r>
            <a:r>
              <a:rPr lang="en-US" sz="1800" dirty="0"/>
              <a:t>of </a:t>
            </a:r>
            <a:r>
              <a:rPr lang="en-US" sz="1800" spc="-10" dirty="0"/>
              <a:t>parallel cylindrical rods </a:t>
            </a:r>
            <a:r>
              <a:rPr lang="en-US" sz="1800" spc="-30" dirty="0"/>
              <a:t>to </a:t>
            </a:r>
            <a:r>
              <a:rPr lang="en-US" sz="1800" spc="-25" dirty="0"/>
              <a:t> </a:t>
            </a:r>
            <a:r>
              <a:rPr lang="en-US" sz="1800" spc="-5" dirty="0"/>
              <a:t>which a varying </a:t>
            </a:r>
            <a:r>
              <a:rPr lang="en-US" sz="1800" spc="-15" dirty="0"/>
              <a:t>AC</a:t>
            </a:r>
            <a:r>
              <a:rPr lang="en-US" sz="1800" spc="-10" dirty="0"/>
              <a:t> </a:t>
            </a:r>
            <a:r>
              <a:rPr lang="en-US" sz="1800" spc="-15" dirty="0"/>
              <a:t>voltage</a:t>
            </a:r>
            <a:r>
              <a:rPr lang="en-US" sz="1800" spc="-10" dirty="0"/>
              <a:t> </a:t>
            </a:r>
            <a:r>
              <a:rPr lang="en-US" sz="1800" spc="-5" dirty="0"/>
              <a:t>plus a DC </a:t>
            </a:r>
            <a:r>
              <a:rPr lang="en-US" sz="1800" dirty="0"/>
              <a:t> </a:t>
            </a:r>
            <a:r>
              <a:rPr lang="en-US" sz="1800" spc="-15" dirty="0"/>
              <a:t>voltage</a:t>
            </a:r>
            <a:r>
              <a:rPr lang="en-US" sz="1800" spc="-5" dirty="0"/>
              <a:t> is applied.</a:t>
            </a:r>
          </a:p>
          <a:p>
            <a:pPr marL="198120" marR="5080" indent="-186055" algn="just">
              <a:spcBef>
                <a:spcPts val="840"/>
              </a:spcBef>
              <a:buClr>
                <a:srgbClr val="800080"/>
              </a:buClr>
              <a:buFont typeface="Arial MT"/>
              <a:buChar char="•"/>
              <a:tabLst>
                <a:tab pos="198755" algn="l"/>
              </a:tabLst>
            </a:pPr>
            <a:r>
              <a:rPr lang="en-US" sz="1800" spc="-15" dirty="0"/>
              <a:t>Any </a:t>
            </a:r>
            <a:r>
              <a:rPr lang="en-US" sz="1800" spc="-5" dirty="0"/>
              <a:t>ion </a:t>
            </a:r>
            <a:r>
              <a:rPr lang="en-US" sz="1800" spc="-10" dirty="0"/>
              <a:t>above </a:t>
            </a:r>
            <a:r>
              <a:rPr lang="en-US" sz="1800" spc="-5" dirty="0"/>
              <a:t>or below the set mass </a:t>
            </a:r>
            <a:r>
              <a:rPr lang="en-US" sz="1800" dirty="0"/>
              <a:t>of </a:t>
            </a:r>
            <a:r>
              <a:rPr lang="en-US" sz="1800" spc="5" dirty="0"/>
              <a:t> </a:t>
            </a:r>
            <a:r>
              <a:rPr lang="en-US" sz="1800" spc="-5" dirty="0"/>
              <a:t>the</a:t>
            </a:r>
            <a:r>
              <a:rPr lang="en-US" sz="1800" dirty="0"/>
              <a:t> </a:t>
            </a:r>
            <a:r>
              <a:rPr lang="en-US" sz="1800" spc="-5" dirty="0"/>
              <a:t>quadrupole</a:t>
            </a:r>
            <a:r>
              <a:rPr lang="en-US" sz="1800" dirty="0"/>
              <a:t> </a:t>
            </a:r>
            <a:r>
              <a:rPr lang="en-US" sz="1800" spc="-15" dirty="0"/>
              <a:t>enters</a:t>
            </a:r>
            <a:r>
              <a:rPr lang="en-US" sz="1800" spc="-10" dirty="0"/>
              <a:t> </a:t>
            </a:r>
            <a:r>
              <a:rPr lang="en-US" sz="1800" spc="-5" dirty="0"/>
              <a:t>an</a:t>
            </a:r>
            <a:r>
              <a:rPr lang="en-US" sz="1800" dirty="0"/>
              <a:t> </a:t>
            </a:r>
            <a:r>
              <a:rPr lang="en-US" sz="1800" spc="-10" dirty="0"/>
              <a:t>unstable </a:t>
            </a:r>
            <a:r>
              <a:rPr lang="en-US" sz="1800" spc="-5" dirty="0"/>
              <a:t> </a:t>
            </a:r>
            <a:r>
              <a:rPr lang="en-US" sz="1800" spc="-10" dirty="0"/>
              <a:t>trajectory</a:t>
            </a:r>
            <a:r>
              <a:rPr lang="en-US" sz="1800" spc="-5" dirty="0"/>
              <a:t> and</a:t>
            </a:r>
            <a:r>
              <a:rPr lang="en-US" sz="1800" dirty="0"/>
              <a:t> </a:t>
            </a:r>
            <a:r>
              <a:rPr lang="en-US" sz="1800" spc="-10" dirty="0"/>
              <a:t>gets</a:t>
            </a:r>
            <a:r>
              <a:rPr lang="en-US" sz="1800" spc="-5" dirty="0"/>
              <a:t> </a:t>
            </a:r>
            <a:r>
              <a:rPr lang="en-US" sz="1800" spc="-10" dirty="0"/>
              <a:t>lost</a:t>
            </a:r>
            <a:r>
              <a:rPr lang="en-US" sz="1800" spc="-5" dirty="0"/>
              <a:t> </a:t>
            </a:r>
            <a:r>
              <a:rPr lang="en-US" sz="1800" spc="-10" dirty="0"/>
              <a:t>from</a:t>
            </a:r>
            <a:r>
              <a:rPr lang="en-US" sz="1800" spc="-5" dirty="0"/>
              <a:t> the</a:t>
            </a:r>
            <a:r>
              <a:rPr lang="en-US" sz="1800" dirty="0"/>
              <a:t> </a:t>
            </a:r>
            <a:r>
              <a:rPr lang="en-US" sz="1800" spc="-5" dirty="0"/>
              <a:t>ion </a:t>
            </a:r>
            <a:r>
              <a:rPr lang="en-US" sz="1800" dirty="0"/>
              <a:t> </a:t>
            </a:r>
            <a:r>
              <a:rPr lang="en-US" sz="1800" spc="-5" dirty="0"/>
              <a:t>beam.</a:t>
            </a:r>
          </a:p>
        </p:txBody>
      </p:sp>
      <p:sp>
        <p:nvSpPr>
          <p:cNvPr id="7" name="object 5">
            <a:extLst>
              <a:ext uri="{FF2B5EF4-FFF2-40B4-BE49-F238E27FC236}">
                <a16:creationId xmlns:a16="http://schemas.microsoft.com/office/drawing/2014/main" id="{5428B355-C20F-470D-BB49-E7A21AC8D092}"/>
              </a:ext>
            </a:extLst>
          </p:cNvPr>
          <p:cNvSpPr txBox="1"/>
          <p:nvPr/>
        </p:nvSpPr>
        <p:spPr>
          <a:xfrm>
            <a:off x="1143000" y="4854601"/>
            <a:ext cx="5981700" cy="1410001"/>
          </a:xfrm>
          <a:prstGeom prst="rect">
            <a:avLst/>
          </a:prstGeom>
        </p:spPr>
        <p:txBody>
          <a:bodyPr vert="horz" wrap="square" lIns="0" tIns="12065" rIns="0" bIns="0" rtlCol="0">
            <a:spAutoFit/>
          </a:bodyPr>
          <a:lstStyle/>
          <a:p>
            <a:pPr marL="198120" marR="5080" indent="-186055">
              <a:spcBef>
                <a:spcPts val="95"/>
              </a:spcBef>
              <a:buClr>
                <a:srgbClr val="800080"/>
              </a:buClr>
              <a:buFont typeface="Arial MT"/>
              <a:buChar char="•"/>
              <a:tabLst>
                <a:tab pos="198755" algn="l"/>
                <a:tab pos="1218565" algn="l"/>
                <a:tab pos="1315085" algn="l"/>
                <a:tab pos="1798320" algn="l"/>
                <a:tab pos="2273935" algn="l"/>
                <a:tab pos="2312035" algn="l"/>
                <a:tab pos="2835275" algn="l"/>
                <a:tab pos="2938145" algn="l"/>
              </a:tabLst>
            </a:pPr>
            <a:endParaRPr lang="en-IN" b="1" spc="-5" dirty="0">
              <a:solidFill>
                <a:srgbClr val="6F2F9F"/>
              </a:solidFill>
              <a:latin typeface="Calibri"/>
              <a:cs typeface="Calibri"/>
            </a:endParaRPr>
          </a:p>
          <a:p>
            <a:pPr marL="198120" marR="5080" indent="-186055">
              <a:spcBef>
                <a:spcPts val="95"/>
              </a:spcBef>
              <a:buClr>
                <a:srgbClr val="800080"/>
              </a:buClr>
              <a:buFont typeface="Arial MT"/>
              <a:buChar char="•"/>
              <a:tabLst>
                <a:tab pos="198755" algn="l"/>
                <a:tab pos="1218565" algn="l"/>
                <a:tab pos="1315085" algn="l"/>
                <a:tab pos="1798320" algn="l"/>
                <a:tab pos="2273935" algn="l"/>
                <a:tab pos="2312035" algn="l"/>
                <a:tab pos="2835275" algn="l"/>
                <a:tab pos="2938145" algn="l"/>
              </a:tabLst>
            </a:pPr>
            <a:r>
              <a:rPr lang="en-US" b="1" spc="-5" dirty="0">
                <a:solidFill>
                  <a:srgbClr val="6F2F9F"/>
                </a:solidFill>
                <a:latin typeface="Calibri"/>
                <a:cs typeface="Calibri"/>
              </a:rPr>
              <a:t>Measurement</a:t>
            </a:r>
            <a:r>
              <a:rPr lang="en-US" b="1" dirty="0">
                <a:solidFill>
                  <a:srgbClr val="6F2F9F"/>
                </a:solidFill>
                <a:latin typeface="Calibri"/>
                <a:cs typeface="Calibri"/>
              </a:rPr>
              <a:t> of</a:t>
            </a:r>
            <a:r>
              <a:rPr lang="en-US" b="1" spc="5" dirty="0">
                <a:solidFill>
                  <a:srgbClr val="6F2F9F"/>
                </a:solidFill>
                <a:latin typeface="Calibri"/>
                <a:cs typeface="Calibri"/>
              </a:rPr>
              <a:t> </a:t>
            </a:r>
            <a:r>
              <a:rPr lang="en-US" b="1" spc="-5" dirty="0">
                <a:solidFill>
                  <a:srgbClr val="6F2F9F"/>
                </a:solidFill>
                <a:latin typeface="Calibri"/>
                <a:cs typeface="Calibri"/>
              </a:rPr>
              <a:t>the</a:t>
            </a:r>
            <a:r>
              <a:rPr lang="en-US" b="1" dirty="0">
                <a:solidFill>
                  <a:srgbClr val="6F2F9F"/>
                </a:solidFill>
                <a:latin typeface="Calibri"/>
                <a:cs typeface="Calibri"/>
              </a:rPr>
              <a:t> m/z</a:t>
            </a:r>
            <a:r>
              <a:rPr lang="en-US" b="1" spc="5" dirty="0">
                <a:solidFill>
                  <a:srgbClr val="6F2F9F"/>
                </a:solidFill>
                <a:latin typeface="Calibri"/>
                <a:cs typeface="Calibri"/>
              </a:rPr>
              <a:t> </a:t>
            </a:r>
            <a:r>
              <a:rPr lang="en-US" b="1" dirty="0">
                <a:solidFill>
                  <a:srgbClr val="6F2F9F"/>
                </a:solidFill>
                <a:latin typeface="Calibri"/>
                <a:cs typeface="Calibri"/>
              </a:rPr>
              <a:t>of</a:t>
            </a:r>
            <a:r>
              <a:rPr lang="en-US" b="1" spc="5" dirty="0">
                <a:solidFill>
                  <a:srgbClr val="6F2F9F"/>
                </a:solidFill>
                <a:latin typeface="Calibri"/>
                <a:cs typeface="Calibri"/>
              </a:rPr>
              <a:t> </a:t>
            </a:r>
            <a:r>
              <a:rPr lang="en-US" b="1" spc="-5" dirty="0">
                <a:solidFill>
                  <a:srgbClr val="6F2F9F"/>
                </a:solidFill>
                <a:latin typeface="Calibri"/>
                <a:cs typeface="Calibri"/>
              </a:rPr>
              <a:t>the</a:t>
            </a:r>
            <a:r>
              <a:rPr lang="en-US" b="1" dirty="0">
                <a:solidFill>
                  <a:srgbClr val="6F2F9F"/>
                </a:solidFill>
                <a:latin typeface="Calibri"/>
                <a:cs typeface="Calibri"/>
              </a:rPr>
              <a:t> </a:t>
            </a:r>
            <a:r>
              <a:rPr lang="en-US" b="1" spc="-5" dirty="0">
                <a:solidFill>
                  <a:srgbClr val="6F2F9F"/>
                </a:solidFill>
                <a:latin typeface="Calibri"/>
                <a:cs typeface="Calibri"/>
              </a:rPr>
              <a:t>ion </a:t>
            </a:r>
            <a:r>
              <a:rPr lang="en-US" b="1" dirty="0">
                <a:solidFill>
                  <a:srgbClr val="6F2F9F"/>
                </a:solidFill>
                <a:latin typeface="Calibri"/>
                <a:cs typeface="Calibri"/>
              </a:rPr>
              <a:t> </a:t>
            </a:r>
            <a:r>
              <a:rPr lang="en-US" b="1" spc="-10" dirty="0">
                <a:solidFill>
                  <a:srgbClr val="6F2F9F"/>
                </a:solidFill>
                <a:latin typeface="Calibri"/>
                <a:cs typeface="Calibri"/>
              </a:rPr>
              <a:t>allows qualitative identification </a:t>
            </a:r>
            <a:r>
              <a:rPr lang="en-US" b="1" spc="-5" dirty="0">
                <a:solidFill>
                  <a:srgbClr val="6F2F9F"/>
                </a:solidFill>
                <a:latin typeface="Calibri"/>
                <a:cs typeface="Calibri"/>
              </a:rPr>
              <a:t>of the </a:t>
            </a:r>
            <a:r>
              <a:rPr lang="en-US" b="1" dirty="0">
                <a:solidFill>
                  <a:srgbClr val="6F2F9F"/>
                </a:solidFill>
                <a:latin typeface="Calibri"/>
                <a:cs typeface="Calibri"/>
              </a:rPr>
              <a:t> </a:t>
            </a:r>
            <a:r>
              <a:rPr lang="en-US" b="1" spc="-5" dirty="0">
                <a:solidFill>
                  <a:srgbClr val="6F2F9F"/>
                </a:solidFill>
                <a:latin typeface="Calibri"/>
                <a:cs typeface="Calibri"/>
              </a:rPr>
              <a:t>isotope </a:t>
            </a:r>
            <a:r>
              <a:rPr lang="en-US" b="1" dirty="0">
                <a:solidFill>
                  <a:srgbClr val="6F2F9F"/>
                </a:solidFill>
                <a:latin typeface="Calibri"/>
                <a:cs typeface="Calibri"/>
              </a:rPr>
              <a:t>or </a:t>
            </a:r>
            <a:r>
              <a:rPr lang="en-US" b="1" spc="-5" dirty="0">
                <a:solidFill>
                  <a:srgbClr val="6F2F9F"/>
                </a:solidFill>
                <a:latin typeface="Calibri"/>
                <a:cs typeface="Calibri"/>
              </a:rPr>
              <a:t>molecule. Magnitude of </a:t>
            </a:r>
            <a:r>
              <a:rPr lang="en-US" b="1" dirty="0">
                <a:solidFill>
                  <a:srgbClr val="6F2F9F"/>
                </a:solidFill>
                <a:latin typeface="Calibri"/>
                <a:cs typeface="Calibri"/>
              </a:rPr>
              <a:t>the </a:t>
            </a:r>
            <a:r>
              <a:rPr lang="en-US" b="1" spc="5" dirty="0">
                <a:solidFill>
                  <a:srgbClr val="6F2F9F"/>
                </a:solidFill>
                <a:latin typeface="Calibri"/>
                <a:cs typeface="Calibri"/>
              </a:rPr>
              <a:t> </a:t>
            </a:r>
            <a:r>
              <a:rPr lang="en-US" b="1" spc="-5" dirty="0">
                <a:solidFill>
                  <a:srgbClr val="6F2F9F"/>
                </a:solidFill>
                <a:latin typeface="Calibri"/>
                <a:cs typeface="Calibri"/>
              </a:rPr>
              <a:t>ion</a:t>
            </a:r>
            <a:r>
              <a:rPr lang="en-US" b="1" spc="409" dirty="0">
                <a:solidFill>
                  <a:srgbClr val="6F2F9F"/>
                </a:solidFill>
                <a:latin typeface="Calibri"/>
                <a:cs typeface="Calibri"/>
              </a:rPr>
              <a:t> </a:t>
            </a:r>
            <a:r>
              <a:rPr lang="en-US" b="1" spc="-10" dirty="0">
                <a:solidFill>
                  <a:srgbClr val="6F2F9F"/>
                </a:solidFill>
                <a:latin typeface="Calibri"/>
                <a:cs typeface="Calibri"/>
              </a:rPr>
              <a:t>current</a:t>
            </a:r>
            <a:r>
              <a:rPr lang="en-US" b="1" spc="425" dirty="0">
                <a:solidFill>
                  <a:srgbClr val="6F2F9F"/>
                </a:solidFill>
                <a:latin typeface="Calibri"/>
                <a:cs typeface="Calibri"/>
              </a:rPr>
              <a:t> </a:t>
            </a:r>
            <a:r>
              <a:rPr lang="en-US" b="1" spc="-5" dirty="0">
                <a:solidFill>
                  <a:srgbClr val="6F2F9F"/>
                </a:solidFill>
                <a:latin typeface="Calibri"/>
                <a:cs typeface="Calibri"/>
              </a:rPr>
              <a:t>is</a:t>
            </a:r>
            <a:r>
              <a:rPr lang="en-US" b="1" spc="405" dirty="0">
                <a:solidFill>
                  <a:srgbClr val="6F2F9F"/>
                </a:solidFill>
                <a:latin typeface="Calibri"/>
                <a:cs typeface="Calibri"/>
              </a:rPr>
              <a:t> </a:t>
            </a:r>
            <a:r>
              <a:rPr lang="en-US" b="1" spc="-5" dirty="0">
                <a:solidFill>
                  <a:srgbClr val="6F2F9F"/>
                </a:solidFill>
                <a:latin typeface="Calibri"/>
                <a:cs typeface="Calibri"/>
              </a:rPr>
              <a:t>used</a:t>
            </a:r>
            <a:r>
              <a:rPr lang="en-US" b="1" spc="420" dirty="0">
                <a:solidFill>
                  <a:srgbClr val="6F2F9F"/>
                </a:solidFill>
                <a:latin typeface="Calibri"/>
                <a:cs typeface="Calibri"/>
              </a:rPr>
              <a:t> </a:t>
            </a:r>
            <a:r>
              <a:rPr lang="en-US" b="1" spc="-15" dirty="0">
                <a:solidFill>
                  <a:srgbClr val="6F2F9F"/>
                </a:solidFill>
                <a:latin typeface="Calibri"/>
                <a:cs typeface="Calibri"/>
              </a:rPr>
              <a:t>to</a:t>
            </a:r>
            <a:r>
              <a:rPr lang="en-US" b="1" dirty="0">
                <a:solidFill>
                  <a:srgbClr val="6F2F9F"/>
                </a:solidFill>
                <a:latin typeface="Calibri"/>
                <a:cs typeface="Calibri"/>
              </a:rPr>
              <a:t> </a:t>
            </a:r>
            <a:r>
              <a:rPr lang="en-US" b="1" spc="-10" dirty="0">
                <a:solidFill>
                  <a:srgbClr val="6F2F9F"/>
                </a:solidFill>
                <a:latin typeface="Calibri"/>
                <a:cs typeface="Calibri"/>
              </a:rPr>
              <a:t>provide </a:t>
            </a:r>
            <a:r>
              <a:rPr lang="en-US" sz="1800" spc="-10" dirty="0"/>
              <a:t>quantitation</a:t>
            </a:r>
            <a:r>
              <a:rPr lang="en-US" sz="1800" spc="-5" dirty="0"/>
              <a:t> of</a:t>
            </a:r>
            <a:r>
              <a:rPr lang="en-US" sz="1800" dirty="0"/>
              <a:t> </a:t>
            </a:r>
            <a:r>
              <a:rPr lang="en-US" sz="1800" spc="-5" dirty="0"/>
              <a:t>the</a:t>
            </a:r>
            <a:r>
              <a:rPr lang="en-US" sz="1800" dirty="0"/>
              <a:t> </a:t>
            </a:r>
            <a:r>
              <a:rPr lang="en-US" sz="1800" spc="-5" dirty="0"/>
              <a:t>amount</a:t>
            </a:r>
            <a:r>
              <a:rPr lang="en-US" sz="1800" dirty="0"/>
              <a:t> of</a:t>
            </a:r>
            <a:r>
              <a:rPr lang="en-US" sz="1800" spc="5" dirty="0"/>
              <a:t> </a:t>
            </a:r>
            <a:r>
              <a:rPr lang="en-US" sz="1800" spc="-5" dirty="0"/>
              <a:t>the </a:t>
            </a:r>
            <a:r>
              <a:rPr lang="en-US" sz="1800" dirty="0"/>
              <a:t> </a:t>
            </a:r>
            <a:r>
              <a:rPr lang="en-US" sz="1800" spc="-5" dirty="0"/>
              <a:t>analyte in</a:t>
            </a:r>
            <a:r>
              <a:rPr lang="en-US" sz="1800" spc="-10" dirty="0"/>
              <a:t> </a:t>
            </a:r>
            <a:r>
              <a:rPr lang="en-US" sz="1800" spc="-5" dirty="0"/>
              <a:t>the</a:t>
            </a:r>
            <a:r>
              <a:rPr lang="en-US" sz="1800" dirty="0"/>
              <a:t> </a:t>
            </a:r>
            <a:r>
              <a:rPr lang="en-US" sz="1800" spc="-5" dirty="0"/>
              <a:t>original sample</a:t>
            </a:r>
            <a:endParaRPr dirty="0">
              <a:latin typeface="Calibri"/>
              <a:cs typeface="Calibri"/>
            </a:endParaRPr>
          </a:p>
        </p:txBody>
      </p:sp>
      <p:pic>
        <p:nvPicPr>
          <p:cNvPr id="9" name="object 8">
            <a:extLst>
              <a:ext uri="{FF2B5EF4-FFF2-40B4-BE49-F238E27FC236}">
                <a16:creationId xmlns:a16="http://schemas.microsoft.com/office/drawing/2014/main" id="{288B938B-0BFC-431F-9BAF-F3B8F721094E}"/>
              </a:ext>
            </a:extLst>
          </p:cNvPr>
          <p:cNvPicPr/>
          <p:nvPr/>
        </p:nvPicPr>
        <p:blipFill>
          <a:blip r:embed="rId2" cstate="print"/>
          <a:stretch>
            <a:fillRect/>
          </a:stretch>
        </p:blipFill>
        <p:spPr>
          <a:xfrm>
            <a:off x="5811638" y="2420495"/>
            <a:ext cx="3166242" cy="2311787"/>
          </a:xfrm>
          <a:prstGeom prst="rect">
            <a:avLst/>
          </a:prstGeom>
        </p:spPr>
      </p:pic>
      <p:sp>
        <p:nvSpPr>
          <p:cNvPr id="10" name="object 10">
            <a:extLst>
              <a:ext uri="{FF2B5EF4-FFF2-40B4-BE49-F238E27FC236}">
                <a16:creationId xmlns:a16="http://schemas.microsoft.com/office/drawing/2014/main" id="{1A91F018-AD47-4C64-833F-7ACF7D1A8520}"/>
              </a:ext>
            </a:extLst>
          </p:cNvPr>
          <p:cNvSpPr txBox="1"/>
          <p:nvPr/>
        </p:nvSpPr>
        <p:spPr>
          <a:xfrm>
            <a:off x="6284514" y="683510"/>
            <a:ext cx="2937642" cy="1977464"/>
          </a:xfrm>
          <a:prstGeom prst="rect">
            <a:avLst/>
          </a:prstGeom>
        </p:spPr>
        <p:txBody>
          <a:bodyPr vert="horz" wrap="square" lIns="0" tIns="12700" rIns="0" bIns="0" rtlCol="0">
            <a:spAutoFit/>
          </a:bodyPr>
          <a:lstStyle/>
          <a:p>
            <a:pPr marL="12700" marR="5080">
              <a:lnSpc>
                <a:spcPct val="100000"/>
              </a:lnSpc>
              <a:spcBef>
                <a:spcPts val="100"/>
              </a:spcBef>
            </a:pPr>
            <a:r>
              <a:rPr sz="1800" b="1" spc="-5" dirty="0">
                <a:latin typeface="Calibri"/>
                <a:cs typeface="Calibri"/>
              </a:rPr>
              <a:t>Made </a:t>
            </a:r>
            <a:r>
              <a:rPr sz="1800" b="1" dirty="0">
                <a:latin typeface="Calibri"/>
                <a:cs typeface="Calibri"/>
              </a:rPr>
              <a:t>of </a:t>
            </a:r>
            <a:r>
              <a:rPr sz="1800" b="1" spc="-10" dirty="0">
                <a:latin typeface="Calibri"/>
                <a:cs typeface="Calibri"/>
              </a:rPr>
              <a:t>stainless </a:t>
            </a:r>
            <a:r>
              <a:rPr sz="1800" b="1" spc="-15" dirty="0">
                <a:latin typeface="Calibri"/>
                <a:cs typeface="Calibri"/>
              </a:rPr>
              <a:t>steel </a:t>
            </a:r>
            <a:r>
              <a:rPr sz="1800" b="1" dirty="0">
                <a:latin typeface="Calibri"/>
                <a:cs typeface="Calibri"/>
              </a:rPr>
              <a:t>or </a:t>
            </a:r>
            <a:r>
              <a:rPr sz="1800" b="1" spc="-5" dirty="0">
                <a:latin typeface="Calibri"/>
                <a:cs typeface="Calibri"/>
              </a:rPr>
              <a:t>molybdenum </a:t>
            </a:r>
            <a:r>
              <a:rPr sz="1800" b="1" dirty="0">
                <a:latin typeface="Calibri"/>
                <a:cs typeface="Calibri"/>
              </a:rPr>
              <a:t> </a:t>
            </a:r>
            <a:r>
              <a:rPr sz="1800" b="1" spc="-5" dirty="0">
                <a:latin typeface="Calibri"/>
                <a:cs typeface="Calibri"/>
              </a:rPr>
              <a:t>with </a:t>
            </a:r>
            <a:r>
              <a:rPr sz="1800" b="1" spc="-10" dirty="0">
                <a:latin typeface="Calibri"/>
                <a:cs typeface="Calibri"/>
              </a:rPr>
              <a:t>ceramic </a:t>
            </a:r>
            <a:r>
              <a:rPr sz="1800" b="1" spc="-5" dirty="0">
                <a:latin typeface="Calibri"/>
                <a:cs typeface="Calibri"/>
              </a:rPr>
              <a:t>coating, </a:t>
            </a:r>
            <a:r>
              <a:rPr sz="1800" b="1" dirty="0">
                <a:latin typeface="Calibri"/>
                <a:cs typeface="Calibri"/>
              </a:rPr>
              <a:t>15-25 </a:t>
            </a:r>
            <a:r>
              <a:rPr sz="1800" b="1" spc="-5" dirty="0">
                <a:latin typeface="Calibri"/>
                <a:cs typeface="Calibri"/>
              </a:rPr>
              <a:t>cm </a:t>
            </a:r>
            <a:r>
              <a:rPr sz="1800" b="1" dirty="0">
                <a:latin typeface="Calibri"/>
                <a:cs typeface="Calibri"/>
              </a:rPr>
              <a:t>in </a:t>
            </a:r>
            <a:r>
              <a:rPr sz="1800" b="1" spc="-5" dirty="0">
                <a:latin typeface="Calibri"/>
                <a:cs typeface="Calibri"/>
              </a:rPr>
              <a:t>length, </a:t>
            </a:r>
            <a:r>
              <a:rPr sz="1800" b="1" spc="-395" dirty="0">
                <a:latin typeface="Calibri"/>
                <a:cs typeface="Calibri"/>
              </a:rPr>
              <a:t> </a:t>
            </a:r>
            <a:r>
              <a:rPr sz="1800" b="1" dirty="0">
                <a:latin typeface="Calibri"/>
                <a:cs typeface="Calibri"/>
              </a:rPr>
              <a:t>1cm</a:t>
            </a:r>
            <a:r>
              <a:rPr sz="1800" b="1" spc="-5" dirty="0">
                <a:latin typeface="Calibri"/>
                <a:cs typeface="Calibri"/>
              </a:rPr>
              <a:t> </a:t>
            </a:r>
            <a:r>
              <a:rPr sz="1800" b="1" dirty="0">
                <a:latin typeface="Calibri"/>
                <a:cs typeface="Calibri"/>
              </a:rPr>
              <a:t>in</a:t>
            </a:r>
            <a:r>
              <a:rPr sz="1800" b="1" spc="-5" dirty="0">
                <a:latin typeface="Calibri"/>
                <a:cs typeface="Calibri"/>
              </a:rPr>
              <a:t> </a:t>
            </a:r>
            <a:r>
              <a:rPr sz="1800" b="1" spc="-10" dirty="0">
                <a:latin typeface="Calibri"/>
                <a:cs typeface="Calibri"/>
              </a:rPr>
              <a:t>diameter</a:t>
            </a:r>
            <a:endParaRPr lang="en-IN" sz="1800" b="1" spc="-10" dirty="0">
              <a:latin typeface="Calibri"/>
              <a:cs typeface="Calibri"/>
            </a:endParaRPr>
          </a:p>
          <a:p>
            <a:pPr marL="12700" marR="5080">
              <a:lnSpc>
                <a:spcPct val="100000"/>
              </a:lnSpc>
              <a:spcBef>
                <a:spcPts val="100"/>
              </a:spcBef>
            </a:pPr>
            <a:endParaRPr lang="en-IN" b="1" spc="-10" dirty="0">
              <a:latin typeface="Calibri"/>
              <a:cs typeface="Calibri"/>
            </a:endParaRPr>
          </a:p>
          <a:p>
            <a:pPr marL="12700" marR="5080">
              <a:lnSpc>
                <a:spcPct val="100000"/>
              </a:lnSpc>
              <a:spcBef>
                <a:spcPts val="100"/>
              </a:spcBef>
            </a:pPr>
            <a:r>
              <a:rPr lang="en-IN" sz="1800" b="1" spc="-10" dirty="0">
                <a:latin typeface="Calibri"/>
                <a:cs typeface="Calibri"/>
              </a:rPr>
              <a:t>Scanning mode and selective mode</a:t>
            </a:r>
            <a:endParaRPr sz="1800" dirty="0">
              <a:latin typeface="Calibri"/>
              <a:cs typeface="Calibri"/>
            </a:endParaRPr>
          </a:p>
        </p:txBody>
      </p:sp>
    </p:spTree>
    <p:extLst>
      <p:ext uri="{BB962C8B-B14F-4D97-AF65-F5344CB8AC3E}">
        <p14:creationId xmlns:p14="http://schemas.microsoft.com/office/powerpoint/2010/main" val="2852011255"/>
      </p:ext>
    </p:extLst>
  </p:cSld>
  <p:clrMapOvr>
    <a:masterClrMapping/>
  </p:clrMapOvr>
  <p:transition>
    <p:wipe dir="d"/>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Detector</a:t>
            </a:r>
          </a:p>
        </p:txBody>
      </p:sp>
      <p:sp>
        <p:nvSpPr>
          <p:cNvPr id="3" name="Content Placeholder 2"/>
          <p:cNvSpPr>
            <a:spLocks noGrp="1"/>
          </p:cNvSpPr>
          <p:nvPr>
            <p:ph idx="1"/>
          </p:nvPr>
        </p:nvSpPr>
        <p:spPr/>
        <p:txBody>
          <a:bodyPr/>
          <a:lstStyle/>
          <a:p>
            <a:r>
              <a:rPr lang="en-US" dirty="0"/>
              <a:t>Electron Multiplier</a:t>
            </a:r>
          </a:p>
          <a:p>
            <a:endParaRPr lang="en-US" dirty="0"/>
          </a:p>
        </p:txBody>
      </p:sp>
      <p:pic>
        <p:nvPicPr>
          <p:cNvPr id="4" name="Picture 3" descr="detector.jpg"/>
          <p:cNvPicPr>
            <a:picLocks noChangeAspect="1"/>
          </p:cNvPicPr>
          <p:nvPr/>
        </p:nvPicPr>
        <p:blipFill>
          <a:blip r:embed="rId2"/>
          <a:stretch>
            <a:fillRect/>
          </a:stretch>
        </p:blipFill>
        <p:spPr>
          <a:xfrm>
            <a:off x="2362200" y="2362200"/>
            <a:ext cx="4876800" cy="2318724"/>
          </a:xfrm>
          <a:prstGeom prst="rect">
            <a:avLst/>
          </a:prstGeom>
        </p:spPr>
      </p:pic>
    </p:spTree>
  </p:cSld>
  <p:clrMapOvr>
    <a:masterClrMapping/>
  </p:clrMapOvr>
  <p:transition>
    <p:wipe dir="d"/>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73222" y="-80411"/>
            <a:ext cx="4848353" cy="673902"/>
          </a:xfrm>
          <a:prstGeom prst="rect">
            <a:avLst/>
          </a:prstGeom>
        </p:spPr>
        <p:txBody>
          <a:bodyPr vert="horz" wrap="square" lIns="0" tIns="12065" rIns="0" bIns="0" rtlCol="0">
            <a:spAutoFit/>
          </a:bodyPr>
          <a:lstStyle/>
          <a:p>
            <a:pPr marL="12700">
              <a:lnSpc>
                <a:spcPct val="100000"/>
              </a:lnSpc>
              <a:spcBef>
                <a:spcPts val="95"/>
              </a:spcBef>
            </a:pPr>
            <a:r>
              <a:rPr spc="-5" dirty="0"/>
              <a:t>Ion</a:t>
            </a:r>
            <a:r>
              <a:rPr spc="-60" dirty="0"/>
              <a:t> </a:t>
            </a:r>
            <a:r>
              <a:rPr spc="-5" dirty="0"/>
              <a:t>Detectors</a:t>
            </a:r>
          </a:p>
        </p:txBody>
      </p:sp>
      <p:pic>
        <p:nvPicPr>
          <p:cNvPr id="3" name="object 3"/>
          <p:cNvPicPr/>
          <p:nvPr/>
        </p:nvPicPr>
        <p:blipFill>
          <a:blip r:embed="rId2" cstate="print"/>
          <a:stretch>
            <a:fillRect/>
          </a:stretch>
        </p:blipFill>
        <p:spPr>
          <a:xfrm>
            <a:off x="1524000" y="593491"/>
            <a:ext cx="6649975" cy="2405816"/>
          </a:xfrm>
          <a:prstGeom prst="rect">
            <a:avLst/>
          </a:prstGeom>
        </p:spPr>
      </p:pic>
      <p:sp>
        <p:nvSpPr>
          <p:cNvPr id="4" name="object 4"/>
          <p:cNvSpPr txBox="1"/>
          <p:nvPr/>
        </p:nvSpPr>
        <p:spPr>
          <a:xfrm>
            <a:off x="990600" y="3124200"/>
            <a:ext cx="8074915" cy="3590727"/>
          </a:xfrm>
          <a:prstGeom prst="rect">
            <a:avLst/>
          </a:prstGeom>
        </p:spPr>
        <p:txBody>
          <a:bodyPr vert="horz" wrap="square" lIns="0" tIns="12700" rIns="0" bIns="0" rtlCol="0">
            <a:spAutoFit/>
          </a:bodyPr>
          <a:lstStyle/>
          <a:p>
            <a:pPr marL="12700" marR="167640">
              <a:lnSpc>
                <a:spcPct val="100000"/>
              </a:lnSpc>
              <a:spcBef>
                <a:spcPts val="100"/>
              </a:spcBef>
              <a:buSzPct val="94444"/>
              <a:buFont typeface="Wingdings"/>
              <a:buChar char=""/>
              <a:tabLst>
                <a:tab pos="193040" algn="l"/>
              </a:tabLst>
            </a:pPr>
            <a:r>
              <a:rPr sz="1800" b="1" spc="-10" dirty="0">
                <a:latin typeface="Calibri"/>
                <a:cs typeface="Calibri"/>
              </a:rPr>
              <a:t>Detector </a:t>
            </a:r>
            <a:r>
              <a:rPr sz="1800" b="1" dirty="0">
                <a:latin typeface="Calibri"/>
                <a:cs typeface="Calibri"/>
              </a:rPr>
              <a:t>is an </a:t>
            </a:r>
            <a:r>
              <a:rPr sz="1800" b="1" spc="-5" dirty="0">
                <a:latin typeface="Calibri"/>
                <a:cs typeface="Calibri"/>
              </a:rPr>
              <a:t>Electron Multiplier Device which can </a:t>
            </a:r>
            <a:r>
              <a:rPr sz="1800" b="1" spc="-15" dirty="0">
                <a:latin typeface="Calibri"/>
                <a:cs typeface="Calibri"/>
              </a:rPr>
              <a:t>generate </a:t>
            </a:r>
            <a:r>
              <a:rPr sz="1800" b="1" dirty="0">
                <a:latin typeface="Calibri"/>
                <a:cs typeface="Calibri"/>
              </a:rPr>
              <a:t>a </a:t>
            </a:r>
            <a:r>
              <a:rPr sz="1800" b="1" spc="-10" dirty="0">
                <a:latin typeface="Calibri"/>
                <a:cs typeface="Calibri"/>
              </a:rPr>
              <a:t>measurable </a:t>
            </a:r>
            <a:r>
              <a:rPr sz="1800" b="1" spc="-5" dirty="0">
                <a:latin typeface="Calibri"/>
                <a:cs typeface="Calibri"/>
              </a:rPr>
              <a:t>signal pulse </a:t>
            </a:r>
            <a:r>
              <a:rPr sz="1800" b="1" spc="-10" dirty="0">
                <a:latin typeface="Calibri"/>
                <a:cs typeface="Calibri"/>
              </a:rPr>
              <a:t>from </a:t>
            </a:r>
            <a:r>
              <a:rPr sz="1800" b="1" spc="-395" dirty="0">
                <a:latin typeface="Calibri"/>
                <a:cs typeface="Calibri"/>
              </a:rPr>
              <a:t> </a:t>
            </a:r>
            <a:r>
              <a:rPr sz="1800" b="1" dirty="0">
                <a:latin typeface="Calibri"/>
                <a:cs typeface="Calibri"/>
              </a:rPr>
              <a:t>the</a:t>
            </a:r>
            <a:r>
              <a:rPr sz="1800" b="1" spc="-15" dirty="0">
                <a:latin typeface="Calibri"/>
                <a:cs typeface="Calibri"/>
              </a:rPr>
              <a:t> </a:t>
            </a:r>
            <a:r>
              <a:rPr sz="1800" b="1" dirty="0">
                <a:latin typeface="Calibri"/>
                <a:cs typeface="Calibri"/>
              </a:rPr>
              <a:t>impact</a:t>
            </a:r>
            <a:r>
              <a:rPr sz="1800" b="1" spc="-10" dirty="0">
                <a:latin typeface="Calibri"/>
                <a:cs typeface="Calibri"/>
              </a:rPr>
              <a:t> </a:t>
            </a:r>
            <a:r>
              <a:rPr sz="1800" b="1" dirty="0">
                <a:latin typeface="Calibri"/>
                <a:cs typeface="Calibri"/>
              </a:rPr>
              <a:t>of a single</a:t>
            </a:r>
            <a:r>
              <a:rPr sz="1800" b="1" spc="-30" dirty="0">
                <a:latin typeface="Calibri"/>
                <a:cs typeface="Calibri"/>
              </a:rPr>
              <a:t> </a:t>
            </a:r>
            <a:r>
              <a:rPr sz="1800" b="1" dirty="0">
                <a:latin typeface="Calibri"/>
                <a:cs typeface="Calibri"/>
              </a:rPr>
              <a:t>ion.</a:t>
            </a:r>
            <a:endParaRPr sz="1800" dirty="0">
              <a:latin typeface="Calibri"/>
              <a:cs typeface="Calibri"/>
            </a:endParaRPr>
          </a:p>
          <a:p>
            <a:pPr>
              <a:lnSpc>
                <a:spcPct val="100000"/>
              </a:lnSpc>
              <a:spcBef>
                <a:spcPts val="25"/>
              </a:spcBef>
              <a:buClr>
                <a:srgbClr val="0000FF"/>
              </a:buClr>
              <a:buFont typeface="Wingdings"/>
              <a:buChar char=""/>
            </a:pPr>
            <a:endParaRPr sz="1750" dirty="0">
              <a:latin typeface="Calibri"/>
              <a:cs typeface="Calibri"/>
            </a:endParaRPr>
          </a:p>
          <a:p>
            <a:pPr marL="193040" indent="-180975">
              <a:lnSpc>
                <a:spcPct val="100000"/>
              </a:lnSpc>
              <a:buSzPct val="94444"/>
              <a:buFont typeface="Wingdings"/>
              <a:buChar char=""/>
              <a:tabLst>
                <a:tab pos="193675" algn="l"/>
              </a:tabLst>
            </a:pPr>
            <a:r>
              <a:rPr sz="1800" b="1" dirty="0">
                <a:latin typeface="Calibri"/>
                <a:cs typeface="Calibri"/>
              </a:rPr>
              <a:t>A</a:t>
            </a:r>
            <a:r>
              <a:rPr sz="1800" b="1" spc="70" dirty="0">
                <a:latin typeface="Calibri"/>
                <a:cs typeface="Calibri"/>
              </a:rPr>
              <a:t> </a:t>
            </a:r>
            <a:r>
              <a:rPr sz="1800" b="1" spc="-10" dirty="0">
                <a:latin typeface="Calibri"/>
                <a:cs typeface="Calibri"/>
              </a:rPr>
              <a:t>positive</a:t>
            </a:r>
            <a:r>
              <a:rPr sz="1800" b="1" spc="75" dirty="0">
                <a:latin typeface="Calibri"/>
                <a:cs typeface="Calibri"/>
              </a:rPr>
              <a:t> </a:t>
            </a:r>
            <a:r>
              <a:rPr sz="1800" b="1" spc="-5" dirty="0">
                <a:latin typeface="Calibri"/>
                <a:cs typeface="Calibri"/>
              </a:rPr>
              <a:t>ion</a:t>
            </a:r>
            <a:r>
              <a:rPr sz="1800" b="1" spc="75" dirty="0">
                <a:latin typeface="Calibri"/>
                <a:cs typeface="Calibri"/>
              </a:rPr>
              <a:t> </a:t>
            </a:r>
            <a:r>
              <a:rPr sz="1800" b="1" spc="-10" dirty="0">
                <a:latin typeface="Calibri"/>
                <a:cs typeface="Calibri"/>
              </a:rPr>
              <a:t>arrives</a:t>
            </a:r>
            <a:r>
              <a:rPr sz="1800" b="1" spc="75" dirty="0">
                <a:latin typeface="Calibri"/>
                <a:cs typeface="Calibri"/>
              </a:rPr>
              <a:t> </a:t>
            </a:r>
            <a:r>
              <a:rPr sz="1800" b="1" spc="-10" dirty="0">
                <a:latin typeface="Calibri"/>
                <a:cs typeface="Calibri"/>
              </a:rPr>
              <a:t>at</a:t>
            </a:r>
            <a:r>
              <a:rPr sz="1800" b="1" spc="75" dirty="0">
                <a:latin typeface="Calibri"/>
                <a:cs typeface="Calibri"/>
              </a:rPr>
              <a:t> </a:t>
            </a:r>
            <a:r>
              <a:rPr sz="1800" b="1" spc="-5" dirty="0">
                <a:latin typeface="Calibri"/>
                <a:cs typeface="Calibri"/>
              </a:rPr>
              <a:t>the</a:t>
            </a:r>
            <a:r>
              <a:rPr sz="1800" b="1" spc="75" dirty="0">
                <a:latin typeface="Calibri"/>
                <a:cs typeface="Calibri"/>
              </a:rPr>
              <a:t> </a:t>
            </a:r>
            <a:r>
              <a:rPr sz="1800" b="1" spc="-5" dirty="0">
                <a:latin typeface="Calibri"/>
                <a:cs typeface="Calibri"/>
              </a:rPr>
              <a:t>mouth</a:t>
            </a:r>
            <a:r>
              <a:rPr sz="1800" b="1" spc="75" dirty="0">
                <a:latin typeface="Calibri"/>
                <a:cs typeface="Calibri"/>
              </a:rPr>
              <a:t> </a:t>
            </a:r>
            <a:r>
              <a:rPr sz="1800" b="1" spc="-5" dirty="0">
                <a:latin typeface="Calibri"/>
                <a:cs typeface="Calibri"/>
              </a:rPr>
              <a:t>of</a:t>
            </a:r>
            <a:r>
              <a:rPr sz="1800" b="1" spc="85" dirty="0">
                <a:latin typeface="Calibri"/>
                <a:cs typeface="Calibri"/>
              </a:rPr>
              <a:t> </a:t>
            </a:r>
            <a:r>
              <a:rPr sz="1800" b="1" spc="-5" dirty="0">
                <a:latin typeface="Calibri"/>
                <a:cs typeface="Calibri"/>
              </a:rPr>
              <a:t>the</a:t>
            </a:r>
            <a:r>
              <a:rPr sz="1800" b="1" spc="75" dirty="0">
                <a:latin typeface="Calibri"/>
                <a:cs typeface="Calibri"/>
              </a:rPr>
              <a:t> </a:t>
            </a:r>
            <a:r>
              <a:rPr sz="1800" b="1" spc="-25" dirty="0">
                <a:latin typeface="Calibri"/>
                <a:cs typeface="Calibri"/>
              </a:rPr>
              <a:t>detector,</a:t>
            </a:r>
            <a:r>
              <a:rPr sz="1800" b="1" spc="70" dirty="0">
                <a:latin typeface="Calibri"/>
                <a:cs typeface="Calibri"/>
              </a:rPr>
              <a:t> </a:t>
            </a:r>
            <a:r>
              <a:rPr sz="1800" b="1" dirty="0">
                <a:latin typeface="Calibri"/>
                <a:cs typeface="Calibri"/>
              </a:rPr>
              <a:t>it</a:t>
            </a:r>
            <a:r>
              <a:rPr sz="1800" b="1" spc="70" dirty="0">
                <a:latin typeface="Calibri"/>
                <a:cs typeface="Calibri"/>
              </a:rPr>
              <a:t> </a:t>
            </a:r>
            <a:r>
              <a:rPr sz="1800" b="1" dirty="0">
                <a:latin typeface="Calibri"/>
                <a:cs typeface="Calibri"/>
              </a:rPr>
              <a:t>is</a:t>
            </a:r>
            <a:r>
              <a:rPr sz="1800" b="1" spc="75" dirty="0">
                <a:latin typeface="Calibri"/>
                <a:cs typeface="Calibri"/>
              </a:rPr>
              <a:t> </a:t>
            </a:r>
            <a:r>
              <a:rPr sz="1800" b="1" spc="-10" dirty="0">
                <a:latin typeface="Calibri"/>
                <a:cs typeface="Calibri"/>
              </a:rPr>
              <a:t>deflected</a:t>
            </a:r>
            <a:r>
              <a:rPr sz="1800" b="1" spc="75" dirty="0">
                <a:latin typeface="Calibri"/>
                <a:cs typeface="Calibri"/>
              </a:rPr>
              <a:t> </a:t>
            </a:r>
            <a:r>
              <a:rPr sz="1800" b="1" spc="-15" dirty="0">
                <a:latin typeface="Calibri"/>
                <a:cs typeface="Calibri"/>
              </a:rPr>
              <a:t>onto</a:t>
            </a:r>
            <a:r>
              <a:rPr sz="1800" b="1" spc="75" dirty="0">
                <a:latin typeface="Calibri"/>
                <a:cs typeface="Calibri"/>
              </a:rPr>
              <a:t> </a:t>
            </a:r>
            <a:r>
              <a:rPr sz="1800" b="1" spc="-5" dirty="0">
                <a:latin typeface="Calibri"/>
                <a:cs typeface="Calibri"/>
              </a:rPr>
              <a:t>the</a:t>
            </a:r>
            <a:r>
              <a:rPr sz="1800" b="1" spc="75" dirty="0">
                <a:latin typeface="Calibri"/>
                <a:cs typeface="Calibri"/>
              </a:rPr>
              <a:t> </a:t>
            </a:r>
            <a:r>
              <a:rPr sz="1800" b="1" spc="-15" dirty="0">
                <a:latin typeface="Calibri"/>
                <a:cs typeface="Calibri"/>
              </a:rPr>
              <a:t>first</a:t>
            </a:r>
            <a:r>
              <a:rPr sz="1800" b="1" spc="70" dirty="0">
                <a:latin typeface="Calibri"/>
                <a:cs typeface="Calibri"/>
              </a:rPr>
              <a:t> </a:t>
            </a:r>
            <a:r>
              <a:rPr sz="1800" b="1" spc="-5" dirty="0">
                <a:latin typeface="Calibri"/>
                <a:cs typeface="Calibri"/>
              </a:rPr>
              <a:t>dynode,</a:t>
            </a:r>
            <a:r>
              <a:rPr sz="1800" b="1" spc="75" dirty="0">
                <a:latin typeface="Calibri"/>
                <a:cs typeface="Calibri"/>
              </a:rPr>
              <a:t> </a:t>
            </a:r>
            <a:r>
              <a:rPr sz="1800" b="1" spc="-5" dirty="0">
                <a:latin typeface="Calibri"/>
                <a:cs typeface="Calibri"/>
              </a:rPr>
              <a:t>held</a:t>
            </a:r>
            <a:r>
              <a:rPr lang="en-IN" dirty="0">
                <a:latin typeface="Calibri"/>
                <a:cs typeface="Calibri"/>
              </a:rPr>
              <a:t> </a:t>
            </a:r>
            <a:r>
              <a:rPr sz="1800" b="1" spc="-10" dirty="0">
                <a:latin typeface="Calibri"/>
                <a:cs typeface="Calibri"/>
              </a:rPr>
              <a:t>at</a:t>
            </a:r>
            <a:r>
              <a:rPr sz="1800" b="1" spc="-15" dirty="0">
                <a:latin typeface="Calibri"/>
                <a:cs typeface="Calibri"/>
              </a:rPr>
              <a:t> </a:t>
            </a:r>
            <a:r>
              <a:rPr sz="1800" b="1" dirty="0">
                <a:latin typeface="Calibri"/>
                <a:cs typeface="Calibri"/>
              </a:rPr>
              <a:t>a</a:t>
            </a:r>
            <a:r>
              <a:rPr sz="1800" b="1" spc="-10" dirty="0">
                <a:latin typeface="Calibri"/>
                <a:cs typeface="Calibri"/>
              </a:rPr>
              <a:t> </a:t>
            </a:r>
            <a:r>
              <a:rPr sz="1800" b="1" dirty="0">
                <a:latin typeface="Calibri"/>
                <a:cs typeface="Calibri"/>
              </a:rPr>
              <a:t>high</a:t>
            </a:r>
            <a:r>
              <a:rPr sz="1800" b="1" spc="-30" dirty="0">
                <a:latin typeface="Calibri"/>
                <a:cs typeface="Calibri"/>
              </a:rPr>
              <a:t> </a:t>
            </a:r>
            <a:r>
              <a:rPr sz="1800" b="1" spc="-10" dirty="0">
                <a:latin typeface="Calibri"/>
                <a:cs typeface="Calibri"/>
              </a:rPr>
              <a:t>negative</a:t>
            </a:r>
            <a:r>
              <a:rPr sz="1800" b="1" spc="-30" dirty="0">
                <a:latin typeface="Calibri"/>
                <a:cs typeface="Calibri"/>
              </a:rPr>
              <a:t> </a:t>
            </a:r>
            <a:r>
              <a:rPr sz="1800" b="1" spc="-10" dirty="0">
                <a:latin typeface="Calibri"/>
                <a:cs typeface="Calibri"/>
              </a:rPr>
              <a:t>voltage.</a:t>
            </a:r>
            <a:endParaRPr sz="1800" dirty="0">
              <a:latin typeface="Calibri"/>
              <a:cs typeface="Calibri"/>
            </a:endParaRPr>
          </a:p>
          <a:p>
            <a:pPr>
              <a:lnSpc>
                <a:spcPct val="100000"/>
              </a:lnSpc>
              <a:spcBef>
                <a:spcPts val="20"/>
              </a:spcBef>
            </a:pPr>
            <a:endParaRPr sz="1750" dirty="0">
              <a:latin typeface="Calibri"/>
              <a:cs typeface="Calibri"/>
            </a:endParaRPr>
          </a:p>
          <a:p>
            <a:pPr marL="12700" marR="5715">
              <a:lnSpc>
                <a:spcPct val="100000"/>
              </a:lnSpc>
              <a:spcBef>
                <a:spcPts val="5"/>
              </a:spcBef>
              <a:buSzPct val="94444"/>
              <a:buFont typeface="Wingdings"/>
              <a:buChar char=""/>
              <a:tabLst>
                <a:tab pos="193040" algn="l"/>
              </a:tabLst>
            </a:pPr>
            <a:r>
              <a:rPr sz="1800" b="1" spc="-5" dirty="0">
                <a:latin typeface="Calibri"/>
                <a:cs typeface="Calibri"/>
              </a:rPr>
              <a:t>The</a:t>
            </a:r>
            <a:r>
              <a:rPr sz="1800" b="1" spc="285" dirty="0">
                <a:latin typeface="Calibri"/>
                <a:cs typeface="Calibri"/>
              </a:rPr>
              <a:t> </a:t>
            </a:r>
            <a:r>
              <a:rPr sz="1800" b="1" spc="-5" dirty="0">
                <a:latin typeface="Calibri"/>
                <a:cs typeface="Calibri"/>
              </a:rPr>
              <a:t>impact</a:t>
            </a:r>
            <a:r>
              <a:rPr sz="1800" b="1" spc="290" dirty="0">
                <a:latin typeface="Calibri"/>
                <a:cs typeface="Calibri"/>
              </a:rPr>
              <a:t> </a:t>
            </a:r>
            <a:r>
              <a:rPr sz="1800" b="1" spc="-5" dirty="0">
                <a:latin typeface="Calibri"/>
                <a:cs typeface="Calibri"/>
              </a:rPr>
              <a:t>of</a:t>
            </a:r>
            <a:r>
              <a:rPr sz="1800" b="1" spc="290" dirty="0">
                <a:latin typeface="Calibri"/>
                <a:cs typeface="Calibri"/>
              </a:rPr>
              <a:t> </a:t>
            </a:r>
            <a:r>
              <a:rPr sz="1800" b="1" dirty="0">
                <a:latin typeface="Calibri"/>
                <a:cs typeface="Calibri"/>
              </a:rPr>
              <a:t>the</a:t>
            </a:r>
            <a:r>
              <a:rPr sz="1800" b="1" spc="290" dirty="0">
                <a:latin typeface="Calibri"/>
                <a:cs typeface="Calibri"/>
              </a:rPr>
              <a:t> </a:t>
            </a:r>
            <a:r>
              <a:rPr sz="1800" b="1" spc="-5" dirty="0">
                <a:latin typeface="Calibri"/>
                <a:cs typeface="Calibri"/>
              </a:rPr>
              <a:t>ion</a:t>
            </a:r>
            <a:r>
              <a:rPr sz="1800" b="1" spc="285" dirty="0">
                <a:latin typeface="Calibri"/>
                <a:cs typeface="Calibri"/>
              </a:rPr>
              <a:t> </a:t>
            </a:r>
            <a:r>
              <a:rPr sz="1800" b="1" spc="-10" dirty="0">
                <a:latin typeface="Calibri"/>
                <a:cs typeface="Calibri"/>
              </a:rPr>
              <a:t>releases</a:t>
            </a:r>
            <a:r>
              <a:rPr sz="1800" b="1" spc="285" dirty="0">
                <a:latin typeface="Calibri"/>
                <a:cs typeface="Calibri"/>
              </a:rPr>
              <a:t> </a:t>
            </a:r>
            <a:r>
              <a:rPr sz="1800" b="1" spc="-15" dirty="0">
                <a:latin typeface="Calibri"/>
                <a:cs typeface="Calibri"/>
              </a:rPr>
              <a:t>several</a:t>
            </a:r>
            <a:r>
              <a:rPr sz="1800" b="1" spc="285" dirty="0">
                <a:latin typeface="Calibri"/>
                <a:cs typeface="Calibri"/>
              </a:rPr>
              <a:t> </a:t>
            </a:r>
            <a:r>
              <a:rPr sz="1800" b="1" spc="-10" dirty="0">
                <a:latin typeface="Calibri"/>
                <a:cs typeface="Calibri"/>
              </a:rPr>
              <a:t>free</a:t>
            </a:r>
            <a:r>
              <a:rPr sz="1800" b="1" spc="285" dirty="0">
                <a:latin typeface="Calibri"/>
                <a:cs typeface="Calibri"/>
              </a:rPr>
              <a:t> </a:t>
            </a:r>
            <a:r>
              <a:rPr sz="1800" b="1" spc="-10" dirty="0">
                <a:latin typeface="Calibri"/>
                <a:cs typeface="Calibri"/>
              </a:rPr>
              <a:t>electrons</a:t>
            </a:r>
            <a:r>
              <a:rPr sz="1800" b="1" spc="290" dirty="0">
                <a:latin typeface="Calibri"/>
                <a:cs typeface="Calibri"/>
              </a:rPr>
              <a:t> </a:t>
            </a:r>
            <a:r>
              <a:rPr sz="1800" b="1" spc="-10" dirty="0">
                <a:latin typeface="Calibri"/>
                <a:cs typeface="Calibri"/>
              </a:rPr>
              <a:t>from</a:t>
            </a:r>
            <a:r>
              <a:rPr sz="1800" b="1" spc="285" dirty="0">
                <a:latin typeface="Calibri"/>
                <a:cs typeface="Calibri"/>
              </a:rPr>
              <a:t> </a:t>
            </a:r>
            <a:r>
              <a:rPr sz="1800" b="1" dirty="0">
                <a:latin typeface="Calibri"/>
                <a:cs typeface="Calibri"/>
              </a:rPr>
              <a:t>the</a:t>
            </a:r>
            <a:r>
              <a:rPr sz="1800" b="1" spc="285" dirty="0">
                <a:latin typeface="Calibri"/>
                <a:cs typeface="Calibri"/>
              </a:rPr>
              <a:t> </a:t>
            </a:r>
            <a:r>
              <a:rPr sz="1800" b="1" spc="-5" dirty="0">
                <a:latin typeface="Calibri"/>
                <a:cs typeface="Calibri"/>
              </a:rPr>
              <a:t>dynode</a:t>
            </a:r>
            <a:r>
              <a:rPr sz="1800" b="1" spc="290" dirty="0">
                <a:latin typeface="Calibri"/>
                <a:cs typeface="Calibri"/>
              </a:rPr>
              <a:t> </a:t>
            </a:r>
            <a:r>
              <a:rPr sz="1800" b="1" spc="-5" dirty="0">
                <a:latin typeface="Calibri"/>
                <a:cs typeface="Calibri"/>
              </a:rPr>
              <a:t>surface,</a:t>
            </a:r>
            <a:r>
              <a:rPr sz="1800" b="1" spc="275" dirty="0">
                <a:latin typeface="Calibri"/>
                <a:cs typeface="Calibri"/>
              </a:rPr>
              <a:t> </a:t>
            </a:r>
            <a:r>
              <a:rPr sz="1800" b="1" spc="-5" dirty="0">
                <a:latin typeface="Calibri"/>
                <a:cs typeface="Calibri"/>
              </a:rPr>
              <a:t>which</a:t>
            </a:r>
            <a:r>
              <a:rPr sz="1800" b="1" spc="285" dirty="0">
                <a:latin typeface="Calibri"/>
                <a:cs typeface="Calibri"/>
              </a:rPr>
              <a:t> </a:t>
            </a:r>
            <a:r>
              <a:rPr sz="1800" b="1" spc="-15" dirty="0">
                <a:latin typeface="Calibri"/>
                <a:cs typeface="Calibri"/>
              </a:rPr>
              <a:t>are </a:t>
            </a:r>
            <a:r>
              <a:rPr sz="1800" b="1" spc="-390" dirty="0">
                <a:latin typeface="Calibri"/>
                <a:cs typeface="Calibri"/>
              </a:rPr>
              <a:t> </a:t>
            </a:r>
            <a:r>
              <a:rPr sz="1800" b="1" spc="-10" dirty="0">
                <a:latin typeface="Calibri"/>
                <a:cs typeface="Calibri"/>
              </a:rPr>
              <a:t>repelled</a:t>
            </a:r>
            <a:r>
              <a:rPr sz="1800" b="1" spc="-25" dirty="0">
                <a:latin typeface="Calibri"/>
                <a:cs typeface="Calibri"/>
              </a:rPr>
              <a:t> </a:t>
            </a:r>
            <a:r>
              <a:rPr sz="1800" b="1" spc="-10" dirty="0">
                <a:latin typeface="Calibri"/>
                <a:cs typeface="Calibri"/>
              </a:rPr>
              <a:t>from</a:t>
            </a:r>
            <a:r>
              <a:rPr sz="1800" b="1" dirty="0">
                <a:latin typeface="Calibri"/>
                <a:cs typeface="Calibri"/>
              </a:rPr>
              <a:t> the</a:t>
            </a:r>
            <a:r>
              <a:rPr sz="1800" b="1" spc="-5" dirty="0">
                <a:latin typeface="Calibri"/>
                <a:cs typeface="Calibri"/>
              </a:rPr>
              <a:t> </a:t>
            </a:r>
            <a:r>
              <a:rPr sz="1800" b="1" dirty="0">
                <a:latin typeface="Calibri"/>
                <a:cs typeface="Calibri"/>
              </a:rPr>
              <a:t>high</a:t>
            </a:r>
            <a:r>
              <a:rPr sz="1800" b="1" spc="-15" dirty="0">
                <a:latin typeface="Calibri"/>
                <a:cs typeface="Calibri"/>
              </a:rPr>
              <a:t> </a:t>
            </a:r>
            <a:r>
              <a:rPr sz="1800" b="1" spc="-10" dirty="0">
                <a:latin typeface="Calibri"/>
                <a:cs typeface="Calibri"/>
              </a:rPr>
              <a:t>negative</a:t>
            </a:r>
            <a:r>
              <a:rPr sz="1800" b="1" spc="-25" dirty="0">
                <a:latin typeface="Calibri"/>
                <a:cs typeface="Calibri"/>
              </a:rPr>
              <a:t> </a:t>
            </a:r>
            <a:r>
              <a:rPr sz="1800" b="1" spc="-10" dirty="0">
                <a:latin typeface="Calibri"/>
                <a:cs typeface="Calibri"/>
              </a:rPr>
              <a:t>voltage</a:t>
            </a:r>
            <a:r>
              <a:rPr sz="1800" b="1" spc="-15" dirty="0">
                <a:latin typeface="Calibri"/>
                <a:cs typeface="Calibri"/>
              </a:rPr>
              <a:t> </a:t>
            </a:r>
            <a:r>
              <a:rPr sz="1800" b="1" spc="-10" dirty="0">
                <a:latin typeface="Calibri"/>
                <a:cs typeface="Calibri"/>
              </a:rPr>
              <a:t>at</a:t>
            </a:r>
            <a:r>
              <a:rPr sz="1800" b="1" spc="5" dirty="0">
                <a:latin typeface="Calibri"/>
                <a:cs typeface="Calibri"/>
              </a:rPr>
              <a:t> </a:t>
            </a:r>
            <a:r>
              <a:rPr sz="1800" b="1" dirty="0">
                <a:latin typeface="Calibri"/>
                <a:cs typeface="Calibri"/>
              </a:rPr>
              <a:t>the </a:t>
            </a:r>
            <a:r>
              <a:rPr sz="1800" b="1" spc="-15" dirty="0">
                <a:latin typeface="Calibri"/>
                <a:cs typeface="Calibri"/>
              </a:rPr>
              <a:t>front</a:t>
            </a:r>
            <a:r>
              <a:rPr sz="1800" b="1" dirty="0">
                <a:latin typeface="Calibri"/>
                <a:cs typeface="Calibri"/>
              </a:rPr>
              <a:t> </a:t>
            </a:r>
            <a:r>
              <a:rPr sz="1800" b="1" spc="-5" dirty="0">
                <a:latin typeface="Calibri"/>
                <a:cs typeface="Calibri"/>
              </a:rPr>
              <a:t>and</a:t>
            </a:r>
            <a:r>
              <a:rPr sz="1800" b="1" dirty="0">
                <a:latin typeface="Calibri"/>
                <a:cs typeface="Calibri"/>
              </a:rPr>
              <a:t> </a:t>
            </a:r>
            <a:r>
              <a:rPr sz="1800" b="1" spc="-15" dirty="0">
                <a:latin typeface="Calibri"/>
                <a:cs typeface="Calibri"/>
              </a:rPr>
              <a:t>strike</a:t>
            </a:r>
            <a:r>
              <a:rPr sz="1800" b="1" spc="-10" dirty="0">
                <a:latin typeface="Calibri"/>
                <a:cs typeface="Calibri"/>
              </a:rPr>
              <a:t> </a:t>
            </a:r>
            <a:r>
              <a:rPr sz="1800" b="1" dirty="0">
                <a:latin typeface="Calibri"/>
                <a:cs typeface="Calibri"/>
              </a:rPr>
              <a:t>the</a:t>
            </a:r>
            <a:r>
              <a:rPr sz="1800" b="1" spc="-25" dirty="0">
                <a:latin typeface="Calibri"/>
                <a:cs typeface="Calibri"/>
              </a:rPr>
              <a:t> </a:t>
            </a:r>
            <a:r>
              <a:rPr sz="1800" b="1" spc="-10" dirty="0">
                <a:latin typeface="Calibri"/>
                <a:cs typeface="Calibri"/>
              </a:rPr>
              <a:t>next</a:t>
            </a:r>
            <a:r>
              <a:rPr sz="1800" b="1" dirty="0">
                <a:latin typeface="Calibri"/>
                <a:cs typeface="Calibri"/>
              </a:rPr>
              <a:t> </a:t>
            </a:r>
            <a:r>
              <a:rPr sz="1800" b="1" spc="-5" dirty="0">
                <a:latin typeface="Calibri"/>
                <a:cs typeface="Calibri"/>
              </a:rPr>
              <a:t>dynode.</a:t>
            </a:r>
            <a:endParaRPr sz="1800" dirty="0">
              <a:latin typeface="Calibri"/>
              <a:cs typeface="Calibri"/>
            </a:endParaRPr>
          </a:p>
          <a:p>
            <a:pPr>
              <a:lnSpc>
                <a:spcPct val="100000"/>
              </a:lnSpc>
              <a:spcBef>
                <a:spcPts val="20"/>
              </a:spcBef>
              <a:buClr>
                <a:srgbClr val="0000FF"/>
              </a:buClr>
              <a:buFont typeface="Wingdings"/>
              <a:buChar char=""/>
            </a:pPr>
            <a:endParaRPr sz="1750" dirty="0">
              <a:latin typeface="Calibri"/>
              <a:cs typeface="Calibri"/>
            </a:endParaRPr>
          </a:p>
          <a:p>
            <a:pPr marL="12700" marR="5715" algn="just">
              <a:lnSpc>
                <a:spcPct val="100000"/>
              </a:lnSpc>
              <a:buSzPct val="94444"/>
              <a:buFont typeface="Wingdings"/>
              <a:buChar char=""/>
              <a:tabLst>
                <a:tab pos="243840" algn="l"/>
              </a:tabLst>
            </a:pPr>
            <a:r>
              <a:rPr sz="1800" b="1" spc="-10" dirty="0">
                <a:latin typeface="Calibri"/>
                <a:cs typeface="Calibri"/>
              </a:rPr>
              <a:t>Each electron </a:t>
            </a:r>
            <a:r>
              <a:rPr sz="1800" b="1" spc="-5" dirty="0">
                <a:latin typeface="Calibri"/>
                <a:cs typeface="Calibri"/>
              </a:rPr>
              <a:t>which </a:t>
            </a:r>
            <a:r>
              <a:rPr sz="1800" b="1" spc="-15" dirty="0">
                <a:latin typeface="Calibri"/>
                <a:cs typeface="Calibri"/>
              </a:rPr>
              <a:t>strikes </a:t>
            </a:r>
            <a:r>
              <a:rPr sz="1800" b="1" dirty="0">
                <a:latin typeface="Calibri"/>
                <a:cs typeface="Calibri"/>
              </a:rPr>
              <a:t>a </a:t>
            </a:r>
            <a:r>
              <a:rPr sz="1800" b="1" spc="-5" dirty="0">
                <a:latin typeface="Calibri"/>
                <a:cs typeface="Calibri"/>
              </a:rPr>
              <a:t>dynode </a:t>
            </a:r>
            <a:r>
              <a:rPr sz="1800" b="1" spc="-10" dirty="0">
                <a:latin typeface="Calibri"/>
                <a:cs typeface="Calibri"/>
              </a:rPr>
              <a:t>releases </a:t>
            </a:r>
            <a:r>
              <a:rPr sz="1800" b="1" spc="-15" dirty="0">
                <a:latin typeface="Calibri"/>
                <a:cs typeface="Calibri"/>
              </a:rPr>
              <a:t>several </a:t>
            </a:r>
            <a:r>
              <a:rPr sz="1800" b="1" spc="-10" dirty="0">
                <a:latin typeface="Calibri"/>
                <a:cs typeface="Calibri"/>
              </a:rPr>
              <a:t>electrons from </a:t>
            </a:r>
            <a:r>
              <a:rPr sz="1800" b="1" spc="-5" dirty="0">
                <a:latin typeface="Calibri"/>
                <a:cs typeface="Calibri"/>
              </a:rPr>
              <a:t>that surface and </a:t>
            </a:r>
            <a:r>
              <a:rPr sz="1800" b="1" spc="-10" dirty="0">
                <a:latin typeface="Calibri"/>
                <a:cs typeface="Calibri"/>
              </a:rPr>
              <a:t>hence </a:t>
            </a:r>
            <a:r>
              <a:rPr sz="1800" b="1" spc="-5" dirty="0">
                <a:latin typeface="Calibri"/>
                <a:cs typeface="Calibri"/>
              </a:rPr>
              <a:t> </a:t>
            </a:r>
            <a:r>
              <a:rPr sz="1800" b="1" dirty="0">
                <a:latin typeface="Calibri"/>
                <a:cs typeface="Calibri"/>
              </a:rPr>
              <a:t>the</a:t>
            </a:r>
            <a:r>
              <a:rPr sz="1800" b="1" spc="5" dirty="0">
                <a:latin typeface="Calibri"/>
                <a:cs typeface="Calibri"/>
              </a:rPr>
              <a:t> </a:t>
            </a:r>
            <a:r>
              <a:rPr sz="1800" b="1" spc="-10" dirty="0">
                <a:latin typeface="Calibri"/>
                <a:cs typeface="Calibri"/>
              </a:rPr>
              <a:t>device</a:t>
            </a:r>
            <a:r>
              <a:rPr sz="1800" b="1" spc="-5" dirty="0">
                <a:latin typeface="Calibri"/>
                <a:cs typeface="Calibri"/>
              </a:rPr>
              <a:t> is</a:t>
            </a:r>
            <a:r>
              <a:rPr sz="1800" b="1" dirty="0">
                <a:latin typeface="Calibri"/>
                <a:cs typeface="Calibri"/>
              </a:rPr>
              <a:t> </a:t>
            </a:r>
            <a:r>
              <a:rPr sz="1800" b="1" spc="-10" dirty="0">
                <a:latin typeface="Calibri"/>
                <a:cs typeface="Calibri"/>
              </a:rPr>
              <a:t>called</a:t>
            </a:r>
            <a:r>
              <a:rPr sz="1800" b="1" spc="-5" dirty="0">
                <a:latin typeface="Calibri"/>
                <a:cs typeface="Calibri"/>
              </a:rPr>
              <a:t> </a:t>
            </a:r>
            <a:r>
              <a:rPr sz="1800" b="1" spc="-10" dirty="0">
                <a:latin typeface="Calibri"/>
                <a:cs typeface="Calibri"/>
              </a:rPr>
              <a:t>"electron</a:t>
            </a:r>
            <a:r>
              <a:rPr sz="1800" b="1" spc="-5" dirty="0">
                <a:latin typeface="Calibri"/>
                <a:cs typeface="Calibri"/>
              </a:rPr>
              <a:t> </a:t>
            </a:r>
            <a:r>
              <a:rPr sz="1800" b="1" spc="-10" dirty="0">
                <a:latin typeface="Calibri"/>
                <a:cs typeface="Calibri"/>
              </a:rPr>
              <a:t>multiplier".</a:t>
            </a:r>
            <a:r>
              <a:rPr sz="1800" b="1" spc="-5" dirty="0">
                <a:latin typeface="Calibri"/>
                <a:cs typeface="Calibri"/>
              </a:rPr>
              <a:t> The</a:t>
            </a:r>
            <a:r>
              <a:rPr sz="1800" b="1" dirty="0">
                <a:latin typeface="Calibri"/>
                <a:cs typeface="Calibri"/>
              </a:rPr>
              <a:t> </a:t>
            </a:r>
            <a:r>
              <a:rPr sz="1800" b="1" spc="-10" dirty="0">
                <a:latin typeface="Calibri"/>
                <a:cs typeface="Calibri"/>
              </a:rPr>
              <a:t>multiplication</a:t>
            </a:r>
            <a:r>
              <a:rPr sz="1800" b="1" spc="-5" dirty="0">
                <a:latin typeface="Calibri"/>
                <a:cs typeface="Calibri"/>
              </a:rPr>
              <a:t> </a:t>
            </a:r>
            <a:r>
              <a:rPr sz="1800" b="1" spc="-10" dirty="0">
                <a:latin typeface="Calibri"/>
                <a:cs typeface="Calibri"/>
              </a:rPr>
              <a:t>factor</a:t>
            </a:r>
            <a:r>
              <a:rPr sz="1800" b="1" spc="-5" dirty="0">
                <a:latin typeface="Calibri"/>
                <a:cs typeface="Calibri"/>
              </a:rPr>
              <a:t> builds</a:t>
            </a:r>
            <a:r>
              <a:rPr sz="1800" b="1" dirty="0">
                <a:latin typeface="Calibri"/>
                <a:cs typeface="Calibri"/>
              </a:rPr>
              <a:t> up</a:t>
            </a:r>
            <a:r>
              <a:rPr sz="1800" b="1" spc="5" dirty="0">
                <a:latin typeface="Calibri"/>
                <a:cs typeface="Calibri"/>
              </a:rPr>
              <a:t> </a:t>
            </a:r>
            <a:r>
              <a:rPr sz="1800" b="1" dirty="0">
                <a:latin typeface="Calibri"/>
                <a:cs typeface="Calibri"/>
              </a:rPr>
              <a:t>a</a:t>
            </a:r>
            <a:r>
              <a:rPr sz="1800" b="1" spc="5" dirty="0">
                <a:latin typeface="Calibri"/>
                <a:cs typeface="Calibri"/>
              </a:rPr>
              <a:t> </a:t>
            </a:r>
            <a:r>
              <a:rPr sz="1800" b="1" spc="-5" dirty="0">
                <a:latin typeface="Calibri"/>
                <a:cs typeface="Calibri"/>
              </a:rPr>
              <a:t>pulse</a:t>
            </a:r>
            <a:r>
              <a:rPr sz="1800" b="1" dirty="0">
                <a:latin typeface="Calibri"/>
                <a:cs typeface="Calibri"/>
              </a:rPr>
              <a:t> </a:t>
            </a:r>
            <a:r>
              <a:rPr sz="1800" b="1" spc="-15" dirty="0">
                <a:latin typeface="Calibri"/>
                <a:cs typeface="Calibri"/>
              </a:rPr>
              <a:t>large </a:t>
            </a:r>
            <a:r>
              <a:rPr sz="1800" b="1" spc="-395" dirty="0">
                <a:latin typeface="Calibri"/>
                <a:cs typeface="Calibri"/>
              </a:rPr>
              <a:t> </a:t>
            </a:r>
            <a:r>
              <a:rPr sz="1800" b="1" spc="-5" dirty="0">
                <a:latin typeface="Calibri"/>
                <a:cs typeface="Calibri"/>
              </a:rPr>
              <a:t>enough</a:t>
            </a:r>
            <a:r>
              <a:rPr sz="1800" b="1" spc="-10" dirty="0">
                <a:latin typeface="Calibri"/>
                <a:cs typeface="Calibri"/>
              </a:rPr>
              <a:t> to</a:t>
            </a:r>
            <a:r>
              <a:rPr sz="1800" b="1" spc="-15" dirty="0">
                <a:latin typeface="Calibri"/>
                <a:cs typeface="Calibri"/>
              </a:rPr>
              <a:t> </a:t>
            </a:r>
            <a:r>
              <a:rPr sz="1800" b="1" dirty="0">
                <a:latin typeface="Calibri"/>
                <a:cs typeface="Calibri"/>
              </a:rPr>
              <a:t>be</a:t>
            </a:r>
            <a:r>
              <a:rPr sz="1800" b="1" spc="-10" dirty="0">
                <a:latin typeface="Calibri"/>
                <a:cs typeface="Calibri"/>
              </a:rPr>
              <a:t> measured</a:t>
            </a:r>
            <a:r>
              <a:rPr sz="1800" b="1" spc="-15" dirty="0">
                <a:latin typeface="Calibri"/>
                <a:cs typeface="Calibri"/>
              </a:rPr>
              <a:t> </a:t>
            </a:r>
            <a:r>
              <a:rPr sz="1800" b="1" spc="-10" dirty="0">
                <a:latin typeface="Calibri"/>
                <a:cs typeface="Calibri"/>
              </a:rPr>
              <a:t>reliably</a:t>
            </a:r>
            <a:r>
              <a:rPr sz="1800" b="1" dirty="0">
                <a:latin typeface="Calibri"/>
                <a:cs typeface="Calibri"/>
              </a:rPr>
              <a:t> </a:t>
            </a:r>
            <a:r>
              <a:rPr sz="1800" b="1" spc="-5" dirty="0">
                <a:latin typeface="Calibri"/>
                <a:cs typeface="Calibri"/>
              </a:rPr>
              <a:t>as</a:t>
            </a:r>
            <a:r>
              <a:rPr sz="1800" b="1" spc="-25" dirty="0">
                <a:latin typeface="Calibri"/>
                <a:cs typeface="Calibri"/>
              </a:rPr>
              <a:t> </a:t>
            </a:r>
            <a:r>
              <a:rPr sz="1800" b="1" spc="-5" dirty="0">
                <a:latin typeface="Calibri"/>
                <a:cs typeface="Calibri"/>
              </a:rPr>
              <a:t>an</a:t>
            </a:r>
            <a:r>
              <a:rPr sz="1800" b="1" spc="5" dirty="0">
                <a:latin typeface="Calibri"/>
                <a:cs typeface="Calibri"/>
              </a:rPr>
              <a:t> </a:t>
            </a:r>
            <a:r>
              <a:rPr sz="1800" b="1" dirty="0">
                <a:latin typeface="Calibri"/>
                <a:cs typeface="Calibri"/>
              </a:rPr>
              <a:t>ion</a:t>
            </a:r>
            <a:r>
              <a:rPr sz="1800" b="1" spc="-15" dirty="0">
                <a:latin typeface="Calibri"/>
                <a:cs typeface="Calibri"/>
              </a:rPr>
              <a:t> </a:t>
            </a:r>
            <a:r>
              <a:rPr sz="1800" b="1" spc="-5" dirty="0">
                <a:latin typeface="Calibri"/>
                <a:cs typeface="Calibri"/>
              </a:rPr>
              <a:t>"count".</a:t>
            </a:r>
            <a:endParaRPr sz="1800" dirty="0">
              <a:latin typeface="Calibri"/>
              <a:cs typeface="Calibri"/>
            </a:endParaRPr>
          </a:p>
        </p:txBody>
      </p:sp>
    </p:spTree>
  </p:cSld>
  <p:clrMapOvr>
    <a:masterClrMapping/>
  </p:clrMapOvr>
  <p:transition>
    <p:wipe dir="d"/>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7F685-D34E-0A50-154E-C341478614B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7C6C32-17C2-6F90-E5FA-60B86AF2E91F}"/>
              </a:ext>
            </a:extLst>
          </p:cNvPr>
          <p:cNvSpPr txBox="1"/>
          <p:nvPr/>
        </p:nvSpPr>
        <p:spPr>
          <a:xfrm>
            <a:off x="7467600" y="1143000"/>
            <a:ext cx="184731" cy="646331"/>
          </a:xfrm>
          <a:prstGeom prst="rect">
            <a:avLst/>
          </a:prstGeom>
          <a:noFill/>
        </p:spPr>
        <p:txBody>
          <a:bodyPr wrap="none" rtlCol="0">
            <a:spAutoFit/>
          </a:bodyPr>
          <a:lstStyle/>
          <a:p>
            <a:endParaRPr lang="en-IN" dirty="0"/>
          </a:p>
          <a:p>
            <a:endParaRPr lang="en-IN" dirty="0"/>
          </a:p>
        </p:txBody>
      </p:sp>
      <p:sp>
        <p:nvSpPr>
          <p:cNvPr id="8" name="TextBox 7">
            <a:extLst>
              <a:ext uri="{FF2B5EF4-FFF2-40B4-BE49-F238E27FC236}">
                <a16:creationId xmlns:a16="http://schemas.microsoft.com/office/drawing/2014/main" id="{B4D12C7C-5B69-7642-7BE4-B0BA0428A6B0}"/>
              </a:ext>
            </a:extLst>
          </p:cNvPr>
          <p:cNvSpPr txBox="1"/>
          <p:nvPr/>
        </p:nvSpPr>
        <p:spPr>
          <a:xfrm>
            <a:off x="1066800" y="0"/>
            <a:ext cx="8077200" cy="954107"/>
          </a:xfrm>
          <a:prstGeom prst="rect">
            <a:avLst/>
          </a:prstGeom>
          <a:noFill/>
        </p:spPr>
        <p:txBody>
          <a:bodyPr wrap="square" rtlCol="0">
            <a:spAutoFit/>
          </a:bodyPr>
          <a:lstStyle/>
          <a:p>
            <a:pPr algn="ctr"/>
            <a:r>
              <a:rPr lang="en-IN" sz="2800" b="1" i="0" u="sng" strike="noStrike" baseline="0" dirty="0">
                <a:latin typeface="Times New Roman" panose="02020603050405020304" pitchFamily="18" charset="0"/>
              </a:rPr>
              <a:t>Spectral Interferences – I</a:t>
            </a:r>
          </a:p>
          <a:p>
            <a:pPr algn="ctr"/>
            <a:r>
              <a:rPr lang="en-US" sz="1800" b="1" i="0" u="none" strike="noStrike" baseline="0" dirty="0">
                <a:solidFill>
                  <a:srgbClr val="0000FF"/>
                </a:solidFill>
                <a:latin typeface="Times New Roman" panose="02020603050405020304" pitchFamily="18" charset="0"/>
              </a:rPr>
              <a:t>Probably most serious type of interferences observed in ICP-MS </a:t>
            </a:r>
            <a:r>
              <a:rPr lang="en-IN" sz="2800" b="1" i="0" u="sng" strike="noStrike" baseline="0" dirty="0">
                <a:latin typeface="Times New Roman" panose="02020603050405020304" pitchFamily="18" charset="0"/>
              </a:rPr>
              <a:t> </a:t>
            </a:r>
            <a:endParaRPr lang="en-IN" sz="3200" u="sng"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5F8DFBD-DB96-4FD2-DB2E-328DBD0C2AD1}"/>
              </a:ext>
            </a:extLst>
          </p:cNvPr>
          <p:cNvSpPr txBox="1"/>
          <p:nvPr/>
        </p:nvSpPr>
        <p:spPr>
          <a:xfrm>
            <a:off x="1061936" y="1156527"/>
            <a:ext cx="3901688" cy="4370427"/>
          </a:xfrm>
          <a:prstGeom prst="rect">
            <a:avLst/>
          </a:prstGeom>
          <a:noFill/>
        </p:spPr>
        <p:txBody>
          <a:bodyPr wrap="square" rtlCol="0">
            <a:spAutoFit/>
          </a:bodyPr>
          <a:lstStyle/>
          <a:p>
            <a:pPr marL="285750" indent="-285750" algn="just">
              <a:buFont typeface="Wingdings" panose="05000000000000000000" pitchFamily="2" charset="2"/>
              <a:buChar char="Ø"/>
            </a:pPr>
            <a:r>
              <a:rPr lang="en-US" sz="1800" b="1" i="0" u="none" strike="noStrike" baseline="0" dirty="0">
                <a:latin typeface="Times New Roman" panose="02020603050405020304" pitchFamily="18" charset="0"/>
              </a:rPr>
              <a:t>Polyatomic or molecular spectral interferences: </a:t>
            </a:r>
            <a:r>
              <a:rPr lang="en-US" sz="1600" b="0" i="0" u="none" strike="noStrike" baseline="0" dirty="0">
                <a:latin typeface="Times New Roman" panose="02020603050405020304" pitchFamily="18" charset="0"/>
              </a:rPr>
              <a:t>produced by the combination of two or more atomic ions derived from the</a:t>
            </a:r>
          </a:p>
          <a:p>
            <a:pPr marL="400050" indent="-400050" algn="just">
              <a:buFont typeface="+mj-lt"/>
              <a:buAutoNum type="romanLcPeriod"/>
            </a:pPr>
            <a:r>
              <a:rPr lang="pt-BR" sz="1600" b="0" i="0" u="none" strike="noStrike" baseline="0" dirty="0">
                <a:latin typeface="Times New Roman" panose="02020603050405020304" pitchFamily="18" charset="0"/>
              </a:rPr>
              <a:t>Plasma / nebulizer gas (e.g.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Ca</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a:t>
            </a:r>
            <a:r>
              <a:rPr lang="pt-BR" sz="1600" b="0" i="0" u="none" strike="noStrike" baseline="30000" dirty="0">
                <a:latin typeface="Times New Roman" panose="02020603050405020304" pitchFamily="18" charset="0"/>
              </a:rPr>
              <a:t>+ </a:t>
            </a:r>
            <a:r>
              <a:rPr lang="pt-BR" sz="1600" b="0" i="0" u="none" strike="noStrike" baseline="0" dirty="0">
                <a:latin typeface="Times New Roman" panose="02020603050405020304" pitchFamily="18" charset="0"/>
              </a:rPr>
              <a:t>vs </a:t>
            </a:r>
            <a:r>
              <a:rPr lang="pt-BR" sz="1600" b="0" i="0" u="none" strike="noStrike" baseline="30000" dirty="0">
                <a:latin typeface="Times New Roman" panose="02020603050405020304" pitchFamily="18" charset="0"/>
              </a:rPr>
              <a:t>56</a:t>
            </a:r>
            <a:r>
              <a:rPr lang="pt-BR" sz="1600" b="0" i="0" u="none" strike="noStrike" baseline="0" dirty="0">
                <a:latin typeface="Times New Roman" panose="02020603050405020304" pitchFamily="18" charset="0"/>
              </a:rPr>
              <a:t>Fe</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80</a:t>
            </a:r>
            <a:r>
              <a:rPr lang="pt-BR" sz="1600" b="0" i="0" u="none" strike="noStrike" baseline="0" dirty="0">
                <a:latin typeface="Times New Roman" panose="02020603050405020304" pitchFamily="18" charset="0"/>
              </a:rPr>
              <a:t>Se</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38</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a:t>
            </a:r>
            <a:r>
              <a:rPr lang="pt-BR" sz="1600" b="0" i="0" u="none" strike="noStrike" baseline="0" dirty="0">
                <a:latin typeface="Times New Roman" panose="02020603050405020304" pitchFamily="18" charset="0"/>
              </a:rPr>
              <a:t>H</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39</a:t>
            </a:r>
            <a:r>
              <a:rPr lang="pt-BR" sz="1600" b="0" i="0" u="none" strike="noStrike" baseline="0" dirty="0">
                <a:latin typeface="Times New Roman" panose="02020603050405020304" pitchFamily="18" charset="0"/>
              </a:rPr>
              <a:t>K</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etc.)</a:t>
            </a:r>
          </a:p>
          <a:p>
            <a:pPr marL="400050" indent="-400050" algn="just">
              <a:buFont typeface="+mj-lt"/>
              <a:buAutoNum type="romanLcPeriod"/>
            </a:pPr>
            <a:r>
              <a:rPr lang="en-IN" sz="1600" b="0" i="0" u="none" strike="noStrike" baseline="0" dirty="0">
                <a:latin typeface="Times New Roman" panose="02020603050405020304" pitchFamily="18" charset="0"/>
              </a:rPr>
              <a:t>Matrix components in the sample (e.g. </a:t>
            </a:r>
            <a:r>
              <a:rPr lang="en-IN" sz="1600" b="0" i="0" u="none" strike="noStrike" baseline="30000" dirty="0">
                <a:latin typeface="Times New Roman" panose="02020603050405020304" pitchFamily="18" charset="0"/>
              </a:rPr>
              <a:t>40</a:t>
            </a:r>
            <a:r>
              <a:rPr lang="en-IN" sz="1600" b="0" i="0" u="none" strike="noStrike" baseline="0" dirty="0">
                <a:latin typeface="Times New Roman" panose="02020603050405020304" pitchFamily="18" charset="0"/>
              </a:rPr>
              <a:t>Ar</a:t>
            </a:r>
            <a:r>
              <a:rPr lang="en-IN" sz="1600" b="0" i="0" u="none" strike="noStrike" baseline="30000" dirty="0">
                <a:latin typeface="Times New Roman" panose="02020603050405020304" pitchFamily="18" charset="0"/>
              </a:rPr>
              <a:t>23</a:t>
            </a:r>
            <a:r>
              <a:rPr lang="en-IN" sz="1600" b="0" i="0" u="none" strike="noStrike" baseline="0" dirty="0">
                <a:latin typeface="Times New Roman" panose="02020603050405020304" pitchFamily="18" charset="0"/>
              </a:rPr>
              <a:t>Na</a:t>
            </a:r>
            <a:r>
              <a:rPr lang="en-IN" sz="1600" b="0" i="0" u="none" strike="noStrike" baseline="30000" dirty="0">
                <a:latin typeface="Times New Roman" panose="02020603050405020304" pitchFamily="18" charset="0"/>
              </a:rPr>
              <a:t>+</a:t>
            </a:r>
            <a:r>
              <a:rPr lang="en-IN" sz="1600" b="0" i="0" u="none" strike="noStrike" baseline="0" dirty="0">
                <a:latin typeface="Times New Roman" panose="02020603050405020304" pitchFamily="18" charset="0"/>
              </a:rPr>
              <a:t> vs </a:t>
            </a:r>
            <a:r>
              <a:rPr lang="en-IN" sz="1600" b="0" i="0" u="none" strike="noStrike" baseline="30000" dirty="0">
                <a:latin typeface="Times New Roman" panose="02020603050405020304" pitchFamily="18" charset="0"/>
              </a:rPr>
              <a:t>63</a:t>
            </a:r>
            <a:r>
              <a:rPr lang="en-IN" sz="1600" b="0" i="0" u="none" strike="noStrike" baseline="0" dirty="0">
                <a:latin typeface="Times New Roman" panose="02020603050405020304" pitchFamily="18" charset="0"/>
              </a:rPr>
              <a:t>Cu</a:t>
            </a:r>
            <a:r>
              <a:rPr lang="en-IN" sz="1600" b="0" i="0" u="none" strike="noStrike" baseline="30000" dirty="0">
                <a:latin typeface="Times New Roman" panose="02020603050405020304" pitchFamily="18" charset="0"/>
              </a:rPr>
              <a:t>+</a:t>
            </a:r>
            <a:r>
              <a:rPr lang="en-IN" sz="1600" b="0" i="0" u="none" strike="noStrike" baseline="0" dirty="0">
                <a:latin typeface="Times New Roman" panose="02020603050405020304" pitchFamily="18" charset="0"/>
              </a:rPr>
              <a:t>; etc. )</a:t>
            </a:r>
          </a:p>
          <a:p>
            <a:pPr marL="400050" indent="-400050" algn="just">
              <a:buFont typeface="+mj-lt"/>
              <a:buAutoNum type="romanLcPeriod"/>
            </a:pPr>
            <a:r>
              <a:rPr lang="pt-BR" sz="1600" b="0" i="0" u="none" strike="noStrike" baseline="0" dirty="0">
                <a:latin typeface="Times New Roman" panose="02020603050405020304" pitchFamily="18" charset="0"/>
              </a:rPr>
              <a:t>Solvent or acid used in the sample preparation (e.g.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12</a:t>
            </a:r>
            <a:r>
              <a:rPr lang="pt-BR" sz="1600" b="0" i="0" u="none" strike="noStrike" baseline="0" dirty="0">
                <a:latin typeface="Times New Roman" panose="02020603050405020304" pitchFamily="18" charset="0"/>
              </a:rPr>
              <a:t>C</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52</a:t>
            </a:r>
            <a:r>
              <a:rPr lang="pt-BR" sz="1600" b="0" i="0" u="none" strike="noStrike" baseline="0" dirty="0">
                <a:latin typeface="Times New Roman" panose="02020603050405020304" pitchFamily="18" charset="0"/>
              </a:rPr>
              <a:t>Cr</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35</a:t>
            </a:r>
            <a:r>
              <a:rPr lang="pt-BR" sz="1600" b="0" i="0" u="none" strike="noStrike" baseline="0" dirty="0">
                <a:latin typeface="Times New Roman" panose="02020603050405020304" pitchFamily="18" charset="0"/>
              </a:rPr>
              <a:t>Cl</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75</a:t>
            </a:r>
            <a:r>
              <a:rPr lang="pt-BR" sz="1600" b="0" i="0" u="none" strike="noStrike" baseline="0" dirty="0">
                <a:latin typeface="Times New Roman" panose="02020603050405020304" pitchFamily="18" charset="0"/>
              </a:rPr>
              <a:t>As</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35</a:t>
            </a:r>
            <a:r>
              <a:rPr lang="pt-BR" sz="1600" b="0" i="0" u="none" strike="noStrike" baseline="0" dirty="0">
                <a:latin typeface="Times New Roman" panose="02020603050405020304" pitchFamily="18" charset="0"/>
              </a:rPr>
              <a:t>Cl</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 vs </a:t>
            </a:r>
            <a:r>
              <a:rPr lang="pt-BR" sz="1600" b="0" i="0" u="none" strike="noStrike" baseline="30000" dirty="0">
                <a:latin typeface="Times New Roman" panose="02020603050405020304" pitchFamily="18" charset="0"/>
              </a:rPr>
              <a:t>51</a:t>
            </a:r>
            <a:r>
              <a:rPr lang="pt-BR" sz="1600" b="0" i="0" u="none" strike="noStrike" baseline="0" dirty="0">
                <a:latin typeface="Times New Roman" panose="02020603050405020304" pitchFamily="18" charset="0"/>
              </a:rPr>
              <a:t>V</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15</a:t>
            </a:r>
            <a:r>
              <a:rPr lang="pt-BR" sz="1600" b="0" i="0" u="none" strike="noStrike" baseline="0" dirty="0">
                <a:latin typeface="Times New Roman" panose="02020603050405020304" pitchFamily="18" charset="0"/>
              </a:rPr>
              <a:t>N</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55</a:t>
            </a:r>
            <a:r>
              <a:rPr lang="pt-BR" sz="1600" b="0" i="0" u="none" strike="noStrike" baseline="0" dirty="0">
                <a:latin typeface="Times New Roman" panose="02020603050405020304" pitchFamily="18" charset="0"/>
              </a:rPr>
              <a:t>Mn</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32</a:t>
            </a:r>
            <a:r>
              <a:rPr lang="pt-BR" sz="1600" b="0" i="0" u="none" strike="noStrike" baseline="0" dirty="0">
                <a:latin typeface="Times New Roman" panose="02020603050405020304" pitchFamily="18" charset="0"/>
              </a:rPr>
              <a:t>S</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64</a:t>
            </a:r>
            <a:r>
              <a:rPr lang="pt-BR" sz="1600" b="0" i="0" u="none" strike="noStrike" baseline="0" dirty="0">
                <a:latin typeface="Times New Roman" panose="02020603050405020304" pitchFamily="18" charset="0"/>
              </a:rPr>
              <a:t>Zn</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etc.)</a:t>
            </a:r>
          </a:p>
          <a:p>
            <a:pPr marL="400050" indent="-400050" algn="just">
              <a:buFont typeface="+mj-lt"/>
              <a:buAutoNum type="romanLcPeriod"/>
            </a:pPr>
            <a:r>
              <a:rPr lang="en-US" sz="1600" b="0" i="0" u="none" strike="noStrike" baseline="0" dirty="0">
                <a:latin typeface="Times New Roman" panose="02020603050405020304" pitchFamily="18" charset="0"/>
              </a:rPr>
              <a:t>Entrained oxygen and nitrogen from the surrounding air </a:t>
            </a:r>
          </a:p>
          <a:p>
            <a:endParaRPr lang="en-IN" dirty="0"/>
          </a:p>
        </p:txBody>
      </p:sp>
      <p:pic>
        <p:nvPicPr>
          <p:cNvPr id="3" name="Picture 2">
            <a:extLst>
              <a:ext uri="{FF2B5EF4-FFF2-40B4-BE49-F238E27FC236}">
                <a16:creationId xmlns:a16="http://schemas.microsoft.com/office/drawing/2014/main" id="{29386461-5573-D302-2F7E-E2E7ABB4FA23}"/>
              </a:ext>
            </a:extLst>
          </p:cNvPr>
          <p:cNvPicPr>
            <a:picLocks noChangeAspect="1"/>
          </p:cNvPicPr>
          <p:nvPr/>
        </p:nvPicPr>
        <p:blipFill>
          <a:blip r:embed="rId2"/>
          <a:stretch>
            <a:fillRect/>
          </a:stretch>
        </p:blipFill>
        <p:spPr>
          <a:xfrm>
            <a:off x="5230963" y="1017928"/>
            <a:ext cx="3901688" cy="5078512"/>
          </a:xfrm>
          <a:prstGeom prst="rect">
            <a:avLst/>
          </a:prstGeom>
        </p:spPr>
      </p:pic>
    </p:spTree>
    <p:extLst>
      <p:ext uri="{BB962C8B-B14F-4D97-AF65-F5344CB8AC3E}">
        <p14:creationId xmlns:p14="http://schemas.microsoft.com/office/powerpoint/2010/main" val="2985659673"/>
      </p:ext>
    </p:extLst>
  </p:cSld>
  <p:clrMapOvr>
    <a:masterClrMapping/>
  </p:clrMapOvr>
  <p:transition>
    <p:wipe dir="d"/>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498E3-3141-BF9A-AD18-E5513DE487C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214E65-BC31-2FE7-8497-372910988AF1}"/>
              </a:ext>
            </a:extLst>
          </p:cNvPr>
          <p:cNvSpPr txBox="1"/>
          <p:nvPr/>
        </p:nvSpPr>
        <p:spPr>
          <a:xfrm>
            <a:off x="7467600" y="1143000"/>
            <a:ext cx="184731" cy="646331"/>
          </a:xfrm>
          <a:prstGeom prst="rect">
            <a:avLst/>
          </a:prstGeom>
          <a:noFill/>
        </p:spPr>
        <p:txBody>
          <a:bodyPr wrap="none" rtlCol="0">
            <a:spAutoFit/>
          </a:bodyPr>
          <a:lstStyle/>
          <a:p>
            <a:endParaRPr lang="en-IN" dirty="0"/>
          </a:p>
          <a:p>
            <a:endParaRPr lang="en-IN" dirty="0"/>
          </a:p>
        </p:txBody>
      </p:sp>
      <p:sp>
        <p:nvSpPr>
          <p:cNvPr id="8" name="TextBox 7">
            <a:extLst>
              <a:ext uri="{FF2B5EF4-FFF2-40B4-BE49-F238E27FC236}">
                <a16:creationId xmlns:a16="http://schemas.microsoft.com/office/drawing/2014/main" id="{1ADECFF4-7282-8D3C-F65B-FFA6FCE1EE63}"/>
              </a:ext>
            </a:extLst>
          </p:cNvPr>
          <p:cNvSpPr txBox="1"/>
          <p:nvPr/>
        </p:nvSpPr>
        <p:spPr>
          <a:xfrm>
            <a:off x="1066800" y="0"/>
            <a:ext cx="8077200" cy="523220"/>
          </a:xfrm>
          <a:prstGeom prst="rect">
            <a:avLst/>
          </a:prstGeom>
          <a:noFill/>
        </p:spPr>
        <p:txBody>
          <a:bodyPr wrap="square" rtlCol="0">
            <a:spAutoFit/>
          </a:bodyPr>
          <a:lstStyle/>
          <a:p>
            <a:pPr algn="ctr"/>
            <a:r>
              <a:rPr lang="en-IN" sz="2800" b="1" u="sng" dirty="0">
                <a:latin typeface="Times New Roman" panose="02020603050405020304" pitchFamily="18" charset="0"/>
              </a:rPr>
              <a:t>Spectral Interferences – II</a:t>
            </a:r>
            <a:r>
              <a:rPr lang="en-US" sz="2800" b="1" u="sng" dirty="0">
                <a:latin typeface="Times New Roman" panose="02020603050405020304" pitchFamily="18" charset="0"/>
              </a:rPr>
              <a:t> </a:t>
            </a:r>
            <a:endParaRPr lang="en-IN" sz="2800" b="1" u="sng" dirty="0">
              <a:latin typeface="Times New Roman" panose="02020603050405020304" pitchFamily="18" charset="0"/>
            </a:endParaRPr>
          </a:p>
        </p:txBody>
      </p:sp>
      <p:sp>
        <p:nvSpPr>
          <p:cNvPr id="11" name="TextBox 10">
            <a:extLst>
              <a:ext uri="{FF2B5EF4-FFF2-40B4-BE49-F238E27FC236}">
                <a16:creationId xmlns:a16="http://schemas.microsoft.com/office/drawing/2014/main" id="{277E7D16-6720-0F03-DCD0-44C450F2D2BA}"/>
              </a:ext>
            </a:extLst>
          </p:cNvPr>
          <p:cNvSpPr txBox="1"/>
          <p:nvPr/>
        </p:nvSpPr>
        <p:spPr>
          <a:xfrm>
            <a:off x="914400" y="727908"/>
            <a:ext cx="4327904" cy="5601533"/>
          </a:xfrm>
          <a:prstGeom prst="rect">
            <a:avLst/>
          </a:prstGeom>
          <a:noFill/>
        </p:spPr>
        <p:txBody>
          <a:bodyPr wrap="square" rtlCol="0">
            <a:spAutoFit/>
          </a:bodyPr>
          <a:lstStyle/>
          <a:p>
            <a:pPr marL="285750" indent="-285750" algn="just">
              <a:buFont typeface="Wingdings" panose="05000000000000000000" pitchFamily="2" charset="2"/>
              <a:buChar char="Ø"/>
            </a:pPr>
            <a:r>
              <a:rPr lang="en-IN" b="1" i="0" u="none" strike="noStrike" baseline="0" dirty="0">
                <a:latin typeface="Times New Roman" panose="02020603050405020304" pitchFamily="18" charset="0"/>
                <a:cs typeface="Times New Roman" panose="02020603050405020304" pitchFamily="18" charset="0"/>
              </a:rPr>
              <a:t>Hydrides, oxides, hydroxides species: </a:t>
            </a:r>
            <a:endParaRPr lang="en-IN" b="0" i="0" u="none" strike="noStrike" baseline="0"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Produced by the combination of elements present in the sample with 1H+, 16O+ or 17OH+ (either from water or air), occur at 1, 16, and 17 mass units respectively higher then the element mass</a:t>
            </a: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Typically produced in the cooler zone of the plasma, immediately before the interface region</a:t>
            </a: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If rare earth or refractory-type elements are present in the sample, they readily form molecular species (especially oxides) </a:t>
            </a:r>
          </a:p>
          <a:p>
            <a:pPr algn="just"/>
            <a:endParaRPr lang="en-IN" sz="1600" b="0" i="0" u="none" strike="noStrike" baseline="0"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IN" b="1" i="0" u="none" strike="noStrike" baseline="0" dirty="0">
                <a:latin typeface="Times New Roman" panose="02020603050405020304" pitchFamily="18" charset="0"/>
                <a:cs typeface="Times New Roman" panose="02020603050405020304" pitchFamily="18" charset="0"/>
              </a:rPr>
              <a:t>Doubly charged species: </a:t>
            </a:r>
            <a:endParaRPr lang="en-IN" b="0" i="0" u="none" strike="noStrike" baseline="0"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When an ion is generated with a double positive charge, instead of normal single charge – produces an peak at half of its mass</a:t>
            </a: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Doubly charged species formation is influenced by ionization condition in the plasma – secondary discharge at the interface enhances doubly charged species formation </a:t>
            </a:r>
          </a:p>
          <a:p>
            <a:pPr algn="just"/>
            <a:endParaRPr lang="en-IN" dirty="0"/>
          </a:p>
        </p:txBody>
      </p:sp>
      <p:pic>
        <p:nvPicPr>
          <p:cNvPr id="15" name="Picture 14">
            <a:extLst>
              <a:ext uri="{FF2B5EF4-FFF2-40B4-BE49-F238E27FC236}">
                <a16:creationId xmlns:a16="http://schemas.microsoft.com/office/drawing/2014/main" id="{B665DB86-90AF-3846-239B-B6F5FF8FA8C3}"/>
              </a:ext>
            </a:extLst>
          </p:cNvPr>
          <p:cNvPicPr>
            <a:picLocks noChangeAspect="1"/>
          </p:cNvPicPr>
          <p:nvPr/>
        </p:nvPicPr>
        <p:blipFill>
          <a:blip r:embed="rId2"/>
          <a:stretch>
            <a:fillRect/>
          </a:stretch>
        </p:blipFill>
        <p:spPr>
          <a:xfrm>
            <a:off x="5318504" y="914400"/>
            <a:ext cx="3789936" cy="4648200"/>
          </a:xfrm>
          <a:prstGeom prst="rect">
            <a:avLst/>
          </a:prstGeom>
        </p:spPr>
      </p:pic>
    </p:spTree>
    <p:extLst>
      <p:ext uri="{BB962C8B-B14F-4D97-AF65-F5344CB8AC3E}">
        <p14:creationId xmlns:p14="http://schemas.microsoft.com/office/powerpoint/2010/main" val="4269694691"/>
      </p:ext>
    </p:extLst>
  </p:cSld>
  <p:clrMapOvr>
    <a:masterClrMapping/>
  </p:clrMapOvr>
  <p:transition>
    <p:wipe dir="d"/>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04800"/>
            <a:ext cx="7498080" cy="1143000"/>
          </a:xfrm>
        </p:spPr>
        <p:txBody>
          <a:bodyPr>
            <a:normAutofit/>
          </a:bodyPr>
          <a:lstStyle/>
          <a:p>
            <a:r>
              <a:rPr lang="en-US" sz="3000" b="1" dirty="0"/>
              <a:t>Collision Reaction Cell</a:t>
            </a:r>
          </a:p>
        </p:txBody>
      </p:sp>
      <p:sp>
        <p:nvSpPr>
          <p:cNvPr id="3" name="Content Placeholder 2"/>
          <p:cNvSpPr>
            <a:spLocks noGrp="1"/>
          </p:cNvSpPr>
          <p:nvPr>
            <p:ph idx="1"/>
          </p:nvPr>
        </p:nvSpPr>
        <p:spPr>
          <a:xfrm>
            <a:off x="875981" y="1219200"/>
            <a:ext cx="8077200" cy="1981200"/>
          </a:xfrm>
        </p:spPr>
        <p:txBody>
          <a:bodyPr>
            <a:normAutofit/>
          </a:bodyPr>
          <a:lstStyle/>
          <a:p>
            <a:pPr algn="just"/>
            <a:r>
              <a:rPr lang="en-US" sz="2000" dirty="0"/>
              <a:t>Octopole ion guide, positioned between ion lens assembly and quadruple mass filter.</a:t>
            </a:r>
          </a:p>
          <a:p>
            <a:pPr algn="just"/>
            <a:r>
              <a:rPr lang="en-US" sz="2000" dirty="0"/>
              <a:t>Helps in reduction of spectral interferences.</a:t>
            </a:r>
          </a:p>
        </p:txBody>
      </p:sp>
      <p:pic>
        <p:nvPicPr>
          <p:cNvPr id="4" name="Picture 3" descr="Untitled.jpg"/>
          <p:cNvPicPr>
            <a:picLocks noChangeAspect="1"/>
          </p:cNvPicPr>
          <p:nvPr/>
        </p:nvPicPr>
        <p:blipFill>
          <a:blip r:embed="rId2"/>
          <a:stretch>
            <a:fillRect/>
          </a:stretch>
        </p:blipFill>
        <p:spPr>
          <a:xfrm>
            <a:off x="1019498" y="3484039"/>
            <a:ext cx="2466975" cy="18573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Picture 5" descr="Agilent_107b9.jpg"/>
          <p:cNvPicPr>
            <a:picLocks noChangeAspect="1"/>
          </p:cNvPicPr>
          <p:nvPr/>
        </p:nvPicPr>
        <p:blipFill>
          <a:blip r:embed="rId3"/>
          <a:stretch>
            <a:fillRect/>
          </a:stretch>
        </p:blipFill>
        <p:spPr>
          <a:xfrm>
            <a:off x="3810567" y="3200400"/>
            <a:ext cx="5179828" cy="29170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ransition>
    <p:wipe dir="d"/>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5CBBED30-8E2A-46C0-BEDC-1F5BA7AF1C88}"/>
              </a:ext>
            </a:extLst>
          </p:cNvPr>
          <p:cNvPicPr/>
          <p:nvPr/>
        </p:nvPicPr>
        <p:blipFill>
          <a:blip r:embed="rId2" cstate="print"/>
          <a:stretch>
            <a:fillRect/>
          </a:stretch>
        </p:blipFill>
        <p:spPr>
          <a:xfrm>
            <a:off x="990600" y="838200"/>
            <a:ext cx="8153400" cy="5638800"/>
          </a:xfrm>
          <a:prstGeom prst="rect">
            <a:avLst/>
          </a:prstGeom>
        </p:spPr>
      </p:pic>
      <p:sp>
        <p:nvSpPr>
          <p:cNvPr id="3" name="object 3">
            <a:extLst>
              <a:ext uri="{FF2B5EF4-FFF2-40B4-BE49-F238E27FC236}">
                <a16:creationId xmlns:a16="http://schemas.microsoft.com/office/drawing/2014/main" id="{1863C5F2-0E3E-4995-B059-3F4947513A70}"/>
              </a:ext>
            </a:extLst>
          </p:cNvPr>
          <p:cNvSpPr txBox="1">
            <a:spLocks/>
          </p:cNvSpPr>
          <p:nvPr/>
        </p:nvSpPr>
        <p:spPr>
          <a:xfrm>
            <a:off x="1066800" y="24809"/>
            <a:ext cx="4474464" cy="473848"/>
          </a:xfrm>
          <a:prstGeom prst="rect">
            <a:avLst/>
          </a:prstGeom>
        </p:spPr>
        <p:txBody>
          <a:bodyPr vert="horz" wrap="square" lIns="0" tIns="12065"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95"/>
              </a:spcBef>
            </a:pPr>
            <a:r>
              <a:rPr lang="en-IN" sz="3000" b="1" spc="-10" dirty="0">
                <a:latin typeface="Calibri"/>
                <a:cs typeface="Calibri"/>
              </a:rPr>
              <a:t>Collision</a:t>
            </a:r>
            <a:r>
              <a:rPr lang="en-IN" sz="3000" b="1" spc="-35" dirty="0">
                <a:latin typeface="Calibri"/>
                <a:cs typeface="Calibri"/>
              </a:rPr>
              <a:t> </a:t>
            </a:r>
            <a:r>
              <a:rPr lang="en-IN" sz="3000" b="1" spc="-10" dirty="0">
                <a:latin typeface="Calibri"/>
                <a:cs typeface="Calibri"/>
              </a:rPr>
              <a:t>Mode:</a:t>
            </a:r>
          </a:p>
        </p:txBody>
      </p:sp>
    </p:spTree>
    <p:extLst>
      <p:ext uri="{BB962C8B-B14F-4D97-AF65-F5344CB8AC3E}">
        <p14:creationId xmlns:p14="http://schemas.microsoft.com/office/powerpoint/2010/main" val="3192041847"/>
      </p:ext>
    </p:extLst>
  </p:cSld>
  <p:clrMapOvr>
    <a:masterClrMapping/>
  </p:clrMapOvr>
  <p:transition>
    <p:wipe dir="d"/>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ACA961C5-C25C-4777-9CBA-BAF49B192CF4}"/>
              </a:ext>
            </a:extLst>
          </p:cNvPr>
          <p:cNvPicPr/>
          <p:nvPr/>
        </p:nvPicPr>
        <p:blipFill>
          <a:blip r:embed="rId2" cstate="print"/>
          <a:stretch>
            <a:fillRect/>
          </a:stretch>
        </p:blipFill>
        <p:spPr>
          <a:xfrm>
            <a:off x="1037077" y="660215"/>
            <a:ext cx="8106923" cy="5511985"/>
          </a:xfrm>
          <a:prstGeom prst="rect">
            <a:avLst/>
          </a:prstGeom>
        </p:spPr>
      </p:pic>
      <p:sp>
        <p:nvSpPr>
          <p:cNvPr id="3" name="object 3">
            <a:extLst>
              <a:ext uri="{FF2B5EF4-FFF2-40B4-BE49-F238E27FC236}">
                <a16:creationId xmlns:a16="http://schemas.microsoft.com/office/drawing/2014/main" id="{5859CEA3-8C36-4465-AAE4-6009AC10A975}"/>
              </a:ext>
            </a:extLst>
          </p:cNvPr>
          <p:cNvSpPr txBox="1">
            <a:spLocks/>
          </p:cNvSpPr>
          <p:nvPr/>
        </p:nvSpPr>
        <p:spPr>
          <a:xfrm>
            <a:off x="1066800" y="7088"/>
            <a:ext cx="6553200" cy="473848"/>
          </a:xfrm>
          <a:prstGeom prst="rect">
            <a:avLst/>
          </a:prstGeom>
        </p:spPr>
        <p:txBody>
          <a:bodyPr vert="horz" wrap="square" lIns="0" tIns="12065"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95"/>
              </a:spcBef>
            </a:pPr>
            <a:r>
              <a:rPr lang="en-IN" sz="3000" b="1" spc="-15" dirty="0">
                <a:latin typeface="Calibri"/>
                <a:cs typeface="Calibri"/>
              </a:rPr>
              <a:t>Reaction</a:t>
            </a:r>
            <a:r>
              <a:rPr lang="en-IN" sz="3000" b="1" spc="-45" dirty="0">
                <a:latin typeface="Calibri"/>
                <a:cs typeface="Calibri"/>
              </a:rPr>
              <a:t> </a:t>
            </a:r>
            <a:r>
              <a:rPr lang="en-IN" sz="3000" b="1" spc="-10" dirty="0">
                <a:latin typeface="Calibri"/>
                <a:cs typeface="Calibri"/>
              </a:rPr>
              <a:t>Mode:</a:t>
            </a:r>
          </a:p>
        </p:txBody>
      </p:sp>
      <p:sp>
        <p:nvSpPr>
          <p:cNvPr id="5" name="TextBox 4">
            <a:extLst>
              <a:ext uri="{FF2B5EF4-FFF2-40B4-BE49-F238E27FC236}">
                <a16:creationId xmlns:a16="http://schemas.microsoft.com/office/drawing/2014/main" id="{0BD038A3-384A-49C0-9E67-155A79EBFED3}"/>
              </a:ext>
            </a:extLst>
          </p:cNvPr>
          <p:cNvSpPr txBox="1"/>
          <p:nvPr/>
        </p:nvSpPr>
        <p:spPr>
          <a:xfrm>
            <a:off x="1828800" y="6351479"/>
            <a:ext cx="4572000" cy="400110"/>
          </a:xfrm>
          <a:prstGeom prst="rect">
            <a:avLst/>
          </a:prstGeom>
          <a:noFill/>
        </p:spPr>
        <p:txBody>
          <a:bodyPr wrap="square">
            <a:spAutoFit/>
          </a:bodyPr>
          <a:lstStyle/>
          <a:p>
            <a:pPr marL="355600" indent="-342900">
              <a:spcBef>
                <a:spcPts val="95"/>
              </a:spcBef>
              <a:buFont typeface="Wingdings" panose="05000000000000000000" pitchFamily="2" charset="2"/>
              <a:buChar char="§"/>
            </a:pPr>
            <a:r>
              <a:rPr lang="en-IN" sz="2000" b="1" spc="-10" baseline="30000" dirty="0">
                <a:latin typeface="Calibri"/>
                <a:cs typeface="Calibri"/>
              </a:rPr>
              <a:t>40</a:t>
            </a:r>
            <a:r>
              <a:rPr lang="en-IN" sz="2000" b="1" spc="-10" dirty="0">
                <a:latin typeface="Calibri"/>
                <a:cs typeface="Calibri"/>
              </a:rPr>
              <a:t>Ar </a:t>
            </a:r>
            <a:r>
              <a:rPr lang="en-IN" sz="2000" b="1" spc="-10" baseline="30000" dirty="0">
                <a:latin typeface="Calibri"/>
                <a:cs typeface="Calibri"/>
              </a:rPr>
              <a:t>35</a:t>
            </a:r>
            <a:r>
              <a:rPr lang="en-IN" sz="2000" b="1" spc="-10" dirty="0">
                <a:latin typeface="Calibri"/>
                <a:cs typeface="Calibri"/>
              </a:rPr>
              <a:t>Cl</a:t>
            </a:r>
            <a:r>
              <a:rPr lang="en-IN" sz="2000" b="1" spc="-10" baseline="30000" dirty="0">
                <a:latin typeface="Calibri"/>
                <a:cs typeface="Calibri"/>
              </a:rPr>
              <a:t>+</a:t>
            </a:r>
            <a:r>
              <a:rPr lang="en-IN" sz="2000" b="1" spc="-10" dirty="0">
                <a:latin typeface="Calibri"/>
                <a:cs typeface="Calibri"/>
              </a:rPr>
              <a:t> +H</a:t>
            </a:r>
            <a:r>
              <a:rPr lang="en-IN" sz="2000" b="1" spc="-10" baseline="-25000" dirty="0">
                <a:latin typeface="Calibri"/>
                <a:cs typeface="Calibri"/>
              </a:rPr>
              <a:t>2</a:t>
            </a:r>
            <a:r>
              <a:rPr lang="en-IN" sz="2000" b="1" spc="-10" dirty="0">
                <a:latin typeface="Calibri"/>
                <a:cs typeface="Calibri"/>
              </a:rPr>
              <a:t> </a:t>
            </a:r>
            <a:r>
              <a:rPr lang="en-IN" sz="2000" b="1" spc="-10" dirty="0">
                <a:latin typeface="Calibri"/>
                <a:cs typeface="Calibri"/>
                <a:sym typeface="Wingdings" panose="05000000000000000000" pitchFamily="2" charset="2"/>
              </a:rPr>
              <a:t> HCl+ Ar</a:t>
            </a:r>
            <a:r>
              <a:rPr lang="en-IN" sz="2000" b="1" spc="-10" baseline="30000" dirty="0">
                <a:latin typeface="Calibri"/>
                <a:cs typeface="Calibri"/>
                <a:sym typeface="Wingdings" panose="05000000000000000000" pitchFamily="2" charset="2"/>
              </a:rPr>
              <a:t>+</a:t>
            </a:r>
            <a:endParaRPr lang="en-IN" sz="2000" b="1" spc="-10" baseline="30000" dirty="0">
              <a:latin typeface="Calibri"/>
              <a:cs typeface="Calibri"/>
            </a:endParaRPr>
          </a:p>
        </p:txBody>
      </p:sp>
    </p:spTree>
    <p:extLst>
      <p:ext uri="{BB962C8B-B14F-4D97-AF65-F5344CB8AC3E}">
        <p14:creationId xmlns:p14="http://schemas.microsoft.com/office/powerpoint/2010/main" val="150737522"/>
      </p:ext>
    </p:extLst>
  </p:cSld>
  <p:clrMapOvr>
    <a:masterClrMapping/>
  </p:clrMapOvr>
  <p:transition>
    <p:wipe dir="d"/>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0"/>
            <a:ext cx="7620000" cy="990600"/>
          </a:xfrm>
        </p:spPr>
        <p:txBody>
          <a:bodyPr/>
          <a:lstStyle/>
          <a:p>
            <a:pPr algn="ctr"/>
            <a:r>
              <a:rPr lang="en-US" b="1" dirty="0"/>
              <a:t>Sample Preparation</a:t>
            </a:r>
          </a:p>
        </p:txBody>
      </p:sp>
      <p:pic>
        <p:nvPicPr>
          <p:cNvPr id="4" name="Content Placeholder 3" descr="m-40_1.jpg"/>
          <p:cNvPicPr>
            <a:picLocks noGrp="1" noChangeAspect="1"/>
          </p:cNvPicPr>
          <p:nvPr>
            <p:ph idx="1"/>
          </p:nvPr>
        </p:nvPicPr>
        <p:blipFill>
          <a:blip r:embed="rId2" cstate="print"/>
          <a:stretch>
            <a:fillRect/>
          </a:stretch>
        </p:blipFill>
        <p:spPr>
          <a:xfrm>
            <a:off x="6324601" y="1383522"/>
            <a:ext cx="2948964" cy="3493278"/>
          </a:xfrm>
        </p:spPr>
      </p:pic>
      <p:sp>
        <p:nvSpPr>
          <p:cNvPr id="5" name="TextBox 4"/>
          <p:cNvSpPr txBox="1"/>
          <p:nvPr/>
        </p:nvSpPr>
        <p:spPr>
          <a:xfrm>
            <a:off x="1011865" y="992372"/>
            <a:ext cx="5791200" cy="8402300"/>
          </a:xfrm>
          <a:prstGeom prst="rect">
            <a:avLst/>
          </a:prstGeom>
          <a:noFill/>
        </p:spPr>
        <p:txBody>
          <a:bodyPr wrap="square" rtlCol="0">
            <a:spAutoFit/>
          </a:bodyPr>
          <a:lstStyle/>
          <a:p>
            <a:pPr>
              <a:buFont typeface="Wingdings" pitchFamily="2" charset="2"/>
              <a:buChar char="Ø"/>
            </a:pPr>
            <a:r>
              <a:rPr lang="en-US" sz="2000" dirty="0">
                <a:latin typeface="Calibri" pitchFamily="34" charset="0"/>
                <a:cs typeface="Calibri" pitchFamily="34" charset="0"/>
              </a:rPr>
              <a:t>Biological/rock samples are usually diluted or thermally digested before analysis. </a:t>
            </a:r>
          </a:p>
          <a:p>
            <a:pPr>
              <a:buFont typeface="Wingdings" pitchFamily="2" charset="2"/>
              <a:buChar char="Ø"/>
            </a:pPr>
            <a:endParaRPr lang="en-US" sz="2000" dirty="0">
              <a:latin typeface="Calibri" pitchFamily="34" charset="0"/>
              <a:cs typeface="Calibri" pitchFamily="34" charset="0"/>
            </a:endParaRPr>
          </a:p>
          <a:p>
            <a:pPr>
              <a:buFont typeface="Wingdings" pitchFamily="2" charset="2"/>
              <a:buChar char="Ø"/>
            </a:pPr>
            <a:r>
              <a:rPr lang="en-US" sz="2000" dirty="0">
                <a:latin typeface="Calibri" pitchFamily="34" charset="0"/>
                <a:cs typeface="Calibri" pitchFamily="34" charset="0"/>
              </a:rPr>
              <a:t>Common diluents include dilute acids (e.g. nitric acid, hydrochloric acid) or alkali (e.g. ammonium hydroxide, tetramethylammonium hydroxide)</a:t>
            </a:r>
          </a:p>
          <a:p>
            <a:pPr>
              <a:buFont typeface="Wingdings" pitchFamily="2" charset="2"/>
              <a:buChar char="Ø"/>
            </a:pPr>
            <a:endParaRPr lang="en-US" sz="2000" dirty="0">
              <a:latin typeface="Calibri" pitchFamily="34" charset="0"/>
              <a:cs typeface="Calibri" pitchFamily="34" charset="0"/>
            </a:endParaRPr>
          </a:p>
          <a:p>
            <a:pPr>
              <a:buFont typeface="Wingdings" pitchFamily="2" charset="2"/>
              <a:buChar char="Ø"/>
            </a:pPr>
            <a:r>
              <a:rPr lang="en-US" sz="2000" dirty="0">
                <a:latin typeface="Calibri" pitchFamily="34" charset="0"/>
                <a:cs typeface="Calibri" pitchFamily="34" charset="0"/>
              </a:rPr>
              <a:t>Solid samples such as rocks, tissue, hair and nails require chemical digestion to dissolve the sample before analysis. </a:t>
            </a:r>
          </a:p>
          <a:p>
            <a:pPr>
              <a:buFont typeface="Wingdings" pitchFamily="2" charset="2"/>
              <a:buChar char="Ø"/>
            </a:pPr>
            <a:endParaRPr lang="en-US" sz="2000" dirty="0">
              <a:latin typeface="Calibri" pitchFamily="34" charset="0"/>
              <a:cs typeface="Calibri" pitchFamily="34" charset="0"/>
            </a:endParaRPr>
          </a:p>
          <a:p>
            <a:pPr>
              <a:buFont typeface="Wingdings" pitchFamily="2" charset="2"/>
              <a:buChar char="Ø"/>
            </a:pPr>
            <a:r>
              <a:rPr lang="en-US" sz="2000" dirty="0">
                <a:latin typeface="Calibri" pitchFamily="34" charset="0"/>
                <a:cs typeface="Calibri" pitchFamily="34" charset="0"/>
              </a:rPr>
              <a:t>The digestion can be carried out using strong acid(s) or alkali, either at room temperature or heated in a hot water bath, dry heating block or high-pressure microwave to assist digestion.</a:t>
            </a:r>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r>
              <a:rPr lang="en-US" sz="2000" dirty="0">
                <a:latin typeface="Calibri" pitchFamily="34" charset="0"/>
                <a:cs typeface="Calibri" pitchFamily="34" charset="0"/>
              </a:rPr>
              <a:t> </a:t>
            </a:r>
          </a:p>
          <a:p>
            <a:endParaRPr lang="en-US" sz="2000" dirty="0">
              <a:latin typeface="Calibri" pitchFamily="34" charset="0"/>
              <a:cs typeface="Calibri" pitchFamily="34" charset="0"/>
            </a:endParaRPr>
          </a:p>
          <a:p>
            <a:endParaRPr lang="en-US" sz="2000" dirty="0">
              <a:latin typeface="Calibri" pitchFamily="34" charset="0"/>
              <a:cs typeface="Calibri" pitchFamily="34" charset="0"/>
            </a:endParaRPr>
          </a:p>
          <a:p>
            <a:endParaRPr lang="en-US" sz="2000" dirty="0">
              <a:latin typeface="Calibri" pitchFamily="34" charset="0"/>
              <a:cs typeface="Calibri" pitchFamily="34" charset="0"/>
            </a:endParaRPr>
          </a:p>
          <a:p>
            <a:endParaRPr lang="en-US" sz="2000" dirty="0">
              <a:latin typeface="Calibri" pitchFamily="34" charset="0"/>
              <a:cs typeface="Calibri" pitchFamily="34" charset="0"/>
            </a:endParaRPr>
          </a:p>
        </p:txBody>
      </p:sp>
    </p:spTree>
  </p:cSld>
  <p:clrMapOvr>
    <a:masterClrMapping/>
  </p:clrMapOvr>
  <p:transition>
    <p:wipe dir="d"/>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Internal Stadardization</a:t>
            </a:r>
          </a:p>
        </p:txBody>
      </p:sp>
      <p:sp>
        <p:nvSpPr>
          <p:cNvPr id="3" name="Content Placeholder 2"/>
          <p:cNvSpPr>
            <a:spLocks noGrp="1"/>
          </p:cNvSpPr>
          <p:nvPr>
            <p:ph idx="1"/>
          </p:nvPr>
        </p:nvSpPr>
        <p:spPr/>
        <p:txBody>
          <a:bodyPr/>
          <a:lstStyle/>
          <a:p>
            <a:r>
              <a:rPr lang="en-US" dirty="0"/>
              <a:t>Employed to correct for changes in instrument operating conditions and sample specific matrix effects which may enhance or suppress the analyte signal.</a:t>
            </a:r>
          </a:p>
          <a:p>
            <a:endParaRPr lang="en-US" dirty="0"/>
          </a:p>
          <a:p>
            <a:r>
              <a:rPr lang="en-US" dirty="0"/>
              <a:t>Same quantity of “internal standard” is added to each sample, standard and blank.</a:t>
            </a:r>
          </a:p>
          <a:p>
            <a:endParaRPr lang="en-US" dirty="0"/>
          </a:p>
          <a:p>
            <a:endParaRPr lang="en-US" dirty="0"/>
          </a:p>
        </p:txBody>
      </p:sp>
    </p:spTree>
  </p:cSld>
  <p:clrMapOvr>
    <a:masterClrMapping/>
  </p:clrMapOvr>
  <p:transition>
    <p:wipe dir="d"/>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D8A8-28DD-E7D9-6B03-48E1F907403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D89E4E92-1874-07CD-8F52-3912BECC208A}"/>
              </a:ext>
            </a:extLst>
          </p:cNvPr>
          <p:cNvPicPr>
            <a:picLocks noChangeAspect="1"/>
          </p:cNvPicPr>
          <p:nvPr/>
        </p:nvPicPr>
        <p:blipFill>
          <a:blip r:embed="rId2"/>
          <a:stretch>
            <a:fillRect/>
          </a:stretch>
        </p:blipFill>
        <p:spPr>
          <a:xfrm>
            <a:off x="2209800" y="1600200"/>
            <a:ext cx="5323512" cy="3931596"/>
          </a:xfrm>
          <a:prstGeom prst="rect">
            <a:avLst/>
          </a:prstGeom>
        </p:spPr>
      </p:pic>
      <p:sp>
        <p:nvSpPr>
          <p:cNvPr id="11" name="TextBox 10">
            <a:extLst>
              <a:ext uri="{FF2B5EF4-FFF2-40B4-BE49-F238E27FC236}">
                <a16:creationId xmlns:a16="http://schemas.microsoft.com/office/drawing/2014/main" id="{7B1102DC-44EB-BE9F-9320-548044C01978}"/>
              </a:ext>
            </a:extLst>
          </p:cNvPr>
          <p:cNvSpPr txBox="1"/>
          <p:nvPr/>
        </p:nvSpPr>
        <p:spPr>
          <a:xfrm>
            <a:off x="1066800" y="228600"/>
            <a:ext cx="8153400" cy="1238801"/>
          </a:xfrm>
          <a:prstGeom prst="rect">
            <a:avLst/>
          </a:prstGeom>
          <a:noFill/>
        </p:spPr>
        <p:txBody>
          <a:bodyPr wrap="square">
            <a:spAutoFit/>
          </a:bodyPr>
          <a:lstStyle/>
          <a:p>
            <a:pPr algn="l"/>
            <a:endParaRPr lang="en-IN" sz="1050" b="0" i="0" u="none" strike="noStrike" baseline="0" dirty="0">
              <a:solidFill>
                <a:srgbClr val="000000"/>
              </a:solidFill>
              <a:latin typeface="Comic Sans MS" panose="030F0702030302020204" pitchFamily="66" charset="0"/>
            </a:endParaRPr>
          </a:p>
          <a:p>
            <a:pPr algn="ctr"/>
            <a:r>
              <a:rPr lang="en-IN" sz="2800" b="1" u="sng" dirty="0"/>
              <a:t>Contamination issues </a:t>
            </a:r>
          </a:p>
          <a:p>
            <a:r>
              <a:rPr lang="en-US" sz="1800" i="0" u="none" strike="noStrike" baseline="0" dirty="0">
                <a:latin typeface="Times New Roman" panose="02020603050405020304" pitchFamily="18" charset="0"/>
                <a:cs typeface="Times New Roman" panose="02020603050405020304" pitchFamily="18" charset="0"/>
              </a:rPr>
              <a:t>Various factors influence the ability to get the correct result with any trace element technique. Potential Sources of contamination must be addressed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1590463"/>
      </p:ext>
    </p:extLst>
  </p:cSld>
  <p:clrMapOvr>
    <a:masterClrMapping/>
  </p:clrMapOvr>
  <p:transition>
    <p:wipe dir="d"/>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7C6BD-F2B7-A825-BB14-26341F5653B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B8834A-6838-C51E-5894-7A4A2A9009C2}"/>
              </a:ext>
            </a:extLst>
          </p:cNvPr>
          <p:cNvPicPr>
            <a:picLocks noChangeAspect="1"/>
          </p:cNvPicPr>
          <p:nvPr/>
        </p:nvPicPr>
        <p:blipFill>
          <a:blip r:embed="rId2"/>
          <a:stretch>
            <a:fillRect/>
          </a:stretch>
        </p:blipFill>
        <p:spPr>
          <a:xfrm>
            <a:off x="4261834" y="4363224"/>
            <a:ext cx="4191000" cy="2488337"/>
          </a:xfrm>
          <a:prstGeom prst="rect">
            <a:avLst/>
          </a:prstGeom>
        </p:spPr>
      </p:pic>
      <p:sp>
        <p:nvSpPr>
          <p:cNvPr id="11" name="TextBox 10">
            <a:extLst>
              <a:ext uri="{FF2B5EF4-FFF2-40B4-BE49-F238E27FC236}">
                <a16:creationId xmlns:a16="http://schemas.microsoft.com/office/drawing/2014/main" id="{39B5E12E-8C08-2301-E99A-9A621576E6E6}"/>
              </a:ext>
            </a:extLst>
          </p:cNvPr>
          <p:cNvSpPr txBox="1"/>
          <p:nvPr/>
        </p:nvSpPr>
        <p:spPr>
          <a:xfrm>
            <a:off x="990600" y="0"/>
            <a:ext cx="8001000" cy="4562788"/>
          </a:xfrm>
          <a:prstGeom prst="rect">
            <a:avLst/>
          </a:prstGeom>
          <a:noFill/>
        </p:spPr>
        <p:txBody>
          <a:bodyPr wrap="square">
            <a:spAutoFit/>
          </a:bodyPr>
          <a:lstStyle/>
          <a:p>
            <a:pPr algn="l"/>
            <a:endParaRPr lang="en-IN" sz="1050" b="0" i="0" u="none" strike="noStrike" baseline="0" dirty="0">
              <a:solidFill>
                <a:srgbClr val="000000"/>
              </a:solidFill>
              <a:latin typeface="Comic Sans MS" panose="030F0702030302020204" pitchFamily="66" charset="0"/>
            </a:endParaRPr>
          </a:p>
          <a:p>
            <a:pPr algn="ctr"/>
            <a:r>
              <a:rPr lang="fr-FR" sz="2800" b="1" u="sng" dirty="0"/>
              <a:t>Methods of Quantification </a:t>
            </a:r>
            <a:r>
              <a:rPr lang="fr-FR" sz="1800" b="1" i="0" u="none" strike="noStrike" baseline="0" dirty="0">
                <a:latin typeface="Calibri" panose="020F0502020204030204" pitchFamily="34" charset="0"/>
              </a:rPr>
              <a:t> </a:t>
            </a:r>
            <a:endParaRPr lang="fr-FR" sz="1800" b="0" i="0" u="none" strike="noStrike" baseline="0" dirty="0">
              <a:latin typeface="Comic Sans MS" panose="030F0702030302020204" pitchFamily="66" charset="0"/>
            </a:endParaRP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Quantitative analysis in ICP-MS is the fundamental tool used to determine analyte concentrations in unknown samples.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instrument is calibrated by measuring the intensity for all elements of interest in a number of known calibration standards that represent a range of concentrations likely to be encountered in your unknown samples.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Software creates a calibration curve of the measured intensity versus concentration for each element in the standard solutions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Once calibration data are acquired, the unknown samples are analyzed by plotting the intensity of the elements of interest against the respective calibration curves. The software then calculates the concentrations for the analytes in the unknown samples.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This type of calibration is often called external standardization and is usually used when there is very little difference between the matrix components in the standards and the samples </a:t>
            </a:r>
          </a:p>
        </p:txBody>
      </p:sp>
      <p:pic>
        <p:nvPicPr>
          <p:cNvPr id="7" name="Picture 6">
            <a:extLst>
              <a:ext uri="{FF2B5EF4-FFF2-40B4-BE49-F238E27FC236}">
                <a16:creationId xmlns:a16="http://schemas.microsoft.com/office/drawing/2014/main" id="{F7C36C24-3151-A0CB-0472-CE497EAF804A}"/>
              </a:ext>
            </a:extLst>
          </p:cNvPr>
          <p:cNvPicPr>
            <a:picLocks noChangeAspect="1"/>
          </p:cNvPicPr>
          <p:nvPr/>
        </p:nvPicPr>
        <p:blipFill>
          <a:blip r:embed="rId3"/>
          <a:stretch>
            <a:fillRect/>
          </a:stretch>
        </p:blipFill>
        <p:spPr>
          <a:xfrm>
            <a:off x="2590800" y="4495800"/>
            <a:ext cx="1671034" cy="2156197"/>
          </a:xfrm>
          <a:prstGeom prst="rect">
            <a:avLst/>
          </a:prstGeom>
        </p:spPr>
      </p:pic>
    </p:spTree>
    <p:extLst>
      <p:ext uri="{BB962C8B-B14F-4D97-AF65-F5344CB8AC3E}">
        <p14:creationId xmlns:p14="http://schemas.microsoft.com/office/powerpoint/2010/main" val="1476041104"/>
      </p:ext>
    </p:extLst>
  </p:cSld>
  <p:clrMapOvr>
    <a:masterClrMapping/>
  </p:clrMapOvr>
  <p:transition>
    <p:wipe dir="d"/>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F8AD3-0FFA-B805-9F80-D874B322514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144AE50-6BA9-35B4-B74B-70A28322D6DE}"/>
              </a:ext>
            </a:extLst>
          </p:cNvPr>
          <p:cNvSpPr txBox="1"/>
          <p:nvPr/>
        </p:nvSpPr>
        <p:spPr>
          <a:xfrm>
            <a:off x="1143000" y="751344"/>
            <a:ext cx="7990840" cy="7017306"/>
          </a:xfrm>
          <a:prstGeom prst="rect">
            <a:avLst/>
          </a:prstGeom>
          <a:noFill/>
        </p:spPr>
        <p:txBody>
          <a:bodyPr wrap="square" numCol="3" rtlCol="0">
            <a:spAutoFit/>
          </a:bodyPr>
          <a:lstStyle/>
          <a:p>
            <a:r>
              <a:rPr lang="en-IN" b="1" dirty="0"/>
              <a:t>Environmental</a:t>
            </a:r>
          </a:p>
          <a:p>
            <a:pPr marL="285750" indent="-285750">
              <a:buFont typeface="Arial" panose="020B0604020202020204" pitchFamily="34" charset="0"/>
              <a:buChar char="•"/>
            </a:pPr>
            <a:r>
              <a:rPr lang="en-US" sz="1600" dirty="0">
                <a:cs typeface="Times New Roman" panose="02020603050405020304" pitchFamily="18" charset="0"/>
              </a:rPr>
              <a:t>Drinking water, ambient water</a:t>
            </a:r>
          </a:p>
          <a:p>
            <a:pPr marL="285750" indent="-285750">
              <a:buFont typeface="Arial" panose="020B0604020202020204" pitchFamily="34" charset="0"/>
              <a:buChar char="•"/>
            </a:pPr>
            <a:r>
              <a:rPr lang="en-US" sz="1600" dirty="0">
                <a:cs typeface="Times New Roman" panose="02020603050405020304" pitchFamily="18" charset="0"/>
              </a:rPr>
              <a:t>Soils, Sludge, Solid waste</a:t>
            </a:r>
          </a:p>
          <a:p>
            <a:pPr marL="285750" indent="-285750">
              <a:buFont typeface="Arial" panose="020B0604020202020204" pitchFamily="34" charset="0"/>
              <a:buChar char="•"/>
            </a:pPr>
            <a:r>
              <a:rPr lang="en-US" sz="1600" dirty="0">
                <a:cs typeface="Times New Roman" panose="02020603050405020304" pitchFamily="18" charset="0"/>
              </a:rPr>
              <a:t>Plant material/Agriculture</a:t>
            </a:r>
          </a:p>
          <a:p>
            <a:pPr marL="285750" indent="-285750">
              <a:buFont typeface="Arial" panose="020B0604020202020204" pitchFamily="34" charset="0"/>
              <a:buChar char="•"/>
            </a:pPr>
            <a:r>
              <a:rPr lang="en-US" sz="1600" dirty="0">
                <a:cs typeface="Times New Roman" panose="02020603050405020304" pitchFamily="18" charset="0"/>
              </a:rPr>
              <a:t>Speciation of Hg, As, Pb and Sn</a:t>
            </a:r>
          </a:p>
          <a:p>
            <a:endParaRPr lang="en-US" dirty="0"/>
          </a:p>
          <a:p>
            <a:r>
              <a:rPr lang="en-IN" b="1" dirty="0"/>
              <a:t>Clinical</a:t>
            </a:r>
          </a:p>
          <a:p>
            <a:pPr marL="285750" indent="-285750">
              <a:buFont typeface="Arial" panose="020B0604020202020204" pitchFamily="34" charset="0"/>
              <a:buChar char="•"/>
            </a:pPr>
            <a:r>
              <a:rPr lang="en-IN" sz="1600" dirty="0">
                <a:cs typeface="Times New Roman" panose="02020603050405020304" pitchFamily="18" charset="0"/>
              </a:rPr>
              <a:t>Blood, Urine, Serum</a:t>
            </a:r>
          </a:p>
          <a:p>
            <a:pPr marL="285750" indent="-285750">
              <a:buFont typeface="Arial" panose="020B0604020202020204" pitchFamily="34" charset="0"/>
              <a:buChar char="•"/>
            </a:pPr>
            <a:r>
              <a:rPr lang="en-IN" sz="1600" dirty="0">
                <a:cs typeface="Times New Roman" panose="02020603050405020304" pitchFamily="18" charset="0"/>
              </a:rPr>
              <a:t>Hairs, Tissues</a:t>
            </a:r>
          </a:p>
          <a:p>
            <a:pPr marL="285750" indent="-285750">
              <a:buFont typeface="Arial" panose="020B0604020202020204" pitchFamily="34" charset="0"/>
              <a:buChar char="•"/>
            </a:pPr>
            <a:r>
              <a:rPr lang="en-IN" sz="1600" dirty="0">
                <a:cs typeface="Times New Roman" panose="02020603050405020304" pitchFamily="18" charset="0"/>
              </a:rPr>
              <a:t>Toxicology</a:t>
            </a:r>
          </a:p>
          <a:p>
            <a:pPr marL="285750" indent="-285750">
              <a:buFont typeface="Arial" panose="020B0604020202020204" pitchFamily="34" charset="0"/>
              <a:buChar char="•"/>
            </a:pPr>
            <a:r>
              <a:rPr lang="en-IN" sz="1600" dirty="0">
                <a:cs typeface="Times New Roman" panose="02020603050405020304" pitchFamily="18" charset="0"/>
              </a:rPr>
              <a:t>Nutrition/deficiency/ vitamins</a:t>
            </a:r>
          </a:p>
          <a:p>
            <a:endParaRPr lang="en-IN" b="1" dirty="0"/>
          </a:p>
          <a:p>
            <a:r>
              <a:rPr lang="en-IN" b="1" dirty="0"/>
              <a:t>Food analysis</a:t>
            </a:r>
          </a:p>
          <a:p>
            <a:pPr marL="285750" indent="-285750">
              <a:buFont typeface="Arial" panose="020B0604020202020204" pitchFamily="34" charset="0"/>
              <a:buChar char="•"/>
            </a:pPr>
            <a:r>
              <a:rPr lang="en-IN" sz="1600" dirty="0">
                <a:cs typeface="Times New Roman" panose="02020603050405020304" pitchFamily="18" charset="0"/>
              </a:rPr>
              <a:t>Nutrition</a:t>
            </a:r>
          </a:p>
          <a:p>
            <a:pPr marL="285750" indent="-285750">
              <a:buFont typeface="Arial" panose="020B0604020202020204" pitchFamily="34" charset="0"/>
              <a:buChar char="•"/>
            </a:pPr>
            <a:r>
              <a:rPr lang="en-IN" sz="1600" dirty="0">
                <a:cs typeface="Times New Roman" panose="02020603050405020304" pitchFamily="18" charset="0"/>
              </a:rPr>
              <a:t>Toxic element and species monitoring</a:t>
            </a:r>
          </a:p>
          <a:p>
            <a:pPr marL="285750" indent="-285750">
              <a:buFont typeface="Arial" panose="020B0604020202020204" pitchFamily="34" charset="0"/>
              <a:buChar char="•"/>
            </a:pPr>
            <a:r>
              <a:rPr lang="en-IN" sz="1600" dirty="0">
                <a:cs typeface="Times New Roman" panose="02020603050405020304" pitchFamily="18" charset="0"/>
              </a:rPr>
              <a:t>QA/QS</a:t>
            </a:r>
          </a:p>
          <a:p>
            <a:endParaRPr lang="en-IN" b="1" dirty="0"/>
          </a:p>
          <a:p>
            <a:endParaRPr lang="en-IN" b="1" dirty="0"/>
          </a:p>
          <a:p>
            <a:endParaRPr lang="en-IN" b="1" dirty="0"/>
          </a:p>
          <a:p>
            <a:endParaRPr lang="en-IN" b="1" dirty="0"/>
          </a:p>
          <a:p>
            <a:endParaRPr lang="en-IN" b="1" dirty="0"/>
          </a:p>
          <a:p>
            <a:endParaRPr lang="en-IN" b="1" dirty="0"/>
          </a:p>
          <a:p>
            <a:r>
              <a:rPr lang="en-IN" b="1" dirty="0"/>
              <a:t>Pharmaceutical</a:t>
            </a:r>
          </a:p>
          <a:p>
            <a:pPr marL="285750" indent="-285750">
              <a:buFont typeface="Arial" panose="020B0604020202020204" pitchFamily="34" charset="0"/>
              <a:buChar char="•"/>
            </a:pPr>
            <a:r>
              <a:rPr lang="en-US" sz="1600" dirty="0">
                <a:cs typeface="Times New Roman" panose="02020603050405020304" pitchFamily="18" charset="0"/>
              </a:rPr>
              <a:t>Routine heavy metal contamination </a:t>
            </a:r>
          </a:p>
          <a:p>
            <a:pPr marL="285750" indent="-285750">
              <a:buFont typeface="Arial" panose="020B0604020202020204" pitchFamily="34" charset="0"/>
              <a:buChar char="•"/>
            </a:pPr>
            <a:r>
              <a:rPr lang="en-US" sz="1600" dirty="0">
                <a:cs typeface="Times New Roman" panose="02020603050405020304" pitchFamily="18" charset="0"/>
              </a:rPr>
              <a:t>Drug discovery</a:t>
            </a:r>
            <a:endParaRPr lang="en-IN" sz="1600" dirty="0">
              <a:cs typeface="Times New Roman" panose="02020603050405020304" pitchFamily="18" charset="0"/>
            </a:endParaRPr>
          </a:p>
          <a:p>
            <a:pPr marL="285750" indent="-285750">
              <a:buFont typeface="Arial" panose="020B0604020202020204" pitchFamily="34" charset="0"/>
              <a:buChar char="•"/>
            </a:pPr>
            <a:r>
              <a:rPr lang="en-US" sz="1600" dirty="0">
                <a:cs typeface="Times New Roman" panose="02020603050405020304" pitchFamily="18" charset="0"/>
              </a:rPr>
              <a:t>Clinical trials</a:t>
            </a:r>
            <a:endParaRPr lang="en-IN" sz="1600" dirty="0">
              <a:cs typeface="Times New Roman" panose="02020603050405020304" pitchFamily="18" charset="0"/>
            </a:endParaRPr>
          </a:p>
          <a:p>
            <a:endParaRPr lang="en-IN" b="1" dirty="0"/>
          </a:p>
          <a:p>
            <a:endParaRPr lang="en-IN" b="1" dirty="0"/>
          </a:p>
          <a:p>
            <a:endParaRPr lang="en-IN" b="1" dirty="0"/>
          </a:p>
          <a:p>
            <a:r>
              <a:rPr lang="en-IN" b="1" dirty="0"/>
              <a:t>Nuclear</a:t>
            </a:r>
          </a:p>
          <a:p>
            <a:pPr marL="285750" indent="-285750">
              <a:buFont typeface="Arial" panose="020B0604020202020204" pitchFamily="34" charset="0"/>
              <a:buChar char="•"/>
            </a:pPr>
            <a:r>
              <a:rPr lang="en-IN" sz="1600" dirty="0">
                <a:cs typeface="Times New Roman" panose="02020603050405020304" pitchFamily="18" charset="0"/>
              </a:rPr>
              <a:t>Fuel production</a:t>
            </a:r>
          </a:p>
          <a:p>
            <a:pPr marL="285750" indent="-285750">
              <a:buFont typeface="Arial" panose="020B0604020202020204" pitchFamily="34" charset="0"/>
              <a:buChar char="•"/>
            </a:pPr>
            <a:r>
              <a:rPr lang="en-IN" sz="1600" dirty="0">
                <a:cs typeface="Times New Roman" panose="02020603050405020304" pitchFamily="18" charset="0"/>
              </a:rPr>
              <a:t>Measurement of radioisotopes</a:t>
            </a:r>
          </a:p>
          <a:p>
            <a:pPr marL="285750" indent="-285750">
              <a:buFont typeface="Arial" panose="020B0604020202020204" pitchFamily="34" charset="0"/>
              <a:buChar char="•"/>
            </a:pPr>
            <a:r>
              <a:rPr lang="en-IN" sz="1600" dirty="0">
                <a:cs typeface="Times New Roman" panose="02020603050405020304" pitchFamily="18" charset="0"/>
              </a:rPr>
              <a:t>Primary cooling water</a:t>
            </a:r>
          </a:p>
          <a:p>
            <a:pPr marL="285750" indent="-285750">
              <a:buFont typeface="Arial" panose="020B0604020202020204" pitchFamily="34" charset="0"/>
              <a:buChar char="•"/>
            </a:pPr>
            <a:endParaRPr lang="en-IN" sz="1600" dirty="0">
              <a:cs typeface="Times New Roman" panose="02020603050405020304" pitchFamily="18" charset="0"/>
            </a:endParaRPr>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r>
              <a:rPr lang="en-IN" b="1" dirty="0">
                <a:solidFill>
                  <a:srgbClr val="0070C0"/>
                </a:solidFill>
              </a:rPr>
              <a:t>Geological</a:t>
            </a:r>
          </a:p>
          <a:p>
            <a:pPr marL="285750" indent="-285750">
              <a:buFont typeface="Arial" panose="020B0604020202020204" pitchFamily="34" charset="0"/>
              <a:buChar char="•"/>
            </a:pPr>
            <a:r>
              <a:rPr lang="en-IN" sz="1600" dirty="0">
                <a:solidFill>
                  <a:srgbClr val="0070C0"/>
                </a:solidFill>
                <a:cs typeface="Times New Roman" panose="02020603050405020304" pitchFamily="18" charset="0"/>
              </a:rPr>
              <a:t>Soil, Rock, Sediment</a:t>
            </a:r>
          </a:p>
          <a:p>
            <a:pPr marL="285750" indent="-285750">
              <a:buFont typeface="Arial" panose="020B0604020202020204" pitchFamily="34" charset="0"/>
              <a:buChar char="•"/>
            </a:pPr>
            <a:r>
              <a:rPr lang="en-IN" sz="1600" dirty="0">
                <a:solidFill>
                  <a:srgbClr val="0070C0"/>
                </a:solidFill>
                <a:cs typeface="Times New Roman" panose="02020603050405020304" pitchFamily="18" charset="0"/>
              </a:rPr>
              <a:t>Hydrology</a:t>
            </a:r>
          </a:p>
          <a:p>
            <a:pPr marL="285750" indent="-285750">
              <a:buFont typeface="Arial" panose="020B0604020202020204" pitchFamily="34" charset="0"/>
              <a:buChar char="•"/>
            </a:pPr>
            <a:r>
              <a:rPr lang="en-IN" sz="1600" dirty="0">
                <a:solidFill>
                  <a:srgbClr val="0070C0"/>
                </a:solidFill>
                <a:cs typeface="Times New Roman" panose="02020603050405020304" pitchFamily="18" charset="0"/>
              </a:rPr>
              <a:t>Isotope ratio studies</a:t>
            </a:r>
          </a:p>
          <a:p>
            <a:endParaRPr lang="en-IN" dirty="0"/>
          </a:p>
          <a:p>
            <a:endParaRPr lang="en-IN" b="1" dirty="0"/>
          </a:p>
          <a:p>
            <a:endParaRPr lang="en-IN" b="1" dirty="0"/>
          </a:p>
          <a:p>
            <a:endParaRPr lang="en-IN" b="1" dirty="0"/>
          </a:p>
          <a:p>
            <a:r>
              <a:rPr lang="en-IN" b="1" dirty="0"/>
              <a:t>Archaeological</a:t>
            </a:r>
          </a:p>
          <a:p>
            <a:pPr marL="285750" indent="-285750">
              <a:buFont typeface="Arial" panose="020B0604020202020204" pitchFamily="34" charset="0"/>
              <a:buChar char="•"/>
            </a:pPr>
            <a:r>
              <a:rPr lang="en-IN" sz="1600" dirty="0">
                <a:cs typeface="Times New Roman" panose="02020603050405020304" pitchFamily="18" charset="0"/>
              </a:rPr>
              <a:t>Artifact analysis, proof of origin</a:t>
            </a:r>
          </a:p>
          <a:p>
            <a:pPr marL="285750" indent="-285750">
              <a:buFont typeface="Arial" panose="020B0604020202020204" pitchFamily="34" charset="0"/>
              <a:buChar char="•"/>
            </a:pPr>
            <a:r>
              <a:rPr lang="en-IN" sz="1600" dirty="0">
                <a:cs typeface="Times New Roman" panose="02020603050405020304" pitchFamily="18" charset="0"/>
              </a:rPr>
              <a:t>Tooth, bone, tusk, shell, coral analysis</a:t>
            </a:r>
          </a:p>
          <a:p>
            <a:endParaRPr lang="en-IN" dirty="0"/>
          </a:p>
          <a:p>
            <a:endParaRPr lang="en-IN" dirty="0"/>
          </a:p>
          <a:p>
            <a:r>
              <a:rPr lang="en-IN" b="1" dirty="0"/>
              <a:t>Forensics</a:t>
            </a:r>
          </a:p>
          <a:p>
            <a:pPr marL="285750" indent="-285750">
              <a:buFont typeface="Arial" panose="020B0604020202020204" pitchFamily="34" charset="0"/>
              <a:buChar char="•"/>
            </a:pPr>
            <a:r>
              <a:rPr lang="en-IN" sz="1600" dirty="0">
                <a:cs typeface="Times New Roman" panose="02020603050405020304" pitchFamily="18" charset="0"/>
              </a:rPr>
              <a:t>Gun shot residue</a:t>
            </a:r>
          </a:p>
          <a:p>
            <a:pPr marL="285750" indent="-285750">
              <a:buFont typeface="Arial" panose="020B0604020202020204" pitchFamily="34" charset="0"/>
              <a:buChar char="•"/>
            </a:pPr>
            <a:r>
              <a:rPr lang="en-IN" sz="1600" dirty="0">
                <a:cs typeface="Times New Roman" panose="02020603050405020304" pitchFamily="18" charset="0"/>
              </a:rPr>
              <a:t>Material characterization</a:t>
            </a:r>
          </a:p>
          <a:p>
            <a:pPr marL="285750" indent="-285750">
              <a:buFont typeface="Arial" panose="020B0604020202020204" pitchFamily="34" charset="0"/>
              <a:buChar char="•"/>
            </a:pPr>
            <a:r>
              <a:rPr lang="en-IN" sz="1600" dirty="0">
                <a:cs typeface="Times New Roman" panose="02020603050405020304" pitchFamily="18" charset="0"/>
              </a:rPr>
              <a:t>Point of origin</a:t>
            </a:r>
          </a:p>
          <a:p>
            <a:pPr marL="285750" indent="-285750">
              <a:buFont typeface="Arial" panose="020B0604020202020204" pitchFamily="34" charset="0"/>
              <a:buChar char="•"/>
            </a:pPr>
            <a:r>
              <a:rPr lang="en-IN" sz="1600" dirty="0">
                <a:cs typeface="Times New Roman" panose="02020603050405020304" pitchFamily="18" charset="0"/>
              </a:rPr>
              <a:t>Poisoning</a:t>
            </a:r>
          </a:p>
          <a:p>
            <a:endParaRPr lang="en-IN" dirty="0"/>
          </a:p>
          <a:p>
            <a:endParaRPr lang="en-IN" dirty="0"/>
          </a:p>
          <a:p>
            <a:r>
              <a:rPr lang="en-IN" dirty="0"/>
              <a:t>                                  </a:t>
            </a:r>
          </a:p>
        </p:txBody>
      </p:sp>
      <p:sp>
        <p:nvSpPr>
          <p:cNvPr id="6" name="TextBox 5">
            <a:extLst>
              <a:ext uri="{FF2B5EF4-FFF2-40B4-BE49-F238E27FC236}">
                <a16:creationId xmlns:a16="http://schemas.microsoft.com/office/drawing/2014/main" id="{8C09F6F1-8374-7A81-DFB6-21A13615AC84}"/>
              </a:ext>
            </a:extLst>
          </p:cNvPr>
          <p:cNvSpPr txBox="1"/>
          <p:nvPr/>
        </p:nvSpPr>
        <p:spPr>
          <a:xfrm>
            <a:off x="980440" y="76200"/>
            <a:ext cx="8153400" cy="523220"/>
          </a:xfrm>
          <a:prstGeom prst="rect">
            <a:avLst/>
          </a:prstGeom>
          <a:noFill/>
        </p:spPr>
        <p:txBody>
          <a:bodyPr wrap="square" rtlCol="0">
            <a:spAutoFit/>
          </a:bodyPr>
          <a:lstStyle/>
          <a:p>
            <a:pPr algn="ctr"/>
            <a:r>
              <a:rPr lang="en-IN" sz="2800" b="1" dirty="0"/>
              <a:t>ICP-MS application</a:t>
            </a:r>
          </a:p>
        </p:txBody>
      </p:sp>
    </p:spTree>
    <p:extLst>
      <p:ext uri="{BB962C8B-B14F-4D97-AF65-F5344CB8AC3E}">
        <p14:creationId xmlns:p14="http://schemas.microsoft.com/office/powerpoint/2010/main" val="3842424451"/>
      </p:ext>
    </p:extLst>
  </p:cSld>
  <p:clrMapOvr>
    <a:masterClrMapping/>
  </p:clrMapOvr>
  <p:transition>
    <p:wipe dir="d"/>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olstice">
  <a:themeElements>
    <a:clrScheme name="Concours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Solstice">
      <a:fillStyleLst>
        <a:solidFill>
          <a:schemeClr val="phClr"/>
        </a:solidFill>
        <a:gradFill rotWithShape="1">
          <a:gsLst>
            <a:gs pos="0">
              <a:schemeClr val="phClr">
                <a:tint val="35000"/>
                <a:satMod val="253000"/>
              </a:schemeClr>
            </a:gs>
            <a:gs pos="50000">
              <a:schemeClr val="phClr">
                <a:tint val="42000"/>
                <a:satMod val="255000"/>
              </a:schemeClr>
            </a:gs>
            <a:gs pos="97000">
              <a:schemeClr val="phClr">
                <a:tint val="53000"/>
                <a:satMod val="260000"/>
              </a:schemeClr>
            </a:gs>
            <a:gs pos="100000">
              <a:schemeClr val="phClr">
                <a:tint val="56000"/>
                <a:satMod val="275000"/>
              </a:schemeClr>
            </a:gs>
          </a:gsLst>
          <a:path path="circle">
            <a:fillToRect l="50000" t="50000" r="50000" b="50000"/>
          </a:path>
        </a:gradFill>
        <a:gradFill rotWithShape="1">
          <a:gsLst>
            <a:gs pos="0">
              <a:schemeClr val="phClr">
                <a:tint val="92000"/>
                <a:satMod val="170000"/>
              </a:schemeClr>
            </a:gs>
            <a:gs pos="15000">
              <a:schemeClr val="phClr">
                <a:tint val="92000"/>
                <a:shade val="99000"/>
                <a:satMod val="170000"/>
              </a:schemeClr>
            </a:gs>
            <a:gs pos="62000">
              <a:schemeClr val="phClr">
                <a:tint val="96000"/>
                <a:shade val="80000"/>
                <a:satMod val="170000"/>
              </a:schemeClr>
            </a:gs>
            <a:gs pos="97000">
              <a:schemeClr val="phClr">
                <a:tint val="98000"/>
                <a:shade val="63000"/>
                <a:satMod val="170000"/>
              </a:schemeClr>
            </a:gs>
            <a:gs pos="100000">
              <a:schemeClr val="phClr">
                <a:shade val="62000"/>
                <a:satMod val="170000"/>
              </a:schemeClr>
            </a:gs>
          </a:gsLst>
          <a:path path="circle">
            <a:fillToRect l="50000" t="50000" r="50000" b="50000"/>
          </a:path>
        </a:gradFill>
      </a:fillStyleLst>
      <a:lnStyleLst>
        <a:ln w="9525" cap="flat" cmpd="sng" algn="ctr">
          <a:solidFill>
            <a:schemeClr val="ph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5400000" rotWithShape="0">
              <a:srgbClr val="000000">
                <a:alpha val="43137"/>
              </a:srgbClr>
            </a:outerShdw>
          </a:effectLst>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8700000"/>
            </a:lightRig>
          </a:scene3d>
          <a:sp3d contourW="12700">
            <a:bevelT w="0" h="0"/>
            <a:contourClr>
              <a:schemeClr val="phClr">
                <a:shade val="80000"/>
              </a:schemeClr>
            </a:contourClr>
          </a:sp3d>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5400000"/>
            </a:lightRig>
          </a:scene3d>
          <a:sp3d contourW="12700">
            <a:bevelT w="25400" h="50800" prst="angle"/>
            <a:contourClr>
              <a:schemeClr val="phClr"/>
            </a:contourClr>
          </a:sp3d>
        </a:effectStyle>
      </a:effectStyleLst>
      <a:bgFillStyleLst>
        <a:solidFill>
          <a:schemeClr val="phClr"/>
        </a:solidFill>
        <a:gradFill rotWithShape="1">
          <a:gsLst>
            <a:gs pos="0">
              <a:schemeClr val="phClr">
                <a:tint val="60000"/>
                <a:satMod val="355000"/>
              </a:schemeClr>
            </a:gs>
            <a:gs pos="40000">
              <a:schemeClr val="phClr">
                <a:tint val="85000"/>
                <a:satMod val="320000"/>
              </a:schemeClr>
            </a:gs>
            <a:gs pos="100000">
              <a:schemeClr val="phClr">
                <a:shade val="55000"/>
                <a:satMod val="300000"/>
              </a:schemeClr>
            </a:gs>
          </a:gsLst>
          <a:path path="circle">
            <a:fillToRect l="-24500" t="-20000" r="124500" b="120000"/>
          </a:path>
        </a:gradFill>
        <a:blipFill>
          <a:blip xmlns:r="http://schemas.openxmlformats.org/officeDocument/2006/relationships" r:embed="rId1">
            <a:duotone>
              <a:schemeClr val="phClr">
                <a:shade val="9000"/>
                <a:satMod val="300000"/>
              </a:schemeClr>
              <a:schemeClr val="phClr">
                <a:tint val="90000"/>
                <a:satMod val="225000"/>
              </a:schemeClr>
            </a:duotone>
          </a:blip>
          <a:tile tx="0" ty="0" sx="90000" sy="90000" flip="xy"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2531</TotalTime>
  <Words>1909</Words>
  <Application>Microsoft Office PowerPoint</Application>
  <PresentationFormat>On-screen Show (4:3)</PresentationFormat>
  <Paragraphs>314</Paragraphs>
  <Slides>34</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34</vt:i4>
      </vt:variant>
    </vt:vector>
  </HeadingPairs>
  <TitlesOfParts>
    <vt:vector size="43" baseType="lpstr">
      <vt:lpstr>Arial</vt:lpstr>
      <vt:lpstr>Arial MT</vt:lpstr>
      <vt:lpstr>Calibri</vt:lpstr>
      <vt:lpstr>Comic Sans MS</vt:lpstr>
      <vt:lpstr>Times New Roman</vt:lpstr>
      <vt:lpstr>Verdana</vt:lpstr>
      <vt:lpstr>Wingdings</vt:lpstr>
      <vt:lpstr>Wingdings 2</vt:lpstr>
      <vt:lpstr>Solstice</vt:lpstr>
      <vt:lpstr>Tools for Geochemical Analysis   Dr. Anoop Ambili </vt:lpstr>
      <vt:lpstr>PowerPoint Presentation</vt:lpstr>
      <vt:lpstr>PowerPoint Presentation</vt:lpstr>
      <vt:lpstr>Elements analysed using ICP-MS</vt:lpstr>
      <vt:lpstr>PowerPoint Presentation</vt:lpstr>
      <vt:lpstr>PowerPoint Presentation</vt:lpstr>
      <vt:lpstr>Basic instrument component function</vt:lpstr>
      <vt:lpstr>PowerPoint Presentation</vt:lpstr>
      <vt:lpstr>PowerPoint Presentation</vt:lpstr>
      <vt:lpstr>PowerPoint Presentation</vt:lpstr>
      <vt:lpstr>PowerPoint Presentation</vt:lpstr>
      <vt:lpstr>PowerPoint Presentation</vt:lpstr>
      <vt:lpstr>PowerPoint Presentation</vt:lpstr>
      <vt:lpstr>Ionization Process</vt:lpstr>
      <vt:lpstr>Typical ionization for elements</vt:lpstr>
      <vt:lpstr>ICP Interface Region</vt:lpstr>
      <vt:lpstr>Interface</vt:lpstr>
      <vt:lpstr>INTERFACE</vt:lpstr>
      <vt:lpstr>Ion Lenses</vt:lpstr>
      <vt:lpstr>ICP Ion Focussing Region</vt:lpstr>
      <vt:lpstr>Ion Focusing</vt:lpstr>
      <vt:lpstr>Mass Analyzer- Quadrupole</vt:lpstr>
      <vt:lpstr>Detector</vt:lpstr>
      <vt:lpstr>Ion Detectors</vt:lpstr>
      <vt:lpstr>PowerPoint Presentation</vt:lpstr>
      <vt:lpstr>PowerPoint Presentation</vt:lpstr>
      <vt:lpstr>Collision Reaction Cell</vt:lpstr>
      <vt:lpstr>PowerPoint Presentation</vt:lpstr>
      <vt:lpstr>PowerPoint Presentation</vt:lpstr>
      <vt:lpstr>Sample Preparation</vt:lpstr>
      <vt:lpstr>Internal Stadardization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ICP-MS</dc:title>
  <dc:creator>Dell</dc:creator>
  <cp:lastModifiedBy>Dell</cp:lastModifiedBy>
  <cp:revision>66</cp:revision>
  <dcterms:created xsi:type="dcterms:W3CDTF">2006-08-16T00:00:00Z</dcterms:created>
  <dcterms:modified xsi:type="dcterms:W3CDTF">2025-05-03T02:35:10Z</dcterms:modified>
</cp:coreProperties>
</file>