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521" r:id="rId3"/>
    <p:sldId id="624" r:id="rId4"/>
    <p:sldId id="525" r:id="rId5"/>
    <p:sldId id="526" r:id="rId6"/>
    <p:sldId id="527" r:id="rId7"/>
    <p:sldId id="528" r:id="rId8"/>
    <p:sldId id="529" r:id="rId9"/>
    <p:sldId id="530" r:id="rId10"/>
    <p:sldId id="537" r:id="rId11"/>
    <p:sldId id="568" r:id="rId12"/>
    <p:sldId id="538" r:id="rId13"/>
    <p:sldId id="564" r:id="rId14"/>
    <p:sldId id="566" r:id="rId15"/>
    <p:sldId id="545" r:id="rId16"/>
    <p:sldId id="539" r:id="rId17"/>
    <p:sldId id="625" r:id="rId18"/>
    <p:sldId id="261" r:id="rId19"/>
    <p:sldId id="275" r:id="rId20"/>
    <p:sldId id="274" r:id="rId21"/>
    <p:sldId id="271" r:id="rId22"/>
    <p:sldId id="276" r:id="rId23"/>
    <p:sldId id="260" r:id="rId24"/>
    <p:sldId id="265" r:id="rId25"/>
    <p:sldId id="266" r:id="rId26"/>
    <p:sldId id="284" r:id="rId27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75" autoAdjust="0"/>
    <p:restoredTop sz="93690" autoAdjust="0"/>
  </p:normalViewPr>
  <p:slideViewPr>
    <p:cSldViewPr>
      <p:cViewPr varScale="1">
        <p:scale>
          <a:sx n="61" d="100"/>
          <a:sy n="61" d="100"/>
        </p:scale>
        <p:origin x="138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48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B12BC94-826C-44CC-9139-4D8AF4CCD7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DB217-5036-48E7-9F80-D8568EC4E5C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4495E4C6-17AD-4BA4-85ED-1CEF5353A859}" type="datetimeFigureOut">
              <a:rPr lang="en-IN"/>
              <a:pPr>
                <a:defRPr/>
              </a:pPr>
              <a:t>26-03-2025</a:t>
            </a:fld>
            <a:endParaRPr lang="en-IN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E099106-0BB6-43A6-A3E2-09D734B298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FBCB12F-E21B-4BB3-98A4-F84DE79422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IN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B2BC49-BC64-4703-B80A-9476428F948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D10B2-65DA-4A6A-9411-A7CE5F94A9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A50488F-DB6A-40AC-8FA4-772BF47F0323}" type="slidenum">
              <a:rPr lang="en-IN" altLang="en-US"/>
              <a:pPr>
                <a:defRPr/>
              </a:pPr>
              <a:t>‹#›</a:t>
            </a:fld>
            <a:endParaRPr lang="en-I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Slide Image Placeholder 1">
            <a:extLst>
              <a:ext uri="{FF2B5EF4-FFF2-40B4-BE49-F238E27FC236}">
                <a16:creationId xmlns:a16="http://schemas.microsoft.com/office/drawing/2014/main" id="{22529E23-AEA9-4F3F-A953-3DF667876E5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3251" name="Notes Placeholder 2">
            <a:extLst>
              <a:ext uri="{FF2B5EF4-FFF2-40B4-BE49-F238E27FC236}">
                <a16:creationId xmlns:a16="http://schemas.microsoft.com/office/drawing/2014/main" id="{B8DDD057-B7FA-4726-80F4-6E39DA04B5F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de-DE" altLang="en-US">
              <a:ea typeface="MS PGothic" panose="020B0600070205080204" pitchFamily="34" charset="-128"/>
            </a:endParaRPr>
          </a:p>
        </p:txBody>
      </p:sp>
      <p:sp>
        <p:nvSpPr>
          <p:cNvPr id="53252" name="Slide Number Placeholder 3">
            <a:extLst>
              <a:ext uri="{FF2B5EF4-FFF2-40B4-BE49-F238E27FC236}">
                <a16:creationId xmlns:a16="http://schemas.microsoft.com/office/drawing/2014/main" id="{F553A80A-54C5-4882-B4BA-80754C25199F}"/>
              </a:ext>
            </a:extLst>
          </p:cNvPr>
          <p:cNvSpPr txBox="1">
            <a:spLocks noGrp="1"/>
          </p:cNvSpPr>
          <p:nvPr/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r"/>
            <a:fld id="{9ED82B57-FF99-449E-B028-2D291F86A917}" type="slidenum">
              <a:rPr lang="en-US" altLang="en-US" sz="1200"/>
              <a:pPr algn="r"/>
              <a:t>2</a:t>
            </a:fld>
            <a:endParaRPr lang="en-US" altLang="en-US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Slide Image Placeholder 1">
            <a:extLst>
              <a:ext uri="{FF2B5EF4-FFF2-40B4-BE49-F238E27FC236}">
                <a16:creationId xmlns:a16="http://schemas.microsoft.com/office/drawing/2014/main" id="{2C68310A-0CF1-426A-8FB7-446E7597A69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2467" name="Notes Placeholder 2">
            <a:extLst>
              <a:ext uri="{FF2B5EF4-FFF2-40B4-BE49-F238E27FC236}">
                <a16:creationId xmlns:a16="http://schemas.microsoft.com/office/drawing/2014/main" id="{898AF195-17B7-482E-9440-A251A243BBA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62468" name="Slide Number Placeholder 3">
            <a:extLst>
              <a:ext uri="{FF2B5EF4-FFF2-40B4-BE49-F238E27FC236}">
                <a16:creationId xmlns:a16="http://schemas.microsoft.com/office/drawing/2014/main" id="{A20AEC03-7A7C-44EB-B3A1-42B76175D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F207F78-E895-4D12-A31A-B8CEC379DB3C}" type="slidenum">
              <a:rPr lang="en-US" altLang="en-US" sz="1200">
                <a:solidFill>
                  <a:srgbClr val="000000"/>
                </a:solidFill>
              </a:rPr>
              <a:pPr/>
              <a:t>8</a:t>
            </a:fld>
            <a:endParaRPr lang="en-US" altLang="en-US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Slide Image Placeholder 1">
            <a:extLst>
              <a:ext uri="{FF2B5EF4-FFF2-40B4-BE49-F238E27FC236}">
                <a16:creationId xmlns:a16="http://schemas.microsoft.com/office/drawing/2014/main" id="{414ABAD5-3116-49DA-8539-C7165FDB2D9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7283" name="Notes Placeholder 2">
            <a:extLst>
              <a:ext uri="{FF2B5EF4-FFF2-40B4-BE49-F238E27FC236}">
                <a16:creationId xmlns:a16="http://schemas.microsoft.com/office/drawing/2014/main" id="{0B4A0F2A-7FAD-4E91-898B-06E27B972DD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en-US" altLang="en-US">
                <a:ea typeface="MS PGothic" panose="020B0600070205080204" pitchFamily="34" charset="-128"/>
              </a:rPr>
              <a:t>Change date</a:t>
            </a:r>
          </a:p>
        </p:txBody>
      </p:sp>
      <p:sp>
        <p:nvSpPr>
          <p:cNvPr id="97284" name="Slide Number Placeholder 3">
            <a:extLst>
              <a:ext uri="{FF2B5EF4-FFF2-40B4-BE49-F238E27FC236}">
                <a16:creationId xmlns:a16="http://schemas.microsoft.com/office/drawing/2014/main" id="{085362BF-0C66-4AF3-BCED-827BF317EA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145D03A1-DE83-46A8-80EF-264782F1475F}" type="slidenum">
              <a:rPr lang="en-US" altLang="en-US" sz="1200">
                <a:solidFill>
                  <a:srgbClr val="000000"/>
                </a:solidFill>
              </a:rPr>
              <a:pPr/>
              <a:t>10</a:t>
            </a:fld>
            <a:endParaRPr lang="en-US" altLang="en-US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>
            <a:extLst>
              <a:ext uri="{FF2B5EF4-FFF2-40B4-BE49-F238E27FC236}">
                <a16:creationId xmlns:a16="http://schemas.microsoft.com/office/drawing/2014/main" id="{693BB7A7-7C8E-4197-8A31-9D61830DB2E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8307" name="Rectangle 3">
            <a:extLst>
              <a:ext uri="{FF2B5EF4-FFF2-40B4-BE49-F238E27FC236}">
                <a16:creationId xmlns:a16="http://schemas.microsoft.com/office/drawing/2014/main" id="{A16BE423-A1A6-45F2-955E-E95FB9BC88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en-US" altLang="en-US">
              <a:ea typeface="MS PGothic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Slide Image Placeholder 1">
            <a:extLst>
              <a:ext uri="{FF2B5EF4-FFF2-40B4-BE49-F238E27FC236}">
                <a16:creationId xmlns:a16="http://schemas.microsoft.com/office/drawing/2014/main" id="{0AA31F71-4B2C-4041-A031-FC194EAB662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4691" name="Notes Placeholder 2">
            <a:extLst>
              <a:ext uri="{FF2B5EF4-FFF2-40B4-BE49-F238E27FC236}">
                <a16:creationId xmlns:a16="http://schemas.microsoft.com/office/drawing/2014/main" id="{C74786F0-359B-45C1-BB7A-E89173B3927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en-US" altLang="en-US">
                <a:ea typeface="MS PGothic" panose="020B0600070205080204" pitchFamily="34" charset="-128"/>
              </a:rPr>
              <a:t>Effective at grabbing CO2, not just kinetics </a:t>
            </a:r>
          </a:p>
        </p:txBody>
      </p:sp>
      <p:sp>
        <p:nvSpPr>
          <p:cNvPr id="114692" name="Slide Number Placeholder 3">
            <a:extLst>
              <a:ext uri="{FF2B5EF4-FFF2-40B4-BE49-F238E27FC236}">
                <a16:creationId xmlns:a16="http://schemas.microsoft.com/office/drawing/2014/main" id="{A2B4B034-8462-42F5-99F6-771A2658C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183FA7F1-FCFA-45B7-9EE6-8D3C75787927}" type="slidenum">
              <a:rPr lang="en-US" altLang="en-US" sz="1200"/>
              <a:pPr/>
              <a:t>13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2591099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Image Placeholder 1">
            <a:extLst>
              <a:ext uri="{FF2B5EF4-FFF2-40B4-BE49-F238E27FC236}">
                <a16:creationId xmlns:a16="http://schemas.microsoft.com/office/drawing/2014/main" id="{22B2139F-D7A9-4BEF-BA3D-F7933028879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5715" name="Notes Placeholder 2">
            <a:extLst>
              <a:ext uri="{FF2B5EF4-FFF2-40B4-BE49-F238E27FC236}">
                <a16:creationId xmlns:a16="http://schemas.microsoft.com/office/drawing/2014/main" id="{BCBDE0A4-3ACC-408D-AE0C-E32D7654A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en-US" altLang="en-US">
                <a:ea typeface="MS PGothic" panose="020B0600070205080204" pitchFamily="34" charset="-128"/>
              </a:rPr>
              <a:t>Separated in space (grab effective)</a:t>
            </a:r>
          </a:p>
        </p:txBody>
      </p:sp>
      <p:sp>
        <p:nvSpPr>
          <p:cNvPr id="115716" name="Slide Number Placeholder 3">
            <a:extLst>
              <a:ext uri="{FF2B5EF4-FFF2-40B4-BE49-F238E27FC236}">
                <a16:creationId xmlns:a16="http://schemas.microsoft.com/office/drawing/2014/main" id="{2BBBC629-48BD-4D55-B3A3-63F562B96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5D1FA87-1BD9-4F0A-A9D8-3825D16F5564}" type="slidenum">
              <a:rPr lang="en-US" altLang="en-US" sz="1200"/>
              <a:pPr/>
              <a:t>14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34184612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6844048-5BB3-4D54-B382-75055EB8B53F}" type="slidenum">
              <a:rPr lang="en-IN"/>
              <a:pPr/>
              <a:t>18</a:t>
            </a:fld>
            <a:endParaRPr lang="en-IN"/>
          </a:p>
        </p:txBody>
      </p:sp>
      <p:sp>
        <p:nvSpPr>
          <p:cNvPr id="39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173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E32B339-5ACC-4E1D-8851-4EA63AC88BB6}" type="slidenum">
              <a:rPr lang="en-IN"/>
              <a:pPr/>
              <a:t>23</a:t>
            </a:fld>
            <a:endParaRPr lang="en-IN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7027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7A633B3-FD12-498C-81E4-5461858B622B}" type="slidenum">
              <a:rPr lang="en-IN"/>
              <a:pPr/>
              <a:t>24</a:t>
            </a:fld>
            <a:endParaRPr lang="en-IN"/>
          </a:p>
        </p:txBody>
      </p:sp>
      <p:sp>
        <p:nvSpPr>
          <p:cNvPr id="48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5271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5D49DCD-AD3F-4CE4-A3A1-EB9407B20164}" type="slidenum">
              <a:rPr lang="en-IN"/>
              <a:pPr/>
              <a:t>25</a:t>
            </a:fld>
            <a:endParaRPr lang="en-IN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2504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b83a44996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cb83a44996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4607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EE118F-D257-4318-A3A2-EECA19410BF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C97103C-CE56-4C35-B5D2-E932D10544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31569ED-472A-4591-B1C8-91A8AA55F4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1EFD36-5984-457D-BADD-B4A3F349C2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4979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C13EFD9-AB6D-434D-BC2E-8B73CC13F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B0ED277-8375-4E95-B412-94EF1677FAD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71C59AB-1EAD-4FD8-95DC-AD356CFA4F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6D8436-06A3-43A4-BA5B-8AF70AEB64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754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24E2C6-9E75-43EE-99CD-453E04C865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5018E45-3328-444D-8796-75B3B701D1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A16A509-F4A7-48F3-809D-CBD23ED80F5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974763-CD29-4242-A606-D01C110AD1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6014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060A66-D792-4197-A450-15640D1F3C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39D150-B008-4810-A642-BB58C29B576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ECF246-2CD9-4EFD-B3F8-DA766CBABFB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343884-E97C-43AC-91BE-818B2A6132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214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95DB130-3059-4B58-BDA5-BD072F56A8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754EE56-C6A2-4D14-AF3C-BAE635180F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24C1A1F-C41E-4454-A02E-BDE2567839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52C66B-8C25-4FE5-81EA-D279F10B6BD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1113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8073D249-74BA-4FC7-9180-228CFD77E1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DD93F01-8B96-4D54-88E5-CA53B833D85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D2D4A28-53D6-497F-985F-B1CEC7D70C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ABF0EF-67B1-4AA0-81ED-91DE03744A4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33460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793C45B-F71B-46A7-A2A8-FEA3D83007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E0F0BA5-4205-4DA9-8FA1-D723A7B5D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B7F91C-3F88-4469-8440-DA0A8B7F57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39F030-B1DE-440E-85E3-A637DEB7A7C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8886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462272-BBA7-43EA-9594-79B56445FE8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19C3EE-B0C4-43D8-8138-EBD6BB89F08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8D149F-91B7-4D2A-80E9-143AB91277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B7294A-24AF-420B-8505-410263194C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298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IN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011047-FFB1-4281-8AA7-C67D7FC172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A64777-0A6E-44A1-9A52-089347C955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066FD0-7FB1-4473-9F5A-052CDF76D2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4B33AA-D7D6-4AF9-8507-39A6605B27C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72510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3E3C6A4-4B1A-4C68-BC9E-108062B1B4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C1AA137-5DE1-4D94-A5C4-663255771B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A788E28-AD11-4AD1-9E0C-EB1CB0AB2E0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07F969-126B-4625-93B3-22279DA28B6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355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EFAED9-FCC2-4312-9DB9-099CCCC9F0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F9ABCCB-6606-4ED6-BC8F-C27228E260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9E9A27-7F1E-4BB5-A7E3-48D09E2086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CD6217-5208-4DAE-8F2B-4AF241D0CE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08883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60734-F86E-485B-BE6F-D403DEB855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62688C-8C09-49D2-A3CF-4C4EFFBA9D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77806-7D51-41C3-94F1-95ECDE1BC9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EAD34F-7ECA-488C-A8FC-C0C1447E899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8470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 preserve="1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IN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6E3B21-9DDA-4FAF-8452-B0EFA960C31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FC52A2-EE11-4000-BC5D-3C134546822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ABEACE-6FB7-4B99-9A67-9CEBD7FFC91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2F27C2-0E5F-4AAB-8874-A93956E577B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8300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81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E5B2030-82C9-44DC-877E-5851501067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9A63B46-2CC7-4C4C-B290-7BAAA1F63A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FAE760F-22F1-45C9-8239-30305B70D9B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1D35B8D3-8F19-4A2C-AD58-BE3E89625A4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68A7449-CC58-4CEF-AE5E-3A0514B9DB2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A6E29DF-0E91-4F06-8705-C054EB6BBDC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anoop@iisermohali.ac.in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en.wikipedia.org/wiki/Arid" TargetMode="External"/><Relationship Id="rId5" Type="http://schemas.openxmlformats.org/officeDocument/2006/relationships/hyperlink" Target="http://en.wikipedia.org/wiki/Plant" TargetMode="External"/><Relationship Id="rId4" Type="http://schemas.openxmlformats.org/officeDocument/2006/relationships/hyperlink" Target="http://en.wikipedia.org/wiki/Carbon_fixation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EF3740-78F8-4AF7-B9C0-B2112BDC18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1295400"/>
            <a:ext cx="7459663" cy="641350"/>
          </a:xfrm>
        </p:spPr>
        <p:txBody>
          <a:bodyPr lIns="0" tIns="38100" rIns="0" bIns="0">
            <a:spAutoFit/>
          </a:bodyPr>
          <a:lstStyle/>
          <a:p>
            <a:pPr marL="1901825" indent="-1889125">
              <a:lnSpc>
                <a:spcPts val="4700"/>
              </a:lnSpc>
              <a:spcBef>
                <a:spcPts val="300"/>
              </a:spcBef>
            </a:pPr>
            <a:r>
              <a:rPr lang="en-IN" altLang="en-US">
                <a:solidFill>
                  <a:srgbClr val="000000"/>
                </a:solidFill>
              </a:rPr>
              <a:t>EES203: Geochemistry </a:t>
            </a:r>
            <a:endParaRPr lang="en-US" alt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56A1D54-95EB-4BB2-BAD9-B64ADC3C8E58}"/>
              </a:ext>
            </a:extLst>
          </p:cNvPr>
          <p:cNvSpPr txBox="1"/>
          <p:nvPr/>
        </p:nvSpPr>
        <p:spPr>
          <a:xfrm>
            <a:off x="1555750" y="2133600"/>
            <a:ext cx="7848600" cy="1198563"/>
          </a:xfrm>
          <a:prstGeom prst="rect">
            <a:avLst/>
          </a:prstGeom>
        </p:spPr>
        <p:txBody>
          <a:bodyPr lIns="0" tIns="110490" rIns="0" bIns="0">
            <a:spAutoFit/>
          </a:bodyPr>
          <a:lstStyle/>
          <a:p>
            <a:pPr marL="12700">
              <a:spcBef>
                <a:spcPts val="765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Instructor:</a:t>
            </a:r>
            <a:r>
              <a:rPr sz="3200" spc="-2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Anoop</a:t>
            </a:r>
            <a:r>
              <a:rPr sz="3200" spc="-19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Ambili</a:t>
            </a:r>
            <a:endParaRPr lang="en-IN" sz="3200" spc="-10" dirty="0">
              <a:latin typeface="Times New Roman"/>
              <a:cs typeface="Times New Roman"/>
            </a:endParaRPr>
          </a:p>
          <a:p>
            <a:pPr marL="12700">
              <a:spcBef>
                <a:spcPts val="770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Email</a:t>
            </a:r>
            <a:r>
              <a:rPr sz="3200" spc="-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id: </a:t>
            </a:r>
            <a:r>
              <a:rPr sz="3200" spc="-10" dirty="0">
                <a:latin typeface="Times New Roman"/>
                <a:cs typeface="Times New Roman"/>
                <a:hlinkClick r:id="rId2"/>
              </a:rPr>
              <a:t>anoop@iisermohali.ac.in</a:t>
            </a:r>
            <a:endParaRPr sz="3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ext Box 7">
            <a:extLst>
              <a:ext uri="{FF2B5EF4-FFF2-40B4-BE49-F238E27FC236}">
                <a16:creationId xmlns:a16="http://schemas.microsoft.com/office/drawing/2014/main" id="{87293EB1-7B38-4E0B-A7EE-73F0F589F9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552450"/>
            <a:ext cx="2514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endParaRPr lang="de-DE" altLang="en-US" sz="2400" b="1">
              <a:cs typeface="Times New Roman" panose="02020603050405020304" pitchFamily="18" charset="0"/>
            </a:endParaRPr>
          </a:p>
        </p:txBody>
      </p:sp>
      <p:sp>
        <p:nvSpPr>
          <p:cNvPr id="52227" name="Slide Number Placeholder 11">
            <a:extLst>
              <a:ext uri="{FF2B5EF4-FFF2-40B4-BE49-F238E27FC236}">
                <a16:creationId xmlns:a16="http://schemas.microsoft.com/office/drawing/2014/main" id="{A3215C29-CC29-4272-814D-743FE30323EC}"/>
              </a:ext>
            </a:extLst>
          </p:cNvPr>
          <p:cNvSpPr txBox="1">
            <a:spLocks noGrp="1"/>
          </p:cNvSpPr>
          <p:nvPr/>
        </p:nvSpPr>
        <p:spPr bwMode="auto">
          <a:xfrm>
            <a:off x="-1447800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r">
              <a:spcBef>
                <a:spcPct val="0"/>
              </a:spcBef>
              <a:buFontTx/>
              <a:buNone/>
            </a:pPr>
            <a:fld id="{8137DACE-A828-43BE-8E2C-86CD2AF451CF}" type="slidenum">
              <a:rPr lang="en-US" altLang="en-US" sz="1200" b="1">
                <a:solidFill>
                  <a:srgbClr val="898989"/>
                </a:solidFill>
                <a:cs typeface="Times New Roman" panose="02020603050405020304" pitchFamily="18" charset="0"/>
              </a:rPr>
              <a:pPr algn="r"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200" b="1">
              <a:solidFill>
                <a:srgbClr val="898989"/>
              </a:solidFill>
              <a:cs typeface="Times New Roman" panose="02020603050405020304" pitchFamily="18" charset="0"/>
            </a:endParaRPr>
          </a:p>
        </p:txBody>
      </p:sp>
      <p:sp>
        <p:nvSpPr>
          <p:cNvPr id="52228" name="TextBox 3">
            <a:extLst>
              <a:ext uri="{FF2B5EF4-FFF2-40B4-BE49-F238E27FC236}">
                <a16:creationId xmlns:a16="http://schemas.microsoft.com/office/drawing/2014/main" id="{11B21B10-3A17-4537-B6CE-7B6518149E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888" y="457200"/>
            <a:ext cx="26193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de-DE" altLang="en-US" sz="2400" b="1">
                <a:solidFill>
                  <a:srgbClr val="002060"/>
                </a:solidFill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2229" name="Rectangle 22">
            <a:extLst>
              <a:ext uri="{FF2B5EF4-FFF2-40B4-BE49-F238E27FC236}">
                <a16:creationId xmlns:a16="http://schemas.microsoft.com/office/drawing/2014/main" id="{F73A2893-BD27-4205-A545-E93B463DB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565400"/>
            <a:ext cx="45720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IN" altLang="en-US" sz="2800" b="1">
                <a:solidFill>
                  <a:srgbClr val="130D8F"/>
                </a:solidFill>
                <a:latin typeface="Bell MT" panose="02020503060305020303" pitchFamily="18" charset="0"/>
                <a:cs typeface="Times New Roman" panose="02020603050405020304" pitchFamily="18" charset="0"/>
              </a:rPr>
              <a:t>Proxies for paleohydrology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039B15-C12B-436F-96FA-6308559D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8276726" cy="519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338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6" name="Picture 2" descr="Last Glacial Maximum">
            <a:extLst>
              <a:ext uri="{FF2B5EF4-FFF2-40B4-BE49-F238E27FC236}">
                <a16:creationId xmlns:a16="http://schemas.microsoft.com/office/drawing/2014/main" id="{B88F3490-2EA4-474A-A85D-46EBF8994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" t="5078" r="4167" b="5394"/>
          <a:stretch>
            <a:fillRect/>
          </a:stretch>
        </p:blipFill>
        <p:spPr bwMode="auto">
          <a:xfrm>
            <a:off x="971550" y="908050"/>
            <a:ext cx="7308850" cy="551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347" name="Text Box 5">
            <a:extLst>
              <a:ext uri="{FF2B5EF4-FFF2-40B4-BE49-F238E27FC236}">
                <a16:creationId xmlns:a16="http://schemas.microsoft.com/office/drawing/2014/main" id="{1F3B7CA5-B88B-4564-A02A-9D762096E6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2225" y="260350"/>
            <a:ext cx="13636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>
                <a:cs typeface="Times New Roman" panose="02020603050405020304" pitchFamily="18" charset="0"/>
              </a:rPr>
              <a:t>Enrichment</a:t>
            </a:r>
            <a:endParaRPr lang="en-US" altLang="en-US" sz="1800" b="1">
              <a:cs typeface="Times New Roman" panose="02020603050405020304" pitchFamily="18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ADC8E3-3DE1-4000-BB36-443AD68A93F7}"/>
              </a:ext>
            </a:extLst>
          </p:cNvPr>
          <p:cNvCxnSpPr/>
          <p:nvPr/>
        </p:nvCxnSpPr>
        <p:spPr>
          <a:xfrm>
            <a:off x="6659563" y="765175"/>
            <a:ext cx="865187" cy="0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70" name="Picture 2" descr="g480354.jpg                                                    000222B3 Alambique                      B7464D7A:">
            <a:extLst>
              <a:ext uri="{FF2B5EF4-FFF2-40B4-BE49-F238E27FC236}">
                <a16:creationId xmlns:a16="http://schemas.microsoft.com/office/drawing/2014/main" id="{406D12BE-BB2F-4518-9D06-CC42B87D6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35"/>
          <a:stretch>
            <a:fillRect/>
          </a:stretch>
        </p:blipFill>
        <p:spPr bwMode="auto">
          <a:xfrm>
            <a:off x="1174750" y="836613"/>
            <a:ext cx="6477000" cy="3313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371" name="Text Box 4">
            <a:extLst>
              <a:ext uri="{FF2B5EF4-FFF2-40B4-BE49-F238E27FC236}">
                <a16:creationId xmlns:a16="http://schemas.microsoft.com/office/drawing/2014/main" id="{206A3100-BDD6-426C-8138-3C68D55D7C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4776788"/>
            <a:ext cx="88201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/>
              <a:t>Increase of </a:t>
            </a:r>
            <a:r>
              <a:rPr lang="en-US" altLang="en-US" sz="1800" dirty="0">
                <a:latin typeface="Symbol" panose="05050102010706020507" pitchFamily="18" charset="2"/>
              </a:rPr>
              <a:t>d</a:t>
            </a:r>
            <a:r>
              <a:rPr lang="en-US" altLang="en-US" sz="1800" baseline="30000" dirty="0"/>
              <a:t>18</a:t>
            </a:r>
            <a:r>
              <a:rPr lang="en-US" altLang="en-US" sz="1800" dirty="0"/>
              <a:t>O in tests of a </a:t>
            </a:r>
            <a:r>
              <a:rPr lang="en-US" altLang="en-US" sz="1800" b="1" dirty="0"/>
              <a:t>benthic foraminifer in a core </a:t>
            </a:r>
            <a:r>
              <a:rPr lang="en-US" altLang="en-US" sz="1800" dirty="0"/>
              <a:t>collected in 2200 m of water in the equatorial Pacific. The  increase in </a:t>
            </a:r>
            <a:r>
              <a:rPr lang="en-US" altLang="en-US" sz="1800" dirty="0">
                <a:latin typeface="Symbol" panose="05050102010706020507" pitchFamily="18" charset="2"/>
              </a:rPr>
              <a:t>d</a:t>
            </a:r>
            <a:r>
              <a:rPr lang="en-US" altLang="en-US" sz="1800" baseline="30000" dirty="0"/>
              <a:t>18</a:t>
            </a:r>
            <a:r>
              <a:rPr lang="en-US" altLang="en-US" sz="1800" dirty="0"/>
              <a:t>O of the carbonate indicates a decrease in  the temperature of bottom water at this site 16 Ma and was associated with the growth of continental ice sheets in Antarctica.</a:t>
            </a:r>
          </a:p>
        </p:txBody>
      </p:sp>
      <p:sp>
        <p:nvSpPr>
          <p:cNvPr id="58372" name="Text Box 5">
            <a:extLst>
              <a:ext uri="{FF2B5EF4-FFF2-40B4-BE49-F238E27FC236}">
                <a16:creationId xmlns:a16="http://schemas.microsoft.com/office/drawing/2014/main" id="{36A1ABB9-FAFC-42DE-AE23-30BFF1C5C7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88913"/>
            <a:ext cx="44132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>
                <a:cs typeface="Times New Roman" panose="02020603050405020304" pitchFamily="18" charset="0"/>
              </a:rPr>
              <a:t>Paleothermometry in the oceans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94" name="Picture 2">
            <a:extLst>
              <a:ext uri="{FF2B5EF4-FFF2-40B4-BE49-F238E27FC236}">
                <a16:creationId xmlns:a16="http://schemas.microsoft.com/office/drawing/2014/main" id="{4F8FE052-9FA9-4296-A866-2E27A7A128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825" y="188913"/>
            <a:ext cx="8115300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9395" name="Picture 3">
            <a:extLst>
              <a:ext uri="{FF2B5EF4-FFF2-40B4-BE49-F238E27FC236}">
                <a16:creationId xmlns:a16="http://schemas.microsoft.com/office/drawing/2014/main" id="{2CEB8737-FFD7-44C3-BB2F-8B6BCAB7F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250" y="1844675"/>
            <a:ext cx="4895850" cy="470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18" name="Picture 2">
            <a:extLst>
              <a:ext uri="{FF2B5EF4-FFF2-40B4-BE49-F238E27FC236}">
                <a16:creationId xmlns:a16="http://schemas.microsoft.com/office/drawing/2014/main" id="{7BA6FB83-4F92-4CA7-A63E-8E126354C4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838" y="476250"/>
            <a:ext cx="3816350" cy="6238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419" name="Picture 23" descr="Untitled-1 (2).png">
            <a:extLst>
              <a:ext uri="{FF2B5EF4-FFF2-40B4-BE49-F238E27FC236}">
                <a16:creationId xmlns:a16="http://schemas.microsoft.com/office/drawing/2014/main" id="{ADE5AF9C-F24F-4447-BC00-3FB8C487FD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825" y="3500438"/>
            <a:ext cx="2811463" cy="28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1">
            <a:extLst>
              <a:ext uri="{FF2B5EF4-FFF2-40B4-BE49-F238E27FC236}">
                <a16:creationId xmlns:a16="http://schemas.microsoft.com/office/drawing/2014/main" id="{1D245B1D-4231-428E-81C3-89DD010D13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0825" y="188913"/>
            <a:ext cx="3025775" cy="822325"/>
          </a:xfrm>
        </p:spPr>
        <p:txBody>
          <a:bodyPr lIns="0" tIns="0" rIns="0" bIns="0" anchor="t"/>
          <a:lstStyle/>
          <a:p>
            <a:pPr algn="l" eaLnBrk="1" hangingPunct="1">
              <a:lnSpc>
                <a:spcPct val="95000"/>
              </a:lnSpc>
            </a:pPr>
            <a:r>
              <a:rPr lang="en-US" altLang="en-US" sz="2800">
                <a:solidFill>
                  <a:srgbClr val="000000"/>
                </a:solidFill>
                <a:cs typeface="Times New Roman" panose="02020603050405020304" pitchFamily="18" charset="0"/>
              </a:rPr>
              <a:t>Speleothems</a:t>
            </a:r>
          </a:p>
        </p:txBody>
      </p:sp>
      <p:sp>
        <p:nvSpPr>
          <p:cNvPr id="61443" name="Rectangle 2">
            <a:extLst>
              <a:ext uri="{FF2B5EF4-FFF2-40B4-BE49-F238E27FC236}">
                <a16:creationId xmlns:a16="http://schemas.microsoft.com/office/drawing/2014/main" id="{A9126718-271F-413D-9B66-3AC7114577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1763" y="1096963"/>
            <a:ext cx="5675312" cy="5761037"/>
          </a:xfrm>
        </p:spPr>
        <p:txBody>
          <a:bodyPr lIns="0" tIns="0" rIns="0" bIns="0"/>
          <a:lstStyle/>
          <a:p>
            <a:pPr marL="0" indent="0" eaLnBrk="1" hangingPunct="1">
              <a:lnSpc>
                <a:spcPct val="95000"/>
              </a:lnSpc>
              <a:spcBef>
                <a:spcPct val="0"/>
              </a:spcBef>
            </a:pP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Calcium carbonate (CaCO</a:t>
            </a:r>
            <a:r>
              <a:rPr lang="en-US" altLang="en-US" sz="2200" baseline="-25000">
                <a:solidFill>
                  <a:srgbClr val="000000"/>
                </a:solidFill>
                <a:cs typeface="Times New Roman" panose="02020603050405020304" pitchFamily="18" charset="0"/>
              </a:rPr>
              <a:t>3</a:t>
            </a: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 cave deposits</a:t>
            </a:r>
          </a:p>
          <a:p>
            <a:pPr marL="0" indent="0" eaLnBrk="1" hangingPunct="1">
              <a:lnSpc>
                <a:spcPct val="95000"/>
              </a:lnSpc>
              <a:spcBef>
                <a:spcPct val="0"/>
              </a:spcBef>
            </a:pPr>
            <a:endParaRPr lang="en-US" altLang="en-US" sz="220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95000"/>
              </a:lnSpc>
              <a:spcBef>
                <a:spcPct val="0"/>
              </a:spcBef>
            </a:pP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Grow on scale of 10’s of microns per year</a:t>
            </a:r>
          </a:p>
          <a:p>
            <a:pPr marL="0" indent="0" eaLnBrk="1" hangingPunct="1">
              <a:lnSpc>
                <a:spcPct val="95000"/>
              </a:lnSpc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 </a:t>
            </a:r>
            <a:endParaRPr lang="en-US" altLang="en-US" sz="2200"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95000"/>
              </a:lnSpc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 δ</a:t>
            </a:r>
            <a:r>
              <a:rPr lang="en-US" altLang="en-US" sz="2200" baseline="30000">
                <a:solidFill>
                  <a:srgbClr val="000000"/>
                </a:solidFill>
                <a:cs typeface="Times New Roman" panose="02020603050405020304" pitchFamily="18" charset="0"/>
              </a:rPr>
              <a:t>18</a:t>
            </a: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O  used for paleoclimate reconstructions</a:t>
            </a:r>
            <a:endParaRPr lang="en-US" altLang="en-US" sz="2200"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95000"/>
              </a:lnSpc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 </a:t>
            </a:r>
            <a:endParaRPr lang="en-US" altLang="en-US" sz="2200"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95000"/>
              </a:lnSpc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The δ</a:t>
            </a:r>
            <a:r>
              <a:rPr lang="en-US" altLang="en-US" sz="2200" baseline="30000">
                <a:solidFill>
                  <a:srgbClr val="000000"/>
                </a:solidFill>
                <a:cs typeface="Times New Roman" panose="02020603050405020304" pitchFamily="18" charset="0"/>
              </a:rPr>
              <a:t>18</a:t>
            </a: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O of speleothems is a reflection of the groundwater δ</a:t>
            </a:r>
            <a:r>
              <a:rPr lang="en-US" altLang="en-US" sz="2200" baseline="30000">
                <a:solidFill>
                  <a:srgbClr val="000000"/>
                </a:solidFill>
                <a:cs typeface="Times New Roman" panose="02020603050405020304" pitchFamily="18" charset="0"/>
              </a:rPr>
              <a:t>18</a:t>
            </a: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O, and ultimately the δ</a:t>
            </a:r>
            <a:r>
              <a:rPr lang="en-US" altLang="en-US" sz="2200" baseline="30000">
                <a:solidFill>
                  <a:srgbClr val="000000"/>
                </a:solidFill>
                <a:cs typeface="Times New Roman" panose="02020603050405020304" pitchFamily="18" charset="0"/>
              </a:rPr>
              <a:t>18</a:t>
            </a:r>
            <a:r>
              <a:rPr lang="en-US" altLang="en-US" sz="2200">
                <a:solidFill>
                  <a:srgbClr val="000000"/>
                </a:solidFill>
                <a:cs typeface="Times New Roman" panose="02020603050405020304" pitchFamily="18" charset="0"/>
              </a:rPr>
              <a:t>O of rainfall in the region </a:t>
            </a:r>
            <a:endParaRPr lang="en-US" altLang="en-US" sz="2200"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95000"/>
              </a:lnSpc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Arial" panose="020B0604020202020204" pitchFamily="34" charset="0"/>
              </a:rPr>
              <a:t> </a:t>
            </a:r>
            <a:endParaRPr lang="en-US" altLang="en-US" sz="2200"/>
          </a:p>
        </p:txBody>
      </p:sp>
      <p:pic>
        <p:nvPicPr>
          <p:cNvPr id="61444" name="Picture 4">
            <a:extLst>
              <a:ext uri="{FF2B5EF4-FFF2-40B4-BE49-F238E27FC236}">
                <a16:creationId xmlns:a16="http://schemas.microsoft.com/office/drawing/2014/main" id="{6DF74ACD-139E-4191-9D86-336B3E9B1F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5675" y="0"/>
            <a:ext cx="3224213" cy="3179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45" name="Picture 5">
            <a:extLst>
              <a:ext uri="{FF2B5EF4-FFF2-40B4-BE49-F238E27FC236}">
                <a16:creationId xmlns:a16="http://schemas.microsoft.com/office/drawing/2014/main" id="{A6942911-2DE3-4A41-916D-38C701FDC1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5675" y="3657600"/>
            <a:ext cx="3509963" cy="3136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90" name="Picture 2">
            <a:extLst>
              <a:ext uri="{FF2B5EF4-FFF2-40B4-BE49-F238E27FC236}">
                <a16:creationId xmlns:a16="http://schemas.microsoft.com/office/drawing/2014/main" id="{E5FC692B-2B72-4346-BFDE-2ED309DFE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404813"/>
            <a:ext cx="4476750" cy="1476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3491" name="Picture 3">
            <a:extLst>
              <a:ext uri="{FF2B5EF4-FFF2-40B4-BE49-F238E27FC236}">
                <a16:creationId xmlns:a16="http://schemas.microsoft.com/office/drawing/2014/main" id="{65F09B2A-A257-4A45-B630-95E96E11F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450" y="2205038"/>
            <a:ext cx="5400675" cy="327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83B49CB6-897A-4847-9806-D59A2B188B7F}"/>
              </a:ext>
            </a:extLst>
          </p:cNvPr>
          <p:cNvSpPr txBox="1">
            <a:spLocks noChangeArrowheads="1"/>
          </p:cNvSpPr>
          <p:nvPr/>
        </p:nvSpPr>
        <p:spPr>
          <a:xfrm>
            <a:off x="5795963" y="6237288"/>
            <a:ext cx="3348037" cy="822325"/>
          </a:xfrm>
          <a:prstGeom prst="rect">
            <a:avLst/>
          </a:prstGeom>
        </p:spPr>
        <p:txBody>
          <a:bodyPr lIns="0" tIns="0" rIns="0" bIns="0"/>
          <a:lstStyle/>
          <a:p>
            <a:pPr eaLnBrk="1" fontAlgn="auto" hangingPunct="1">
              <a:lnSpc>
                <a:spcPct val="95000"/>
              </a:lnSpc>
              <a:spcAft>
                <a:spcPts val="0"/>
              </a:spcAft>
              <a:defRPr/>
            </a:pPr>
            <a:r>
              <a:rPr lang="en-US" dirty="0">
                <a:solidFill>
                  <a:srgbClr val="000000"/>
                </a:solidFill>
                <a:ea typeface="+mj-ea"/>
                <a:cs typeface="Times New Roman" pitchFamily="18" charset="0"/>
              </a:rPr>
              <a:t>Fleitmann et al., 2003; Nature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Text Box 2">
            <a:extLst>
              <a:ext uri="{FF2B5EF4-FFF2-40B4-BE49-F238E27FC236}">
                <a16:creationId xmlns:a16="http://schemas.microsoft.com/office/drawing/2014/main" id="{40516A7A-E586-429F-A6D9-1A99AD515F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2514600"/>
            <a:ext cx="26670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2800" b="1">
                <a:solidFill>
                  <a:srgbClr val="3333CC"/>
                </a:solidFill>
              </a:rPr>
              <a:t>Carbon isotopes</a:t>
            </a:r>
          </a:p>
        </p:txBody>
      </p:sp>
      <p:sp>
        <p:nvSpPr>
          <p:cNvPr id="62467" name="Text Box 3">
            <a:extLst>
              <a:ext uri="{FF2B5EF4-FFF2-40B4-BE49-F238E27FC236}">
                <a16:creationId xmlns:a16="http://schemas.microsoft.com/office/drawing/2014/main" id="{65E7DE98-F6DE-4A85-8A76-B0153807F9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325" y="1630363"/>
            <a:ext cx="18415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en-US" altLang="en-US" sz="1600">
              <a:solidFill>
                <a:srgbClr val="000000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endParaRPr lang="en-US" altLang="en-US" sz="1600">
              <a:solidFill>
                <a:srgbClr val="000000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90" name="Picture 1" descr="Snapshot 2010-11-02 14-14-08.tiff">
            <a:extLst>
              <a:ext uri="{FF2B5EF4-FFF2-40B4-BE49-F238E27FC236}">
                <a16:creationId xmlns:a16="http://schemas.microsoft.com/office/drawing/2014/main" id="{FAF46809-58CE-4E5B-B1F2-92CBB9EDA3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258763"/>
            <a:ext cx="6629400" cy="6415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16983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TextBox 1">
            <a:extLst>
              <a:ext uri="{FF2B5EF4-FFF2-40B4-BE49-F238E27FC236}">
                <a16:creationId xmlns:a16="http://schemas.microsoft.com/office/drawing/2014/main" id="{53007F68-9622-4024-8180-A37720B856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188913"/>
            <a:ext cx="83058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Case study: </a:t>
            </a:r>
            <a:r>
              <a:rPr lang="en-US" altLang="en-US" b="1" dirty="0">
                <a:solidFill>
                  <a:srgbClr val="FF000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d</a:t>
            </a:r>
            <a:r>
              <a:rPr lang="en-US" altLang="en-US" b="1" baseline="30000" dirty="0">
                <a:solidFill>
                  <a:srgbClr val="FF0000"/>
                </a:solidFill>
                <a:cs typeface="Times New Roman" panose="02020603050405020304" pitchFamily="18" charset="0"/>
              </a:rPr>
              <a:t>13</a:t>
            </a:r>
            <a:r>
              <a:rPr lang="en-US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C of bulk organic matter to determine source</a:t>
            </a:r>
          </a:p>
        </p:txBody>
      </p:sp>
      <p:pic>
        <p:nvPicPr>
          <p:cNvPr id="63491" name="Picture 4" descr="d13Cplants">
            <a:extLst>
              <a:ext uri="{FF2B5EF4-FFF2-40B4-BE49-F238E27FC236}">
                <a16:creationId xmlns:a16="http://schemas.microsoft.com/office/drawing/2014/main" id="{A4D1B3D3-D7AD-438B-846F-AAE7EA123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50" y="919163"/>
            <a:ext cx="6769100" cy="4468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492" name="TextBox 3">
            <a:extLst>
              <a:ext uri="{FF2B5EF4-FFF2-40B4-BE49-F238E27FC236}">
                <a16:creationId xmlns:a16="http://schemas.microsoft.com/office/drawing/2014/main" id="{9B77D04B-D198-4672-9CDA-A064699F47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5867400"/>
            <a:ext cx="902138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rPr>
              <a:t>C</a:t>
            </a:r>
            <a:r>
              <a:rPr lang="en-US" altLang="en-US" sz="1400" b="1" baseline="-25000" dirty="0"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rPr>
              <a:t>4</a:t>
            </a:r>
            <a:r>
              <a:rPr lang="en-US" alt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rPr>
              <a:t> = grasses Crassulacean acid metabolism, also known as CAM photosynthesis, is a </a:t>
            </a:r>
            <a:r>
              <a:rPr lang="en-US" alt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  <a:hlinkClick r:id="rId4" tooltip="Carbon fixation"/>
              </a:rPr>
              <a:t>carbon fixation</a:t>
            </a:r>
            <a:r>
              <a:rPr lang="en-US" alt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rPr>
              <a:t> pathway </a:t>
            </a:r>
          </a:p>
          <a:p>
            <a:r>
              <a:rPr lang="en-US" alt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rPr>
              <a:t>that evolved in some </a:t>
            </a:r>
            <a:r>
              <a:rPr lang="en-US" alt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  <a:hlinkClick r:id="rId5" tooltip="Plant"/>
              </a:rPr>
              <a:t>plants</a:t>
            </a:r>
            <a:r>
              <a:rPr lang="en-US" alt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rPr>
              <a:t> as an adaptation to </a:t>
            </a:r>
            <a:r>
              <a:rPr lang="en-US" alt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  <a:hlinkClick r:id="rId6" tooltip="Arid"/>
              </a:rPr>
              <a:t>arid</a:t>
            </a:r>
            <a:r>
              <a:rPr lang="en-US" altLang="en-US" sz="1400" b="1" dirty="0"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rPr>
              <a:t> conditions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994" name="Group 7">
            <a:extLst>
              <a:ext uri="{FF2B5EF4-FFF2-40B4-BE49-F238E27FC236}">
                <a16:creationId xmlns:a16="http://schemas.microsoft.com/office/drawing/2014/main" id="{445DF9C2-8341-4CC7-B170-7A8BB015F62F}"/>
              </a:ext>
            </a:extLst>
          </p:cNvPr>
          <p:cNvGrpSpPr>
            <a:grpSpLocks/>
          </p:cNvGrpSpPr>
          <p:nvPr/>
        </p:nvGrpSpPr>
        <p:grpSpPr bwMode="auto">
          <a:xfrm>
            <a:off x="2743200" y="2492375"/>
            <a:ext cx="6400800" cy="3238500"/>
            <a:chOff x="1248" y="288"/>
            <a:chExt cx="4032" cy="2040"/>
          </a:xfrm>
        </p:grpSpPr>
        <p:pic>
          <p:nvPicPr>
            <p:cNvPr id="84999" name="Picture 4">
              <a:extLst>
                <a:ext uri="{FF2B5EF4-FFF2-40B4-BE49-F238E27FC236}">
                  <a16:creationId xmlns:a16="http://schemas.microsoft.com/office/drawing/2014/main" id="{F74EBC00-863C-4FCF-AFB3-1E7546572A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14" y="288"/>
              <a:ext cx="3966" cy="16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5000" name="Picture 6">
              <a:extLst>
                <a:ext uri="{FF2B5EF4-FFF2-40B4-BE49-F238E27FC236}">
                  <a16:creationId xmlns:a16="http://schemas.microsoft.com/office/drawing/2014/main" id="{02466B49-1E5E-4BFC-9356-3B42F1C983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8" y="1992"/>
              <a:ext cx="4002" cy="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4995" name="AutoShape 8">
            <a:extLst>
              <a:ext uri="{FF2B5EF4-FFF2-40B4-BE49-F238E27FC236}">
                <a16:creationId xmlns:a16="http://schemas.microsoft.com/office/drawing/2014/main" id="{7C2F2BC6-C512-486E-9398-3201F2D5ABA4}"/>
              </a:ext>
            </a:extLst>
          </p:cNvPr>
          <p:cNvSpPr>
            <a:spLocks/>
          </p:cNvSpPr>
          <p:nvPr/>
        </p:nvSpPr>
        <p:spPr bwMode="auto">
          <a:xfrm>
            <a:off x="2209800" y="2667000"/>
            <a:ext cx="457200" cy="2514600"/>
          </a:xfrm>
          <a:prstGeom prst="leftBrace">
            <a:avLst>
              <a:gd name="adj1" fmla="val 45833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en-US" altLang="en-US"/>
          </a:p>
        </p:txBody>
      </p:sp>
      <p:sp>
        <p:nvSpPr>
          <p:cNvPr id="84996" name="Text Box 10">
            <a:extLst>
              <a:ext uri="{FF2B5EF4-FFF2-40B4-BE49-F238E27FC236}">
                <a16:creationId xmlns:a16="http://schemas.microsoft.com/office/drawing/2014/main" id="{59B5358E-8072-46E4-B82F-4EE62D9F71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3141663"/>
            <a:ext cx="2268538" cy="258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800" b="1">
                <a:cs typeface="Times New Roman" panose="02020603050405020304" pitchFamily="18" charset="0"/>
              </a:rPr>
              <a:t>C3 Pathway</a:t>
            </a:r>
          </a:p>
          <a:p>
            <a:pPr>
              <a:buFontTx/>
              <a:buChar char="-"/>
            </a:pPr>
            <a:r>
              <a:rPr lang="en-US" altLang="en-US">
                <a:cs typeface="Times New Roman" panose="02020603050405020304" pitchFamily="18" charset="0"/>
              </a:rPr>
              <a:t>enzyme-mediated</a:t>
            </a:r>
          </a:p>
          <a:p>
            <a:r>
              <a:rPr lang="en-US" altLang="en-US">
                <a:cs typeface="Times New Roman" panose="02020603050405020304" pitchFamily="18" charset="0"/>
              </a:rPr>
              <a:t> (RUBISCO)</a:t>
            </a:r>
          </a:p>
          <a:p>
            <a:r>
              <a:rPr lang="en-US" altLang="en-US">
                <a:cs typeface="Times New Roman" panose="02020603050405020304" pitchFamily="18" charset="0"/>
              </a:rPr>
              <a:t>-RUBISCO fixes 1 O</a:t>
            </a:r>
            <a:r>
              <a:rPr lang="en-US" altLang="en-US" baseline="-25000">
                <a:cs typeface="Times New Roman" panose="02020603050405020304" pitchFamily="18" charset="0"/>
              </a:rPr>
              <a:t>2</a:t>
            </a:r>
          </a:p>
          <a:p>
            <a:r>
              <a:rPr lang="en-US" altLang="en-US">
                <a:cs typeface="Times New Roman" panose="02020603050405020304" pitchFamily="18" charset="0"/>
              </a:rPr>
              <a:t> for every 5 CO</a:t>
            </a:r>
            <a:r>
              <a:rPr lang="en-US" altLang="en-US" baseline="-25000">
                <a:cs typeface="Times New Roman" panose="02020603050405020304" pitchFamily="18" charset="0"/>
              </a:rPr>
              <a:t>2</a:t>
            </a:r>
          </a:p>
          <a:p>
            <a:pPr>
              <a:buFontTx/>
              <a:buChar char="-"/>
            </a:pPr>
            <a:r>
              <a:rPr lang="ja-JP" altLang="en-US">
                <a:ea typeface="MS PGothic" panose="020B0600070205080204" pitchFamily="34" charset="-128"/>
                <a:cs typeface="Times New Roman" panose="02020603050405020304" pitchFamily="18" charset="0"/>
              </a:rPr>
              <a:t>“</a:t>
            </a:r>
            <a:r>
              <a:rPr lang="en-US" altLang="ja-JP">
                <a:ea typeface="MS PGothic" panose="020B0600070205080204" pitchFamily="34" charset="-128"/>
                <a:cs typeface="Times New Roman" panose="02020603050405020304" pitchFamily="18" charset="0"/>
              </a:rPr>
              <a:t>Calvin</a:t>
            </a:r>
            <a:r>
              <a:rPr lang="ja-JP" altLang="en-US">
                <a:ea typeface="MS PGothic" panose="020B0600070205080204" pitchFamily="34" charset="-128"/>
                <a:cs typeface="Times New Roman" panose="02020603050405020304" pitchFamily="18" charset="0"/>
              </a:rPr>
              <a:t>”</a:t>
            </a:r>
            <a:r>
              <a:rPr lang="en-US" altLang="ja-JP">
                <a:ea typeface="MS PGothic" panose="020B0600070205080204" pitchFamily="34" charset="-128"/>
                <a:cs typeface="Times New Roman" panose="02020603050405020304" pitchFamily="18" charset="0"/>
              </a:rPr>
              <a:t> cycle</a:t>
            </a:r>
          </a:p>
          <a:p>
            <a:pPr>
              <a:buFontTx/>
              <a:buChar char="-"/>
            </a:pPr>
            <a:r>
              <a:rPr lang="en-US" altLang="en-US">
                <a:cs typeface="Times New Roman" panose="02020603050405020304" pitchFamily="18" charset="0"/>
              </a:rPr>
              <a:t>90% of all plants</a:t>
            </a:r>
          </a:p>
          <a:p>
            <a:pPr>
              <a:buFontTx/>
              <a:buChar char="-"/>
            </a:pPr>
            <a:r>
              <a:rPr lang="en-US" altLang="en-US">
                <a:solidFill>
                  <a:srgbClr val="CC0000"/>
                </a:solidFill>
                <a:cs typeface="Times New Roman" panose="02020603050405020304" pitchFamily="18" charset="0"/>
              </a:rPr>
              <a:t>20-30‰ fractionation</a:t>
            </a:r>
          </a:p>
          <a:p>
            <a:pPr>
              <a:buFontTx/>
              <a:buChar char="-"/>
            </a:pPr>
            <a:endParaRPr lang="en-US" altLang="en-US">
              <a:cs typeface="Times New Roman" panose="02020603050405020304" pitchFamily="18" charset="0"/>
            </a:endParaRPr>
          </a:p>
        </p:txBody>
      </p:sp>
      <p:sp>
        <p:nvSpPr>
          <p:cNvPr id="19460" name="Text Box 13">
            <a:extLst>
              <a:ext uri="{FF2B5EF4-FFF2-40B4-BE49-F238E27FC236}">
                <a16:creationId xmlns:a16="http://schemas.microsoft.com/office/drawing/2014/main" id="{A18EAE41-B33C-4E1A-94D6-464EC51C96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836613"/>
            <a:ext cx="8458200" cy="1757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sz="2000" b="1" dirty="0">
                <a:solidFill>
                  <a:srgbClr val="008000"/>
                </a:solidFill>
                <a:cs typeface="Times New Roman" pitchFamily="18" charset="0"/>
              </a:rPr>
              <a:t>Terrestrial photosynthesis</a:t>
            </a:r>
            <a:r>
              <a:rPr lang="en-US" dirty="0">
                <a:cs typeface="Times New Roman" pitchFamily="18" charset="0"/>
              </a:rPr>
              <a:t> - theoretical calculations predict a 4.4‰ </a:t>
            </a:r>
          </a:p>
          <a:p>
            <a:pPr>
              <a:lnSpc>
                <a:spcPct val="150000"/>
              </a:lnSpc>
              <a:defRPr/>
            </a:pPr>
            <a:r>
              <a:rPr lang="en-US" dirty="0">
                <a:cs typeface="Times New Roman" pitchFamily="18" charset="0"/>
              </a:rPr>
              <a:t>	</a:t>
            </a:r>
            <a:r>
              <a:rPr lang="en-US" b="1" i="1" dirty="0">
                <a:cs typeface="Times New Roman" pitchFamily="18" charset="0"/>
              </a:rPr>
              <a:t>kinetic</a:t>
            </a:r>
            <a:r>
              <a:rPr lang="en-US" dirty="0">
                <a:cs typeface="Times New Roman" pitchFamily="18" charset="0"/>
              </a:rPr>
              <a:t> fractionation for CO</a:t>
            </a:r>
            <a:r>
              <a:rPr lang="en-US" baseline="-25000" dirty="0">
                <a:cs typeface="Times New Roman" pitchFamily="18" charset="0"/>
              </a:rPr>
              <a:t>2</a:t>
            </a:r>
            <a:r>
              <a:rPr lang="en-US" dirty="0">
                <a:cs typeface="Times New Roman" pitchFamily="18" charset="0"/>
              </a:rPr>
              <a:t>(g) moving from air through stomata to site of </a:t>
            </a:r>
          </a:p>
          <a:p>
            <a:pPr>
              <a:lnSpc>
                <a:spcPct val="150000"/>
              </a:lnSpc>
              <a:defRPr/>
            </a:pPr>
            <a:r>
              <a:rPr lang="en-US" dirty="0">
                <a:cs typeface="Times New Roman" pitchFamily="18" charset="0"/>
              </a:rPr>
              <a:t>	photosynthesis</a:t>
            </a:r>
          </a:p>
          <a:p>
            <a:pPr>
              <a:lnSpc>
                <a:spcPct val="150000"/>
              </a:lnSpc>
              <a:defRPr/>
            </a:pPr>
            <a:endParaRPr lang="en-US" i="1" dirty="0">
              <a:latin typeface="+mn-lt"/>
            </a:endParaRPr>
          </a:p>
        </p:txBody>
      </p:sp>
      <p:sp>
        <p:nvSpPr>
          <p:cNvPr id="84998" name="Text Box 15">
            <a:extLst>
              <a:ext uri="{FF2B5EF4-FFF2-40B4-BE49-F238E27FC236}">
                <a16:creationId xmlns:a16="http://schemas.microsoft.com/office/drawing/2014/main" id="{D60C089D-1398-4A86-BC17-B553FCBEE8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60350"/>
            <a:ext cx="203200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>
                <a:solidFill>
                  <a:schemeClr val="accent2"/>
                </a:solidFill>
                <a:cs typeface="Times New Roman" panose="02020603050405020304" pitchFamily="18" charset="0"/>
              </a:rPr>
              <a:t>Photosynthesis</a:t>
            </a:r>
          </a:p>
        </p:txBody>
      </p:sp>
    </p:spTree>
    <p:extLst>
      <p:ext uri="{BB962C8B-B14F-4D97-AF65-F5344CB8AC3E}">
        <p14:creationId xmlns:p14="http://schemas.microsoft.com/office/powerpoint/2010/main" val="2942997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042" name="Picture 4">
            <a:extLst>
              <a:ext uri="{FF2B5EF4-FFF2-40B4-BE49-F238E27FC236}">
                <a16:creationId xmlns:a16="http://schemas.microsoft.com/office/drawing/2014/main" id="{BD0F2D3A-8170-4834-8B9C-0F083C825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381000"/>
            <a:ext cx="4914900" cy="2647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3" name="AutoShape 5">
            <a:extLst>
              <a:ext uri="{FF2B5EF4-FFF2-40B4-BE49-F238E27FC236}">
                <a16:creationId xmlns:a16="http://schemas.microsoft.com/office/drawing/2014/main" id="{DD20A597-AC5B-478A-89ED-060BCD34F2AE}"/>
              </a:ext>
            </a:extLst>
          </p:cNvPr>
          <p:cNvSpPr>
            <a:spLocks/>
          </p:cNvSpPr>
          <p:nvPr/>
        </p:nvSpPr>
        <p:spPr bwMode="auto">
          <a:xfrm>
            <a:off x="2552700" y="742950"/>
            <a:ext cx="457200" cy="2133600"/>
          </a:xfrm>
          <a:prstGeom prst="leftBrace">
            <a:avLst>
              <a:gd name="adj1" fmla="val 38889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en-US" altLang="en-US"/>
          </a:p>
        </p:txBody>
      </p:sp>
      <p:sp>
        <p:nvSpPr>
          <p:cNvPr id="87044" name="Text Box 6">
            <a:extLst>
              <a:ext uri="{FF2B5EF4-FFF2-40B4-BE49-F238E27FC236}">
                <a16:creationId xmlns:a16="http://schemas.microsoft.com/office/drawing/2014/main" id="{17DA939C-5134-43D8-84E5-675F1C6B55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290512"/>
            <a:ext cx="2590800" cy="40626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800" b="1" dirty="0"/>
              <a:t>C4 Pathway</a:t>
            </a:r>
          </a:p>
          <a:p>
            <a:pPr>
              <a:buFontTx/>
              <a:buChar char="-"/>
            </a:pPr>
            <a:r>
              <a:rPr lang="en-US" altLang="en-US" dirty="0"/>
              <a:t>desert plants, some</a:t>
            </a:r>
          </a:p>
          <a:p>
            <a:pPr lvl="1"/>
            <a:r>
              <a:rPr lang="en-US" altLang="en-US" dirty="0"/>
              <a:t>tropical species</a:t>
            </a:r>
          </a:p>
          <a:p>
            <a:pPr>
              <a:buFontTx/>
              <a:buChar char="-"/>
            </a:pPr>
            <a:r>
              <a:rPr lang="en-US" altLang="en-US" dirty="0"/>
              <a:t>enzyme-mediated</a:t>
            </a:r>
          </a:p>
          <a:p>
            <a:r>
              <a:rPr lang="en-US" altLang="en-US" dirty="0"/>
              <a:t> (PEP)</a:t>
            </a:r>
          </a:p>
          <a:p>
            <a:pPr>
              <a:buFontTx/>
              <a:buChar char="-"/>
            </a:pPr>
            <a:r>
              <a:rPr lang="ja-JP" altLang="en-US" dirty="0">
                <a:ea typeface="MS PGothic" panose="020B0600070205080204" pitchFamily="34" charset="-128"/>
              </a:rPr>
              <a:t>“</a:t>
            </a:r>
            <a:r>
              <a:rPr lang="en-US" altLang="ja-JP" dirty="0">
                <a:ea typeface="MS PGothic" panose="020B0600070205080204" pitchFamily="34" charset="-128"/>
              </a:rPr>
              <a:t>Hatch-Slack</a:t>
            </a:r>
            <a:r>
              <a:rPr lang="ja-JP" altLang="en-US" dirty="0">
                <a:ea typeface="MS PGothic" panose="020B0600070205080204" pitchFamily="34" charset="-128"/>
              </a:rPr>
              <a:t>”</a:t>
            </a:r>
            <a:r>
              <a:rPr lang="en-US" altLang="ja-JP" dirty="0">
                <a:ea typeface="MS PGothic" panose="020B0600070205080204" pitchFamily="34" charset="-128"/>
              </a:rPr>
              <a:t> cycle</a:t>
            </a:r>
          </a:p>
          <a:p>
            <a:pPr>
              <a:buFontTx/>
              <a:buChar char="-"/>
            </a:pPr>
            <a:r>
              <a:rPr lang="en-US" altLang="en-US" dirty="0"/>
              <a:t>10% of all plants</a:t>
            </a:r>
          </a:p>
          <a:p>
            <a:pPr>
              <a:buFontTx/>
              <a:buChar char="-"/>
            </a:pPr>
            <a:r>
              <a:rPr lang="en-US" altLang="en-US" dirty="0">
                <a:solidFill>
                  <a:srgbClr val="CC0000"/>
                </a:solidFill>
              </a:rPr>
              <a:t>13</a:t>
            </a:r>
            <a:r>
              <a:rPr lang="en-US" altLang="en-US" dirty="0">
                <a:solidFill>
                  <a:srgbClr val="CC0000"/>
                </a:solidFill>
                <a:cs typeface="Arial" panose="020B0604020202020204" pitchFamily="34" charset="0"/>
              </a:rPr>
              <a:t>‰ fractionation</a:t>
            </a:r>
          </a:p>
          <a:p>
            <a:pPr>
              <a:buFontTx/>
              <a:buChar char="-"/>
            </a:pPr>
            <a:endParaRPr lang="en-US" altLang="en-US" dirty="0">
              <a:cs typeface="Arial" panose="020B0604020202020204" pitchFamily="34" charset="0"/>
            </a:endParaRPr>
          </a:p>
        </p:txBody>
      </p:sp>
      <p:pic>
        <p:nvPicPr>
          <p:cNvPr id="87045" name="Picture 7" descr="C4schematic">
            <a:extLst>
              <a:ext uri="{FF2B5EF4-FFF2-40B4-BE49-F238E27FC236}">
                <a16:creationId xmlns:a16="http://schemas.microsoft.com/office/drawing/2014/main" id="{A45AEBA1-86A9-40F9-83DE-6EFB31230A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4142748"/>
            <a:ext cx="2133600" cy="2334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6" name="Text Box 8">
            <a:extLst>
              <a:ext uri="{FF2B5EF4-FFF2-40B4-BE49-F238E27FC236}">
                <a16:creationId xmlns:a16="http://schemas.microsoft.com/office/drawing/2014/main" id="{C5934637-E530-42BF-9448-EE1F017F3F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7606" y="3276600"/>
            <a:ext cx="3976687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b="1" i="1" dirty="0"/>
              <a:t>NOTE</a:t>
            </a:r>
            <a:r>
              <a:rPr lang="en-US" altLang="en-US" i="1" dirty="0"/>
              <a:t>:  C4 plants still execute </a:t>
            </a:r>
            <a:r>
              <a:rPr lang="ja-JP" altLang="en-US" i="1" dirty="0">
                <a:ea typeface="MS PGothic" panose="020B0600070205080204" pitchFamily="34" charset="-128"/>
              </a:rPr>
              <a:t>“</a:t>
            </a:r>
            <a:r>
              <a:rPr lang="en-US" altLang="ja-JP" i="1" dirty="0">
                <a:ea typeface="MS PGothic" panose="020B0600070205080204" pitchFamily="34" charset="-128"/>
              </a:rPr>
              <a:t>Calvin</a:t>
            </a:r>
            <a:r>
              <a:rPr lang="ja-JP" altLang="en-US" i="1" dirty="0">
                <a:ea typeface="MS PGothic" panose="020B0600070205080204" pitchFamily="34" charset="-128"/>
              </a:rPr>
              <a:t>”</a:t>
            </a:r>
            <a:endParaRPr lang="en-US" altLang="ja-JP" i="1" dirty="0">
              <a:ea typeface="MS PGothic" panose="020B0600070205080204" pitchFamily="34" charset="-128"/>
            </a:endParaRPr>
          </a:p>
          <a:p>
            <a:r>
              <a:rPr lang="en-US" altLang="en-US" i="1" dirty="0"/>
              <a:t>cycle, but CO2 grabbing and actual</a:t>
            </a:r>
          </a:p>
          <a:p>
            <a:r>
              <a:rPr lang="en-US" altLang="en-US" i="1" dirty="0"/>
              <a:t>carbon fixation happening in different cells</a:t>
            </a:r>
          </a:p>
        </p:txBody>
      </p:sp>
      <p:pic>
        <p:nvPicPr>
          <p:cNvPr id="87047" name="Picture 9">
            <a:extLst>
              <a:ext uri="{FF2B5EF4-FFF2-40B4-BE49-F238E27FC236}">
                <a16:creationId xmlns:a16="http://schemas.microsoft.com/office/drawing/2014/main" id="{7091686E-8516-48D8-9739-554C2B8F1A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0269" y="4693832"/>
            <a:ext cx="4652962" cy="2097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20581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538" name="Picture 2">
            <a:extLst>
              <a:ext uri="{FF2B5EF4-FFF2-40B4-BE49-F238E27FC236}">
                <a16:creationId xmlns:a16="http://schemas.microsoft.com/office/drawing/2014/main" id="{52456E8B-8812-4934-B1A2-EA23AC079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2" r="6194"/>
          <a:stretch>
            <a:fillRect/>
          </a:stretch>
        </p:blipFill>
        <p:spPr bwMode="auto">
          <a:xfrm>
            <a:off x="1187450" y="1341438"/>
            <a:ext cx="6624638" cy="4319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5539" name="Rectangle 2">
            <a:extLst>
              <a:ext uri="{FF2B5EF4-FFF2-40B4-BE49-F238E27FC236}">
                <a16:creationId xmlns:a16="http://schemas.microsoft.com/office/drawing/2014/main" id="{C08EFA56-8DCE-41DA-A37B-9175FB278D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313" y="188913"/>
            <a:ext cx="338296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b="1">
                <a:cs typeface="Times New Roman" panose="02020603050405020304" pitchFamily="18" charset="0"/>
              </a:rPr>
              <a:t>C</a:t>
            </a:r>
            <a:r>
              <a:rPr lang="en-US" altLang="en-US" b="1" baseline="-25000">
                <a:cs typeface="Times New Roman" panose="02020603050405020304" pitchFamily="18" charset="0"/>
              </a:rPr>
              <a:t>3</a:t>
            </a:r>
            <a:r>
              <a:rPr lang="en-US" altLang="en-US" b="1">
                <a:cs typeface="Times New Roman" panose="02020603050405020304" pitchFamily="18" charset="0"/>
              </a:rPr>
              <a:t> vs C</a:t>
            </a:r>
            <a:r>
              <a:rPr lang="en-US" altLang="en-US" b="1" baseline="-25000">
                <a:cs typeface="Times New Roman" panose="02020603050405020304" pitchFamily="18" charset="0"/>
              </a:rPr>
              <a:t>4</a:t>
            </a:r>
            <a:r>
              <a:rPr lang="en-US" altLang="en-US" b="1">
                <a:cs typeface="Times New Roman" panose="02020603050405020304" pitchFamily="18" charset="0"/>
              </a:rPr>
              <a:t> plants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TextBox 1">
            <a:extLst>
              <a:ext uri="{FF2B5EF4-FFF2-40B4-BE49-F238E27FC236}">
                <a16:creationId xmlns:a16="http://schemas.microsoft.com/office/drawing/2014/main" id="{EC5F5A63-EC25-49E8-B29B-534D5F184B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188913"/>
            <a:ext cx="97218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Case study: profiles of </a:t>
            </a:r>
            <a:r>
              <a:rPr lang="en-US" altLang="en-US" b="1" dirty="0">
                <a:solidFill>
                  <a:srgbClr val="FF0000"/>
                </a:solidFill>
                <a:latin typeface="Symbol" panose="05050102010706020507" pitchFamily="18" charset="2"/>
              </a:rPr>
              <a:t>d</a:t>
            </a:r>
            <a:r>
              <a:rPr lang="en-US" altLang="en-US" b="1" baseline="30000" dirty="0">
                <a:solidFill>
                  <a:srgbClr val="FF0000"/>
                </a:solidFill>
              </a:rPr>
              <a:t>13</a:t>
            </a:r>
            <a:r>
              <a:rPr lang="en-US" altLang="en-US" b="1" dirty="0">
                <a:solidFill>
                  <a:srgbClr val="FF0000"/>
                </a:solidFill>
              </a:rPr>
              <a:t>C </a:t>
            </a:r>
            <a:r>
              <a:rPr lang="en-US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to estimate primary productivity</a:t>
            </a:r>
          </a:p>
        </p:txBody>
      </p:sp>
      <p:sp>
        <p:nvSpPr>
          <p:cNvPr id="64515" name="TextBox 2">
            <a:extLst>
              <a:ext uri="{FF2B5EF4-FFF2-40B4-BE49-F238E27FC236}">
                <a16:creationId xmlns:a16="http://schemas.microsoft.com/office/drawing/2014/main" id="{340C6CD5-983E-460D-88B3-79D9CA3FDE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253" y="1524000"/>
            <a:ext cx="4283075" cy="1133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n-US" altLang="en-US" dirty="0"/>
              <a:t>The profiles of </a:t>
            </a:r>
            <a:r>
              <a:rPr lang="en-US" altLang="en-US" dirty="0">
                <a:latin typeface="Symbol" panose="05050102010706020507" pitchFamily="18" charset="2"/>
              </a:rPr>
              <a:t>d</a:t>
            </a:r>
            <a:r>
              <a:rPr lang="en-US" altLang="en-US" baseline="30000" dirty="0"/>
              <a:t>13</a:t>
            </a:r>
            <a:r>
              <a:rPr lang="en-US" altLang="en-US" dirty="0"/>
              <a:t>C  can be used to estimate primary productivity</a:t>
            </a:r>
          </a:p>
        </p:txBody>
      </p:sp>
      <p:sp>
        <p:nvSpPr>
          <p:cNvPr id="64516" name="TextBox 3">
            <a:extLst>
              <a:ext uri="{FF2B5EF4-FFF2-40B4-BE49-F238E27FC236}">
                <a16:creationId xmlns:a16="http://schemas.microsoft.com/office/drawing/2014/main" id="{E0BB1E58-AA3B-4808-B7CC-75EBD1EA7A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3207897"/>
            <a:ext cx="3962400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n-US" altLang="en-US" dirty="0"/>
              <a:t>More photosynthesis in surface results in a heavier </a:t>
            </a:r>
            <a:r>
              <a:rPr lang="en-US" altLang="en-US" dirty="0">
                <a:latin typeface="Symbol" panose="05050102010706020507" pitchFamily="18" charset="2"/>
              </a:rPr>
              <a:t>d</a:t>
            </a:r>
            <a:r>
              <a:rPr lang="en-US" altLang="en-US" baseline="30000" dirty="0"/>
              <a:t>13</a:t>
            </a:r>
            <a:r>
              <a:rPr lang="en-US" altLang="en-US" dirty="0"/>
              <a:t>C, resulting in a more positive </a:t>
            </a:r>
            <a:r>
              <a:rPr lang="en-US" altLang="en-US" dirty="0">
                <a:latin typeface="Symbol" panose="05050102010706020507" pitchFamily="18" charset="2"/>
              </a:rPr>
              <a:t>d</a:t>
            </a:r>
            <a:r>
              <a:rPr lang="en-US" altLang="en-US" baseline="30000" dirty="0"/>
              <a:t>13</a:t>
            </a:r>
            <a:r>
              <a:rPr lang="en-US" altLang="en-US" dirty="0"/>
              <a:t>C in surface DIC</a:t>
            </a:r>
          </a:p>
          <a:p>
            <a:endParaRPr lang="en-US" altLang="en-US" dirty="0"/>
          </a:p>
          <a:p>
            <a:endParaRPr lang="en-US" altLang="en-US" dirty="0"/>
          </a:p>
        </p:txBody>
      </p:sp>
      <p:pic>
        <p:nvPicPr>
          <p:cNvPr id="64517" name="Picture 4" descr="d18Od13CProfiles">
            <a:extLst>
              <a:ext uri="{FF2B5EF4-FFF2-40B4-BE49-F238E27FC236}">
                <a16:creationId xmlns:a16="http://schemas.microsoft.com/office/drawing/2014/main" id="{DBE6BDB1-6FD9-4DAE-A428-25E2036C7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06"/>
          <a:stretch>
            <a:fillRect/>
          </a:stretch>
        </p:blipFill>
        <p:spPr bwMode="auto">
          <a:xfrm>
            <a:off x="4427538" y="692150"/>
            <a:ext cx="3240087" cy="5319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4518" name="Text Box 6">
            <a:extLst>
              <a:ext uri="{FF2B5EF4-FFF2-40B4-BE49-F238E27FC236}">
                <a16:creationId xmlns:a16="http://schemas.microsoft.com/office/drawing/2014/main" id="{AD3B3822-01BE-406F-98C6-14F7BE62CC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2225" y="6308725"/>
            <a:ext cx="1949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>
                <a:ea typeface="MS PGothic" panose="020B0600070205080204" pitchFamily="34" charset="-128"/>
              </a:rPr>
              <a:t>North Atlantic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1B087324-7004-4731-823F-7167EA3CB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295400"/>
            <a:ext cx="7772400" cy="5130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BD7134-4EE3-47F8-A389-47169F021D8D}"/>
              </a:ext>
            </a:extLst>
          </p:cNvPr>
          <p:cNvSpPr txBox="1"/>
          <p:nvPr/>
        </p:nvSpPr>
        <p:spPr>
          <a:xfrm>
            <a:off x="152400" y="109110"/>
            <a:ext cx="4572000" cy="577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400" b="1" dirty="0">
                <a:latin typeface="+mj-lt"/>
                <a:cs typeface="Times New Roman" panose="02020603050405020304" pitchFamily="18" charset="0"/>
              </a:rPr>
              <a:t>Information on “paleodiet”</a:t>
            </a:r>
          </a:p>
        </p:txBody>
      </p:sp>
    </p:spTree>
    <p:extLst>
      <p:ext uri="{BB962C8B-B14F-4D97-AF65-F5344CB8AC3E}">
        <p14:creationId xmlns:p14="http://schemas.microsoft.com/office/powerpoint/2010/main" val="2032711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762000"/>
          </a:xfrm>
        </p:spPr>
        <p:txBody>
          <a:bodyPr/>
          <a:lstStyle/>
          <a:p>
            <a:r>
              <a:rPr lang="en-US" sz="3600" b="1" dirty="0">
                <a:latin typeface="Times New Roman" pitchFamily="18" charset="0"/>
              </a:rPr>
              <a:t>Isotopes of Strontium</a:t>
            </a:r>
            <a:endParaRPr lang="en-IN" sz="3600" b="1" dirty="0">
              <a:latin typeface="Times New Roman" pitchFamily="18" charset="0"/>
            </a:endParaRP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1143000"/>
            <a:ext cx="8610600" cy="4830763"/>
          </a:xfrm>
        </p:spPr>
        <p:txBody>
          <a:bodyPr/>
          <a:lstStyle/>
          <a:p>
            <a:pPr algn="just">
              <a:lnSpc>
                <a:spcPct val="150000"/>
              </a:lnSpc>
              <a:buFontTx/>
              <a:buNone/>
            </a:pPr>
            <a:r>
              <a:rPr lang="en-US" sz="2400" dirty="0">
                <a:latin typeface="Times New Roman" pitchFamily="18" charset="0"/>
              </a:rPr>
              <a:t>The alkali earth metal strontium has four stable naturally occurring isotopes:</a:t>
            </a:r>
          </a:p>
          <a:p>
            <a:pPr>
              <a:buFontTx/>
              <a:buNone/>
            </a:pPr>
            <a:endParaRPr lang="en-US" sz="2400" b="1" dirty="0">
              <a:latin typeface="Times New Roman" pitchFamily="18" charset="0"/>
            </a:endParaRPr>
          </a:p>
          <a:p>
            <a:pPr>
              <a:buFontTx/>
              <a:buNone/>
            </a:pPr>
            <a:r>
              <a:rPr lang="en-IN" sz="2400" b="1" baseline="30000" dirty="0">
                <a:latin typeface="Times New Roman" pitchFamily="18" charset="0"/>
              </a:rPr>
              <a:t>   </a:t>
            </a:r>
            <a:r>
              <a:rPr lang="en-IN" sz="2400" baseline="30000" dirty="0">
                <a:latin typeface="Times New Roman" pitchFamily="18" charset="0"/>
              </a:rPr>
              <a:t>~84</a:t>
            </a:r>
            <a:r>
              <a:rPr lang="en-IN" sz="2400" dirty="0">
                <a:latin typeface="Times New Roman" pitchFamily="18" charset="0"/>
              </a:rPr>
              <a:t>Sr (0.56%) </a:t>
            </a:r>
          </a:p>
          <a:p>
            <a:pPr>
              <a:buFontTx/>
              <a:buNone/>
            </a:pPr>
            <a:r>
              <a:rPr lang="en-IN" sz="2400" baseline="30000" dirty="0">
                <a:latin typeface="Times New Roman" pitchFamily="18" charset="0"/>
              </a:rPr>
              <a:t>   ~ 86</a:t>
            </a:r>
            <a:r>
              <a:rPr lang="en-IN" sz="2400" dirty="0">
                <a:latin typeface="Times New Roman" pitchFamily="18" charset="0"/>
              </a:rPr>
              <a:t>Sr (9.86%) </a:t>
            </a:r>
          </a:p>
          <a:p>
            <a:pPr>
              <a:buFontTx/>
              <a:buNone/>
            </a:pPr>
            <a:r>
              <a:rPr lang="en-IN" sz="2400" baseline="30000" dirty="0">
                <a:latin typeface="Times New Roman" pitchFamily="18" charset="0"/>
              </a:rPr>
              <a:t>    ~87</a:t>
            </a:r>
            <a:r>
              <a:rPr lang="en-IN" sz="2400" dirty="0">
                <a:latin typeface="Times New Roman" pitchFamily="18" charset="0"/>
              </a:rPr>
              <a:t>Sr (7.0%) and </a:t>
            </a:r>
          </a:p>
          <a:p>
            <a:pPr>
              <a:buFontTx/>
              <a:buNone/>
            </a:pPr>
            <a:r>
              <a:rPr lang="en-IN" sz="2400" baseline="30000" dirty="0">
                <a:latin typeface="Times New Roman" pitchFamily="18" charset="0"/>
              </a:rPr>
              <a:t>   ~88</a:t>
            </a:r>
            <a:r>
              <a:rPr lang="en-IN" sz="2400" dirty="0">
                <a:latin typeface="Times New Roman" pitchFamily="18" charset="0"/>
              </a:rPr>
              <a:t>Sr (82.58%) 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57600" y="1828800"/>
            <a:ext cx="5334000" cy="4464293"/>
            <a:chOff x="3810000" y="2362200"/>
            <a:chExt cx="5111750" cy="4236704"/>
          </a:xfrm>
        </p:grpSpPr>
        <p:grpSp>
          <p:nvGrpSpPr>
            <p:cNvPr id="8" name="Group 7"/>
            <p:cNvGrpSpPr/>
            <p:nvPr/>
          </p:nvGrpSpPr>
          <p:grpSpPr>
            <a:xfrm>
              <a:off x="3810000" y="2362200"/>
              <a:ext cx="4648200" cy="3352800"/>
              <a:chOff x="3810000" y="2362200"/>
              <a:chExt cx="4648200" cy="3352800"/>
            </a:xfrm>
          </p:grpSpPr>
          <p:pic>
            <p:nvPicPr>
              <p:cNvPr id="5" name="Picture 2" descr="Mass Spectrometry - Lessons - Blendspace"/>
              <p:cNvPicPr>
                <a:picLocks noChangeAspect="1" noChangeArrowheads="1"/>
              </p:cNvPicPr>
              <p:nvPr/>
            </p:nvPicPr>
            <p:blipFill>
              <a:blip r:embed="rId3" cstate="print"/>
              <a:srcRect l="18966" t="10495" b="9741"/>
              <a:stretch>
                <a:fillRect/>
              </a:stretch>
            </p:blipFill>
            <p:spPr bwMode="auto">
              <a:xfrm>
                <a:off x="4114800" y="2362200"/>
                <a:ext cx="4343400" cy="3124200"/>
              </a:xfrm>
              <a:prstGeom prst="rect">
                <a:avLst/>
              </a:prstGeom>
              <a:noFill/>
            </p:spPr>
          </p:pic>
          <p:sp>
            <p:nvSpPr>
              <p:cNvPr id="6" name="Rectangle 2"/>
              <p:cNvSpPr txBox="1">
                <a:spLocks noChangeArrowheads="1"/>
              </p:cNvSpPr>
              <p:nvPr/>
            </p:nvSpPr>
            <p:spPr>
              <a:xfrm>
                <a:off x="5105400" y="5334000"/>
                <a:ext cx="2286000" cy="381000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itchFamily="18" charset="0"/>
                    <a:ea typeface="+mj-ea"/>
                    <a:cs typeface="+mj-cs"/>
                  </a:rPr>
                  <a:t>Strontium isotopes</a:t>
                </a:r>
                <a:endParaRPr kumimoji="0" lang="en-IN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itchFamily="18" charset="0"/>
                  <a:ea typeface="+mj-ea"/>
                  <a:cs typeface="+mj-cs"/>
                </a:endParaRPr>
              </a:p>
            </p:txBody>
          </p:sp>
          <p:sp>
            <p:nvSpPr>
              <p:cNvPr id="7" name="Rectangle 2"/>
              <p:cNvSpPr txBox="1">
                <a:spLocks noChangeArrowheads="1"/>
              </p:cNvSpPr>
              <p:nvPr/>
            </p:nvSpPr>
            <p:spPr>
              <a:xfrm rot="16200000">
                <a:off x="2628900" y="3695700"/>
                <a:ext cx="2743200" cy="381000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itchFamily="18" charset="0"/>
                    <a:ea typeface="+mj-ea"/>
                    <a:cs typeface="+mj-cs"/>
                  </a:rPr>
                  <a:t>Relative abundance (%)</a:t>
                </a:r>
                <a:endParaRPr kumimoji="0" lang="en-IN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itchFamily="18" charset="0"/>
                  <a:ea typeface="+mj-ea"/>
                  <a:cs typeface="+mj-cs"/>
                </a:endParaRPr>
              </a:p>
            </p:txBody>
          </p:sp>
        </p:grp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6477000" y="6248400"/>
              <a:ext cx="2444750" cy="3505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50000"/>
                </a:spcBef>
                <a:spcAft>
                  <a:spcPts val="500"/>
                </a:spcAft>
              </a:pPr>
              <a:r>
                <a:rPr lang="en-IN" dirty="0">
                  <a:latin typeface="Times New Roman" pitchFamily="18" charset="0"/>
                  <a:cs typeface="Times New Roman" pitchFamily="18" charset="0"/>
                </a:rPr>
                <a:t>McArthur et al., 2012</a:t>
              </a:r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2590333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/>
          <p:cNvPicPr>
            <a:picLocks noChangeAspect="1" noChangeArrowheads="1"/>
          </p:cNvPicPr>
          <p:nvPr/>
        </p:nvPicPr>
        <p:blipFill>
          <a:blip r:embed="rId2" cstate="print"/>
          <a:srcRect l="2786" t="11277" r="53564" b="32252"/>
          <a:stretch>
            <a:fillRect/>
          </a:stretch>
        </p:blipFill>
        <p:spPr>
          <a:xfrm>
            <a:off x="152400" y="1143000"/>
            <a:ext cx="4377266" cy="3352800"/>
          </a:xfrm>
          <a:prstGeom prst="rect">
            <a:avLst/>
          </a:prstGeom>
          <a:noFill/>
          <a:ln/>
        </p:spPr>
      </p:pic>
      <p:pic>
        <p:nvPicPr>
          <p:cNvPr id="3" name="Picture 4"/>
          <p:cNvPicPr>
            <a:picLocks noChangeAspect="1" noChangeArrowheads="1"/>
          </p:cNvPicPr>
          <p:nvPr/>
        </p:nvPicPr>
        <p:blipFill>
          <a:blip r:embed="rId2" cstate="print"/>
          <a:srcRect l="46436" t="25395" b="8723"/>
          <a:stretch>
            <a:fillRect/>
          </a:stretch>
        </p:blipFill>
        <p:spPr>
          <a:xfrm>
            <a:off x="4191000" y="1371600"/>
            <a:ext cx="4775775" cy="3477855"/>
          </a:xfrm>
          <a:prstGeom prst="rect">
            <a:avLst/>
          </a:prstGeom>
          <a:noFill/>
          <a:ln/>
        </p:spPr>
      </p:pic>
      <p:sp>
        <p:nvSpPr>
          <p:cNvPr id="4" name="Rectangle 2"/>
          <p:cNvSpPr txBox="1">
            <a:spLocks noRot="1" noChangeArrowheads="1"/>
          </p:cNvSpPr>
          <p:nvPr/>
        </p:nvSpPr>
        <p:spPr>
          <a:xfrm>
            <a:off x="762000" y="4800600"/>
            <a:ext cx="41148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Fractionation of Rb/Sr between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upper mantle and continental crust</a:t>
            </a:r>
            <a:endParaRPr kumimoji="0" lang="en-IN" sz="3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sp>
        <p:nvSpPr>
          <p:cNvPr id="5" name="Rectangle 2"/>
          <p:cNvSpPr txBox="1">
            <a:spLocks noRot="1" noChangeArrowheads="1"/>
          </p:cNvSpPr>
          <p:nvPr/>
        </p:nvSpPr>
        <p:spPr>
          <a:xfrm>
            <a:off x="5257800" y="4876800"/>
            <a:ext cx="32766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>
              <a:spcBef>
                <a:spcPct val="0"/>
              </a:spcBef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Evolution of  </a:t>
            </a:r>
            <a:r>
              <a:rPr lang="en-US" b="1" baseline="30000" dirty="0">
                <a:latin typeface="Times New Roman" pitchFamily="18" charset="0"/>
              </a:rPr>
              <a:t>87</a:t>
            </a:r>
            <a:r>
              <a:rPr lang="en-US" b="1" dirty="0">
                <a:latin typeface="Times New Roman" pitchFamily="18" charset="0"/>
              </a:rPr>
              <a:t>Sr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/ </a:t>
            </a:r>
            <a:r>
              <a:rPr lang="en-US" b="1" baseline="30000" dirty="0">
                <a:latin typeface="Times New Roman" pitchFamily="18" charset="0"/>
              </a:rPr>
              <a:t>86</a:t>
            </a:r>
            <a:r>
              <a:rPr lang="en-US" b="1" dirty="0">
                <a:latin typeface="Times New Roman" pitchFamily="18" charset="0"/>
              </a:rPr>
              <a:t>Sr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ratio from bulk earth ration since fractionation</a:t>
            </a:r>
            <a:endParaRPr kumimoji="0" lang="en-IN" sz="3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7343507" y="6324600"/>
            <a:ext cx="180049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Elderfield, 1985  </a:t>
            </a:r>
          </a:p>
        </p:txBody>
      </p:sp>
      <p:sp>
        <p:nvSpPr>
          <p:cNvPr id="7" name="Rectangle 2"/>
          <p:cNvSpPr txBox="1">
            <a:spLocks noRot="1" noChangeArrowheads="1"/>
          </p:cNvSpPr>
          <p:nvPr/>
        </p:nvSpPr>
        <p:spPr>
          <a:xfrm>
            <a:off x="228600" y="0"/>
            <a:ext cx="8686800" cy="103505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Evolution of Strontium Isotope</a:t>
            </a:r>
            <a:r>
              <a:rPr kumimoji="0" lang="en-US" sz="36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ratios</a:t>
            </a:r>
            <a:b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</a:br>
            <a:endParaRPr kumimoji="0" lang="en-IN" sz="3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001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 txBox="1">
            <a:spLocks noRot="1" noChangeArrowheads="1"/>
          </p:cNvSpPr>
          <p:nvPr/>
        </p:nvSpPr>
        <p:spPr>
          <a:xfrm>
            <a:off x="381000" y="0"/>
            <a:ext cx="8458200" cy="88265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latin typeface="Times New Roman" pitchFamily="18" charset="0"/>
                <a:ea typeface="+mj-ea"/>
                <a:cs typeface="Times New Roman" pitchFamily="18" charset="0"/>
              </a:rPr>
              <a:t>G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eochemical</a:t>
            </a:r>
            <a:r>
              <a:rPr kumimoji="0" lang="en-US" sz="36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j-ea"/>
                <a:cs typeface="Times New Roman" pitchFamily="18" charset="0"/>
              </a:rPr>
              <a:t> cycle of strontium</a:t>
            </a:r>
            <a:endParaRPr kumimoji="0" lang="en-IN" sz="3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j-ea"/>
              <a:cs typeface="Times New Roman" pitchFamily="18" charset="0"/>
            </a:endParaRP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7343507" y="6324600"/>
            <a:ext cx="180049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Elderfield, 1985  </a:t>
            </a:r>
          </a:p>
        </p:txBody>
      </p:sp>
      <p:pic>
        <p:nvPicPr>
          <p:cNvPr id="6" name="Google Shape;105;p18"/>
          <p:cNvPicPr preferRelativeResize="0"/>
          <p:nvPr/>
        </p:nvPicPr>
        <p:blipFill>
          <a:blip r:embed="rId2" cstate="print">
            <a:alphaModFix/>
          </a:blip>
          <a:stretch>
            <a:fillRect/>
          </a:stretch>
        </p:blipFill>
        <p:spPr>
          <a:xfrm>
            <a:off x="609600" y="1143000"/>
            <a:ext cx="8247625" cy="4419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344033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685800" y="304800"/>
            <a:ext cx="7924800" cy="838200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latin typeface="Times New Roman" pitchFamily="18" charset="0"/>
                <a:cs typeface="Times New Roman" pitchFamily="18" charset="0"/>
              </a:rPr>
              <a:t>Estimated values of Strontium Isotopes </a:t>
            </a:r>
            <a:br>
              <a:rPr lang="en-US" sz="3600" dirty="0"/>
            </a:br>
            <a:endParaRPr lang="en-IN" sz="3600" dirty="0"/>
          </a:p>
        </p:txBody>
      </p:sp>
      <p:sp>
        <p:nvSpPr>
          <p:cNvPr id="118789" name="Rectangle 5"/>
          <p:cNvSpPr>
            <a:spLocks noChangeArrowheads="1"/>
          </p:cNvSpPr>
          <p:nvPr/>
        </p:nvSpPr>
        <p:spPr bwMode="auto">
          <a:xfrm>
            <a:off x="611188" y="6145213"/>
            <a:ext cx="853281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r>
              <a:rPr lang="en-US" sz="1800">
                <a:latin typeface="Arial" pitchFamily="34" charset="0"/>
              </a:rPr>
              <a:t>       </a:t>
            </a:r>
            <a:endParaRPr lang="en-US" sz="1200">
              <a:latin typeface="Arial" pitchFamily="34" charset="0"/>
            </a:endParaRPr>
          </a:p>
        </p:txBody>
      </p:sp>
      <p:sp>
        <p:nvSpPr>
          <p:cNvPr id="11879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381000" y="762000"/>
            <a:ext cx="8458200" cy="4754563"/>
          </a:xfrm>
        </p:spPr>
        <p:txBody>
          <a:bodyPr/>
          <a:lstStyle/>
          <a:p>
            <a:pPr>
              <a:lnSpc>
                <a:spcPct val="150000"/>
              </a:lnSpc>
              <a:buFont typeface="Wingdings" pitchFamily="2" charset="2"/>
              <a:buNone/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Primordial </a:t>
            </a:r>
            <a:r>
              <a:rPr lang="en-US" sz="2800" baseline="30000" dirty="0">
                <a:latin typeface="Times New Roman" pitchFamily="18" charset="0"/>
                <a:cs typeface="Times New Roman" pitchFamily="18" charset="0"/>
              </a:rPr>
              <a:t>87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Sr/</a:t>
            </a:r>
            <a:r>
              <a:rPr lang="en-US" sz="2800" baseline="30000" dirty="0">
                <a:latin typeface="Times New Roman" pitchFamily="18" charset="0"/>
                <a:cs typeface="Times New Roman" pitchFamily="18" charset="0"/>
              </a:rPr>
              <a:t>86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Sr ratio  ~0.699</a:t>
            </a:r>
            <a:r>
              <a:rPr lang="en-IN" sz="2800" dirty="0">
                <a:latin typeface="Times New Roman" pitchFamily="18" charset="0"/>
                <a:cs typeface="Times New Roman" pitchFamily="18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Strontium- depleted ocean basalts ~ 0.703</a:t>
            </a:r>
            <a:r>
              <a:rPr lang="en-IN" sz="2800" dirty="0">
                <a:latin typeface="Times New Roman" pitchFamily="18" charset="0"/>
                <a:cs typeface="Times New Roman" pitchFamily="18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Strontium- enriched continental rocks ~0.701 to 0.740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Modern seawater has </a:t>
            </a:r>
            <a:r>
              <a:rPr lang="en-US" sz="2800" baseline="30000" dirty="0">
                <a:latin typeface="Times New Roman" pitchFamily="18" charset="0"/>
                <a:cs typeface="Times New Roman" pitchFamily="18" charset="0"/>
              </a:rPr>
              <a:t>87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Sr/</a:t>
            </a:r>
            <a:r>
              <a:rPr lang="en-US" sz="2800" baseline="30000" dirty="0">
                <a:latin typeface="Times New Roman" pitchFamily="18" charset="0"/>
                <a:cs typeface="Times New Roman" pitchFamily="18" charset="0"/>
              </a:rPr>
              <a:t>86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Sr  ~0.709</a:t>
            </a:r>
            <a:endParaRPr lang="en-IN" sz="28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84487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0" y="304800"/>
            <a:ext cx="9144000" cy="1295400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Applicability of Strontium for chemostratigraphy</a:t>
            </a:r>
            <a:endParaRPr lang="en-IN" sz="36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5288" y="1773238"/>
            <a:ext cx="8229600" cy="4094162"/>
          </a:xfrm>
        </p:spPr>
        <p:txBody>
          <a:bodyPr>
            <a:normAutofit fontScale="92500" lnSpcReduction="20000"/>
          </a:bodyPr>
          <a:lstStyle/>
          <a:p>
            <a:pPr marL="0" lvl="0" indent="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1800"/>
              <a:buNone/>
            </a:pPr>
            <a:endParaRPr lang="en-US" sz="28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90000"/>
              </a:lnSpc>
            </a:pP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Sr Ocean Residence Time (</a:t>
            </a:r>
            <a:r>
              <a:rPr lang="en-IN" sz="2800" kern="0" baseline="30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87</a:t>
            </a: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Sr): ~4 x 10</a:t>
            </a:r>
            <a:r>
              <a:rPr lang="en-IN" sz="2800" kern="0" baseline="30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6</a:t>
            </a: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 yrs</a:t>
            </a:r>
          </a:p>
          <a:p>
            <a:pPr marL="0" lvl="0" indent="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1800"/>
              <a:buNone/>
            </a:pP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    Ocean Mixing Time: ~10</a:t>
            </a:r>
            <a:r>
              <a:rPr lang="en-IN" sz="2800" kern="0" baseline="30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3</a:t>
            </a: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 yrs</a:t>
            </a:r>
          </a:p>
          <a:p>
            <a:pPr marL="0" lvl="0" indent="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1800"/>
              <a:buNone/>
            </a:pPr>
            <a:r>
              <a:rPr lang="en-IN" sz="2800" kern="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    Well-mixed with Sr at any point of time.</a:t>
            </a:r>
          </a:p>
          <a:p>
            <a:pPr marL="0" lvl="0" indent="0">
              <a:lnSpc>
                <a:spcPct val="115000"/>
              </a:lnSpc>
              <a:spcBef>
                <a:spcPts val="0"/>
              </a:spcBef>
              <a:buClr>
                <a:srgbClr val="595959"/>
              </a:buClr>
              <a:buSzPts val="1800"/>
              <a:buNone/>
            </a:pPr>
            <a:endParaRPr lang="en-IN" sz="2800" kern="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  <a:p>
            <a:pPr>
              <a:lnSpc>
                <a:spcPct val="16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Negligible/near about absent effects of isotope fractionation</a:t>
            </a:r>
          </a:p>
          <a:p>
            <a:pPr>
              <a:lnSpc>
                <a:spcPct val="90000"/>
              </a:lnSpc>
              <a:buNone/>
            </a:pPr>
            <a:endParaRPr lang="en-US" sz="28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90000"/>
              </a:lnSpc>
            </a:pP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Absence of </a:t>
            </a:r>
            <a:r>
              <a:rPr lang="en-US" sz="2800" baseline="30000" dirty="0">
                <a:latin typeface="Times New Roman" pitchFamily="18" charset="0"/>
                <a:cs typeface="Times New Roman" pitchFamily="18" charset="0"/>
              </a:rPr>
              <a:t>87</a:t>
            </a:r>
            <a:r>
              <a:rPr lang="en-US" sz="2800" dirty="0">
                <a:latin typeface="Times New Roman" pitchFamily="18" charset="0"/>
                <a:cs typeface="Times New Roman" pitchFamily="18" charset="0"/>
              </a:rPr>
              <a:t>Rb in carbonate phase</a:t>
            </a:r>
            <a:r>
              <a:rPr lang="en-IN" sz="2800" dirty="0">
                <a:latin typeface="Times New Roman" pitchFamily="18" charset="0"/>
                <a:cs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4168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990600" y="76200"/>
            <a:ext cx="6553200" cy="685800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Strontium Isotope Stratigraphy</a:t>
            </a:r>
            <a:endParaRPr lang="en-IN" sz="36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52400" y="1066800"/>
            <a:ext cx="8763000" cy="5105400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90000"/>
              </a:lnSpc>
            </a:pPr>
            <a:endParaRPr lang="en-IN" sz="800" dirty="0"/>
          </a:p>
          <a:p>
            <a:pPr algn="just">
              <a:lnSpc>
                <a:spcPct val="120000"/>
              </a:lnSpc>
              <a:buFont typeface="Wingdings" pitchFamily="2" charset="2"/>
              <a:buChar char="Ø"/>
            </a:pPr>
            <a:r>
              <a:rPr lang="en-IN" sz="9600" dirty="0">
                <a:latin typeface="Times New Roman" pitchFamily="18" charset="0"/>
              </a:rPr>
              <a:t>Strontium isotope stratigraphy relies on recognised variations in the </a:t>
            </a:r>
            <a:r>
              <a:rPr lang="en-US" sz="9600" baseline="30000" dirty="0">
                <a:latin typeface="Times New Roman" pitchFamily="18" charset="0"/>
              </a:rPr>
              <a:t>87</a:t>
            </a:r>
            <a:r>
              <a:rPr lang="en-US" sz="9600" dirty="0">
                <a:latin typeface="Times New Roman" pitchFamily="18" charset="0"/>
              </a:rPr>
              <a:t>Sr/</a:t>
            </a:r>
            <a:r>
              <a:rPr lang="en-US" sz="9600" baseline="30000" dirty="0">
                <a:latin typeface="Times New Roman" pitchFamily="18" charset="0"/>
              </a:rPr>
              <a:t>86</a:t>
            </a:r>
            <a:r>
              <a:rPr lang="en-US" sz="9600" dirty="0">
                <a:latin typeface="Times New Roman" pitchFamily="18" charset="0"/>
              </a:rPr>
              <a:t>Sr</a:t>
            </a:r>
            <a:r>
              <a:rPr lang="en-IN" sz="9600" dirty="0">
                <a:latin typeface="Times New Roman" pitchFamily="18" charset="0"/>
              </a:rPr>
              <a:t> ratio of seawater over time.</a:t>
            </a:r>
          </a:p>
          <a:p>
            <a:pPr algn="just">
              <a:lnSpc>
                <a:spcPct val="120000"/>
              </a:lnSpc>
              <a:buFont typeface="Wingdings" pitchFamily="2" charset="2"/>
              <a:buChar char="Ø"/>
            </a:pPr>
            <a:endParaRPr lang="en-IN" sz="9600" dirty="0">
              <a:latin typeface="Times New Roman" pitchFamily="18" charset="0"/>
            </a:endParaRPr>
          </a:p>
          <a:p>
            <a:pPr algn="just">
              <a:lnSpc>
                <a:spcPct val="120000"/>
              </a:lnSpc>
              <a:buFont typeface="Wingdings" pitchFamily="2" charset="2"/>
              <a:buChar char="Ø"/>
            </a:pPr>
            <a:r>
              <a:rPr lang="en-IN" sz="9600" dirty="0">
                <a:latin typeface="Times New Roman" pitchFamily="18" charset="0"/>
              </a:rPr>
              <a:t>Using the more conventional biostratigraphic correlation techniques we can create high resolution stratigraphy of marine sedimentary sections.</a:t>
            </a:r>
          </a:p>
          <a:p>
            <a:pPr algn="just">
              <a:lnSpc>
                <a:spcPct val="120000"/>
              </a:lnSpc>
              <a:buFont typeface="Wingdings" pitchFamily="2" charset="2"/>
              <a:buChar char="Ø"/>
            </a:pPr>
            <a:endParaRPr lang="en-IN" sz="9600" dirty="0">
              <a:latin typeface="Times New Roman" pitchFamily="18" charset="0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  <a:buFont typeface="Wingdings" pitchFamily="2" charset="2"/>
              <a:buChar char="Ø"/>
            </a:pPr>
            <a:r>
              <a:rPr lang="en-US" sz="9600" baseline="30000" dirty="0">
                <a:latin typeface="Times New Roman" pitchFamily="18" charset="0"/>
              </a:rPr>
              <a:t>87</a:t>
            </a:r>
            <a:r>
              <a:rPr lang="en-US" sz="9600" dirty="0">
                <a:latin typeface="Times New Roman" pitchFamily="18" charset="0"/>
              </a:rPr>
              <a:t>Sr/</a:t>
            </a:r>
            <a:r>
              <a:rPr lang="en-US" sz="9600" baseline="30000" dirty="0">
                <a:latin typeface="Times New Roman" pitchFamily="18" charset="0"/>
              </a:rPr>
              <a:t>86</a:t>
            </a:r>
            <a:r>
              <a:rPr lang="en-US" sz="9600" dirty="0">
                <a:latin typeface="Times New Roman" pitchFamily="18" charset="0"/>
              </a:rPr>
              <a:t>Sr in a mineral precipitated from seawater, such as biogenic carbonate, micrite or a marine-derived evaporite, can be used to determine depositional age by comparison to a empirical calibrated curve of </a:t>
            </a:r>
            <a:r>
              <a:rPr lang="en-US" sz="9600" baseline="30000" dirty="0">
                <a:latin typeface="Times New Roman" pitchFamily="18" charset="0"/>
              </a:rPr>
              <a:t>87</a:t>
            </a:r>
            <a:r>
              <a:rPr lang="en-US" sz="9600" dirty="0">
                <a:latin typeface="Times New Roman" pitchFamily="18" charset="0"/>
              </a:rPr>
              <a:t>Sr/</a:t>
            </a:r>
            <a:r>
              <a:rPr lang="en-US" sz="9600" baseline="30000" dirty="0">
                <a:latin typeface="Times New Roman" pitchFamily="18" charset="0"/>
              </a:rPr>
              <a:t>86</a:t>
            </a:r>
            <a:r>
              <a:rPr lang="en-US" sz="9600" dirty="0">
                <a:latin typeface="Times New Roman" pitchFamily="18" charset="0"/>
              </a:rPr>
              <a:t>Sr against time.</a:t>
            </a:r>
            <a:endParaRPr lang="en-IN" sz="9600" dirty="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856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274638"/>
            <a:ext cx="8763000" cy="1143000"/>
          </a:xfrm>
        </p:spPr>
        <p:txBody>
          <a:bodyPr>
            <a:noAutofit/>
          </a:bodyPr>
          <a:lstStyle/>
          <a:p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Change in Isotope ratio throughout Phanerozoic time</a:t>
            </a:r>
            <a:endParaRPr lang="en-IN" sz="36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7107" name="Picture 3"/>
          <p:cNvPicPr>
            <a:picLocks noGrp="1" noChangeAspect="1" noChangeArrowheads="1"/>
          </p:cNvPicPr>
          <p:nvPr>
            <p:ph type="body" idx="1"/>
          </p:nvPr>
        </p:nvPicPr>
        <p:blipFill>
          <a:blip r:embed="rId3" cstate="print"/>
          <a:srcRect/>
          <a:stretch>
            <a:fillRect/>
          </a:stretch>
        </p:blipFill>
        <p:spPr>
          <a:xfrm>
            <a:off x="838200" y="1557338"/>
            <a:ext cx="7981950" cy="4288023"/>
          </a:xfrm>
        </p:spPr>
      </p:pic>
      <p:sp>
        <p:nvSpPr>
          <p:cNvPr id="4" name="Rectangle 5"/>
          <p:cNvSpPr>
            <a:spLocks noChangeArrowheads="1"/>
          </p:cNvSpPr>
          <p:nvPr/>
        </p:nvSpPr>
        <p:spPr bwMode="auto">
          <a:xfrm>
            <a:off x="7665916" y="6443246"/>
            <a:ext cx="1325684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Veizer , 1989 </a:t>
            </a:r>
            <a:endParaRPr lang="en-IN" sz="16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5293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" y="0"/>
            <a:ext cx="8610600" cy="838200"/>
          </a:xfrm>
        </p:spPr>
        <p:txBody>
          <a:bodyPr>
            <a:normAutofit fontScale="90000"/>
          </a:bodyPr>
          <a:lstStyle/>
          <a:p>
            <a:r>
              <a:rPr lang="en-US" sz="3600" b="1" dirty="0" err="1">
                <a:latin typeface="Times New Roman" pitchFamily="18" charset="0"/>
                <a:cs typeface="Times New Roman" pitchFamily="18" charset="0"/>
              </a:rPr>
              <a:t>Lowess</a:t>
            </a:r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 curve and its use in Isotope Stratigraphy</a:t>
            </a:r>
            <a:endParaRPr lang="en-IN" sz="36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915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49158" name="Rectangle 6"/>
          <p:cNvSpPr>
            <a:spLocks noChangeArrowheads="1"/>
          </p:cNvSpPr>
          <p:nvPr/>
        </p:nvSpPr>
        <p:spPr bwMode="auto">
          <a:xfrm>
            <a:off x="1219200" y="6477000"/>
            <a:ext cx="792480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IN" sz="1600" dirty="0">
                <a:latin typeface="Times New Roman" pitchFamily="18" charset="0"/>
                <a:cs typeface="Times New Roman" pitchFamily="18" charset="0"/>
              </a:rPr>
              <a:t>LOWESS fit for the period 0-610 Ma with 95% confidence bounds.  McArthur et al., 2001</a:t>
            </a:r>
          </a:p>
        </p:txBody>
      </p:sp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313" y="914401"/>
            <a:ext cx="8447087" cy="553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64465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2"/>
          <p:cNvSpPr txBox="1">
            <a:spLocks noGrp="1"/>
          </p:cNvSpPr>
          <p:nvPr>
            <p:ph type="title"/>
          </p:nvPr>
        </p:nvSpPr>
        <p:spPr>
          <a:xfrm>
            <a:off x="0" y="76200"/>
            <a:ext cx="8520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120" b="1" dirty="0">
                <a:latin typeface="Tahoma"/>
                <a:ea typeface="Tahoma"/>
                <a:cs typeface="Tahoma"/>
                <a:sym typeface="Tahoma"/>
              </a:rPr>
              <a:t>Ideal Materials for SIS</a:t>
            </a:r>
            <a:endParaRPr sz="3120" b="1" dirty="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4" name="Google Shape;134;p22"/>
          <p:cNvSpPr txBox="1">
            <a:spLocks noGrp="1"/>
          </p:cNvSpPr>
          <p:nvPr>
            <p:ph type="body" idx="1"/>
          </p:nvPr>
        </p:nvSpPr>
        <p:spPr>
          <a:xfrm>
            <a:off x="0" y="914400"/>
            <a:ext cx="6629400" cy="52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6706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ct val="100000"/>
              <a:buFont typeface="Arial" pitchFamily="34" charset="0"/>
              <a:buChar char="•"/>
            </a:pPr>
            <a:r>
              <a:rPr lang="en" sz="2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Samples must have high potential for retaining their original marine strontium isotope ratios.</a:t>
            </a:r>
            <a:endParaRPr sz="200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  <a:p>
            <a:pPr marL="457200" lvl="0" indent="-316706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ct val="100000"/>
              <a:buFont typeface="Arial" pitchFamily="34" charset="0"/>
              <a:buChar char="•"/>
            </a:pPr>
            <a:r>
              <a:rPr lang="en" sz="2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High registance to Diagenesis. </a:t>
            </a:r>
            <a:endParaRPr sz="200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  <a:p>
            <a:pPr marL="457200" lvl="0" indent="-316706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ct val="100000"/>
              <a:buFont typeface="Arial" pitchFamily="34" charset="0"/>
              <a:buChar char="•"/>
            </a:pPr>
            <a:r>
              <a:rPr lang="en" sz="2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Shells of Mg Calcitic composition yields narrow uncertainty bands.</a:t>
            </a:r>
            <a:endParaRPr sz="200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  <a:p>
            <a:pPr marL="457200" lvl="0" indent="-316706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ct val="100000"/>
              <a:buFont typeface="Arial" pitchFamily="34" charset="0"/>
              <a:buChar char="•"/>
            </a:pPr>
            <a:r>
              <a:rPr lang="en" sz="2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Secondary Alteration are found and diagnosed beforehand to avoid mistaken results.</a:t>
            </a:r>
            <a:endParaRPr sz="200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  <a:p>
            <a:pPr marL="457200" lvl="0" indent="-316706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ct val="100000"/>
              <a:buFont typeface="Arial" pitchFamily="34" charset="0"/>
              <a:buChar char="•"/>
            </a:pPr>
            <a:r>
              <a:rPr lang="en" sz="2000" dirty="0">
                <a:latin typeface="Times New Roman" pitchFamily="18" charset="0"/>
                <a:ea typeface="Tahoma"/>
                <a:cs typeface="Times New Roman" pitchFamily="18" charset="0"/>
                <a:sym typeface="Tahoma"/>
              </a:rPr>
              <a:t>Foraminiferal , Belemnite Guards and Bivalve Shells  etc.</a:t>
            </a:r>
            <a:endParaRPr sz="2000" dirty="0">
              <a:latin typeface="Times New Roman" pitchFamily="18" charset="0"/>
              <a:ea typeface="Tahoma"/>
              <a:cs typeface="Times New Roman" pitchFamily="18" charset="0"/>
              <a:sym typeface="Tahoma"/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 cstate="print">
            <a:alphaModFix/>
          </a:blip>
          <a:stretch>
            <a:fillRect/>
          </a:stretch>
        </p:blipFill>
        <p:spPr>
          <a:xfrm>
            <a:off x="6607454" y="990600"/>
            <a:ext cx="2276475" cy="227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2"/>
          <p:cNvPicPr preferRelativeResize="0"/>
          <p:nvPr/>
        </p:nvPicPr>
        <p:blipFill>
          <a:blip r:embed="rId4" cstate="print">
            <a:alphaModFix/>
          </a:blip>
          <a:stretch>
            <a:fillRect/>
          </a:stretch>
        </p:blipFill>
        <p:spPr>
          <a:xfrm>
            <a:off x="6621741" y="4098432"/>
            <a:ext cx="2247900" cy="193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2"/>
          <p:cNvSpPr txBox="1"/>
          <p:nvPr/>
        </p:nvSpPr>
        <p:spPr>
          <a:xfrm>
            <a:off x="6347400" y="3231166"/>
            <a:ext cx="27966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 dirty="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Bivalve shell</a:t>
            </a:r>
            <a:endParaRPr sz="1700"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6347388" y="6028832"/>
            <a:ext cx="27966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Belemnite</a:t>
            </a:r>
            <a:endParaRPr sz="1700"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19618405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14439</TotalTime>
  <Words>710</Words>
  <Application>Microsoft Office PowerPoint</Application>
  <PresentationFormat>On-screen Show (4:3)</PresentationFormat>
  <Paragraphs>116</Paragraphs>
  <Slides>26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Arial</vt:lpstr>
      <vt:lpstr>Bell MT</vt:lpstr>
      <vt:lpstr>Calibri</vt:lpstr>
      <vt:lpstr>Cambria</vt:lpstr>
      <vt:lpstr>Symbol</vt:lpstr>
      <vt:lpstr>Tahoma</vt:lpstr>
      <vt:lpstr>Times New Roman</vt:lpstr>
      <vt:lpstr>Wingdings</vt:lpstr>
      <vt:lpstr>Default Design</vt:lpstr>
      <vt:lpstr>EES203: Geochemistry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Speleothems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Isotopes of Strontium</vt:lpstr>
      <vt:lpstr>PowerPoint Presentation</vt:lpstr>
      <vt:lpstr>PowerPoint Presentation</vt:lpstr>
      <vt:lpstr>Estimated values of Strontium Isotopes  </vt:lpstr>
      <vt:lpstr>Applicability of Strontium for chemostratigraphy</vt:lpstr>
      <vt:lpstr>Strontium Isotope Stratigraphy</vt:lpstr>
      <vt:lpstr>Change in Isotope ratio throughout Phanerozoic time</vt:lpstr>
      <vt:lpstr>Lowess curve and its use in Isotope Stratigraphy</vt:lpstr>
      <vt:lpstr>Ideal Materials for SIS</vt:lpstr>
    </vt:vector>
  </TitlesOfParts>
  <Company>njcu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dfreile</dc:creator>
  <cp:lastModifiedBy>Dell</cp:lastModifiedBy>
  <cp:revision>265</cp:revision>
  <dcterms:created xsi:type="dcterms:W3CDTF">2005-10-26T18:01:58Z</dcterms:created>
  <dcterms:modified xsi:type="dcterms:W3CDTF">2025-03-26T08:48:45Z</dcterms:modified>
</cp:coreProperties>
</file>