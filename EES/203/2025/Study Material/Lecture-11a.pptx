
<file path=[Content_Types].xml><?xml version="1.0" encoding="utf-8"?>
<Types xmlns="http://schemas.openxmlformats.org/package/2006/content-types">
  <Default Extension="jpeg" ContentType="image/jpeg"/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7"/>
  </p:notesMasterIdLst>
  <p:sldIdLst>
    <p:sldId id="256" r:id="rId2"/>
    <p:sldId id="440" r:id="rId3"/>
    <p:sldId id="276" r:id="rId4"/>
    <p:sldId id="448" r:id="rId5"/>
    <p:sldId id="447" r:id="rId6"/>
    <p:sldId id="464" r:id="rId7"/>
    <p:sldId id="268" r:id="rId8"/>
    <p:sldId id="465" r:id="rId9"/>
    <p:sldId id="468" r:id="rId10"/>
    <p:sldId id="466" r:id="rId11"/>
    <p:sldId id="467" r:id="rId12"/>
    <p:sldId id="269" r:id="rId13"/>
    <p:sldId id="270" r:id="rId14"/>
    <p:sldId id="271" r:id="rId15"/>
    <p:sldId id="272" r:id="rId16"/>
  </p:sldIdLst>
  <p:sldSz cx="9144000" cy="6858000" type="screen4x3"/>
  <p:notesSz cx="6858000" cy="91440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975" autoAdjust="0"/>
    <p:restoredTop sz="94660"/>
  </p:normalViewPr>
  <p:slideViewPr>
    <p:cSldViewPr>
      <p:cViewPr varScale="1">
        <p:scale>
          <a:sx n="66" d="100"/>
          <a:sy n="66" d="100"/>
        </p:scale>
        <p:origin x="1228" y="3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7488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1B12BC94-826C-44CC-9139-4D8AF4CCD75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eaLnBrk="1" hangingPunct="1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05DB217-5036-48E7-9F80-D8568EC4E5C6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eaLnBrk="1" hangingPunct="1">
              <a:defRPr sz="1200">
                <a:latin typeface="Arial" charset="0"/>
              </a:defRPr>
            </a:lvl1pPr>
          </a:lstStyle>
          <a:p>
            <a:pPr>
              <a:defRPr/>
            </a:pPr>
            <a:fld id="{4495E4C6-17AD-4BA4-85ED-1CEF5353A859}" type="datetimeFigureOut">
              <a:rPr lang="en-IN"/>
              <a:pPr>
                <a:defRPr/>
              </a:pPr>
              <a:t>02-03-2025</a:t>
            </a:fld>
            <a:endParaRPr lang="en-IN"/>
          </a:p>
        </p:txBody>
      </p:sp>
      <p:sp>
        <p:nvSpPr>
          <p:cNvPr id="4" name="Slide Image Placeholder 3">
            <a:extLst>
              <a:ext uri="{FF2B5EF4-FFF2-40B4-BE49-F238E27FC236}">
                <a16:creationId xmlns:a16="http://schemas.microsoft.com/office/drawing/2014/main" id="{6E099106-0BB6-43A6-A3E2-09D734B298C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IN" noProof="0"/>
          </a:p>
        </p:txBody>
      </p:sp>
      <p:sp>
        <p:nvSpPr>
          <p:cNvPr id="5" name="Notes Placeholder 4">
            <a:extLst>
              <a:ext uri="{FF2B5EF4-FFF2-40B4-BE49-F238E27FC236}">
                <a16:creationId xmlns:a16="http://schemas.microsoft.com/office/drawing/2014/main" id="{DFBCB12F-E21B-4BB3-98A4-F84DE794225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IN" noProof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7B2BC49-BC64-4703-B80A-9476428F9481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eaLnBrk="1" hangingPunct="1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6FD10B2-65DA-4A6A-9411-A7CE5F94A9C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/>
            </a:lvl1pPr>
          </a:lstStyle>
          <a:p>
            <a:pPr>
              <a:defRPr/>
            </a:pPr>
            <a:fld id="{DA50488F-DB6A-40AC-8FA4-772BF47F0323}" type="slidenum">
              <a:rPr lang="en-IN" altLang="en-US"/>
              <a:pPr>
                <a:defRPr/>
              </a:pPr>
              <a:t>‹#›</a:t>
            </a:fld>
            <a:endParaRPr lang="en-I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DBEE118F-D257-4318-A3A2-EECA19410BF3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4C97103C-CE56-4C35-B5D2-E932D10544C4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631569ED-472A-4591-B1C8-91A8AA55F43B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E91EFD36-5984-457D-BADD-B4A3F349C23E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425497903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4C13EFD9-AB6D-434D-BC2E-8B73CC13FEA3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4B0ED277-8375-4E95-B412-94EF1677FAD8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D71C59AB-1EAD-4FD8-95DC-AD356CFA4FC2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196D8436-06A3-43A4-BA5B-8AF70AEB648F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0275482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8924E2C6-9E75-43EE-99CD-453E04C86553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25018E45-3328-444D-8796-75B3B701D17E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8A16A509-F4A7-48F3-809D-CBD23ED80F55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D3974763-CD29-4242-A606-D01C110AD1A3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9860142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D060A66-D792-4197-A450-15640D1F3CB3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139D150-B008-4810-A642-BB58C29B5761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BECF246-2CD9-4EFD-B3F8-DA766CBABFB9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32343884-E97C-43AC-91BE-818B2A6132AF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5321490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Rectangle 4">
            <a:extLst>
              <a:ext uri="{FF2B5EF4-FFF2-40B4-BE49-F238E27FC236}">
                <a16:creationId xmlns:a16="http://schemas.microsoft.com/office/drawing/2014/main" id="{695DB130-3059-4B58-BDA5-BD072F56A81F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8" name="Rectangle 5">
            <a:extLst>
              <a:ext uri="{FF2B5EF4-FFF2-40B4-BE49-F238E27FC236}">
                <a16:creationId xmlns:a16="http://schemas.microsoft.com/office/drawing/2014/main" id="{9754EE56-C6A2-4D14-AF3C-BAE635180FF1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Rectangle 6">
            <a:extLst>
              <a:ext uri="{FF2B5EF4-FFF2-40B4-BE49-F238E27FC236}">
                <a16:creationId xmlns:a16="http://schemas.microsoft.com/office/drawing/2014/main" id="{E24C1A1F-C41E-4454-A02E-BDE2567839B8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C052C66B-8C25-4FE5-81EA-D279F10B6BD3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4111315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Rectangle 4">
            <a:extLst>
              <a:ext uri="{FF2B5EF4-FFF2-40B4-BE49-F238E27FC236}">
                <a16:creationId xmlns:a16="http://schemas.microsoft.com/office/drawing/2014/main" id="{8073D249-74BA-4FC7-9180-228CFD77E1BA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Rectangle 5">
            <a:extLst>
              <a:ext uri="{FF2B5EF4-FFF2-40B4-BE49-F238E27FC236}">
                <a16:creationId xmlns:a16="http://schemas.microsoft.com/office/drawing/2014/main" id="{2DD93F01-8B96-4D54-88E5-CA53B833D85F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6">
            <a:extLst>
              <a:ext uri="{FF2B5EF4-FFF2-40B4-BE49-F238E27FC236}">
                <a16:creationId xmlns:a16="http://schemas.microsoft.com/office/drawing/2014/main" id="{ED2D4A28-53D6-497F-985F-B1CEC7D70C40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E9ABF0EF-67B1-4AA0-81ED-91DE03744A40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83346029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>
            <a:extLst>
              <a:ext uri="{FF2B5EF4-FFF2-40B4-BE49-F238E27FC236}">
                <a16:creationId xmlns:a16="http://schemas.microsoft.com/office/drawing/2014/main" id="{3793C45B-F71B-46A7-A2A8-FEA3D8300722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Rectangle 5">
            <a:extLst>
              <a:ext uri="{FF2B5EF4-FFF2-40B4-BE49-F238E27FC236}">
                <a16:creationId xmlns:a16="http://schemas.microsoft.com/office/drawing/2014/main" id="{0E0F0BA5-4205-4DA9-8FA1-D723A7B5DEB0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Rectangle 6">
            <a:extLst>
              <a:ext uri="{FF2B5EF4-FFF2-40B4-BE49-F238E27FC236}">
                <a16:creationId xmlns:a16="http://schemas.microsoft.com/office/drawing/2014/main" id="{DAB7F91C-3F88-4469-8440-DA0A8B7F5768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C139F030-B1DE-440E-85E3-A637DEB7A7C7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04888697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1462272-BBA7-43EA-9594-79B56445FE80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519C3EE-B0C4-43D8-8138-EBD6BB89F08D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38D149F-91B7-4D2A-80E9-143AB91277E6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06B7294A-24AF-420B-8505-410263194C68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3062983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IN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B011047-FFB1-4281-8AA7-C67D7FC1720E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BA64777-0A6E-44A1-9A52-089347C95544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D066FD0-7FB1-4473-9F5A-052CDF76D2C7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464B33AA-D7D6-4AF9-8507-39A6605B27C6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1725100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D3E3C6A4-4B1A-4C68-BC9E-108062B1B49E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9C1AA137-5DE1-4D94-A5C4-663255771BE2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2A788E28-AD11-4AD1-9E0C-EB1CB0AB2E0E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5707F969-126B-4625-93B3-22279DA28B61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783556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E9EFAED9-FCC2-4312-9DB9-099CCCC9F0CB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DF9ABCCB-6606-4ED6-BC8F-C27228E26092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EB9E9A27-7F1E-4BB5-A7E3-48D09E2086F5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4BCD6217-5208-4DAE-8F2B-4AF241D0CED9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45088830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 preserve="1">
  <p:cSld name="Title, Text,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B860734-F86E-485B-BE6F-D403DEB8552F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962688C-8C09-49D2-A3CF-4C4EFFBA9D90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1977806-7D51-41C3-94F1-95ECDE1BC91E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F9EAD34F-7ECA-488C-A8FC-C0C1447E8996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94847024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AndClipArt" preserve="1">
  <p:cSld name="Title, Text and Clip 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lipArt Placeholder 3"/>
          <p:cNvSpPr>
            <a:spLocks noGrp="1"/>
          </p:cNvSpPr>
          <p:nvPr>
            <p:ph type="clipArt"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/>
          <a:p>
            <a:pPr lvl="0"/>
            <a:endParaRPr lang="en-IN" noProof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76E3B21-9DDA-4FAF-8452-B0EFA960C312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FFC52A2-EE11-4000-BC5D-3C1345468226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9ABEACE-6FB7-4B99-9A67-9CEBD7FFC91C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652F27C2-0E5F-4AAB-8874-A93956E577BC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318300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>
            <a:extLst>
              <a:ext uri="{FF2B5EF4-FFF2-40B4-BE49-F238E27FC236}">
                <a16:creationId xmlns:a16="http://schemas.microsoft.com/office/drawing/2014/main" id="{8E5B2030-82C9-44DC-877E-5851501067E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title style</a:t>
            </a:r>
          </a:p>
        </p:txBody>
      </p:sp>
      <p:sp>
        <p:nvSpPr>
          <p:cNvPr id="1027" name="Rectangle 3">
            <a:extLst>
              <a:ext uri="{FF2B5EF4-FFF2-40B4-BE49-F238E27FC236}">
                <a16:creationId xmlns:a16="http://schemas.microsoft.com/office/drawing/2014/main" id="{69A63B46-2CC7-4C4C-B290-7BAAA1F63AC2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text styles</a:t>
            </a:r>
          </a:p>
          <a:p>
            <a:pPr lvl="1"/>
            <a:r>
              <a:rPr lang="en-US" altLang="en-US"/>
              <a:t>Second level</a:t>
            </a:r>
          </a:p>
          <a:p>
            <a:pPr lvl="2"/>
            <a:r>
              <a:rPr lang="en-US" altLang="en-US"/>
              <a:t>Third level</a:t>
            </a:r>
          </a:p>
          <a:p>
            <a:pPr lvl="3"/>
            <a:r>
              <a:rPr lang="en-US" altLang="en-US"/>
              <a:t>Fourth level</a:t>
            </a:r>
          </a:p>
          <a:p>
            <a:pPr lvl="4"/>
            <a:r>
              <a:rPr lang="en-US" altLang="en-US"/>
              <a:t>Fifth level</a:t>
            </a:r>
          </a:p>
        </p:txBody>
      </p:sp>
      <p:sp>
        <p:nvSpPr>
          <p:cNvPr id="1028" name="Rectangle 4">
            <a:extLst>
              <a:ext uri="{FF2B5EF4-FFF2-40B4-BE49-F238E27FC236}">
                <a16:creationId xmlns:a16="http://schemas.microsoft.com/office/drawing/2014/main" id="{1FAE760F-22F1-45C9-8239-30305B70D9B2}"/>
              </a:ext>
            </a:extLst>
          </p:cNvPr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457200" y="6245225"/>
            <a:ext cx="21336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400">
                <a:latin typeface="Arial" pitchFamily="34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029" name="Rectangle 5">
            <a:extLst>
              <a:ext uri="{FF2B5EF4-FFF2-40B4-BE49-F238E27FC236}">
                <a16:creationId xmlns:a16="http://schemas.microsoft.com/office/drawing/2014/main" id="{1D35B8D3-8F19-4A2C-AD58-BE3E89625A4E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124200" y="6245225"/>
            <a:ext cx="28956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 eaLnBrk="1" hangingPunct="1">
              <a:defRPr sz="1400">
                <a:latin typeface="Arial" pitchFamily="34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030" name="Rectangle 6">
            <a:extLst>
              <a:ext uri="{FF2B5EF4-FFF2-40B4-BE49-F238E27FC236}">
                <a16:creationId xmlns:a16="http://schemas.microsoft.com/office/drawing/2014/main" id="{068A7449-CC58-4CEF-AE5E-3A0514B9DB26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553200" y="6245225"/>
            <a:ext cx="21336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400"/>
            </a:lvl1pPr>
          </a:lstStyle>
          <a:p>
            <a:pPr>
              <a:defRPr/>
            </a:pPr>
            <a:fld id="{5A6E29DF-0E91-4F06-8705-C054EB6BBDCE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itchFamily="34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itchFamily="34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itchFamily="34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itchFamily="34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itchFamily="34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itchFamily="34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itchFamily="34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800">
          <a:solidFill>
            <a:schemeClr val="tx1"/>
          </a:solidFill>
          <a:latin typeface="+mn-lt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>
          <a:solidFill>
            <a:schemeClr val="tx1"/>
          </a:solidFill>
          <a:latin typeface="+mn-lt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>
          <a:solidFill>
            <a:schemeClr val="tx1"/>
          </a:solidFill>
          <a:latin typeface="+mn-lt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mailto:anoop@iisermohali.ac.in" TargetMode="Externa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58EF3740-78F8-4AF7-B9C0-B2112BDC183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09600" y="1295400"/>
            <a:ext cx="7459663" cy="641350"/>
          </a:xfrm>
        </p:spPr>
        <p:txBody>
          <a:bodyPr lIns="0" tIns="38100" rIns="0" bIns="0">
            <a:spAutoFit/>
          </a:bodyPr>
          <a:lstStyle/>
          <a:p>
            <a:pPr marL="1901825" indent="-1889125">
              <a:lnSpc>
                <a:spcPts val="4700"/>
              </a:lnSpc>
              <a:spcBef>
                <a:spcPts val="300"/>
              </a:spcBef>
            </a:pPr>
            <a:r>
              <a:rPr lang="en-IN" altLang="en-US">
                <a:solidFill>
                  <a:srgbClr val="000000"/>
                </a:solidFill>
              </a:rPr>
              <a:t>EES203: Geochemistry </a:t>
            </a:r>
            <a:endParaRPr lang="en-US" altLang="en-US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656A1D54-95EB-4BB2-BAD9-B64ADC3C8E58}"/>
              </a:ext>
            </a:extLst>
          </p:cNvPr>
          <p:cNvSpPr txBox="1"/>
          <p:nvPr/>
        </p:nvSpPr>
        <p:spPr>
          <a:xfrm>
            <a:off x="1555750" y="2133600"/>
            <a:ext cx="7848600" cy="1198563"/>
          </a:xfrm>
          <a:prstGeom prst="rect">
            <a:avLst/>
          </a:prstGeom>
        </p:spPr>
        <p:txBody>
          <a:bodyPr lIns="0" tIns="110490" rIns="0" bIns="0">
            <a:spAutoFit/>
          </a:bodyPr>
          <a:lstStyle/>
          <a:p>
            <a:pPr marL="12700">
              <a:spcBef>
                <a:spcPts val="765"/>
              </a:spcBef>
              <a:defRPr/>
            </a:pPr>
            <a:r>
              <a:rPr sz="3200" dirty="0">
                <a:latin typeface="Times New Roman"/>
                <a:cs typeface="Times New Roman"/>
              </a:rPr>
              <a:t>Instructor:</a:t>
            </a:r>
            <a:r>
              <a:rPr sz="3200" spc="-235" dirty="0">
                <a:latin typeface="Times New Roman"/>
                <a:cs typeface="Times New Roman"/>
              </a:rPr>
              <a:t> </a:t>
            </a:r>
            <a:r>
              <a:rPr sz="3200" dirty="0">
                <a:latin typeface="Times New Roman"/>
                <a:cs typeface="Times New Roman"/>
              </a:rPr>
              <a:t>Anoop</a:t>
            </a:r>
            <a:r>
              <a:rPr sz="3200" spc="-195" dirty="0">
                <a:latin typeface="Times New Roman"/>
                <a:cs typeface="Times New Roman"/>
              </a:rPr>
              <a:t> </a:t>
            </a:r>
            <a:r>
              <a:rPr sz="3200" spc="-10" dirty="0">
                <a:latin typeface="Times New Roman"/>
                <a:cs typeface="Times New Roman"/>
              </a:rPr>
              <a:t>Ambili</a:t>
            </a:r>
            <a:endParaRPr lang="en-IN" sz="3200" spc="-10" dirty="0">
              <a:latin typeface="Times New Roman"/>
              <a:cs typeface="Times New Roman"/>
            </a:endParaRPr>
          </a:p>
          <a:p>
            <a:pPr marL="12700">
              <a:spcBef>
                <a:spcPts val="770"/>
              </a:spcBef>
              <a:defRPr/>
            </a:pPr>
            <a:r>
              <a:rPr sz="3200" dirty="0">
                <a:latin typeface="Times New Roman"/>
                <a:cs typeface="Times New Roman"/>
              </a:rPr>
              <a:t>Email</a:t>
            </a:r>
            <a:r>
              <a:rPr sz="3200" spc="-35" dirty="0">
                <a:latin typeface="Times New Roman"/>
                <a:cs typeface="Times New Roman"/>
              </a:rPr>
              <a:t> </a:t>
            </a:r>
            <a:r>
              <a:rPr sz="3200" dirty="0">
                <a:latin typeface="Times New Roman"/>
                <a:cs typeface="Times New Roman"/>
              </a:rPr>
              <a:t>id: </a:t>
            </a:r>
            <a:r>
              <a:rPr sz="3200" spc="-10" dirty="0">
                <a:latin typeface="Times New Roman"/>
                <a:cs typeface="Times New Roman"/>
                <a:hlinkClick r:id="rId2"/>
              </a:rPr>
              <a:t>anoop@iisermohali.ac.in</a:t>
            </a:r>
            <a:endParaRPr sz="3200" dirty="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4258" name="Rectangle 2"/>
          <p:cNvSpPr>
            <a:spLocks noGrp="1" noChangeArrowheads="1"/>
          </p:cNvSpPr>
          <p:nvPr>
            <p:ph type="title"/>
          </p:nvPr>
        </p:nvSpPr>
        <p:spPr>
          <a:xfrm>
            <a:off x="337465" y="13620"/>
            <a:ext cx="7820025" cy="785399"/>
          </a:xfrm>
        </p:spPr>
        <p:txBody>
          <a:bodyPr/>
          <a:lstStyle/>
          <a:p>
            <a:pPr eaLnBrk="1" hangingPunct="1">
              <a:defRPr/>
            </a:pPr>
            <a:r>
              <a:rPr lang="en-US" sz="1800" dirty="0"/>
              <a:t>Rare Earth Elements as indicators of petrogenesis (melting source) </a:t>
            </a:r>
          </a:p>
        </p:txBody>
      </p:sp>
      <p:grpSp>
        <p:nvGrpSpPr>
          <p:cNvPr id="41987" name="Group 4"/>
          <p:cNvGrpSpPr>
            <a:grpSpLocks/>
          </p:cNvGrpSpPr>
          <p:nvPr/>
        </p:nvGrpSpPr>
        <p:grpSpPr bwMode="auto">
          <a:xfrm>
            <a:off x="914400" y="819072"/>
            <a:ext cx="6710364" cy="4591786"/>
            <a:chOff x="722" y="619"/>
            <a:chExt cx="4402" cy="3035"/>
          </a:xfrm>
        </p:grpSpPr>
        <p:sp>
          <p:nvSpPr>
            <p:cNvPr id="41990" name="Rectangle 5"/>
            <p:cNvSpPr>
              <a:spLocks noChangeArrowheads="1"/>
            </p:cNvSpPr>
            <p:nvPr/>
          </p:nvSpPr>
          <p:spPr bwMode="auto">
            <a:xfrm>
              <a:off x="722" y="619"/>
              <a:ext cx="4402" cy="3035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chemeClr val="tx1"/>
              </a:solidFill>
              <a:miter lim="800000"/>
              <a:headEnd type="none" w="sm" len="sm"/>
              <a:tailEnd type="none" w="sm" len="sm"/>
            </a:ln>
          </p:spPr>
          <p:txBody>
            <a:bodyPr wrap="none" anchor="ctr"/>
            <a:lstStyle>
              <a:lvl1pPr>
                <a:defRPr sz="3200" b="1">
                  <a:solidFill>
                    <a:schemeClr val="tx2"/>
                  </a:solidFill>
                  <a:latin typeface="Times" panose="02020603050405020304" pitchFamily="18" charset="0"/>
                </a:defRPr>
              </a:lvl1pPr>
              <a:lvl2pPr marL="742950" indent="-285750">
                <a:defRPr sz="3200" b="1">
                  <a:solidFill>
                    <a:schemeClr val="tx2"/>
                  </a:solidFill>
                  <a:latin typeface="Times" panose="02020603050405020304" pitchFamily="18" charset="0"/>
                </a:defRPr>
              </a:lvl2pPr>
              <a:lvl3pPr marL="1143000" indent="-228600">
                <a:defRPr sz="3200" b="1">
                  <a:solidFill>
                    <a:schemeClr val="tx2"/>
                  </a:solidFill>
                  <a:latin typeface="Times" panose="02020603050405020304" pitchFamily="18" charset="0"/>
                </a:defRPr>
              </a:lvl3pPr>
              <a:lvl4pPr marL="1600200" indent="-228600">
                <a:defRPr sz="3200" b="1">
                  <a:solidFill>
                    <a:schemeClr val="tx2"/>
                  </a:solidFill>
                  <a:latin typeface="Times" panose="02020603050405020304" pitchFamily="18" charset="0"/>
                </a:defRPr>
              </a:lvl4pPr>
              <a:lvl5pPr marL="2057400" indent="-228600">
                <a:defRPr sz="3200" b="1">
                  <a:solidFill>
                    <a:schemeClr val="tx2"/>
                  </a:solidFill>
                  <a:latin typeface="Times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3200" b="1">
                  <a:solidFill>
                    <a:schemeClr val="tx2"/>
                  </a:solidFill>
                  <a:latin typeface="Times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3200" b="1">
                  <a:solidFill>
                    <a:schemeClr val="tx2"/>
                  </a:solidFill>
                  <a:latin typeface="Times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3200" b="1">
                  <a:solidFill>
                    <a:schemeClr val="tx2"/>
                  </a:solidFill>
                  <a:latin typeface="Times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3200" b="1">
                  <a:solidFill>
                    <a:schemeClr val="tx2"/>
                  </a:solidFill>
                  <a:latin typeface="Times" panose="02020603050405020304" pitchFamily="18" charset="0"/>
                </a:defRPr>
              </a:lvl9pPr>
            </a:lstStyle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IN" altLang="en-US" sz="2400">
                <a:solidFill>
                  <a:srgbClr val="FFFF00"/>
                </a:solidFill>
              </a:endParaRPr>
            </a:p>
          </p:txBody>
        </p:sp>
        <p:pic>
          <p:nvPicPr>
            <p:cNvPr id="41991" name="Picture 6" descr="Fig 10-13a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99" y="693"/>
              <a:ext cx="4219" cy="291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864263" name="Rectangle 7"/>
          <p:cNvSpPr>
            <a:spLocks noChangeArrowheads="1"/>
          </p:cNvSpPr>
          <p:nvPr/>
        </p:nvSpPr>
        <p:spPr bwMode="auto">
          <a:xfrm>
            <a:off x="3581400" y="5522816"/>
            <a:ext cx="2986394" cy="34673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69056" tIns="34529" rIns="69056" bIns="34529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r>
              <a:rPr lang="en-US" b="1" dirty="0">
                <a:solidFill>
                  <a:srgbClr val="FF66CC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Arial" charset="0"/>
              </a:rPr>
              <a:t>increasing incompatibility</a:t>
            </a:r>
          </a:p>
        </p:txBody>
      </p:sp>
      <p:sp>
        <p:nvSpPr>
          <p:cNvPr id="41989" name="Line 8"/>
          <p:cNvSpPr>
            <a:spLocks noChangeShapeType="1"/>
          </p:cNvSpPr>
          <p:nvPr/>
        </p:nvSpPr>
        <p:spPr bwMode="auto">
          <a:xfrm flipH="1" flipV="1">
            <a:off x="2838449" y="5694265"/>
            <a:ext cx="620316" cy="4763"/>
          </a:xfrm>
          <a:prstGeom prst="line">
            <a:avLst/>
          </a:prstGeom>
          <a:noFill/>
          <a:ln w="12700">
            <a:solidFill>
              <a:srgbClr val="FF66CC"/>
            </a:solidFill>
            <a:round/>
            <a:headEnd type="none" w="sm" len="sm"/>
            <a:tailEnd type="stealth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endParaRPr lang="en-IN" sz="2400" b="1">
              <a:solidFill>
                <a:srgbClr val="FFFF00"/>
              </a:solidFill>
              <a:latin typeface="Times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194652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5282" name="Rectangle 2"/>
          <p:cNvSpPr>
            <a:spLocks noGrp="1" noChangeArrowheads="1"/>
          </p:cNvSpPr>
          <p:nvPr>
            <p:ph type="title"/>
          </p:nvPr>
        </p:nvSpPr>
        <p:spPr>
          <a:xfrm>
            <a:off x="1629919" y="228600"/>
            <a:ext cx="5829300" cy="342900"/>
          </a:xfrm>
        </p:spPr>
        <p:txBody>
          <a:bodyPr>
            <a:normAutofit fontScale="90000"/>
          </a:bodyPr>
          <a:lstStyle/>
          <a:p>
            <a:pPr eaLnBrk="1" hangingPunct="1">
              <a:defRPr/>
            </a:pPr>
            <a:r>
              <a:rPr lang="en-US" sz="2100" dirty="0"/>
              <a:t>Spidergrams or Spider-diagrams</a:t>
            </a:r>
          </a:p>
        </p:txBody>
      </p:sp>
      <p:sp>
        <p:nvSpPr>
          <p:cNvPr id="865285" name="Rectangle 5"/>
          <p:cNvSpPr>
            <a:spLocks noChangeArrowheads="1"/>
          </p:cNvSpPr>
          <p:nvPr/>
        </p:nvSpPr>
        <p:spPr bwMode="auto">
          <a:xfrm>
            <a:off x="1321595" y="1707356"/>
            <a:ext cx="6385322" cy="315872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69056" tIns="34529" rIns="69056" bIns="34529"/>
          <a:lstStyle/>
          <a:p>
            <a:pPr marL="257175" indent="-257175">
              <a:spcBef>
                <a:spcPct val="20000"/>
              </a:spcBef>
              <a:buClr>
                <a:srgbClr val="FF5050"/>
              </a:buClr>
              <a:buSzPct val="60000"/>
              <a:buFont typeface="Monotype Sorts" pitchFamily="2" charset="2"/>
              <a:buChar char="l"/>
              <a:defRPr/>
            </a:pPr>
            <a:endParaRPr lang="en-US" sz="2100">
              <a:solidFill>
                <a:srgbClr val="FFCC00"/>
              </a:solidFill>
              <a:effectLst>
                <a:outerShdw blurRad="38100" dist="38100" dir="2700000" algn="tl">
                  <a:srgbClr val="000000"/>
                </a:outerShdw>
              </a:effectLst>
              <a:latin typeface="Times New Roman" pitchFamily="18" charset="0"/>
            </a:endParaRPr>
          </a:p>
        </p:txBody>
      </p:sp>
      <p:sp>
        <p:nvSpPr>
          <p:cNvPr id="865286" name="Rectangle 6"/>
          <p:cNvSpPr>
            <a:spLocks noChangeArrowheads="1"/>
          </p:cNvSpPr>
          <p:nvPr/>
        </p:nvSpPr>
        <p:spPr bwMode="auto">
          <a:xfrm>
            <a:off x="3429001" y="5486401"/>
            <a:ext cx="2986394" cy="34673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69056" tIns="34529" rIns="69056" bIns="34529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r>
              <a:rPr lang="en-US" b="1">
                <a:solidFill>
                  <a:srgbClr val="FFFF00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Arial" charset="0"/>
              </a:rPr>
              <a:t>increasing incompatibility</a:t>
            </a:r>
          </a:p>
        </p:txBody>
      </p:sp>
      <p:sp>
        <p:nvSpPr>
          <p:cNvPr id="43013" name="Line 7"/>
          <p:cNvSpPr>
            <a:spLocks noChangeShapeType="1"/>
          </p:cNvSpPr>
          <p:nvPr/>
        </p:nvSpPr>
        <p:spPr bwMode="auto">
          <a:xfrm flipH="1" flipV="1">
            <a:off x="2800350" y="5486400"/>
            <a:ext cx="620316" cy="4763"/>
          </a:xfrm>
          <a:prstGeom prst="line">
            <a:avLst/>
          </a:prstGeom>
          <a:noFill/>
          <a:ln w="12700">
            <a:solidFill>
              <a:srgbClr val="FF66CC"/>
            </a:solidFill>
            <a:round/>
            <a:headEnd type="none" w="sm" len="sm"/>
            <a:tailEnd type="stealth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endParaRPr lang="en-IN" sz="2400" b="1">
              <a:solidFill>
                <a:srgbClr val="FFFF00"/>
              </a:solidFill>
              <a:latin typeface="Times" panose="02020603050405020304" pitchFamily="18" charset="0"/>
            </a:endParaRPr>
          </a:p>
        </p:txBody>
      </p:sp>
      <p:grpSp>
        <p:nvGrpSpPr>
          <p:cNvPr id="43014" name="Group 8"/>
          <p:cNvGrpSpPr>
            <a:grpSpLocks/>
          </p:cNvGrpSpPr>
          <p:nvPr/>
        </p:nvGrpSpPr>
        <p:grpSpPr bwMode="auto">
          <a:xfrm>
            <a:off x="1219200" y="838200"/>
            <a:ext cx="7258049" cy="4512469"/>
            <a:chOff x="473" y="576"/>
            <a:chExt cx="4711" cy="3078"/>
          </a:xfrm>
        </p:grpSpPr>
        <p:sp>
          <p:nvSpPr>
            <p:cNvPr id="43016" name="Rectangle 9"/>
            <p:cNvSpPr>
              <a:spLocks noChangeArrowheads="1"/>
            </p:cNvSpPr>
            <p:nvPr/>
          </p:nvSpPr>
          <p:spPr bwMode="auto">
            <a:xfrm>
              <a:off x="473" y="576"/>
              <a:ext cx="4711" cy="3078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chemeClr val="tx1"/>
              </a:solidFill>
              <a:miter lim="800000"/>
              <a:headEnd type="none" w="sm" len="sm"/>
              <a:tailEnd type="none" w="sm" len="sm"/>
            </a:ln>
          </p:spPr>
          <p:txBody>
            <a:bodyPr wrap="none" anchor="ctr"/>
            <a:lstStyle>
              <a:lvl1pPr>
                <a:defRPr sz="3200" b="1">
                  <a:solidFill>
                    <a:schemeClr val="tx2"/>
                  </a:solidFill>
                  <a:latin typeface="Times" panose="02020603050405020304" pitchFamily="18" charset="0"/>
                </a:defRPr>
              </a:lvl1pPr>
              <a:lvl2pPr marL="742950" indent="-285750">
                <a:defRPr sz="3200" b="1">
                  <a:solidFill>
                    <a:schemeClr val="tx2"/>
                  </a:solidFill>
                  <a:latin typeface="Times" panose="02020603050405020304" pitchFamily="18" charset="0"/>
                </a:defRPr>
              </a:lvl2pPr>
              <a:lvl3pPr marL="1143000" indent="-228600">
                <a:defRPr sz="3200" b="1">
                  <a:solidFill>
                    <a:schemeClr val="tx2"/>
                  </a:solidFill>
                  <a:latin typeface="Times" panose="02020603050405020304" pitchFamily="18" charset="0"/>
                </a:defRPr>
              </a:lvl3pPr>
              <a:lvl4pPr marL="1600200" indent="-228600">
                <a:defRPr sz="3200" b="1">
                  <a:solidFill>
                    <a:schemeClr val="tx2"/>
                  </a:solidFill>
                  <a:latin typeface="Times" panose="02020603050405020304" pitchFamily="18" charset="0"/>
                </a:defRPr>
              </a:lvl4pPr>
              <a:lvl5pPr marL="2057400" indent="-228600">
                <a:defRPr sz="3200" b="1">
                  <a:solidFill>
                    <a:schemeClr val="tx2"/>
                  </a:solidFill>
                  <a:latin typeface="Times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3200" b="1">
                  <a:solidFill>
                    <a:schemeClr val="tx2"/>
                  </a:solidFill>
                  <a:latin typeface="Times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3200" b="1">
                  <a:solidFill>
                    <a:schemeClr val="tx2"/>
                  </a:solidFill>
                  <a:latin typeface="Times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3200" b="1">
                  <a:solidFill>
                    <a:schemeClr val="tx2"/>
                  </a:solidFill>
                  <a:latin typeface="Times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3200" b="1">
                  <a:solidFill>
                    <a:schemeClr val="tx2"/>
                  </a:solidFill>
                  <a:latin typeface="Times" panose="02020603050405020304" pitchFamily="18" charset="0"/>
                </a:defRPr>
              </a:lvl9pPr>
            </a:lstStyle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IN" altLang="en-US" sz="2400">
                <a:solidFill>
                  <a:srgbClr val="FFFF00"/>
                </a:solidFill>
              </a:endParaRPr>
            </a:p>
          </p:txBody>
        </p:sp>
        <p:pic>
          <p:nvPicPr>
            <p:cNvPr id="43017" name="Picture 10" descr="Fig 10-13b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68" y="622"/>
              <a:ext cx="4486" cy="30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357632085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789DFD59-9F15-4960-B7B7-457D037771D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16515"/>
          <a:stretch/>
        </p:blipFill>
        <p:spPr>
          <a:xfrm>
            <a:off x="685800" y="762000"/>
            <a:ext cx="7141525" cy="50526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37613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29F726E-8CA2-4AB1-88A2-2AAD5278FE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684" y="685800"/>
            <a:ext cx="7498556" cy="5962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97317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2D643B4-F077-4E73-B923-DE6F0A27031C}"/>
              </a:ext>
            </a:extLst>
          </p:cNvPr>
          <p:cNvSpPr txBox="1"/>
          <p:nvPr/>
        </p:nvSpPr>
        <p:spPr>
          <a:xfrm>
            <a:off x="1371600" y="2209800"/>
            <a:ext cx="75438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lang="en-US" altLang="en-US" sz="3200" dirty="0">
                <a:solidFill>
                  <a:schemeClr val="tx1"/>
                </a:solidFill>
                <a:cs typeface="Arial" panose="020B0604020202020204" pitchFamily="34" charset="0"/>
              </a:rPr>
              <a:t>Geochemical evolution through time</a:t>
            </a:r>
          </a:p>
        </p:txBody>
      </p:sp>
    </p:spTree>
    <p:extLst>
      <p:ext uri="{BB962C8B-B14F-4D97-AF65-F5344CB8AC3E}">
        <p14:creationId xmlns:p14="http://schemas.microsoft.com/office/powerpoint/2010/main" val="314992624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66039" y="89094"/>
            <a:ext cx="8724900" cy="84899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5400">
              <a:lnSpc>
                <a:spcPct val="100000"/>
              </a:lnSpc>
              <a:spcBef>
                <a:spcPts val="100"/>
              </a:spcBef>
            </a:pPr>
            <a:r>
              <a:rPr sz="5400" u="none" spc="-275" dirty="0"/>
              <a:t>Divisions</a:t>
            </a:r>
            <a:r>
              <a:rPr sz="5400" u="none" spc="-125" dirty="0"/>
              <a:t> </a:t>
            </a:r>
            <a:r>
              <a:rPr sz="5400" u="none" spc="-110" dirty="0"/>
              <a:t>of</a:t>
            </a:r>
            <a:r>
              <a:rPr sz="5400" u="none" spc="-114" dirty="0"/>
              <a:t> </a:t>
            </a:r>
            <a:r>
              <a:rPr sz="5400" u="none" spc="110" dirty="0"/>
              <a:t>Geologic</a:t>
            </a:r>
            <a:r>
              <a:rPr sz="5400" u="none" spc="-100" dirty="0"/>
              <a:t> </a:t>
            </a:r>
            <a:r>
              <a:rPr sz="5400" u="none" spc="-300" dirty="0"/>
              <a:t>Ti</a:t>
            </a:r>
            <a:r>
              <a:rPr sz="5400" u="none" spc="-3850" dirty="0"/>
              <a:t>m</a:t>
            </a:r>
            <a:r>
              <a:rPr sz="4200" b="0" u="none" spc="-427" baseline="-9920" dirty="0">
                <a:solidFill>
                  <a:srgbClr val="FFFFFF"/>
                </a:solidFill>
                <a:latin typeface="Arial MT"/>
                <a:cs typeface="Arial MT"/>
              </a:rPr>
              <a:t>1</a:t>
            </a:r>
            <a:r>
              <a:rPr sz="4200" b="0" u="none" spc="-434" baseline="-9920" dirty="0">
                <a:solidFill>
                  <a:srgbClr val="FFFFFF"/>
                </a:solidFill>
                <a:latin typeface="Arial MT"/>
                <a:cs typeface="Arial MT"/>
              </a:rPr>
              <a:t>3</a:t>
            </a:r>
            <a:r>
              <a:rPr sz="4200" b="0" u="none" spc="-622" baseline="-9920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5400" u="none" spc="165" dirty="0"/>
              <a:t>e</a:t>
            </a:r>
            <a:endParaRPr sz="5400">
              <a:latin typeface="Arial MT"/>
              <a:cs typeface="Arial MT"/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47B16183-C1C9-4D65-BE75-88AB7FAD486C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457200" y="1032044"/>
            <a:ext cx="8077200" cy="36248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Based on the fossil record, 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0070C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major changes in life forms 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occurred at certain times.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These changes were used to mark the boundaries between units of geologic time.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Divisions of the geologic time scale depend on significant events in the history of life on Earth. 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/>
          <p:nvPr/>
        </p:nvSpPr>
        <p:spPr>
          <a:xfrm>
            <a:off x="78739" y="455710"/>
            <a:ext cx="7688580" cy="6163310"/>
          </a:xfrm>
          <a:prstGeom prst="rect">
            <a:avLst/>
          </a:prstGeom>
        </p:spPr>
        <p:txBody>
          <a:bodyPr vert="horz" wrap="square" lIns="0" tIns="228600" rIns="0" bIns="0" rtlCol="0">
            <a:spAutoFit/>
          </a:bodyPr>
          <a:lstStyle/>
          <a:p>
            <a:pPr marL="354965" indent="-342265">
              <a:lnSpc>
                <a:spcPct val="100000"/>
              </a:lnSpc>
              <a:spcBef>
                <a:spcPts val="1800"/>
              </a:spcBef>
              <a:buFont typeface="Arial MT"/>
              <a:buChar char="•"/>
              <a:tabLst>
                <a:tab pos="354965" algn="l"/>
              </a:tabLst>
            </a:pPr>
            <a:r>
              <a:rPr sz="4000" b="1" spc="-10" dirty="0">
                <a:latin typeface="Arial"/>
                <a:cs typeface="Arial"/>
              </a:rPr>
              <a:t>Earth</a:t>
            </a:r>
            <a:r>
              <a:rPr sz="4000" spc="-10" dirty="0">
                <a:latin typeface="Arial MT"/>
                <a:cs typeface="Arial MT"/>
              </a:rPr>
              <a:t>:</a:t>
            </a:r>
            <a:endParaRPr sz="4000" dirty="0">
              <a:latin typeface="Arial MT"/>
              <a:cs typeface="Arial MT"/>
            </a:endParaRPr>
          </a:p>
          <a:p>
            <a:pPr marL="769620" marR="1213485" lvl="1" indent="-414655">
              <a:lnSpc>
                <a:spcPct val="111500"/>
              </a:lnSpc>
              <a:spcBef>
                <a:spcPts val="800"/>
              </a:spcBef>
              <a:buAutoNum type="arabicParenR"/>
              <a:tabLst>
                <a:tab pos="927100" algn="l"/>
              </a:tabLst>
            </a:pPr>
            <a:r>
              <a:rPr sz="2800" dirty="0">
                <a:latin typeface="Arial MT"/>
                <a:cs typeface="Arial MT"/>
              </a:rPr>
              <a:t>Earth</a:t>
            </a:r>
            <a:r>
              <a:rPr sz="2800" spc="-60" dirty="0">
                <a:latin typeface="Arial MT"/>
                <a:cs typeface="Arial MT"/>
              </a:rPr>
              <a:t> </a:t>
            </a:r>
            <a:r>
              <a:rPr sz="2800" dirty="0">
                <a:latin typeface="Arial MT"/>
                <a:cs typeface="Arial MT"/>
              </a:rPr>
              <a:t>formed</a:t>
            </a:r>
            <a:r>
              <a:rPr sz="2800" spc="-40" dirty="0">
                <a:latin typeface="Arial MT"/>
                <a:cs typeface="Arial MT"/>
              </a:rPr>
              <a:t> </a:t>
            </a:r>
            <a:r>
              <a:rPr sz="2800" dirty="0">
                <a:latin typeface="Arial MT"/>
                <a:cs typeface="Arial MT"/>
              </a:rPr>
              <a:t>within</a:t>
            </a:r>
            <a:r>
              <a:rPr sz="2800" spc="-55" dirty="0">
                <a:latin typeface="Arial MT"/>
                <a:cs typeface="Arial MT"/>
              </a:rPr>
              <a:t> </a:t>
            </a:r>
            <a:r>
              <a:rPr sz="2800" dirty="0">
                <a:latin typeface="Arial MT"/>
                <a:cs typeface="Arial MT"/>
              </a:rPr>
              <a:t>50</a:t>
            </a:r>
            <a:r>
              <a:rPr sz="2800" spc="-45" dirty="0">
                <a:latin typeface="Arial MT"/>
                <a:cs typeface="Arial MT"/>
              </a:rPr>
              <a:t> </a:t>
            </a:r>
            <a:r>
              <a:rPr sz="2800" dirty="0">
                <a:latin typeface="Arial MT"/>
                <a:cs typeface="Arial MT"/>
              </a:rPr>
              <a:t>Myr</a:t>
            </a:r>
            <a:r>
              <a:rPr sz="2800" spc="-50" dirty="0">
                <a:latin typeface="Arial MT"/>
                <a:cs typeface="Arial MT"/>
              </a:rPr>
              <a:t> </a:t>
            </a:r>
            <a:r>
              <a:rPr sz="2800" dirty="0">
                <a:latin typeface="Arial MT"/>
                <a:cs typeface="Arial MT"/>
              </a:rPr>
              <a:t>of</a:t>
            </a:r>
            <a:r>
              <a:rPr sz="2800" spc="-50" dirty="0">
                <a:latin typeface="Arial MT"/>
                <a:cs typeface="Arial MT"/>
              </a:rPr>
              <a:t> </a:t>
            </a:r>
            <a:r>
              <a:rPr sz="2800" spc="-10" dirty="0">
                <a:latin typeface="Arial MT"/>
                <a:cs typeface="Arial MT"/>
              </a:rPr>
              <a:t>oldest 	</a:t>
            </a:r>
            <a:r>
              <a:rPr sz="2800" dirty="0">
                <a:latin typeface="Arial MT"/>
                <a:cs typeface="Arial MT"/>
              </a:rPr>
              <a:t>meteorite</a:t>
            </a:r>
            <a:r>
              <a:rPr sz="2800" spc="-135" dirty="0">
                <a:latin typeface="Arial MT"/>
                <a:cs typeface="Arial MT"/>
              </a:rPr>
              <a:t> </a:t>
            </a:r>
            <a:r>
              <a:rPr sz="2800" dirty="0">
                <a:latin typeface="Arial MT"/>
                <a:cs typeface="Arial MT"/>
              </a:rPr>
              <a:t>components</a:t>
            </a:r>
            <a:r>
              <a:rPr sz="2800" spc="-140" dirty="0">
                <a:latin typeface="Arial MT"/>
                <a:cs typeface="Arial MT"/>
              </a:rPr>
              <a:t> </a:t>
            </a:r>
            <a:r>
              <a:rPr sz="2800" spc="-10" dirty="0">
                <a:latin typeface="Arial MT"/>
                <a:cs typeface="Arial MT"/>
              </a:rPr>
              <a:t>(CAI’s), 	</a:t>
            </a:r>
            <a:r>
              <a:rPr sz="2800" dirty="0">
                <a:latin typeface="Arial MT"/>
                <a:cs typeface="Arial MT"/>
              </a:rPr>
              <a:t>which</a:t>
            </a:r>
            <a:r>
              <a:rPr sz="2800" spc="-55" dirty="0">
                <a:latin typeface="Arial MT"/>
                <a:cs typeface="Arial MT"/>
              </a:rPr>
              <a:t> </a:t>
            </a:r>
            <a:r>
              <a:rPr sz="2800" dirty="0">
                <a:latin typeface="Arial MT"/>
                <a:cs typeface="Arial MT"/>
              </a:rPr>
              <a:t>are</a:t>
            </a:r>
            <a:r>
              <a:rPr sz="2800" spc="-35" dirty="0">
                <a:latin typeface="Arial MT"/>
                <a:cs typeface="Arial MT"/>
              </a:rPr>
              <a:t> </a:t>
            </a:r>
            <a:r>
              <a:rPr sz="2800" dirty="0">
                <a:latin typeface="Arial MT"/>
                <a:cs typeface="Arial MT"/>
              </a:rPr>
              <a:t>4,567.3</a:t>
            </a:r>
            <a:r>
              <a:rPr sz="2800" spc="-30" dirty="0">
                <a:latin typeface="Arial MT"/>
                <a:cs typeface="Arial MT"/>
              </a:rPr>
              <a:t> </a:t>
            </a:r>
            <a:r>
              <a:rPr sz="2800" dirty="0">
                <a:latin typeface="Arial MT"/>
                <a:cs typeface="Arial MT"/>
              </a:rPr>
              <a:t>±</a:t>
            </a:r>
            <a:r>
              <a:rPr sz="2800" spc="-50" dirty="0">
                <a:latin typeface="Arial MT"/>
                <a:cs typeface="Arial MT"/>
              </a:rPr>
              <a:t> </a:t>
            </a:r>
            <a:r>
              <a:rPr sz="2800" dirty="0">
                <a:latin typeface="Arial MT"/>
                <a:cs typeface="Arial MT"/>
              </a:rPr>
              <a:t>0.12</a:t>
            </a:r>
            <a:r>
              <a:rPr sz="2800" spc="-40" dirty="0">
                <a:latin typeface="Arial MT"/>
                <a:cs typeface="Arial MT"/>
              </a:rPr>
              <a:t> </a:t>
            </a:r>
            <a:r>
              <a:rPr sz="2800" spc="-25" dirty="0">
                <a:latin typeface="Arial MT"/>
                <a:cs typeface="Arial MT"/>
              </a:rPr>
              <a:t>Ma.</a:t>
            </a:r>
            <a:endParaRPr sz="2800" dirty="0">
              <a:latin typeface="Arial MT"/>
              <a:cs typeface="Arial MT"/>
            </a:endParaRPr>
          </a:p>
          <a:p>
            <a:pPr marL="750570" lvl="1" indent="-394970">
              <a:lnSpc>
                <a:spcPct val="100000"/>
              </a:lnSpc>
              <a:spcBef>
                <a:spcPts val="675"/>
              </a:spcBef>
              <a:buAutoNum type="arabicParenR"/>
              <a:tabLst>
                <a:tab pos="750570" algn="l"/>
              </a:tabLst>
            </a:pPr>
            <a:r>
              <a:rPr sz="2800" dirty="0">
                <a:latin typeface="Arial MT"/>
                <a:cs typeface="Arial MT"/>
              </a:rPr>
              <a:t>Accretion</a:t>
            </a:r>
            <a:r>
              <a:rPr sz="2800" spc="-80" dirty="0">
                <a:latin typeface="Arial MT"/>
                <a:cs typeface="Arial MT"/>
              </a:rPr>
              <a:t> </a:t>
            </a:r>
            <a:r>
              <a:rPr sz="2800" dirty="0">
                <a:latin typeface="Arial MT"/>
                <a:cs typeface="Arial MT"/>
              </a:rPr>
              <a:t>(incl.</a:t>
            </a:r>
            <a:r>
              <a:rPr sz="2800" spc="-80" dirty="0">
                <a:latin typeface="Arial MT"/>
                <a:cs typeface="Arial MT"/>
              </a:rPr>
              <a:t> </a:t>
            </a:r>
            <a:r>
              <a:rPr sz="2800" dirty="0">
                <a:latin typeface="Arial MT"/>
                <a:cs typeface="Arial MT"/>
              </a:rPr>
              <a:t>Moon)</a:t>
            </a:r>
            <a:r>
              <a:rPr sz="2800" spc="-60" dirty="0">
                <a:latin typeface="Arial MT"/>
                <a:cs typeface="Arial MT"/>
              </a:rPr>
              <a:t> </a:t>
            </a:r>
            <a:r>
              <a:rPr sz="2800" dirty="0">
                <a:latin typeface="Arial MT"/>
                <a:cs typeface="Arial MT"/>
              </a:rPr>
              <a:t>complete</a:t>
            </a:r>
            <a:r>
              <a:rPr sz="2800" spc="-65" dirty="0">
                <a:latin typeface="Arial MT"/>
                <a:cs typeface="Arial MT"/>
              </a:rPr>
              <a:t> </a:t>
            </a:r>
            <a:r>
              <a:rPr sz="2800" dirty="0">
                <a:latin typeface="Arial MT"/>
                <a:cs typeface="Arial MT"/>
              </a:rPr>
              <a:t>by</a:t>
            </a:r>
            <a:r>
              <a:rPr sz="2800" spc="-85" dirty="0">
                <a:latin typeface="Arial MT"/>
                <a:cs typeface="Arial MT"/>
              </a:rPr>
              <a:t> </a:t>
            </a:r>
            <a:r>
              <a:rPr sz="2800" dirty="0">
                <a:latin typeface="Arial MT"/>
                <a:cs typeface="Arial MT"/>
              </a:rPr>
              <a:t>4.52</a:t>
            </a:r>
            <a:r>
              <a:rPr sz="2800" spc="-75" dirty="0">
                <a:latin typeface="Arial MT"/>
                <a:cs typeface="Arial MT"/>
              </a:rPr>
              <a:t> </a:t>
            </a:r>
            <a:r>
              <a:rPr sz="2800" spc="-25" dirty="0">
                <a:latin typeface="Arial MT"/>
                <a:cs typeface="Arial MT"/>
              </a:rPr>
              <a:t>Ga.</a:t>
            </a:r>
            <a:endParaRPr sz="2800" dirty="0">
              <a:latin typeface="Arial MT"/>
              <a:cs typeface="Arial MT"/>
            </a:endParaRPr>
          </a:p>
          <a:p>
            <a:pPr marL="769620" marR="27940" lvl="1" indent="-414655">
              <a:lnSpc>
                <a:spcPct val="100000"/>
              </a:lnSpc>
              <a:spcBef>
                <a:spcPts val="675"/>
              </a:spcBef>
              <a:buAutoNum type="arabicParenR"/>
              <a:tabLst>
                <a:tab pos="927100" algn="l"/>
              </a:tabLst>
            </a:pPr>
            <a:r>
              <a:rPr sz="2800" dirty="0">
                <a:latin typeface="Arial MT"/>
                <a:cs typeface="Arial MT"/>
              </a:rPr>
              <a:t>Oldest</a:t>
            </a:r>
            <a:r>
              <a:rPr sz="2800" spc="-100" dirty="0">
                <a:latin typeface="Arial MT"/>
                <a:cs typeface="Arial MT"/>
              </a:rPr>
              <a:t> </a:t>
            </a:r>
            <a:r>
              <a:rPr sz="2800" dirty="0">
                <a:latin typeface="Arial MT"/>
                <a:cs typeface="Arial MT"/>
              </a:rPr>
              <a:t>minerals</a:t>
            </a:r>
            <a:r>
              <a:rPr sz="2800" spc="-70" dirty="0">
                <a:latin typeface="Arial MT"/>
                <a:cs typeface="Arial MT"/>
              </a:rPr>
              <a:t> </a:t>
            </a:r>
            <a:r>
              <a:rPr sz="2800" dirty="0">
                <a:latin typeface="Arial MT"/>
                <a:cs typeface="Arial MT"/>
              </a:rPr>
              <a:t>(zircons)</a:t>
            </a:r>
            <a:r>
              <a:rPr sz="2800" spc="-80" dirty="0">
                <a:latin typeface="Arial MT"/>
                <a:cs typeface="Arial MT"/>
              </a:rPr>
              <a:t> </a:t>
            </a:r>
            <a:r>
              <a:rPr sz="2800" dirty="0">
                <a:latin typeface="Arial MT"/>
                <a:cs typeface="Arial MT"/>
              </a:rPr>
              <a:t>from</a:t>
            </a:r>
            <a:r>
              <a:rPr sz="2800" spc="-90" dirty="0">
                <a:latin typeface="Arial MT"/>
                <a:cs typeface="Arial MT"/>
              </a:rPr>
              <a:t> </a:t>
            </a:r>
            <a:r>
              <a:rPr sz="2800" spc="-20" dirty="0">
                <a:latin typeface="Arial MT"/>
                <a:cs typeface="Arial MT"/>
              </a:rPr>
              <a:t>much 	</a:t>
            </a:r>
            <a:r>
              <a:rPr sz="2800" dirty="0">
                <a:latin typeface="Arial MT"/>
                <a:cs typeface="Arial MT"/>
              </a:rPr>
              <a:t>younger</a:t>
            </a:r>
            <a:r>
              <a:rPr sz="2800" spc="-130" dirty="0">
                <a:latin typeface="Arial MT"/>
                <a:cs typeface="Arial MT"/>
              </a:rPr>
              <a:t> </a:t>
            </a:r>
            <a:r>
              <a:rPr sz="2800" dirty="0">
                <a:latin typeface="Arial MT"/>
                <a:cs typeface="Arial MT"/>
              </a:rPr>
              <a:t>sedimentary</a:t>
            </a:r>
            <a:r>
              <a:rPr sz="2800" spc="-55" dirty="0">
                <a:latin typeface="Arial MT"/>
                <a:cs typeface="Arial MT"/>
              </a:rPr>
              <a:t> </a:t>
            </a:r>
            <a:r>
              <a:rPr sz="2800" dirty="0">
                <a:latin typeface="Arial MT"/>
                <a:cs typeface="Arial MT"/>
              </a:rPr>
              <a:t>rocks</a:t>
            </a:r>
            <a:r>
              <a:rPr sz="2800" spc="-75" dirty="0">
                <a:latin typeface="Arial MT"/>
                <a:cs typeface="Arial MT"/>
              </a:rPr>
              <a:t> </a:t>
            </a:r>
            <a:r>
              <a:rPr sz="2800" dirty="0">
                <a:latin typeface="Arial MT"/>
                <a:cs typeface="Arial MT"/>
              </a:rPr>
              <a:t>in</a:t>
            </a:r>
            <a:r>
              <a:rPr sz="2800" spc="-70" dirty="0">
                <a:latin typeface="Arial MT"/>
                <a:cs typeface="Arial MT"/>
              </a:rPr>
              <a:t> </a:t>
            </a:r>
            <a:r>
              <a:rPr sz="2800" spc="-75" dirty="0">
                <a:latin typeface="Arial MT"/>
                <a:cs typeface="Arial MT"/>
              </a:rPr>
              <a:t>W.</a:t>
            </a:r>
            <a:r>
              <a:rPr sz="2800" spc="-165" dirty="0">
                <a:latin typeface="Arial MT"/>
                <a:cs typeface="Arial MT"/>
              </a:rPr>
              <a:t> </a:t>
            </a:r>
            <a:r>
              <a:rPr sz="2800" spc="-10" dirty="0">
                <a:latin typeface="Arial MT"/>
                <a:cs typeface="Arial MT"/>
              </a:rPr>
              <a:t>Australia:</a:t>
            </a:r>
            <a:endParaRPr sz="2800" dirty="0">
              <a:latin typeface="Arial MT"/>
              <a:cs typeface="Arial MT"/>
            </a:endParaRPr>
          </a:p>
          <a:p>
            <a:pPr marL="927100">
              <a:lnSpc>
                <a:spcPct val="100000"/>
              </a:lnSpc>
            </a:pPr>
            <a:r>
              <a:rPr sz="2800" dirty="0">
                <a:latin typeface="Arial MT"/>
                <a:cs typeface="Arial MT"/>
              </a:rPr>
              <a:t>4.30</a:t>
            </a:r>
            <a:r>
              <a:rPr sz="2800" spc="-50" dirty="0">
                <a:latin typeface="Arial MT"/>
                <a:cs typeface="Arial MT"/>
              </a:rPr>
              <a:t> </a:t>
            </a:r>
            <a:r>
              <a:rPr sz="2800" spc="-25" dirty="0">
                <a:latin typeface="Arial MT"/>
                <a:cs typeface="Arial MT"/>
              </a:rPr>
              <a:t>Ga.</a:t>
            </a:r>
            <a:endParaRPr sz="2800" dirty="0">
              <a:latin typeface="Arial MT"/>
              <a:cs typeface="Arial MT"/>
            </a:endParaRPr>
          </a:p>
          <a:p>
            <a:pPr marL="927100" marR="2444115" indent="-572135">
              <a:lnSpc>
                <a:spcPct val="120000"/>
              </a:lnSpc>
              <a:tabLst>
                <a:tab pos="3023235" algn="l"/>
                <a:tab pos="3398520" algn="l"/>
              </a:tabLst>
            </a:pPr>
            <a:r>
              <a:rPr sz="2800" dirty="0">
                <a:latin typeface="Arial MT"/>
                <a:cs typeface="Arial MT"/>
              </a:rPr>
              <a:t>4)</a:t>
            </a:r>
            <a:r>
              <a:rPr sz="2800" spc="-55" dirty="0">
                <a:latin typeface="Arial MT"/>
                <a:cs typeface="Arial MT"/>
              </a:rPr>
              <a:t> </a:t>
            </a:r>
            <a:r>
              <a:rPr sz="2800" dirty="0">
                <a:latin typeface="Arial MT"/>
                <a:cs typeface="Arial MT"/>
              </a:rPr>
              <a:t>Oldest</a:t>
            </a:r>
            <a:r>
              <a:rPr sz="2800" spc="-65" dirty="0">
                <a:latin typeface="Arial MT"/>
                <a:cs typeface="Arial MT"/>
              </a:rPr>
              <a:t> </a:t>
            </a:r>
            <a:r>
              <a:rPr sz="2800" spc="-10" dirty="0">
                <a:latin typeface="Arial MT"/>
                <a:cs typeface="Arial MT"/>
              </a:rPr>
              <a:t>rocks:</a:t>
            </a:r>
            <a:r>
              <a:rPr sz="2800" dirty="0">
                <a:latin typeface="Arial MT"/>
                <a:cs typeface="Arial MT"/>
              </a:rPr>
              <a:t>	Acasta</a:t>
            </a:r>
            <a:r>
              <a:rPr sz="2800" spc="-95" dirty="0">
                <a:latin typeface="Arial MT"/>
                <a:cs typeface="Arial MT"/>
              </a:rPr>
              <a:t> </a:t>
            </a:r>
            <a:r>
              <a:rPr sz="2800" spc="-10" dirty="0">
                <a:latin typeface="Arial MT"/>
                <a:cs typeface="Arial MT"/>
              </a:rPr>
              <a:t>gneiss </a:t>
            </a:r>
            <a:r>
              <a:rPr sz="2800" dirty="0">
                <a:latin typeface="Arial MT"/>
                <a:cs typeface="Arial MT"/>
              </a:rPr>
              <a:t>(NW</a:t>
            </a:r>
            <a:r>
              <a:rPr sz="2800" spc="-65" dirty="0">
                <a:latin typeface="Arial MT"/>
                <a:cs typeface="Arial MT"/>
              </a:rPr>
              <a:t> </a:t>
            </a:r>
            <a:r>
              <a:rPr sz="2800" spc="-10" dirty="0">
                <a:latin typeface="Arial MT"/>
                <a:cs typeface="Arial MT"/>
              </a:rPr>
              <a:t>Canada):</a:t>
            </a:r>
            <a:r>
              <a:rPr sz="2800" dirty="0">
                <a:latin typeface="Arial MT"/>
                <a:cs typeface="Arial MT"/>
              </a:rPr>
              <a:t>	4.03</a:t>
            </a:r>
            <a:r>
              <a:rPr sz="2800" spc="-45" dirty="0">
                <a:latin typeface="Arial MT"/>
                <a:cs typeface="Arial MT"/>
              </a:rPr>
              <a:t> </a:t>
            </a:r>
            <a:r>
              <a:rPr sz="2800" spc="-25" dirty="0">
                <a:latin typeface="Arial MT"/>
                <a:cs typeface="Arial MT"/>
              </a:rPr>
              <a:t>Ga.</a:t>
            </a:r>
            <a:endParaRPr sz="2800" dirty="0">
              <a:latin typeface="Arial MT"/>
              <a:cs typeface="Arial MT"/>
            </a:endParaRPr>
          </a:p>
          <a:p>
            <a:pPr marL="927100" marR="1502410">
              <a:lnSpc>
                <a:spcPct val="127499"/>
              </a:lnSpc>
              <a:spcBef>
                <a:spcPts val="815"/>
              </a:spcBef>
            </a:pPr>
            <a:r>
              <a:rPr sz="2000" dirty="0">
                <a:latin typeface="Arial MT"/>
                <a:cs typeface="Arial MT"/>
              </a:rPr>
              <a:t>Other</a:t>
            </a:r>
            <a:r>
              <a:rPr sz="2000" spc="-4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rocks</a:t>
            </a:r>
            <a:r>
              <a:rPr sz="2000" spc="-4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from</a:t>
            </a:r>
            <a:r>
              <a:rPr sz="2000" spc="-3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Greenland,</a:t>
            </a:r>
            <a:r>
              <a:rPr sz="2000" spc="-45" dirty="0">
                <a:latin typeface="Arial MT"/>
                <a:cs typeface="Arial MT"/>
              </a:rPr>
              <a:t> </a:t>
            </a:r>
            <a:r>
              <a:rPr sz="2000" spc="-55" dirty="0">
                <a:latin typeface="Arial MT"/>
                <a:cs typeface="Arial MT"/>
              </a:rPr>
              <a:t>W.</a:t>
            </a:r>
            <a:r>
              <a:rPr sz="2000" spc="-130" dirty="0">
                <a:latin typeface="Arial MT"/>
                <a:cs typeface="Arial MT"/>
              </a:rPr>
              <a:t> </a:t>
            </a:r>
            <a:r>
              <a:rPr sz="2000" spc="-10" dirty="0">
                <a:latin typeface="Arial MT"/>
                <a:cs typeface="Arial MT"/>
              </a:rPr>
              <a:t>Australia, </a:t>
            </a:r>
            <a:r>
              <a:rPr sz="2000" dirty="0">
                <a:latin typeface="Arial MT"/>
                <a:cs typeface="Arial MT"/>
              </a:rPr>
              <a:t>Antarctica,</a:t>
            </a:r>
            <a:r>
              <a:rPr sz="2000" spc="-6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China,</a:t>
            </a:r>
            <a:r>
              <a:rPr sz="2000" spc="-3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Wyoming</a:t>
            </a:r>
            <a:r>
              <a:rPr sz="2000" spc="-3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are</a:t>
            </a:r>
            <a:r>
              <a:rPr sz="2000" spc="-4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3.80~3.96</a:t>
            </a:r>
            <a:r>
              <a:rPr sz="2000" spc="-65" dirty="0">
                <a:latin typeface="Arial MT"/>
                <a:cs typeface="Arial MT"/>
              </a:rPr>
              <a:t> </a:t>
            </a:r>
            <a:r>
              <a:rPr sz="2000" spc="-25" dirty="0">
                <a:latin typeface="Arial MT"/>
                <a:cs typeface="Arial MT"/>
              </a:rPr>
              <a:t>Ga.</a:t>
            </a:r>
            <a:endParaRPr sz="2000" dirty="0">
              <a:latin typeface="Arial MT"/>
              <a:cs typeface="Arial MT"/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xfrm>
            <a:off x="2226945" y="-17440"/>
            <a:ext cx="4692650" cy="6965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>
                <a:solidFill>
                  <a:schemeClr val="tx1"/>
                </a:solidFill>
              </a:rPr>
              <a:t>Age</a:t>
            </a:r>
            <a:r>
              <a:rPr spc="-65" dirty="0">
                <a:solidFill>
                  <a:schemeClr val="tx1"/>
                </a:solidFill>
              </a:rPr>
              <a:t> </a:t>
            </a:r>
            <a:r>
              <a:rPr dirty="0">
                <a:solidFill>
                  <a:schemeClr val="tx1"/>
                </a:solidFill>
              </a:rPr>
              <a:t>of</a:t>
            </a:r>
            <a:r>
              <a:rPr spc="-45" dirty="0">
                <a:solidFill>
                  <a:schemeClr val="tx1"/>
                </a:solidFill>
              </a:rPr>
              <a:t> </a:t>
            </a:r>
            <a:r>
              <a:rPr dirty="0">
                <a:solidFill>
                  <a:schemeClr val="tx1"/>
                </a:solidFill>
              </a:rPr>
              <a:t>the</a:t>
            </a:r>
            <a:r>
              <a:rPr spc="-60" dirty="0">
                <a:solidFill>
                  <a:schemeClr val="tx1"/>
                </a:solidFill>
              </a:rPr>
              <a:t> </a:t>
            </a:r>
            <a:r>
              <a:rPr dirty="0">
                <a:solidFill>
                  <a:schemeClr val="tx1"/>
                </a:solidFill>
              </a:rPr>
              <a:t>Earth</a:t>
            </a:r>
            <a:endParaRPr spc="-25" dirty="0"/>
          </a:p>
        </p:txBody>
      </p:sp>
      <p:pic>
        <p:nvPicPr>
          <p:cNvPr id="5" name="object 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477000" y="4596384"/>
            <a:ext cx="2485644" cy="2072639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73863" y="6043676"/>
            <a:ext cx="8986520" cy="7727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57150">
              <a:lnSpc>
                <a:spcPct val="100000"/>
              </a:lnSpc>
              <a:spcBef>
                <a:spcPts val="100"/>
              </a:spcBef>
            </a:pPr>
            <a:r>
              <a:rPr sz="2400" b="1" dirty="0">
                <a:solidFill>
                  <a:srgbClr val="000000"/>
                </a:solidFill>
                <a:latin typeface="Times New Roman"/>
                <a:cs typeface="Times New Roman"/>
              </a:rPr>
              <a:t>4.03</a:t>
            </a:r>
            <a:r>
              <a:rPr sz="2400" b="1" spc="80" dirty="0">
                <a:solidFill>
                  <a:srgbClr val="000000"/>
                </a:solidFill>
                <a:latin typeface="Times New Roman"/>
                <a:cs typeface="Times New Roman"/>
              </a:rPr>
              <a:t> </a:t>
            </a:r>
            <a:r>
              <a:rPr sz="2400" b="1" spc="-10" dirty="0">
                <a:solidFill>
                  <a:srgbClr val="000000"/>
                </a:solidFill>
                <a:latin typeface="Times New Roman"/>
                <a:cs typeface="Times New Roman"/>
              </a:rPr>
              <a:t>billion-</a:t>
            </a:r>
            <a:r>
              <a:rPr sz="2400" b="1" spc="-25" dirty="0">
                <a:solidFill>
                  <a:srgbClr val="000000"/>
                </a:solidFill>
                <a:latin typeface="Times New Roman"/>
                <a:cs typeface="Times New Roman"/>
              </a:rPr>
              <a:t>year-old</a:t>
            </a:r>
            <a:endParaRPr sz="240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z="2400" b="1" dirty="0">
                <a:solidFill>
                  <a:srgbClr val="000000"/>
                </a:solidFill>
                <a:latin typeface="Times New Roman"/>
                <a:cs typeface="Times New Roman"/>
              </a:rPr>
              <a:t>Acasta</a:t>
            </a:r>
            <a:r>
              <a:rPr sz="2400" b="1" spc="-15" dirty="0">
                <a:solidFill>
                  <a:srgbClr val="000000"/>
                </a:solidFill>
                <a:latin typeface="Times New Roman"/>
                <a:cs typeface="Times New Roman"/>
              </a:rPr>
              <a:t> </a:t>
            </a:r>
            <a:r>
              <a:rPr sz="2400" b="1" dirty="0">
                <a:solidFill>
                  <a:srgbClr val="000000"/>
                </a:solidFill>
                <a:latin typeface="Times New Roman"/>
                <a:cs typeface="Times New Roman"/>
              </a:rPr>
              <a:t>Gneiss</a:t>
            </a:r>
            <a:r>
              <a:rPr sz="2400" dirty="0">
                <a:solidFill>
                  <a:srgbClr val="000000"/>
                </a:solidFill>
                <a:latin typeface="Times New Roman"/>
                <a:cs typeface="Times New Roman"/>
              </a:rPr>
              <a:t>,</a:t>
            </a:r>
            <a:r>
              <a:rPr sz="2400" spc="-25" dirty="0">
                <a:solidFill>
                  <a:srgbClr val="000000"/>
                </a:solidFill>
                <a:latin typeface="Times New Roman"/>
                <a:cs typeface="Times New Roman"/>
              </a:rPr>
              <a:t> </a:t>
            </a:r>
            <a:r>
              <a:rPr sz="2400" dirty="0">
                <a:solidFill>
                  <a:srgbClr val="000000"/>
                </a:solidFill>
                <a:latin typeface="Times New Roman"/>
                <a:cs typeface="Times New Roman"/>
              </a:rPr>
              <a:t>NW</a:t>
            </a:r>
            <a:r>
              <a:rPr sz="2400" spc="-50" dirty="0">
                <a:solidFill>
                  <a:srgbClr val="000000"/>
                </a:solidFill>
                <a:latin typeface="Times New Roman"/>
                <a:cs typeface="Times New Roman"/>
              </a:rPr>
              <a:t> </a:t>
            </a:r>
            <a:r>
              <a:rPr sz="2400" dirty="0">
                <a:solidFill>
                  <a:srgbClr val="000000"/>
                </a:solidFill>
                <a:latin typeface="Times New Roman"/>
                <a:cs typeface="Times New Roman"/>
              </a:rPr>
              <a:t>Canada:</a:t>
            </a:r>
            <a:r>
              <a:rPr sz="2400" spc="-35" dirty="0">
                <a:solidFill>
                  <a:srgbClr val="000000"/>
                </a:solidFill>
                <a:latin typeface="Times New Roman"/>
                <a:cs typeface="Times New Roman"/>
              </a:rPr>
              <a:t> </a:t>
            </a:r>
            <a:r>
              <a:rPr sz="2400" dirty="0">
                <a:solidFill>
                  <a:srgbClr val="000000"/>
                </a:solidFill>
                <a:latin typeface="Times New Roman"/>
                <a:cs typeface="Times New Roman"/>
              </a:rPr>
              <a:t>oldest</a:t>
            </a:r>
            <a:r>
              <a:rPr sz="2400" spc="-30" dirty="0">
                <a:solidFill>
                  <a:srgbClr val="000000"/>
                </a:solidFill>
                <a:latin typeface="Times New Roman"/>
                <a:cs typeface="Times New Roman"/>
              </a:rPr>
              <a:t> </a:t>
            </a:r>
            <a:r>
              <a:rPr sz="2400" dirty="0">
                <a:solidFill>
                  <a:srgbClr val="000000"/>
                </a:solidFill>
                <a:latin typeface="Times New Roman"/>
                <a:cs typeface="Times New Roman"/>
              </a:rPr>
              <a:t>known intact</a:t>
            </a:r>
            <a:r>
              <a:rPr sz="2400" spc="-55" dirty="0">
                <a:solidFill>
                  <a:srgbClr val="000000"/>
                </a:solidFill>
                <a:latin typeface="Times New Roman"/>
                <a:cs typeface="Times New Roman"/>
              </a:rPr>
              <a:t> </a:t>
            </a:r>
            <a:r>
              <a:rPr sz="2400" dirty="0">
                <a:solidFill>
                  <a:srgbClr val="000000"/>
                </a:solidFill>
                <a:latin typeface="Times New Roman"/>
                <a:cs typeface="Times New Roman"/>
              </a:rPr>
              <a:t>piece</a:t>
            </a:r>
            <a:r>
              <a:rPr sz="2400" spc="-30" dirty="0">
                <a:solidFill>
                  <a:srgbClr val="000000"/>
                </a:solidFill>
                <a:latin typeface="Times New Roman"/>
                <a:cs typeface="Times New Roman"/>
              </a:rPr>
              <a:t> </a:t>
            </a:r>
            <a:r>
              <a:rPr sz="2400" dirty="0">
                <a:solidFill>
                  <a:srgbClr val="000000"/>
                </a:solidFill>
                <a:latin typeface="Times New Roman"/>
                <a:cs typeface="Times New Roman"/>
              </a:rPr>
              <a:t>of</a:t>
            </a:r>
            <a:r>
              <a:rPr sz="2400" spc="-15" dirty="0">
                <a:solidFill>
                  <a:srgbClr val="000000"/>
                </a:solidFill>
                <a:latin typeface="Times New Roman"/>
                <a:cs typeface="Times New Roman"/>
              </a:rPr>
              <a:t> </a:t>
            </a:r>
            <a:r>
              <a:rPr sz="2400" spc="-10" dirty="0">
                <a:solidFill>
                  <a:srgbClr val="000000"/>
                </a:solidFill>
                <a:latin typeface="Times New Roman"/>
                <a:cs typeface="Times New Roman"/>
              </a:rPr>
              <a:t>Earth’s</a:t>
            </a:r>
            <a:r>
              <a:rPr sz="2400" spc="-35" dirty="0">
                <a:solidFill>
                  <a:srgbClr val="000000"/>
                </a:solidFill>
                <a:latin typeface="Times New Roman"/>
                <a:cs typeface="Times New Roman"/>
              </a:rPr>
              <a:t> </a:t>
            </a:r>
            <a:r>
              <a:rPr sz="2400" spc="-10" dirty="0">
                <a:solidFill>
                  <a:srgbClr val="000000"/>
                </a:solidFill>
                <a:latin typeface="Times New Roman"/>
                <a:cs typeface="Times New Roman"/>
              </a:rPr>
              <a:t>surface</a:t>
            </a:r>
            <a:endParaRPr sz="2400">
              <a:latin typeface="Times New Roman"/>
              <a:cs typeface="Times New Roman"/>
            </a:endParaRPr>
          </a:p>
        </p:txBody>
      </p:sp>
      <p:pic>
        <p:nvPicPr>
          <p:cNvPr id="1026" name="Picture 2" descr="Acasta gneiss | rock | Britannica">
            <a:extLst>
              <a:ext uri="{FF2B5EF4-FFF2-40B4-BE49-F238E27FC236}">
                <a16:creationId xmlns:a16="http://schemas.microsoft.com/office/drawing/2014/main" id="{8D512DCB-F6E3-4C9C-A36E-40379929381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12056" y="990600"/>
            <a:ext cx="6719888" cy="45685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bject 5"/>
          <p:cNvSpPr txBox="1"/>
          <p:nvPr/>
        </p:nvSpPr>
        <p:spPr>
          <a:xfrm>
            <a:off x="215290" y="6389623"/>
            <a:ext cx="300672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10" dirty="0">
                <a:latin typeface="Arial MT"/>
                <a:cs typeface="Arial MT"/>
              </a:rPr>
              <a:t>Valley</a:t>
            </a:r>
            <a:r>
              <a:rPr sz="1800" spc="-5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(2006)</a:t>
            </a:r>
            <a:r>
              <a:rPr sz="1800" spc="-40" dirty="0">
                <a:latin typeface="Arial MT"/>
                <a:cs typeface="Arial MT"/>
              </a:rPr>
              <a:t> </a:t>
            </a:r>
            <a:r>
              <a:rPr sz="1800" i="1" dirty="0">
                <a:latin typeface="Arial"/>
                <a:cs typeface="Arial"/>
              </a:rPr>
              <a:t>Elements</a:t>
            </a:r>
            <a:r>
              <a:rPr sz="1800" i="1" spc="-35" dirty="0">
                <a:latin typeface="Arial"/>
                <a:cs typeface="Arial"/>
              </a:rPr>
              <a:t> </a:t>
            </a:r>
            <a:r>
              <a:rPr sz="1800" b="1" spc="-10" dirty="0">
                <a:latin typeface="Arial"/>
                <a:cs typeface="Arial"/>
              </a:rPr>
              <a:t>2</a:t>
            </a:r>
            <a:r>
              <a:rPr sz="1800" spc="-10" dirty="0">
                <a:latin typeface="Arial MT"/>
                <a:cs typeface="Arial MT"/>
              </a:rPr>
              <a:t>:201</a:t>
            </a:r>
            <a:endParaRPr sz="1800" dirty="0">
              <a:latin typeface="Arial MT"/>
              <a:cs typeface="Arial MT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3E6EFC6-1006-41C8-82D8-E9F9F10287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2625" t="3922" r="1537" b="5883"/>
          <a:stretch/>
        </p:blipFill>
        <p:spPr>
          <a:xfrm>
            <a:off x="76200" y="1295400"/>
            <a:ext cx="9186339" cy="37338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110443" y="73152"/>
            <a:ext cx="9034145" cy="6327775"/>
            <a:chOff x="110443" y="73152"/>
            <a:chExt cx="9034145" cy="6327775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10443" y="73152"/>
              <a:ext cx="9033556" cy="6135624"/>
            </a:xfrm>
            <a:prstGeom prst="rect">
              <a:avLst/>
            </a:prstGeom>
          </p:spPr>
        </p:pic>
        <p:sp>
          <p:nvSpPr>
            <p:cNvPr id="4" name="object 4"/>
            <p:cNvSpPr/>
            <p:nvPr/>
          </p:nvSpPr>
          <p:spPr>
            <a:xfrm>
              <a:off x="4571999" y="5486399"/>
              <a:ext cx="4419600" cy="914400"/>
            </a:xfrm>
            <a:custGeom>
              <a:avLst/>
              <a:gdLst/>
              <a:ahLst/>
              <a:cxnLst/>
              <a:rect l="l" t="t" r="r" b="b"/>
              <a:pathLst>
                <a:path w="4419600" h="914400">
                  <a:moveTo>
                    <a:pt x="4419600" y="0"/>
                  </a:moveTo>
                  <a:lnTo>
                    <a:pt x="0" y="0"/>
                  </a:lnTo>
                  <a:lnTo>
                    <a:pt x="0" y="914400"/>
                  </a:lnTo>
                  <a:lnTo>
                    <a:pt x="4419600" y="914400"/>
                  </a:lnTo>
                  <a:lnTo>
                    <a:pt x="4419600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" name="object 5"/>
          <p:cNvSpPr txBox="1">
            <a:spLocks noGrp="1"/>
          </p:cNvSpPr>
          <p:nvPr>
            <p:ph type="title"/>
          </p:nvPr>
        </p:nvSpPr>
        <p:spPr>
          <a:xfrm>
            <a:off x="4804028" y="5589523"/>
            <a:ext cx="331406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dirty="0">
                <a:solidFill>
                  <a:srgbClr val="FF9900"/>
                </a:solidFill>
              </a:rPr>
              <a:t>Rocks</a:t>
            </a:r>
            <a:r>
              <a:rPr sz="2400" spc="-55" dirty="0">
                <a:solidFill>
                  <a:srgbClr val="FF9900"/>
                </a:solidFill>
              </a:rPr>
              <a:t> </a:t>
            </a:r>
            <a:r>
              <a:rPr sz="2400" dirty="0">
                <a:solidFill>
                  <a:srgbClr val="FF9900"/>
                </a:solidFill>
              </a:rPr>
              <a:t>older</a:t>
            </a:r>
            <a:r>
              <a:rPr sz="2400" spc="-30" dirty="0">
                <a:solidFill>
                  <a:srgbClr val="FF9900"/>
                </a:solidFill>
              </a:rPr>
              <a:t> </a:t>
            </a:r>
            <a:r>
              <a:rPr sz="2400" dirty="0">
                <a:solidFill>
                  <a:srgbClr val="FF9900"/>
                </a:solidFill>
              </a:rPr>
              <a:t>than</a:t>
            </a:r>
            <a:r>
              <a:rPr sz="2400" spc="-60" dirty="0">
                <a:solidFill>
                  <a:srgbClr val="FF9900"/>
                </a:solidFill>
              </a:rPr>
              <a:t> </a:t>
            </a:r>
            <a:r>
              <a:rPr sz="2400" dirty="0">
                <a:solidFill>
                  <a:srgbClr val="FF9900"/>
                </a:solidFill>
              </a:rPr>
              <a:t>2.5</a:t>
            </a:r>
            <a:r>
              <a:rPr sz="2400" spc="-55" dirty="0">
                <a:solidFill>
                  <a:srgbClr val="FF9900"/>
                </a:solidFill>
              </a:rPr>
              <a:t> </a:t>
            </a:r>
            <a:r>
              <a:rPr sz="2400" spc="-25" dirty="0">
                <a:solidFill>
                  <a:srgbClr val="FF9900"/>
                </a:solidFill>
              </a:rPr>
              <a:t>Ga</a:t>
            </a:r>
            <a:endParaRPr sz="24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b="0" u="none" spc="-254" dirty="0">
                <a:latin typeface="Verdana"/>
                <a:cs typeface="Verdana"/>
              </a:rPr>
              <a:t>Divisions</a:t>
            </a:r>
            <a:r>
              <a:rPr b="0" u="none" spc="-315" dirty="0">
                <a:latin typeface="Verdana"/>
                <a:cs typeface="Verdana"/>
              </a:rPr>
              <a:t> </a:t>
            </a:r>
            <a:r>
              <a:rPr b="0" u="none" dirty="0">
                <a:latin typeface="Verdana"/>
                <a:cs typeface="Verdana"/>
              </a:rPr>
              <a:t>of</a:t>
            </a:r>
            <a:r>
              <a:rPr b="0" u="none" spc="-310" dirty="0">
                <a:latin typeface="Verdana"/>
                <a:cs typeface="Verdana"/>
              </a:rPr>
              <a:t> </a:t>
            </a:r>
            <a:r>
              <a:rPr b="0" u="none" spc="-280" dirty="0">
                <a:latin typeface="Verdana"/>
                <a:cs typeface="Verdana"/>
              </a:rPr>
              <a:t>Time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2540" y="1540205"/>
            <a:ext cx="8470265" cy="454215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88900" algn="just">
              <a:lnSpc>
                <a:spcPct val="100000"/>
              </a:lnSpc>
              <a:spcBef>
                <a:spcPts val="95"/>
              </a:spcBef>
            </a:pPr>
            <a:r>
              <a:rPr sz="2250" spc="175" dirty="0">
                <a:latin typeface="Lucida Sans Unicode"/>
                <a:cs typeface="Lucida Sans Unicode"/>
              </a:rPr>
              <a:t>▶</a:t>
            </a:r>
            <a:r>
              <a:rPr sz="2250" spc="10" dirty="0">
                <a:latin typeface="Lucida Sans Unicode"/>
                <a:cs typeface="Lucida Sans Unicode"/>
              </a:rPr>
              <a:t> </a:t>
            </a:r>
            <a:r>
              <a:rPr sz="2800" b="1" spc="-20" dirty="0">
                <a:latin typeface="Tahoma"/>
                <a:cs typeface="Tahoma"/>
              </a:rPr>
              <a:t>EON</a:t>
            </a:r>
            <a:r>
              <a:rPr sz="2800" b="1" spc="-50" dirty="0">
                <a:latin typeface="Tahoma"/>
                <a:cs typeface="Tahoma"/>
              </a:rPr>
              <a:t> </a:t>
            </a:r>
            <a:r>
              <a:rPr sz="2800" spc="-395" dirty="0">
                <a:latin typeface="Verdana"/>
                <a:cs typeface="Verdana"/>
              </a:rPr>
              <a:t>–</a:t>
            </a:r>
            <a:r>
              <a:rPr sz="2800" spc="-215" dirty="0">
                <a:latin typeface="Verdana"/>
                <a:cs typeface="Verdana"/>
              </a:rPr>
              <a:t> </a:t>
            </a:r>
            <a:r>
              <a:rPr sz="2800" spc="-95" dirty="0">
                <a:latin typeface="Verdana"/>
                <a:cs typeface="Verdana"/>
              </a:rPr>
              <a:t>largest</a:t>
            </a:r>
            <a:r>
              <a:rPr sz="2800" spc="-180" dirty="0">
                <a:latin typeface="Verdana"/>
                <a:cs typeface="Verdana"/>
              </a:rPr>
              <a:t> </a:t>
            </a:r>
            <a:r>
              <a:rPr sz="2800" spc="-120" dirty="0">
                <a:latin typeface="Verdana"/>
                <a:cs typeface="Verdana"/>
              </a:rPr>
              <a:t>division</a:t>
            </a:r>
            <a:r>
              <a:rPr sz="2800" spc="-240" dirty="0">
                <a:latin typeface="Verdana"/>
                <a:cs typeface="Verdana"/>
              </a:rPr>
              <a:t> </a:t>
            </a:r>
            <a:r>
              <a:rPr sz="2800" dirty="0">
                <a:latin typeface="Verdana"/>
                <a:cs typeface="Verdana"/>
              </a:rPr>
              <a:t>of</a:t>
            </a:r>
            <a:r>
              <a:rPr sz="2800" spc="-210" dirty="0">
                <a:latin typeface="Verdana"/>
                <a:cs typeface="Verdana"/>
              </a:rPr>
              <a:t> </a:t>
            </a:r>
            <a:r>
              <a:rPr sz="2800" spc="70" dirty="0">
                <a:latin typeface="Verdana"/>
                <a:cs typeface="Verdana"/>
              </a:rPr>
              <a:t>geologic</a:t>
            </a:r>
            <a:r>
              <a:rPr sz="2800" spc="-204" dirty="0">
                <a:latin typeface="Verdana"/>
                <a:cs typeface="Verdana"/>
              </a:rPr>
              <a:t> </a:t>
            </a:r>
            <a:r>
              <a:rPr sz="2800" spc="-20" dirty="0">
                <a:latin typeface="Verdana"/>
                <a:cs typeface="Verdana"/>
              </a:rPr>
              <a:t>time</a:t>
            </a:r>
            <a:endParaRPr sz="2800" dirty="0">
              <a:latin typeface="Verdana"/>
              <a:cs typeface="Verdana"/>
            </a:endParaRPr>
          </a:p>
          <a:p>
            <a:pPr algn="just">
              <a:lnSpc>
                <a:spcPct val="100000"/>
              </a:lnSpc>
              <a:spcBef>
                <a:spcPts val="620"/>
              </a:spcBef>
            </a:pPr>
            <a:endParaRPr sz="2800" dirty="0">
              <a:latin typeface="Verdana"/>
              <a:cs typeface="Verdana"/>
            </a:endParaRPr>
          </a:p>
          <a:p>
            <a:pPr marL="88900" algn="just">
              <a:lnSpc>
                <a:spcPct val="100000"/>
              </a:lnSpc>
            </a:pPr>
            <a:r>
              <a:rPr sz="2250" spc="175" dirty="0">
                <a:latin typeface="Lucida Sans Unicode"/>
                <a:cs typeface="Lucida Sans Unicode"/>
              </a:rPr>
              <a:t>▶</a:t>
            </a:r>
            <a:r>
              <a:rPr sz="2250" spc="-15" dirty="0">
                <a:latin typeface="Lucida Sans Unicode"/>
                <a:cs typeface="Lucida Sans Unicode"/>
              </a:rPr>
              <a:t> </a:t>
            </a:r>
            <a:r>
              <a:rPr sz="2800" b="1" spc="-200" dirty="0">
                <a:latin typeface="Tahoma"/>
                <a:cs typeface="Tahoma"/>
              </a:rPr>
              <a:t>ERA</a:t>
            </a:r>
            <a:r>
              <a:rPr sz="2800" b="1" spc="-35" dirty="0">
                <a:latin typeface="Tahoma"/>
                <a:cs typeface="Tahoma"/>
              </a:rPr>
              <a:t> </a:t>
            </a:r>
            <a:r>
              <a:rPr sz="2800" spc="-395" dirty="0">
                <a:latin typeface="Verdana"/>
                <a:cs typeface="Verdana"/>
              </a:rPr>
              <a:t>–</a:t>
            </a:r>
            <a:r>
              <a:rPr sz="2800" spc="-215" dirty="0">
                <a:latin typeface="Verdana"/>
                <a:cs typeface="Verdana"/>
              </a:rPr>
              <a:t> </a:t>
            </a:r>
            <a:r>
              <a:rPr sz="2800" dirty="0">
                <a:latin typeface="Verdana"/>
                <a:cs typeface="Verdana"/>
              </a:rPr>
              <a:t>2</a:t>
            </a:r>
            <a:r>
              <a:rPr sz="2775" baseline="25525" dirty="0">
                <a:latin typeface="Verdana"/>
                <a:cs typeface="Verdana"/>
              </a:rPr>
              <a:t>nd</a:t>
            </a:r>
            <a:r>
              <a:rPr sz="2775" spc="165" baseline="25525" dirty="0">
                <a:latin typeface="Verdana"/>
                <a:cs typeface="Verdana"/>
              </a:rPr>
              <a:t> </a:t>
            </a:r>
            <a:r>
              <a:rPr sz="2800" spc="-110" dirty="0">
                <a:latin typeface="Verdana"/>
                <a:cs typeface="Verdana"/>
              </a:rPr>
              <a:t>largest,</a:t>
            </a:r>
            <a:r>
              <a:rPr sz="2800" spc="-200" dirty="0">
                <a:latin typeface="Verdana"/>
                <a:cs typeface="Verdana"/>
              </a:rPr>
              <a:t> </a:t>
            </a:r>
            <a:r>
              <a:rPr sz="2800" spc="-50" dirty="0">
                <a:latin typeface="Verdana"/>
                <a:cs typeface="Verdana"/>
              </a:rPr>
              <a:t>includes</a:t>
            </a:r>
            <a:r>
              <a:rPr sz="2800" spc="-215" dirty="0">
                <a:latin typeface="Verdana"/>
                <a:cs typeface="Verdana"/>
              </a:rPr>
              <a:t> </a:t>
            </a:r>
            <a:r>
              <a:rPr sz="2800" dirty="0">
                <a:latin typeface="Verdana"/>
                <a:cs typeface="Verdana"/>
              </a:rPr>
              <a:t>two</a:t>
            </a:r>
            <a:r>
              <a:rPr sz="2800" spc="-204" dirty="0">
                <a:latin typeface="Verdana"/>
                <a:cs typeface="Verdana"/>
              </a:rPr>
              <a:t> </a:t>
            </a:r>
            <a:r>
              <a:rPr sz="2800" spc="-125" dirty="0">
                <a:latin typeface="Verdana"/>
                <a:cs typeface="Verdana"/>
              </a:rPr>
              <a:t>or</a:t>
            </a:r>
            <a:r>
              <a:rPr sz="2800" spc="-210" dirty="0">
                <a:latin typeface="Verdana"/>
                <a:cs typeface="Verdana"/>
              </a:rPr>
              <a:t> </a:t>
            </a:r>
            <a:r>
              <a:rPr sz="2800" spc="-55" dirty="0">
                <a:latin typeface="Verdana"/>
                <a:cs typeface="Verdana"/>
              </a:rPr>
              <a:t>more</a:t>
            </a:r>
            <a:r>
              <a:rPr sz="2800" spc="-210" dirty="0">
                <a:latin typeface="Verdana"/>
                <a:cs typeface="Verdana"/>
              </a:rPr>
              <a:t> </a:t>
            </a:r>
            <a:r>
              <a:rPr sz="2800" spc="-10" dirty="0">
                <a:latin typeface="Verdana"/>
                <a:cs typeface="Verdana"/>
              </a:rPr>
              <a:t>periods</a:t>
            </a:r>
            <a:endParaRPr sz="2800" dirty="0">
              <a:latin typeface="Verdana"/>
              <a:cs typeface="Verdana"/>
            </a:endParaRPr>
          </a:p>
          <a:p>
            <a:pPr algn="just">
              <a:lnSpc>
                <a:spcPct val="100000"/>
              </a:lnSpc>
              <a:spcBef>
                <a:spcPts val="1290"/>
              </a:spcBef>
            </a:pPr>
            <a:endParaRPr sz="2800" dirty="0">
              <a:latin typeface="Verdana"/>
              <a:cs typeface="Verdana"/>
            </a:endParaRPr>
          </a:p>
          <a:p>
            <a:pPr marL="431800" marR="550545" indent="-342900" algn="just">
              <a:lnSpc>
                <a:spcPct val="80000"/>
              </a:lnSpc>
              <a:spcBef>
                <a:spcPts val="5"/>
              </a:spcBef>
            </a:pPr>
            <a:r>
              <a:rPr sz="2250" spc="175" dirty="0">
                <a:latin typeface="Lucida Sans Unicode"/>
                <a:cs typeface="Lucida Sans Unicode"/>
              </a:rPr>
              <a:t>▶</a:t>
            </a:r>
            <a:r>
              <a:rPr sz="2250" spc="-70" dirty="0">
                <a:latin typeface="Lucida Sans Unicode"/>
                <a:cs typeface="Lucida Sans Unicode"/>
              </a:rPr>
              <a:t> </a:t>
            </a:r>
            <a:r>
              <a:rPr sz="2800" b="1" spc="-270" dirty="0">
                <a:latin typeface="Tahoma"/>
                <a:cs typeface="Tahoma"/>
              </a:rPr>
              <a:t>PERIOD</a:t>
            </a:r>
            <a:r>
              <a:rPr sz="2800" b="1" spc="-30" dirty="0">
                <a:latin typeface="Tahoma"/>
                <a:cs typeface="Tahoma"/>
              </a:rPr>
              <a:t> </a:t>
            </a:r>
            <a:r>
              <a:rPr sz="2800" spc="-395" dirty="0">
                <a:latin typeface="Verdana"/>
                <a:cs typeface="Verdana"/>
              </a:rPr>
              <a:t>–</a:t>
            </a:r>
            <a:r>
              <a:rPr sz="2800" spc="-215" dirty="0">
                <a:latin typeface="Verdana"/>
                <a:cs typeface="Verdana"/>
              </a:rPr>
              <a:t> </a:t>
            </a:r>
            <a:r>
              <a:rPr sz="2800" spc="-30" dirty="0">
                <a:latin typeface="Verdana"/>
                <a:cs typeface="Verdana"/>
              </a:rPr>
              <a:t>3</a:t>
            </a:r>
            <a:r>
              <a:rPr sz="2775" spc="-44" baseline="25525" dirty="0">
                <a:latin typeface="Verdana"/>
                <a:cs typeface="Verdana"/>
              </a:rPr>
              <a:t>rd</a:t>
            </a:r>
            <a:r>
              <a:rPr sz="2775" spc="157" baseline="25525" dirty="0">
                <a:latin typeface="Verdana"/>
                <a:cs typeface="Verdana"/>
              </a:rPr>
              <a:t> </a:t>
            </a:r>
            <a:r>
              <a:rPr sz="2800" spc="-114" dirty="0">
                <a:latin typeface="Verdana"/>
                <a:cs typeface="Verdana"/>
              </a:rPr>
              <a:t>largest,</a:t>
            </a:r>
            <a:r>
              <a:rPr sz="2800" spc="-185" dirty="0">
                <a:latin typeface="Verdana"/>
                <a:cs typeface="Verdana"/>
              </a:rPr>
              <a:t> </a:t>
            </a:r>
            <a:r>
              <a:rPr sz="2800" spc="-135" dirty="0">
                <a:latin typeface="Verdana"/>
                <a:cs typeface="Verdana"/>
              </a:rPr>
              <a:t>unit</a:t>
            </a:r>
            <a:r>
              <a:rPr sz="2800" spc="-210" dirty="0">
                <a:latin typeface="Verdana"/>
                <a:cs typeface="Verdana"/>
              </a:rPr>
              <a:t> </a:t>
            </a:r>
            <a:r>
              <a:rPr sz="2800" spc="-85" dirty="0">
                <a:latin typeface="Verdana"/>
                <a:cs typeface="Verdana"/>
              </a:rPr>
              <a:t>into</a:t>
            </a:r>
            <a:r>
              <a:rPr sz="2800" spc="-210" dirty="0">
                <a:latin typeface="Verdana"/>
                <a:cs typeface="Verdana"/>
              </a:rPr>
              <a:t> </a:t>
            </a:r>
            <a:r>
              <a:rPr sz="2800" dirty="0">
                <a:latin typeface="Verdana"/>
                <a:cs typeface="Verdana"/>
              </a:rPr>
              <a:t>which</a:t>
            </a:r>
            <a:r>
              <a:rPr sz="2800" spc="-220" dirty="0">
                <a:latin typeface="Verdana"/>
                <a:cs typeface="Verdana"/>
              </a:rPr>
              <a:t> </a:t>
            </a:r>
            <a:r>
              <a:rPr sz="2800" spc="-100" dirty="0">
                <a:latin typeface="Verdana"/>
                <a:cs typeface="Verdana"/>
              </a:rPr>
              <a:t>eras</a:t>
            </a:r>
            <a:r>
              <a:rPr sz="2800" spc="-204" dirty="0">
                <a:latin typeface="Verdana"/>
                <a:cs typeface="Verdana"/>
              </a:rPr>
              <a:t> </a:t>
            </a:r>
            <a:r>
              <a:rPr sz="2800" spc="-25" dirty="0">
                <a:latin typeface="Verdana"/>
                <a:cs typeface="Verdana"/>
              </a:rPr>
              <a:t>are </a:t>
            </a:r>
            <a:r>
              <a:rPr sz="2800" spc="-10" dirty="0">
                <a:latin typeface="Verdana"/>
                <a:cs typeface="Verdana"/>
              </a:rPr>
              <a:t>divided</a:t>
            </a:r>
            <a:endParaRPr sz="2800" dirty="0">
              <a:latin typeface="Verdana"/>
              <a:cs typeface="Verdana"/>
            </a:endParaRPr>
          </a:p>
          <a:p>
            <a:pPr marL="1975485" marR="70485" indent="-1887220" algn="just">
              <a:lnSpc>
                <a:spcPts val="7380"/>
              </a:lnSpc>
              <a:spcBef>
                <a:spcPts val="705"/>
              </a:spcBef>
            </a:pPr>
            <a:r>
              <a:rPr sz="2250" spc="175" dirty="0">
                <a:latin typeface="Lucida Sans Unicode"/>
                <a:cs typeface="Lucida Sans Unicode"/>
              </a:rPr>
              <a:t>▶</a:t>
            </a:r>
            <a:r>
              <a:rPr sz="2250" spc="-110" dirty="0">
                <a:latin typeface="Lucida Sans Unicode"/>
                <a:cs typeface="Lucida Sans Unicode"/>
              </a:rPr>
              <a:t> </a:t>
            </a:r>
            <a:r>
              <a:rPr sz="2800" b="1" spc="-40" dirty="0">
                <a:latin typeface="Tahoma"/>
                <a:cs typeface="Tahoma"/>
              </a:rPr>
              <a:t>EPOCH</a:t>
            </a:r>
            <a:r>
              <a:rPr sz="2800" b="1" spc="-75" dirty="0">
                <a:latin typeface="Tahoma"/>
                <a:cs typeface="Tahoma"/>
              </a:rPr>
              <a:t> </a:t>
            </a:r>
            <a:r>
              <a:rPr sz="2800" spc="-395" dirty="0">
                <a:latin typeface="Verdana"/>
                <a:cs typeface="Verdana"/>
              </a:rPr>
              <a:t>–</a:t>
            </a:r>
            <a:r>
              <a:rPr sz="2800" spc="-215" dirty="0">
                <a:latin typeface="Verdana"/>
                <a:cs typeface="Verdana"/>
              </a:rPr>
              <a:t> </a:t>
            </a:r>
            <a:r>
              <a:rPr sz="2800" spc="-50" dirty="0">
                <a:latin typeface="Verdana"/>
                <a:cs typeface="Verdana"/>
              </a:rPr>
              <a:t>4</a:t>
            </a:r>
            <a:r>
              <a:rPr sz="2775" spc="-75" baseline="25525" dirty="0">
                <a:latin typeface="Verdana"/>
                <a:cs typeface="Verdana"/>
              </a:rPr>
              <a:t>th</a:t>
            </a:r>
            <a:r>
              <a:rPr sz="2775" spc="127" baseline="25525" dirty="0">
                <a:latin typeface="Verdana"/>
                <a:cs typeface="Verdana"/>
              </a:rPr>
              <a:t> </a:t>
            </a:r>
            <a:r>
              <a:rPr sz="2800" spc="-110" dirty="0">
                <a:latin typeface="Verdana"/>
                <a:cs typeface="Verdana"/>
              </a:rPr>
              <a:t>largest,</a:t>
            </a:r>
            <a:r>
              <a:rPr sz="2800" spc="-200" dirty="0">
                <a:latin typeface="Verdana"/>
                <a:cs typeface="Verdana"/>
              </a:rPr>
              <a:t> </a:t>
            </a:r>
            <a:r>
              <a:rPr sz="2800" spc="-20" dirty="0">
                <a:latin typeface="Verdana"/>
                <a:cs typeface="Verdana"/>
              </a:rPr>
              <a:t>the</a:t>
            </a:r>
            <a:r>
              <a:rPr sz="2800" spc="-220" dirty="0">
                <a:latin typeface="Verdana"/>
                <a:cs typeface="Verdana"/>
              </a:rPr>
              <a:t> </a:t>
            </a:r>
            <a:r>
              <a:rPr sz="2800" spc="-120" dirty="0">
                <a:latin typeface="Verdana"/>
                <a:cs typeface="Verdana"/>
              </a:rPr>
              <a:t>subdivision</a:t>
            </a:r>
            <a:r>
              <a:rPr sz="2800" spc="-229" dirty="0">
                <a:latin typeface="Verdana"/>
                <a:cs typeface="Verdana"/>
              </a:rPr>
              <a:t> </a:t>
            </a:r>
            <a:r>
              <a:rPr sz="2800" dirty="0">
                <a:latin typeface="Verdana"/>
                <a:cs typeface="Verdana"/>
              </a:rPr>
              <a:t>of</a:t>
            </a:r>
            <a:r>
              <a:rPr sz="2800" spc="-240" dirty="0">
                <a:latin typeface="Verdana"/>
                <a:cs typeface="Verdana"/>
              </a:rPr>
              <a:t> </a:t>
            </a:r>
            <a:r>
              <a:rPr sz="2800" spc="215" dirty="0">
                <a:latin typeface="Verdana"/>
                <a:cs typeface="Verdana"/>
              </a:rPr>
              <a:t>a</a:t>
            </a:r>
            <a:r>
              <a:rPr sz="2800" spc="-250" dirty="0">
                <a:latin typeface="Verdana"/>
                <a:cs typeface="Verdana"/>
              </a:rPr>
              <a:t> </a:t>
            </a:r>
            <a:r>
              <a:rPr sz="2800" spc="-10" dirty="0">
                <a:latin typeface="Verdana"/>
                <a:cs typeface="Verdana"/>
              </a:rPr>
              <a:t>period </a:t>
            </a:r>
            <a:r>
              <a:rPr sz="2800" spc="-40" dirty="0">
                <a:latin typeface="Verdana"/>
                <a:cs typeface="Verdana"/>
              </a:rPr>
              <a:t>EON</a:t>
            </a:r>
            <a:r>
              <a:rPr sz="2800" spc="-185" dirty="0">
                <a:latin typeface="Verdana"/>
                <a:cs typeface="Verdana"/>
              </a:rPr>
              <a:t> </a:t>
            </a:r>
            <a:r>
              <a:rPr sz="2800" spc="-595" dirty="0">
                <a:latin typeface="Verdana"/>
                <a:cs typeface="Verdana"/>
              </a:rPr>
              <a:t>&gt;</a:t>
            </a:r>
            <a:r>
              <a:rPr sz="2800" spc="-200" dirty="0">
                <a:latin typeface="Verdana"/>
                <a:cs typeface="Verdana"/>
              </a:rPr>
              <a:t> </a:t>
            </a:r>
            <a:r>
              <a:rPr sz="2800" spc="-140" dirty="0">
                <a:latin typeface="Verdana"/>
                <a:cs typeface="Verdana"/>
              </a:rPr>
              <a:t>ERA</a:t>
            </a:r>
            <a:r>
              <a:rPr sz="2800" spc="-195" dirty="0">
                <a:latin typeface="Verdana"/>
                <a:cs typeface="Verdana"/>
              </a:rPr>
              <a:t> </a:t>
            </a:r>
            <a:r>
              <a:rPr sz="2800" spc="-595" dirty="0">
                <a:solidFill>
                  <a:srgbClr val="FFFFFF"/>
                </a:solidFill>
                <a:latin typeface="Verdana"/>
                <a:cs typeface="Verdana"/>
              </a:rPr>
              <a:t>&gt;</a:t>
            </a:r>
            <a:r>
              <a:rPr sz="2800" spc="-200" dirty="0">
                <a:solidFill>
                  <a:srgbClr val="FFFFFF"/>
                </a:solidFill>
                <a:latin typeface="Verdana"/>
                <a:cs typeface="Verdana"/>
              </a:rPr>
              <a:t> </a:t>
            </a:r>
            <a:r>
              <a:rPr sz="2800" spc="-170" dirty="0">
                <a:solidFill>
                  <a:srgbClr val="FFFFFF"/>
                </a:solidFill>
                <a:latin typeface="Verdana"/>
                <a:cs typeface="Verdana"/>
              </a:rPr>
              <a:t>PERIOD</a:t>
            </a:r>
            <a:r>
              <a:rPr sz="2800" spc="-180" dirty="0">
                <a:solidFill>
                  <a:srgbClr val="FFFFFF"/>
                </a:solidFill>
                <a:latin typeface="Verdana"/>
                <a:cs typeface="Verdana"/>
              </a:rPr>
              <a:t> </a:t>
            </a:r>
            <a:r>
              <a:rPr sz="2800" spc="-595" dirty="0">
                <a:solidFill>
                  <a:srgbClr val="FFFFFF"/>
                </a:solidFill>
                <a:latin typeface="Verdana"/>
                <a:cs typeface="Verdana"/>
              </a:rPr>
              <a:t>&gt;</a:t>
            </a:r>
            <a:r>
              <a:rPr sz="2800" spc="-190" dirty="0">
                <a:solidFill>
                  <a:srgbClr val="FFFFFF"/>
                </a:solidFill>
                <a:latin typeface="Verdana"/>
                <a:cs typeface="Verdana"/>
              </a:rPr>
              <a:t> </a:t>
            </a:r>
            <a:r>
              <a:rPr sz="2800" spc="-10" dirty="0">
                <a:solidFill>
                  <a:srgbClr val="FFFFFF"/>
                </a:solidFill>
                <a:latin typeface="Verdana"/>
                <a:cs typeface="Verdana"/>
              </a:rPr>
              <a:t>EPOCH</a:t>
            </a:r>
            <a:endParaRPr sz="2800" dirty="0">
              <a:latin typeface="Verdana"/>
              <a:cs typeface="Verdana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7871206" y="569467"/>
            <a:ext cx="421640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2800" spc="-25" dirty="0">
                <a:solidFill>
                  <a:srgbClr val="FFFFFF"/>
                </a:solidFill>
                <a:latin typeface="Arial MT"/>
                <a:cs typeface="Arial MT"/>
              </a:rPr>
              <a:t>14</a:t>
            </a:r>
            <a:endParaRPr sz="280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-28903" y="279103"/>
            <a:ext cx="3551733" cy="68993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b="0" u="none" spc="-210" dirty="0">
                <a:cs typeface="Verdana"/>
              </a:rPr>
              <a:t>EONS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228600" y="1219200"/>
            <a:ext cx="9144000" cy="4302973"/>
          </a:xfrm>
          <a:prstGeom prst="rect">
            <a:avLst/>
          </a:prstGeom>
        </p:spPr>
        <p:txBody>
          <a:bodyPr vert="horz" wrap="square" lIns="0" tIns="89535" rIns="0" bIns="0" rtlCol="0">
            <a:spAutoFit/>
          </a:bodyPr>
          <a:lstStyle/>
          <a:p>
            <a:pPr marL="355600" marR="257175" indent="-342900">
              <a:lnSpc>
                <a:spcPct val="150000"/>
              </a:lnSpc>
              <a:spcBef>
                <a:spcPts val="705"/>
              </a:spcBef>
            </a:pPr>
            <a:r>
              <a:rPr sz="2050" spc="195" dirty="0">
                <a:solidFill>
                  <a:srgbClr val="89D0D5"/>
                </a:solidFill>
                <a:latin typeface="Lucida Sans Unicode"/>
                <a:cs typeface="Lucida Sans Unicode"/>
              </a:rPr>
              <a:t>▶</a:t>
            </a:r>
            <a:r>
              <a:rPr sz="2050" spc="270" dirty="0">
                <a:solidFill>
                  <a:srgbClr val="89D0D5"/>
                </a:solidFill>
                <a:latin typeface="Lucida Sans Unicode"/>
                <a:cs typeface="Lucida Sans Unicode"/>
              </a:rPr>
              <a:t> </a:t>
            </a:r>
            <a:r>
              <a:rPr sz="2600" b="1" dirty="0">
                <a:latin typeface="Tahoma"/>
                <a:cs typeface="Tahoma"/>
              </a:rPr>
              <a:t>Hadean</a:t>
            </a:r>
            <a:r>
              <a:rPr sz="2600" b="1" spc="-35" dirty="0">
                <a:latin typeface="Tahoma"/>
                <a:cs typeface="Tahoma"/>
              </a:rPr>
              <a:t> </a:t>
            </a:r>
            <a:r>
              <a:rPr sz="2600" spc="-365" dirty="0">
                <a:latin typeface="Verdana"/>
                <a:cs typeface="Verdana"/>
              </a:rPr>
              <a:t>–</a:t>
            </a:r>
            <a:r>
              <a:rPr sz="2600" spc="-150" dirty="0">
                <a:latin typeface="Verdana"/>
                <a:cs typeface="Verdana"/>
              </a:rPr>
              <a:t> </a:t>
            </a:r>
            <a:r>
              <a:rPr sz="2600" spc="-105" dirty="0">
                <a:latin typeface="Verdana"/>
                <a:cs typeface="Verdana"/>
              </a:rPr>
              <a:t>rocks</a:t>
            </a:r>
            <a:r>
              <a:rPr sz="2600" spc="-150" dirty="0">
                <a:latin typeface="Verdana"/>
                <a:cs typeface="Verdana"/>
              </a:rPr>
              <a:t> </a:t>
            </a:r>
            <a:r>
              <a:rPr sz="2600" spc="-114" dirty="0">
                <a:latin typeface="Verdana"/>
                <a:cs typeface="Verdana"/>
              </a:rPr>
              <a:t>from</a:t>
            </a:r>
            <a:r>
              <a:rPr sz="2600" spc="-155" dirty="0">
                <a:latin typeface="Verdana"/>
                <a:cs typeface="Verdana"/>
              </a:rPr>
              <a:t> </a:t>
            </a:r>
            <a:r>
              <a:rPr sz="2600" spc="-85" dirty="0">
                <a:latin typeface="Verdana"/>
                <a:cs typeface="Verdana"/>
              </a:rPr>
              <a:t>meteorites</a:t>
            </a:r>
            <a:r>
              <a:rPr sz="2600" spc="-190" dirty="0">
                <a:latin typeface="Verdana"/>
                <a:cs typeface="Verdana"/>
              </a:rPr>
              <a:t> </a:t>
            </a:r>
            <a:r>
              <a:rPr sz="2600" spc="65" dirty="0">
                <a:latin typeface="Verdana"/>
                <a:cs typeface="Verdana"/>
              </a:rPr>
              <a:t>and </a:t>
            </a:r>
            <a:r>
              <a:rPr sz="2600" spc="-20" dirty="0">
                <a:latin typeface="Verdana"/>
                <a:cs typeface="Verdana"/>
              </a:rPr>
              <a:t>moon</a:t>
            </a:r>
            <a:endParaRPr sz="2600" dirty="0">
              <a:latin typeface="Verdana"/>
              <a:cs typeface="Verdana"/>
            </a:endParaRPr>
          </a:p>
          <a:p>
            <a:pPr marL="12700">
              <a:lnSpc>
                <a:spcPct val="150000"/>
              </a:lnSpc>
              <a:spcBef>
                <a:spcPts val="5"/>
              </a:spcBef>
            </a:pPr>
            <a:r>
              <a:rPr sz="2050" spc="195" dirty="0">
                <a:latin typeface="Lucida Sans Unicode"/>
                <a:cs typeface="Lucida Sans Unicode"/>
              </a:rPr>
              <a:t>▶</a:t>
            </a:r>
            <a:r>
              <a:rPr sz="2050" spc="280" dirty="0">
                <a:latin typeface="Lucida Sans Unicode"/>
                <a:cs typeface="Lucida Sans Unicode"/>
              </a:rPr>
              <a:t> </a:t>
            </a:r>
            <a:r>
              <a:rPr sz="2600" b="1" dirty="0">
                <a:latin typeface="Tahoma"/>
                <a:cs typeface="Tahoma"/>
              </a:rPr>
              <a:t>Archean</a:t>
            </a:r>
            <a:r>
              <a:rPr sz="2600" b="1" spc="-5" dirty="0">
                <a:latin typeface="Tahoma"/>
                <a:cs typeface="Tahoma"/>
              </a:rPr>
              <a:t> </a:t>
            </a:r>
            <a:r>
              <a:rPr sz="2600" spc="-365" dirty="0">
                <a:latin typeface="Verdana"/>
                <a:cs typeface="Verdana"/>
              </a:rPr>
              <a:t>–</a:t>
            </a:r>
            <a:r>
              <a:rPr sz="2600" spc="-145" dirty="0">
                <a:latin typeface="Verdana"/>
                <a:cs typeface="Verdana"/>
              </a:rPr>
              <a:t> </a:t>
            </a:r>
            <a:r>
              <a:rPr sz="2600" spc="-100" dirty="0">
                <a:latin typeface="Verdana"/>
                <a:cs typeface="Verdana"/>
              </a:rPr>
              <a:t>earliest</a:t>
            </a:r>
            <a:r>
              <a:rPr sz="2600" spc="-145" dirty="0">
                <a:latin typeface="Verdana"/>
                <a:cs typeface="Verdana"/>
              </a:rPr>
              <a:t> </a:t>
            </a:r>
            <a:r>
              <a:rPr sz="2600" spc="-105" dirty="0">
                <a:latin typeface="Verdana"/>
                <a:cs typeface="Verdana"/>
              </a:rPr>
              <a:t>rocks</a:t>
            </a:r>
            <a:r>
              <a:rPr sz="2600" spc="-145" dirty="0">
                <a:latin typeface="Verdana"/>
                <a:cs typeface="Verdana"/>
              </a:rPr>
              <a:t> </a:t>
            </a:r>
            <a:r>
              <a:rPr sz="2600" dirty="0">
                <a:latin typeface="Verdana"/>
                <a:cs typeface="Verdana"/>
              </a:rPr>
              <a:t>on</a:t>
            </a:r>
            <a:r>
              <a:rPr sz="2600" spc="-150" dirty="0">
                <a:latin typeface="Verdana"/>
                <a:cs typeface="Verdana"/>
              </a:rPr>
              <a:t> </a:t>
            </a:r>
            <a:r>
              <a:rPr sz="2600" spc="-40" dirty="0">
                <a:latin typeface="Verdana"/>
                <a:cs typeface="Verdana"/>
              </a:rPr>
              <a:t>earth</a:t>
            </a:r>
            <a:r>
              <a:rPr sz="2600" spc="-150" dirty="0">
                <a:latin typeface="Verdana"/>
                <a:cs typeface="Verdana"/>
              </a:rPr>
              <a:t> </a:t>
            </a:r>
            <a:r>
              <a:rPr sz="2600" spc="-40" dirty="0">
                <a:latin typeface="Verdana"/>
                <a:cs typeface="Verdana"/>
              </a:rPr>
              <a:t>form</a:t>
            </a:r>
            <a:r>
              <a:rPr lang="en-IN" sz="2600" spc="-40" dirty="0">
                <a:latin typeface="Verdana"/>
                <a:cs typeface="Verdana"/>
              </a:rPr>
              <a:t> “</a:t>
            </a:r>
            <a:r>
              <a:rPr lang="en-US" sz="2800" dirty="0"/>
              <a:t>Greek word </a:t>
            </a:r>
            <a:r>
              <a:rPr lang="en-US" sz="2800" i="1" dirty="0" err="1"/>
              <a:t>arkheios</a:t>
            </a:r>
            <a:r>
              <a:rPr lang="en-US" sz="2800" dirty="0"/>
              <a:t>, meaning "ancient" or "beginning."</a:t>
            </a:r>
            <a:endParaRPr sz="2600" dirty="0">
              <a:latin typeface="Verdana"/>
              <a:cs typeface="Verdana"/>
            </a:endParaRPr>
          </a:p>
          <a:p>
            <a:pPr marL="355600" marR="869950" indent="-342900">
              <a:lnSpc>
                <a:spcPct val="150000"/>
              </a:lnSpc>
              <a:spcBef>
                <a:spcPts val="5"/>
              </a:spcBef>
            </a:pPr>
            <a:r>
              <a:rPr sz="2050" spc="195" dirty="0">
                <a:latin typeface="Lucida Sans Unicode"/>
                <a:cs typeface="Lucida Sans Unicode"/>
              </a:rPr>
              <a:t>▶</a:t>
            </a:r>
            <a:r>
              <a:rPr sz="2050" spc="245" dirty="0">
                <a:latin typeface="Lucida Sans Unicode"/>
                <a:cs typeface="Lucida Sans Unicode"/>
              </a:rPr>
              <a:t> </a:t>
            </a:r>
            <a:r>
              <a:rPr sz="2600" b="1" spc="-90" dirty="0">
                <a:latin typeface="Tahoma"/>
                <a:cs typeface="Tahoma"/>
              </a:rPr>
              <a:t>Proterozoic</a:t>
            </a:r>
            <a:r>
              <a:rPr sz="2600" b="1" spc="-45" dirty="0">
                <a:latin typeface="Tahoma"/>
                <a:cs typeface="Tahoma"/>
              </a:rPr>
              <a:t> </a:t>
            </a:r>
            <a:r>
              <a:rPr sz="2600" spc="-365" dirty="0">
                <a:latin typeface="Verdana"/>
                <a:cs typeface="Verdana"/>
              </a:rPr>
              <a:t>–</a:t>
            </a:r>
            <a:r>
              <a:rPr sz="2600" spc="-170" dirty="0">
                <a:latin typeface="Verdana"/>
                <a:cs typeface="Verdana"/>
              </a:rPr>
              <a:t> </a:t>
            </a:r>
            <a:r>
              <a:rPr sz="2600" spc="-110" dirty="0">
                <a:latin typeface="Verdana"/>
                <a:cs typeface="Verdana"/>
              </a:rPr>
              <a:t>organisms</a:t>
            </a:r>
            <a:r>
              <a:rPr sz="2600" spc="-165" dirty="0">
                <a:latin typeface="Verdana"/>
                <a:cs typeface="Verdana"/>
              </a:rPr>
              <a:t> </a:t>
            </a:r>
            <a:r>
              <a:rPr sz="2600" spc="-110" dirty="0">
                <a:latin typeface="Verdana"/>
                <a:cs typeface="Verdana"/>
              </a:rPr>
              <a:t>with</a:t>
            </a:r>
            <a:r>
              <a:rPr sz="2600" spc="-170" dirty="0">
                <a:latin typeface="Verdana"/>
                <a:cs typeface="Verdana"/>
              </a:rPr>
              <a:t> </a:t>
            </a:r>
            <a:r>
              <a:rPr sz="2600" spc="-20" dirty="0">
                <a:latin typeface="Verdana"/>
                <a:cs typeface="Verdana"/>
              </a:rPr>
              <a:t>well </a:t>
            </a:r>
            <a:r>
              <a:rPr sz="2600" spc="75" dirty="0">
                <a:latin typeface="Verdana"/>
                <a:cs typeface="Verdana"/>
              </a:rPr>
              <a:t>developed</a:t>
            </a:r>
            <a:r>
              <a:rPr sz="2600" spc="-245" dirty="0">
                <a:latin typeface="Verdana"/>
                <a:cs typeface="Verdana"/>
              </a:rPr>
              <a:t> </a:t>
            </a:r>
            <a:r>
              <a:rPr sz="2600" spc="-20" dirty="0">
                <a:latin typeface="Verdana"/>
                <a:cs typeface="Verdana"/>
              </a:rPr>
              <a:t>cells</a:t>
            </a:r>
            <a:r>
              <a:rPr lang="en-IN" sz="2600" spc="-20" dirty="0">
                <a:latin typeface="Verdana"/>
                <a:cs typeface="Verdana"/>
              </a:rPr>
              <a:t> “earlier life”</a:t>
            </a:r>
            <a:endParaRPr sz="2600" dirty="0">
              <a:latin typeface="Verdana"/>
              <a:cs typeface="Verdana"/>
            </a:endParaRPr>
          </a:p>
          <a:p>
            <a:pPr marL="355600" marR="455930" indent="-342900">
              <a:lnSpc>
                <a:spcPct val="150000"/>
              </a:lnSpc>
            </a:pPr>
            <a:r>
              <a:rPr sz="2050" spc="195" dirty="0">
                <a:latin typeface="Lucida Sans Unicode"/>
                <a:cs typeface="Lucida Sans Unicode"/>
              </a:rPr>
              <a:t>▶</a:t>
            </a:r>
            <a:r>
              <a:rPr sz="2050" spc="225" dirty="0">
                <a:latin typeface="Lucida Sans Unicode"/>
                <a:cs typeface="Lucida Sans Unicode"/>
              </a:rPr>
              <a:t> </a:t>
            </a:r>
            <a:r>
              <a:rPr sz="2600" b="1" spc="-45" dirty="0">
                <a:latin typeface="Tahoma"/>
                <a:cs typeface="Tahoma"/>
              </a:rPr>
              <a:t>Phanerozoic</a:t>
            </a:r>
            <a:r>
              <a:rPr sz="2600" b="1" spc="-70" dirty="0">
                <a:latin typeface="Tahoma"/>
                <a:cs typeface="Tahoma"/>
              </a:rPr>
              <a:t> </a:t>
            </a:r>
            <a:r>
              <a:rPr sz="2600" spc="-365" dirty="0">
                <a:latin typeface="Verdana"/>
                <a:cs typeface="Verdana"/>
              </a:rPr>
              <a:t>–</a:t>
            </a:r>
            <a:r>
              <a:rPr sz="2600" spc="-190" dirty="0">
                <a:latin typeface="Verdana"/>
                <a:cs typeface="Verdana"/>
              </a:rPr>
              <a:t> </a:t>
            </a:r>
            <a:r>
              <a:rPr sz="2600" spc="-30" dirty="0">
                <a:latin typeface="Verdana"/>
                <a:cs typeface="Verdana"/>
              </a:rPr>
              <a:t>means</a:t>
            </a:r>
            <a:r>
              <a:rPr sz="2600" spc="-195" dirty="0">
                <a:latin typeface="Verdana"/>
                <a:cs typeface="Verdana"/>
              </a:rPr>
              <a:t> </a:t>
            </a:r>
            <a:r>
              <a:rPr sz="2600" spc="-85" dirty="0">
                <a:latin typeface="Verdana"/>
                <a:cs typeface="Verdana"/>
              </a:rPr>
              <a:t>“visible</a:t>
            </a:r>
            <a:r>
              <a:rPr sz="2600" spc="-190" dirty="0">
                <a:latin typeface="Verdana"/>
                <a:cs typeface="Verdana"/>
              </a:rPr>
              <a:t> </a:t>
            </a:r>
            <a:r>
              <a:rPr sz="2600" spc="-10" dirty="0">
                <a:latin typeface="Verdana"/>
                <a:cs typeface="Verdana"/>
              </a:rPr>
              <a:t>life” </a:t>
            </a:r>
            <a:r>
              <a:rPr sz="2600" spc="-75" dirty="0">
                <a:latin typeface="Verdana"/>
                <a:cs typeface="Verdana"/>
              </a:rPr>
              <a:t>well</a:t>
            </a:r>
            <a:r>
              <a:rPr sz="2600" spc="-140" dirty="0">
                <a:latin typeface="Verdana"/>
                <a:cs typeface="Verdana"/>
              </a:rPr>
              <a:t> </a:t>
            </a:r>
            <a:r>
              <a:rPr sz="2600" spc="-45" dirty="0">
                <a:latin typeface="Verdana"/>
                <a:cs typeface="Verdana"/>
              </a:rPr>
              <a:t>represented</a:t>
            </a:r>
            <a:r>
              <a:rPr sz="2600" spc="-180" dirty="0">
                <a:latin typeface="Verdana"/>
                <a:cs typeface="Verdana"/>
              </a:rPr>
              <a:t> </a:t>
            </a:r>
            <a:r>
              <a:rPr sz="2600" spc="-135" dirty="0">
                <a:latin typeface="Verdana"/>
                <a:cs typeface="Verdana"/>
              </a:rPr>
              <a:t>in</a:t>
            </a:r>
            <a:r>
              <a:rPr sz="2600" spc="-145" dirty="0">
                <a:latin typeface="Verdana"/>
                <a:cs typeface="Verdana"/>
              </a:rPr>
              <a:t> </a:t>
            </a:r>
            <a:r>
              <a:rPr sz="2600" spc="-30" dirty="0">
                <a:latin typeface="Verdana"/>
                <a:cs typeface="Verdana"/>
              </a:rPr>
              <a:t>the</a:t>
            </a:r>
            <a:r>
              <a:rPr sz="2600" spc="-170" dirty="0">
                <a:latin typeface="Verdana"/>
                <a:cs typeface="Verdana"/>
              </a:rPr>
              <a:t> </a:t>
            </a:r>
            <a:r>
              <a:rPr sz="2600" spc="-190" dirty="0">
                <a:latin typeface="Verdana"/>
                <a:cs typeface="Verdana"/>
              </a:rPr>
              <a:t>fossil</a:t>
            </a:r>
            <a:r>
              <a:rPr sz="2600" spc="-145" dirty="0">
                <a:latin typeface="Verdana"/>
                <a:cs typeface="Verdana"/>
              </a:rPr>
              <a:t> </a:t>
            </a:r>
            <a:r>
              <a:rPr sz="2600" spc="-10" dirty="0">
                <a:latin typeface="Verdana"/>
                <a:cs typeface="Verdana"/>
              </a:rPr>
              <a:t>record</a:t>
            </a:r>
            <a:endParaRPr sz="2600" dirty="0">
              <a:latin typeface="Verdana"/>
              <a:cs typeface="Verdana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7871206" y="569467"/>
            <a:ext cx="421640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2800" spc="-25" dirty="0">
                <a:solidFill>
                  <a:srgbClr val="FFFFFF"/>
                </a:solidFill>
                <a:latin typeface="Arial MT"/>
                <a:cs typeface="Arial MT"/>
              </a:rPr>
              <a:t>15</a:t>
            </a:r>
            <a:endParaRPr sz="280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78739" y="60452"/>
            <a:ext cx="3550920" cy="84899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u="sng" spc="-10" dirty="0">
                <a:solidFill>
                  <a:srgbClr val="FFFFFF"/>
                </a:solidFill>
                <a:uFill>
                  <a:solidFill>
                    <a:srgbClr val="FFFFFF"/>
                  </a:solidFill>
                </a:uFill>
                <a:latin typeface="Palatino Linotype"/>
                <a:cs typeface="Palatino Linotype"/>
              </a:rPr>
              <a:t>Eons:</a:t>
            </a:r>
            <a:endParaRPr sz="1800">
              <a:latin typeface="Palatino Linotype"/>
              <a:cs typeface="Palatino Linotype"/>
            </a:endParaRPr>
          </a:p>
          <a:p>
            <a:pPr marL="12700">
              <a:lnSpc>
                <a:spcPct val="100000"/>
              </a:lnSpc>
            </a:pPr>
            <a:r>
              <a:rPr sz="1800" dirty="0">
                <a:solidFill>
                  <a:srgbClr val="FFFFFF"/>
                </a:solidFill>
                <a:latin typeface="Palatino Linotype"/>
                <a:cs typeface="Palatino Linotype"/>
              </a:rPr>
              <a:t>Precambrian:</a:t>
            </a:r>
            <a:r>
              <a:rPr sz="1800" spc="370" dirty="0">
                <a:solidFill>
                  <a:srgbClr val="FFFFFF"/>
                </a:solidFill>
                <a:latin typeface="Palatino Linotype"/>
                <a:cs typeface="Palatino Linotype"/>
              </a:rPr>
              <a:t> </a:t>
            </a:r>
            <a:r>
              <a:rPr sz="1800" dirty="0">
                <a:solidFill>
                  <a:srgbClr val="FFFFFF"/>
                </a:solidFill>
                <a:latin typeface="Palatino Linotype"/>
                <a:cs typeface="Palatino Linotype"/>
              </a:rPr>
              <a:t>Earliest</a:t>
            </a:r>
            <a:r>
              <a:rPr sz="1800" spc="-40" dirty="0">
                <a:solidFill>
                  <a:srgbClr val="FFFFFF"/>
                </a:solidFill>
                <a:latin typeface="Palatino Linotype"/>
                <a:cs typeface="Palatino Linotype"/>
              </a:rPr>
              <a:t> </a:t>
            </a:r>
            <a:r>
              <a:rPr sz="1800" dirty="0">
                <a:solidFill>
                  <a:srgbClr val="FFFFFF"/>
                </a:solidFill>
                <a:latin typeface="Palatino Linotype"/>
                <a:cs typeface="Palatino Linotype"/>
              </a:rPr>
              <a:t>span</a:t>
            </a:r>
            <a:r>
              <a:rPr sz="1800" spc="-45" dirty="0">
                <a:solidFill>
                  <a:srgbClr val="FFFFFF"/>
                </a:solidFill>
                <a:latin typeface="Palatino Linotype"/>
                <a:cs typeface="Palatino Linotype"/>
              </a:rPr>
              <a:t> </a:t>
            </a:r>
            <a:r>
              <a:rPr sz="1800" dirty="0">
                <a:solidFill>
                  <a:srgbClr val="FFFFFF"/>
                </a:solidFill>
                <a:latin typeface="Palatino Linotype"/>
                <a:cs typeface="Palatino Linotype"/>
              </a:rPr>
              <a:t>of</a:t>
            </a:r>
            <a:r>
              <a:rPr sz="1800" spc="-30" dirty="0">
                <a:solidFill>
                  <a:srgbClr val="FFFFFF"/>
                </a:solidFill>
                <a:latin typeface="Palatino Linotype"/>
                <a:cs typeface="Palatino Linotype"/>
              </a:rPr>
              <a:t> </a:t>
            </a:r>
            <a:r>
              <a:rPr sz="1800" spc="-20" dirty="0">
                <a:solidFill>
                  <a:srgbClr val="FFFFFF"/>
                </a:solidFill>
                <a:latin typeface="Palatino Linotype"/>
                <a:cs typeface="Palatino Linotype"/>
              </a:rPr>
              <a:t>time</a:t>
            </a:r>
            <a:endParaRPr sz="1800">
              <a:latin typeface="Palatino Linotype"/>
              <a:cs typeface="Palatino Linotype"/>
            </a:endParaRPr>
          </a:p>
          <a:p>
            <a:pPr marL="12700">
              <a:lnSpc>
                <a:spcPct val="100000"/>
              </a:lnSpc>
              <a:tabLst>
                <a:tab pos="1492885" algn="l"/>
              </a:tabLst>
            </a:pPr>
            <a:r>
              <a:rPr sz="1800" spc="-10" dirty="0">
                <a:solidFill>
                  <a:srgbClr val="FFFFFF"/>
                </a:solidFill>
                <a:latin typeface="Palatino Linotype"/>
                <a:cs typeface="Palatino Linotype"/>
              </a:rPr>
              <a:t>Phanerozoic:</a:t>
            </a:r>
            <a:r>
              <a:rPr sz="1800" dirty="0">
                <a:solidFill>
                  <a:srgbClr val="FFFFFF"/>
                </a:solidFill>
                <a:latin typeface="Palatino Linotype"/>
                <a:cs typeface="Palatino Linotype"/>
              </a:rPr>
              <a:t>	Everything</a:t>
            </a:r>
            <a:r>
              <a:rPr sz="1800" spc="-90" dirty="0">
                <a:solidFill>
                  <a:srgbClr val="FFFFFF"/>
                </a:solidFill>
                <a:latin typeface="Palatino Linotype"/>
                <a:cs typeface="Palatino Linotype"/>
              </a:rPr>
              <a:t> </a:t>
            </a:r>
            <a:r>
              <a:rPr sz="1800" spc="-10" dirty="0">
                <a:solidFill>
                  <a:srgbClr val="FFFFFF"/>
                </a:solidFill>
                <a:latin typeface="Palatino Linotype"/>
                <a:cs typeface="Palatino Linotype"/>
              </a:rPr>
              <a:t>since</a:t>
            </a:r>
            <a:endParaRPr sz="1800">
              <a:latin typeface="Palatino Linotype"/>
              <a:cs typeface="Palatino Linotype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2285950" y="1203705"/>
            <a:ext cx="1143938" cy="11208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sz="1800" b="1" u="sng" spc="-10" dirty="0">
                <a:uFill>
                  <a:solidFill>
                    <a:srgbClr val="FFFFFF"/>
                  </a:solidFill>
                </a:uFill>
                <a:latin typeface="+mj-lt"/>
                <a:cs typeface="Palatino Linotype"/>
              </a:rPr>
              <a:t>Eras:</a:t>
            </a:r>
            <a:r>
              <a:rPr sz="1800" b="1" spc="-10" dirty="0">
                <a:latin typeface="+mj-lt"/>
                <a:cs typeface="Palatino Linotype"/>
              </a:rPr>
              <a:t> </a:t>
            </a:r>
            <a:r>
              <a:rPr sz="1800" spc="-10" dirty="0">
                <a:latin typeface="+mj-lt"/>
                <a:cs typeface="Palatino Linotype"/>
              </a:rPr>
              <a:t>Paleozoic Mesozoic Cenozoic</a:t>
            </a:r>
            <a:endParaRPr sz="1800" dirty="0">
              <a:latin typeface="+mj-lt"/>
              <a:cs typeface="Palatino Linotype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5261228" y="1356105"/>
            <a:ext cx="2077085" cy="41319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908685">
              <a:lnSpc>
                <a:spcPct val="100000"/>
              </a:lnSpc>
              <a:spcBef>
                <a:spcPts val="100"/>
              </a:spcBef>
            </a:pPr>
            <a:r>
              <a:rPr sz="1800" b="1" u="sng" spc="-10" dirty="0">
                <a:uFill>
                  <a:solidFill>
                    <a:srgbClr val="FFFFFF"/>
                  </a:solidFill>
                </a:uFill>
                <a:latin typeface="+mj-lt"/>
                <a:cs typeface="Palatino Linotype"/>
              </a:rPr>
              <a:t>Periods:</a:t>
            </a:r>
            <a:r>
              <a:rPr sz="1800" b="1" spc="-10" dirty="0">
                <a:latin typeface="+mj-lt"/>
                <a:cs typeface="Palatino Linotype"/>
              </a:rPr>
              <a:t> </a:t>
            </a:r>
            <a:r>
              <a:rPr sz="1800" spc="-10" dirty="0">
                <a:latin typeface="+mj-lt"/>
                <a:cs typeface="Palatino Linotype"/>
              </a:rPr>
              <a:t>Cambrian Ordovician Silurian Devonian</a:t>
            </a:r>
            <a:endParaRPr sz="1800" dirty="0">
              <a:latin typeface="+mj-lt"/>
              <a:cs typeface="Palatino Linotype"/>
            </a:endParaRPr>
          </a:p>
          <a:p>
            <a:pPr marL="12700">
              <a:lnSpc>
                <a:spcPts val="2090"/>
              </a:lnSpc>
              <a:spcBef>
                <a:spcPts val="650"/>
              </a:spcBef>
            </a:pPr>
            <a:r>
              <a:rPr sz="1800" spc="-10" dirty="0">
                <a:latin typeface="+mj-lt"/>
                <a:cs typeface="Palatino Linotype"/>
              </a:rPr>
              <a:t>Carboniferous</a:t>
            </a:r>
            <a:endParaRPr sz="1800" dirty="0">
              <a:latin typeface="+mj-lt"/>
              <a:cs typeface="Palatino Linotype"/>
            </a:endParaRPr>
          </a:p>
          <a:p>
            <a:pPr marL="12700">
              <a:lnSpc>
                <a:spcPts val="1610"/>
              </a:lnSpc>
            </a:pPr>
            <a:r>
              <a:rPr sz="1400" i="1" dirty="0">
                <a:latin typeface="+mj-lt"/>
                <a:cs typeface="Palatino Linotype"/>
              </a:rPr>
              <a:t>(Missipp.</a:t>
            </a:r>
            <a:r>
              <a:rPr sz="1400" i="1" spc="-55" dirty="0">
                <a:latin typeface="+mj-lt"/>
                <a:cs typeface="Palatino Linotype"/>
              </a:rPr>
              <a:t> </a:t>
            </a:r>
            <a:r>
              <a:rPr sz="1400" i="1" dirty="0">
                <a:latin typeface="+mj-lt"/>
                <a:cs typeface="Palatino Linotype"/>
              </a:rPr>
              <a:t>&amp;</a:t>
            </a:r>
            <a:r>
              <a:rPr sz="1400" i="1" spc="-10" dirty="0">
                <a:latin typeface="+mj-lt"/>
                <a:cs typeface="Palatino Linotype"/>
              </a:rPr>
              <a:t> Pennsylvanian)</a:t>
            </a:r>
            <a:endParaRPr sz="1400" dirty="0">
              <a:latin typeface="+mj-lt"/>
              <a:cs typeface="Palatino Linotype"/>
            </a:endParaRPr>
          </a:p>
          <a:p>
            <a:pPr marL="12700" marR="886460">
              <a:lnSpc>
                <a:spcPct val="100000"/>
              </a:lnSpc>
              <a:spcBef>
                <a:spcPts val="190"/>
              </a:spcBef>
            </a:pPr>
            <a:r>
              <a:rPr sz="1800" spc="-10" dirty="0">
                <a:latin typeface="+mj-lt"/>
                <a:cs typeface="Palatino Linotype"/>
              </a:rPr>
              <a:t>Permian Triassic Jurassic Cretaceous Paleogene Neogene Quaternary</a:t>
            </a:r>
            <a:endParaRPr sz="1800" dirty="0">
              <a:latin typeface="+mj-lt"/>
              <a:cs typeface="Palatino Linotype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7623809" y="3188001"/>
            <a:ext cx="1445006" cy="11226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sz="1800" b="1" u="sng" spc="-10" dirty="0">
                <a:uFill>
                  <a:solidFill>
                    <a:srgbClr val="FFFFFF"/>
                  </a:solidFill>
                </a:uFill>
                <a:latin typeface="+mj-lt"/>
                <a:cs typeface="Palatino Linotype"/>
              </a:rPr>
              <a:t>Epochs:</a:t>
            </a:r>
            <a:r>
              <a:rPr sz="1800" b="1" spc="-10" dirty="0">
                <a:latin typeface="+mj-lt"/>
                <a:cs typeface="Palatino Linotype"/>
              </a:rPr>
              <a:t> </a:t>
            </a:r>
            <a:r>
              <a:rPr sz="1800" spc="-10" dirty="0">
                <a:latin typeface="+mj-lt"/>
                <a:cs typeface="Palatino Linotype"/>
              </a:rPr>
              <a:t>Paleocene Eocene Oligocene</a:t>
            </a:r>
            <a:endParaRPr sz="1800" dirty="0">
              <a:latin typeface="+mj-lt"/>
              <a:cs typeface="Palatino Linotype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7623809" y="4557217"/>
            <a:ext cx="889635" cy="5746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10" dirty="0">
                <a:latin typeface="+mj-lt"/>
                <a:cs typeface="Palatino Linotype"/>
              </a:rPr>
              <a:t>Miocene</a:t>
            </a:r>
            <a:endParaRPr sz="1800">
              <a:latin typeface="+mj-lt"/>
              <a:cs typeface="Palatino Linotype"/>
            </a:endParaRPr>
          </a:p>
          <a:p>
            <a:pPr marL="12700">
              <a:lnSpc>
                <a:spcPct val="100000"/>
              </a:lnSpc>
            </a:pPr>
            <a:r>
              <a:rPr sz="1800" spc="-10" dirty="0">
                <a:latin typeface="+mj-lt"/>
                <a:cs typeface="Palatino Linotype"/>
              </a:rPr>
              <a:t>Pliocene</a:t>
            </a:r>
            <a:endParaRPr sz="1800">
              <a:latin typeface="+mj-lt"/>
              <a:cs typeface="Palatino Linotype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7610641" y="5389481"/>
            <a:ext cx="1445006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sz="1800" spc="-10" dirty="0">
                <a:latin typeface="+mj-lt"/>
                <a:cs typeface="Palatino Linotype"/>
              </a:rPr>
              <a:t>Pleistocene Holocene</a:t>
            </a:r>
            <a:endParaRPr sz="1800">
              <a:latin typeface="+mj-lt"/>
              <a:cs typeface="Palatino Linotype"/>
            </a:endParaRPr>
          </a:p>
        </p:txBody>
      </p:sp>
      <p:sp>
        <p:nvSpPr>
          <p:cNvPr id="8" name="object 8"/>
          <p:cNvSpPr/>
          <p:nvPr/>
        </p:nvSpPr>
        <p:spPr>
          <a:xfrm>
            <a:off x="6431407" y="3657600"/>
            <a:ext cx="1112520" cy="920750"/>
          </a:xfrm>
          <a:custGeom>
            <a:avLst/>
            <a:gdLst/>
            <a:ahLst/>
            <a:cxnLst/>
            <a:rect l="l" t="t" r="r" b="b"/>
            <a:pathLst>
              <a:path w="1112520" h="920750">
                <a:moveTo>
                  <a:pt x="1112393" y="0"/>
                </a:moveTo>
                <a:lnTo>
                  <a:pt x="1029335" y="19050"/>
                </a:lnTo>
                <a:lnTo>
                  <a:pt x="1049566" y="43586"/>
                </a:lnTo>
                <a:lnTo>
                  <a:pt x="0" y="909447"/>
                </a:lnTo>
                <a:lnTo>
                  <a:pt x="3949" y="914273"/>
                </a:lnTo>
                <a:lnTo>
                  <a:pt x="6096" y="920369"/>
                </a:lnTo>
                <a:lnTo>
                  <a:pt x="1042377" y="564184"/>
                </a:lnTo>
                <a:lnTo>
                  <a:pt x="1052703" y="594233"/>
                </a:lnTo>
                <a:lnTo>
                  <a:pt x="1098054" y="548005"/>
                </a:lnTo>
                <a:lnTo>
                  <a:pt x="1112393" y="533400"/>
                </a:lnTo>
                <a:lnTo>
                  <a:pt x="1027938" y="522097"/>
                </a:lnTo>
                <a:lnTo>
                  <a:pt x="1038250" y="552145"/>
                </a:lnTo>
                <a:lnTo>
                  <a:pt x="71831" y="884389"/>
                </a:lnTo>
                <a:lnTo>
                  <a:pt x="1048715" y="347103"/>
                </a:lnTo>
                <a:lnTo>
                  <a:pt x="1064006" y="374904"/>
                </a:lnTo>
                <a:lnTo>
                  <a:pt x="1095121" y="329819"/>
                </a:lnTo>
                <a:lnTo>
                  <a:pt x="1112393" y="304800"/>
                </a:lnTo>
                <a:lnTo>
                  <a:pt x="1027303" y="308102"/>
                </a:lnTo>
                <a:lnTo>
                  <a:pt x="1042593" y="335940"/>
                </a:lnTo>
                <a:lnTo>
                  <a:pt x="60667" y="876007"/>
                </a:lnTo>
                <a:lnTo>
                  <a:pt x="1057668" y="53403"/>
                </a:lnTo>
                <a:lnTo>
                  <a:pt x="1077849" y="77851"/>
                </a:lnTo>
                <a:lnTo>
                  <a:pt x="1096606" y="35560"/>
                </a:lnTo>
                <a:lnTo>
                  <a:pt x="1112393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>
              <a:latin typeface="+mj-lt"/>
            </a:endParaRPr>
          </a:p>
        </p:txBody>
      </p:sp>
      <p:sp>
        <p:nvSpPr>
          <p:cNvPr id="9" name="object 9"/>
          <p:cNvSpPr/>
          <p:nvPr/>
        </p:nvSpPr>
        <p:spPr>
          <a:xfrm>
            <a:off x="6323711" y="4691633"/>
            <a:ext cx="1109345" cy="288925"/>
          </a:xfrm>
          <a:custGeom>
            <a:avLst/>
            <a:gdLst/>
            <a:ahLst/>
            <a:cxnLst/>
            <a:rect l="l" t="t" r="r" b="b"/>
            <a:pathLst>
              <a:path w="1109345" h="288925">
                <a:moveTo>
                  <a:pt x="1109218" y="32766"/>
                </a:moveTo>
                <a:lnTo>
                  <a:pt x="1104341" y="30734"/>
                </a:lnTo>
                <a:lnTo>
                  <a:pt x="1030605" y="0"/>
                </a:lnTo>
                <a:lnTo>
                  <a:pt x="1032700" y="30734"/>
                </a:lnTo>
                <a:lnTo>
                  <a:pt x="1032764" y="31610"/>
                </a:lnTo>
                <a:lnTo>
                  <a:pt x="508" y="102616"/>
                </a:lnTo>
                <a:lnTo>
                  <a:pt x="889" y="108966"/>
                </a:lnTo>
                <a:lnTo>
                  <a:pt x="0" y="115316"/>
                </a:lnTo>
                <a:lnTo>
                  <a:pt x="1032903" y="257238"/>
                </a:lnTo>
                <a:lnTo>
                  <a:pt x="1028573" y="288671"/>
                </a:lnTo>
                <a:lnTo>
                  <a:pt x="1109218" y="261366"/>
                </a:lnTo>
                <a:lnTo>
                  <a:pt x="1105687" y="258953"/>
                </a:lnTo>
                <a:lnTo>
                  <a:pt x="1038987" y="213233"/>
                </a:lnTo>
                <a:lnTo>
                  <a:pt x="1034643" y="244652"/>
                </a:lnTo>
                <a:lnTo>
                  <a:pt x="63169" y="111061"/>
                </a:lnTo>
                <a:lnTo>
                  <a:pt x="1033640" y="44310"/>
                </a:lnTo>
                <a:lnTo>
                  <a:pt x="1035812" y="75946"/>
                </a:lnTo>
                <a:lnTo>
                  <a:pt x="1109218" y="32766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>
              <a:latin typeface="+mj-lt"/>
            </a:endParaRPr>
          </a:p>
        </p:txBody>
      </p:sp>
      <p:sp>
        <p:nvSpPr>
          <p:cNvPr id="10" name="object 10"/>
          <p:cNvSpPr/>
          <p:nvPr/>
        </p:nvSpPr>
        <p:spPr>
          <a:xfrm>
            <a:off x="6431788" y="5099430"/>
            <a:ext cx="1001394" cy="692150"/>
          </a:xfrm>
          <a:custGeom>
            <a:avLst/>
            <a:gdLst/>
            <a:ahLst/>
            <a:cxnLst/>
            <a:rect l="l" t="t" r="r" b="b"/>
            <a:pathLst>
              <a:path w="1001395" h="692150">
                <a:moveTo>
                  <a:pt x="1001141" y="386969"/>
                </a:moveTo>
                <a:lnTo>
                  <a:pt x="985761" y="370205"/>
                </a:lnTo>
                <a:lnTo>
                  <a:pt x="943610" y="324231"/>
                </a:lnTo>
                <a:lnTo>
                  <a:pt x="932281" y="353872"/>
                </a:lnTo>
                <a:lnTo>
                  <a:pt x="5969" y="0"/>
                </a:lnTo>
                <a:lnTo>
                  <a:pt x="3759" y="5765"/>
                </a:lnTo>
                <a:lnTo>
                  <a:pt x="0" y="11176"/>
                </a:lnTo>
                <a:lnTo>
                  <a:pt x="934796" y="653834"/>
                </a:lnTo>
                <a:lnTo>
                  <a:pt x="916813" y="679996"/>
                </a:lnTo>
                <a:lnTo>
                  <a:pt x="1001141" y="691769"/>
                </a:lnTo>
                <a:lnTo>
                  <a:pt x="984161" y="661022"/>
                </a:lnTo>
                <a:lnTo>
                  <a:pt x="959993" y="617207"/>
                </a:lnTo>
                <a:lnTo>
                  <a:pt x="942009" y="643356"/>
                </a:lnTo>
                <a:lnTo>
                  <a:pt x="51117" y="30937"/>
                </a:lnTo>
                <a:lnTo>
                  <a:pt x="927760" y="365709"/>
                </a:lnTo>
                <a:lnTo>
                  <a:pt x="916432" y="395351"/>
                </a:lnTo>
                <a:lnTo>
                  <a:pt x="1001141" y="386969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>
              <a:latin typeface="+mj-lt"/>
            </a:endParaRPr>
          </a:p>
        </p:txBody>
      </p:sp>
      <p:sp>
        <p:nvSpPr>
          <p:cNvPr id="12" name="object 12"/>
          <p:cNvSpPr/>
          <p:nvPr/>
        </p:nvSpPr>
        <p:spPr>
          <a:xfrm>
            <a:off x="4953000" y="3733800"/>
            <a:ext cx="297180" cy="685800"/>
          </a:xfrm>
          <a:custGeom>
            <a:avLst/>
            <a:gdLst/>
            <a:ahLst/>
            <a:cxnLst/>
            <a:rect l="l" t="t" r="r" b="b"/>
            <a:pathLst>
              <a:path w="297179" h="685800">
                <a:moveTo>
                  <a:pt x="296925" y="685800"/>
                </a:moveTo>
                <a:lnTo>
                  <a:pt x="239117" y="681317"/>
                </a:lnTo>
                <a:lnTo>
                  <a:pt x="191928" y="669083"/>
                </a:lnTo>
                <a:lnTo>
                  <a:pt x="160123" y="650920"/>
                </a:lnTo>
                <a:lnTo>
                  <a:pt x="148462" y="628650"/>
                </a:lnTo>
                <a:lnTo>
                  <a:pt x="148462" y="400050"/>
                </a:lnTo>
                <a:lnTo>
                  <a:pt x="136784" y="377779"/>
                </a:lnTo>
                <a:lnTo>
                  <a:pt x="104949" y="359616"/>
                </a:lnTo>
                <a:lnTo>
                  <a:pt x="57755" y="347382"/>
                </a:lnTo>
                <a:lnTo>
                  <a:pt x="0" y="342900"/>
                </a:lnTo>
                <a:lnTo>
                  <a:pt x="57755" y="338417"/>
                </a:lnTo>
                <a:lnTo>
                  <a:pt x="104949" y="326183"/>
                </a:lnTo>
                <a:lnTo>
                  <a:pt x="136784" y="308020"/>
                </a:lnTo>
                <a:lnTo>
                  <a:pt x="148462" y="285750"/>
                </a:lnTo>
                <a:lnTo>
                  <a:pt x="148462" y="57150"/>
                </a:lnTo>
                <a:lnTo>
                  <a:pt x="160123" y="34879"/>
                </a:lnTo>
                <a:lnTo>
                  <a:pt x="191928" y="16716"/>
                </a:lnTo>
                <a:lnTo>
                  <a:pt x="239117" y="4482"/>
                </a:lnTo>
                <a:lnTo>
                  <a:pt x="296925" y="0"/>
                </a:lnTo>
              </a:path>
            </a:pathLst>
          </a:custGeom>
          <a:ln w="9525">
            <a:solidFill>
              <a:srgbClr val="FFFFFF"/>
            </a:solidFill>
          </a:ln>
        </p:spPr>
        <p:txBody>
          <a:bodyPr wrap="square" lIns="0" tIns="0" rIns="0" bIns="0" rtlCol="0"/>
          <a:lstStyle/>
          <a:p>
            <a:endParaRPr>
              <a:latin typeface="+mj-lt"/>
            </a:endParaRPr>
          </a:p>
        </p:txBody>
      </p:sp>
      <p:sp>
        <p:nvSpPr>
          <p:cNvPr id="13" name="object 13"/>
          <p:cNvSpPr/>
          <p:nvPr/>
        </p:nvSpPr>
        <p:spPr>
          <a:xfrm>
            <a:off x="4953000" y="1676400"/>
            <a:ext cx="297180" cy="1981200"/>
          </a:xfrm>
          <a:custGeom>
            <a:avLst/>
            <a:gdLst/>
            <a:ahLst/>
            <a:cxnLst/>
            <a:rect l="l" t="t" r="r" b="b"/>
            <a:pathLst>
              <a:path w="297179" h="1981200">
                <a:moveTo>
                  <a:pt x="296925" y="1981200"/>
                </a:moveTo>
                <a:lnTo>
                  <a:pt x="249981" y="1972783"/>
                </a:lnTo>
                <a:lnTo>
                  <a:pt x="209224" y="1949346"/>
                </a:lnTo>
                <a:lnTo>
                  <a:pt x="177093" y="1913607"/>
                </a:lnTo>
                <a:lnTo>
                  <a:pt x="156027" y="1868285"/>
                </a:lnTo>
                <a:lnTo>
                  <a:pt x="148462" y="1816100"/>
                </a:lnTo>
                <a:lnTo>
                  <a:pt x="148462" y="1155700"/>
                </a:lnTo>
                <a:lnTo>
                  <a:pt x="140886" y="1103514"/>
                </a:lnTo>
                <a:lnTo>
                  <a:pt x="119795" y="1058192"/>
                </a:lnTo>
                <a:lnTo>
                  <a:pt x="87646" y="1022453"/>
                </a:lnTo>
                <a:lnTo>
                  <a:pt x="46895" y="999016"/>
                </a:lnTo>
                <a:lnTo>
                  <a:pt x="0" y="990600"/>
                </a:lnTo>
                <a:lnTo>
                  <a:pt x="46895" y="982183"/>
                </a:lnTo>
                <a:lnTo>
                  <a:pt x="87646" y="958746"/>
                </a:lnTo>
                <a:lnTo>
                  <a:pt x="119795" y="923007"/>
                </a:lnTo>
                <a:lnTo>
                  <a:pt x="140886" y="877685"/>
                </a:lnTo>
                <a:lnTo>
                  <a:pt x="148462" y="825500"/>
                </a:lnTo>
                <a:lnTo>
                  <a:pt x="148462" y="165100"/>
                </a:lnTo>
                <a:lnTo>
                  <a:pt x="156027" y="112914"/>
                </a:lnTo>
                <a:lnTo>
                  <a:pt x="177093" y="67592"/>
                </a:lnTo>
                <a:lnTo>
                  <a:pt x="209224" y="31853"/>
                </a:lnTo>
                <a:lnTo>
                  <a:pt x="249981" y="8416"/>
                </a:lnTo>
                <a:lnTo>
                  <a:pt x="296925" y="0"/>
                </a:lnTo>
              </a:path>
            </a:pathLst>
          </a:custGeom>
          <a:ln w="9525">
            <a:solidFill>
              <a:srgbClr val="FFFFFF"/>
            </a:solidFill>
          </a:ln>
        </p:spPr>
        <p:txBody>
          <a:bodyPr wrap="square" lIns="0" tIns="0" rIns="0" bIns="0" rtlCol="0"/>
          <a:lstStyle/>
          <a:p>
            <a:endParaRPr>
              <a:latin typeface="+mj-lt"/>
            </a:endParaRPr>
          </a:p>
        </p:txBody>
      </p:sp>
      <p:sp>
        <p:nvSpPr>
          <p:cNvPr id="14" name="object 14"/>
          <p:cNvSpPr/>
          <p:nvPr/>
        </p:nvSpPr>
        <p:spPr>
          <a:xfrm>
            <a:off x="4953000" y="4495800"/>
            <a:ext cx="297180" cy="762000"/>
          </a:xfrm>
          <a:custGeom>
            <a:avLst/>
            <a:gdLst/>
            <a:ahLst/>
            <a:cxnLst/>
            <a:rect l="l" t="t" r="r" b="b"/>
            <a:pathLst>
              <a:path w="297179" h="762000">
                <a:moveTo>
                  <a:pt x="296925" y="762000"/>
                </a:moveTo>
                <a:lnTo>
                  <a:pt x="239117" y="757007"/>
                </a:lnTo>
                <a:lnTo>
                  <a:pt x="191928" y="743394"/>
                </a:lnTo>
                <a:lnTo>
                  <a:pt x="160123" y="723209"/>
                </a:lnTo>
                <a:lnTo>
                  <a:pt x="148462" y="698500"/>
                </a:lnTo>
                <a:lnTo>
                  <a:pt x="148462" y="444500"/>
                </a:lnTo>
                <a:lnTo>
                  <a:pt x="136784" y="419790"/>
                </a:lnTo>
                <a:lnTo>
                  <a:pt x="104949" y="399605"/>
                </a:lnTo>
                <a:lnTo>
                  <a:pt x="57755" y="385992"/>
                </a:lnTo>
                <a:lnTo>
                  <a:pt x="0" y="381000"/>
                </a:lnTo>
                <a:lnTo>
                  <a:pt x="57755" y="376007"/>
                </a:lnTo>
                <a:lnTo>
                  <a:pt x="104949" y="362394"/>
                </a:lnTo>
                <a:lnTo>
                  <a:pt x="136784" y="342209"/>
                </a:lnTo>
                <a:lnTo>
                  <a:pt x="148462" y="317500"/>
                </a:lnTo>
                <a:lnTo>
                  <a:pt x="148462" y="63500"/>
                </a:lnTo>
                <a:lnTo>
                  <a:pt x="160123" y="38790"/>
                </a:lnTo>
                <a:lnTo>
                  <a:pt x="191928" y="18605"/>
                </a:lnTo>
                <a:lnTo>
                  <a:pt x="239117" y="4992"/>
                </a:lnTo>
                <a:lnTo>
                  <a:pt x="296925" y="0"/>
                </a:lnTo>
              </a:path>
            </a:pathLst>
          </a:custGeom>
          <a:ln w="9525">
            <a:solidFill>
              <a:srgbClr val="FFFFFF"/>
            </a:solidFill>
          </a:ln>
        </p:spPr>
        <p:txBody>
          <a:bodyPr wrap="square" lIns="0" tIns="0" rIns="0" bIns="0" rtlCol="0"/>
          <a:lstStyle/>
          <a:p>
            <a:endParaRPr>
              <a:latin typeface="+mj-lt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3998214" y="2382138"/>
            <a:ext cx="994410" cy="63817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635" algn="ctr">
              <a:lnSpc>
                <a:spcPct val="100000"/>
              </a:lnSpc>
              <a:spcBef>
                <a:spcPts val="95"/>
              </a:spcBef>
            </a:pPr>
            <a:r>
              <a:rPr sz="1600" spc="-10" dirty="0">
                <a:latin typeface="+mj-lt"/>
                <a:cs typeface="Palatino Linotype"/>
              </a:rPr>
              <a:t>Paleozoic</a:t>
            </a:r>
            <a:endParaRPr sz="1600" dirty="0">
              <a:latin typeface="+mj-lt"/>
              <a:cs typeface="Palatino Linotype"/>
            </a:endParaRPr>
          </a:p>
          <a:p>
            <a:pPr marL="635" algn="ctr">
              <a:lnSpc>
                <a:spcPct val="100000"/>
              </a:lnSpc>
              <a:spcBef>
                <a:spcPts val="30"/>
              </a:spcBef>
            </a:pPr>
            <a:r>
              <a:rPr sz="1200" dirty="0">
                <a:latin typeface="+mj-lt"/>
                <a:cs typeface="Palatino Linotype"/>
              </a:rPr>
              <a:t>“Age</a:t>
            </a:r>
            <a:r>
              <a:rPr sz="1200" spc="-30" dirty="0">
                <a:latin typeface="+mj-lt"/>
                <a:cs typeface="Palatino Linotype"/>
              </a:rPr>
              <a:t> </a:t>
            </a:r>
            <a:r>
              <a:rPr sz="1200" spc="-25" dirty="0">
                <a:latin typeface="+mj-lt"/>
                <a:cs typeface="Palatino Linotype"/>
              </a:rPr>
              <a:t>of</a:t>
            </a:r>
            <a:endParaRPr sz="1200" dirty="0">
              <a:latin typeface="+mj-lt"/>
              <a:cs typeface="Palatino Linotype"/>
            </a:endParaRPr>
          </a:p>
          <a:p>
            <a:pPr algn="ctr">
              <a:lnSpc>
                <a:spcPct val="100000"/>
              </a:lnSpc>
            </a:pPr>
            <a:r>
              <a:rPr sz="1200" spc="-10" dirty="0">
                <a:latin typeface="+mj-lt"/>
                <a:cs typeface="Palatino Linotype"/>
              </a:rPr>
              <a:t>Invertebrates”</a:t>
            </a:r>
            <a:endParaRPr sz="1200" dirty="0">
              <a:latin typeface="+mj-lt"/>
              <a:cs typeface="Palatino Linotype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3740658" y="3827145"/>
            <a:ext cx="1206500" cy="4889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1800" spc="-10" dirty="0">
                <a:latin typeface="+mj-lt"/>
                <a:cs typeface="Palatino Linotype"/>
              </a:rPr>
              <a:t>Mesozoic</a:t>
            </a:r>
            <a:endParaRPr sz="1800">
              <a:latin typeface="+mj-lt"/>
              <a:cs typeface="Palatino Linotype"/>
            </a:endParaRPr>
          </a:p>
          <a:p>
            <a:pPr algn="ctr">
              <a:lnSpc>
                <a:spcPct val="100000"/>
              </a:lnSpc>
              <a:spcBef>
                <a:spcPts val="45"/>
              </a:spcBef>
            </a:pPr>
            <a:r>
              <a:rPr sz="1200" dirty="0">
                <a:latin typeface="+mj-lt"/>
                <a:cs typeface="Palatino Linotype"/>
              </a:rPr>
              <a:t>“Age</a:t>
            </a:r>
            <a:r>
              <a:rPr sz="1200" spc="-25" dirty="0">
                <a:latin typeface="+mj-lt"/>
                <a:cs typeface="Palatino Linotype"/>
              </a:rPr>
              <a:t> </a:t>
            </a:r>
            <a:r>
              <a:rPr sz="1200" dirty="0">
                <a:latin typeface="+mj-lt"/>
                <a:cs typeface="Palatino Linotype"/>
              </a:rPr>
              <a:t>of</a:t>
            </a:r>
            <a:r>
              <a:rPr sz="1200" spc="-5" dirty="0">
                <a:latin typeface="+mj-lt"/>
                <a:cs typeface="Palatino Linotype"/>
              </a:rPr>
              <a:t> </a:t>
            </a:r>
            <a:r>
              <a:rPr sz="1200" spc="-10" dirty="0">
                <a:latin typeface="+mj-lt"/>
                <a:cs typeface="Palatino Linotype"/>
              </a:rPr>
              <a:t>Reptiles”</a:t>
            </a:r>
            <a:endParaRPr sz="1200">
              <a:latin typeface="+mj-lt"/>
              <a:cs typeface="Palatino Linotype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3938778" y="4668773"/>
            <a:ext cx="963294" cy="6686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1800" spc="-10" dirty="0">
                <a:latin typeface="+mj-lt"/>
                <a:cs typeface="Palatino Linotype"/>
              </a:rPr>
              <a:t>Cenozoic</a:t>
            </a:r>
            <a:endParaRPr sz="1800">
              <a:latin typeface="+mj-lt"/>
              <a:cs typeface="Palatino Linotype"/>
            </a:endParaRPr>
          </a:p>
          <a:p>
            <a:pPr marL="105410" marR="99060" indent="-635" algn="ctr">
              <a:lnSpc>
                <a:spcPct val="100000"/>
              </a:lnSpc>
              <a:spcBef>
                <a:spcPts val="25"/>
              </a:spcBef>
            </a:pPr>
            <a:r>
              <a:rPr sz="1200" dirty="0">
                <a:latin typeface="+mj-lt"/>
                <a:cs typeface="Palatino Linotype"/>
              </a:rPr>
              <a:t>“Age</a:t>
            </a:r>
            <a:r>
              <a:rPr sz="1200" spc="-40" dirty="0">
                <a:latin typeface="+mj-lt"/>
                <a:cs typeface="Palatino Linotype"/>
              </a:rPr>
              <a:t> </a:t>
            </a:r>
            <a:r>
              <a:rPr sz="1200" spc="-25" dirty="0">
                <a:latin typeface="+mj-lt"/>
                <a:cs typeface="Palatino Linotype"/>
              </a:rPr>
              <a:t>of </a:t>
            </a:r>
            <a:r>
              <a:rPr sz="1200" spc="-10" dirty="0">
                <a:latin typeface="+mj-lt"/>
                <a:cs typeface="Palatino Linotype"/>
              </a:rPr>
              <a:t>Mammals”</a:t>
            </a:r>
            <a:endParaRPr sz="1200">
              <a:latin typeface="+mj-lt"/>
              <a:cs typeface="Palatino Linotype"/>
            </a:endParaRPr>
          </a:p>
        </p:txBody>
      </p:sp>
      <p:grpSp>
        <p:nvGrpSpPr>
          <p:cNvPr id="18" name="object 18"/>
          <p:cNvGrpSpPr/>
          <p:nvPr/>
        </p:nvGrpSpPr>
        <p:grpSpPr>
          <a:xfrm>
            <a:off x="912253" y="964120"/>
            <a:ext cx="1114425" cy="576580"/>
            <a:chOff x="912253" y="964120"/>
            <a:chExt cx="1114425" cy="576580"/>
          </a:xfrm>
        </p:grpSpPr>
        <p:sp>
          <p:nvSpPr>
            <p:cNvPr id="19" name="object 19"/>
            <p:cNvSpPr/>
            <p:nvPr/>
          </p:nvSpPr>
          <p:spPr>
            <a:xfrm>
              <a:off x="917016" y="968883"/>
              <a:ext cx="1104900" cy="567055"/>
            </a:xfrm>
            <a:custGeom>
              <a:avLst/>
              <a:gdLst/>
              <a:ahLst/>
              <a:cxnLst/>
              <a:rect l="l" t="t" r="r" b="b"/>
              <a:pathLst>
                <a:path w="1104900" h="567055">
                  <a:moveTo>
                    <a:pt x="66370" y="0"/>
                  </a:moveTo>
                  <a:lnTo>
                    <a:pt x="0" y="178562"/>
                  </a:lnTo>
                  <a:lnTo>
                    <a:pt x="803579" y="477265"/>
                  </a:lnTo>
                  <a:lnTo>
                    <a:pt x="770305" y="566546"/>
                  </a:lnTo>
                  <a:lnTo>
                    <a:pt x="1104569" y="487552"/>
                  </a:lnTo>
                  <a:lnTo>
                    <a:pt x="903147" y="209422"/>
                  </a:lnTo>
                  <a:lnTo>
                    <a:pt x="869873" y="298703"/>
                  </a:lnTo>
                  <a:lnTo>
                    <a:pt x="66370" y="0"/>
                  </a:lnTo>
                  <a:close/>
                </a:path>
              </a:pathLst>
            </a:custGeom>
            <a:solidFill>
              <a:srgbClr val="993300"/>
            </a:solidFill>
          </p:spPr>
          <p:txBody>
            <a:bodyPr wrap="square" lIns="0" tIns="0" rIns="0" bIns="0" rtlCol="0"/>
            <a:lstStyle/>
            <a:p>
              <a:endParaRPr>
                <a:latin typeface="+mj-lt"/>
              </a:endParaRPr>
            </a:p>
          </p:txBody>
        </p:sp>
        <p:sp>
          <p:nvSpPr>
            <p:cNvPr id="20" name="object 20"/>
            <p:cNvSpPr/>
            <p:nvPr/>
          </p:nvSpPr>
          <p:spPr>
            <a:xfrm>
              <a:off x="917016" y="968883"/>
              <a:ext cx="1104900" cy="567055"/>
            </a:xfrm>
            <a:custGeom>
              <a:avLst/>
              <a:gdLst/>
              <a:ahLst/>
              <a:cxnLst/>
              <a:rect l="l" t="t" r="r" b="b"/>
              <a:pathLst>
                <a:path w="1104900" h="567055">
                  <a:moveTo>
                    <a:pt x="66370" y="0"/>
                  </a:moveTo>
                  <a:lnTo>
                    <a:pt x="869873" y="298703"/>
                  </a:lnTo>
                  <a:lnTo>
                    <a:pt x="903147" y="209422"/>
                  </a:lnTo>
                  <a:lnTo>
                    <a:pt x="1104569" y="487552"/>
                  </a:lnTo>
                  <a:lnTo>
                    <a:pt x="770305" y="566546"/>
                  </a:lnTo>
                  <a:lnTo>
                    <a:pt x="803579" y="477265"/>
                  </a:lnTo>
                  <a:lnTo>
                    <a:pt x="0" y="178562"/>
                  </a:lnTo>
                  <a:lnTo>
                    <a:pt x="66370" y="0"/>
                  </a:lnTo>
                  <a:close/>
                </a:path>
              </a:pathLst>
            </a:custGeom>
            <a:ln w="9525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>
                <a:latin typeface="+mj-lt"/>
              </a:endParaRPr>
            </a:p>
          </p:txBody>
        </p:sp>
      </p:grpSp>
      <p:grpSp>
        <p:nvGrpSpPr>
          <p:cNvPr id="21" name="object 21"/>
          <p:cNvGrpSpPr/>
          <p:nvPr/>
        </p:nvGrpSpPr>
        <p:grpSpPr>
          <a:xfrm>
            <a:off x="3579304" y="1573720"/>
            <a:ext cx="1114425" cy="576580"/>
            <a:chOff x="3579304" y="1573720"/>
            <a:chExt cx="1114425" cy="576580"/>
          </a:xfrm>
        </p:grpSpPr>
        <p:sp>
          <p:nvSpPr>
            <p:cNvPr id="22" name="object 22"/>
            <p:cNvSpPr/>
            <p:nvPr/>
          </p:nvSpPr>
          <p:spPr>
            <a:xfrm>
              <a:off x="3584066" y="1578483"/>
              <a:ext cx="1104900" cy="567055"/>
            </a:xfrm>
            <a:custGeom>
              <a:avLst/>
              <a:gdLst/>
              <a:ahLst/>
              <a:cxnLst/>
              <a:rect l="l" t="t" r="r" b="b"/>
              <a:pathLst>
                <a:path w="1104900" h="567055">
                  <a:moveTo>
                    <a:pt x="66294" y="0"/>
                  </a:moveTo>
                  <a:lnTo>
                    <a:pt x="0" y="178562"/>
                  </a:lnTo>
                  <a:lnTo>
                    <a:pt x="803529" y="477265"/>
                  </a:lnTo>
                  <a:lnTo>
                    <a:pt x="770255" y="566546"/>
                  </a:lnTo>
                  <a:lnTo>
                    <a:pt x="1104519" y="487552"/>
                  </a:lnTo>
                  <a:lnTo>
                    <a:pt x="903097" y="209422"/>
                  </a:lnTo>
                  <a:lnTo>
                    <a:pt x="869823" y="298703"/>
                  </a:lnTo>
                  <a:lnTo>
                    <a:pt x="66294" y="0"/>
                  </a:lnTo>
                  <a:close/>
                </a:path>
              </a:pathLst>
            </a:custGeom>
            <a:solidFill>
              <a:srgbClr val="800000"/>
            </a:solidFill>
          </p:spPr>
          <p:txBody>
            <a:bodyPr wrap="square" lIns="0" tIns="0" rIns="0" bIns="0" rtlCol="0"/>
            <a:lstStyle/>
            <a:p>
              <a:endParaRPr>
                <a:latin typeface="+mj-lt"/>
              </a:endParaRPr>
            </a:p>
          </p:txBody>
        </p:sp>
        <p:sp>
          <p:nvSpPr>
            <p:cNvPr id="23" name="object 23"/>
            <p:cNvSpPr/>
            <p:nvPr/>
          </p:nvSpPr>
          <p:spPr>
            <a:xfrm>
              <a:off x="3584066" y="1578483"/>
              <a:ext cx="1104900" cy="567055"/>
            </a:xfrm>
            <a:custGeom>
              <a:avLst/>
              <a:gdLst/>
              <a:ahLst/>
              <a:cxnLst/>
              <a:rect l="l" t="t" r="r" b="b"/>
              <a:pathLst>
                <a:path w="1104900" h="567055">
                  <a:moveTo>
                    <a:pt x="66294" y="0"/>
                  </a:moveTo>
                  <a:lnTo>
                    <a:pt x="869823" y="298703"/>
                  </a:lnTo>
                  <a:lnTo>
                    <a:pt x="903097" y="209422"/>
                  </a:lnTo>
                  <a:lnTo>
                    <a:pt x="1104519" y="487552"/>
                  </a:lnTo>
                  <a:lnTo>
                    <a:pt x="770255" y="566546"/>
                  </a:lnTo>
                  <a:lnTo>
                    <a:pt x="803529" y="477265"/>
                  </a:lnTo>
                  <a:lnTo>
                    <a:pt x="0" y="178562"/>
                  </a:lnTo>
                  <a:lnTo>
                    <a:pt x="66294" y="0"/>
                  </a:lnTo>
                  <a:close/>
                </a:path>
              </a:pathLst>
            </a:custGeom>
            <a:ln w="9525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>
                <a:latin typeface="+mj-lt"/>
              </a:endParaRPr>
            </a:p>
          </p:txBody>
        </p:sp>
      </p:grpSp>
      <p:grpSp>
        <p:nvGrpSpPr>
          <p:cNvPr id="24" name="object 24"/>
          <p:cNvGrpSpPr/>
          <p:nvPr/>
        </p:nvGrpSpPr>
        <p:grpSpPr>
          <a:xfrm>
            <a:off x="6474904" y="2488120"/>
            <a:ext cx="1114425" cy="576580"/>
            <a:chOff x="6474904" y="2488120"/>
            <a:chExt cx="1114425" cy="576580"/>
          </a:xfrm>
        </p:grpSpPr>
        <p:sp>
          <p:nvSpPr>
            <p:cNvPr id="25" name="object 25"/>
            <p:cNvSpPr/>
            <p:nvPr/>
          </p:nvSpPr>
          <p:spPr>
            <a:xfrm>
              <a:off x="6479666" y="2492882"/>
              <a:ext cx="1104900" cy="567055"/>
            </a:xfrm>
            <a:custGeom>
              <a:avLst/>
              <a:gdLst/>
              <a:ahLst/>
              <a:cxnLst/>
              <a:rect l="l" t="t" r="r" b="b"/>
              <a:pathLst>
                <a:path w="1104900" h="567055">
                  <a:moveTo>
                    <a:pt x="66293" y="0"/>
                  </a:moveTo>
                  <a:lnTo>
                    <a:pt x="0" y="178562"/>
                  </a:lnTo>
                  <a:lnTo>
                    <a:pt x="803529" y="477265"/>
                  </a:lnTo>
                  <a:lnTo>
                    <a:pt x="770255" y="566546"/>
                  </a:lnTo>
                  <a:lnTo>
                    <a:pt x="1104518" y="487552"/>
                  </a:lnTo>
                  <a:lnTo>
                    <a:pt x="903097" y="209422"/>
                  </a:lnTo>
                  <a:lnTo>
                    <a:pt x="869823" y="298703"/>
                  </a:lnTo>
                  <a:lnTo>
                    <a:pt x="66293" y="0"/>
                  </a:lnTo>
                  <a:close/>
                </a:path>
              </a:pathLst>
            </a:custGeom>
            <a:solidFill>
              <a:srgbClr val="800000"/>
            </a:solidFill>
          </p:spPr>
          <p:txBody>
            <a:bodyPr wrap="square" lIns="0" tIns="0" rIns="0" bIns="0" rtlCol="0"/>
            <a:lstStyle/>
            <a:p>
              <a:endParaRPr>
                <a:latin typeface="+mj-lt"/>
              </a:endParaRPr>
            </a:p>
          </p:txBody>
        </p:sp>
        <p:sp>
          <p:nvSpPr>
            <p:cNvPr id="26" name="object 26"/>
            <p:cNvSpPr/>
            <p:nvPr/>
          </p:nvSpPr>
          <p:spPr>
            <a:xfrm>
              <a:off x="6479666" y="2492882"/>
              <a:ext cx="1104900" cy="567055"/>
            </a:xfrm>
            <a:custGeom>
              <a:avLst/>
              <a:gdLst/>
              <a:ahLst/>
              <a:cxnLst/>
              <a:rect l="l" t="t" r="r" b="b"/>
              <a:pathLst>
                <a:path w="1104900" h="567055">
                  <a:moveTo>
                    <a:pt x="66293" y="0"/>
                  </a:moveTo>
                  <a:lnTo>
                    <a:pt x="869823" y="298703"/>
                  </a:lnTo>
                  <a:lnTo>
                    <a:pt x="903097" y="209422"/>
                  </a:lnTo>
                  <a:lnTo>
                    <a:pt x="1104518" y="487552"/>
                  </a:lnTo>
                  <a:lnTo>
                    <a:pt x="770255" y="566546"/>
                  </a:lnTo>
                  <a:lnTo>
                    <a:pt x="803529" y="477265"/>
                  </a:lnTo>
                  <a:lnTo>
                    <a:pt x="0" y="178562"/>
                  </a:lnTo>
                  <a:lnTo>
                    <a:pt x="66293" y="0"/>
                  </a:lnTo>
                  <a:close/>
                </a:path>
              </a:pathLst>
            </a:custGeom>
            <a:ln w="9525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>
                <a:latin typeface="+mj-lt"/>
              </a:endParaRPr>
            </a:p>
          </p:txBody>
        </p:sp>
      </p:grpSp>
      <p:sp>
        <p:nvSpPr>
          <p:cNvPr id="28" name="object 28"/>
          <p:cNvSpPr/>
          <p:nvPr/>
        </p:nvSpPr>
        <p:spPr>
          <a:xfrm>
            <a:off x="7254240" y="6684264"/>
            <a:ext cx="1187450" cy="9525"/>
          </a:xfrm>
          <a:custGeom>
            <a:avLst/>
            <a:gdLst/>
            <a:ahLst/>
            <a:cxnLst/>
            <a:rect l="l" t="t" r="r" b="b"/>
            <a:pathLst>
              <a:path w="1187450" h="9525">
                <a:moveTo>
                  <a:pt x="1187195" y="0"/>
                </a:moveTo>
                <a:lnTo>
                  <a:pt x="0" y="0"/>
                </a:lnTo>
                <a:lnTo>
                  <a:pt x="0" y="9143"/>
                </a:lnTo>
                <a:lnTo>
                  <a:pt x="1187195" y="9143"/>
                </a:lnTo>
                <a:lnTo>
                  <a:pt x="1187195" y="0"/>
                </a:lnTo>
                <a:close/>
              </a:path>
            </a:pathLst>
          </a:custGeom>
          <a:solidFill>
            <a:srgbClr val="57C1B9"/>
          </a:solidFill>
        </p:spPr>
        <p:txBody>
          <a:bodyPr wrap="square" lIns="0" tIns="0" rIns="0" bIns="0" rtlCol="0"/>
          <a:lstStyle/>
          <a:p>
            <a:endParaRPr>
              <a:latin typeface="+mj-lt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457200" y="501172"/>
            <a:ext cx="8229600" cy="68993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b="0" u="none" spc="-365" dirty="0">
                <a:solidFill>
                  <a:schemeClr val="tx1"/>
                </a:solidFill>
                <a:latin typeface="Verdana"/>
                <a:cs typeface="Verdana"/>
              </a:rPr>
              <a:t>ERAS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07340" y="1625854"/>
            <a:ext cx="3100070" cy="33083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  <a:tabLst>
                <a:tab pos="354965" algn="l"/>
              </a:tabLst>
            </a:pPr>
            <a:r>
              <a:rPr sz="1600" spc="75" dirty="0">
                <a:latin typeface="Lucida Sans Unicode"/>
                <a:cs typeface="Lucida Sans Unicode"/>
              </a:rPr>
              <a:t>▶</a:t>
            </a:r>
            <a:r>
              <a:rPr sz="1600" dirty="0">
                <a:latin typeface="Lucida Sans Unicode"/>
                <a:cs typeface="Lucida Sans Unicode"/>
              </a:rPr>
              <a:t>	</a:t>
            </a:r>
            <a:r>
              <a:rPr sz="2000" b="1" dirty="0">
                <a:latin typeface="Tahoma"/>
                <a:cs typeface="Tahoma"/>
              </a:rPr>
              <a:t>Paleozoic</a:t>
            </a:r>
            <a:r>
              <a:rPr sz="2000" b="1" spc="-90" dirty="0">
                <a:latin typeface="Tahoma"/>
                <a:cs typeface="Tahoma"/>
              </a:rPr>
              <a:t> </a:t>
            </a:r>
            <a:r>
              <a:rPr sz="2000" spc="-285" dirty="0">
                <a:latin typeface="Verdana"/>
                <a:cs typeface="Verdana"/>
              </a:rPr>
              <a:t>–</a:t>
            </a:r>
            <a:r>
              <a:rPr sz="2000" spc="-160" dirty="0">
                <a:latin typeface="Verdana"/>
                <a:cs typeface="Verdana"/>
              </a:rPr>
              <a:t> </a:t>
            </a:r>
            <a:r>
              <a:rPr sz="2000" spc="-35" dirty="0">
                <a:latin typeface="Verdana"/>
                <a:cs typeface="Verdana"/>
              </a:rPr>
              <a:t>“early</a:t>
            </a:r>
            <a:r>
              <a:rPr sz="2000" spc="-180" dirty="0">
                <a:latin typeface="Verdana"/>
                <a:cs typeface="Verdana"/>
              </a:rPr>
              <a:t> </a:t>
            </a:r>
            <a:r>
              <a:rPr sz="2000" spc="-20" dirty="0">
                <a:latin typeface="Verdana"/>
                <a:cs typeface="Verdana"/>
              </a:rPr>
              <a:t>life”</a:t>
            </a:r>
            <a:endParaRPr sz="2000">
              <a:latin typeface="Verdana"/>
              <a:cs typeface="Verdana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870143" y="1625854"/>
            <a:ext cx="1881505" cy="33083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000" spc="-170" dirty="0">
                <a:latin typeface="Verdana"/>
                <a:cs typeface="Verdana"/>
              </a:rPr>
              <a:t>544</a:t>
            </a:r>
            <a:r>
              <a:rPr sz="2000" spc="-155" dirty="0">
                <a:latin typeface="Verdana"/>
                <a:cs typeface="Verdana"/>
              </a:rPr>
              <a:t> </a:t>
            </a:r>
            <a:r>
              <a:rPr sz="2000" dirty="0">
                <a:latin typeface="Wingdings"/>
                <a:cs typeface="Wingdings"/>
              </a:rPr>
              <a:t></a:t>
            </a:r>
            <a:r>
              <a:rPr sz="2000" spc="65" dirty="0">
                <a:latin typeface="Times New Roman"/>
                <a:cs typeface="Times New Roman"/>
              </a:rPr>
              <a:t> </a:t>
            </a:r>
            <a:r>
              <a:rPr sz="2000" spc="-170" dirty="0">
                <a:latin typeface="Verdana"/>
                <a:cs typeface="Verdana"/>
              </a:rPr>
              <a:t>244</a:t>
            </a:r>
            <a:r>
              <a:rPr sz="2000" spc="-150" dirty="0">
                <a:latin typeface="Verdana"/>
                <a:cs typeface="Verdana"/>
              </a:rPr>
              <a:t> </a:t>
            </a:r>
            <a:r>
              <a:rPr sz="2000" spc="-25" dirty="0">
                <a:latin typeface="Verdana"/>
                <a:cs typeface="Verdana"/>
              </a:rPr>
              <a:t>mya</a:t>
            </a:r>
            <a:endParaRPr sz="2000">
              <a:latin typeface="Verdana"/>
              <a:cs typeface="Verdana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307340" y="2490343"/>
            <a:ext cx="3321050" cy="33083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  <a:tabLst>
                <a:tab pos="354965" algn="l"/>
              </a:tabLst>
            </a:pPr>
            <a:r>
              <a:rPr sz="1600" spc="75" dirty="0">
                <a:latin typeface="Lucida Sans Unicode"/>
                <a:cs typeface="Lucida Sans Unicode"/>
              </a:rPr>
              <a:t>▶</a:t>
            </a:r>
            <a:r>
              <a:rPr sz="1600" dirty="0">
                <a:latin typeface="Lucida Sans Unicode"/>
                <a:cs typeface="Lucida Sans Unicode"/>
              </a:rPr>
              <a:t>	</a:t>
            </a:r>
            <a:r>
              <a:rPr sz="2000" b="1" dirty="0">
                <a:latin typeface="Tahoma"/>
                <a:cs typeface="Tahoma"/>
              </a:rPr>
              <a:t>Mesozoic</a:t>
            </a:r>
            <a:r>
              <a:rPr sz="2000" b="1" spc="-85" dirty="0">
                <a:latin typeface="Tahoma"/>
                <a:cs typeface="Tahoma"/>
              </a:rPr>
              <a:t> </a:t>
            </a:r>
            <a:r>
              <a:rPr sz="2000" spc="-285" dirty="0">
                <a:latin typeface="Verdana"/>
                <a:cs typeface="Verdana"/>
              </a:rPr>
              <a:t>–</a:t>
            </a:r>
            <a:r>
              <a:rPr sz="2000" spc="-150" dirty="0">
                <a:latin typeface="Verdana"/>
                <a:cs typeface="Verdana"/>
              </a:rPr>
              <a:t> </a:t>
            </a:r>
            <a:r>
              <a:rPr sz="2000" dirty="0">
                <a:latin typeface="Verdana"/>
                <a:cs typeface="Verdana"/>
              </a:rPr>
              <a:t>“middle</a:t>
            </a:r>
            <a:r>
              <a:rPr sz="2000" spc="-170" dirty="0">
                <a:latin typeface="Verdana"/>
                <a:cs typeface="Verdana"/>
              </a:rPr>
              <a:t> </a:t>
            </a:r>
            <a:r>
              <a:rPr sz="2000" spc="-20" dirty="0">
                <a:latin typeface="Verdana"/>
                <a:cs typeface="Verdana"/>
              </a:rPr>
              <a:t>life”</a:t>
            </a:r>
            <a:endParaRPr sz="2000">
              <a:latin typeface="Verdana"/>
              <a:cs typeface="Verdana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3950582" y="2490343"/>
            <a:ext cx="1739900" cy="33083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000" spc="-175" dirty="0">
                <a:latin typeface="Verdana"/>
                <a:cs typeface="Verdana"/>
              </a:rPr>
              <a:t>245</a:t>
            </a:r>
            <a:r>
              <a:rPr sz="2000" spc="-135" dirty="0">
                <a:latin typeface="Verdana"/>
                <a:cs typeface="Verdana"/>
              </a:rPr>
              <a:t> </a:t>
            </a:r>
            <a:r>
              <a:rPr sz="2000" dirty="0">
                <a:latin typeface="Wingdings"/>
                <a:cs typeface="Wingdings"/>
              </a:rPr>
              <a:t></a:t>
            </a:r>
            <a:r>
              <a:rPr sz="2000" spc="60" dirty="0">
                <a:latin typeface="Times New Roman"/>
                <a:cs typeface="Times New Roman"/>
              </a:rPr>
              <a:t> </a:t>
            </a:r>
            <a:r>
              <a:rPr sz="2000" spc="-175" dirty="0">
                <a:latin typeface="Verdana"/>
                <a:cs typeface="Verdana"/>
              </a:rPr>
              <a:t>66</a:t>
            </a:r>
            <a:r>
              <a:rPr sz="2000" spc="-140" dirty="0">
                <a:latin typeface="Verdana"/>
                <a:cs typeface="Verdana"/>
              </a:rPr>
              <a:t> </a:t>
            </a:r>
            <a:r>
              <a:rPr sz="2000" spc="-25" dirty="0">
                <a:latin typeface="Verdana"/>
                <a:cs typeface="Verdana"/>
              </a:rPr>
              <a:t>mya</a:t>
            </a:r>
            <a:endParaRPr sz="2000">
              <a:latin typeface="Verdana"/>
              <a:cs typeface="Verdana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307340" y="3354400"/>
            <a:ext cx="5571490" cy="321242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  <a:tabLst>
                <a:tab pos="354965" algn="l"/>
                <a:tab pos="3416935" algn="l"/>
              </a:tabLst>
            </a:pPr>
            <a:r>
              <a:rPr sz="1600" spc="75" dirty="0">
                <a:latin typeface="Lucida Sans Unicode"/>
                <a:cs typeface="Lucida Sans Unicode"/>
              </a:rPr>
              <a:t>▶</a:t>
            </a:r>
            <a:r>
              <a:rPr sz="1600" dirty="0">
                <a:latin typeface="Lucida Sans Unicode"/>
                <a:cs typeface="Lucida Sans Unicode"/>
              </a:rPr>
              <a:t>	</a:t>
            </a:r>
            <a:r>
              <a:rPr sz="2000" b="1" dirty="0">
                <a:latin typeface="Tahoma"/>
                <a:cs typeface="Tahoma"/>
              </a:rPr>
              <a:t>Cenozoic</a:t>
            </a:r>
            <a:r>
              <a:rPr sz="2000" b="1" spc="55" dirty="0">
                <a:latin typeface="Tahoma"/>
                <a:cs typeface="Tahoma"/>
              </a:rPr>
              <a:t> </a:t>
            </a:r>
            <a:r>
              <a:rPr sz="2000" spc="-285" dirty="0">
                <a:latin typeface="Verdana"/>
                <a:cs typeface="Verdana"/>
              </a:rPr>
              <a:t>–</a:t>
            </a:r>
            <a:r>
              <a:rPr sz="2000" spc="-25" dirty="0">
                <a:latin typeface="Verdana"/>
                <a:cs typeface="Verdana"/>
              </a:rPr>
              <a:t> </a:t>
            </a:r>
            <a:r>
              <a:rPr sz="2000" dirty="0">
                <a:latin typeface="Verdana"/>
                <a:cs typeface="Verdana"/>
              </a:rPr>
              <a:t>“recent</a:t>
            </a:r>
            <a:r>
              <a:rPr sz="2000" spc="-60" dirty="0">
                <a:latin typeface="Verdana"/>
                <a:cs typeface="Verdana"/>
              </a:rPr>
              <a:t> </a:t>
            </a:r>
            <a:r>
              <a:rPr sz="2000" spc="-20" dirty="0">
                <a:latin typeface="Verdana"/>
                <a:cs typeface="Verdana"/>
              </a:rPr>
              <a:t>life”</a:t>
            </a:r>
            <a:r>
              <a:rPr sz="2000" dirty="0">
                <a:latin typeface="Verdana"/>
                <a:cs typeface="Verdana"/>
              </a:rPr>
              <a:t>	</a:t>
            </a:r>
            <a:r>
              <a:rPr sz="2000" spc="-80" dirty="0">
                <a:latin typeface="Verdana"/>
                <a:cs typeface="Verdana"/>
              </a:rPr>
              <a:t>66mya</a:t>
            </a:r>
            <a:r>
              <a:rPr sz="2000" spc="-155" dirty="0">
                <a:latin typeface="Verdana"/>
                <a:cs typeface="Verdana"/>
              </a:rPr>
              <a:t> </a:t>
            </a:r>
            <a:r>
              <a:rPr sz="2000" dirty="0">
                <a:latin typeface="Wingdings"/>
                <a:cs typeface="Wingdings"/>
              </a:rPr>
              <a:t></a:t>
            </a:r>
            <a:r>
              <a:rPr sz="2000" spc="60" dirty="0">
                <a:latin typeface="Times New Roman"/>
                <a:cs typeface="Times New Roman"/>
              </a:rPr>
              <a:t> </a:t>
            </a:r>
            <a:r>
              <a:rPr sz="2000" spc="-35" dirty="0">
                <a:latin typeface="Verdana"/>
                <a:cs typeface="Verdana"/>
              </a:rPr>
              <a:t>present</a:t>
            </a:r>
            <a:endParaRPr sz="2000" dirty="0">
              <a:latin typeface="Verdana"/>
              <a:cs typeface="Verdana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efault Design">
  <a:themeElements>
    <a:clrScheme name="Default Design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Default Design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Default Design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8101</TotalTime>
  <Words>421</Words>
  <Application>Microsoft Office PowerPoint</Application>
  <PresentationFormat>On-screen Show (4:3)</PresentationFormat>
  <Paragraphs>64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7" baseType="lpstr">
      <vt:lpstr>Arial</vt:lpstr>
      <vt:lpstr>Arial MT</vt:lpstr>
      <vt:lpstr>Calibri</vt:lpstr>
      <vt:lpstr>Lucida Sans Unicode</vt:lpstr>
      <vt:lpstr>Monotype Sorts</vt:lpstr>
      <vt:lpstr>Palatino Linotype</vt:lpstr>
      <vt:lpstr>Tahoma</vt:lpstr>
      <vt:lpstr>Times</vt:lpstr>
      <vt:lpstr>Times New Roman</vt:lpstr>
      <vt:lpstr>Verdana</vt:lpstr>
      <vt:lpstr>Wingdings</vt:lpstr>
      <vt:lpstr>Default Design</vt:lpstr>
      <vt:lpstr>EES203: Geochemistry </vt:lpstr>
      <vt:lpstr>Rare Earth Elements as indicators of petrogenesis (melting source) </vt:lpstr>
      <vt:lpstr>Spidergrams or Spider-diagrams</vt:lpstr>
      <vt:lpstr>PowerPoint Presentation</vt:lpstr>
      <vt:lpstr>PowerPoint Presentation</vt:lpstr>
      <vt:lpstr>PowerPoint Presentation</vt:lpstr>
      <vt:lpstr>Divisions of Geologic Tim13 e</vt:lpstr>
      <vt:lpstr>Age of the Earth</vt:lpstr>
      <vt:lpstr>4.03 billion-year-old Acasta Gneiss, NW Canada: oldest known intact piece of Earth’s surface</vt:lpstr>
      <vt:lpstr>PowerPoint Presentation</vt:lpstr>
      <vt:lpstr>Rocks older than 2.5 Ga</vt:lpstr>
      <vt:lpstr>Divisions of Time</vt:lpstr>
      <vt:lpstr>EONS</vt:lpstr>
      <vt:lpstr>PowerPoint Presentation</vt:lpstr>
      <vt:lpstr>ERAS</vt:lpstr>
    </vt:vector>
  </TitlesOfParts>
  <Company>njcu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dfreile</dc:creator>
  <cp:lastModifiedBy>Dell</cp:lastModifiedBy>
  <cp:revision>193</cp:revision>
  <dcterms:created xsi:type="dcterms:W3CDTF">2005-10-26T18:01:58Z</dcterms:created>
  <dcterms:modified xsi:type="dcterms:W3CDTF">2025-03-02T07:26:49Z</dcterms:modified>
</cp:coreProperties>
</file>