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425" r:id="rId3"/>
    <p:sldId id="415" r:id="rId4"/>
    <p:sldId id="266" r:id="rId5"/>
    <p:sldId id="267" r:id="rId6"/>
    <p:sldId id="260" r:id="rId7"/>
    <p:sldId id="450" r:id="rId8"/>
    <p:sldId id="451" r:id="rId9"/>
    <p:sldId id="449" r:id="rId10"/>
    <p:sldId id="452" r:id="rId11"/>
    <p:sldId id="453" r:id="rId12"/>
    <p:sldId id="270" r:id="rId13"/>
    <p:sldId id="455" r:id="rId14"/>
    <p:sldId id="261" r:id="rId1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14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notesMaster" Target="notesMasters/notesMaster1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08-03-2025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 /><Relationship Id="rId1" Type="http://schemas.openxmlformats.org/officeDocument/2006/relationships/slideLayout" Target="../slideLayouts/slideLayout2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2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4316A-E549-4DE0-8D16-8882E9456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21" y="2209801"/>
            <a:ext cx="9122980" cy="1371600"/>
          </a:xfrm>
        </p:spPr>
        <p:txBody>
          <a:bodyPr/>
          <a:lstStyle/>
          <a:p>
            <a:pPr marL="0" indent="0" algn="ctr">
              <a:lnSpc>
                <a:spcPct val="150000"/>
              </a:lnSpc>
              <a:buNone/>
            </a:pPr>
            <a:r>
              <a:rPr lang="en-IN" b="1" dirty="0"/>
              <a:t>Elemental partioning during magmatic differentiation </a:t>
            </a:r>
          </a:p>
        </p:txBody>
      </p:sp>
    </p:spTree>
    <p:extLst>
      <p:ext uri="{BB962C8B-B14F-4D97-AF65-F5344CB8AC3E}">
        <p14:creationId xmlns:p14="http://schemas.microsoft.com/office/powerpoint/2010/main" val="602578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690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81000"/>
            <a:ext cx="7772400" cy="4572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>
                <a:solidFill>
                  <a:schemeClr val="tx1"/>
                </a:solidFill>
              </a:rPr>
              <a:t>Partition coefficient or Distribution coefficient - 1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990600"/>
            <a:ext cx="7772400" cy="51054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It is assumed that at equilibrium, the ratio of concentration of a trace element in a solid phase (C</a:t>
            </a:r>
            <a:r>
              <a:rPr lang="en-US" altLang="en-US" sz="2400" baseline="-25000" dirty="0"/>
              <a:t>s) </a:t>
            </a:r>
            <a:r>
              <a:rPr lang="en-US" altLang="en-US" sz="2400" dirty="0"/>
              <a:t>to its concentration in liquid (C</a:t>
            </a:r>
            <a:r>
              <a:rPr lang="en-US" altLang="en-US" sz="2400" baseline="-25000" dirty="0"/>
              <a:t>L</a:t>
            </a:r>
            <a:r>
              <a:rPr lang="en-US" altLang="en-US" sz="2400" dirty="0"/>
              <a:t>) is a constant (D):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                           D= C</a:t>
            </a:r>
            <a:r>
              <a:rPr lang="en-US" altLang="en-US" sz="2400" baseline="-25000" dirty="0"/>
              <a:t>s</a:t>
            </a:r>
            <a:r>
              <a:rPr lang="en-US" altLang="en-US" sz="2400" dirty="0"/>
              <a:t>/C</a:t>
            </a:r>
            <a:r>
              <a:rPr lang="en-US" altLang="en-US" sz="2400" baseline="-25000" dirty="0"/>
              <a:t>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The constant is called PARTITION COEFFICIENT or DISTRIBUTION COEFFICIENT or NERNST PARTITION COEFFICIENT.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It is also denoted  as K</a:t>
            </a:r>
            <a:r>
              <a:rPr lang="en-US" altLang="en-US" sz="2400" baseline="-25000" dirty="0"/>
              <a:t>D</a:t>
            </a:r>
          </a:p>
          <a:p>
            <a:pPr lvl="1" eaLnBrk="1" hangingPunct="1">
              <a:lnSpc>
                <a:spcPct val="90000"/>
              </a:lnSpc>
              <a:buFontTx/>
              <a:buNone/>
            </a:pPr>
            <a:endParaRPr lang="en-US" altLang="en-US" sz="2000" dirty="0"/>
          </a:p>
          <a:p>
            <a:pPr eaLnBrk="1" hangingPunct="1">
              <a:lnSpc>
                <a:spcPct val="90000"/>
              </a:lnSpc>
            </a:pPr>
            <a:endParaRPr lang="en-US" altLang="en-US" sz="2400" baseline="-25000" dirty="0"/>
          </a:p>
          <a:p>
            <a:pPr eaLnBrk="1" hangingPunct="1">
              <a:lnSpc>
                <a:spcPct val="90000"/>
              </a:lnSpc>
            </a:pPr>
            <a:endParaRPr lang="en-US" altLang="en-US" sz="2400" baseline="-25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5A4DBFF-5842-414A-80B1-A88AA63240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0" y="6260224"/>
            <a:ext cx="3581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en-US" sz="1600" kern="0" dirty="0"/>
              <a:t>Source: Faure, Chapter-8</a:t>
            </a:r>
          </a:p>
        </p:txBody>
      </p:sp>
    </p:spTree>
    <p:extLst>
      <p:ext uri="{BB962C8B-B14F-4D97-AF65-F5344CB8AC3E}">
        <p14:creationId xmlns:p14="http://schemas.microsoft.com/office/powerpoint/2010/main" val="664315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714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30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/>
              <a:t>Partition coefficient or Distribution coefficient - 2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838200"/>
            <a:ext cx="7772400" cy="5257800"/>
          </a:xfrm>
        </p:spPr>
        <p:txBody>
          <a:bodyPr/>
          <a:lstStyle/>
          <a:p>
            <a:pPr eaLnBrk="1" hangingPunct="1"/>
            <a:r>
              <a:rPr lang="en-US" altLang="en-US" sz="2800" dirty="0"/>
              <a:t>If K</a:t>
            </a:r>
            <a:r>
              <a:rPr lang="en-US" altLang="en-US" sz="2800" baseline="-25000" dirty="0"/>
              <a:t>D </a:t>
            </a:r>
            <a:r>
              <a:rPr lang="en-US" altLang="en-US" sz="2800" dirty="0"/>
              <a:t>= 1, then trace element is equally distributed between mineral and melt</a:t>
            </a:r>
          </a:p>
          <a:p>
            <a:pPr eaLnBrk="1" hangingPunct="1"/>
            <a:r>
              <a:rPr lang="en-US" altLang="en-US" sz="2800" dirty="0"/>
              <a:t>If K</a:t>
            </a:r>
            <a:r>
              <a:rPr lang="en-US" altLang="en-US" sz="2800" baseline="-25000" dirty="0"/>
              <a:t>D </a:t>
            </a:r>
            <a:r>
              <a:rPr lang="en-US" altLang="en-US" sz="2800" dirty="0"/>
              <a:t>= &gt; 1, then trace element has a ‘preference’ for mineral phase &amp; in the mineral-melt system under investigation and is a compatible trace element.</a:t>
            </a:r>
          </a:p>
          <a:p>
            <a:pPr eaLnBrk="1" hangingPunct="1"/>
            <a:r>
              <a:rPr lang="en-US" altLang="en-US" sz="2800" dirty="0"/>
              <a:t>If K</a:t>
            </a:r>
            <a:r>
              <a:rPr lang="en-US" altLang="en-US" sz="2800" baseline="-25000" dirty="0"/>
              <a:t>D </a:t>
            </a:r>
            <a:r>
              <a:rPr lang="en-US" altLang="en-US" sz="2800" dirty="0"/>
              <a:t>= &lt; 1, then trace element has a ‘preference’ for melt phase &amp; in the mineral-melt system under investigation and is a incompatible trace element.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14573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73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457200"/>
          </a:xfrm>
        </p:spPr>
        <p:txBody>
          <a:bodyPr/>
          <a:lstStyle/>
          <a:p>
            <a:pPr eaLnBrk="1" hangingPunct="1">
              <a:defRPr/>
            </a:pPr>
            <a:r>
              <a:rPr lang="en-US" sz="2800"/>
              <a:t>BULK PARTITION COEFFICIENT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219200"/>
            <a:ext cx="8382000" cy="4953000"/>
          </a:xfrm>
        </p:spPr>
        <p:txBody>
          <a:bodyPr/>
          <a:lstStyle/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A rock is an aggregate of minerals, so the Bulk distribution coefficient for a rock for a specific element  can be calculated from partition coefficients of constituent minerals weighed according to their proportion. It is defined by expression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D</a:t>
            </a:r>
            <a:r>
              <a:rPr lang="en-US" altLang="en-US" sz="2400" i="1" baseline="-25000" dirty="0"/>
              <a:t>i</a:t>
            </a:r>
            <a:r>
              <a:rPr lang="en-US" altLang="en-US" sz="2400" baseline="-25000" dirty="0"/>
              <a:t> </a:t>
            </a:r>
            <a:r>
              <a:rPr lang="en-US" altLang="en-US" sz="2400" dirty="0"/>
              <a:t>= x</a:t>
            </a:r>
            <a:r>
              <a:rPr lang="en-US" altLang="en-US" sz="2400" baseline="-25000" dirty="0"/>
              <a:t>1</a:t>
            </a:r>
            <a:r>
              <a:rPr lang="en-US" altLang="en-US" sz="2400" dirty="0"/>
              <a:t> K</a:t>
            </a:r>
            <a:r>
              <a:rPr lang="en-US" altLang="en-US" sz="2400" baseline="-25000" dirty="0"/>
              <a:t>d1</a:t>
            </a:r>
            <a:r>
              <a:rPr lang="en-US" altLang="en-US" sz="2400" dirty="0"/>
              <a:t> + X</a:t>
            </a:r>
            <a:r>
              <a:rPr lang="en-US" altLang="en-US" sz="2400" baseline="-25000" dirty="0"/>
              <a:t>2</a:t>
            </a:r>
            <a:r>
              <a:rPr lang="en-US" altLang="en-US" sz="2400" dirty="0"/>
              <a:t>K</a:t>
            </a:r>
            <a:r>
              <a:rPr lang="en-US" altLang="en-US" sz="2400" baseline="-25000" dirty="0"/>
              <a:t>d2</a:t>
            </a:r>
            <a:r>
              <a:rPr lang="en-US" altLang="en-US" sz="2400" dirty="0"/>
              <a:t> + X</a:t>
            </a:r>
            <a:r>
              <a:rPr lang="en-US" altLang="en-US" sz="2400" baseline="-25000" dirty="0"/>
              <a:t>3</a:t>
            </a:r>
            <a:r>
              <a:rPr lang="en-US" altLang="en-US" sz="2400" dirty="0"/>
              <a:t>K </a:t>
            </a:r>
            <a:r>
              <a:rPr lang="en-US" altLang="en-US" sz="2400" baseline="-25000" dirty="0"/>
              <a:t>d3</a:t>
            </a:r>
            <a:r>
              <a:rPr lang="en-US" altLang="en-US" sz="2400" dirty="0"/>
              <a:t>…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D</a:t>
            </a:r>
            <a:r>
              <a:rPr lang="en-US" altLang="en-US" sz="2400" baseline="-25000" dirty="0"/>
              <a:t>i</a:t>
            </a:r>
            <a:r>
              <a:rPr lang="en-US" altLang="en-US" sz="2400" dirty="0"/>
              <a:t> = bulk partition coefficient for element I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X</a:t>
            </a:r>
            <a:r>
              <a:rPr lang="en-US" altLang="en-US" sz="2400" baseline="-25000" dirty="0"/>
              <a:t>1</a:t>
            </a:r>
            <a:r>
              <a:rPr lang="en-US" altLang="en-US" sz="2400" dirty="0"/>
              <a:t> = modal proportion of mineral 1 etc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K</a:t>
            </a:r>
            <a:r>
              <a:rPr lang="en-US" altLang="en-US" sz="2400" baseline="-25000" dirty="0"/>
              <a:t>d1</a:t>
            </a:r>
            <a:r>
              <a:rPr lang="en-US" altLang="en-US" sz="2400" dirty="0"/>
              <a:t> = </a:t>
            </a:r>
            <a:r>
              <a:rPr lang="en-US" altLang="en-US" sz="2400" dirty="0" err="1"/>
              <a:t>parition</a:t>
            </a:r>
            <a:r>
              <a:rPr lang="en-US" altLang="en-US" sz="2400" dirty="0"/>
              <a:t> coefficient for element </a:t>
            </a:r>
            <a:r>
              <a:rPr lang="en-US" altLang="en-US" sz="2400" i="1" dirty="0"/>
              <a:t>i</a:t>
            </a:r>
            <a:r>
              <a:rPr lang="en-US" altLang="en-US" sz="2400" dirty="0"/>
              <a:t> in mineral1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For </a:t>
            </a:r>
            <a:r>
              <a:rPr lang="en-US" altLang="en-US" sz="2400" dirty="0" err="1"/>
              <a:t>eg.</a:t>
            </a:r>
            <a:r>
              <a:rPr lang="en-US" altLang="en-US" sz="2400" dirty="0"/>
              <a:t> In a rock containing 50% olivine, 30% </a:t>
            </a:r>
            <a:r>
              <a:rPr lang="en-US" altLang="en-US" sz="2400" dirty="0" err="1"/>
              <a:t>Opx</a:t>
            </a:r>
            <a:r>
              <a:rPr lang="en-US" altLang="en-US" sz="2400" dirty="0"/>
              <a:t> &amp; 20% </a:t>
            </a:r>
            <a:r>
              <a:rPr lang="en-US" altLang="en-US" sz="2400" dirty="0" err="1"/>
              <a:t>cpx</a:t>
            </a:r>
            <a:r>
              <a:rPr lang="en-US" altLang="en-US" sz="2400" dirty="0"/>
              <a:t>, the bulk partition coefficient would be </a:t>
            </a: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dirty="0"/>
              <a:t>D</a:t>
            </a:r>
            <a:r>
              <a:rPr lang="en-US" altLang="en-US" sz="2400" i="1" baseline="-25000" dirty="0"/>
              <a:t>i</a:t>
            </a:r>
            <a:r>
              <a:rPr lang="en-US" altLang="en-US" sz="2400" baseline="-25000" dirty="0"/>
              <a:t> </a:t>
            </a:r>
            <a:r>
              <a:rPr lang="en-US" altLang="en-US" sz="2400" dirty="0"/>
              <a:t>= 0.5 K</a:t>
            </a:r>
            <a:r>
              <a:rPr lang="en-US" altLang="en-US" sz="2400" baseline="30000" dirty="0"/>
              <a:t>ol</a:t>
            </a:r>
            <a:r>
              <a:rPr lang="en-US" altLang="en-US" sz="2400" baseline="-25000" dirty="0"/>
              <a:t>d1</a:t>
            </a:r>
            <a:r>
              <a:rPr lang="en-US" altLang="en-US" sz="2400" dirty="0"/>
              <a:t> + 0.3K</a:t>
            </a:r>
            <a:r>
              <a:rPr lang="en-US" altLang="en-US" sz="2400" baseline="30000" dirty="0"/>
              <a:t>opx</a:t>
            </a:r>
            <a:r>
              <a:rPr lang="en-US" altLang="en-US" sz="2400" baseline="-25000" dirty="0"/>
              <a:t>d2</a:t>
            </a:r>
            <a:r>
              <a:rPr lang="en-US" altLang="en-US" sz="2400" dirty="0"/>
              <a:t> + 0.2K</a:t>
            </a:r>
            <a:r>
              <a:rPr lang="en-US" altLang="en-US" sz="2400" baseline="30000" dirty="0"/>
              <a:t>cpx</a:t>
            </a:r>
            <a:r>
              <a:rPr lang="en-US" altLang="en-US" sz="2400" dirty="0"/>
              <a:t> </a:t>
            </a:r>
            <a:r>
              <a:rPr lang="en-US" altLang="en-US" sz="2400" baseline="-25000" dirty="0"/>
              <a:t>d3</a:t>
            </a:r>
            <a:r>
              <a:rPr lang="en-US" altLang="en-US" sz="2400" dirty="0"/>
              <a:t>…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baseline="-25000" dirty="0">
              <a:solidFill>
                <a:srgbClr val="FFFF00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altLang="en-US" sz="2400" baseline="-25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431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4790" y="5079683"/>
            <a:ext cx="8214995" cy="15748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 marR="17780">
              <a:lnSpc>
                <a:spcPct val="99000"/>
              </a:lnSpc>
              <a:spcBef>
                <a:spcPts val="125"/>
              </a:spcBef>
            </a:pPr>
            <a:r>
              <a:rPr sz="2400" dirty="0">
                <a:latin typeface="Times New Roman"/>
                <a:cs typeface="Times New Roman"/>
              </a:rPr>
              <a:t>Example: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hypothetical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garnet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lherzolite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=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60%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olivine,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25% </a:t>
            </a:r>
            <a:r>
              <a:rPr sz="2400" dirty="0">
                <a:latin typeface="Times New Roman"/>
                <a:cs typeface="Times New Roman"/>
              </a:rPr>
              <a:t>orthopyroxene,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10%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clinopyroxene,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5%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garnet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(all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by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i="1" spc="-10" dirty="0">
                <a:latin typeface="Times New Roman"/>
                <a:cs typeface="Times New Roman"/>
              </a:rPr>
              <a:t>weight</a:t>
            </a:r>
            <a:r>
              <a:rPr sz="2400" spc="-10" dirty="0">
                <a:latin typeface="Times New Roman"/>
                <a:cs typeface="Times New Roman"/>
              </a:rPr>
              <a:t>), </a:t>
            </a:r>
            <a:r>
              <a:rPr sz="2400" dirty="0">
                <a:latin typeface="Times New Roman"/>
                <a:cs typeface="Times New Roman"/>
              </a:rPr>
              <a:t>using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Table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9.1,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is:</a:t>
            </a:r>
            <a:endParaRPr sz="24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1220"/>
              </a:spcBef>
            </a:pPr>
            <a:r>
              <a:rPr sz="2000" dirty="0">
                <a:latin typeface="Times New Roman"/>
                <a:cs typeface="Times New Roman"/>
              </a:rPr>
              <a:t>D</a:t>
            </a:r>
            <a:r>
              <a:rPr sz="1950" baseline="-21367" dirty="0">
                <a:latin typeface="Times New Roman"/>
                <a:cs typeface="Times New Roman"/>
              </a:rPr>
              <a:t>Er</a:t>
            </a:r>
            <a:r>
              <a:rPr sz="1950" spc="254" baseline="-21367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= (0.6 · 0.026) + (0.25 · 0.23) + (0.10 · 0.583)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+ (0.05 · 4.7) = </a:t>
            </a:r>
            <a:r>
              <a:rPr sz="2000" spc="-10" dirty="0">
                <a:latin typeface="Times New Roman"/>
                <a:cs typeface="Times New Roman"/>
              </a:rPr>
              <a:t>0.366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63524" y="6375400"/>
            <a:ext cx="265430" cy="0"/>
          </a:xfrm>
          <a:custGeom>
            <a:avLst/>
            <a:gdLst/>
            <a:ahLst/>
            <a:cxnLst/>
            <a:rect l="l" t="t" r="r" b="b"/>
            <a:pathLst>
              <a:path w="265430">
                <a:moveTo>
                  <a:pt x="0" y="0"/>
                </a:moveTo>
                <a:lnTo>
                  <a:pt x="265112" y="1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571546" y="3900588"/>
            <a:ext cx="240029" cy="30289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764"/>
              </a:lnSpc>
            </a:pPr>
            <a:r>
              <a:rPr sz="1500" spc="-25" dirty="0">
                <a:latin typeface="Arial MT"/>
                <a:cs typeface="Arial MT"/>
              </a:rPr>
              <a:t>are</a:t>
            </a:r>
            <a:endParaRPr sz="15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949448" y="136646"/>
          <a:ext cx="7593961" cy="47163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56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147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01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33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0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87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8224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95020">
                <a:tc gridSpan="11">
                  <a:txBody>
                    <a:bodyPr/>
                    <a:lstStyle/>
                    <a:p>
                      <a:pPr marL="2547620" marR="110489" indent="-2452370">
                        <a:lnSpc>
                          <a:spcPct val="100600"/>
                        </a:lnSpc>
                        <a:spcBef>
                          <a:spcPts val="980"/>
                        </a:spcBef>
                      </a:pPr>
                      <a:r>
                        <a:rPr sz="1500" b="1" dirty="0">
                          <a:latin typeface="Arial"/>
                          <a:cs typeface="Arial"/>
                        </a:rPr>
                        <a:t>Table</a:t>
                      </a:r>
                      <a:r>
                        <a:rPr sz="1500" b="1" spc="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500" b="1" dirty="0">
                          <a:latin typeface="Arial"/>
                          <a:cs typeface="Arial"/>
                        </a:rPr>
                        <a:t>9-1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.</a:t>
                      </a:r>
                      <a:r>
                        <a:rPr sz="15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Partition</a:t>
                      </a:r>
                      <a:r>
                        <a:rPr sz="150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Coefficients</a:t>
                      </a:r>
                      <a:r>
                        <a:rPr sz="1500" spc="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(C</a:t>
                      </a:r>
                      <a:r>
                        <a:rPr sz="1350" baseline="-9259" dirty="0">
                          <a:latin typeface="Arial MT"/>
                          <a:cs typeface="Arial MT"/>
                        </a:rPr>
                        <a:t>S</a:t>
                      </a:r>
                      <a:r>
                        <a:rPr sz="1350" spc="-157" baseline="-92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/C</a:t>
                      </a:r>
                      <a:r>
                        <a:rPr sz="1500" spc="-27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350" spc="75" baseline="-9259" dirty="0">
                          <a:latin typeface="Arial MT"/>
                          <a:cs typeface="Arial MT"/>
                        </a:rPr>
                        <a:t>L</a:t>
                      </a:r>
                      <a:r>
                        <a:rPr sz="1500" spc="50" dirty="0">
                          <a:latin typeface="Arial MT"/>
                          <a:cs typeface="Arial MT"/>
                        </a:rPr>
                        <a:t>)</a:t>
                      </a:r>
                      <a:r>
                        <a:rPr sz="150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150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Some</a:t>
                      </a:r>
                      <a:r>
                        <a:rPr sz="1500" spc="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Commonly</a:t>
                      </a:r>
                      <a:r>
                        <a:rPr sz="150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15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Trace</a:t>
                      </a:r>
                      <a:r>
                        <a:rPr sz="1500" spc="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Elements</a:t>
                      </a:r>
                      <a:r>
                        <a:rPr sz="150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in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Basaltic</a:t>
                      </a:r>
                      <a:r>
                        <a:rPr sz="150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and</a:t>
                      </a:r>
                      <a:r>
                        <a:rPr sz="15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Andesitic</a:t>
                      </a:r>
                      <a:r>
                        <a:rPr sz="150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Rocks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124460" marB="0">
                    <a:solidFill>
                      <a:srgbClr val="A6CA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870">
                <a:tc rowSpan="1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4460">
                        <a:lnSpc>
                          <a:spcPts val="1660"/>
                        </a:lnSpc>
                        <a:tabLst>
                          <a:tab pos="1140460" algn="l"/>
                        </a:tabLst>
                      </a:pPr>
                      <a:r>
                        <a:rPr sz="1500" b="1" spc="-10" dirty="0">
                          <a:latin typeface="Arial"/>
                          <a:cs typeface="Arial"/>
                        </a:rPr>
                        <a:t>Olivine</a:t>
                      </a:r>
                      <a:r>
                        <a:rPr sz="1500" b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1500" b="1" spc="-25" dirty="0">
                          <a:latin typeface="Arial"/>
                          <a:cs typeface="Arial"/>
                        </a:rPr>
                        <a:t>Opx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ts val="1660"/>
                        </a:lnSpc>
                      </a:pPr>
                      <a:r>
                        <a:rPr sz="1500" b="1" spc="-25" dirty="0">
                          <a:latin typeface="Arial"/>
                          <a:cs typeface="Arial"/>
                        </a:rPr>
                        <a:t>Cpx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89535">
                        <a:lnSpc>
                          <a:spcPts val="1660"/>
                        </a:lnSpc>
                      </a:pPr>
                      <a:r>
                        <a:rPr sz="1500" b="1" spc="-10" dirty="0">
                          <a:latin typeface="Arial"/>
                          <a:cs typeface="Arial"/>
                        </a:rPr>
                        <a:t>Garnet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323215">
                        <a:lnSpc>
                          <a:spcPts val="1660"/>
                        </a:lnSpc>
                      </a:pPr>
                      <a:r>
                        <a:rPr sz="1500" b="1" spc="-20" dirty="0">
                          <a:latin typeface="Arial"/>
                          <a:cs typeface="Arial"/>
                        </a:rPr>
                        <a:t>Plag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62560">
                        <a:lnSpc>
                          <a:spcPts val="1660"/>
                        </a:lnSpc>
                        <a:tabLst>
                          <a:tab pos="967740" algn="l"/>
                        </a:tabLst>
                      </a:pPr>
                      <a:r>
                        <a:rPr sz="1500" b="1" spc="-20" dirty="0">
                          <a:latin typeface="Arial"/>
                          <a:cs typeface="Arial"/>
                        </a:rPr>
                        <a:t>Amph</a:t>
                      </a:r>
                      <a:r>
                        <a:rPr sz="1500" b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1500" b="1" spc="-10" dirty="0">
                          <a:latin typeface="Arial"/>
                          <a:cs typeface="Arial"/>
                        </a:rPr>
                        <a:t>Magnetite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1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4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47625">
                        <a:lnSpc>
                          <a:spcPts val="163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Rb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12">
                  <a:txBody>
                    <a:bodyPr/>
                    <a:lstStyle/>
                    <a:p>
                      <a:pPr marL="335280">
                        <a:lnSpc>
                          <a:spcPts val="1660"/>
                        </a:lnSpc>
                        <a:tabLst>
                          <a:tab pos="1217295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0.022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1217295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0.014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0.040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1217295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0.013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603885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1600835" algn="l"/>
                        </a:tabLst>
                      </a:pPr>
                      <a:r>
                        <a:rPr sz="1500" i="1" spc="-25" dirty="0">
                          <a:latin typeface="Arial"/>
                          <a:cs typeface="Arial"/>
                        </a:rPr>
                        <a:t>14</a:t>
                      </a:r>
                      <a:r>
                        <a:rPr sz="1500" i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156845" algn="r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1035050" algn="l"/>
                        </a:tabLst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0.70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10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149225" algn="r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99695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0.007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i="1" spc="-20" dirty="0">
                          <a:latin typeface="Arial"/>
                          <a:cs typeface="Arial"/>
                        </a:rPr>
                        <a:t>0.03</a:t>
                      </a:r>
                      <a:endParaRPr sz="1500">
                        <a:latin typeface="Arial"/>
                        <a:cs typeface="Arial"/>
                      </a:endParaRPr>
                    </a:p>
                    <a:p>
                      <a:pPr marR="149225" algn="r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99695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0.006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0.02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149225" algn="r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99695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0.006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0.03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tabLst>
                          <a:tab pos="13322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0.007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0.05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13322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0.007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0.05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ts val="1560"/>
                        </a:lnSpc>
                        <a:spcBef>
                          <a:spcPts val="10"/>
                        </a:spcBef>
                        <a:tabLst>
                          <a:tab pos="13322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0.013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0.15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12">
                  <a:txBody>
                    <a:bodyPr/>
                    <a:lstStyle/>
                    <a:p>
                      <a:pPr marL="233679">
                        <a:lnSpc>
                          <a:spcPts val="166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0.031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233679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0.060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233679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0.026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81915" algn="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i="1" spc="-50" dirty="0">
                          <a:latin typeface="Arial"/>
                          <a:cs typeface="Arial"/>
                        </a:rPr>
                        <a:t>7</a:t>
                      </a:r>
                      <a:endParaRPr sz="1500">
                        <a:latin typeface="Arial"/>
                        <a:cs typeface="Arial"/>
                      </a:endParaRPr>
                    </a:p>
                    <a:p>
                      <a:pPr marR="89535" algn="r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34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89535" algn="r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0.056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89535" algn="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0.092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89535" algn="r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0.230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233679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0.445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233679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0.474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233679">
                        <a:lnSpc>
                          <a:spcPts val="156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0.582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12">
                  <a:txBody>
                    <a:bodyPr/>
                    <a:lstStyle/>
                    <a:p>
                      <a:pPr marL="300355">
                        <a:lnSpc>
                          <a:spcPts val="166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0.042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0.023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0.955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1.345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0.001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0.007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0.026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0.102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0.243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00355">
                        <a:lnSpc>
                          <a:spcPts val="156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1.940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12">
                  <a:txBody>
                    <a:bodyPr/>
                    <a:lstStyle/>
                    <a:p>
                      <a:pPr marR="55244" algn="r">
                        <a:lnSpc>
                          <a:spcPts val="166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0.071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55244" algn="r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1.830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47625" algn="r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0.23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61087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i="1" spc="-20" dirty="0">
                          <a:latin typeface="Arial"/>
                          <a:cs typeface="Arial"/>
                        </a:rPr>
                        <a:t>0.01</a:t>
                      </a:r>
                      <a:endParaRPr sz="1500">
                        <a:latin typeface="Arial"/>
                        <a:cs typeface="Arial"/>
                      </a:endParaRPr>
                    </a:p>
                    <a:p>
                      <a:pPr marL="61087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i="1" spc="-20" dirty="0">
                          <a:latin typeface="Arial"/>
                          <a:cs typeface="Arial"/>
                        </a:rPr>
                        <a:t>0.01</a:t>
                      </a:r>
                      <a:endParaRPr sz="1500">
                        <a:latin typeface="Arial"/>
                        <a:cs typeface="Arial"/>
                      </a:endParaRPr>
                    </a:p>
                    <a:p>
                      <a:pPr marL="495934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0.148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495934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0.082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495934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0.055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55244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0.039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40005" algn="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1.5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55244" algn="r">
                        <a:lnSpc>
                          <a:spcPts val="1560"/>
                        </a:lnSpc>
                        <a:spcBef>
                          <a:spcPts val="10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0.023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12" gridSpan="2">
                  <a:txBody>
                    <a:bodyPr/>
                    <a:lstStyle/>
                    <a:p>
                      <a:pPr marL="450215">
                        <a:lnSpc>
                          <a:spcPts val="1660"/>
                        </a:lnSpc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0.29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45021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0.46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45021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0.42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438784" algn="r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747395" algn="l"/>
                        </a:tabLst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6.8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29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R="403860" algn="r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843280" algn="l"/>
                        </a:tabLst>
                      </a:pPr>
                      <a:r>
                        <a:rPr sz="1500" spc="-20" dirty="0">
                          <a:latin typeface="Arial MT"/>
                          <a:cs typeface="Arial MT"/>
                        </a:rPr>
                        <a:t>2.00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7.4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0.544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0.843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0"/>
                        </a:spcBef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1.340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2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1.804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1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1.557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1</a:t>
                      </a:r>
                      <a:endParaRPr sz="1500">
                        <a:latin typeface="Arial MT"/>
                        <a:cs typeface="Arial MT"/>
                      </a:endParaRPr>
                    </a:p>
                    <a:p>
                      <a:pPr marL="335280">
                        <a:lnSpc>
                          <a:spcPts val="1560"/>
                        </a:lnSpc>
                        <a:spcBef>
                          <a:spcPts val="10"/>
                        </a:spcBef>
                        <a:tabLst>
                          <a:tab pos="13703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2.024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50" dirty="0">
                          <a:latin typeface="Arial MT"/>
                          <a:cs typeface="Arial MT"/>
                        </a:rPr>
                        <a:t>1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8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47625">
                        <a:lnSpc>
                          <a:spcPts val="17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Sr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8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47625">
                        <a:lnSpc>
                          <a:spcPts val="17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Ba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8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47625">
                        <a:lnSpc>
                          <a:spcPts val="17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Ni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39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47625">
                        <a:lnSpc>
                          <a:spcPts val="173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Cr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6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0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1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La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6">
                  <a:txBody>
                    <a:bodyPr/>
                    <a:lstStyle/>
                    <a:p>
                      <a:pPr marL="26034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500" dirty="0">
                          <a:latin typeface="Arial MT"/>
                          <a:cs typeface="Arial MT"/>
                        </a:rPr>
                        <a:t>Earth 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Elements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8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7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Ce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48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73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Nd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48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780"/>
                        </a:lnSpc>
                        <a:spcBef>
                          <a:spcPts val="840"/>
                        </a:spcBef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Sm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1066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98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710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Eu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25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49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Dy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52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47625">
                        <a:lnSpc>
                          <a:spcPts val="1764"/>
                        </a:lnSpc>
                        <a:spcBef>
                          <a:spcPts val="150"/>
                        </a:spcBef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Er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FF2C79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FF2C79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FF2C79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FF2C79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335280">
                        <a:lnSpc>
                          <a:spcPts val="1764"/>
                        </a:lnSpc>
                        <a:spcBef>
                          <a:spcPts val="150"/>
                        </a:spcBef>
                        <a:tabLst>
                          <a:tab pos="1332230" algn="l"/>
                          <a:tab pos="2099310" algn="l"/>
                          <a:tab pos="2981325" algn="l"/>
                          <a:tab pos="4016375" algn="l"/>
                          <a:tab pos="4898390" algn="l"/>
                          <a:tab pos="585724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0.026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0.23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0.583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4.700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0.020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10" dirty="0">
                          <a:latin typeface="Arial MT"/>
                          <a:cs typeface="Arial MT"/>
                        </a:rPr>
                        <a:t>1.740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1.5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FF2C79"/>
                      </a:solidFill>
                      <a:prstDash val="solid"/>
                    </a:lnR>
                    <a:lnT w="28575">
                      <a:solidFill>
                        <a:srgbClr val="FF2C79"/>
                      </a:solidFill>
                      <a:prstDash val="solid"/>
                    </a:lnT>
                    <a:lnB w="28575">
                      <a:solidFill>
                        <a:srgbClr val="FF2C79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FF2C79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7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172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Yb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>
                  <a:txBody>
                    <a:bodyPr/>
                    <a:lstStyle/>
                    <a:p>
                      <a:pPr marL="17907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500" spc="-50" dirty="0">
                          <a:latin typeface="Arial MT"/>
                          <a:cs typeface="Arial MT"/>
                        </a:rPr>
                        <a:t>R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FF2C79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35280">
                        <a:lnSpc>
                          <a:spcPts val="1725"/>
                        </a:lnSpc>
                        <a:tabLst>
                          <a:tab pos="13322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0.049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0.34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28575">
                      <a:solidFill>
                        <a:srgbClr val="FF2C79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233679">
                        <a:lnSpc>
                          <a:spcPts val="172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0.542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28575">
                      <a:solidFill>
                        <a:srgbClr val="FF2C79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300355">
                        <a:lnSpc>
                          <a:spcPts val="172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6.167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28575">
                      <a:solidFill>
                        <a:srgbClr val="FF2C79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495934">
                        <a:lnSpc>
                          <a:spcPts val="172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0.023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T w="28575">
                      <a:solidFill>
                        <a:srgbClr val="FF2C79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335280">
                        <a:lnSpc>
                          <a:spcPts val="1725"/>
                        </a:lnSpc>
                        <a:tabLst>
                          <a:tab pos="1293495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1.642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5" dirty="0">
                          <a:latin typeface="Arial MT"/>
                          <a:cs typeface="Arial MT"/>
                        </a:rPr>
                        <a:t>1.4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9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ts val="955"/>
                        </a:lnSpc>
                      </a:pPr>
                      <a:r>
                        <a:rPr sz="1500" spc="-25" dirty="0">
                          <a:latin typeface="Arial MT"/>
                          <a:cs typeface="Arial MT"/>
                        </a:rPr>
                        <a:t>Lu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2545" marB="0" vert="vert27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FF2C79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335280">
                        <a:lnSpc>
                          <a:spcPts val="1735"/>
                        </a:lnSpc>
                        <a:tabLst>
                          <a:tab pos="1332230" algn="l"/>
                        </a:tabLst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0.045</a:t>
                      </a:r>
                      <a:r>
                        <a:rPr sz="15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500" spc="-20" dirty="0">
                          <a:latin typeface="Arial MT"/>
                          <a:cs typeface="Arial MT"/>
                        </a:rPr>
                        <a:t>0.42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233679">
                        <a:lnSpc>
                          <a:spcPts val="173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0.506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300355">
                        <a:lnSpc>
                          <a:spcPts val="173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6.950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495934">
                        <a:lnSpc>
                          <a:spcPts val="173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0.019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335280">
                        <a:lnSpc>
                          <a:spcPts val="1735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1.563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54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00CCFF"/>
                    </a:solidFill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00CC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3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CC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47625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dirty="0">
                          <a:latin typeface="Arial MT"/>
                          <a:cs typeface="Arial MT"/>
                        </a:rPr>
                        <a:t>Data</a:t>
                      </a:r>
                      <a:r>
                        <a:rPr sz="12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200" dirty="0">
                          <a:latin typeface="Arial MT"/>
                          <a:cs typeface="Arial MT"/>
                        </a:rPr>
                        <a:t>from</a:t>
                      </a:r>
                      <a:r>
                        <a:rPr sz="12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200" dirty="0">
                          <a:latin typeface="Arial MT"/>
                          <a:cs typeface="Arial MT"/>
                        </a:rPr>
                        <a:t>Rollinson</a:t>
                      </a:r>
                      <a:r>
                        <a:rPr sz="12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200" spc="-10" dirty="0">
                          <a:latin typeface="Arial MT"/>
                          <a:cs typeface="Arial MT"/>
                        </a:rPr>
                        <a:t>(1993).</a:t>
                      </a:r>
                      <a:endParaRPr sz="1200">
                        <a:latin typeface="Arial MT"/>
                        <a:cs typeface="Arial MT"/>
                      </a:endParaRPr>
                    </a:p>
                  </a:txBody>
                  <a:tcPr marL="0" marR="0" marT="19685" marB="0"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>
                  <a:txBody>
                    <a:bodyPr/>
                    <a:lstStyle/>
                    <a:p>
                      <a:pPr marL="55244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dirty="0">
                          <a:latin typeface="Arial MT"/>
                          <a:cs typeface="Arial MT"/>
                        </a:rPr>
                        <a:t>*</a:t>
                      </a:r>
                      <a:r>
                        <a:rPr sz="12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200" spc="-10" dirty="0">
                          <a:latin typeface="Arial MT"/>
                          <a:cs typeface="Arial MT"/>
                        </a:rPr>
                        <a:t>Eu</a:t>
                      </a:r>
                      <a:r>
                        <a:rPr sz="1125" spc="-15" baseline="33333" dirty="0">
                          <a:latin typeface="Arial MT"/>
                          <a:cs typeface="Arial MT"/>
                        </a:rPr>
                        <a:t>3+</a:t>
                      </a:r>
                      <a:r>
                        <a:rPr sz="1200" spc="-10" dirty="0">
                          <a:latin typeface="Arial MT"/>
                          <a:cs typeface="Arial MT"/>
                        </a:rPr>
                        <a:t>/Eu</a:t>
                      </a:r>
                      <a:r>
                        <a:rPr sz="1125" spc="-15" baseline="33333" dirty="0">
                          <a:latin typeface="Arial MT"/>
                          <a:cs typeface="Arial MT"/>
                        </a:rPr>
                        <a:t>2+</a:t>
                      </a:r>
                      <a:endParaRPr sz="1125" baseline="33333">
                        <a:latin typeface="Arial MT"/>
                        <a:cs typeface="Arial MT"/>
                      </a:endParaRPr>
                    </a:p>
                  </a:txBody>
                  <a:tcPr marL="0" marR="0" marT="19685" marB="0"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7625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i="1" dirty="0">
                          <a:latin typeface="Arial"/>
                          <a:cs typeface="Arial"/>
                        </a:rPr>
                        <a:t>Italics</a:t>
                      </a:r>
                      <a:r>
                        <a:rPr sz="1200" i="1" spc="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 MT"/>
                          <a:cs typeface="Arial MT"/>
                        </a:rPr>
                        <a:t>are</a:t>
                      </a:r>
                      <a:r>
                        <a:rPr sz="12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200" spc="-10" dirty="0">
                          <a:latin typeface="Arial MT"/>
                          <a:cs typeface="Arial MT"/>
                        </a:rPr>
                        <a:t>estimated</a:t>
                      </a:r>
                      <a:endParaRPr sz="1200">
                        <a:latin typeface="Arial MT"/>
                        <a:cs typeface="Arial MT"/>
                      </a:endParaRPr>
                    </a:p>
                  </a:txBody>
                  <a:tcPr marL="0" marR="0" marT="19685" marB="0">
                    <a:lnT w="19050">
                      <a:solidFill>
                        <a:srgbClr val="000000"/>
                      </a:solidFill>
                      <a:prstDash val="solid"/>
                    </a:lnT>
                    <a:solidFill>
                      <a:srgbClr val="00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0D4FC4-084D-430E-B85C-FD28632482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00" t="3700" r="2900"/>
          <a:stretch/>
        </p:blipFill>
        <p:spPr>
          <a:xfrm>
            <a:off x="35728" y="1524000"/>
            <a:ext cx="8955872" cy="4199148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B911FDA4-F634-4695-B376-8933CF7F6A45}"/>
              </a:ext>
            </a:extLst>
          </p:cNvPr>
          <p:cNvSpPr txBox="1"/>
          <p:nvPr/>
        </p:nvSpPr>
        <p:spPr>
          <a:xfrm>
            <a:off x="252094" y="381000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Geochemical characteristics of primary magma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8475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8E72B7-9C00-4FC7-8A72-28D303BB3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762000"/>
            <a:ext cx="8763000" cy="4779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What are the major compositional characteristics of primary magma?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which tectonic settings does primary magma form?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does the degree of partial melting influence magma composition?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do elements fractionate during partial melting? </a:t>
            </a: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D577C46E-8BC9-4A70-9AB1-5FE95D17676D}"/>
              </a:ext>
            </a:extLst>
          </p:cNvPr>
          <p:cNvSpPr txBox="1"/>
          <p:nvPr/>
        </p:nvSpPr>
        <p:spPr>
          <a:xfrm>
            <a:off x="252094" y="381000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Important questions?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8410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F07502-AE2E-4F9E-96AE-045B31D211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39" r="5409" b="1508"/>
          <a:stretch/>
        </p:blipFill>
        <p:spPr>
          <a:xfrm>
            <a:off x="1752600" y="816199"/>
            <a:ext cx="6096000" cy="5278244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58509871-BBCF-4A0D-B709-B63B3C56AB53}"/>
              </a:ext>
            </a:extLst>
          </p:cNvPr>
          <p:cNvSpPr txBox="1"/>
          <p:nvPr/>
        </p:nvSpPr>
        <p:spPr>
          <a:xfrm>
            <a:off x="152400" y="0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Classification of primary basaltic magma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18374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44FE6-145C-4F1D-9C9C-A294100DB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73" t="9834" r="4968"/>
          <a:stretch/>
        </p:blipFill>
        <p:spPr>
          <a:xfrm>
            <a:off x="990600" y="1029111"/>
            <a:ext cx="6324600" cy="4799777"/>
          </a:xfrm>
          <a:prstGeom prst="rect">
            <a:avLst/>
          </a:prstGeom>
        </p:spPr>
      </p:pic>
      <p:sp>
        <p:nvSpPr>
          <p:cNvPr id="6" name="object 2">
            <a:extLst>
              <a:ext uri="{FF2B5EF4-FFF2-40B4-BE49-F238E27FC236}">
                <a16:creationId xmlns:a16="http://schemas.microsoft.com/office/drawing/2014/main" id="{6C78AC25-E6F6-4652-8155-759F18781F6B}"/>
              </a:ext>
            </a:extLst>
          </p:cNvPr>
          <p:cNvSpPr txBox="1"/>
          <p:nvPr/>
        </p:nvSpPr>
        <p:spPr>
          <a:xfrm>
            <a:off x="152400" y="0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Classification of primary basaltic magma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06135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0775F0-71BA-4A47-B94C-71BB338DF8D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01" r="1927"/>
          <a:stretch/>
        </p:blipFill>
        <p:spPr>
          <a:xfrm>
            <a:off x="304800" y="1456888"/>
            <a:ext cx="8686799" cy="3267512"/>
          </a:xfrm>
          <a:prstGeom prst="rect">
            <a:avLst/>
          </a:prstGeom>
        </p:spPr>
      </p:pic>
      <p:sp>
        <p:nvSpPr>
          <p:cNvPr id="6" name="object 2">
            <a:extLst>
              <a:ext uri="{FF2B5EF4-FFF2-40B4-BE49-F238E27FC236}">
                <a16:creationId xmlns:a16="http://schemas.microsoft.com/office/drawing/2014/main" id="{A61C31E9-0F0B-4ECF-9526-76BD04C738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229600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Tectonic settings of primary magma series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9475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2971" y="2514123"/>
            <a:ext cx="4273550" cy="21377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0365" marR="655320" indent="-342900">
              <a:lnSpc>
                <a:spcPct val="99700"/>
              </a:lnSpc>
              <a:spcBef>
                <a:spcPts val="110"/>
              </a:spcBef>
              <a:buClr>
                <a:srgbClr val="00CC00"/>
              </a:buClr>
              <a:buSzPct val="50000"/>
              <a:buFont typeface="MingLiU_HKSCS-ExtB"/>
              <a:buChar char="●"/>
              <a:tabLst>
                <a:tab pos="380365" algn="l"/>
              </a:tabLst>
            </a:pPr>
            <a:r>
              <a:rPr sz="1600" dirty="0">
                <a:solidFill>
                  <a:srgbClr val="FF0000"/>
                </a:solidFill>
                <a:latin typeface="Times New Roman"/>
                <a:cs typeface="Times New Roman"/>
              </a:rPr>
              <a:t>Incompatible</a:t>
            </a:r>
            <a:r>
              <a:rPr sz="1600" spc="-3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elements </a:t>
            </a:r>
            <a:r>
              <a:rPr sz="1600" dirty="0">
                <a:latin typeface="Times New Roman"/>
                <a:cs typeface="Times New Roman"/>
              </a:rPr>
              <a:t>commonly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Symbol"/>
                <a:cs typeface="Symbol"/>
              </a:rPr>
              <a:t>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two </a:t>
            </a:r>
            <a:r>
              <a:rPr sz="1600" spc="-10" dirty="0">
                <a:latin typeface="Times New Roman"/>
                <a:cs typeface="Times New Roman"/>
              </a:rPr>
              <a:t>subgroups</a:t>
            </a:r>
            <a:endParaRPr sz="1600" dirty="0">
              <a:latin typeface="Times New Roman"/>
              <a:cs typeface="Times New Roman"/>
            </a:endParaRPr>
          </a:p>
          <a:p>
            <a:pPr marL="774065" marR="211454" indent="-279400">
              <a:lnSpc>
                <a:spcPct val="100699"/>
              </a:lnSpc>
              <a:spcBef>
                <a:spcPts val="520"/>
              </a:spcBef>
              <a:tabLst>
                <a:tab pos="780415" algn="l"/>
              </a:tabLst>
            </a:pPr>
            <a:r>
              <a:rPr sz="1600" spc="-320" dirty="0">
                <a:solidFill>
                  <a:srgbClr val="FF0066"/>
                </a:solidFill>
                <a:latin typeface="MingLiU_HKSCS-ExtB"/>
                <a:cs typeface="MingLiU_HKSCS-ExtB"/>
              </a:rPr>
              <a:t>✦</a:t>
            </a:r>
            <a:r>
              <a:rPr sz="1600" dirty="0">
                <a:solidFill>
                  <a:srgbClr val="FF0066"/>
                </a:solidFill>
                <a:latin typeface="MingLiU_HKSCS-ExtB"/>
                <a:cs typeface="MingLiU_HKSCS-ExtB"/>
              </a:rPr>
              <a:t>		</a:t>
            </a:r>
            <a:r>
              <a:rPr sz="1600" dirty="0">
                <a:latin typeface="Times New Roman"/>
                <a:cs typeface="Times New Roman"/>
              </a:rPr>
              <a:t>Smaller,</a:t>
            </a:r>
            <a:r>
              <a:rPr sz="1600" spc="-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highly</a:t>
            </a:r>
            <a:r>
              <a:rPr sz="1600" spc="-8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charged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high</a:t>
            </a:r>
            <a:r>
              <a:rPr sz="1600" b="1" i="1" spc="-4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field</a:t>
            </a:r>
            <a:r>
              <a:rPr sz="1600" b="1" i="1" spc="-4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strength</a:t>
            </a:r>
            <a:r>
              <a:rPr sz="1600" b="1" i="1" spc="-4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spc="-10" dirty="0">
                <a:solidFill>
                  <a:srgbClr val="FF0000"/>
                </a:solidFill>
                <a:latin typeface="Times New Roman"/>
                <a:cs typeface="Times New Roman"/>
              </a:rPr>
              <a:t>(HFS)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elements</a:t>
            </a:r>
            <a:r>
              <a:rPr sz="1600" b="1" i="1" spc="-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(REE,</a:t>
            </a:r>
            <a:r>
              <a:rPr sz="1600" spc="-6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Th,</a:t>
            </a:r>
            <a:r>
              <a:rPr sz="1600" spc="-2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U,</a:t>
            </a:r>
            <a:r>
              <a:rPr sz="1600" spc="-15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0070C0"/>
                </a:solidFill>
                <a:latin typeface="Times New Roman"/>
                <a:cs typeface="Times New Roman"/>
              </a:rPr>
              <a:t>Ce,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Pb</a:t>
            </a:r>
            <a:r>
              <a:rPr sz="1600" baseline="24305" dirty="0">
                <a:solidFill>
                  <a:srgbClr val="0085CC"/>
                </a:solidFill>
                <a:latin typeface="Times New Roman"/>
                <a:cs typeface="Times New Roman"/>
              </a:rPr>
              <a:t>4+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,</a:t>
            </a:r>
            <a:r>
              <a:rPr sz="1600" spc="-6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Zr,</a:t>
            </a:r>
            <a:r>
              <a:rPr sz="1600" spc="-6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Hf,</a:t>
            </a:r>
            <a:r>
              <a:rPr sz="1600" spc="-10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Ti,</a:t>
            </a:r>
            <a:r>
              <a:rPr sz="1600" spc="-6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Nb,</a:t>
            </a:r>
            <a:r>
              <a:rPr sz="1600" spc="-10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0070C0"/>
                </a:solidFill>
                <a:latin typeface="Times New Roman"/>
                <a:cs typeface="Times New Roman"/>
              </a:rPr>
              <a:t>Ta)</a:t>
            </a:r>
            <a:endParaRPr sz="1600" dirty="0">
              <a:latin typeface="Times New Roman"/>
              <a:cs typeface="Times New Roman"/>
            </a:endParaRPr>
          </a:p>
          <a:p>
            <a:pPr marL="774065" marR="30480" indent="-279400">
              <a:lnSpc>
                <a:spcPct val="99000"/>
              </a:lnSpc>
              <a:spcBef>
                <a:spcPts val="645"/>
              </a:spcBef>
              <a:tabLst>
                <a:tab pos="780415" algn="l"/>
              </a:tabLst>
            </a:pPr>
            <a:r>
              <a:rPr sz="1600" spc="-320" dirty="0">
                <a:solidFill>
                  <a:srgbClr val="FF0066"/>
                </a:solidFill>
                <a:latin typeface="MingLiU_HKSCS-ExtB"/>
                <a:cs typeface="MingLiU_HKSCS-ExtB"/>
              </a:rPr>
              <a:t>✦</a:t>
            </a:r>
            <a:r>
              <a:rPr sz="1600" dirty="0">
                <a:solidFill>
                  <a:srgbClr val="FF0066"/>
                </a:solidFill>
                <a:latin typeface="MingLiU_HKSCS-ExtB"/>
                <a:cs typeface="MingLiU_HKSCS-ExtB"/>
              </a:rPr>
              <a:t>		</a:t>
            </a:r>
            <a:r>
              <a:rPr sz="1600" dirty="0">
                <a:latin typeface="Times New Roman"/>
                <a:cs typeface="Times New Roman"/>
              </a:rPr>
              <a:t>Low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field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strength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large</a:t>
            </a:r>
            <a:r>
              <a:rPr sz="1600" b="1" i="1" spc="-3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spc="-25" dirty="0">
                <a:solidFill>
                  <a:srgbClr val="FF0000"/>
                </a:solidFill>
                <a:latin typeface="Times New Roman"/>
                <a:cs typeface="Times New Roman"/>
              </a:rPr>
              <a:t>ion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lithophile</a:t>
            </a:r>
            <a:r>
              <a:rPr sz="1600" b="1" i="1" spc="-6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dirty="0">
                <a:solidFill>
                  <a:srgbClr val="FF0000"/>
                </a:solidFill>
                <a:latin typeface="Times New Roman"/>
                <a:cs typeface="Times New Roman"/>
              </a:rPr>
              <a:t>(LIL)</a:t>
            </a:r>
            <a:r>
              <a:rPr sz="1600" b="1" i="1" spc="-5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1600" b="1" i="1" spc="-10" dirty="0">
                <a:solidFill>
                  <a:srgbClr val="FF0000"/>
                </a:solidFill>
                <a:latin typeface="Times New Roman"/>
                <a:cs typeface="Times New Roman"/>
              </a:rPr>
              <a:t>elements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(K,</a:t>
            </a:r>
            <a:r>
              <a:rPr sz="1600" spc="-2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Rb,</a:t>
            </a:r>
            <a:r>
              <a:rPr sz="1600" spc="-15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Cs,</a:t>
            </a:r>
            <a:r>
              <a:rPr sz="1600" spc="-20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Ba,</a:t>
            </a:r>
            <a:r>
              <a:rPr sz="1600" spc="-15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Pb</a:t>
            </a:r>
            <a:r>
              <a:rPr sz="1600" baseline="24305" dirty="0">
                <a:solidFill>
                  <a:srgbClr val="0085CC"/>
                </a:solidFill>
                <a:latin typeface="Times New Roman"/>
                <a:cs typeface="Times New Roman"/>
              </a:rPr>
              <a:t>2+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,</a:t>
            </a:r>
            <a:r>
              <a:rPr sz="1600" spc="-15" dirty="0">
                <a:solidFill>
                  <a:srgbClr val="0070C0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0070C0"/>
                </a:solidFill>
                <a:latin typeface="Times New Roman"/>
                <a:cs typeface="Times New Roman"/>
              </a:rPr>
              <a:t>Sr,</a:t>
            </a:r>
            <a:endParaRPr sz="1600" dirty="0">
              <a:latin typeface="Times New Roman"/>
              <a:cs typeface="Times New Roman"/>
            </a:endParaRPr>
          </a:p>
          <a:p>
            <a:pPr marL="774065" marR="189230">
              <a:lnSpc>
                <a:spcPct val="99000"/>
              </a:lnSpc>
              <a:spcBef>
                <a:spcPts val="50"/>
              </a:spcBef>
            </a:pP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Eu</a:t>
            </a:r>
            <a:r>
              <a:rPr sz="1600" baseline="24305" dirty="0">
                <a:solidFill>
                  <a:srgbClr val="0085CC"/>
                </a:solidFill>
                <a:latin typeface="Times New Roman"/>
                <a:cs typeface="Times New Roman"/>
              </a:rPr>
              <a:t>2+</a:t>
            </a:r>
            <a:r>
              <a:rPr sz="1600" dirty="0">
                <a:solidFill>
                  <a:srgbClr val="0070C0"/>
                </a:solidFill>
                <a:latin typeface="Times New Roman"/>
                <a:cs typeface="Times New Roman"/>
              </a:rPr>
              <a:t>)</a:t>
            </a:r>
            <a:endParaRPr sz="16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87480" y="152401"/>
            <a:ext cx="4456518" cy="66278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EEA41B-B43D-4972-A623-C9B9A201CFC7}"/>
              </a:ext>
            </a:extLst>
          </p:cNvPr>
          <p:cNvSpPr txBox="1"/>
          <p:nvPr/>
        </p:nvSpPr>
        <p:spPr>
          <a:xfrm>
            <a:off x="457200" y="762000"/>
            <a:ext cx="44565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800" b="0" i="0" u="none" strike="noStrike" baseline="0" dirty="0">
                <a:latin typeface="+mj-lt"/>
              </a:rPr>
              <a:t>Elements </a:t>
            </a:r>
            <a:r>
              <a:rPr lang="en-US" sz="1800" b="0" i="0" u="none" strike="noStrike" baseline="0" dirty="0">
                <a:latin typeface="+mj-lt"/>
              </a:rPr>
              <a:t>having small ionic radius and a relatively low charge (such as </a:t>
            </a:r>
            <a:r>
              <a:rPr lang="en-IN" sz="1800" b="0" i="0" u="none" strike="noStrike" baseline="0" dirty="0">
                <a:latin typeface="+mj-lt"/>
              </a:rPr>
              <a:t>Ni, Cr, Cu, W, Ru, Rh, Pd, Os, Ir, Pt, and Au) early phase of </a:t>
            </a:r>
            <a:r>
              <a:rPr lang="en-IN" sz="1800" b="0" i="0" u="none" strike="noStrike" baseline="0" dirty="0" err="1">
                <a:latin typeface="+mj-lt"/>
              </a:rPr>
              <a:t>crystallalization</a:t>
            </a:r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35611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BAD5A5-CC73-4651-B092-E79108AC49F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88"/>
          <a:stretch/>
        </p:blipFill>
        <p:spPr>
          <a:xfrm>
            <a:off x="240792" y="1066800"/>
            <a:ext cx="4724400" cy="5081127"/>
          </a:xfrm>
          <a:prstGeom prst="rect">
            <a:avLst/>
          </a:prstGeom>
        </p:spPr>
      </p:pic>
      <p:sp>
        <p:nvSpPr>
          <p:cNvPr id="6" name="object 2">
            <a:extLst>
              <a:ext uri="{FF2B5EF4-FFF2-40B4-BE49-F238E27FC236}">
                <a16:creationId xmlns:a16="http://schemas.microsoft.com/office/drawing/2014/main" id="{02CC7F94-06D4-44C6-812B-18D36590EE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229600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Fractionation of trace elements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233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04189" y="460113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sz="2800" dirty="0">
                <a:latin typeface="Times New Roman"/>
                <a:cs typeface="Times New Roman"/>
              </a:rPr>
              <a:t>Trace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elements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strongly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partitioned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into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single mineral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57312" y="6332537"/>
            <a:ext cx="6137910" cy="38608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400"/>
              </a:lnSpc>
              <a:spcBef>
                <a:spcPts val="180"/>
              </a:spcBef>
            </a:pPr>
            <a:r>
              <a:rPr sz="1200" dirty="0">
                <a:solidFill>
                  <a:srgbClr val="FF0000"/>
                </a:solidFill>
                <a:latin typeface="Arial MT"/>
                <a:cs typeface="Arial MT"/>
              </a:rPr>
              <a:t>Figure</a:t>
            </a:r>
            <a:r>
              <a:rPr sz="1200" spc="-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FF0000"/>
                </a:solidFill>
                <a:latin typeface="Arial MT"/>
                <a:cs typeface="Arial MT"/>
              </a:rPr>
              <a:t>9.1a.</a:t>
            </a:r>
            <a:r>
              <a:rPr sz="1200" spc="-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Ni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Harker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Diagram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for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Crater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Lake.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From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data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compiled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by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Rick</a:t>
            </a:r>
            <a:r>
              <a:rPr sz="1200" spc="-10" dirty="0">
                <a:latin typeface="Arial MT"/>
                <a:cs typeface="Arial MT"/>
              </a:rPr>
              <a:t> Conrey.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spc="-20" dirty="0">
                <a:latin typeface="Arial MT"/>
                <a:cs typeface="Arial MT"/>
              </a:rPr>
              <a:t>From </a:t>
            </a:r>
            <a:r>
              <a:rPr sz="1200" dirty="0">
                <a:latin typeface="Arial MT"/>
                <a:cs typeface="Arial MT"/>
              </a:rPr>
              <a:t>Winter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(2001)</a:t>
            </a:r>
            <a:r>
              <a:rPr sz="1200" spc="-8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An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Introduction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to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Igneous</a:t>
            </a:r>
            <a:r>
              <a:rPr sz="1200" spc="-10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and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Metamorphic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spc="-10" dirty="0">
                <a:latin typeface="Arial MT"/>
                <a:cs typeface="Arial MT"/>
              </a:rPr>
              <a:t>Petrology.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Prentice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spc="-10" dirty="0">
                <a:latin typeface="Arial MT"/>
                <a:cs typeface="Arial MT"/>
              </a:rPr>
              <a:t>Hall.</a:t>
            </a:r>
            <a:endParaRPr sz="1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2793" y="2138560"/>
            <a:ext cx="5308217" cy="406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30182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5919</TotalTime>
  <Words>757</Words>
  <Application>Microsoft Office PowerPoint</Application>
  <PresentationFormat>On-screen Show (4:3)</PresentationFormat>
  <Paragraphs>141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Default Design</vt:lpstr>
      <vt:lpstr>EES203: Geochemistry </vt:lpstr>
      <vt:lpstr>PowerPoint Presentation</vt:lpstr>
      <vt:lpstr>Partition coefficient or Distribution coefficient - 1</vt:lpstr>
      <vt:lpstr>Partition coefficient or Distribution coefficient - 2</vt:lpstr>
      <vt:lpstr>BULK PARTITION COEFFICIENT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Tectonic settings of primary magma series</vt:lpstr>
      <vt:lpstr>PowerPoint Presentation</vt:lpstr>
      <vt:lpstr>Fractionation of trace elements</vt:lpstr>
      <vt:lpstr>PowerPoint Presentation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jasmeenk4505@gmail.com</cp:lastModifiedBy>
  <cp:revision>142</cp:revision>
  <dcterms:created xsi:type="dcterms:W3CDTF">2005-10-26T18:01:58Z</dcterms:created>
  <dcterms:modified xsi:type="dcterms:W3CDTF">2025-03-07T18:40:51Z</dcterms:modified>
</cp:coreProperties>
</file>