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537" r:id="rId3"/>
    <p:sldId id="568" r:id="rId4"/>
    <p:sldId id="538" r:id="rId5"/>
    <p:sldId id="564" r:id="rId6"/>
    <p:sldId id="566" r:id="rId7"/>
    <p:sldId id="545" r:id="rId8"/>
    <p:sldId id="539" r:id="rId9"/>
    <p:sldId id="627" r:id="rId10"/>
    <p:sldId id="628" r:id="rId11"/>
    <p:sldId id="625" r:id="rId12"/>
    <p:sldId id="261" r:id="rId13"/>
    <p:sldId id="275" r:id="rId14"/>
    <p:sldId id="274" r:id="rId15"/>
    <p:sldId id="271" r:id="rId16"/>
    <p:sldId id="276" r:id="rId17"/>
    <p:sldId id="260" r:id="rId18"/>
    <p:sldId id="265" r:id="rId19"/>
    <p:sldId id="266" r:id="rId20"/>
    <p:sldId id="284" r:id="rId21"/>
    <p:sldId id="1019" r:id="rId22"/>
    <p:sldId id="925" r:id="rId23"/>
    <p:sldId id="1008" r:id="rId24"/>
    <p:sldId id="1009" r:id="rId25"/>
    <p:sldId id="1010" r:id="rId26"/>
    <p:sldId id="1011" r:id="rId27"/>
    <p:sldId id="1012" r:id="rId28"/>
    <p:sldId id="1013" r:id="rId29"/>
    <p:sldId id="1014" r:id="rId30"/>
    <p:sldId id="1015" r:id="rId31"/>
    <p:sldId id="1016" r:id="rId32"/>
    <p:sldId id="1017" r:id="rId33"/>
    <p:sldId id="1018" r:id="rId34"/>
    <p:sldId id="1020" r:id="rId3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5" autoAdjust="0"/>
    <p:restoredTop sz="93690" autoAdjust="0"/>
  </p:normalViewPr>
  <p:slideViewPr>
    <p:cSldViewPr>
      <p:cViewPr varScale="1">
        <p:scale>
          <a:sx n="61" d="100"/>
          <a:sy n="61" d="100"/>
        </p:scale>
        <p:origin x="13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12BC94-826C-44CC-9139-4D8AF4CCD7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DB217-5036-48E7-9F80-D8568EC4E5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495E4C6-17AD-4BA4-85ED-1CEF5353A859}" type="datetimeFigureOut">
              <a:rPr lang="en-IN"/>
              <a:pPr>
                <a:defRPr/>
              </a:pPr>
              <a:t>26-03-2025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099106-0BB6-43A6-A3E2-09D734B29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BCB12F-E21B-4BB3-98A4-F84DE7942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2BC49-BC64-4703-B80A-9476428F94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D10B2-65DA-4A6A-9411-A7CE5F94A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A50488F-DB6A-40AC-8FA4-772BF47F032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414ABAD5-3116-49DA-8539-C7165FDB2D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0B4A0F2A-7FAD-4E91-898B-06E27B972D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ea typeface="MS PGothic" panose="020B0600070205080204" pitchFamily="34" charset="-128"/>
              </a:rPr>
              <a:t>Change date</a:t>
            </a:r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085362BF-0C66-4AF3-BCED-827BF317E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5D03A1-DE83-46A8-80EF-264782F1475F}" type="slidenum">
              <a:rPr lang="en-US" altLang="en-US" sz="1200">
                <a:solidFill>
                  <a:srgbClr val="000000"/>
                </a:solidFill>
              </a:rPr>
              <a:pPr/>
              <a:t>2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93BB7A7-7C8E-4197-8A31-9D61830DB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A16BE423-A1A6-45F2-955E-E95FB9BC8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0AA31F71-4B2C-4041-A031-FC194EAB66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C74786F0-359B-45C1-BB7A-E89173B392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ea typeface="MS PGothic" panose="020B0600070205080204" pitchFamily="34" charset="-128"/>
              </a:rPr>
              <a:t>Effective at grabbing CO2, not just kinetics </a:t>
            </a:r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A2B4B034-8462-42F5-99F6-771A2658C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83FA7F1-FCFA-45B7-9EE6-8D3C75787927}" type="slidenum">
              <a:rPr lang="en-US" altLang="en-US" sz="1200"/>
              <a:pPr/>
              <a:t>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591099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>
            <a:extLst>
              <a:ext uri="{FF2B5EF4-FFF2-40B4-BE49-F238E27FC236}">
                <a16:creationId xmlns:a16="http://schemas.microsoft.com/office/drawing/2014/main" id="{22B2139F-D7A9-4BEF-BA3D-F793302887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>
            <a:extLst>
              <a:ext uri="{FF2B5EF4-FFF2-40B4-BE49-F238E27FC236}">
                <a16:creationId xmlns:a16="http://schemas.microsoft.com/office/drawing/2014/main" id="{BCBDE0A4-3ACC-408D-AE0C-E32D7654A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ea typeface="MS PGothic" panose="020B0600070205080204" pitchFamily="34" charset="-128"/>
              </a:rPr>
              <a:t>Separated in space (grab effective)</a:t>
            </a:r>
          </a:p>
        </p:txBody>
      </p:sp>
      <p:sp>
        <p:nvSpPr>
          <p:cNvPr id="115716" name="Slide Number Placeholder 3">
            <a:extLst>
              <a:ext uri="{FF2B5EF4-FFF2-40B4-BE49-F238E27FC236}">
                <a16:creationId xmlns:a16="http://schemas.microsoft.com/office/drawing/2014/main" id="{2BBBC629-48BD-4D55-B3A3-63F562B96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D1FA87-1BD9-4F0A-A9D8-3825D16F5564}" type="slidenum">
              <a:rPr lang="en-US" altLang="en-US" sz="1200"/>
              <a:pPr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18461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844048-5BB3-4D54-B382-75055EB8B53F}" type="slidenum">
              <a:rPr lang="en-IN"/>
              <a:pPr/>
              <a:t>12</a:t>
            </a:fld>
            <a:endParaRPr lang="en-IN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17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32B339-5ACC-4E1D-8851-4EA63AC88BB6}" type="slidenum">
              <a:rPr lang="en-IN"/>
              <a:pPr/>
              <a:t>17</a:t>
            </a:fld>
            <a:endParaRPr lang="en-IN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0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A633B3-FD12-498C-81E4-5461858B622B}" type="slidenum">
              <a:rPr lang="en-IN"/>
              <a:pPr/>
              <a:t>18</a:t>
            </a:fld>
            <a:endParaRPr lang="en-IN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27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D49DCD-AD3F-4CE4-A3A1-EB9407B20164}" type="slidenum">
              <a:rPr lang="en-IN"/>
              <a:pPr/>
              <a:t>19</a:t>
            </a:fld>
            <a:endParaRPr lang="en-IN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50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b83a4499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cb83a4499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4607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6D56EEDC-07A8-40B9-B3B2-2D17D15E50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FD1A2B21-2D2A-424B-A94D-2FBA58AC3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5A2E1B60-166B-49CA-AF65-FCFBBF98F8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53BD95A-0734-4064-87CC-B6AB1D2E9A8B}" type="slidenum">
              <a:rPr lang="en-US" altLang="en-US" smtClean="0">
                <a:latin typeface="Calibri" panose="020F0502020204030204" pitchFamily="34" charset="0"/>
              </a:rPr>
              <a:pPr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16E70C0-B760-4923-95FC-1F0CC6A994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0BFC198-F625-4555-B8F2-8447567E680B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0B14E9F-C5A6-4241-91BF-81065D725BC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FFB7904-0476-46A7-BB24-DC185DD1D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75877FEE-F6B9-42BC-8BFE-4698DA13A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311B082-03F4-408B-8B18-1B6643AA05D3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471AD40-47FF-4C1C-9CA3-6C4DCC1314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732BCEC-B678-44F5-A7D4-A1499A8C9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D9F28B9F-99A5-408E-9A3A-02226A031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6C83BB-0816-4D7E-9772-A66C3408AF91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65454DC-DFF1-43C7-9AFC-54AC7D3C9E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E675224-A6A6-437B-83CC-3CBBACFBC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5D012EE-6458-4FE8-92AD-4AEC83180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A9B644-8C6B-46FF-82E3-8175F40C8A3E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AE4E465-3433-4DA4-85D5-A673264998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1006F30-9A54-4560-8C8F-09C9EC61F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8EDF5E5-B666-4E3F-A39B-C8C7D24D89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D037C62-C4BE-4E77-98B7-79BAC91C4642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49BD0FF-EAB7-46D1-A11C-431BE03F51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D583238-1EC8-41BA-A3C0-FBA73952E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2B32241-EB22-4F8C-91A0-70DBFF241C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914BD43-5707-4204-9100-B98C547F118E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14C2AF2-E55A-450B-B44F-57B0969A22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7067580-AB96-422E-9BDE-50DA352CC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6C376205-9825-4018-8A11-1B0C4C98C4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403E8C6-D324-4536-B7B5-E50E6EFC80BF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610D694-9E17-449F-8BFE-E049393EC9D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1FE8DF1-CCEE-44C6-960D-56955691C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C7A6386D-DC1B-4348-BD26-98A510FC54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3B71391-B052-4E69-898A-83C3C97C0839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46A3BA7-BD35-43D1-B484-BED71BFCFA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ED72915-2DCA-4AB8-BA89-363A79799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3397190A-C792-47DC-A469-7104D957CD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CB23135-A799-49B2-8E7E-AB08136F0060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BB630B8-C4EE-461F-B8F9-D94756E59E1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B869D71-6CE1-456E-B67D-570C3A0EC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4A5CC7CA-A2A2-4C60-9DEA-E330FBF8E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270EA05-C749-44E5-AF61-155725888C7C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3454AE5-28E3-4359-8661-CF7555406A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AAB97037-7D07-4E75-BB67-4958BA2EE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2C91B225-EA50-4E84-9ADA-BB5564C8D1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4C0F515-A1A5-42EF-A5A4-D6DA488FB45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B5A3763-B478-4110-A334-ECED0209F7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FA467B1-F767-42B3-A56C-F1EB880A2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68C908B-5E03-4885-A50D-F513602BD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AB16A29-7DC1-4755-878A-FB444F0D0A1A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914F578-6052-449D-8D51-0B0DC16929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CB51D98-8A6E-4588-8FF4-7E92ED229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EE118F-D257-4318-A3A2-EECA1941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97103C-CE56-4C35-B5D2-E932D10544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1569ED-472A-4591-B1C8-91A8AA55F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EFD36-5984-457D-BADD-B4A3F349C2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97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13EFD9-AB6D-434D-BC2E-8B73CC13F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0ED277-8375-4E95-B412-94EF1677FA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1C59AB-1EAD-4FD8-95DC-AD356CFA4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D8436-06A3-43A4-BA5B-8AF70AEB64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54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24E2C6-9E75-43EE-99CD-453E04C865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018E45-3328-444D-8796-75B3B701D1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16A509-F4A7-48F3-809D-CBD23ED80F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74763-CD29-4242-A606-D01C110AD1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01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060A66-D792-4197-A450-15640D1F3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9D150-B008-4810-A642-BB58C29B57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CF246-2CD9-4EFD-B3F8-DA766CBABF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43884-E97C-43AC-91BE-818B2A6132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214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5DB130-3059-4B58-BDA5-BD072F56A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54EE56-C6A2-4D14-AF3C-BAE635180F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24C1A1F-C41E-4454-A02E-BDE256783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2C66B-8C25-4FE5-81EA-D279F10B6B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13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73D249-74BA-4FC7-9180-228CFD77E1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93F01-8B96-4D54-88E5-CA53B833D8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2D4A28-53D6-497F-985F-B1CEC7D70C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BF0EF-67B1-4AA0-81ED-91DE03744A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46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93C45B-F71B-46A7-A2A8-FEA3D83007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0F0BA5-4205-4DA9-8FA1-D723A7B5D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B7F91C-3F88-4469-8440-DA0A8B7F57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9F030-B1DE-440E-85E3-A637DEB7A7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88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62272-BBA7-43EA-9594-79B56445FE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9C3EE-B0C4-43D8-8138-EBD6BB89F0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D149F-91B7-4D2A-80E9-143AB91277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7294A-24AF-420B-8505-410263194C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2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11047-FFB1-4281-8AA7-C67D7FC172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64777-0A6E-44A1-9A52-089347C95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66FD0-7FB1-4473-9F5A-052CDF76D2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B33AA-D7D6-4AF9-8507-39A6605B27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51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E3C6A4-4B1A-4C68-BC9E-108062B1B4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1AA137-5DE1-4D94-A5C4-663255771B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788E28-AD11-4AD1-9E0C-EB1CB0AB2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7F969-126B-4625-93B3-22279DA28B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5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EFAED9-FCC2-4312-9DB9-099CCCC9F0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9ABCCB-6606-4ED6-BC8F-C27228E260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9E9A27-7F1E-4BB5-A7E3-48D09E2086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D6217-5208-4DAE-8F2B-4AF241D0CE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88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60734-F86E-485B-BE6F-D403DEB855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2688C-8C09-49D2-A3CF-4C4EFFBA9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977806-7D51-41C3-94F1-95ECDE1BC9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AD34F-7ECA-488C-A8FC-C0C1447E89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470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E3B21-9DDA-4FAF-8452-B0EFA960C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FC52A2-EE11-4000-BC5D-3C13454682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BEACE-6FB7-4B99-9A67-9CEBD7FFC9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F27C2-0E5F-4AAB-8874-A93956E577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30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5B2030-82C9-44DC-877E-585150106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A63B46-2CC7-4C4C-B290-7BAAA1F63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AE760F-22F1-45C9-8239-30305B70D9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35B8D3-8F19-4A2C-AD58-BE3E89625A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8A7449-CC58-4CEF-AE5E-3A0514B9DB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A6E29DF-0E91-4F06-8705-C054EB6BBD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oop@iisermohali.ac.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en.wikipedia.org/wiki/Arid" TargetMode="External"/><Relationship Id="rId5" Type="http://schemas.openxmlformats.org/officeDocument/2006/relationships/hyperlink" Target="http://en.wikipedia.org/wiki/Plant" TargetMode="External"/><Relationship Id="rId4" Type="http://schemas.openxmlformats.org/officeDocument/2006/relationships/hyperlink" Target="http://en.wikipedia.org/wiki/Carbon_fixa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EF3740-78F8-4AF7-B9C0-B2112BDC18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295400"/>
            <a:ext cx="7459663" cy="641350"/>
          </a:xfrm>
        </p:spPr>
        <p:txBody>
          <a:bodyPr lIns="0" tIns="38100" rIns="0" bIns="0">
            <a:spAutoFit/>
          </a:bodyPr>
          <a:lstStyle/>
          <a:p>
            <a:pPr marL="1901825" indent="-1889125">
              <a:lnSpc>
                <a:spcPts val="4700"/>
              </a:lnSpc>
              <a:spcBef>
                <a:spcPts val="300"/>
              </a:spcBef>
            </a:pPr>
            <a:r>
              <a:rPr lang="en-IN" altLang="en-US">
                <a:solidFill>
                  <a:srgbClr val="000000"/>
                </a:solidFill>
              </a:rPr>
              <a:t>EES203: Geochemistry 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6A1D54-95EB-4BB2-BAD9-B64ADC3C8E58}"/>
              </a:ext>
            </a:extLst>
          </p:cNvPr>
          <p:cNvSpPr txBox="1"/>
          <p:nvPr/>
        </p:nvSpPr>
        <p:spPr>
          <a:xfrm>
            <a:off x="1555750" y="2133600"/>
            <a:ext cx="7848600" cy="1198563"/>
          </a:xfrm>
          <a:prstGeom prst="rect">
            <a:avLst/>
          </a:prstGeom>
        </p:spPr>
        <p:txBody>
          <a:bodyPr lIns="0" tIns="110490" rIns="0" bIns="0">
            <a:spAutoFit/>
          </a:bodyPr>
          <a:lstStyle/>
          <a:p>
            <a:pPr marL="12700">
              <a:spcBef>
                <a:spcPts val="765"/>
              </a:spcBef>
              <a:defRPr/>
            </a:pPr>
            <a:r>
              <a:rPr sz="3200" dirty="0">
                <a:latin typeface="Times New Roman"/>
                <a:cs typeface="Times New Roman"/>
              </a:rPr>
              <a:t>Instructor:</a:t>
            </a:r>
            <a:r>
              <a:rPr sz="3200" spc="-2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Anoop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Ambili</a:t>
            </a:r>
            <a:endParaRPr lang="en-IN" sz="3200" spc="-10" dirty="0">
              <a:latin typeface="Times New Roman"/>
              <a:cs typeface="Times New Roman"/>
            </a:endParaRPr>
          </a:p>
          <a:p>
            <a:pPr marL="12700">
              <a:spcBef>
                <a:spcPts val="770"/>
              </a:spcBef>
              <a:defRPr/>
            </a:pPr>
            <a:r>
              <a:rPr sz="3200" dirty="0">
                <a:latin typeface="Times New Roman"/>
                <a:cs typeface="Times New Roman"/>
              </a:rPr>
              <a:t>Email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id: </a:t>
            </a:r>
            <a:r>
              <a:rPr sz="3200" spc="-10" dirty="0">
                <a:latin typeface="Times New Roman"/>
                <a:cs typeface="Times New Roman"/>
                <a:hlinkClick r:id="rId2"/>
              </a:rPr>
              <a:t>anoop@iisermohali.ac.in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40516A7A-E586-429F-A6D9-1A99AD515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514600"/>
            <a:ext cx="2667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solidFill>
                  <a:srgbClr val="3333CC"/>
                </a:solidFill>
              </a:rPr>
              <a:t>Carbon isotopes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65E7DE98-F6DE-4A85-8A76-B0153807F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1630363"/>
            <a:ext cx="184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1" descr="Snapshot 2010-11-02 14-14-08.tiff">
            <a:extLst>
              <a:ext uri="{FF2B5EF4-FFF2-40B4-BE49-F238E27FC236}">
                <a16:creationId xmlns:a16="http://schemas.microsoft.com/office/drawing/2014/main" id="{FAF46809-58CE-4E5B-B1F2-92CBB9ED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8763"/>
            <a:ext cx="6629400" cy="641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98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1">
            <a:extLst>
              <a:ext uri="{FF2B5EF4-FFF2-40B4-BE49-F238E27FC236}">
                <a16:creationId xmlns:a16="http://schemas.microsoft.com/office/drawing/2014/main" id="{53007F68-9622-4024-8180-A37720B85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305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Case study: </a:t>
            </a:r>
            <a:r>
              <a:rPr lang="en-US" altLang="en-US" b="1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altLang="en-US" b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13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C of bulk organic matter to determine source</a:t>
            </a:r>
          </a:p>
        </p:txBody>
      </p:sp>
      <p:pic>
        <p:nvPicPr>
          <p:cNvPr id="63491" name="Picture 4" descr="d13Cplants">
            <a:extLst>
              <a:ext uri="{FF2B5EF4-FFF2-40B4-BE49-F238E27FC236}">
                <a16:creationId xmlns:a16="http://schemas.microsoft.com/office/drawing/2014/main" id="{A4D1B3D3-D7AD-438B-846F-AAE7EA123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919163"/>
            <a:ext cx="6769100" cy="446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TextBox 3">
            <a:extLst>
              <a:ext uri="{FF2B5EF4-FFF2-40B4-BE49-F238E27FC236}">
                <a16:creationId xmlns:a16="http://schemas.microsoft.com/office/drawing/2014/main" id="{9B77D04B-D198-4672-9CDA-A064699F4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867400"/>
            <a:ext cx="90213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altLang="en-US" sz="1400" b="1" baseline="-25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4</a:t>
            </a:r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= grasses Crassulacean acid metabolism, also known as CAM photosynthesis, is a </a:t>
            </a:r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hlinkClick r:id="rId4" tooltip="Carbon fixation"/>
              </a:rPr>
              <a:t>carbon fixation</a:t>
            </a:r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pathway </a:t>
            </a:r>
          </a:p>
          <a:p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that evolved in some </a:t>
            </a:r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hlinkClick r:id="rId5" tooltip="Plant"/>
              </a:rPr>
              <a:t>plants</a:t>
            </a:r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as an adaptation to </a:t>
            </a:r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hlinkClick r:id="rId6" tooltip="Arid"/>
              </a:rPr>
              <a:t>arid</a:t>
            </a:r>
            <a:r>
              <a:rPr lang="en-US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conditions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4" name="Group 7">
            <a:extLst>
              <a:ext uri="{FF2B5EF4-FFF2-40B4-BE49-F238E27FC236}">
                <a16:creationId xmlns:a16="http://schemas.microsoft.com/office/drawing/2014/main" id="{445DF9C2-8341-4CC7-B170-7A8BB015F62F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492375"/>
            <a:ext cx="6400800" cy="3238500"/>
            <a:chOff x="1248" y="288"/>
            <a:chExt cx="4032" cy="2040"/>
          </a:xfrm>
        </p:grpSpPr>
        <p:pic>
          <p:nvPicPr>
            <p:cNvPr id="84999" name="Picture 4">
              <a:extLst>
                <a:ext uri="{FF2B5EF4-FFF2-40B4-BE49-F238E27FC236}">
                  <a16:creationId xmlns:a16="http://schemas.microsoft.com/office/drawing/2014/main" id="{F74EBC00-863C-4FCF-AFB3-1E7546572A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4" y="288"/>
              <a:ext cx="3966" cy="1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000" name="Picture 6">
              <a:extLst>
                <a:ext uri="{FF2B5EF4-FFF2-40B4-BE49-F238E27FC236}">
                  <a16:creationId xmlns:a16="http://schemas.microsoft.com/office/drawing/2014/main" id="{02466B49-1E5E-4BFC-9356-3B42F1C98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992"/>
              <a:ext cx="400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4995" name="AutoShape 8">
            <a:extLst>
              <a:ext uri="{FF2B5EF4-FFF2-40B4-BE49-F238E27FC236}">
                <a16:creationId xmlns:a16="http://schemas.microsoft.com/office/drawing/2014/main" id="{7C2F2BC6-C512-486E-9398-3201F2D5ABA4}"/>
              </a:ext>
            </a:extLst>
          </p:cNvPr>
          <p:cNvSpPr>
            <a:spLocks/>
          </p:cNvSpPr>
          <p:nvPr/>
        </p:nvSpPr>
        <p:spPr bwMode="auto">
          <a:xfrm>
            <a:off x="2209800" y="2667000"/>
            <a:ext cx="457200" cy="2514600"/>
          </a:xfrm>
          <a:prstGeom prst="lef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84996" name="Text Box 10">
            <a:extLst>
              <a:ext uri="{FF2B5EF4-FFF2-40B4-BE49-F238E27FC236}">
                <a16:creationId xmlns:a16="http://schemas.microsoft.com/office/drawing/2014/main" id="{59B5358E-8072-46E4-B82F-4EE62D9F7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41663"/>
            <a:ext cx="2268538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cs typeface="Times New Roman" panose="02020603050405020304" pitchFamily="18" charset="0"/>
              </a:rPr>
              <a:t>C3 Pathway</a:t>
            </a:r>
          </a:p>
          <a:p>
            <a:pPr>
              <a:buFontTx/>
              <a:buChar char="-"/>
            </a:pPr>
            <a:r>
              <a:rPr lang="en-US" altLang="en-US">
                <a:cs typeface="Times New Roman" panose="02020603050405020304" pitchFamily="18" charset="0"/>
              </a:rPr>
              <a:t>enzyme-mediated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(RUBISCO)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-RUBISCO fixes 1 O</a:t>
            </a:r>
            <a:r>
              <a:rPr lang="en-US" altLang="en-US" baseline="-25000">
                <a:cs typeface="Times New Roman" panose="02020603050405020304" pitchFamily="18" charset="0"/>
              </a:rPr>
              <a:t>2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for every 5 CO</a:t>
            </a:r>
            <a:r>
              <a:rPr lang="en-US" altLang="en-US" baseline="-25000">
                <a:cs typeface="Times New Roman" panose="02020603050405020304" pitchFamily="18" charset="0"/>
              </a:rPr>
              <a:t>2</a:t>
            </a:r>
          </a:p>
          <a:p>
            <a:pPr>
              <a:buFontTx/>
              <a:buChar char="-"/>
            </a:pPr>
            <a:r>
              <a:rPr lang="ja-JP" altLang="en-US">
                <a:ea typeface="MS PGothic" panose="020B0600070205080204" pitchFamily="34" charset="-128"/>
                <a:cs typeface="Times New Roman" panose="02020603050405020304" pitchFamily="18" charset="0"/>
              </a:rPr>
              <a:t>“</a:t>
            </a:r>
            <a:r>
              <a:rPr lang="en-US" altLang="ja-JP">
                <a:ea typeface="MS PGothic" panose="020B0600070205080204" pitchFamily="34" charset="-128"/>
                <a:cs typeface="Times New Roman" panose="02020603050405020304" pitchFamily="18" charset="0"/>
              </a:rPr>
              <a:t>Calvin</a:t>
            </a:r>
            <a:r>
              <a:rPr lang="ja-JP" altLang="en-US">
                <a:ea typeface="MS PGothic" panose="020B0600070205080204" pitchFamily="34" charset="-128"/>
                <a:cs typeface="Times New Roman" panose="02020603050405020304" pitchFamily="18" charset="0"/>
              </a:rPr>
              <a:t>”</a:t>
            </a:r>
            <a:r>
              <a:rPr lang="en-US" altLang="ja-JP">
                <a:ea typeface="MS PGothic" panose="020B0600070205080204" pitchFamily="34" charset="-128"/>
                <a:cs typeface="Times New Roman" panose="02020603050405020304" pitchFamily="18" charset="0"/>
              </a:rPr>
              <a:t> cycle</a:t>
            </a:r>
          </a:p>
          <a:p>
            <a:pPr>
              <a:buFontTx/>
              <a:buChar char="-"/>
            </a:pPr>
            <a:r>
              <a:rPr lang="en-US" altLang="en-US">
                <a:cs typeface="Times New Roman" panose="02020603050405020304" pitchFamily="18" charset="0"/>
              </a:rPr>
              <a:t>90% of all plants</a:t>
            </a:r>
          </a:p>
          <a:p>
            <a:pPr>
              <a:buFontTx/>
              <a:buChar char="-"/>
            </a:pPr>
            <a:r>
              <a:rPr lang="en-US" altLang="en-US">
                <a:solidFill>
                  <a:srgbClr val="CC0000"/>
                </a:solidFill>
                <a:cs typeface="Times New Roman" panose="02020603050405020304" pitchFamily="18" charset="0"/>
              </a:rPr>
              <a:t>20-30‰ fractionation</a:t>
            </a:r>
          </a:p>
          <a:p>
            <a:pPr>
              <a:buFontTx/>
              <a:buChar char="-"/>
            </a:pP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19460" name="Text Box 13">
            <a:extLst>
              <a:ext uri="{FF2B5EF4-FFF2-40B4-BE49-F238E27FC236}">
                <a16:creationId xmlns:a16="http://schemas.microsoft.com/office/drawing/2014/main" id="{A18EAE41-B33C-4E1A-94D6-464EC51C9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8458200" cy="175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008000"/>
                </a:solidFill>
                <a:cs typeface="Times New Roman" pitchFamily="18" charset="0"/>
              </a:rPr>
              <a:t>Terrestrial photosynthesis</a:t>
            </a:r>
            <a:r>
              <a:rPr lang="en-US" dirty="0">
                <a:cs typeface="Times New Roman" pitchFamily="18" charset="0"/>
              </a:rPr>
              <a:t> - theoretical calculations predict a 4.4‰ 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cs typeface="Times New Roman" pitchFamily="18" charset="0"/>
              </a:rPr>
              <a:t>	</a:t>
            </a:r>
            <a:r>
              <a:rPr lang="en-US" b="1" i="1" dirty="0">
                <a:cs typeface="Times New Roman" pitchFamily="18" charset="0"/>
              </a:rPr>
              <a:t>kinetic</a:t>
            </a:r>
            <a:r>
              <a:rPr lang="en-US" dirty="0">
                <a:cs typeface="Times New Roman" pitchFamily="18" charset="0"/>
              </a:rPr>
              <a:t> fractionation for CO</a:t>
            </a:r>
            <a:r>
              <a:rPr lang="en-US" baseline="-25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(g) moving from air through stomata to site of 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cs typeface="Times New Roman" pitchFamily="18" charset="0"/>
              </a:rPr>
              <a:t>	photosynthesis</a:t>
            </a:r>
          </a:p>
          <a:p>
            <a:pPr>
              <a:lnSpc>
                <a:spcPct val="150000"/>
              </a:lnSpc>
              <a:defRPr/>
            </a:pPr>
            <a:endParaRPr lang="en-US" i="1" dirty="0">
              <a:latin typeface="+mn-lt"/>
            </a:endParaRPr>
          </a:p>
        </p:txBody>
      </p:sp>
      <p:sp>
        <p:nvSpPr>
          <p:cNvPr id="84998" name="Text Box 15">
            <a:extLst>
              <a:ext uri="{FF2B5EF4-FFF2-40B4-BE49-F238E27FC236}">
                <a16:creationId xmlns:a16="http://schemas.microsoft.com/office/drawing/2014/main" id="{D60C089D-1398-4A86-BC17-B553FCBEE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0350"/>
            <a:ext cx="203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accent2"/>
                </a:solidFill>
                <a:cs typeface="Times New Roman" panose="02020603050405020304" pitchFamily="18" charset="0"/>
              </a:rPr>
              <a:t>Photosynthesis</a:t>
            </a:r>
          </a:p>
        </p:txBody>
      </p:sp>
    </p:spTree>
    <p:extLst>
      <p:ext uri="{BB962C8B-B14F-4D97-AF65-F5344CB8AC3E}">
        <p14:creationId xmlns:p14="http://schemas.microsoft.com/office/powerpoint/2010/main" val="294299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4">
            <a:extLst>
              <a:ext uri="{FF2B5EF4-FFF2-40B4-BE49-F238E27FC236}">
                <a16:creationId xmlns:a16="http://schemas.microsoft.com/office/drawing/2014/main" id="{BD0F2D3A-8170-4834-8B9C-0F083C825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81000"/>
            <a:ext cx="49149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3" name="AutoShape 5">
            <a:extLst>
              <a:ext uri="{FF2B5EF4-FFF2-40B4-BE49-F238E27FC236}">
                <a16:creationId xmlns:a16="http://schemas.microsoft.com/office/drawing/2014/main" id="{DD20A597-AC5B-478A-89ED-060BCD34F2AE}"/>
              </a:ext>
            </a:extLst>
          </p:cNvPr>
          <p:cNvSpPr>
            <a:spLocks/>
          </p:cNvSpPr>
          <p:nvPr/>
        </p:nvSpPr>
        <p:spPr bwMode="auto">
          <a:xfrm>
            <a:off x="2552700" y="742950"/>
            <a:ext cx="457200" cy="2133600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87044" name="Text Box 6">
            <a:extLst>
              <a:ext uri="{FF2B5EF4-FFF2-40B4-BE49-F238E27FC236}">
                <a16:creationId xmlns:a16="http://schemas.microsoft.com/office/drawing/2014/main" id="{17DA939C-5134-43D8-84E5-675F1C6B5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90512"/>
            <a:ext cx="2590800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 dirty="0"/>
              <a:t>C4 Pathway</a:t>
            </a:r>
          </a:p>
          <a:p>
            <a:pPr>
              <a:buFontTx/>
              <a:buChar char="-"/>
            </a:pPr>
            <a:r>
              <a:rPr lang="en-US" altLang="en-US" dirty="0"/>
              <a:t>desert plants, some</a:t>
            </a:r>
          </a:p>
          <a:p>
            <a:pPr lvl="1"/>
            <a:r>
              <a:rPr lang="en-US" altLang="en-US" dirty="0"/>
              <a:t>tropical species</a:t>
            </a:r>
          </a:p>
          <a:p>
            <a:pPr>
              <a:buFontTx/>
              <a:buChar char="-"/>
            </a:pPr>
            <a:r>
              <a:rPr lang="en-US" altLang="en-US" dirty="0"/>
              <a:t>enzyme-mediated</a:t>
            </a:r>
          </a:p>
          <a:p>
            <a:r>
              <a:rPr lang="en-US" altLang="en-US" dirty="0"/>
              <a:t> (PEP)</a:t>
            </a:r>
          </a:p>
          <a:p>
            <a:pPr>
              <a:buFontTx/>
              <a:buChar char="-"/>
            </a:pP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Hatch-Slack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cycle</a:t>
            </a:r>
          </a:p>
          <a:p>
            <a:pPr>
              <a:buFontTx/>
              <a:buChar char="-"/>
            </a:pPr>
            <a:r>
              <a:rPr lang="en-US" altLang="en-US" dirty="0"/>
              <a:t>10% of all plants</a:t>
            </a:r>
          </a:p>
          <a:p>
            <a:pPr>
              <a:buFontTx/>
              <a:buChar char="-"/>
            </a:pPr>
            <a:r>
              <a:rPr lang="en-US" altLang="en-US" dirty="0">
                <a:solidFill>
                  <a:srgbClr val="CC0000"/>
                </a:solidFill>
              </a:rPr>
              <a:t>13</a:t>
            </a:r>
            <a:r>
              <a:rPr lang="en-US" altLang="en-US" dirty="0">
                <a:solidFill>
                  <a:srgbClr val="CC0000"/>
                </a:solidFill>
                <a:cs typeface="Arial" panose="020B0604020202020204" pitchFamily="34" charset="0"/>
              </a:rPr>
              <a:t>‰ fractionation</a:t>
            </a:r>
          </a:p>
          <a:p>
            <a:pPr>
              <a:buFontTx/>
              <a:buChar char="-"/>
            </a:pPr>
            <a:endParaRPr lang="en-US" altLang="en-US" dirty="0">
              <a:cs typeface="Arial" panose="020B0604020202020204" pitchFamily="34" charset="0"/>
            </a:endParaRPr>
          </a:p>
        </p:txBody>
      </p:sp>
      <p:pic>
        <p:nvPicPr>
          <p:cNvPr id="87045" name="Picture 7" descr="C4schematic">
            <a:extLst>
              <a:ext uri="{FF2B5EF4-FFF2-40B4-BE49-F238E27FC236}">
                <a16:creationId xmlns:a16="http://schemas.microsoft.com/office/drawing/2014/main" id="{A45AEBA1-86A9-40F9-83DE-6EFB31230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4142748"/>
            <a:ext cx="2133600" cy="2334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Text Box 8">
            <a:extLst>
              <a:ext uri="{FF2B5EF4-FFF2-40B4-BE49-F238E27FC236}">
                <a16:creationId xmlns:a16="http://schemas.microsoft.com/office/drawing/2014/main" id="{C5934637-E530-42BF-9448-EE1F017F3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606" y="3276600"/>
            <a:ext cx="397668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i="1" dirty="0"/>
              <a:t>NOTE</a:t>
            </a:r>
            <a:r>
              <a:rPr lang="en-US" altLang="en-US" i="1" dirty="0"/>
              <a:t>:  C4 plants still execute </a:t>
            </a:r>
            <a:r>
              <a:rPr lang="ja-JP" altLang="en-US" i="1" dirty="0">
                <a:ea typeface="MS PGothic" panose="020B0600070205080204" pitchFamily="34" charset="-128"/>
              </a:rPr>
              <a:t>“</a:t>
            </a:r>
            <a:r>
              <a:rPr lang="en-US" altLang="ja-JP" i="1" dirty="0">
                <a:ea typeface="MS PGothic" panose="020B0600070205080204" pitchFamily="34" charset="-128"/>
              </a:rPr>
              <a:t>Calvin</a:t>
            </a:r>
            <a:r>
              <a:rPr lang="ja-JP" altLang="en-US" i="1" dirty="0">
                <a:ea typeface="MS PGothic" panose="020B0600070205080204" pitchFamily="34" charset="-128"/>
              </a:rPr>
              <a:t>”</a:t>
            </a:r>
            <a:endParaRPr lang="en-US" altLang="ja-JP" i="1" dirty="0">
              <a:ea typeface="MS PGothic" panose="020B0600070205080204" pitchFamily="34" charset="-128"/>
            </a:endParaRPr>
          </a:p>
          <a:p>
            <a:r>
              <a:rPr lang="en-US" altLang="en-US" i="1" dirty="0"/>
              <a:t>cycle, but CO2 grabbing and actual</a:t>
            </a:r>
          </a:p>
          <a:p>
            <a:r>
              <a:rPr lang="en-US" altLang="en-US" i="1" dirty="0"/>
              <a:t>carbon fixation happening in different cells</a:t>
            </a:r>
          </a:p>
        </p:txBody>
      </p:sp>
      <p:pic>
        <p:nvPicPr>
          <p:cNvPr id="87047" name="Picture 9">
            <a:extLst>
              <a:ext uri="{FF2B5EF4-FFF2-40B4-BE49-F238E27FC236}">
                <a16:creationId xmlns:a16="http://schemas.microsoft.com/office/drawing/2014/main" id="{7091686E-8516-48D8-9739-554C2B8F1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69" y="4693832"/>
            <a:ext cx="4652962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581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>
            <a:extLst>
              <a:ext uri="{FF2B5EF4-FFF2-40B4-BE49-F238E27FC236}">
                <a16:creationId xmlns:a16="http://schemas.microsoft.com/office/drawing/2014/main" id="{52456E8B-8812-4934-B1A2-EA23AC079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2" r="6194"/>
          <a:stretch>
            <a:fillRect/>
          </a:stretch>
        </p:blipFill>
        <p:spPr bwMode="auto">
          <a:xfrm>
            <a:off x="1187450" y="1341438"/>
            <a:ext cx="6624638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Rectangle 2">
            <a:extLst>
              <a:ext uri="{FF2B5EF4-FFF2-40B4-BE49-F238E27FC236}">
                <a16:creationId xmlns:a16="http://schemas.microsoft.com/office/drawing/2014/main" id="{C08EFA56-8DCE-41DA-A37B-9175FB278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88913"/>
            <a:ext cx="3382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cs typeface="Times New Roman" panose="02020603050405020304" pitchFamily="18" charset="0"/>
              </a:rPr>
              <a:t>C</a:t>
            </a:r>
            <a:r>
              <a:rPr lang="en-US" altLang="en-US" b="1" baseline="-25000">
                <a:cs typeface="Times New Roman" panose="02020603050405020304" pitchFamily="18" charset="0"/>
              </a:rPr>
              <a:t>3</a:t>
            </a:r>
            <a:r>
              <a:rPr lang="en-US" altLang="en-US" b="1">
                <a:cs typeface="Times New Roman" panose="02020603050405020304" pitchFamily="18" charset="0"/>
              </a:rPr>
              <a:t> vs C</a:t>
            </a:r>
            <a:r>
              <a:rPr lang="en-US" altLang="en-US" b="1" baseline="-25000">
                <a:cs typeface="Times New Roman" panose="02020603050405020304" pitchFamily="18" charset="0"/>
              </a:rPr>
              <a:t>4</a:t>
            </a:r>
            <a:r>
              <a:rPr lang="en-US" altLang="en-US" b="1">
                <a:cs typeface="Times New Roman" panose="02020603050405020304" pitchFamily="18" charset="0"/>
              </a:rPr>
              <a:t> plants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Box 1">
            <a:extLst>
              <a:ext uri="{FF2B5EF4-FFF2-40B4-BE49-F238E27FC236}">
                <a16:creationId xmlns:a16="http://schemas.microsoft.com/office/drawing/2014/main" id="{EC5F5A63-EC25-49E8-B29B-534D5F184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9721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Case study: profiles of </a:t>
            </a:r>
            <a:r>
              <a:rPr lang="en-US" altLang="en-US" b="1" dirty="0">
                <a:solidFill>
                  <a:srgbClr val="FF0000"/>
                </a:solidFill>
                <a:latin typeface="Symbol" panose="05050102010706020507" pitchFamily="18" charset="2"/>
              </a:rPr>
              <a:t>d</a:t>
            </a:r>
            <a:r>
              <a:rPr lang="en-US" altLang="en-US" b="1" baseline="30000" dirty="0">
                <a:solidFill>
                  <a:srgbClr val="FF0000"/>
                </a:solidFill>
              </a:rPr>
              <a:t>13</a:t>
            </a:r>
            <a:r>
              <a:rPr lang="en-US" altLang="en-US" b="1" dirty="0">
                <a:solidFill>
                  <a:srgbClr val="FF0000"/>
                </a:solidFill>
              </a:rPr>
              <a:t>C 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to estimate primary productivity</a:t>
            </a:r>
          </a:p>
        </p:txBody>
      </p:sp>
      <p:sp>
        <p:nvSpPr>
          <p:cNvPr id="64515" name="TextBox 2">
            <a:extLst>
              <a:ext uri="{FF2B5EF4-FFF2-40B4-BE49-F238E27FC236}">
                <a16:creationId xmlns:a16="http://schemas.microsoft.com/office/drawing/2014/main" id="{340C6CD5-983E-460D-88B3-79D9CA3FD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53" y="1524000"/>
            <a:ext cx="4283075" cy="113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dirty="0"/>
              <a:t>The profiles of </a:t>
            </a:r>
            <a:r>
              <a:rPr lang="en-US" altLang="en-US" dirty="0">
                <a:latin typeface="Symbol" panose="05050102010706020507" pitchFamily="18" charset="2"/>
              </a:rPr>
              <a:t>d</a:t>
            </a:r>
            <a:r>
              <a:rPr lang="en-US" altLang="en-US" baseline="30000" dirty="0"/>
              <a:t>13</a:t>
            </a:r>
            <a:r>
              <a:rPr lang="en-US" altLang="en-US" dirty="0"/>
              <a:t>C  can be used to estimate primary productivity</a:t>
            </a:r>
          </a:p>
        </p:txBody>
      </p:sp>
      <p:sp>
        <p:nvSpPr>
          <p:cNvPr id="64516" name="TextBox 3">
            <a:extLst>
              <a:ext uri="{FF2B5EF4-FFF2-40B4-BE49-F238E27FC236}">
                <a16:creationId xmlns:a16="http://schemas.microsoft.com/office/drawing/2014/main" id="{E0BB1E58-AA3B-4808-B7CC-75EBD1EA7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207897"/>
            <a:ext cx="39624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dirty="0"/>
              <a:t>More photosynthesis in surface results in a heavier </a:t>
            </a:r>
            <a:r>
              <a:rPr lang="en-US" altLang="en-US" dirty="0">
                <a:latin typeface="Symbol" panose="05050102010706020507" pitchFamily="18" charset="2"/>
              </a:rPr>
              <a:t>d</a:t>
            </a:r>
            <a:r>
              <a:rPr lang="en-US" altLang="en-US" baseline="30000" dirty="0"/>
              <a:t>13</a:t>
            </a:r>
            <a:r>
              <a:rPr lang="en-US" altLang="en-US" dirty="0"/>
              <a:t>C, resulting in a more positive </a:t>
            </a:r>
            <a:r>
              <a:rPr lang="en-US" altLang="en-US" dirty="0">
                <a:latin typeface="Symbol" panose="05050102010706020507" pitchFamily="18" charset="2"/>
              </a:rPr>
              <a:t>d</a:t>
            </a:r>
            <a:r>
              <a:rPr lang="en-US" altLang="en-US" baseline="30000" dirty="0"/>
              <a:t>13</a:t>
            </a:r>
            <a:r>
              <a:rPr lang="en-US" altLang="en-US" dirty="0"/>
              <a:t>C in surface DIC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4517" name="Picture 4" descr="d18Od13CProfiles">
            <a:extLst>
              <a:ext uri="{FF2B5EF4-FFF2-40B4-BE49-F238E27FC236}">
                <a16:creationId xmlns:a16="http://schemas.microsoft.com/office/drawing/2014/main" id="{DBE6BDB1-6FD9-4DAE-A428-25E2036C7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06"/>
          <a:stretch>
            <a:fillRect/>
          </a:stretch>
        </p:blipFill>
        <p:spPr bwMode="auto">
          <a:xfrm>
            <a:off x="4427538" y="692150"/>
            <a:ext cx="3240087" cy="531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6">
            <a:extLst>
              <a:ext uri="{FF2B5EF4-FFF2-40B4-BE49-F238E27FC236}">
                <a16:creationId xmlns:a16="http://schemas.microsoft.com/office/drawing/2014/main" id="{AD3B3822-01BE-406F-98C6-14F7BE62C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6308725"/>
            <a:ext cx="194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ea typeface="MS PGothic" panose="020B0600070205080204" pitchFamily="34" charset="-128"/>
              </a:rPr>
              <a:t>North Atlantic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2FADD3-A9A9-4C77-82B2-DB63C702F7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64" t="3151" r="6866"/>
          <a:stretch/>
        </p:blipFill>
        <p:spPr>
          <a:xfrm>
            <a:off x="304800" y="762000"/>
            <a:ext cx="8077200" cy="5378027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0A589C86-E72E-48E8-8D05-D15C37E50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9721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dirty="0">
                <a:cs typeface="Times New Roman" panose="02020603050405020304" pitchFamily="18" charset="0"/>
              </a:rPr>
              <a:t>Carbon Isotope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E60B1-DA7E-4C0C-B155-ACFF1D20C38A}"/>
              </a:ext>
            </a:extLst>
          </p:cNvPr>
          <p:cNvSpPr txBox="1"/>
          <p:nvPr/>
        </p:nvSpPr>
        <p:spPr>
          <a:xfrm>
            <a:off x="5250904" y="6140027"/>
            <a:ext cx="3893096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400" dirty="0">
                <a:cs typeface="Times New Roman" panose="02020603050405020304" pitchFamily="18" charset="0"/>
              </a:rPr>
              <a:t>Source: Chapter 10 (Environmental and Low Temperature Geochemistry; Ryan, 2014)</a:t>
            </a:r>
          </a:p>
        </p:txBody>
      </p:sp>
    </p:spTree>
    <p:extLst>
      <p:ext uri="{BB962C8B-B14F-4D97-AF65-F5344CB8AC3E}">
        <p14:creationId xmlns:p14="http://schemas.microsoft.com/office/powerpoint/2010/main" val="123396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8EFB6-7AEE-4D5F-B1B4-116A1E9675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24" r="4032"/>
          <a:stretch/>
        </p:blipFill>
        <p:spPr>
          <a:xfrm>
            <a:off x="457199" y="896112"/>
            <a:ext cx="8229601" cy="5065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B208A3-AA75-4DCC-AF18-D7C437CF1E72}"/>
              </a:ext>
            </a:extLst>
          </p:cNvPr>
          <p:cNvSpPr txBox="1"/>
          <p:nvPr/>
        </p:nvSpPr>
        <p:spPr>
          <a:xfrm>
            <a:off x="5250904" y="6291872"/>
            <a:ext cx="4650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>
                <a:cs typeface="Times New Roman" panose="02020603050405020304" pitchFamily="18" charset="0"/>
              </a:rPr>
              <a:t>Source: Chapter 10 (Environmental and Low Temperature Geochemistry; Ryan, 2014)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C05A0E5-7E1F-4FFA-98A0-B57078761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9721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dirty="0">
                <a:cs typeface="Times New Roman" panose="02020603050405020304" pitchFamily="18" charset="0"/>
              </a:rPr>
              <a:t>Carbon Isotope values</a:t>
            </a:r>
          </a:p>
        </p:txBody>
      </p:sp>
    </p:spTree>
    <p:extLst>
      <p:ext uri="{BB962C8B-B14F-4D97-AF65-F5344CB8AC3E}">
        <p14:creationId xmlns:p14="http://schemas.microsoft.com/office/powerpoint/2010/main" val="3778765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B087324-7004-4731-823F-7167EA3CB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95400"/>
            <a:ext cx="7772400" cy="513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BD7134-4EE3-47F8-A389-47169F021D8D}"/>
              </a:ext>
            </a:extLst>
          </p:cNvPr>
          <p:cNvSpPr txBox="1"/>
          <p:nvPr/>
        </p:nvSpPr>
        <p:spPr>
          <a:xfrm>
            <a:off x="152400" y="109110"/>
            <a:ext cx="457200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latin typeface="+mj-lt"/>
                <a:cs typeface="Times New Roman" panose="02020603050405020304" pitchFamily="18" charset="0"/>
              </a:rPr>
              <a:t>Information on “paleodiet”</a:t>
            </a:r>
          </a:p>
        </p:txBody>
      </p:sp>
    </p:spTree>
    <p:extLst>
      <p:ext uri="{BB962C8B-B14F-4D97-AF65-F5344CB8AC3E}">
        <p14:creationId xmlns:p14="http://schemas.microsoft.com/office/powerpoint/2010/main" val="2032711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r>
              <a:rPr lang="en-US" sz="3600" b="1" dirty="0">
                <a:latin typeface="Times New Roman" pitchFamily="18" charset="0"/>
              </a:rPr>
              <a:t>Isotopes of Strontium</a:t>
            </a:r>
            <a:endParaRPr lang="en-IN" sz="3600" b="1" dirty="0">
              <a:latin typeface="Times New Roman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610600" cy="4830763"/>
          </a:xfrm>
        </p:spPr>
        <p:txBody>
          <a:bodyPr/>
          <a:lstStyle/>
          <a:p>
            <a:pPr algn="just">
              <a:lnSpc>
                <a:spcPct val="150000"/>
              </a:lnSpc>
              <a:buFontTx/>
              <a:buNone/>
            </a:pPr>
            <a:r>
              <a:rPr lang="en-US" sz="2400" dirty="0">
                <a:latin typeface="Times New Roman" pitchFamily="18" charset="0"/>
              </a:rPr>
              <a:t>The alkali earth metal strontium has four stable naturally occurring isotopes:</a:t>
            </a:r>
          </a:p>
          <a:p>
            <a:pPr>
              <a:buFontTx/>
              <a:buNone/>
            </a:pPr>
            <a:endParaRPr lang="en-US" sz="2400" b="1" dirty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en-IN" sz="2400" b="1" baseline="30000" dirty="0">
                <a:latin typeface="Times New Roman" pitchFamily="18" charset="0"/>
              </a:rPr>
              <a:t>   </a:t>
            </a:r>
            <a:r>
              <a:rPr lang="en-IN" sz="2400" baseline="30000" dirty="0">
                <a:latin typeface="Times New Roman" pitchFamily="18" charset="0"/>
              </a:rPr>
              <a:t>~84</a:t>
            </a:r>
            <a:r>
              <a:rPr lang="en-IN" sz="2400" dirty="0">
                <a:latin typeface="Times New Roman" pitchFamily="18" charset="0"/>
              </a:rPr>
              <a:t>Sr (0.56%) </a:t>
            </a:r>
          </a:p>
          <a:p>
            <a:pPr>
              <a:buFontTx/>
              <a:buNone/>
            </a:pPr>
            <a:r>
              <a:rPr lang="en-IN" sz="2400" baseline="30000" dirty="0">
                <a:latin typeface="Times New Roman" pitchFamily="18" charset="0"/>
              </a:rPr>
              <a:t>   ~ 86</a:t>
            </a:r>
            <a:r>
              <a:rPr lang="en-IN" sz="2400" dirty="0">
                <a:latin typeface="Times New Roman" pitchFamily="18" charset="0"/>
              </a:rPr>
              <a:t>Sr (9.86%) </a:t>
            </a:r>
          </a:p>
          <a:p>
            <a:pPr>
              <a:buFontTx/>
              <a:buNone/>
            </a:pPr>
            <a:r>
              <a:rPr lang="en-IN" sz="2400" baseline="30000" dirty="0">
                <a:latin typeface="Times New Roman" pitchFamily="18" charset="0"/>
              </a:rPr>
              <a:t>    ~87</a:t>
            </a:r>
            <a:r>
              <a:rPr lang="en-IN" sz="2400" dirty="0">
                <a:latin typeface="Times New Roman" pitchFamily="18" charset="0"/>
              </a:rPr>
              <a:t>Sr (7.0%) and </a:t>
            </a:r>
          </a:p>
          <a:p>
            <a:pPr>
              <a:buFontTx/>
              <a:buNone/>
            </a:pPr>
            <a:r>
              <a:rPr lang="en-IN" sz="2400" baseline="30000" dirty="0">
                <a:latin typeface="Times New Roman" pitchFamily="18" charset="0"/>
              </a:rPr>
              <a:t>   ~88</a:t>
            </a:r>
            <a:r>
              <a:rPr lang="en-IN" sz="2400" dirty="0">
                <a:latin typeface="Times New Roman" pitchFamily="18" charset="0"/>
              </a:rPr>
              <a:t>Sr (82.58%)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657600" y="1828800"/>
            <a:ext cx="5334000" cy="4464293"/>
            <a:chOff x="3810000" y="2362200"/>
            <a:chExt cx="5111750" cy="4236704"/>
          </a:xfrm>
        </p:grpSpPr>
        <p:grpSp>
          <p:nvGrpSpPr>
            <p:cNvPr id="8" name="Group 7"/>
            <p:cNvGrpSpPr/>
            <p:nvPr/>
          </p:nvGrpSpPr>
          <p:grpSpPr>
            <a:xfrm>
              <a:off x="3810000" y="2362200"/>
              <a:ext cx="4648200" cy="3352800"/>
              <a:chOff x="3810000" y="2362200"/>
              <a:chExt cx="4648200" cy="3352800"/>
            </a:xfrm>
          </p:grpSpPr>
          <p:pic>
            <p:nvPicPr>
              <p:cNvPr id="5" name="Picture 2" descr="Mass Spectrometry - Lessons - Blendspace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l="18966" t="10495" b="9741"/>
              <a:stretch>
                <a:fillRect/>
              </a:stretch>
            </p:blipFill>
            <p:spPr bwMode="auto">
              <a:xfrm>
                <a:off x="4114800" y="2362200"/>
                <a:ext cx="4343400" cy="3124200"/>
              </a:xfrm>
              <a:prstGeom prst="rect">
                <a:avLst/>
              </a:prstGeom>
              <a:noFill/>
            </p:spPr>
          </p:pic>
          <p:sp>
            <p:nvSpPr>
              <p:cNvPr id="6" name="Rectangle 2"/>
              <p:cNvSpPr txBox="1">
                <a:spLocks noChangeArrowheads="1"/>
              </p:cNvSpPr>
              <p:nvPr/>
            </p:nvSpPr>
            <p:spPr>
              <a:xfrm>
                <a:off x="5105400" y="5334000"/>
                <a:ext cx="22860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itchFamily="18" charset="0"/>
                    <a:ea typeface="+mj-ea"/>
                    <a:cs typeface="+mj-cs"/>
                  </a:rPr>
                  <a:t>Strontium isotopes</a:t>
                </a:r>
                <a:endParaRPr kumimoji="0" lang="en-IN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itchFamily="18" charset="0"/>
                  <a:ea typeface="+mj-ea"/>
                  <a:cs typeface="+mj-cs"/>
                </a:endParaRPr>
              </a:p>
            </p:txBody>
          </p:sp>
          <p:sp>
            <p:nvSpPr>
              <p:cNvPr id="7" name="Rectangle 2"/>
              <p:cNvSpPr txBox="1">
                <a:spLocks noChangeArrowheads="1"/>
              </p:cNvSpPr>
              <p:nvPr/>
            </p:nvSpPr>
            <p:spPr>
              <a:xfrm rot="16200000">
                <a:off x="2628900" y="3695700"/>
                <a:ext cx="27432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itchFamily="18" charset="0"/>
                    <a:ea typeface="+mj-ea"/>
                    <a:cs typeface="+mj-cs"/>
                  </a:rPr>
                  <a:t>Relative abundance (%)</a:t>
                </a:r>
                <a:endParaRPr kumimoji="0" lang="en-IN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itchFamily="18" charset="0"/>
                  <a:ea typeface="+mj-ea"/>
                  <a:cs typeface="+mj-cs"/>
                </a:endParaRPr>
              </a:p>
            </p:txBody>
          </p:sp>
        </p:grp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477000" y="6248400"/>
              <a:ext cx="2444750" cy="350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spcAft>
                  <a:spcPts val="500"/>
                </a:spcAft>
              </a:pPr>
              <a:r>
                <a:rPr lang="en-IN" dirty="0">
                  <a:latin typeface="Times New Roman" pitchFamily="18" charset="0"/>
                  <a:cs typeface="Times New Roman" pitchFamily="18" charset="0"/>
                </a:rPr>
                <a:t>McArthur et al., 2012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59033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 l="2786" t="11277" r="53564" b="32252"/>
          <a:stretch>
            <a:fillRect/>
          </a:stretch>
        </p:blipFill>
        <p:spPr>
          <a:xfrm>
            <a:off x="152400" y="1143000"/>
            <a:ext cx="4377266" cy="3352800"/>
          </a:xfrm>
          <a:prstGeom prst="rect">
            <a:avLst/>
          </a:prstGeom>
          <a:noFill/>
          <a:ln/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 l="46436" t="25395" b="8723"/>
          <a:stretch>
            <a:fillRect/>
          </a:stretch>
        </p:blipFill>
        <p:spPr>
          <a:xfrm>
            <a:off x="4191000" y="1371600"/>
            <a:ext cx="4775775" cy="3477855"/>
          </a:xfrm>
          <a:prstGeom prst="rect">
            <a:avLst/>
          </a:prstGeom>
          <a:noFill/>
          <a:ln/>
        </p:spPr>
      </p:pic>
      <p:sp>
        <p:nvSpPr>
          <p:cNvPr id="4" name="Rectangle 2"/>
          <p:cNvSpPr txBox="1">
            <a:spLocks noRot="1" noChangeArrowheads="1"/>
          </p:cNvSpPr>
          <p:nvPr/>
        </p:nvSpPr>
        <p:spPr>
          <a:xfrm>
            <a:off x="762000" y="4800600"/>
            <a:ext cx="4114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Fractionation of Rb/Sr between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upper mantle and continental crust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5257800" y="4876800"/>
            <a:ext cx="3276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Evolution of  </a:t>
            </a:r>
            <a:r>
              <a:rPr lang="en-US" b="1" baseline="30000" dirty="0">
                <a:latin typeface="Times New Roman" pitchFamily="18" charset="0"/>
              </a:rPr>
              <a:t>87</a:t>
            </a:r>
            <a:r>
              <a:rPr lang="en-US" b="1" dirty="0">
                <a:latin typeface="Times New Roman" pitchFamily="18" charset="0"/>
              </a:rPr>
              <a:t>Sr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/ </a:t>
            </a:r>
            <a:r>
              <a:rPr lang="en-US" b="1" baseline="30000" dirty="0">
                <a:latin typeface="Times New Roman" pitchFamily="18" charset="0"/>
              </a:rPr>
              <a:t>86</a:t>
            </a:r>
            <a:r>
              <a:rPr lang="en-US" b="1" dirty="0">
                <a:latin typeface="Times New Roman" pitchFamily="18" charset="0"/>
              </a:rPr>
              <a:t>Sr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ratio from bulk earth ration since fractionation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343507" y="6324600"/>
            <a:ext cx="18004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Elderfield, 1985  </a:t>
            </a:r>
          </a:p>
        </p:txBody>
      </p:sp>
      <p:sp>
        <p:nvSpPr>
          <p:cNvPr id="7" name="Rectangle 2"/>
          <p:cNvSpPr txBox="1">
            <a:spLocks noRot="1" noChangeArrowheads="1"/>
          </p:cNvSpPr>
          <p:nvPr/>
        </p:nvSpPr>
        <p:spPr>
          <a:xfrm>
            <a:off x="228600" y="0"/>
            <a:ext cx="8686800" cy="10350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Evolution of Strontium Isotope</a:t>
            </a:r>
            <a:r>
              <a:rPr kumimoji="0" lang="en-US" sz="3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ratios</a:t>
            </a: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00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Rot="1" noChangeArrowheads="1"/>
          </p:cNvSpPr>
          <p:nvPr/>
        </p:nvSpPr>
        <p:spPr>
          <a:xfrm>
            <a:off x="381000" y="0"/>
            <a:ext cx="8458200" cy="8826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latin typeface="Times New Roman" pitchFamily="18" charset="0"/>
                <a:ea typeface="+mj-ea"/>
                <a:cs typeface="Times New Roman" pitchFamily="18" charset="0"/>
              </a:rPr>
              <a:t>G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eochemical</a:t>
            </a:r>
            <a:r>
              <a:rPr kumimoji="0" lang="en-US" sz="3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cycle of strontium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343507" y="6324600"/>
            <a:ext cx="18004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Elderfield, 1985  </a:t>
            </a:r>
          </a:p>
        </p:txBody>
      </p:sp>
      <p:pic>
        <p:nvPicPr>
          <p:cNvPr id="6" name="Google Shape;105;p18"/>
          <p:cNvPicPr preferRelativeResize="0"/>
          <p:nvPr/>
        </p:nvPicPr>
        <p:blipFill>
          <a:blip r:embed="rId2" cstate="print">
            <a:alphaModFix/>
          </a:blip>
          <a:stretch>
            <a:fillRect/>
          </a:stretch>
        </p:blipFill>
        <p:spPr>
          <a:xfrm>
            <a:off x="609600" y="1143000"/>
            <a:ext cx="8247625" cy="441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4403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304800"/>
            <a:ext cx="7924800" cy="8382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Estimated values of Strontium Isotopes 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611188" y="6145213"/>
            <a:ext cx="85328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1800">
                <a:latin typeface="Arial" pitchFamily="34" charset="0"/>
              </a:rPr>
              <a:t>       </a:t>
            </a:r>
            <a:endParaRPr lang="en-US" sz="1200">
              <a:latin typeface="Arial" pitchFamily="34" charset="0"/>
            </a:endParaRPr>
          </a:p>
        </p:txBody>
      </p:sp>
      <p:sp>
        <p:nvSpPr>
          <p:cNvPr id="1187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762000"/>
            <a:ext cx="8458200" cy="47545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Primordial 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87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Sr/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86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Sr ratio  ~0.699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Strontium- depleted ocean basalts ~ 0.703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Strontium- enriched continental rocks ~0.701 to 0.740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Modern seawater has 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87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Sr/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86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Sr  ~0.709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448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304800"/>
            <a:ext cx="9144000" cy="12954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Applicability of Strontium for chemostratigraphy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748712" cy="4094162"/>
          </a:xfrm>
        </p:spPr>
        <p:txBody>
          <a:bodyPr>
            <a:normAutofit fontScale="92500"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IN" sz="2800" kern="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Sr Ocean Residence Time (</a:t>
            </a:r>
            <a:r>
              <a:rPr lang="en-IN" sz="2800" kern="0" baseline="30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87</a:t>
            </a:r>
            <a:r>
              <a:rPr lang="en-IN" sz="2800" kern="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Sr): ~4 x 10</a:t>
            </a:r>
            <a:r>
              <a:rPr lang="en-IN" sz="2800" kern="0" baseline="30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6</a:t>
            </a:r>
            <a:r>
              <a:rPr lang="en-IN" sz="2800" kern="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 yrs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None/>
            </a:pPr>
            <a:r>
              <a:rPr lang="en-IN" sz="2800" kern="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    Ocean Mixing Time: ~10</a:t>
            </a:r>
            <a:r>
              <a:rPr lang="en-IN" sz="2800" kern="0" baseline="30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3</a:t>
            </a:r>
            <a:r>
              <a:rPr lang="en-IN" sz="2800" kern="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 yrs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None/>
            </a:pPr>
            <a:r>
              <a:rPr lang="en-IN" sz="2800" kern="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    Well-mixed with Sr at any point of time.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None/>
            </a:pPr>
            <a:endParaRPr lang="en-IN" sz="2800" kern="0" dirty="0">
              <a:latin typeface="Times New Roman" pitchFamily="18" charset="0"/>
              <a:ea typeface="Tahoma"/>
              <a:cs typeface="Times New Roman" pitchFamily="18" charset="0"/>
              <a:sym typeface="Tahoma"/>
            </a:endParaRPr>
          </a:p>
          <a:p>
            <a:pPr algn="just">
              <a:lnSpc>
                <a:spcPct val="16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Negligible/near about absent effects of isotope fractionation</a:t>
            </a:r>
          </a:p>
          <a:p>
            <a:pPr algn="just">
              <a:lnSpc>
                <a:spcPct val="9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Absence of 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87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Rb in carbonate phase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4168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6553200" cy="6858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Strontium Isotope Stratigraphy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63000" cy="51054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endParaRPr lang="en-IN" sz="800" dirty="0"/>
          </a:p>
          <a:p>
            <a:pPr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en-IN" sz="9600" dirty="0">
                <a:latin typeface="Times New Roman" pitchFamily="18" charset="0"/>
              </a:rPr>
              <a:t>Strontium isotope stratigraphy relies on recognised variations in the </a:t>
            </a:r>
            <a:r>
              <a:rPr lang="en-US" sz="9600" baseline="30000" dirty="0">
                <a:latin typeface="Times New Roman" pitchFamily="18" charset="0"/>
              </a:rPr>
              <a:t>87</a:t>
            </a:r>
            <a:r>
              <a:rPr lang="en-US" sz="9600" dirty="0">
                <a:latin typeface="Times New Roman" pitchFamily="18" charset="0"/>
              </a:rPr>
              <a:t>Sr/</a:t>
            </a:r>
            <a:r>
              <a:rPr lang="en-US" sz="9600" baseline="30000" dirty="0">
                <a:latin typeface="Times New Roman" pitchFamily="18" charset="0"/>
              </a:rPr>
              <a:t>86</a:t>
            </a:r>
            <a:r>
              <a:rPr lang="en-US" sz="9600" dirty="0">
                <a:latin typeface="Times New Roman" pitchFamily="18" charset="0"/>
              </a:rPr>
              <a:t>Sr</a:t>
            </a:r>
            <a:r>
              <a:rPr lang="en-IN" sz="9600" dirty="0">
                <a:latin typeface="Times New Roman" pitchFamily="18" charset="0"/>
              </a:rPr>
              <a:t> ratio of seawater over time.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Ø"/>
            </a:pPr>
            <a:endParaRPr lang="en-IN" sz="9600" dirty="0">
              <a:latin typeface="Times New Roman" pitchFamily="18" charset="0"/>
            </a:endParaRPr>
          </a:p>
          <a:p>
            <a:pPr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en-IN" sz="9600" dirty="0">
                <a:latin typeface="Times New Roman" pitchFamily="18" charset="0"/>
              </a:rPr>
              <a:t>Using the more conventional biostratigraphic correlation techniques we can create high resolution stratigraphy of marine sedimentary sections.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Ø"/>
            </a:pPr>
            <a:endParaRPr lang="en-IN" sz="9600" dirty="0">
              <a:latin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9600" baseline="30000" dirty="0">
                <a:latin typeface="Times New Roman" pitchFamily="18" charset="0"/>
              </a:rPr>
              <a:t>87</a:t>
            </a:r>
            <a:r>
              <a:rPr lang="en-US" sz="9600" dirty="0">
                <a:latin typeface="Times New Roman" pitchFamily="18" charset="0"/>
              </a:rPr>
              <a:t>Sr/</a:t>
            </a:r>
            <a:r>
              <a:rPr lang="en-US" sz="9600" baseline="30000" dirty="0">
                <a:latin typeface="Times New Roman" pitchFamily="18" charset="0"/>
              </a:rPr>
              <a:t>86</a:t>
            </a:r>
            <a:r>
              <a:rPr lang="en-US" sz="9600" dirty="0">
                <a:latin typeface="Times New Roman" pitchFamily="18" charset="0"/>
              </a:rPr>
              <a:t>Sr in a mineral precipitated from seawater, such as biogenic carbonate, micrite or a marine-derived evaporite, can be used to determine depositional age by comparison to a empirical calibrated curve of </a:t>
            </a:r>
            <a:r>
              <a:rPr lang="en-US" sz="9600" baseline="30000" dirty="0">
                <a:latin typeface="Times New Roman" pitchFamily="18" charset="0"/>
              </a:rPr>
              <a:t>87</a:t>
            </a:r>
            <a:r>
              <a:rPr lang="en-US" sz="9600" dirty="0">
                <a:latin typeface="Times New Roman" pitchFamily="18" charset="0"/>
              </a:rPr>
              <a:t>Sr/</a:t>
            </a:r>
            <a:r>
              <a:rPr lang="en-US" sz="9600" baseline="30000" dirty="0">
                <a:latin typeface="Times New Roman" pitchFamily="18" charset="0"/>
              </a:rPr>
              <a:t>86</a:t>
            </a:r>
            <a:r>
              <a:rPr lang="en-US" sz="9600" dirty="0">
                <a:latin typeface="Times New Roman" pitchFamily="18" charset="0"/>
              </a:rPr>
              <a:t>Sr against time.</a:t>
            </a:r>
            <a:endParaRPr lang="en-IN" sz="9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56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Change in Isotope ratio throughout Phanerozoic time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71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838200" y="1557338"/>
            <a:ext cx="7981950" cy="4288023"/>
          </a:xfr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665916" y="6443246"/>
            <a:ext cx="13256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Veizer , 1989 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293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838200"/>
          </a:xfrm>
        </p:spPr>
        <p:txBody>
          <a:bodyPr>
            <a:normAutofit fontScale="90000"/>
          </a:bodyPr>
          <a:lstStyle/>
          <a:p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Lowess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curve and its use in Isotope Stratigraphy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1219200" y="6477000"/>
            <a:ext cx="792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LOWESS fit for the period 0-610 Ma with 95% confidence bounds.  McArthur et al., 2001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13" y="914401"/>
            <a:ext cx="8447087" cy="55387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4465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 b="1" dirty="0">
                <a:latin typeface="Tahoma"/>
                <a:ea typeface="Tahoma"/>
                <a:cs typeface="Tahoma"/>
                <a:sym typeface="Tahoma"/>
              </a:rPr>
              <a:t>Ideal Materials for SIS</a:t>
            </a:r>
            <a:endParaRPr sz="3120" b="1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22"/>
          <p:cNvSpPr txBox="1">
            <a:spLocks noGrp="1"/>
          </p:cNvSpPr>
          <p:nvPr>
            <p:ph type="body" idx="1"/>
          </p:nvPr>
        </p:nvSpPr>
        <p:spPr>
          <a:xfrm>
            <a:off x="0" y="914400"/>
            <a:ext cx="6629400" cy="52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670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 pitchFamily="34" charset="0"/>
              <a:buChar char="•"/>
            </a:pPr>
            <a:r>
              <a:rPr lang="en" sz="2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Samples must have high potential for retaining their original marine strontium isotope ratios.</a:t>
            </a:r>
            <a:endParaRPr sz="2000" dirty="0">
              <a:latin typeface="Times New Roman" pitchFamily="18" charset="0"/>
              <a:ea typeface="Tahoma"/>
              <a:cs typeface="Times New Roman" pitchFamily="18" charset="0"/>
              <a:sym typeface="Tahoma"/>
            </a:endParaRPr>
          </a:p>
          <a:p>
            <a:pPr marL="457200" lvl="0" indent="-31670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 pitchFamily="34" charset="0"/>
              <a:buChar char="•"/>
            </a:pPr>
            <a:r>
              <a:rPr lang="en" sz="2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High registance to Diagenesis. </a:t>
            </a:r>
            <a:endParaRPr sz="2000" dirty="0">
              <a:latin typeface="Times New Roman" pitchFamily="18" charset="0"/>
              <a:ea typeface="Tahoma"/>
              <a:cs typeface="Times New Roman" pitchFamily="18" charset="0"/>
              <a:sym typeface="Tahoma"/>
            </a:endParaRPr>
          </a:p>
          <a:p>
            <a:pPr marL="457200" lvl="0" indent="-31670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 pitchFamily="34" charset="0"/>
              <a:buChar char="•"/>
            </a:pPr>
            <a:r>
              <a:rPr lang="en" sz="2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Shells of Mg Calcitic composition yields narrow uncertainty bands.</a:t>
            </a:r>
            <a:endParaRPr sz="2000" dirty="0">
              <a:latin typeface="Times New Roman" pitchFamily="18" charset="0"/>
              <a:ea typeface="Tahoma"/>
              <a:cs typeface="Times New Roman" pitchFamily="18" charset="0"/>
              <a:sym typeface="Tahoma"/>
            </a:endParaRPr>
          </a:p>
          <a:p>
            <a:pPr marL="457200" lvl="0" indent="-31670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 pitchFamily="34" charset="0"/>
              <a:buChar char="•"/>
            </a:pPr>
            <a:r>
              <a:rPr lang="en" sz="2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Secondary Alteration are found and diagnosed beforehand to avoid mistaken results.</a:t>
            </a:r>
            <a:endParaRPr sz="2000" dirty="0">
              <a:latin typeface="Times New Roman" pitchFamily="18" charset="0"/>
              <a:ea typeface="Tahoma"/>
              <a:cs typeface="Times New Roman" pitchFamily="18" charset="0"/>
              <a:sym typeface="Tahoma"/>
            </a:endParaRPr>
          </a:p>
          <a:p>
            <a:pPr marL="457200" lvl="0" indent="-31670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Arial" pitchFamily="34" charset="0"/>
              <a:buChar char="•"/>
            </a:pPr>
            <a:r>
              <a:rPr lang="en" sz="2000" dirty="0">
                <a:latin typeface="Times New Roman" pitchFamily="18" charset="0"/>
                <a:ea typeface="Tahoma"/>
                <a:cs typeface="Times New Roman" pitchFamily="18" charset="0"/>
                <a:sym typeface="Tahoma"/>
              </a:rPr>
              <a:t>Foraminiferal, Belemnite Guards and Bivalve Shells  etc.</a:t>
            </a:r>
            <a:endParaRPr sz="2000" dirty="0">
              <a:latin typeface="Times New Roman" pitchFamily="18" charset="0"/>
              <a:ea typeface="Tahoma"/>
              <a:cs typeface="Times New Roman" pitchFamily="18" charset="0"/>
              <a:sym typeface="Tahoma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 cstate="print">
            <a:alphaModFix/>
          </a:blip>
          <a:stretch>
            <a:fillRect/>
          </a:stretch>
        </p:blipFill>
        <p:spPr>
          <a:xfrm>
            <a:off x="6607454" y="990600"/>
            <a:ext cx="2276475" cy="22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>
            <a:off x="6621741" y="4098432"/>
            <a:ext cx="2247900" cy="19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6347400" y="3231166"/>
            <a:ext cx="2796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Bivalve shell</a:t>
            </a:r>
            <a:endParaRPr sz="1700"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6347388" y="6028832"/>
            <a:ext cx="2796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Belemnite</a:t>
            </a:r>
            <a:endParaRPr sz="1700"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96184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9E1944-7DBE-4094-854A-20B6542FF9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2754" r="6064"/>
          <a:stretch/>
        </p:blipFill>
        <p:spPr>
          <a:xfrm>
            <a:off x="1143000" y="1597572"/>
            <a:ext cx="7086601" cy="538284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0A6D19D-A129-47DB-929A-EAA30D052E6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-762000" y="152400"/>
            <a:ext cx="10363200" cy="12954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Applicability of Strontium for Weathering 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989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28A94C2-0502-4984-9056-AF9FC6118EC0}"/>
              </a:ext>
            </a:extLst>
          </p:cNvPr>
          <p:cNvGrpSpPr/>
          <p:nvPr/>
        </p:nvGrpSpPr>
        <p:grpSpPr>
          <a:xfrm>
            <a:off x="76200" y="730250"/>
            <a:ext cx="9067800" cy="4984750"/>
            <a:chOff x="76200" y="730250"/>
            <a:chExt cx="9067800" cy="4984750"/>
          </a:xfrm>
        </p:grpSpPr>
        <p:pic>
          <p:nvPicPr>
            <p:cNvPr id="17410" name="Picture 4" descr="C:\Documents and Settings\German\My Documents\Paleoclimate-Class\Radiocarbon\lect08_datingmethods.jpg">
              <a:extLst>
                <a:ext uri="{FF2B5EF4-FFF2-40B4-BE49-F238E27FC236}">
                  <a16:creationId xmlns:a16="http://schemas.microsoft.com/office/drawing/2014/main" id="{1004414D-D98D-403C-89AF-4F30E04764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212"/>
            <a:stretch/>
          </p:blipFill>
          <p:spPr bwMode="auto">
            <a:xfrm>
              <a:off x="323850" y="730250"/>
              <a:ext cx="8820150" cy="4984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57ECE2F-4A6F-467E-B9B1-8AE6598B7AA1}"/>
                </a:ext>
              </a:extLst>
            </p:cNvPr>
            <p:cNvSpPr/>
            <p:nvPr/>
          </p:nvSpPr>
          <p:spPr>
            <a:xfrm>
              <a:off x="76200" y="1066800"/>
              <a:ext cx="4038600" cy="2743200"/>
            </a:xfrm>
            <a:prstGeom prst="ellipse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5B092D29-7483-47D3-B051-50E039BF9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39750"/>
            <a:ext cx="3810000" cy="62484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284163" indent="-2841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C. How it works (radioactive decay)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Decay rates of radioactive atoms are constant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 Unaffected by temperature, pressure, water, etc.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3. Half Life: time it takes for half the atoms of the parent isotope to decay, ranges from tens of billions of years to thousandths of a second.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parent atoms that decay in each half life is the same (50%)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actual number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atoms that decay with each passing half-life continually decreases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ED16648-91D4-470B-8237-73F80C1C0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pic>
        <p:nvPicPr>
          <p:cNvPr id="19460" name="Picture 6" descr="raddecay2[1]">
            <a:extLst>
              <a:ext uri="{FF2B5EF4-FFF2-40B4-BE49-F238E27FC236}">
                <a16:creationId xmlns:a16="http://schemas.microsoft.com/office/drawing/2014/main" id="{2E0A14DD-F3F5-4302-AE9E-E9F48F660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38200"/>
            <a:ext cx="3992563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7">
            <a:extLst>
              <a:ext uri="{FF2B5EF4-FFF2-40B4-BE49-F238E27FC236}">
                <a16:creationId xmlns:a16="http://schemas.microsoft.com/office/drawing/2014/main" id="{29FA1D59-8C49-4DD1-924C-F9AC09AAA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2875"/>
            <a:ext cx="883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Principles of  Radiometric Dating</a:t>
            </a:r>
          </a:p>
        </p:txBody>
      </p:sp>
      <p:sp>
        <p:nvSpPr>
          <p:cNvPr id="19462" name="Rectangle 8">
            <a:extLst>
              <a:ext uri="{FF2B5EF4-FFF2-40B4-BE49-F238E27FC236}">
                <a16:creationId xmlns:a16="http://schemas.microsoft.com/office/drawing/2014/main" id="{A6036D96-0466-4E14-BE14-AE6ACFAB2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791200"/>
            <a:ext cx="2667000" cy="64135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8000"/>
                </a:solidFill>
                <a:latin typeface="Arial" panose="020B0604020202020204" pitchFamily="34" charset="0"/>
              </a:rPr>
              <a:t>Increase in daughter = decrease in parent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5B6DB145-3C66-463C-98AB-F13B5922C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33400"/>
            <a:ext cx="3657600" cy="55784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7663" indent="-3476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lphaUcPeriod" startAt="3"/>
            </a:pPr>
            <a:r>
              <a:rPr lang="en-US" altLang="en-US" sz="2000">
                <a:latin typeface="Arial" panose="020B0604020202020204" pitchFamily="34" charset="0"/>
              </a:rPr>
              <a:t>How it works (radioactive decay)</a:t>
            </a:r>
          </a:p>
          <a:p>
            <a:pPr eaLnBrk="1" hangingPunct="1">
              <a:spcBef>
                <a:spcPct val="0"/>
              </a:spcBef>
              <a:buFontTx/>
              <a:buAutoNum type="alphaUcPeriod" startAt="3"/>
            </a:pPr>
            <a:endParaRPr lang="en-US" altLang="en-US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4. When mineral crystallizes (e.g., zircon mineral)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a. some amount of radioactive parent may get incorporated into the mineral structure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b. but daughter is different element and doesn’t “fit” in the structure (or inert and won’t combine), so at the time of formation there is 100% parent and 0% daughter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E475BAC-18D9-4901-BF26-124F4093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pic>
        <p:nvPicPr>
          <p:cNvPr id="21508" name="Picture 5" descr="c08_08_10">
            <a:extLst>
              <a:ext uri="{FF2B5EF4-FFF2-40B4-BE49-F238E27FC236}">
                <a16:creationId xmlns:a16="http://schemas.microsoft.com/office/drawing/2014/main" id="{2B797C5A-01AA-418F-9949-3E86F7F3E33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55675"/>
            <a:ext cx="5105400" cy="3997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9" name="Rectangle 7">
            <a:extLst>
              <a:ext uri="{FF2B5EF4-FFF2-40B4-BE49-F238E27FC236}">
                <a16:creationId xmlns:a16="http://schemas.microsoft.com/office/drawing/2014/main" id="{012EB5E1-87B9-4AD6-AADC-8E6709F5A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883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I. Principles of Numerical Dating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 descr="0819ageofrock[1]">
            <a:extLst>
              <a:ext uri="{FF2B5EF4-FFF2-40B4-BE49-F238E27FC236}">
                <a16:creationId xmlns:a16="http://schemas.microsoft.com/office/drawing/2014/main" id="{1B6456A6-FDAC-4ED5-9858-2CA7CB15E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8"/>
          <a:stretch>
            <a:fillRect/>
          </a:stretch>
        </p:blipFill>
        <p:spPr bwMode="auto">
          <a:xfrm>
            <a:off x="304800" y="1450975"/>
            <a:ext cx="4876800" cy="48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6">
            <a:extLst>
              <a:ext uri="{FF2B5EF4-FFF2-40B4-BE49-F238E27FC236}">
                <a16:creationId xmlns:a16="http://schemas.microsoft.com/office/drawing/2014/main" id="{CDF41C45-1EE0-40E5-9304-473EF2A0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5819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Numerical Dating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8BBF6655-722C-4BE3-A7A7-F6A507EE9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52400"/>
            <a:ext cx="3733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7663" indent="-3476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BC579EF-4B19-446D-AB30-4F32D59DF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pic>
        <p:nvPicPr>
          <p:cNvPr id="25604" name="Picture 6" descr="FISSIONapatite">
            <a:extLst>
              <a:ext uri="{FF2B5EF4-FFF2-40B4-BE49-F238E27FC236}">
                <a16:creationId xmlns:a16="http://schemas.microsoft.com/office/drawing/2014/main" id="{5CB16641-9FA1-4880-904C-6345C3B37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" t="1234" r="980" b="1234"/>
          <a:stretch>
            <a:fillRect/>
          </a:stretch>
        </p:blipFill>
        <p:spPr bwMode="auto">
          <a:xfrm>
            <a:off x="228600" y="1219200"/>
            <a:ext cx="441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Text Box 7">
            <a:extLst>
              <a:ext uri="{FF2B5EF4-FFF2-40B4-BE49-F238E27FC236}">
                <a16:creationId xmlns:a16="http://schemas.microsoft.com/office/drawing/2014/main" id="{20AB1F5B-0BA0-41BB-B9AB-384F44F58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685800"/>
            <a:ext cx="3840163" cy="52832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>
                <a:latin typeface="Arial" panose="020B0604020202020204" pitchFamily="34" charset="0"/>
              </a:rPr>
              <a:t>Radioactive isotopes are incorporated in minerals and rocks in a variety of ways.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>
                <a:latin typeface="Arial" panose="020B0604020202020204" pitchFamily="34" charset="0"/>
              </a:rPr>
              <a:t>As minerals crystallize from magma, radioactive isotopes are included in mineral crystal structure.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>
                <a:latin typeface="Arial" panose="020B0604020202020204" pitchFamily="34" charset="0"/>
              </a:rPr>
              <a:t>At the time of crystallization, only parent isotopes are included in the mineral.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000">
                <a:latin typeface="Arial" panose="020B0604020202020204" pitchFamily="34" charset="0"/>
              </a:rPr>
              <a:t>Radioactive parent isotopes then begin to decay producing daughter isotopes.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5606" name="Rectangle 8">
            <a:extLst>
              <a:ext uri="{FF2B5EF4-FFF2-40B4-BE49-F238E27FC236}">
                <a16:creationId xmlns:a16="http://schemas.microsoft.com/office/drawing/2014/main" id="{99972C7F-B828-4FC1-88C0-387526E92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8834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Numerical Dating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76CD68C8-495C-4B0B-9651-0DFC1EECF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838200"/>
            <a:ext cx="3657600" cy="47085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284163" indent="-2270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D. Dating Rocks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Igneous rocks – the best!  Dates when the minerals formed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 Metamorphic: during metamorphism ions can migrate, so dating tells us when metamorphism ended.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3. Sedimentary rocks: more errors because it dates the age of the individual pieces, gives maximum age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88ECB38-916F-4D8B-9EB6-527B040B2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pic>
        <p:nvPicPr>
          <p:cNvPr id="27652" name="Picture 5" descr="309850_p_08_21">
            <a:extLst>
              <a:ext uri="{FF2B5EF4-FFF2-40B4-BE49-F238E27FC236}">
                <a16:creationId xmlns:a16="http://schemas.microsoft.com/office/drawing/2014/main" id="{149B4FE9-07B8-4EC6-9042-F3D28ACD3B5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3971925" cy="5143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653" name="Rectangle 6">
            <a:extLst>
              <a:ext uri="{FF2B5EF4-FFF2-40B4-BE49-F238E27FC236}">
                <a16:creationId xmlns:a16="http://schemas.microsoft.com/office/drawing/2014/main" id="{19879EEB-2443-4390-9650-65E300FE6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883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I. Principles of Numerical Dating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D243B011-5FD7-49CD-9B15-852B25A6E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29699" name="Picture 5" descr="08_20a">
            <a:extLst>
              <a:ext uri="{FF2B5EF4-FFF2-40B4-BE49-F238E27FC236}">
                <a16:creationId xmlns:a16="http://schemas.microsoft.com/office/drawing/2014/main" id="{A6D90207-3D9B-4509-8B51-2ED11A70A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01763"/>
            <a:ext cx="8534400" cy="35512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9700" name="Rectangle 7">
            <a:extLst>
              <a:ext uri="{FF2B5EF4-FFF2-40B4-BE49-F238E27FC236}">
                <a16:creationId xmlns:a16="http://schemas.microsoft.com/office/drawing/2014/main" id="{5F397522-0409-46C7-A8EB-8404CBA66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Numerical Dating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5" descr="08_20b">
            <a:extLst>
              <a:ext uri="{FF2B5EF4-FFF2-40B4-BE49-F238E27FC236}">
                <a16:creationId xmlns:a16="http://schemas.microsoft.com/office/drawing/2014/main" id="{2CD586AD-E293-4B5C-A629-CCBD46CF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11288"/>
            <a:ext cx="8534400" cy="44561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47" name="Rectangle 11">
            <a:extLst>
              <a:ext uri="{FF2B5EF4-FFF2-40B4-BE49-F238E27FC236}">
                <a16:creationId xmlns:a16="http://schemas.microsoft.com/office/drawing/2014/main" id="{1E0E9000-C620-4E11-8910-EC69BEC0F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I. Principles of Numerical Dating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5" descr="08_20c">
            <a:extLst>
              <a:ext uri="{FF2B5EF4-FFF2-40B4-BE49-F238E27FC236}">
                <a16:creationId xmlns:a16="http://schemas.microsoft.com/office/drawing/2014/main" id="{0F8A5CFB-5EAD-4DD6-9D84-AEBF2BE0F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219200"/>
            <a:ext cx="7943850" cy="49037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5" name="Rectangle 12">
            <a:extLst>
              <a:ext uri="{FF2B5EF4-FFF2-40B4-BE49-F238E27FC236}">
                <a16:creationId xmlns:a16="http://schemas.microsoft.com/office/drawing/2014/main" id="{846F8621-A6CC-4781-88AB-0B0583119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I. Principles of Numerical Dating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D3E7E30C-68FA-47C7-91FC-6EDD08FA6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35843" name="Picture 5" descr="08_20d">
            <a:extLst>
              <a:ext uri="{FF2B5EF4-FFF2-40B4-BE49-F238E27FC236}">
                <a16:creationId xmlns:a16="http://schemas.microsoft.com/office/drawing/2014/main" id="{D78AA595-60A1-41BE-A789-F8CAF4C91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216025"/>
            <a:ext cx="7724775" cy="46847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3D9098EF-DDE0-480C-B0D5-5C3CCAB9C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44463"/>
            <a:ext cx="3429000" cy="59086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Sources of Error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8000"/>
                </a:solidFill>
                <a:latin typeface="Arial" panose="020B0604020202020204" pitchFamily="34" charset="0"/>
              </a:rPr>
              <a:t>Groundwater</a:t>
            </a:r>
            <a:r>
              <a:rPr lang="en-US" altLang="en-US" sz="1800">
                <a:latin typeface="Arial" panose="020B0604020202020204" pitchFamily="34" charset="0"/>
              </a:rPr>
              <a:t> can bring in new ions and carry old ions away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Arial" panose="020B0604020202020204" pitchFamily="34" charset="0"/>
              </a:rPr>
              <a:t>Sample fractured and weathered rock</a:t>
            </a:r>
            <a:r>
              <a:rPr lang="en-US" altLang="en-US" sz="1800">
                <a:latin typeface="Arial" panose="020B0604020202020204" pitchFamily="34" charset="0"/>
              </a:rPr>
              <a:t>, makes the age of the rock too young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Arial" panose="020B0604020202020204" pitchFamily="34" charset="0"/>
              </a:rPr>
              <a:t>Very young rocks</a:t>
            </a:r>
            <a:r>
              <a:rPr lang="en-US" altLang="en-US" sz="1800">
                <a:latin typeface="Arial" panose="020B0604020202020204" pitchFamily="34" charset="0"/>
              </a:rPr>
              <a:t>: not enough time to accumulate daughter isotopes to be measured accurately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 we date many different samples and make sure the ages agree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We date using different dating methods to make sure they agree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8D5266F-3AEA-45D3-9F5A-8B845867F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37892" name="Picture 5" descr="08_20b">
            <a:extLst>
              <a:ext uri="{FF2B5EF4-FFF2-40B4-BE49-F238E27FC236}">
                <a16:creationId xmlns:a16="http://schemas.microsoft.com/office/drawing/2014/main" id="{F5778F7B-6978-43A3-8DA4-4E851250D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98600"/>
            <a:ext cx="5486400" cy="28638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3" name="Rectangle 7">
            <a:extLst>
              <a:ext uri="{FF2B5EF4-FFF2-40B4-BE49-F238E27FC236}">
                <a16:creationId xmlns:a16="http://schemas.microsoft.com/office/drawing/2014/main" id="{86A773EE-3E5F-4B3B-910B-6D35357FD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Principles of Numerical Dating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842F0B77-68D2-445B-9CFC-6B2ED43D7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"/>
            <a:ext cx="8834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Types of Isotope Dating</a:t>
            </a:r>
          </a:p>
        </p:txBody>
      </p:sp>
      <p:pic>
        <p:nvPicPr>
          <p:cNvPr id="39939" name="Picture 6" descr="image006[1]">
            <a:extLst>
              <a:ext uri="{FF2B5EF4-FFF2-40B4-BE49-F238E27FC236}">
                <a16:creationId xmlns:a16="http://schemas.microsoft.com/office/drawing/2014/main" id="{3C4B18F2-4299-417E-821E-01B182D41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4" b="6403"/>
          <a:stretch>
            <a:fillRect/>
          </a:stretch>
        </p:blipFill>
        <p:spPr bwMode="auto">
          <a:xfrm>
            <a:off x="304800" y="1384300"/>
            <a:ext cx="6705600" cy="4352925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44600B6B-04A5-4AA9-BB16-059C49320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724" y="495300"/>
            <a:ext cx="34290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Radiocarbon dating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Naturally occurring isotope carbon-14 (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to determine the age of carbonaceous materials up to about 50,000 years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(uncalibrated) radiocarbon ages are usually reported in radiocarbon years "Before Present" (BP)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5" name="Picture 5" descr="c08_08_11">
            <a:extLst>
              <a:ext uri="{FF2B5EF4-FFF2-40B4-BE49-F238E27FC236}">
                <a16:creationId xmlns:a16="http://schemas.microsoft.com/office/drawing/2014/main" id="{F5F235E8-8516-466C-9124-F9EDC6F224F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95300"/>
            <a:ext cx="5334000" cy="48815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14848</TotalTime>
  <Words>1073</Words>
  <Application>Microsoft Office PowerPoint</Application>
  <PresentationFormat>On-screen Show (4:3)</PresentationFormat>
  <Paragraphs>173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Cambria</vt:lpstr>
      <vt:lpstr>Symbol</vt:lpstr>
      <vt:lpstr>Tahoma</vt:lpstr>
      <vt:lpstr>Times</vt:lpstr>
      <vt:lpstr>Times New Roman</vt:lpstr>
      <vt:lpstr>Wingdings</vt:lpstr>
      <vt:lpstr>Default Design</vt:lpstr>
      <vt:lpstr>EES203: Geochemistry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Isotopes of Strontium</vt:lpstr>
      <vt:lpstr>PowerPoint Presentation</vt:lpstr>
      <vt:lpstr>PowerPoint Presentation</vt:lpstr>
      <vt:lpstr>Estimated values of Strontium Isotopes  </vt:lpstr>
      <vt:lpstr>Applicability of Strontium for chemostratigraphy</vt:lpstr>
      <vt:lpstr>Strontium Isotope Stratigraphy</vt:lpstr>
      <vt:lpstr>Change in Isotope ratio throughout Phanerozoic time</vt:lpstr>
      <vt:lpstr>Lowess curve and its use in Isotope Stratigraphy</vt:lpstr>
      <vt:lpstr>Ideal Materials for SIS</vt:lpstr>
      <vt:lpstr>Applicability of Strontium for Weathering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njcu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dfreile</dc:creator>
  <cp:lastModifiedBy>Dell</cp:lastModifiedBy>
  <cp:revision>273</cp:revision>
  <dcterms:created xsi:type="dcterms:W3CDTF">2005-10-26T18:01:58Z</dcterms:created>
  <dcterms:modified xsi:type="dcterms:W3CDTF">2025-03-26T10:38:03Z</dcterms:modified>
</cp:coreProperties>
</file>