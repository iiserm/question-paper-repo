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71" r:id="rId3"/>
    <p:sldId id="289" r:id="rId4"/>
    <p:sldId id="257" r:id="rId5"/>
    <p:sldId id="269" r:id="rId6"/>
    <p:sldId id="416" r:id="rId7"/>
    <p:sldId id="417" r:id="rId8"/>
    <p:sldId id="278" r:id="rId9"/>
    <p:sldId id="431" r:id="rId10"/>
    <p:sldId id="268" r:id="rId11"/>
    <p:sldId id="418" r:id="rId12"/>
    <p:sldId id="284" r:id="rId13"/>
    <p:sldId id="285" r:id="rId14"/>
    <p:sldId id="419" r:id="rId15"/>
    <p:sldId id="286" r:id="rId16"/>
    <p:sldId id="287" r:id="rId17"/>
    <p:sldId id="429" r:id="rId18"/>
    <p:sldId id="430" r:id="rId19"/>
    <p:sldId id="428" r:id="rId20"/>
    <p:sldId id="427" r:id="rId21"/>
    <p:sldId id="420" r:id="rId22"/>
    <p:sldId id="421" r:id="rId23"/>
    <p:sldId id="274" r:id="rId24"/>
    <p:sldId id="275" r:id="rId25"/>
    <p:sldId id="433" r:id="rId26"/>
    <p:sldId id="272" r:id="rId27"/>
    <p:sldId id="424" r:id="rId28"/>
    <p:sldId id="279" r:id="rId29"/>
    <p:sldId id="280" r:id="rId30"/>
    <p:sldId id="282" r:id="rId31"/>
    <p:sldId id="434" r:id="rId32"/>
    <p:sldId id="425" r:id="rId33"/>
    <p:sldId id="372" r:id="rId34"/>
    <p:sldId id="373" r:id="rId35"/>
    <p:sldId id="360" r:id="rId36"/>
    <p:sldId id="386" r:id="rId37"/>
    <p:sldId id="281" r:id="rId38"/>
    <p:sldId id="436" r:id="rId39"/>
    <p:sldId id="283" r:id="rId40"/>
    <p:sldId id="270" r:id="rId41"/>
    <p:sldId id="435" r:id="rId42"/>
    <p:sldId id="415" r:id="rId43"/>
    <p:sldId id="266" r:id="rId44"/>
    <p:sldId id="267" r:id="rId45"/>
    <p:sldId id="260" r:id="rId46"/>
    <p:sldId id="261" r:id="rId47"/>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1" d="100"/>
          <a:sy n="61" d="100"/>
        </p:scale>
        <p:origin x="1440" y="60"/>
      </p:cViewPr>
      <p:guideLst>
        <p:guide orient="horz" pos="2160"/>
        <p:guide pos="2880"/>
      </p:guideLst>
    </p:cSldViewPr>
  </p:slideViewPr>
  <p:notesTextViewPr>
    <p:cViewPr>
      <p:scale>
        <a:sx n="100" d="100"/>
        <a:sy n="100" d="100"/>
      </p:scale>
      <p:origin x="0" y="0"/>
    </p:cViewPr>
  </p:notesTextViewPr>
  <p:sorterViewPr>
    <p:cViewPr>
      <p:scale>
        <a:sx n="66" d="100"/>
        <a:sy n="66" d="100"/>
      </p:scale>
      <p:origin x="0" y="74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 /><Relationship Id="rId18" Type="http://schemas.openxmlformats.org/officeDocument/2006/relationships/slide" Target="slides/slide17.xml" /><Relationship Id="rId26" Type="http://schemas.openxmlformats.org/officeDocument/2006/relationships/slide" Target="slides/slide25.xml" /><Relationship Id="rId39" Type="http://schemas.openxmlformats.org/officeDocument/2006/relationships/slide" Target="slides/slide38.xml" /><Relationship Id="rId3" Type="http://schemas.openxmlformats.org/officeDocument/2006/relationships/slide" Target="slides/slide2.xml" /><Relationship Id="rId21" Type="http://schemas.openxmlformats.org/officeDocument/2006/relationships/slide" Target="slides/slide20.xml" /><Relationship Id="rId34" Type="http://schemas.openxmlformats.org/officeDocument/2006/relationships/slide" Target="slides/slide33.xml" /><Relationship Id="rId42" Type="http://schemas.openxmlformats.org/officeDocument/2006/relationships/slide" Target="slides/slide41.xml" /><Relationship Id="rId47" Type="http://schemas.openxmlformats.org/officeDocument/2006/relationships/slide" Target="slides/slide46.xml" /><Relationship Id="rId50" Type="http://schemas.openxmlformats.org/officeDocument/2006/relationships/viewProps" Target="viewProps.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slide" Target="slides/slide16.xml" /><Relationship Id="rId25" Type="http://schemas.openxmlformats.org/officeDocument/2006/relationships/slide" Target="slides/slide24.xml" /><Relationship Id="rId33" Type="http://schemas.openxmlformats.org/officeDocument/2006/relationships/slide" Target="slides/slide32.xml" /><Relationship Id="rId38" Type="http://schemas.openxmlformats.org/officeDocument/2006/relationships/slide" Target="slides/slide37.xml" /><Relationship Id="rId46" Type="http://schemas.openxmlformats.org/officeDocument/2006/relationships/slide" Target="slides/slide45.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slide" Target="slides/slide19.xml" /><Relationship Id="rId29" Type="http://schemas.openxmlformats.org/officeDocument/2006/relationships/slide" Target="slides/slide28.xml" /><Relationship Id="rId41" Type="http://schemas.openxmlformats.org/officeDocument/2006/relationships/slide" Target="slides/slide40.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openxmlformats.org/officeDocument/2006/relationships/slide" Target="slides/slide23.xml" /><Relationship Id="rId32" Type="http://schemas.openxmlformats.org/officeDocument/2006/relationships/slide" Target="slides/slide31.xml" /><Relationship Id="rId37" Type="http://schemas.openxmlformats.org/officeDocument/2006/relationships/slide" Target="slides/slide36.xml" /><Relationship Id="rId40" Type="http://schemas.openxmlformats.org/officeDocument/2006/relationships/slide" Target="slides/slide39.xml" /><Relationship Id="rId45" Type="http://schemas.openxmlformats.org/officeDocument/2006/relationships/slide" Target="slides/slide44.xml" /><Relationship Id="rId5" Type="http://schemas.openxmlformats.org/officeDocument/2006/relationships/slide" Target="slides/slide4.xml" /><Relationship Id="rId15" Type="http://schemas.openxmlformats.org/officeDocument/2006/relationships/slide" Target="slides/slide14.xml" /><Relationship Id="rId23" Type="http://schemas.openxmlformats.org/officeDocument/2006/relationships/slide" Target="slides/slide22.xml" /><Relationship Id="rId28" Type="http://schemas.openxmlformats.org/officeDocument/2006/relationships/slide" Target="slides/slide27.xml" /><Relationship Id="rId36" Type="http://schemas.openxmlformats.org/officeDocument/2006/relationships/slide" Target="slides/slide35.xml" /><Relationship Id="rId49" Type="http://schemas.openxmlformats.org/officeDocument/2006/relationships/presProps" Target="presProps.xml" /><Relationship Id="rId10" Type="http://schemas.openxmlformats.org/officeDocument/2006/relationships/slide" Target="slides/slide9.xml" /><Relationship Id="rId19" Type="http://schemas.openxmlformats.org/officeDocument/2006/relationships/slide" Target="slides/slide18.xml" /><Relationship Id="rId31" Type="http://schemas.openxmlformats.org/officeDocument/2006/relationships/slide" Target="slides/slide30.xml" /><Relationship Id="rId44" Type="http://schemas.openxmlformats.org/officeDocument/2006/relationships/slide" Target="slides/slide43.xml" /><Relationship Id="rId52" Type="http://schemas.openxmlformats.org/officeDocument/2006/relationships/tableStyles" Target="tableStyle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2" Type="http://schemas.openxmlformats.org/officeDocument/2006/relationships/slide" Target="slides/slide21.xml" /><Relationship Id="rId27" Type="http://schemas.openxmlformats.org/officeDocument/2006/relationships/slide" Target="slides/slide26.xml" /><Relationship Id="rId30" Type="http://schemas.openxmlformats.org/officeDocument/2006/relationships/slide" Target="slides/slide29.xml" /><Relationship Id="rId35" Type="http://schemas.openxmlformats.org/officeDocument/2006/relationships/slide" Target="slides/slide34.xml" /><Relationship Id="rId43" Type="http://schemas.openxmlformats.org/officeDocument/2006/relationships/slide" Target="slides/slide42.xml" /><Relationship Id="rId48" Type="http://schemas.openxmlformats.org/officeDocument/2006/relationships/notesMaster" Target="notesMasters/notesMaster1.xml" /><Relationship Id="rId8" Type="http://schemas.openxmlformats.org/officeDocument/2006/relationships/slide" Target="slides/slide7.xml" /><Relationship Id="rId5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B12BC94-826C-44CC-9139-4D8AF4CCD754}"/>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en-IN"/>
          </a:p>
        </p:txBody>
      </p:sp>
      <p:sp>
        <p:nvSpPr>
          <p:cNvPr id="3" name="Date Placeholder 2">
            <a:extLst>
              <a:ext uri="{FF2B5EF4-FFF2-40B4-BE49-F238E27FC236}">
                <a16:creationId xmlns:a16="http://schemas.microsoft.com/office/drawing/2014/main" id="{405DB217-5036-48E7-9F80-D8568EC4E5C6}"/>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4495E4C6-17AD-4BA4-85ED-1CEF5353A859}" type="datetimeFigureOut">
              <a:rPr lang="en-IN"/>
              <a:pPr>
                <a:defRPr/>
              </a:pPr>
              <a:t>08-03-2025</a:t>
            </a:fld>
            <a:endParaRPr lang="en-IN"/>
          </a:p>
        </p:txBody>
      </p:sp>
      <p:sp>
        <p:nvSpPr>
          <p:cNvPr id="4" name="Slide Image Placeholder 3">
            <a:extLst>
              <a:ext uri="{FF2B5EF4-FFF2-40B4-BE49-F238E27FC236}">
                <a16:creationId xmlns:a16="http://schemas.microsoft.com/office/drawing/2014/main" id="{6E099106-0BB6-43A6-A3E2-09D734B298C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a:extLst>
              <a:ext uri="{FF2B5EF4-FFF2-40B4-BE49-F238E27FC236}">
                <a16:creationId xmlns:a16="http://schemas.microsoft.com/office/drawing/2014/main" id="{DFBCB12F-E21B-4BB3-98A4-F84DE794225D}"/>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a:extLst>
              <a:ext uri="{FF2B5EF4-FFF2-40B4-BE49-F238E27FC236}">
                <a16:creationId xmlns:a16="http://schemas.microsoft.com/office/drawing/2014/main" id="{B7B2BC49-BC64-4703-B80A-9476428F9481}"/>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en-IN"/>
          </a:p>
        </p:txBody>
      </p:sp>
      <p:sp>
        <p:nvSpPr>
          <p:cNvPr id="7" name="Slide Number Placeholder 6">
            <a:extLst>
              <a:ext uri="{FF2B5EF4-FFF2-40B4-BE49-F238E27FC236}">
                <a16:creationId xmlns:a16="http://schemas.microsoft.com/office/drawing/2014/main" id="{26FD10B2-65DA-4A6A-9411-A7CE5F94A9C7}"/>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DA50488F-DB6A-40AC-8FA4-772BF47F0323}" type="slidenum">
              <a:rPr lang="en-IN" altLang="en-US"/>
              <a:pPr>
                <a:defRPr/>
              </a:pPr>
              <a:t>‹#›</a:t>
            </a:fld>
            <a:endParaRPr lang="en-IN"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a:extLst>
              <a:ext uri="{FF2B5EF4-FFF2-40B4-BE49-F238E27FC236}">
                <a16:creationId xmlns:a16="http://schemas.microsoft.com/office/drawing/2014/main" id="{0A05764E-8255-42A8-A75E-A2201060A7E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D0A07EF6-D995-4030-ABDF-DCA9F0A51AD2}" type="slidenum">
              <a:rPr lang="en-US" altLang="en-US"/>
              <a:pPr eaLnBrk="1" hangingPunct="1"/>
              <a:t>33</a:t>
            </a:fld>
            <a:endParaRPr lang="en-US" altLang="en-US"/>
          </a:p>
        </p:txBody>
      </p:sp>
      <p:sp>
        <p:nvSpPr>
          <p:cNvPr id="34819" name="Rectangle 2">
            <a:extLst>
              <a:ext uri="{FF2B5EF4-FFF2-40B4-BE49-F238E27FC236}">
                <a16:creationId xmlns:a16="http://schemas.microsoft.com/office/drawing/2014/main" id="{AC3524FB-399F-486B-8775-508B14D1301C}"/>
              </a:ext>
            </a:extLst>
          </p:cNvPr>
          <p:cNvSpPr>
            <a:spLocks noGrp="1" noRot="1" noChangeAspect="1" noChangeArrowheads="1" noTextEdit="1"/>
          </p:cNvSpPr>
          <p:nvPr>
            <p:ph type="sldImg"/>
          </p:nvPr>
        </p:nvSpPr>
        <p:spPr>
          <a:ln/>
        </p:spPr>
      </p:sp>
      <p:sp>
        <p:nvSpPr>
          <p:cNvPr id="34820" name="Rectangle 3">
            <a:extLst>
              <a:ext uri="{FF2B5EF4-FFF2-40B4-BE49-F238E27FC236}">
                <a16:creationId xmlns:a16="http://schemas.microsoft.com/office/drawing/2014/main" id="{81B5BBD8-43B1-407C-A1A5-9F354E6E18D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a:extLst>
              <a:ext uri="{FF2B5EF4-FFF2-40B4-BE49-F238E27FC236}">
                <a16:creationId xmlns:a16="http://schemas.microsoft.com/office/drawing/2014/main" id="{54BDCB0E-61E3-4614-9AC9-784BA30D2DB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BCAED6BF-C32E-4927-B931-C6F49FA3788A}" type="slidenum">
              <a:rPr lang="en-US" altLang="en-US"/>
              <a:pPr eaLnBrk="1" hangingPunct="1"/>
              <a:t>34</a:t>
            </a:fld>
            <a:endParaRPr lang="en-US" altLang="en-US"/>
          </a:p>
        </p:txBody>
      </p:sp>
      <p:sp>
        <p:nvSpPr>
          <p:cNvPr id="35843" name="Rectangle 2">
            <a:extLst>
              <a:ext uri="{FF2B5EF4-FFF2-40B4-BE49-F238E27FC236}">
                <a16:creationId xmlns:a16="http://schemas.microsoft.com/office/drawing/2014/main" id="{36826300-BE32-4F88-B2F6-58459B15322E}"/>
              </a:ext>
            </a:extLst>
          </p:cNvPr>
          <p:cNvSpPr>
            <a:spLocks noGrp="1" noRot="1" noChangeAspect="1" noChangeArrowheads="1" noTextEdit="1"/>
          </p:cNvSpPr>
          <p:nvPr>
            <p:ph type="sldImg"/>
          </p:nvPr>
        </p:nvSpPr>
        <p:spPr>
          <a:ln/>
        </p:spPr>
      </p:sp>
      <p:sp>
        <p:nvSpPr>
          <p:cNvPr id="35844" name="Rectangle 3">
            <a:extLst>
              <a:ext uri="{FF2B5EF4-FFF2-40B4-BE49-F238E27FC236}">
                <a16:creationId xmlns:a16="http://schemas.microsoft.com/office/drawing/2014/main" id="{8CC5E8EB-354C-4385-9C1B-FDB133FDEA9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a:extLst>
              <a:ext uri="{FF2B5EF4-FFF2-40B4-BE49-F238E27FC236}">
                <a16:creationId xmlns:a16="http://schemas.microsoft.com/office/drawing/2014/main" id="{ACB425AC-A054-4E2F-9248-9C3F7700AA5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7287DFE1-CAB2-46F3-A351-C6E67CCEA9BD}" type="slidenum">
              <a:rPr lang="en-US" altLang="en-US"/>
              <a:pPr eaLnBrk="1" hangingPunct="1"/>
              <a:t>35</a:t>
            </a:fld>
            <a:endParaRPr lang="en-US" altLang="en-US"/>
          </a:p>
        </p:txBody>
      </p:sp>
      <p:sp>
        <p:nvSpPr>
          <p:cNvPr id="36867" name="Rectangle 2">
            <a:extLst>
              <a:ext uri="{FF2B5EF4-FFF2-40B4-BE49-F238E27FC236}">
                <a16:creationId xmlns:a16="http://schemas.microsoft.com/office/drawing/2014/main" id="{6843DC8C-26EA-4A70-8A8E-D0C0CE1BAD0D}"/>
              </a:ext>
            </a:extLst>
          </p:cNvPr>
          <p:cNvSpPr>
            <a:spLocks noGrp="1" noRot="1" noChangeAspect="1" noChangeArrowheads="1" noTextEdit="1"/>
          </p:cNvSpPr>
          <p:nvPr>
            <p:ph type="sldImg"/>
          </p:nvPr>
        </p:nvSpPr>
        <p:spPr>
          <a:ln/>
        </p:spPr>
      </p:sp>
      <p:sp>
        <p:nvSpPr>
          <p:cNvPr id="36868" name="Rectangle 3">
            <a:extLst>
              <a:ext uri="{FF2B5EF4-FFF2-40B4-BE49-F238E27FC236}">
                <a16:creationId xmlns:a16="http://schemas.microsoft.com/office/drawing/2014/main" id="{2EBFE093-4DC7-41BE-B677-43810F44912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a:extLst>
              <a:ext uri="{FF2B5EF4-FFF2-40B4-BE49-F238E27FC236}">
                <a16:creationId xmlns:a16="http://schemas.microsoft.com/office/drawing/2014/main" id="{C681FA0F-4BFB-4DE7-B6C9-53073AA9162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6FBA0E14-FE9D-449D-B6AE-6669B8A28083}" type="slidenum">
              <a:rPr lang="en-US" altLang="en-US"/>
              <a:pPr eaLnBrk="1" hangingPunct="1"/>
              <a:t>36</a:t>
            </a:fld>
            <a:endParaRPr lang="en-US" altLang="en-US"/>
          </a:p>
        </p:txBody>
      </p:sp>
      <p:sp>
        <p:nvSpPr>
          <p:cNvPr id="38915" name="Rectangle 2">
            <a:extLst>
              <a:ext uri="{FF2B5EF4-FFF2-40B4-BE49-F238E27FC236}">
                <a16:creationId xmlns:a16="http://schemas.microsoft.com/office/drawing/2014/main" id="{9D9D2296-0D0E-4E10-993D-A9AAF63F11B7}"/>
              </a:ext>
            </a:extLst>
          </p:cNvPr>
          <p:cNvSpPr>
            <a:spLocks noGrp="1" noRot="1" noChangeAspect="1" noChangeArrowheads="1" noTextEdit="1"/>
          </p:cNvSpPr>
          <p:nvPr>
            <p:ph type="sldImg"/>
          </p:nvPr>
        </p:nvSpPr>
        <p:spPr>
          <a:ln/>
        </p:spPr>
      </p:sp>
      <p:sp>
        <p:nvSpPr>
          <p:cNvPr id="38916" name="Rectangle 3">
            <a:extLst>
              <a:ext uri="{FF2B5EF4-FFF2-40B4-BE49-F238E27FC236}">
                <a16:creationId xmlns:a16="http://schemas.microsoft.com/office/drawing/2014/main" id="{A02B61BE-D607-403D-BF70-5E173BD59C4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endParaRPr lang="en-IN"/>
          </a:p>
        </p:txBody>
      </p:sp>
      <p:sp>
        <p:nvSpPr>
          <p:cNvPr id="4" name="Rectangle 4">
            <a:extLst>
              <a:ext uri="{FF2B5EF4-FFF2-40B4-BE49-F238E27FC236}">
                <a16:creationId xmlns:a16="http://schemas.microsoft.com/office/drawing/2014/main" id="{DBEE118F-D257-4318-A3A2-EECA19410BF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C97103C-CE56-4C35-B5D2-E932D10544C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631569ED-472A-4591-B1C8-91A8AA55F43B}"/>
              </a:ext>
            </a:extLst>
          </p:cNvPr>
          <p:cNvSpPr>
            <a:spLocks noGrp="1" noChangeArrowheads="1"/>
          </p:cNvSpPr>
          <p:nvPr>
            <p:ph type="sldNum" sz="quarter" idx="12"/>
          </p:nvPr>
        </p:nvSpPr>
        <p:spPr>
          <a:ln/>
        </p:spPr>
        <p:txBody>
          <a:bodyPr/>
          <a:lstStyle>
            <a:lvl1pPr>
              <a:defRPr/>
            </a:lvl1pPr>
          </a:lstStyle>
          <a:p>
            <a:pPr>
              <a:defRPr/>
            </a:pPr>
            <a:fld id="{E91EFD36-5984-457D-BADD-B4A3F349C23E}" type="slidenum">
              <a:rPr lang="en-US" altLang="en-US"/>
              <a:pPr>
                <a:defRPr/>
              </a:pPr>
              <a:t>‹#›</a:t>
            </a:fld>
            <a:endParaRPr lang="en-US" altLang="en-US"/>
          </a:p>
        </p:txBody>
      </p:sp>
    </p:spTree>
    <p:extLst>
      <p:ext uri="{BB962C8B-B14F-4D97-AF65-F5344CB8AC3E}">
        <p14:creationId xmlns:p14="http://schemas.microsoft.com/office/powerpoint/2010/main" val="42549790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4C13EFD9-AB6D-434D-BC2E-8B73CC13FEA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B0ED277-8375-4E95-B412-94EF1677FAD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D71C59AB-1EAD-4FD8-95DC-AD356CFA4FC2}"/>
              </a:ext>
            </a:extLst>
          </p:cNvPr>
          <p:cNvSpPr>
            <a:spLocks noGrp="1" noChangeArrowheads="1"/>
          </p:cNvSpPr>
          <p:nvPr>
            <p:ph type="sldNum" sz="quarter" idx="12"/>
          </p:nvPr>
        </p:nvSpPr>
        <p:spPr>
          <a:ln/>
        </p:spPr>
        <p:txBody>
          <a:bodyPr/>
          <a:lstStyle>
            <a:lvl1pPr>
              <a:defRPr/>
            </a:lvl1pPr>
          </a:lstStyle>
          <a:p>
            <a:pPr>
              <a:defRPr/>
            </a:pPr>
            <a:fld id="{196D8436-06A3-43A4-BA5B-8AF70AEB648F}" type="slidenum">
              <a:rPr lang="en-US" altLang="en-US"/>
              <a:pPr>
                <a:defRPr/>
              </a:pPr>
              <a:t>‹#›</a:t>
            </a:fld>
            <a:endParaRPr lang="en-US" altLang="en-US"/>
          </a:p>
        </p:txBody>
      </p:sp>
    </p:spTree>
    <p:extLst>
      <p:ext uri="{BB962C8B-B14F-4D97-AF65-F5344CB8AC3E}">
        <p14:creationId xmlns:p14="http://schemas.microsoft.com/office/powerpoint/2010/main" val="3027548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8924E2C6-9E75-43EE-99CD-453E04C8655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25018E45-3328-444D-8796-75B3B701D17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8A16A509-F4A7-48F3-809D-CBD23ED80F55}"/>
              </a:ext>
            </a:extLst>
          </p:cNvPr>
          <p:cNvSpPr>
            <a:spLocks noGrp="1" noChangeArrowheads="1"/>
          </p:cNvSpPr>
          <p:nvPr>
            <p:ph type="sldNum" sz="quarter" idx="12"/>
          </p:nvPr>
        </p:nvSpPr>
        <p:spPr>
          <a:ln/>
        </p:spPr>
        <p:txBody>
          <a:bodyPr/>
          <a:lstStyle>
            <a:lvl1pPr>
              <a:defRPr/>
            </a:lvl1pPr>
          </a:lstStyle>
          <a:p>
            <a:pPr>
              <a:defRPr/>
            </a:pPr>
            <a:fld id="{D3974763-CD29-4242-A606-D01C110AD1A3}" type="slidenum">
              <a:rPr lang="en-US" altLang="en-US"/>
              <a:pPr>
                <a:defRPr/>
              </a:pPr>
              <a:t>‹#›</a:t>
            </a:fld>
            <a:endParaRPr lang="en-US" altLang="en-US"/>
          </a:p>
        </p:txBody>
      </p:sp>
    </p:spTree>
    <p:extLst>
      <p:ext uri="{BB962C8B-B14F-4D97-AF65-F5344CB8AC3E}">
        <p14:creationId xmlns:p14="http://schemas.microsoft.com/office/powerpoint/2010/main" val="3986014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1D060A66-D792-4197-A450-15640D1F3CB3}"/>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5139D150-B008-4810-A642-BB58C29B576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BBECF246-2CD9-4EFD-B3F8-DA766CBABFB9}"/>
              </a:ext>
            </a:extLst>
          </p:cNvPr>
          <p:cNvSpPr>
            <a:spLocks noGrp="1" noChangeArrowheads="1"/>
          </p:cNvSpPr>
          <p:nvPr>
            <p:ph type="sldNum" sz="quarter" idx="12"/>
          </p:nvPr>
        </p:nvSpPr>
        <p:spPr>
          <a:ln/>
        </p:spPr>
        <p:txBody>
          <a:bodyPr/>
          <a:lstStyle>
            <a:lvl1pPr>
              <a:defRPr/>
            </a:lvl1pPr>
          </a:lstStyle>
          <a:p>
            <a:pPr>
              <a:defRPr/>
            </a:pPr>
            <a:fld id="{32343884-E97C-43AC-91BE-818B2A6132AF}" type="slidenum">
              <a:rPr lang="en-US" altLang="en-US"/>
              <a:pPr>
                <a:defRPr/>
              </a:pPr>
              <a:t>‹#›</a:t>
            </a:fld>
            <a:endParaRPr lang="en-US" altLang="en-US"/>
          </a:p>
        </p:txBody>
      </p:sp>
    </p:spTree>
    <p:extLst>
      <p:ext uri="{BB962C8B-B14F-4D97-AF65-F5344CB8AC3E}">
        <p14:creationId xmlns:p14="http://schemas.microsoft.com/office/powerpoint/2010/main" val="353214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Rectangle 4">
            <a:extLst>
              <a:ext uri="{FF2B5EF4-FFF2-40B4-BE49-F238E27FC236}">
                <a16:creationId xmlns:a16="http://schemas.microsoft.com/office/drawing/2014/main" id="{695DB130-3059-4B58-BDA5-BD072F56A81F}"/>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9754EE56-C6A2-4D14-AF3C-BAE635180FF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E24C1A1F-C41E-4454-A02E-BDE2567839B8}"/>
              </a:ext>
            </a:extLst>
          </p:cNvPr>
          <p:cNvSpPr>
            <a:spLocks noGrp="1" noChangeArrowheads="1"/>
          </p:cNvSpPr>
          <p:nvPr>
            <p:ph type="sldNum" sz="quarter" idx="12"/>
          </p:nvPr>
        </p:nvSpPr>
        <p:spPr>
          <a:ln/>
        </p:spPr>
        <p:txBody>
          <a:bodyPr/>
          <a:lstStyle>
            <a:lvl1pPr>
              <a:defRPr/>
            </a:lvl1pPr>
          </a:lstStyle>
          <a:p>
            <a:pPr>
              <a:defRPr/>
            </a:pPr>
            <a:fld id="{C052C66B-8C25-4FE5-81EA-D279F10B6BD3}" type="slidenum">
              <a:rPr lang="en-US" altLang="en-US"/>
              <a:pPr>
                <a:defRPr/>
              </a:pPr>
              <a:t>‹#›</a:t>
            </a:fld>
            <a:endParaRPr lang="en-US" altLang="en-US"/>
          </a:p>
        </p:txBody>
      </p:sp>
    </p:spTree>
    <p:extLst>
      <p:ext uri="{BB962C8B-B14F-4D97-AF65-F5344CB8AC3E}">
        <p14:creationId xmlns:p14="http://schemas.microsoft.com/office/powerpoint/2010/main" val="3411131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Rectangle 4">
            <a:extLst>
              <a:ext uri="{FF2B5EF4-FFF2-40B4-BE49-F238E27FC236}">
                <a16:creationId xmlns:a16="http://schemas.microsoft.com/office/drawing/2014/main" id="{8073D249-74BA-4FC7-9180-228CFD77E1BA}"/>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2DD93F01-8B96-4D54-88E5-CA53B833D85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D2D4A28-53D6-497F-985F-B1CEC7D70C40}"/>
              </a:ext>
            </a:extLst>
          </p:cNvPr>
          <p:cNvSpPr>
            <a:spLocks noGrp="1" noChangeArrowheads="1"/>
          </p:cNvSpPr>
          <p:nvPr>
            <p:ph type="sldNum" sz="quarter" idx="12"/>
          </p:nvPr>
        </p:nvSpPr>
        <p:spPr>
          <a:ln/>
        </p:spPr>
        <p:txBody>
          <a:bodyPr/>
          <a:lstStyle>
            <a:lvl1pPr>
              <a:defRPr/>
            </a:lvl1pPr>
          </a:lstStyle>
          <a:p>
            <a:pPr>
              <a:defRPr/>
            </a:pPr>
            <a:fld id="{E9ABF0EF-67B1-4AA0-81ED-91DE03744A40}" type="slidenum">
              <a:rPr lang="en-US" altLang="en-US"/>
              <a:pPr>
                <a:defRPr/>
              </a:pPr>
              <a:t>‹#›</a:t>
            </a:fld>
            <a:endParaRPr lang="en-US" altLang="en-US"/>
          </a:p>
        </p:txBody>
      </p:sp>
    </p:spTree>
    <p:extLst>
      <p:ext uri="{BB962C8B-B14F-4D97-AF65-F5344CB8AC3E}">
        <p14:creationId xmlns:p14="http://schemas.microsoft.com/office/powerpoint/2010/main" val="28334602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3793C45B-F71B-46A7-A2A8-FEA3D830072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0E0F0BA5-4205-4DA9-8FA1-D723A7B5DEB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DAB7F91C-3F88-4469-8440-DA0A8B7F5768}"/>
              </a:ext>
            </a:extLst>
          </p:cNvPr>
          <p:cNvSpPr>
            <a:spLocks noGrp="1" noChangeArrowheads="1"/>
          </p:cNvSpPr>
          <p:nvPr>
            <p:ph type="sldNum" sz="quarter" idx="12"/>
          </p:nvPr>
        </p:nvSpPr>
        <p:spPr>
          <a:ln/>
        </p:spPr>
        <p:txBody>
          <a:bodyPr/>
          <a:lstStyle>
            <a:lvl1pPr>
              <a:defRPr/>
            </a:lvl1pPr>
          </a:lstStyle>
          <a:p>
            <a:pPr>
              <a:defRPr/>
            </a:pPr>
            <a:fld id="{C139F030-B1DE-440E-85E3-A637DEB7A7C7}" type="slidenum">
              <a:rPr lang="en-US" altLang="en-US"/>
              <a:pPr>
                <a:defRPr/>
              </a:pPr>
              <a:t>‹#›</a:t>
            </a:fld>
            <a:endParaRPr lang="en-US" altLang="en-US"/>
          </a:p>
        </p:txBody>
      </p:sp>
    </p:spTree>
    <p:extLst>
      <p:ext uri="{BB962C8B-B14F-4D97-AF65-F5344CB8AC3E}">
        <p14:creationId xmlns:p14="http://schemas.microsoft.com/office/powerpoint/2010/main" val="10488869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61462272-BBA7-43EA-9594-79B56445FE80}"/>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F519C3EE-B0C4-43D8-8138-EBD6BB89F08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938D149F-91B7-4D2A-80E9-143AB91277E6}"/>
              </a:ext>
            </a:extLst>
          </p:cNvPr>
          <p:cNvSpPr>
            <a:spLocks noGrp="1" noChangeArrowheads="1"/>
          </p:cNvSpPr>
          <p:nvPr>
            <p:ph type="sldNum" sz="quarter" idx="12"/>
          </p:nvPr>
        </p:nvSpPr>
        <p:spPr>
          <a:ln/>
        </p:spPr>
        <p:txBody>
          <a:bodyPr/>
          <a:lstStyle>
            <a:lvl1pPr>
              <a:defRPr/>
            </a:lvl1pPr>
          </a:lstStyle>
          <a:p>
            <a:pPr>
              <a:defRPr/>
            </a:pPr>
            <a:fld id="{06B7294A-24AF-420B-8505-410263194C68}" type="slidenum">
              <a:rPr lang="en-US" altLang="en-US"/>
              <a:pPr>
                <a:defRPr/>
              </a:pPr>
              <a:t>‹#›</a:t>
            </a:fld>
            <a:endParaRPr lang="en-US" altLang="en-US"/>
          </a:p>
        </p:txBody>
      </p:sp>
    </p:spTree>
    <p:extLst>
      <p:ext uri="{BB962C8B-B14F-4D97-AF65-F5344CB8AC3E}">
        <p14:creationId xmlns:p14="http://schemas.microsoft.com/office/powerpoint/2010/main" val="3306298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IN"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B011047-FFB1-4281-8AA7-C67D7FC1720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0BA64777-0A6E-44A1-9A52-089347C9554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8D066FD0-7FB1-4473-9F5A-052CDF76D2C7}"/>
              </a:ext>
            </a:extLst>
          </p:cNvPr>
          <p:cNvSpPr>
            <a:spLocks noGrp="1" noChangeArrowheads="1"/>
          </p:cNvSpPr>
          <p:nvPr>
            <p:ph type="sldNum" sz="quarter" idx="12"/>
          </p:nvPr>
        </p:nvSpPr>
        <p:spPr>
          <a:ln/>
        </p:spPr>
        <p:txBody>
          <a:bodyPr/>
          <a:lstStyle>
            <a:lvl1pPr>
              <a:defRPr/>
            </a:lvl1pPr>
          </a:lstStyle>
          <a:p>
            <a:pPr>
              <a:defRPr/>
            </a:pPr>
            <a:fld id="{464B33AA-D7D6-4AF9-8507-39A6605B27C6}" type="slidenum">
              <a:rPr lang="en-US" altLang="en-US"/>
              <a:pPr>
                <a:defRPr/>
              </a:pPr>
              <a:t>‹#›</a:t>
            </a:fld>
            <a:endParaRPr lang="en-US" altLang="en-US"/>
          </a:p>
        </p:txBody>
      </p:sp>
    </p:spTree>
    <p:extLst>
      <p:ext uri="{BB962C8B-B14F-4D97-AF65-F5344CB8AC3E}">
        <p14:creationId xmlns:p14="http://schemas.microsoft.com/office/powerpoint/2010/main" val="31725100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D3E3C6A4-4B1A-4C68-BC9E-108062B1B49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C1AA137-5DE1-4D94-A5C4-663255771BE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A788E28-AD11-4AD1-9E0C-EB1CB0AB2E0E}"/>
              </a:ext>
            </a:extLst>
          </p:cNvPr>
          <p:cNvSpPr>
            <a:spLocks noGrp="1" noChangeArrowheads="1"/>
          </p:cNvSpPr>
          <p:nvPr>
            <p:ph type="sldNum" sz="quarter" idx="12"/>
          </p:nvPr>
        </p:nvSpPr>
        <p:spPr>
          <a:ln/>
        </p:spPr>
        <p:txBody>
          <a:bodyPr/>
          <a:lstStyle>
            <a:lvl1pPr>
              <a:defRPr/>
            </a:lvl1pPr>
          </a:lstStyle>
          <a:p>
            <a:pPr>
              <a:defRPr/>
            </a:pPr>
            <a:fld id="{5707F969-126B-4625-93B3-22279DA28B61}" type="slidenum">
              <a:rPr lang="en-US" altLang="en-US"/>
              <a:pPr>
                <a:defRPr/>
              </a:pPr>
              <a:t>‹#›</a:t>
            </a:fld>
            <a:endParaRPr lang="en-US" altLang="en-US"/>
          </a:p>
        </p:txBody>
      </p:sp>
    </p:spTree>
    <p:extLst>
      <p:ext uri="{BB962C8B-B14F-4D97-AF65-F5344CB8AC3E}">
        <p14:creationId xmlns:p14="http://schemas.microsoft.com/office/powerpoint/2010/main" val="378355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E9EFAED9-FCC2-4312-9DB9-099CCCC9F0CB}"/>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DF9ABCCB-6606-4ED6-BC8F-C27228E2609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EB9E9A27-7F1E-4BB5-A7E3-48D09E2086F5}"/>
              </a:ext>
            </a:extLst>
          </p:cNvPr>
          <p:cNvSpPr>
            <a:spLocks noGrp="1" noChangeArrowheads="1"/>
          </p:cNvSpPr>
          <p:nvPr>
            <p:ph type="sldNum" sz="quarter" idx="12"/>
          </p:nvPr>
        </p:nvSpPr>
        <p:spPr>
          <a:ln/>
        </p:spPr>
        <p:txBody>
          <a:bodyPr/>
          <a:lstStyle>
            <a:lvl1pPr>
              <a:defRPr/>
            </a:lvl1pPr>
          </a:lstStyle>
          <a:p>
            <a:pPr>
              <a:defRPr/>
            </a:pPr>
            <a:fld id="{4BCD6217-5208-4DAE-8F2B-4AF241D0CED9}" type="slidenum">
              <a:rPr lang="en-US" altLang="en-US"/>
              <a:pPr>
                <a:defRPr/>
              </a:pPr>
              <a:t>‹#›</a:t>
            </a:fld>
            <a:endParaRPr lang="en-US" altLang="en-US"/>
          </a:p>
        </p:txBody>
      </p:sp>
    </p:spTree>
    <p:extLst>
      <p:ext uri="{BB962C8B-B14F-4D97-AF65-F5344CB8AC3E}">
        <p14:creationId xmlns:p14="http://schemas.microsoft.com/office/powerpoint/2010/main" val="14508883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2B860734-F86E-485B-BE6F-D403DEB8552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9962688C-8C09-49D2-A3CF-4C4EFFBA9D9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A1977806-7D51-41C3-94F1-95ECDE1BC91E}"/>
              </a:ext>
            </a:extLst>
          </p:cNvPr>
          <p:cNvSpPr>
            <a:spLocks noGrp="1" noChangeArrowheads="1"/>
          </p:cNvSpPr>
          <p:nvPr>
            <p:ph type="sldNum" sz="quarter" idx="12"/>
          </p:nvPr>
        </p:nvSpPr>
        <p:spPr>
          <a:ln/>
        </p:spPr>
        <p:txBody>
          <a:bodyPr/>
          <a:lstStyle>
            <a:lvl1pPr>
              <a:defRPr/>
            </a:lvl1pPr>
          </a:lstStyle>
          <a:p>
            <a:pPr>
              <a:defRPr/>
            </a:pPr>
            <a:fld id="{F9EAD34F-7ECA-488C-A8FC-C0C1447E8996}" type="slidenum">
              <a:rPr lang="en-US" altLang="en-US"/>
              <a:pPr>
                <a:defRPr/>
              </a:pPr>
              <a:t>‹#›</a:t>
            </a:fld>
            <a:endParaRPr lang="en-US" altLang="en-US"/>
          </a:p>
        </p:txBody>
      </p:sp>
    </p:spTree>
    <p:extLst>
      <p:ext uri="{BB962C8B-B14F-4D97-AF65-F5344CB8AC3E}">
        <p14:creationId xmlns:p14="http://schemas.microsoft.com/office/powerpoint/2010/main" val="3948470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lipArt Placeholder 3"/>
          <p:cNvSpPr>
            <a:spLocks noGrp="1"/>
          </p:cNvSpPr>
          <p:nvPr>
            <p:ph type="clipArt" sz="half" idx="2"/>
          </p:nvPr>
        </p:nvSpPr>
        <p:spPr>
          <a:xfrm>
            <a:off x="4648200" y="1600200"/>
            <a:ext cx="4038600" cy="4525963"/>
          </a:xfrm>
        </p:spPr>
        <p:txBody>
          <a:bodyPr/>
          <a:lstStyle/>
          <a:p>
            <a:pPr lvl="0"/>
            <a:endParaRPr lang="en-IN" noProof="0"/>
          </a:p>
        </p:txBody>
      </p:sp>
      <p:sp>
        <p:nvSpPr>
          <p:cNvPr id="5" name="Rectangle 4">
            <a:extLst>
              <a:ext uri="{FF2B5EF4-FFF2-40B4-BE49-F238E27FC236}">
                <a16:creationId xmlns:a16="http://schemas.microsoft.com/office/drawing/2014/main" id="{476E3B21-9DDA-4FAF-8452-B0EFA960C312}"/>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6FFC52A2-EE11-4000-BC5D-3C1345468226}"/>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C9ABEACE-6FB7-4B99-9A67-9CEBD7FFC91C}"/>
              </a:ext>
            </a:extLst>
          </p:cNvPr>
          <p:cNvSpPr>
            <a:spLocks noGrp="1" noChangeArrowheads="1"/>
          </p:cNvSpPr>
          <p:nvPr>
            <p:ph type="sldNum" sz="quarter" idx="12"/>
          </p:nvPr>
        </p:nvSpPr>
        <p:spPr>
          <a:ln/>
        </p:spPr>
        <p:txBody>
          <a:bodyPr/>
          <a:lstStyle>
            <a:lvl1pPr>
              <a:defRPr/>
            </a:lvl1pPr>
          </a:lstStyle>
          <a:p>
            <a:pPr>
              <a:defRPr/>
            </a:pPr>
            <a:fld id="{652F27C2-0E5F-4AAB-8874-A93956E577BC}" type="slidenum">
              <a:rPr lang="en-US" altLang="en-US"/>
              <a:pPr>
                <a:defRPr/>
              </a:pPr>
              <a:t>‹#›</a:t>
            </a:fld>
            <a:endParaRPr lang="en-US" altLang="en-US"/>
          </a:p>
        </p:txBody>
      </p:sp>
    </p:spTree>
    <p:extLst>
      <p:ext uri="{BB962C8B-B14F-4D97-AF65-F5344CB8AC3E}">
        <p14:creationId xmlns:p14="http://schemas.microsoft.com/office/powerpoint/2010/main" val="2318300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13" Type="http://schemas.openxmlformats.org/officeDocument/2006/relationships/slideLayout" Target="../slideLayouts/slideLayout13.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 Id="rId14"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8E5B2030-82C9-44DC-877E-5851501067E2}"/>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69A63B46-2CC7-4C4C-B290-7BAAA1F63AC2}"/>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1FAE760F-22F1-45C9-8239-30305B70D9B2}"/>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pitchFamily="34" charset="0"/>
              </a:defRPr>
            </a:lvl1pPr>
          </a:lstStyle>
          <a:p>
            <a:pPr>
              <a:defRPr/>
            </a:pPr>
            <a:endParaRPr lang="en-US"/>
          </a:p>
        </p:txBody>
      </p:sp>
      <p:sp>
        <p:nvSpPr>
          <p:cNvPr id="1029" name="Rectangle 5">
            <a:extLst>
              <a:ext uri="{FF2B5EF4-FFF2-40B4-BE49-F238E27FC236}">
                <a16:creationId xmlns:a16="http://schemas.microsoft.com/office/drawing/2014/main" id="{1D35B8D3-8F19-4A2C-AD58-BE3E89625A4E}"/>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pitchFamily="34" charset="0"/>
              </a:defRPr>
            </a:lvl1pPr>
          </a:lstStyle>
          <a:p>
            <a:pPr>
              <a:defRPr/>
            </a:pPr>
            <a:endParaRPr lang="en-US"/>
          </a:p>
        </p:txBody>
      </p:sp>
      <p:sp>
        <p:nvSpPr>
          <p:cNvPr id="1030" name="Rectangle 6">
            <a:extLst>
              <a:ext uri="{FF2B5EF4-FFF2-40B4-BE49-F238E27FC236}">
                <a16:creationId xmlns:a16="http://schemas.microsoft.com/office/drawing/2014/main" id="{068A7449-CC58-4CEF-AE5E-3A0514B9DB26}"/>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5A6E29DF-0E91-4F06-8705-C054EB6BBDCE}"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anoop@iisermohali.ac.in" TargetMode="External" /><Relationship Id="rId1" Type="http://schemas.openxmlformats.org/officeDocument/2006/relationships/slideLayout" Target="../slideLayouts/slideLayout2.xml" /></Relationships>
</file>

<file path=ppt/slides/_rels/slide2.xml.rels><?xml version="1.0" encoding="UTF-8" standalone="yes"?>
<Relationships xmlns="http://schemas.openxmlformats.org/package/2006/relationships"><Relationship Id="rId8" Type="http://schemas.openxmlformats.org/officeDocument/2006/relationships/image" Target="../media/image7.jpeg" /><Relationship Id="rId3" Type="http://schemas.openxmlformats.org/officeDocument/2006/relationships/image" Target="../media/image2.jpeg" /><Relationship Id="rId7" Type="http://schemas.openxmlformats.org/officeDocument/2006/relationships/image" Target="../media/image6.jpeg" /><Relationship Id="rId2" Type="http://schemas.openxmlformats.org/officeDocument/2006/relationships/image" Target="../media/image1.jpeg" /><Relationship Id="rId1" Type="http://schemas.openxmlformats.org/officeDocument/2006/relationships/slideLayout" Target="../slideLayouts/slideLayout2.xml" /><Relationship Id="rId6" Type="http://schemas.openxmlformats.org/officeDocument/2006/relationships/image" Target="../media/image5.jpeg" /><Relationship Id="rId5" Type="http://schemas.openxmlformats.org/officeDocument/2006/relationships/image" Target="../media/image4.jpeg" /><Relationship Id="rId4" Type="http://schemas.openxmlformats.org/officeDocument/2006/relationships/image" Target="../media/image3.jpeg" /><Relationship Id="rId9" Type="http://schemas.openxmlformats.org/officeDocument/2006/relationships/image" Target="../media/image8.png"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2" Type="http://schemas.openxmlformats.org/officeDocument/2006/relationships/image" Target="../media/image9.png"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standalone="yes"?>
<Relationships xmlns="http://schemas.openxmlformats.org/package/2006/relationships"><Relationship Id="rId2" Type="http://schemas.openxmlformats.org/officeDocument/2006/relationships/image" Target="../media/image10.jpeg" /><Relationship Id="rId1" Type="http://schemas.openxmlformats.org/officeDocument/2006/relationships/slideLayout" Target="../slideLayouts/slideLayout2.xml" /></Relationships>
</file>

<file path=ppt/slides/_rels/slide9.xml.rels><?xml version="1.0" encoding="UTF-8" standalone="yes"?>
<Relationships xmlns="http://schemas.openxmlformats.org/package/2006/relationships"><Relationship Id="rId2" Type="http://schemas.openxmlformats.org/officeDocument/2006/relationships/image" Target="../media/image11.gif" /><Relationship Id="rId1" Type="http://schemas.openxmlformats.org/officeDocument/2006/relationships/slideLayout" Target="../slideLayouts/slideLayout2.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 standalone="yes"?>
<Relationships xmlns="http://schemas.openxmlformats.org/package/2006/relationships"><Relationship Id="rId2" Type="http://schemas.openxmlformats.org/officeDocument/2006/relationships/image" Target="../media/image12.jpeg"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 standalone="yes"?>
<Relationships xmlns="http://schemas.openxmlformats.org/package/2006/relationships"><Relationship Id="rId2" Type="http://schemas.openxmlformats.org/officeDocument/2006/relationships/image" Target="../media/image13.gif" /><Relationship Id="rId1" Type="http://schemas.openxmlformats.org/officeDocument/2006/relationships/slideLayout" Target="../slideLayouts/slideLayout2.xml" /></Relationships>
</file>

<file path=ppt/slides/_rels/slide18.xml.rels><?xml version="1.0" encoding="UTF-8" standalone="yes"?>
<Relationships xmlns="http://schemas.openxmlformats.org/package/2006/relationships"><Relationship Id="rId2" Type="http://schemas.openxmlformats.org/officeDocument/2006/relationships/image" Target="../media/image14.jpeg" /><Relationship Id="rId1" Type="http://schemas.openxmlformats.org/officeDocument/2006/relationships/slideLayout" Target="../slideLayouts/slideLayout2.xml" /></Relationships>
</file>

<file path=ppt/slides/_rels/slide19.xml.rels><?xml version="1.0" encoding="UTF-8" standalone="yes"?>
<Relationships xmlns="http://schemas.openxmlformats.org/package/2006/relationships"><Relationship Id="rId2" Type="http://schemas.openxmlformats.org/officeDocument/2006/relationships/image" Target="../media/image15.png" /><Relationship Id="rId1" Type="http://schemas.openxmlformats.org/officeDocument/2006/relationships/slideLayout" Target="../slideLayouts/slideLayout2.xml" /></Relationships>
</file>

<file path=ppt/slides/_rels/slide20.xml.rels><?xml version="1.0" encoding="UTF-8" standalone="yes"?>
<Relationships xmlns="http://schemas.openxmlformats.org/package/2006/relationships"><Relationship Id="rId3" Type="http://schemas.openxmlformats.org/officeDocument/2006/relationships/image" Target="../media/image17.jpeg" /><Relationship Id="rId2" Type="http://schemas.openxmlformats.org/officeDocument/2006/relationships/image" Target="../media/image16.jpeg" /><Relationship Id="rId1" Type="http://schemas.openxmlformats.org/officeDocument/2006/relationships/slideLayout" Target="../slideLayouts/slideLayout2.xml" /></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 standalone="yes"?>
<Relationships xmlns="http://schemas.openxmlformats.org/package/2006/relationships"><Relationship Id="rId2" Type="http://schemas.openxmlformats.org/officeDocument/2006/relationships/image" Target="../media/image18.jpeg" /><Relationship Id="rId1" Type="http://schemas.openxmlformats.org/officeDocument/2006/relationships/slideLayout" Target="../slideLayouts/slideLayout2.xml" /></Relationships>
</file>

<file path=ppt/slides/_rels/slide26.xml.rels><?xml version="1.0" encoding="UTF-8" standalone="yes"?>
<Relationships xmlns="http://schemas.openxmlformats.org/package/2006/relationships"><Relationship Id="rId3" Type="http://schemas.openxmlformats.org/officeDocument/2006/relationships/image" Target="../media/image20.jpeg" /><Relationship Id="rId2" Type="http://schemas.openxmlformats.org/officeDocument/2006/relationships/image" Target="../media/image19.jpeg" /><Relationship Id="rId1" Type="http://schemas.openxmlformats.org/officeDocument/2006/relationships/slideLayout" Target="../slideLayouts/slideLayout7.xml" /></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 standalone="yes"?>
<Relationships xmlns="http://schemas.openxmlformats.org/package/2006/relationships"><Relationship Id="rId2" Type="http://schemas.openxmlformats.org/officeDocument/2006/relationships/image" Target="../media/image21.jpeg" /><Relationship Id="rId1" Type="http://schemas.openxmlformats.org/officeDocument/2006/relationships/slideLayout" Target="../slideLayouts/slideLayout2.xml" /></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 standalone="yes"?>
<Relationships xmlns="http://schemas.openxmlformats.org/package/2006/relationships"><Relationship Id="rId2" Type="http://schemas.openxmlformats.org/officeDocument/2006/relationships/image" Target="../media/image22.png" /><Relationship Id="rId1" Type="http://schemas.openxmlformats.org/officeDocument/2006/relationships/slideLayout" Target="../slideLayouts/slideLayout2.xml" /></Relationships>
</file>

<file path=ppt/slides/_rels/slide31.xml.rels><?xml version="1.0" encoding="UTF-8" standalone="yes"?>
<Relationships xmlns="http://schemas.openxmlformats.org/package/2006/relationships"><Relationship Id="rId2" Type="http://schemas.openxmlformats.org/officeDocument/2006/relationships/image" Target="../media/image23.png" /><Relationship Id="rId1" Type="http://schemas.openxmlformats.org/officeDocument/2006/relationships/slideLayout" Target="../slideLayouts/slideLayout2.xml" /></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xml" /><Relationship Id="rId1" Type="http://schemas.openxmlformats.org/officeDocument/2006/relationships/slideLayout" Target="../slideLayouts/slideLayout2.xml" /></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xml" /><Relationship Id="rId1" Type="http://schemas.openxmlformats.org/officeDocument/2006/relationships/slideLayout" Target="../slideLayouts/slideLayout2.xml" /></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xml" /><Relationship Id="rId1" Type="http://schemas.openxmlformats.org/officeDocument/2006/relationships/slideLayout" Target="../slideLayouts/slideLayout2.xml" /></Relationships>
</file>

<file path=ppt/slides/_rels/slide36.xml.rels><?xml version="1.0" encoding="UTF-8" standalone="yes"?>
<Relationships xmlns="http://schemas.openxmlformats.org/package/2006/relationships"><Relationship Id="rId3" Type="http://schemas.openxmlformats.org/officeDocument/2006/relationships/image" Target="../media/image24.png" /><Relationship Id="rId2" Type="http://schemas.openxmlformats.org/officeDocument/2006/relationships/notesSlide" Target="../notesSlides/notesSlide4.xml" /><Relationship Id="rId1" Type="http://schemas.openxmlformats.org/officeDocument/2006/relationships/slideLayout" Target="../slideLayouts/slideLayout2.xml" /></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 standalone="yes"?>
<Relationships xmlns="http://schemas.openxmlformats.org/package/2006/relationships"><Relationship Id="rId2" Type="http://schemas.openxmlformats.org/officeDocument/2006/relationships/image" Target="../media/image25.jpg"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Relationship Id="rId2" Type="http://schemas.openxmlformats.org/officeDocument/2006/relationships/image" Target="../media/image26.jpeg" /><Relationship Id="rId1" Type="http://schemas.openxmlformats.org/officeDocument/2006/relationships/slideLayout" Target="../slideLayouts/slideLayout2.xml" /></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Relationship Id="rId2" Type="http://schemas.openxmlformats.org/officeDocument/2006/relationships/image" Target="../media/image27.jpg"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58EF3740-78F8-4AF7-B9C0-B2112BDC1833}"/>
              </a:ext>
            </a:extLst>
          </p:cNvPr>
          <p:cNvSpPr txBox="1">
            <a:spLocks noGrp="1"/>
          </p:cNvSpPr>
          <p:nvPr>
            <p:ph type="title"/>
          </p:nvPr>
        </p:nvSpPr>
        <p:spPr>
          <a:xfrm>
            <a:off x="609600" y="1295400"/>
            <a:ext cx="7459663" cy="641350"/>
          </a:xfrm>
        </p:spPr>
        <p:txBody>
          <a:bodyPr lIns="0" tIns="38100" rIns="0" bIns="0">
            <a:spAutoFit/>
          </a:bodyPr>
          <a:lstStyle/>
          <a:p>
            <a:pPr marL="1901825" indent="-1889125">
              <a:lnSpc>
                <a:spcPts val="4700"/>
              </a:lnSpc>
              <a:spcBef>
                <a:spcPts val="300"/>
              </a:spcBef>
            </a:pPr>
            <a:r>
              <a:rPr lang="en-IN" altLang="en-US">
                <a:solidFill>
                  <a:srgbClr val="000000"/>
                </a:solidFill>
              </a:rPr>
              <a:t>EES203: Geochemistry </a:t>
            </a:r>
            <a:endParaRPr lang="en-US" altLang="en-US">
              <a:solidFill>
                <a:srgbClr val="000000"/>
              </a:solidFill>
              <a:latin typeface="Times New Roman" panose="02020603050405020304" pitchFamily="18" charset="0"/>
              <a:cs typeface="Times New Roman" panose="02020603050405020304" pitchFamily="18" charset="0"/>
            </a:endParaRPr>
          </a:p>
        </p:txBody>
      </p:sp>
      <p:sp>
        <p:nvSpPr>
          <p:cNvPr id="3" name="object 3">
            <a:extLst>
              <a:ext uri="{FF2B5EF4-FFF2-40B4-BE49-F238E27FC236}">
                <a16:creationId xmlns:a16="http://schemas.microsoft.com/office/drawing/2014/main" id="{656A1D54-95EB-4BB2-BAD9-B64ADC3C8E58}"/>
              </a:ext>
            </a:extLst>
          </p:cNvPr>
          <p:cNvSpPr txBox="1"/>
          <p:nvPr/>
        </p:nvSpPr>
        <p:spPr>
          <a:xfrm>
            <a:off x="1555750" y="2133600"/>
            <a:ext cx="7848600" cy="1198563"/>
          </a:xfrm>
          <a:prstGeom prst="rect">
            <a:avLst/>
          </a:prstGeom>
        </p:spPr>
        <p:txBody>
          <a:bodyPr lIns="0" tIns="110490" rIns="0" bIns="0">
            <a:spAutoFit/>
          </a:bodyPr>
          <a:lstStyle/>
          <a:p>
            <a:pPr marL="12700">
              <a:spcBef>
                <a:spcPts val="765"/>
              </a:spcBef>
              <a:defRPr/>
            </a:pPr>
            <a:r>
              <a:rPr sz="3200" dirty="0">
                <a:latin typeface="Times New Roman"/>
                <a:cs typeface="Times New Roman"/>
              </a:rPr>
              <a:t>Instructor:</a:t>
            </a:r>
            <a:r>
              <a:rPr sz="3200" spc="-235" dirty="0">
                <a:latin typeface="Times New Roman"/>
                <a:cs typeface="Times New Roman"/>
              </a:rPr>
              <a:t> </a:t>
            </a:r>
            <a:r>
              <a:rPr sz="3200" dirty="0">
                <a:latin typeface="Times New Roman"/>
                <a:cs typeface="Times New Roman"/>
              </a:rPr>
              <a:t>Anoop</a:t>
            </a:r>
            <a:r>
              <a:rPr sz="3200" spc="-195" dirty="0">
                <a:latin typeface="Times New Roman"/>
                <a:cs typeface="Times New Roman"/>
              </a:rPr>
              <a:t> </a:t>
            </a:r>
            <a:r>
              <a:rPr sz="3200" spc="-10" dirty="0">
                <a:latin typeface="Times New Roman"/>
                <a:cs typeface="Times New Roman"/>
              </a:rPr>
              <a:t>Ambili</a:t>
            </a:r>
            <a:endParaRPr lang="en-IN" sz="3200" spc="-10" dirty="0">
              <a:latin typeface="Times New Roman"/>
              <a:cs typeface="Times New Roman"/>
            </a:endParaRPr>
          </a:p>
          <a:p>
            <a:pPr marL="12700">
              <a:spcBef>
                <a:spcPts val="770"/>
              </a:spcBef>
              <a:defRPr/>
            </a:pPr>
            <a:r>
              <a:rPr sz="3200" dirty="0">
                <a:latin typeface="Times New Roman"/>
                <a:cs typeface="Times New Roman"/>
              </a:rPr>
              <a:t>Email</a:t>
            </a:r>
            <a:r>
              <a:rPr sz="3200" spc="-35" dirty="0">
                <a:latin typeface="Times New Roman"/>
                <a:cs typeface="Times New Roman"/>
              </a:rPr>
              <a:t> </a:t>
            </a:r>
            <a:r>
              <a:rPr sz="3200" dirty="0">
                <a:latin typeface="Times New Roman"/>
                <a:cs typeface="Times New Roman"/>
              </a:rPr>
              <a:t>id: </a:t>
            </a:r>
            <a:r>
              <a:rPr sz="3200" spc="-10" dirty="0">
                <a:latin typeface="Times New Roman"/>
                <a:cs typeface="Times New Roman"/>
                <a:hlinkClick r:id="rId2"/>
              </a:rPr>
              <a:t>anoop@iisermohali.ac.in</a:t>
            </a:r>
            <a:endParaRPr sz="3200" dirty="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5"/>
          <p:cNvSpPr>
            <a:spLocks noGrp="1" noChangeArrowheads="1"/>
          </p:cNvSpPr>
          <p:nvPr>
            <p:ph type="body" idx="1"/>
          </p:nvPr>
        </p:nvSpPr>
        <p:spPr>
          <a:xfrm>
            <a:off x="228600" y="228601"/>
            <a:ext cx="8686800" cy="1219200"/>
          </a:xfrm>
        </p:spPr>
        <p:txBody>
          <a:bodyPr/>
          <a:lstStyle/>
          <a:p>
            <a:pPr algn="just">
              <a:buFontTx/>
              <a:buNone/>
            </a:pPr>
            <a:r>
              <a:rPr lang="en-US" sz="3600" dirty="0">
                <a:effectLst>
                  <a:outerShdw blurRad="38100" dist="38100" dir="2700000" algn="tl">
                    <a:srgbClr val="000000"/>
                  </a:outerShdw>
                </a:effectLst>
                <a:latin typeface="Arial" pitchFamily="34" charset="0"/>
                <a:cs typeface="Arial" pitchFamily="34" charset="0"/>
              </a:rPr>
              <a:t>  Why do we get so much variation in igneous rocks?</a:t>
            </a:r>
          </a:p>
          <a:p>
            <a:pPr>
              <a:buFontTx/>
              <a:buNone/>
            </a:pPr>
            <a:endParaRPr lang="en-US" dirty="0">
              <a:solidFill>
                <a:srgbClr val="FF6600"/>
              </a:solidFill>
              <a:effectLst>
                <a:outerShdw blurRad="38100" dist="38100" dir="2700000" algn="tl">
                  <a:srgbClr val="000000"/>
                </a:outerShdw>
              </a:effectLst>
              <a:latin typeface="Arial Black" pitchFamily="34" charset="0"/>
            </a:endParaRPr>
          </a:p>
        </p:txBody>
      </p:sp>
      <p:pic>
        <p:nvPicPr>
          <p:cNvPr id="2054" name="Picture 6" descr="DSC01272"/>
          <p:cNvPicPr>
            <a:picLocks noChangeAspect="1" noChangeArrowheads="1"/>
          </p:cNvPicPr>
          <p:nvPr/>
        </p:nvPicPr>
        <p:blipFill>
          <a:blip r:embed="rId2" cstate="print"/>
          <a:srcRect/>
          <a:stretch>
            <a:fillRect/>
          </a:stretch>
        </p:blipFill>
        <p:spPr bwMode="auto">
          <a:xfrm>
            <a:off x="4876800" y="3429000"/>
            <a:ext cx="2057400" cy="1543050"/>
          </a:xfrm>
          <a:prstGeom prst="rect">
            <a:avLst/>
          </a:prstGeom>
          <a:noFill/>
        </p:spPr>
      </p:pic>
      <p:pic>
        <p:nvPicPr>
          <p:cNvPr id="2055" name="Picture 7" descr="DSC01265"/>
          <p:cNvPicPr>
            <a:picLocks noChangeAspect="1" noChangeArrowheads="1"/>
          </p:cNvPicPr>
          <p:nvPr/>
        </p:nvPicPr>
        <p:blipFill>
          <a:blip r:embed="rId3" cstate="print"/>
          <a:srcRect/>
          <a:stretch>
            <a:fillRect/>
          </a:stretch>
        </p:blipFill>
        <p:spPr bwMode="auto">
          <a:xfrm>
            <a:off x="7010400" y="3371850"/>
            <a:ext cx="2057400" cy="1543050"/>
          </a:xfrm>
          <a:prstGeom prst="rect">
            <a:avLst/>
          </a:prstGeom>
          <a:noFill/>
        </p:spPr>
      </p:pic>
      <p:pic>
        <p:nvPicPr>
          <p:cNvPr id="2057" name="Picture 9" descr="DSC01267"/>
          <p:cNvPicPr>
            <a:picLocks noChangeAspect="1" noChangeArrowheads="1"/>
          </p:cNvPicPr>
          <p:nvPr/>
        </p:nvPicPr>
        <p:blipFill>
          <a:blip r:embed="rId4" cstate="print"/>
          <a:srcRect/>
          <a:stretch>
            <a:fillRect/>
          </a:stretch>
        </p:blipFill>
        <p:spPr bwMode="auto">
          <a:xfrm>
            <a:off x="4800600" y="1676400"/>
            <a:ext cx="2133600" cy="1600200"/>
          </a:xfrm>
          <a:prstGeom prst="rect">
            <a:avLst/>
          </a:prstGeom>
          <a:noFill/>
        </p:spPr>
      </p:pic>
      <p:pic>
        <p:nvPicPr>
          <p:cNvPr id="2058" name="Picture 10" descr="DSC01268"/>
          <p:cNvPicPr>
            <a:picLocks noChangeAspect="1" noChangeArrowheads="1"/>
          </p:cNvPicPr>
          <p:nvPr/>
        </p:nvPicPr>
        <p:blipFill>
          <a:blip r:embed="rId5" cstate="print"/>
          <a:srcRect/>
          <a:stretch>
            <a:fillRect/>
          </a:stretch>
        </p:blipFill>
        <p:spPr bwMode="auto">
          <a:xfrm>
            <a:off x="228600" y="1676400"/>
            <a:ext cx="2209800" cy="1657350"/>
          </a:xfrm>
          <a:prstGeom prst="rect">
            <a:avLst/>
          </a:prstGeom>
          <a:noFill/>
        </p:spPr>
      </p:pic>
      <p:pic>
        <p:nvPicPr>
          <p:cNvPr id="2059" name="Picture 11" descr="DSC01269"/>
          <p:cNvPicPr>
            <a:picLocks noChangeAspect="1" noChangeArrowheads="1"/>
          </p:cNvPicPr>
          <p:nvPr/>
        </p:nvPicPr>
        <p:blipFill>
          <a:blip r:embed="rId6" cstate="print"/>
          <a:srcRect/>
          <a:stretch>
            <a:fillRect/>
          </a:stretch>
        </p:blipFill>
        <p:spPr bwMode="auto">
          <a:xfrm>
            <a:off x="2590800" y="3429000"/>
            <a:ext cx="1981200" cy="1466850"/>
          </a:xfrm>
          <a:prstGeom prst="rect">
            <a:avLst/>
          </a:prstGeom>
          <a:noFill/>
        </p:spPr>
      </p:pic>
      <p:sp>
        <p:nvSpPr>
          <p:cNvPr id="14" name="TextBox 13"/>
          <p:cNvSpPr txBox="1"/>
          <p:nvPr/>
        </p:nvSpPr>
        <p:spPr>
          <a:xfrm>
            <a:off x="228600" y="5105400"/>
            <a:ext cx="8763000" cy="1754326"/>
          </a:xfrm>
          <a:prstGeom prst="rect">
            <a:avLst/>
          </a:prstGeom>
          <a:noFill/>
        </p:spPr>
        <p:txBody>
          <a:bodyPr wrap="square" rtlCol="0">
            <a:spAutoFit/>
          </a:bodyPr>
          <a:lstStyle/>
          <a:p>
            <a:pPr algn="just"/>
            <a:r>
              <a:rPr lang="en-US" sz="2000" b="1" dirty="0">
                <a:latin typeface="Arial" pitchFamily="34" charset="0"/>
                <a:cs typeface="Arial" pitchFamily="34" charset="0"/>
              </a:rPr>
              <a:t>There is only Two or Three Types of Primary Magmas and Igneous rocks are formed due to cooling and solidification of magma. In principle, there should be two types of igneous rocks.  </a:t>
            </a:r>
          </a:p>
          <a:p>
            <a:pPr algn="just"/>
            <a:endParaRPr lang="en-US" sz="2000" b="1" dirty="0">
              <a:latin typeface="Arial" pitchFamily="34" charset="0"/>
              <a:cs typeface="Arial" pitchFamily="34" charset="0"/>
            </a:endParaRPr>
          </a:p>
          <a:p>
            <a:pPr algn="just"/>
            <a:r>
              <a:rPr lang="en-US" sz="2000" b="1" dirty="0">
                <a:latin typeface="Arial" pitchFamily="34" charset="0"/>
                <a:cs typeface="Arial" pitchFamily="34" charset="0"/>
              </a:rPr>
              <a:t>Over </a:t>
            </a:r>
            <a:r>
              <a:rPr lang="en-US" sz="2800" b="1" dirty="0">
                <a:latin typeface="Arial" pitchFamily="34" charset="0"/>
                <a:cs typeface="Arial" pitchFamily="34" charset="0"/>
              </a:rPr>
              <a:t>700 types </a:t>
            </a:r>
            <a:r>
              <a:rPr lang="en-US" sz="2000" b="1" dirty="0">
                <a:latin typeface="Arial" pitchFamily="34" charset="0"/>
                <a:cs typeface="Arial" pitchFamily="34" charset="0"/>
              </a:rPr>
              <a:t>of igneous rocks are found. </a:t>
            </a:r>
          </a:p>
        </p:txBody>
      </p:sp>
      <p:pic>
        <p:nvPicPr>
          <p:cNvPr id="12" name="Picture 24" descr="D:\Glens stuff\CDLI Project\pics\Unit 3\Igneous\Basalt.jpg"/>
          <p:cNvPicPr>
            <a:picLocks noChangeAspect="1" noChangeArrowheads="1"/>
          </p:cNvPicPr>
          <p:nvPr/>
        </p:nvPicPr>
        <p:blipFill>
          <a:blip r:embed="rId7"/>
          <a:srcRect/>
          <a:stretch>
            <a:fillRect/>
          </a:stretch>
        </p:blipFill>
        <p:spPr bwMode="auto">
          <a:xfrm>
            <a:off x="7010400" y="1592468"/>
            <a:ext cx="1981200" cy="1607931"/>
          </a:xfrm>
          <a:prstGeom prst="rect">
            <a:avLst/>
          </a:prstGeom>
          <a:noFill/>
        </p:spPr>
      </p:pic>
      <p:pic>
        <p:nvPicPr>
          <p:cNvPr id="13" name="Picture 3"/>
          <p:cNvPicPr>
            <a:picLocks noChangeAspect="1" noChangeArrowheads="1"/>
          </p:cNvPicPr>
          <p:nvPr/>
        </p:nvPicPr>
        <p:blipFill>
          <a:blip r:embed="rId8"/>
          <a:srcRect/>
          <a:stretch>
            <a:fillRect/>
          </a:stretch>
        </p:blipFill>
        <p:spPr bwMode="auto">
          <a:xfrm>
            <a:off x="2590800" y="1676400"/>
            <a:ext cx="2148840" cy="1600200"/>
          </a:xfrm>
          <a:prstGeom prst="rect">
            <a:avLst/>
          </a:prstGeom>
          <a:noFill/>
          <a:ln w="9525">
            <a:noFill/>
            <a:miter lim="800000"/>
            <a:headEnd/>
            <a:tailEnd/>
          </a:ln>
          <a:effectLst/>
        </p:spPr>
      </p:pic>
      <p:pic>
        <p:nvPicPr>
          <p:cNvPr id="15" name="Picture 2"/>
          <p:cNvPicPr>
            <a:picLocks noChangeAspect="1" noChangeArrowheads="1"/>
          </p:cNvPicPr>
          <p:nvPr/>
        </p:nvPicPr>
        <p:blipFill>
          <a:blip r:embed="rId9"/>
          <a:srcRect/>
          <a:stretch>
            <a:fillRect/>
          </a:stretch>
        </p:blipFill>
        <p:spPr bwMode="auto">
          <a:xfrm>
            <a:off x="304800" y="3505200"/>
            <a:ext cx="2057400" cy="1371600"/>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381000"/>
            <a:ext cx="8382000" cy="5745163"/>
          </a:xfrm>
        </p:spPr>
        <p:txBody>
          <a:bodyPr>
            <a:normAutofit lnSpcReduction="10000"/>
          </a:bodyPr>
          <a:lstStyle/>
          <a:p>
            <a:r>
              <a:rPr lang="en-US" b="1" dirty="0"/>
              <a:t>A primary magma</a:t>
            </a:r>
            <a:r>
              <a:rPr lang="en-US" dirty="0"/>
              <a:t>: Is the "first melt" produced by partial melting within the mantle, and which has not yet undergone any </a:t>
            </a:r>
            <a:r>
              <a:rPr lang="en-US" b="1" dirty="0"/>
              <a:t>differentiation</a:t>
            </a:r>
            <a:r>
              <a:rPr lang="en-US" dirty="0"/>
              <a:t>. </a:t>
            </a:r>
          </a:p>
          <a:p>
            <a:endParaRPr lang="en-US" dirty="0"/>
          </a:p>
          <a:p>
            <a:r>
              <a:rPr lang="en-US" dirty="0"/>
              <a:t>A primary magma may therefore evolve into a parental magma by differentiation. </a:t>
            </a:r>
          </a:p>
          <a:p>
            <a:endParaRPr lang="en-US" dirty="0"/>
          </a:p>
          <a:p>
            <a:r>
              <a:rPr lang="en-US" b="1" dirty="0"/>
              <a:t>A parental magma</a:t>
            </a:r>
            <a:r>
              <a:rPr lang="en-US" dirty="0"/>
              <a:t>: Is a magma capable of producing all rocks belonging to an igneous rock series by differentiation.</a:t>
            </a:r>
          </a:p>
          <a:p>
            <a:endParaRPr lang="en-US" dirty="0"/>
          </a:p>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fontScale="90000"/>
          </a:bodyPr>
          <a:lstStyle/>
          <a:p>
            <a:r>
              <a:rPr lang="en-US" sz="4000" b="1" dirty="0">
                <a:latin typeface="Arial" pitchFamily="34" charset="0"/>
                <a:cs typeface="Arial" pitchFamily="34" charset="0"/>
              </a:rPr>
              <a:t>Magmatic Differentiation - Defi</a:t>
            </a:r>
            <a:r>
              <a:rPr lang="en-US" b="1" dirty="0"/>
              <a:t>nition</a:t>
            </a:r>
          </a:p>
        </p:txBody>
      </p:sp>
      <p:sp>
        <p:nvSpPr>
          <p:cNvPr id="3" name="Content Placeholder 2"/>
          <p:cNvSpPr>
            <a:spLocks noGrp="1"/>
          </p:cNvSpPr>
          <p:nvPr>
            <p:ph idx="1"/>
          </p:nvPr>
        </p:nvSpPr>
        <p:spPr>
          <a:xfrm>
            <a:off x="152400" y="990600"/>
            <a:ext cx="8686800" cy="5638800"/>
          </a:xfrm>
        </p:spPr>
        <p:txBody>
          <a:bodyPr>
            <a:normAutofit fontScale="92500" lnSpcReduction="10000"/>
          </a:bodyPr>
          <a:lstStyle/>
          <a:p>
            <a:pPr algn="just"/>
            <a:r>
              <a:rPr lang="en-US" sz="2800" dirty="0">
                <a:latin typeface="Arial" pitchFamily="34" charset="0"/>
                <a:cs typeface="Arial" pitchFamily="34" charset="0"/>
              </a:rPr>
              <a:t>Magmatic differentiation is process through which a single homogeneous magma is able to produce two or more fractions (daughter magmas) of different composition, which ultimately forms diverse rock types.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The primary cause of change in the composition of a magma is </a:t>
            </a:r>
            <a:r>
              <a:rPr lang="en-US" sz="2800" i="1" dirty="0">
                <a:latin typeface="Arial" pitchFamily="34" charset="0"/>
                <a:cs typeface="Arial" pitchFamily="34" charset="0"/>
              </a:rPr>
              <a:t>cooling.</a:t>
            </a:r>
            <a:r>
              <a:rPr lang="en-US" sz="2800" dirty="0">
                <a:latin typeface="Arial" pitchFamily="34" charset="0"/>
                <a:cs typeface="Arial" pitchFamily="34" charset="0"/>
              </a:rPr>
              <a:t> Cooling causes the magma to begin to crystallize minerals from the melt or liquid portion of the magma.</a:t>
            </a:r>
          </a:p>
          <a:p>
            <a:pPr algn="just">
              <a:buNone/>
            </a:pPr>
            <a:endParaRPr lang="en-US" sz="2800" dirty="0">
              <a:latin typeface="Arial" pitchFamily="34" charset="0"/>
              <a:cs typeface="Arial" pitchFamily="34" charset="0"/>
            </a:endParaRPr>
          </a:p>
          <a:p>
            <a:pPr algn="just"/>
            <a:r>
              <a:rPr lang="en-US" sz="2800" dirty="0">
                <a:latin typeface="Arial" pitchFamily="34" charset="0"/>
                <a:cs typeface="Arial" pitchFamily="34" charset="0"/>
              </a:rPr>
              <a:t>Contamination is another cause of magma differentiation. Contamination can be caused by </a:t>
            </a:r>
            <a:r>
              <a:rPr lang="en-US" sz="2800" b="1" i="1" dirty="0">
                <a:latin typeface="Arial" pitchFamily="34" charset="0"/>
                <a:cs typeface="Arial" pitchFamily="34" charset="0"/>
              </a:rPr>
              <a:t>assimilation</a:t>
            </a:r>
            <a:r>
              <a:rPr lang="en-US" sz="2800" dirty="0">
                <a:latin typeface="Arial" pitchFamily="34" charset="0"/>
                <a:cs typeface="Arial" pitchFamily="34" charset="0"/>
              </a:rPr>
              <a:t> of wall rocks or </a:t>
            </a:r>
            <a:r>
              <a:rPr lang="en-US" sz="2800" b="1" dirty="0">
                <a:latin typeface="Arial" pitchFamily="34" charset="0"/>
                <a:cs typeface="Arial" pitchFamily="34" charset="0"/>
              </a:rPr>
              <a:t>mixing</a:t>
            </a:r>
            <a:r>
              <a:rPr lang="en-US" sz="2800" dirty="0">
                <a:latin typeface="Arial" pitchFamily="34" charset="0"/>
                <a:cs typeface="Arial" pitchFamily="34" charset="0"/>
              </a:rPr>
              <a:t> of two or more magmas.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012.png"/>
          <p:cNvPicPr>
            <a:picLocks noChangeAspect="1"/>
          </p:cNvPicPr>
          <p:nvPr/>
        </p:nvPicPr>
        <p:blipFill>
          <a:blip r:embed="rId2"/>
          <a:stretch>
            <a:fillRect/>
          </a:stretch>
        </p:blipFill>
        <p:spPr>
          <a:xfrm>
            <a:off x="47151" y="914400"/>
            <a:ext cx="9020649" cy="3581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715962"/>
          </a:xfrm>
        </p:spPr>
        <p:txBody>
          <a:bodyPr>
            <a:normAutofit fontScale="90000"/>
          </a:bodyPr>
          <a:lstStyle/>
          <a:p>
            <a:r>
              <a:rPr lang="en-US" b="1" dirty="0"/>
              <a:t>Mechanism of </a:t>
            </a:r>
            <a:r>
              <a:rPr lang="en-US" sz="3600" b="1" dirty="0">
                <a:latin typeface="Arial" pitchFamily="34" charset="0"/>
                <a:cs typeface="Arial" pitchFamily="34" charset="0"/>
              </a:rPr>
              <a:t>Differentiation</a:t>
            </a:r>
          </a:p>
        </p:txBody>
      </p:sp>
      <p:sp>
        <p:nvSpPr>
          <p:cNvPr id="3" name="Content Placeholder 2"/>
          <p:cNvSpPr>
            <a:spLocks noGrp="1"/>
          </p:cNvSpPr>
          <p:nvPr>
            <p:ph idx="1"/>
          </p:nvPr>
        </p:nvSpPr>
        <p:spPr>
          <a:xfrm>
            <a:off x="381000" y="914400"/>
            <a:ext cx="8610600" cy="5638800"/>
          </a:xfrm>
        </p:spPr>
        <p:txBody>
          <a:bodyPr>
            <a:normAutofit/>
          </a:bodyPr>
          <a:lstStyle/>
          <a:p>
            <a:r>
              <a:rPr lang="en-US" dirty="0">
                <a:latin typeface="Arial" pitchFamily="34" charset="0"/>
                <a:cs typeface="Arial" pitchFamily="34" charset="0"/>
              </a:rPr>
              <a:t>Three potential mechanism of differentiation are suggested:</a:t>
            </a:r>
          </a:p>
          <a:p>
            <a:endParaRPr lang="en-US" dirty="0">
              <a:latin typeface="Arial" pitchFamily="34" charset="0"/>
              <a:cs typeface="Arial" pitchFamily="34" charset="0"/>
            </a:endParaRPr>
          </a:p>
          <a:p>
            <a:pPr lvl="1"/>
            <a:r>
              <a:rPr lang="en-US" dirty="0">
                <a:latin typeface="Arial" pitchFamily="34" charset="0"/>
                <a:cs typeface="Arial" pitchFamily="34" charset="0"/>
              </a:rPr>
              <a:t>Fractional Crystallization</a:t>
            </a:r>
          </a:p>
          <a:p>
            <a:pPr lvl="1">
              <a:buNone/>
            </a:pPr>
            <a:endParaRPr lang="en-US" dirty="0">
              <a:latin typeface="Arial" pitchFamily="34" charset="0"/>
              <a:cs typeface="Arial" pitchFamily="34" charset="0"/>
            </a:endParaRPr>
          </a:p>
          <a:p>
            <a:pPr lvl="1"/>
            <a:r>
              <a:rPr lang="en-US" dirty="0">
                <a:latin typeface="Arial" pitchFamily="34" charset="0"/>
                <a:cs typeface="Arial" pitchFamily="34" charset="0"/>
              </a:rPr>
              <a:t>Liquid Immiscibility</a:t>
            </a:r>
          </a:p>
          <a:p>
            <a:pPr marL="457200" lvl="1" indent="0">
              <a:buNone/>
            </a:pPr>
            <a:endParaRPr lang="en-US" dirty="0">
              <a:latin typeface="Arial" pitchFamily="34" charset="0"/>
              <a:cs typeface="Arial" pitchFamily="34" charset="0"/>
            </a:endParaRPr>
          </a:p>
          <a:p>
            <a:pPr lvl="1"/>
            <a:r>
              <a:rPr lang="en-US" dirty="0">
                <a:latin typeface="Arial" pitchFamily="34" charset="0"/>
                <a:cs typeface="Arial" pitchFamily="34" charset="0"/>
              </a:rPr>
              <a:t>Assimilation</a:t>
            </a:r>
          </a:p>
          <a:p>
            <a:pPr lvl="1">
              <a:buNone/>
            </a:pPr>
            <a:endParaRPr lang="en-US" dirty="0">
              <a:latin typeface="Arial" pitchFamily="34" charset="0"/>
              <a:cs typeface="Arial" pitchFamily="34" charset="0"/>
            </a:endParaRPr>
          </a:p>
          <a:p>
            <a:pPr lvl="1">
              <a:buNone/>
            </a:pPr>
            <a:endParaRPr lang="en-US"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92162"/>
          </a:xfrm>
        </p:spPr>
        <p:txBody>
          <a:bodyPr>
            <a:normAutofit/>
          </a:bodyPr>
          <a:lstStyle/>
          <a:p>
            <a:r>
              <a:rPr lang="en-US" sz="3600" b="1" dirty="0">
                <a:latin typeface="Arial" pitchFamily="34" charset="0"/>
                <a:cs typeface="Arial" pitchFamily="34" charset="0"/>
              </a:rPr>
              <a:t>Fractional Crystallization</a:t>
            </a:r>
          </a:p>
        </p:txBody>
      </p:sp>
      <p:sp>
        <p:nvSpPr>
          <p:cNvPr id="3" name="Content Placeholder 2"/>
          <p:cNvSpPr>
            <a:spLocks noGrp="1"/>
          </p:cNvSpPr>
          <p:nvPr>
            <p:ph idx="1"/>
          </p:nvPr>
        </p:nvSpPr>
        <p:spPr>
          <a:xfrm>
            <a:off x="76200" y="983674"/>
            <a:ext cx="8915400" cy="5645726"/>
          </a:xfrm>
        </p:spPr>
        <p:txBody>
          <a:bodyPr/>
          <a:lstStyle/>
          <a:p>
            <a:pPr algn="just"/>
            <a:r>
              <a:rPr lang="en-US" sz="2800" dirty="0">
                <a:latin typeface="Arial" pitchFamily="34" charset="0"/>
                <a:cs typeface="Arial" pitchFamily="34" charset="0"/>
              </a:rPr>
              <a:t>Most powerful mechanism of magmatic differentiation.</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Fractional crystallization is the segregation and removal  of crystallized minerals from a melt, which changes the composition of the melt.</a:t>
            </a: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a:p>
            <a:pPr marL="914400" lvl="1" indent="-457200" algn="just">
              <a:buNone/>
            </a:pPr>
            <a:r>
              <a:rPr lang="en-US" dirty="0">
                <a:latin typeface="Arial" pitchFamily="34" charset="0"/>
                <a:cs typeface="Arial" pitchFamily="34" charset="0"/>
              </a:rPr>
              <a:t> </a:t>
            </a:r>
          </a:p>
          <a:p>
            <a:pPr>
              <a:buNone/>
            </a:pPr>
            <a:endParaRPr lang="en-US" dirty="0"/>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144518"/>
            <a:ext cx="8534400" cy="5897563"/>
          </a:xfrm>
        </p:spPr>
        <p:txBody>
          <a:bodyPr/>
          <a:lstStyle/>
          <a:p>
            <a:pPr algn="just"/>
            <a:r>
              <a:rPr lang="en-US" sz="2800" dirty="0">
                <a:latin typeface="Arial" pitchFamily="34" charset="0"/>
                <a:cs typeface="Arial" pitchFamily="34" charset="0"/>
              </a:rPr>
              <a:t>The process of Fractional Crystallization involves the separation and preservation of early-forming minerals, usually due to density differences.</a:t>
            </a:r>
          </a:p>
          <a:p>
            <a:endParaRPr lang="en-US" dirty="0"/>
          </a:p>
        </p:txBody>
      </p:sp>
      <p:pic>
        <p:nvPicPr>
          <p:cNvPr id="4" name="Picture 3" descr="015.jpg"/>
          <p:cNvPicPr>
            <a:picLocks noChangeAspect="1"/>
          </p:cNvPicPr>
          <p:nvPr/>
        </p:nvPicPr>
        <p:blipFill>
          <a:blip r:embed="rId2" cstate="print"/>
          <a:stretch>
            <a:fillRect/>
          </a:stretch>
        </p:blipFill>
        <p:spPr>
          <a:xfrm>
            <a:off x="381000" y="1600200"/>
            <a:ext cx="3886200" cy="5190236"/>
          </a:xfrm>
          <a:prstGeom prst="rect">
            <a:avLst/>
          </a:prstGeom>
        </p:spPr>
      </p:pic>
      <p:sp>
        <p:nvSpPr>
          <p:cNvPr id="5" name="TextBox 4"/>
          <p:cNvSpPr txBox="1"/>
          <p:nvPr/>
        </p:nvSpPr>
        <p:spPr>
          <a:xfrm>
            <a:off x="4343400" y="1905000"/>
            <a:ext cx="4572000" cy="3785652"/>
          </a:xfrm>
          <a:prstGeom prst="rect">
            <a:avLst/>
          </a:prstGeom>
          <a:noFill/>
        </p:spPr>
        <p:txBody>
          <a:bodyPr wrap="square" rtlCol="0">
            <a:spAutoFit/>
          </a:bodyPr>
          <a:lstStyle/>
          <a:p>
            <a:r>
              <a:rPr lang="en-US" sz="2000" dirty="0">
                <a:latin typeface="Arial" pitchFamily="34" charset="0"/>
                <a:cs typeface="Arial" pitchFamily="34" charset="0"/>
              </a:rPr>
              <a:t>Figure A show CRYSTAL SETTLING (a form of FRACTIONAL CRYSTALLIZATION.)  </a:t>
            </a: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r>
              <a:rPr lang="en-US" sz="2000" dirty="0">
                <a:latin typeface="Arial" pitchFamily="34" charset="0"/>
                <a:cs typeface="Arial" pitchFamily="34" charset="0"/>
              </a:rPr>
              <a:t>Figure B show MAGMA MIGRATION (another form of FRACTIONAL CRYSTALLIZATION.)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F997F-DEAF-4C82-B381-52BAA26DF586}"/>
              </a:ext>
            </a:extLst>
          </p:cNvPr>
          <p:cNvSpPr>
            <a:spLocks noGrp="1"/>
          </p:cNvSpPr>
          <p:nvPr>
            <p:ph type="title"/>
          </p:nvPr>
        </p:nvSpPr>
        <p:spPr/>
        <p:txBody>
          <a:bodyPr/>
          <a:lstStyle/>
          <a:p>
            <a:endParaRPr lang="en-IN"/>
          </a:p>
        </p:txBody>
      </p:sp>
      <p:pic>
        <p:nvPicPr>
          <p:cNvPr id="10242" name="Picture 2">
            <a:extLst>
              <a:ext uri="{FF2B5EF4-FFF2-40B4-BE49-F238E27FC236}">
                <a16:creationId xmlns:a16="http://schemas.microsoft.com/office/drawing/2014/main" id="{1C18C14A-DDCB-460F-804F-43D4503982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1963" y="2156591"/>
            <a:ext cx="2847975" cy="3535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50307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304800"/>
            <a:ext cx="8686800" cy="6324600"/>
          </a:xfrm>
        </p:spPr>
        <p:txBody>
          <a:bodyPr>
            <a:normAutofit fontScale="92500"/>
          </a:bodyPr>
          <a:lstStyle/>
          <a:p>
            <a:pPr algn="just"/>
            <a:r>
              <a:rPr lang="en-US" sz="2800" dirty="0">
                <a:latin typeface="Arial" pitchFamily="34" charset="0"/>
                <a:cs typeface="Arial" pitchFamily="34" charset="0"/>
              </a:rPr>
              <a:t>Gravity plays a very important role in settling of early formed crystals from the melt.</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Parting between crystals and melt within a magmatic body may also be observed in flowing magma (documented in many dykes and sills), where greater concentration of large sized crystals commonly occur at the core (inner part) of dyke or sill (slow cooling at inner region so crystal grow in large size). This is known as </a:t>
            </a:r>
            <a:r>
              <a:rPr lang="en-US" sz="2800" b="1" dirty="0">
                <a:latin typeface="Arial" pitchFamily="34" charset="0"/>
                <a:cs typeface="Arial" pitchFamily="34" charset="0"/>
              </a:rPr>
              <a:t>Flowage Segregation</a:t>
            </a:r>
            <a:r>
              <a:rPr lang="en-US" sz="2800" dirty="0">
                <a:latin typeface="Arial" pitchFamily="34" charset="0"/>
                <a:cs typeface="Arial" pitchFamily="34" charset="0"/>
              </a:rPr>
              <a:t>.</a:t>
            </a:r>
          </a:p>
          <a:p>
            <a:pPr algn="just"/>
            <a:endParaRPr lang="en-US" sz="2800" dirty="0">
              <a:latin typeface="Arial" pitchFamily="34" charset="0"/>
              <a:cs typeface="Arial" pitchFamily="34" charset="0"/>
            </a:endParaRPr>
          </a:p>
          <a:p>
            <a:pPr algn="just"/>
            <a:r>
              <a:rPr lang="en-US" sz="2800" b="1" dirty="0">
                <a:latin typeface="Arial" pitchFamily="34" charset="0"/>
                <a:cs typeface="Arial" pitchFamily="34" charset="0"/>
              </a:rPr>
              <a:t>Tectonic movements</a:t>
            </a:r>
            <a:r>
              <a:rPr lang="en-US" sz="2800" dirty="0">
                <a:latin typeface="Arial" pitchFamily="34" charset="0"/>
                <a:cs typeface="Arial" pitchFamily="34" charset="0"/>
              </a:rPr>
              <a:t> and some time the “</a:t>
            </a:r>
            <a:r>
              <a:rPr lang="en-US" sz="2800" b="1" dirty="0">
                <a:latin typeface="Arial" pitchFamily="34" charset="0"/>
                <a:cs typeface="Arial" pitchFamily="34" charset="0"/>
              </a:rPr>
              <a:t>Filter Pressing”- </a:t>
            </a:r>
            <a:r>
              <a:rPr lang="en-US" sz="2800" dirty="0">
                <a:latin typeface="Arial" pitchFamily="34" charset="0"/>
                <a:cs typeface="Arial" pitchFamily="34" charset="0"/>
              </a:rPr>
              <a:t>this mechanism has been proposed as a way to separate a liquid from a crystal-liquid mush. </a:t>
            </a:r>
          </a:p>
          <a:p>
            <a:pPr algn="just"/>
            <a:endParaRPr lang="en-US" sz="2800" dirty="0">
              <a:latin typeface="Arial" pitchFamily="34" charset="0"/>
              <a:cs typeface="Arial" pitchFamily="34" charset="0"/>
            </a:endParaRPr>
          </a:p>
          <a:p>
            <a:pPr algn="just"/>
            <a:endParaRPr lang="en-US" dirty="0">
              <a:latin typeface="Arial" pitchFamily="34" charset="0"/>
              <a:cs typeface="Arial" pitchFamily="34" charset="0"/>
            </a:endParaRPr>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3600" dirty="0">
                <a:latin typeface="Arial" pitchFamily="34" charset="0"/>
                <a:cs typeface="Arial" pitchFamily="34" charset="0"/>
              </a:rPr>
              <a:t>Bowen’s Reaction Series</a:t>
            </a:r>
          </a:p>
        </p:txBody>
      </p:sp>
      <p:sp>
        <p:nvSpPr>
          <p:cNvPr id="3" name="Content Placeholder 2"/>
          <p:cNvSpPr>
            <a:spLocks noGrp="1"/>
          </p:cNvSpPr>
          <p:nvPr>
            <p:ph idx="1"/>
          </p:nvPr>
        </p:nvSpPr>
        <p:spPr>
          <a:xfrm>
            <a:off x="304800" y="990600"/>
            <a:ext cx="8610600" cy="5486400"/>
          </a:xfrm>
        </p:spPr>
        <p:txBody>
          <a:bodyPr>
            <a:normAutofit lnSpcReduction="10000"/>
          </a:bodyPr>
          <a:lstStyle/>
          <a:p>
            <a:pPr algn="just"/>
            <a:r>
              <a:rPr lang="en-US" sz="2800" dirty="0">
                <a:latin typeface="Arial" pitchFamily="34" charset="0"/>
                <a:cs typeface="Arial" pitchFamily="34" charset="0"/>
              </a:rPr>
              <a:t>The process of magmatic differentiation by Crystal – Liquid Fractionation (Fractional Crystallization) is also explained by N.L. Bowen (1928). This process is popularly known as Bowen’ Reaction Series or Bowen’s Reaction Principle.</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Bowens reaction series is a series of crystallization sequences that occur during magmatic cooling.</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Bowen suggested  a mechanism through which a magma may solidify as a single rock type or may give rise to many rock types.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228600"/>
            <a:ext cx="8686800" cy="6400800"/>
          </a:xfrm>
        </p:spPr>
        <p:txBody>
          <a:bodyPr>
            <a:normAutofit fontScale="92500"/>
          </a:bodyPr>
          <a:lstStyle/>
          <a:p>
            <a:pPr algn="just"/>
            <a:r>
              <a:rPr lang="en-US" sz="2800" dirty="0">
                <a:latin typeface="Arial" pitchFamily="34" charset="0"/>
                <a:cs typeface="Arial" pitchFamily="34" charset="0"/>
              </a:rPr>
              <a:t>According to Bowen’s Reaction Principle </a:t>
            </a:r>
            <a:r>
              <a:rPr lang="en-US" sz="2800" b="1" i="1" dirty="0">
                <a:latin typeface="Arial" pitchFamily="34" charset="0"/>
                <a:cs typeface="Arial" pitchFamily="34" charset="0"/>
              </a:rPr>
              <a:t>“ As crystallization of magma starts, there is a tendency for equilibrium to be maintained between solid (crystals) and liquid (residual melt) phases. To maintain this equilibrium, the early formed crystals (unless removed from the melt) react with the residual melt and change in composition (formation of new mineral) takes place”.</a:t>
            </a:r>
          </a:p>
          <a:p>
            <a:endParaRPr lang="en-US" dirty="0"/>
          </a:p>
          <a:p>
            <a:pPr algn="just"/>
            <a:r>
              <a:rPr lang="en-US" sz="3000" dirty="0">
                <a:latin typeface="Arial" pitchFamily="34" charset="0"/>
                <a:cs typeface="Arial" pitchFamily="34" charset="0"/>
              </a:rPr>
              <a:t>Bowen’ Reaction Principle illustrates how a primary basaltic magma may give rise granite or other igneous rocks (depending upon the degree of crystallization and reaction of early formed crystals with melt or removal of these crystals from the melt.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228600"/>
            <a:ext cx="8686800" cy="6400800"/>
          </a:xfrm>
        </p:spPr>
        <p:txBody>
          <a:bodyPr>
            <a:normAutofit/>
          </a:bodyPr>
          <a:lstStyle/>
          <a:p>
            <a:pPr algn="just"/>
            <a:r>
              <a:rPr lang="en-US" sz="2800" dirty="0">
                <a:latin typeface="Arial" pitchFamily="34" charset="0"/>
                <a:cs typeface="Arial" pitchFamily="34" charset="0"/>
              </a:rPr>
              <a:t>In Bowen’s Reaction Series there are two parallel series. One for </a:t>
            </a:r>
            <a:r>
              <a:rPr lang="en-US" sz="2800" b="1" dirty="0">
                <a:latin typeface="Arial" pitchFamily="34" charset="0"/>
                <a:cs typeface="Arial" pitchFamily="34" charset="0"/>
              </a:rPr>
              <a:t>Fe-Mg minerals </a:t>
            </a:r>
            <a:r>
              <a:rPr lang="en-US" sz="2800" dirty="0">
                <a:latin typeface="Arial" pitchFamily="34" charset="0"/>
                <a:cs typeface="Arial" pitchFamily="34" charset="0"/>
              </a:rPr>
              <a:t>and the other represents </a:t>
            </a:r>
            <a:r>
              <a:rPr lang="en-US" sz="2800" b="1" dirty="0" err="1">
                <a:latin typeface="Arial" pitchFamily="34" charset="0"/>
                <a:cs typeface="Arial" pitchFamily="34" charset="0"/>
              </a:rPr>
              <a:t>Plagioclage</a:t>
            </a:r>
            <a:r>
              <a:rPr lang="en-US" sz="2800" b="1" dirty="0">
                <a:latin typeface="Arial" pitchFamily="34" charset="0"/>
                <a:cs typeface="Arial" pitchFamily="34" charset="0"/>
              </a:rPr>
              <a:t> </a:t>
            </a:r>
            <a:r>
              <a:rPr lang="en-US" sz="2800" b="1" dirty="0" err="1">
                <a:latin typeface="Arial" pitchFamily="34" charset="0"/>
                <a:cs typeface="Arial" pitchFamily="34" charset="0"/>
              </a:rPr>
              <a:t>felspar</a:t>
            </a:r>
            <a:r>
              <a:rPr lang="en-US" sz="2800" b="1" dirty="0">
                <a:latin typeface="Arial" pitchFamily="34" charset="0"/>
                <a:cs typeface="Arial" pitchFamily="34" charset="0"/>
              </a:rPr>
              <a:t> group</a:t>
            </a:r>
            <a:r>
              <a:rPr lang="en-US" sz="2800" dirty="0">
                <a:latin typeface="Arial" pitchFamily="34" charset="0"/>
                <a:cs typeface="Arial" pitchFamily="34" charset="0"/>
              </a:rPr>
              <a:t>.</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Both these series converge and merge into a single series.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The reaction series of Fe-Mg minerals is called as </a:t>
            </a:r>
            <a:r>
              <a:rPr lang="en-US" sz="2800" b="1" dirty="0">
                <a:latin typeface="Arial" pitchFamily="34" charset="0"/>
                <a:cs typeface="Arial" pitchFamily="34" charset="0"/>
              </a:rPr>
              <a:t>Discontinuous Series </a:t>
            </a:r>
            <a:r>
              <a:rPr lang="en-US" sz="2800" dirty="0">
                <a:latin typeface="Arial" pitchFamily="34" charset="0"/>
                <a:cs typeface="Arial" pitchFamily="34" charset="0"/>
              </a:rPr>
              <a:t>and that of Plagioclase is called as </a:t>
            </a:r>
            <a:r>
              <a:rPr lang="en-US" sz="2800" b="1" dirty="0">
                <a:latin typeface="Arial" pitchFamily="34" charset="0"/>
                <a:cs typeface="Arial" pitchFamily="34" charset="0"/>
              </a:rPr>
              <a:t>Continuous Series.</a:t>
            </a:r>
          </a:p>
          <a:p>
            <a:pPr algn="just"/>
            <a:endParaRPr lang="en-US" sz="2800" dirty="0">
              <a:latin typeface="Arial" pitchFamily="34" charset="0"/>
              <a:cs typeface="Arial"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014.jpg"/>
          <p:cNvPicPr>
            <a:picLocks noChangeAspect="1"/>
          </p:cNvPicPr>
          <p:nvPr/>
        </p:nvPicPr>
        <p:blipFill>
          <a:blip r:embed="rId2"/>
          <a:stretch>
            <a:fillRect/>
          </a:stretch>
        </p:blipFill>
        <p:spPr>
          <a:xfrm>
            <a:off x="465120" y="228600"/>
            <a:ext cx="8145480" cy="5562600"/>
          </a:xfrm>
          <a:prstGeom prst="rect">
            <a:avLst/>
          </a:prstGeom>
        </p:spPr>
      </p:pic>
    </p:spTree>
    <p:extLst>
      <p:ext uri="{BB962C8B-B14F-4D97-AF65-F5344CB8AC3E}">
        <p14:creationId xmlns:p14="http://schemas.microsoft.com/office/powerpoint/2010/main" val="5059266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228600"/>
            <a:ext cx="8763000" cy="6477000"/>
          </a:xfrm>
        </p:spPr>
        <p:txBody>
          <a:bodyPr>
            <a:normAutofit/>
          </a:bodyPr>
          <a:lstStyle/>
          <a:p>
            <a:pPr algn="just"/>
            <a:r>
              <a:rPr lang="en-US" sz="2800" b="1" u="sng" dirty="0">
                <a:latin typeface="Arial" pitchFamily="34" charset="0"/>
                <a:cs typeface="Arial" pitchFamily="34" charset="0"/>
              </a:rPr>
              <a:t>Discontinuous Series</a:t>
            </a:r>
            <a:r>
              <a:rPr lang="en-US" sz="2800" b="1" dirty="0">
                <a:latin typeface="Arial" pitchFamily="34" charset="0"/>
                <a:cs typeface="Arial" pitchFamily="34" charset="0"/>
              </a:rPr>
              <a:t>: </a:t>
            </a:r>
            <a:r>
              <a:rPr lang="en-US" sz="2800" dirty="0">
                <a:latin typeface="Arial" pitchFamily="34" charset="0"/>
                <a:cs typeface="Arial" pitchFamily="34" charset="0"/>
              </a:rPr>
              <a:t>At lowering of temperature (cooling starts), first mineral to crystallized is </a:t>
            </a:r>
            <a:r>
              <a:rPr lang="en-US" sz="2800" b="1" dirty="0">
                <a:latin typeface="Arial" pitchFamily="34" charset="0"/>
                <a:cs typeface="Arial" pitchFamily="34" charset="0"/>
              </a:rPr>
              <a:t>“Olivine</a:t>
            </a:r>
            <a:r>
              <a:rPr lang="en-US" sz="2800" dirty="0">
                <a:latin typeface="Arial" pitchFamily="34" charset="0"/>
                <a:cs typeface="Arial" pitchFamily="34" charset="0"/>
              </a:rPr>
              <a:t>”. As soon as it formed (unless it removed from the melt), with falling temperature the “Olivine” react with the melt and convert into </a:t>
            </a:r>
            <a:r>
              <a:rPr lang="en-US" sz="2800" b="1" dirty="0">
                <a:latin typeface="Arial" pitchFamily="34" charset="0"/>
                <a:cs typeface="Arial" pitchFamily="34" charset="0"/>
              </a:rPr>
              <a:t>“Mg-Pyroxene</a:t>
            </a:r>
            <a:r>
              <a:rPr lang="en-US" sz="2800" dirty="0">
                <a:latin typeface="Arial" pitchFamily="34" charset="0"/>
                <a:cs typeface="Arial" pitchFamily="34" charset="0"/>
              </a:rPr>
              <a:t>”. This will continue till whole “Olivine” get convert into “Mg-Pyroxenes”.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Later on the reaction remain continue and </a:t>
            </a:r>
            <a:r>
              <a:rPr lang="en-US" sz="2800" b="1" dirty="0">
                <a:latin typeface="Arial" pitchFamily="34" charset="0"/>
                <a:cs typeface="Arial" pitchFamily="34" charset="0"/>
              </a:rPr>
              <a:t>“Mg-Pyroxene” </a:t>
            </a:r>
            <a:r>
              <a:rPr lang="en-US" sz="2800" dirty="0">
                <a:latin typeface="Arial" pitchFamily="34" charset="0"/>
                <a:cs typeface="Arial" pitchFamily="34" charset="0"/>
              </a:rPr>
              <a:t>(unless removed from the melt), react with the melt and convert into </a:t>
            </a:r>
            <a:r>
              <a:rPr lang="en-US" sz="2800" b="1" dirty="0">
                <a:latin typeface="Arial" pitchFamily="34" charset="0"/>
                <a:cs typeface="Arial" pitchFamily="34" charset="0"/>
              </a:rPr>
              <a:t>“Ca-Pyroxene</a:t>
            </a:r>
            <a:r>
              <a:rPr lang="en-US" sz="2800" dirty="0">
                <a:latin typeface="Arial" pitchFamily="34" charset="0"/>
                <a:cs typeface="Arial" pitchFamily="34" charset="0"/>
              </a:rPr>
              <a:t>” and then </a:t>
            </a:r>
            <a:r>
              <a:rPr lang="en-US" sz="2800" b="1" dirty="0">
                <a:latin typeface="Arial" pitchFamily="34" charset="0"/>
                <a:cs typeface="Arial" pitchFamily="34" charset="0"/>
              </a:rPr>
              <a:t>“Hornblende</a:t>
            </a:r>
            <a:r>
              <a:rPr lang="en-US" sz="2800" dirty="0">
                <a:latin typeface="Arial" pitchFamily="34" charset="0"/>
                <a:cs typeface="Arial" pitchFamily="34" charset="0"/>
              </a:rPr>
              <a:t>”, then “</a:t>
            </a:r>
            <a:r>
              <a:rPr lang="en-US" sz="2800" b="1" dirty="0">
                <a:latin typeface="Arial" pitchFamily="34" charset="0"/>
                <a:cs typeface="Arial" pitchFamily="34" charset="0"/>
              </a:rPr>
              <a:t>Biotite</a:t>
            </a:r>
            <a:r>
              <a:rPr lang="en-US" sz="2800" dirty="0">
                <a:latin typeface="Arial" pitchFamily="34" charset="0"/>
                <a:cs typeface="Arial" pitchFamily="34" charset="0"/>
              </a:rPr>
              <a:t>”, with the falling temperature.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228600"/>
            <a:ext cx="8763000" cy="6477000"/>
          </a:xfrm>
        </p:spPr>
        <p:txBody>
          <a:bodyPr>
            <a:normAutofit fontScale="92500"/>
          </a:bodyPr>
          <a:lstStyle/>
          <a:p>
            <a:pPr algn="just"/>
            <a:r>
              <a:rPr lang="en-US" sz="2800" b="1" u="sng" dirty="0">
                <a:latin typeface="Arial" pitchFamily="34" charset="0"/>
                <a:cs typeface="Arial" pitchFamily="34" charset="0"/>
              </a:rPr>
              <a:t>Continuous Series</a:t>
            </a:r>
            <a:r>
              <a:rPr lang="en-US" sz="2800" dirty="0">
                <a:latin typeface="Arial" pitchFamily="34" charset="0"/>
                <a:cs typeface="Arial" pitchFamily="34" charset="0"/>
              </a:rPr>
              <a:t>: At lowering of temperature (cooling starts), first plagioclase to crystallized is rich in Ca (Ca-Plagioclase). As the reaction goes on and temperature drops, the crystals become more and more </a:t>
            </a:r>
            <a:r>
              <a:rPr lang="en-US" sz="2800" dirty="0" err="1">
                <a:latin typeface="Arial" pitchFamily="34" charset="0"/>
                <a:cs typeface="Arial" pitchFamily="34" charset="0"/>
              </a:rPr>
              <a:t>sodic</a:t>
            </a:r>
            <a:r>
              <a:rPr lang="en-US" sz="2800" dirty="0">
                <a:latin typeface="Arial" pitchFamily="34" charset="0"/>
                <a:cs typeface="Arial" pitchFamily="34" charset="0"/>
              </a:rPr>
              <a:t> (unless remove from the melt).</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 The Potash </a:t>
            </a:r>
            <a:r>
              <a:rPr lang="en-US" sz="2800" dirty="0" err="1">
                <a:latin typeface="Arial" pitchFamily="34" charset="0"/>
                <a:cs typeface="Arial" pitchFamily="34" charset="0"/>
              </a:rPr>
              <a:t>Felspar</a:t>
            </a:r>
            <a:r>
              <a:rPr lang="en-US" sz="2800" dirty="0">
                <a:latin typeface="Arial" pitchFamily="34" charset="0"/>
                <a:cs typeface="Arial" pitchFamily="34" charset="0"/>
              </a:rPr>
              <a:t> and Muscovite are formed at later stages and the last formed mineral is “</a:t>
            </a:r>
            <a:r>
              <a:rPr lang="en-US" sz="2800" b="1" dirty="0">
                <a:latin typeface="Arial" pitchFamily="34" charset="0"/>
                <a:cs typeface="Arial" pitchFamily="34" charset="0"/>
              </a:rPr>
              <a:t>Quartz</a:t>
            </a:r>
            <a:r>
              <a:rPr lang="en-US" sz="2800" dirty="0">
                <a:latin typeface="Arial" pitchFamily="34" charset="0"/>
                <a:cs typeface="Arial" pitchFamily="34" charset="0"/>
              </a:rPr>
              <a:t>”.</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Thus a </a:t>
            </a:r>
            <a:r>
              <a:rPr lang="en-US" sz="2800" b="1" dirty="0">
                <a:latin typeface="Arial" pitchFamily="34" charset="0"/>
                <a:cs typeface="Arial" pitchFamily="34" charset="0"/>
              </a:rPr>
              <a:t>basaltic magma </a:t>
            </a:r>
            <a:r>
              <a:rPr lang="en-US" sz="2800" dirty="0">
                <a:latin typeface="Arial" pitchFamily="34" charset="0"/>
                <a:cs typeface="Arial" pitchFamily="34" charset="0"/>
              </a:rPr>
              <a:t>on gradual cooling may convert into </a:t>
            </a:r>
            <a:r>
              <a:rPr lang="en-US" sz="2800" b="1" dirty="0">
                <a:latin typeface="Arial" pitchFamily="34" charset="0"/>
                <a:cs typeface="Arial" pitchFamily="34" charset="0"/>
              </a:rPr>
              <a:t>granitic melt </a:t>
            </a:r>
            <a:r>
              <a:rPr lang="en-US" sz="2800" dirty="0">
                <a:latin typeface="Arial" pitchFamily="34" charset="0"/>
                <a:cs typeface="Arial" pitchFamily="34" charset="0"/>
              </a:rPr>
              <a:t>(Quartz + K-</a:t>
            </a:r>
            <a:r>
              <a:rPr lang="en-US" sz="2800" dirty="0" err="1">
                <a:latin typeface="Arial" pitchFamily="34" charset="0"/>
                <a:cs typeface="Arial" pitchFamily="34" charset="0"/>
              </a:rPr>
              <a:t>Felspar</a:t>
            </a:r>
            <a:r>
              <a:rPr lang="en-US" sz="2800" dirty="0">
                <a:latin typeface="Arial" pitchFamily="34" charset="0"/>
                <a:cs typeface="Arial" pitchFamily="34" charset="0"/>
              </a:rPr>
              <a:t> + Muscovite), if the crystallized minerals do not removed from the melt. If removed in between the reaction then other rocks of that particular composition will form (at which stage the minerals removed).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5A34E-910D-406A-B81A-4F414872B983}"/>
              </a:ext>
            </a:extLst>
          </p:cNvPr>
          <p:cNvSpPr>
            <a:spLocks noGrp="1"/>
          </p:cNvSpPr>
          <p:nvPr>
            <p:ph type="title"/>
          </p:nvPr>
        </p:nvSpPr>
        <p:spPr>
          <a:xfrm>
            <a:off x="457200" y="0"/>
            <a:ext cx="8229600" cy="1143000"/>
          </a:xfrm>
        </p:spPr>
        <p:txBody>
          <a:bodyPr/>
          <a:lstStyle/>
          <a:p>
            <a:r>
              <a:rPr lang="en-IN" dirty="0"/>
              <a:t>Solid solution series</a:t>
            </a:r>
          </a:p>
        </p:txBody>
      </p:sp>
      <p:pic>
        <p:nvPicPr>
          <p:cNvPr id="9218" name="Picture 2">
            <a:extLst>
              <a:ext uri="{FF2B5EF4-FFF2-40B4-BE49-F238E27FC236}">
                <a16:creationId xmlns:a16="http://schemas.microsoft.com/office/drawing/2014/main" id="{B5B3F981-3F85-42E2-A238-455BB70E72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6900" y="1156106"/>
            <a:ext cx="5410200" cy="5701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41490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B16B9B1B-FC8C-4B8E-B627-F999B21E82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536888" y="1600200"/>
            <a:ext cx="4549712" cy="5059140"/>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4C3584AA-4DD0-4415-90C5-3776F7353DDE}"/>
              </a:ext>
            </a:extLst>
          </p:cNvPr>
          <p:cNvSpPr>
            <a:spLocks noGrp="1"/>
          </p:cNvSpPr>
          <p:nvPr>
            <p:ph type="title"/>
          </p:nvPr>
        </p:nvSpPr>
        <p:spPr>
          <a:xfrm>
            <a:off x="457200" y="0"/>
            <a:ext cx="8229600" cy="1143000"/>
          </a:xfrm>
        </p:spPr>
        <p:txBody>
          <a:bodyPr/>
          <a:lstStyle/>
          <a:p>
            <a:r>
              <a:rPr lang="en-IN" dirty="0"/>
              <a:t>Solid solution series</a:t>
            </a:r>
          </a:p>
        </p:txBody>
      </p:sp>
    </p:spTree>
    <p:extLst>
      <p:ext uri="{BB962C8B-B14F-4D97-AF65-F5344CB8AC3E}">
        <p14:creationId xmlns:p14="http://schemas.microsoft.com/office/powerpoint/2010/main" val="24293861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74D66-9077-44AD-80C1-A103673A5DF4}"/>
              </a:ext>
            </a:extLst>
          </p:cNvPr>
          <p:cNvSpPr>
            <a:spLocks noGrp="1"/>
          </p:cNvSpPr>
          <p:nvPr>
            <p:ph type="title"/>
          </p:nvPr>
        </p:nvSpPr>
        <p:spPr/>
        <p:txBody>
          <a:bodyPr/>
          <a:lstStyle/>
          <a:p>
            <a:r>
              <a:rPr lang="en-IN"/>
              <a:t>Lever rule</a:t>
            </a:r>
          </a:p>
        </p:txBody>
      </p:sp>
      <p:pic>
        <p:nvPicPr>
          <p:cNvPr id="5" name="Content Placeholder 4">
            <a:extLst>
              <a:ext uri="{FF2B5EF4-FFF2-40B4-BE49-F238E27FC236}">
                <a16:creationId xmlns:a16="http://schemas.microsoft.com/office/drawing/2014/main" id="{D4A26D13-80A6-434A-AA4B-3981CDF78307}"/>
              </a:ext>
            </a:extLst>
          </p:cNvPr>
          <p:cNvPicPr>
            <a:picLocks noGrp="1" noChangeAspect="1"/>
          </p:cNvPicPr>
          <p:nvPr>
            <p:ph idx="1"/>
          </p:nvPr>
        </p:nvPicPr>
        <p:blipFill>
          <a:blip r:embed="rId2"/>
          <a:stretch>
            <a:fillRect/>
          </a:stretch>
        </p:blipFill>
        <p:spPr>
          <a:xfrm>
            <a:off x="656644" y="2226894"/>
            <a:ext cx="8059059" cy="3234589"/>
          </a:xfrm>
        </p:spPr>
      </p:pic>
    </p:spTree>
    <p:extLst>
      <p:ext uri="{BB962C8B-B14F-4D97-AF65-F5344CB8AC3E}">
        <p14:creationId xmlns:p14="http://schemas.microsoft.com/office/powerpoint/2010/main" val="246275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25BBE-C692-4F5F-9538-C48BA501BAD8}"/>
              </a:ext>
            </a:extLst>
          </p:cNvPr>
          <p:cNvSpPr>
            <a:spLocks noGrp="1"/>
          </p:cNvSpPr>
          <p:nvPr>
            <p:ph type="title"/>
          </p:nvPr>
        </p:nvSpPr>
        <p:spPr>
          <a:xfrm>
            <a:off x="0" y="0"/>
            <a:ext cx="8229600" cy="1143000"/>
          </a:xfrm>
        </p:spPr>
        <p:txBody>
          <a:bodyPr/>
          <a:lstStyle/>
          <a:p>
            <a:r>
              <a:rPr lang="en-IN" dirty="0"/>
              <a:t>Binary eutectic system</a:t>
            </a:r>
          </a:p>
        </p:txBody>
      </p:sp>
      <p:pic>
        <p:nvPicPr>
          <p:cNvPr id="5122" name="Picture 2">
            <a:extLst>
              <a:ext uri="{FF2B5EF4-FFF2-40B4-BE49-F238E27FC236}">
                <a16:creationId xmlns:a16="http://schemas.microsoft.com/office/drawing/2014/main" id="{B70A0796-DC17-462B-A29F-CE07951490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451" y="1905000"/>
            <a:ext cx="5943600" cy="4238943"/>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DAA129A4-F470-4077-A970-5292A27B90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8400" y="2590800"/>
            <a:ext cx="2763149" cy="2343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25871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3600" b="1" dirty="0">
                <a:latin typeface="Arial" pitchFamily="34" charset="0"/>
                <a:cs typeface="Arial" pitchFamily="34" charset="0"/>
              </a:rPr>
              <a:t>Liquid Immiscibility</a:t>
            </a:r>
          </a:p>
        </p:txBody>
      </p:sp>
      <p:sp>
        <p:nvSpPr>
          <p:cNvPr id="3" name="Content Placeholder 2"/>
          <p:cNvSpPr>
            <a:spLocks noGrp="1"/>
          </p:cNvSpPr>
          <p:nvPr>
            <p:ph idx="1"/>
          </p:nvPr>
        </p:nvSpPr>
        <p:spPr>
          <a:xfrm>
            <a:off x="228600" y="990600"/>
            <a:ext cx="8686800" cy="5562600"/>
          </a:xfrm>
        </p:spPr>
        <p:txBody>
          <a:bodyPr>
            <a:normAutofit/>
          </a:bodyPr>
          <a:lstStyle/>
          <a:p>
            <a:pPr algn="just"/>
            <a:r>
              <a:rPr lang="en-US" sz="2800" dirty="0">
                <a:latin typeface="Arial" pitchFamily="34" charset="0"/>
                <a:cs typeface="Arial" pitchFamily="34" charset="0"/>
              </a:rPr>
              <a:t>Laboratory experiments have shown that the Liquid Immiscibility also play an important role in magmatic differentiation and diversification of igneous rocks.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It is believed that a homogenous liquid magma on cooling, split into two immiscible liquid fractions (having different composition).</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For e.g. a </a:t>
            </a:r>
            <a:r>
              <a:rPr lang="en-US" sz="2800" dirty="0" err="1">
                <a:latin typeface="Arial" pitchFamily="34" charset="0"/>
                <a:cs typeface="Arial" pitchFamily="34" charset="0"/>
              </a:rPr>
              <a:t>Tholeiitic</a:t>
            </a:r>
            <a:r>
              <a:rPr lang="en-US" sz="2800" dirty="0">
                <a:latin typeface="Arial" pitchFamily="34" charset="0"/>
                <a:cs typeface="Arial" pitchFamily="34" charset="0"/>
              </a:rPr>
              <a:t> liquid magma on cooling may split into two fractions (a) Granitic melt (b) Fe-Mg rich melt.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3124200"/>
            <a:ext cx="8686800" cy="3505200"/>
          </a:xfrm>
        </p:spPr>
        <p:txBody>
          <a:bodyPr>
            <a:normAutofit fontScale="92500" lnSpcReduction="10000"/>
          </a:bodyPr>
          <a:lstStyle/>
          <a:p>
            <a:pPr algn="just"/>
            <a:r>
              <a:rPr lang="en-US" sz="2800" dirty="0">
                <a:latin typeface="Arial" pitchFamily="34" charset="0"/>
                <a:cs typeface="Arial" pitchFamily="34" charset="0"/>
              </a:rPr>
              <a:t>Likewise, from </a:t>
            </a:r>
            <a:r>
              <a:rPr lang="en-US" sz="2800" dirty="0" err="1">
                <a:latin typeface="Arial" pitchFamily="34" charset="0"/>
                <a:cs typeface="Arial" pitchFamily="34" charset="0"/>
              </a:rPr>
              <a:t>mafic</a:t>
            </a:r>
            <a:r>
              <a:rPr lang="en-US" sz="2800" dirty="0">
                <a:latin typeface="Arial" pitchFamily="34" charset="0"/>
                <a:cs typeface="Arial" pitchFamily="34" charset="0"/>
              </a:rPr>
              <a:t> silicate magmas, </a:t>
            </a:r>
            <a:r>
              <a:rPr lang="en-US" sz="2800" b="1" dirty="0">
                <a:latin typeface="Arial" pitchFamily="34" charset="0"/>
                <a:cs typeface="Arial" pitchFamily="34" charset="0"/>
              </a:rPr>
              <a:t>Sulfide</a:t>
            </a:r>
            <a:r>
              <a:rPr lang="en-US" sz="2800" dirty="0">
                <a:latin typeface="Arial" pitchFamily="34" charset="0"/>
                <a:cs typeface="Arial" pitchFamily="34" charset="0"/>
              </a:rPr>
              <a:t> liquids may separate as immiscible fraction.</a:t>
            </a:r>
          </a:p>
          <a:p>
            <a:pPr algn="just"/>
            <a:r>
              <a:rPr lang="en-US" sz="2800" dirty="0">
                <a:latin typeface="Arial" pitchFamily="34" charset="0"/>
                <a:cs typeface="Arial" pitchFamily="34" charset="0"/>
              </a:rPr>
              <a:t>Similarly, highly alkaline magmas rich in CO</a:t>
            </a:r>
            <a:r>
              <a:rPr lang="en-US" sz="2800" baseline="-25000" dirty="0">
                <a:latin typeface="Arial" pitchFamily="34" charset="0"/>
                <a:cs typeface="Arial" pitchFamily="34" charset="0"/>
              </a:rPr>
              <a:t>2</a:t>
            </a:r>
            <a:r>
              <a:rPr lang="en-US" sz="2800" dirty="0">
                <a:latin typeface="Arial" pitchFamily="34" charset="0"/>
                <a:cs typeface="Arial" pitchFamily="34" charset="0"/>
              </a:rPr>
              <a:t> may separate into two liquids, one rich in carbonate, and the other rich in silica and </a:t>
            </a:r>
            <a:r>
              <a:rPr lang="en-US" sz="2800" dirty="0" err="1">
                <a:latin typeface="Arial" pitchFamily="34" charset="0"/>
                <a:cs typeface="Arial" pitchFamily="34" charset="0"/>
              </a:rPr>
              <a:t>alkalies</a:t>
            </a:r>
            <a:r>
              <a:rPr lang="en-US" sz="2800" dirty="0">
                <a:latin typeface="Arial" pitchFamily="34" charset="0"/>
                <a:cs typeface="Arial" pitchFamily="34" charset="0"/>
              </a:rPr>
              <a:t>.  This process may be responsible for forming the rare </a:t>
            </a:r>
            <a:r>
              <a:rPr lang="en-US" sz="2800" dirty="0" err="1">
                <a:latin typeface="Arial" pitchFamily="34" charset="0"/>
                <a:cs typeface="Arial" pitchFamily="34" charset="0"/>
              </a:rPr>
              <a:t>carbonatite</a:t>
            </a:r>
            <a:r>
              <a:rPr lang="en-US" sz="2800" dirty="0">
                <a:latin typeface="Arial" pitchFamily="34" charset="0"/>
                <a:cs typeface="Arial" pitchFamily="34" charset="0"/>
              </a:rPr>
              <a:t> magmas. </a:t>
            </a:r>
            <a:r>
              <a:rPr lang="en-US" sz="2800" b="1" dirty="0" err="1">
                <a:latin typeface="Arial" pitchFamily="34" charset="0"/>
                <a:cs typeface="Arial" pitchFamily="34" charset="0"/>
              </a:rPr>
              <a:t>Carbonatites</a:t>
            </a:r>
            <a:r>
              <a:rPr lang="en-US" sz="2800" b="1" dirty="0">
                <a:latin typeface="Arial" pitchFamily="34" charset="0"/>
                <a:cs typeface="Arial" pitchFamily="34" charset="0"/>
              </a:rPr>
              <a:t>  (alkaline igneous rocks) are commonly generated through the process of liquid immiscibility.</a:t>
            </a:r>
          </a:p>
          <a:p>
            <a:pPr algn="just"/>
            <a:endParaRPr lang="en-US" sz="2800" dirty="0">
              <a:latin typeface="Arial" pitchFamily="34" charset="0"/>
              <a:cs typeface="Arial" pitchFamily="34" charset="0"/>
            </a:endParaRPr>
          </a:p>
        </p:txBody>
      </p:sp>
      <p:sp>
        <p:nvSpPr>
          <p:cNvPr id="6" name="Flowchart: Process 5"/>
          <p:cNvSpPr/>
          <p:nvPr/>
        </p:nvSpPr>
        <p:spPr>
          <a:xfrm>
            <a:off x="2590800" y="304800"/>
            <a:ext cx="3733800" cy="612648"/>
          </a:xfrm>
          <a:prstGeom prst="flowChartProcess">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err="1">
                <a:solidFill>
                  <a:schemeClr val="tx1"/>
                </a:solidFill>
                <a:latin typeface="Arial" pitchFamily="34" charset="0"/>
                <a:cs typeface="Arial" pitchFamily="34" charset="0"/>
              </a:rPr>
              <a:t>Tholeiitic</a:t>
            </a:r>
            <a:r>
              <a:rPr lang="en-US" sz="2400" dirty="0">
                <a:solidFill>
                  <a:schemeClr val="tx1"/>
                </a:solidFill>
                <a:latin typeface="Arial" pitchFamily="34" charset="0"/>
                <a:cs typeface="Arial" pitchFamily="34" charset="0"/>
              </a:rPr>
              <a:t> Magma</a:t>
            </a:r>
          </a:p>
        </p:txBody>
      </p:sp>
      <p:sp>
        <p:nvSpPr>
          <p:cNvPr id="7" name="Down Arrow 6"/>
          <p:cNvSpPr/>
          <p:nvPr/>
        </p:nvSpPr>
        <p:spPr>
          <a:xfrm rot="1921413">
            <a:off x="3595825" y="880655"/>
            <a:ext cx="484632" cy="113080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lowchart: Process 7"/>
          <p:cNvSpPr/>
          <p:nvPr/>
        </p:nvSpPr>
        <p:spPr>
          <a:xfrm>
            <a:off x="1676400" y="2133600"/>
            <a:ext cx="2667000" cy="612648"/>
          </a:xfrm>
          <a:prstGeom prst="flowChartProcess">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400" dirty="0">
                <a:solidFill>
                  <a:schemeClr val="tx1"/>
                </a:solidFill>
                <a:latin typeface="Arial" pitchFamily="34" charset="0"/>
                <a:cs typeface="Arial" pitchFamily="34" charset="0"/>
              </a:rPr>
              <a:t>Granitic Melt</a:t>
            </a:r>
          </a:p>
        </p:txBody>
      </p:sp>
      <p:sp>
        <p:nvSpPr>
          <p:cNvPr id="9" name="Flowchart: Process 8"/>
          <p:cNvSpPr/>
          <p:nvPr/>
        </p:nvSpPr>
        <p:spPr>
          <a:xfrm>
            <a:off x="4648200" y="2133600"/>
            <a:ext cx="2667000" cy="612648"/>
          </a:xfrm>
          <a:prstGeom prst="flowChart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latin typeface="Arial" pitchFamily="34" charset="0"/>
                <a:cs typeface="Arial" pitchFamily="34" charset="0"/>
              </a:rPr>
              <a:t>Fe-Mg rich  Melt</a:t>
            </a:r>
          </a:p>
        </p:txBody>
      </p:sp>
      <p:sp>
        <p:nvSpPr>
          <p:cNvPr id="10" name="Down Arrow 9"/>
          <p:cNvSpPr/>
          <p:nvPr/>
        </p:nvSpPr>
        <p:spPr>
          <a:xfrm rot="19039600">
            <a:off x="4738683" y="852745"/>
            <a:ext cx="484632" cy="113080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410200" y="1143000"/>
            <a:ext cx="898003" cy="369332"/>
          </a:xfrm>
          <a:prstGeom prst="rect">
            <a:avLst/>
          </a:prstGeom>
          <a:noFill/>
        </p:spPr>
        <p:txBody>
          <a:bodyPr wrap="none" rtlCol="0">
            <a:spAutoFit/>
          </a:bodyPr>
          <a:lstStyle/>
          <a:p>
            <a:r>
              <a:rPr lang="en-US" b="1" dirty="0"/>
              <a:t>Cooling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4000" b="1" dirty="0">
                <a:latin typeface="Arial" pitchFamily="34" charset="0"/>
                <a:cs typeface="Arial" pitchFamily="34" charset="0"/>
              </a:rPr>
              <a:t>Assimilation</a:t>
            </a:r>
          </a:p>
        </p:txBody>
      </p:sp>
      <p:sp>
        <p:nvSpPr>
          <p:cNvPr id="3" name="Content Placeholder 2"/>
          <p:cNvSpPr>
            <a:spLocks noGrp="1"/>
          </p:cNvSpPr>
          <p:nvPr>
            <p:ph idx="1"/>
          </p:nvPr>
        </p:nvSpPr>
        <p:spPr>
          <a:xfrm>
            <a:off x="228600" y="838200"/>
            <a:ext cx="8686800" cy="5791200"/>
          </a:xfrm>
        </p:spPr>
        <p:txBody>
          <a:bodyPr>
            <a:normAutofit lnSpcReduction="10000"/>
          </a:bodyPr>
          <a:lstStyle/>
          <a:p>
            <a:pPr algn="just"/>
            <a:r>
              <a:rPr lang="en-US" sz="2800" dirty="0">
                <a:latin typeface="Arial" pitchFamily="34" charset="0"/>
                <a:cs typeface="Arial" pitchFamily="34" charset="0"/>
              </a:rPr>
              <a:t>Assimilation is another process of responsible for diversification of igneous rock types.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Assimilation is the incorporation of matter from wall rocks into the magma to give a contaminated or hybrid magma.</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During the intrusion of magma in wall rocks, some of the fraction of wall rock mixed in the magma and may become partially or completely melted (due to heat of magma) and merged into the liquid fraction of magma (causing change of composition of primary magma).</a:t>
            </a:r>
          </a:p>
          <a:p>
            <a:endParaRPr lang="en-US" dirty="0"/>
          </a:p>
          <a:p>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228600"/>
            <a:ext cx="8686800" cy="6324600"/>
          </a:xfrm>
        </p:spPr>
        <p:txBody>
          <a:bodyPr>
            <a:normAutofit/>
          </a:bodyPr>
          <a:lstStyle/>
          <a:p>
            <a:pPr algn="just"/>
            <a:r>
              <a:rPr lang="en-US" sz="2800" dirty="0">
                <a:latin typeface="Arial" pitchFamily="34" charset="0"/>
                <a:cs typeface="Arial" pitchFamily="34" charset="0"/>
              </a:rPr>
              <a:t>According to the Bowen (1928), a considerable amount of heat is necessary to melt the minerals of country rocks.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For the process of assimilation, magmatic temperature should be high otherwise only those minerals of wall rock will melt, which are having lower melting temperature. Wholesale (Bulk) assimilation by a liquid magma requires a superheated magma (</a:t>
            </a:r>
            <a:r>
              <a:rPr lang="en-US" sz="2800" dirty="0">
                <a:solidFill>
                  <a:srgbClr val="002060"/>
                </a:solidFill>
                <a:latin typeface="Arial" pitchFamily="34" charset="0"/>
                <a:cs typeface="Arial" pitchFamily="34" charset="0"/>
              </a:rPr>
              <a:t>very high temperature</a:t>
            </a:r>
            <a:r>
              <a:rPr lang="en-US" sz="2800" dirty="0">
                <a:latin typeface="Arial" pitchFamily="34" charset="0"/>
                <a:cs typeface="Arial" pitchFamily="34" charset="0"/>
              </a:rPr>
              <a:t>).</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How do we know of assimilation?</a:t>
            </a:r>
          </a:p>
          <a:p>
            <a:pPr algn="just">
              <a:buNone/>
            </a:pPr>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a:extLst>
              <a:ext uri="{FF2B5EF4-FFF2-40B4-BE49-F238E27FC236}">
                <a16:creationId xmlns:a16="http://schemas.microsoft.com/office/drawing/2014/main" id="{B1C537E1-9451-4E2E-B54D-EF52E76D2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914400"/>
            <a:ext cx="7924800" cy="47920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26306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017.jpg"/>
          <p:cNvPicPr>
            <a:picLocks noChangeAspect="1"/>
          </p:cNvPicPr>
          <p:nvPr/>
        </p:nvPicPr>
        <p:blipFill>
          <a:blip r:embed="rId2" cstate="print"/>
          <a:stretch>
            <a:fillRect/>
          </a:stretch>
        </p:blipFill>
        <p:spPr>
          <a:xfrm>
            <a:off x="381000" y="323308"/>
            <a:ext cx="4038600" cy="3572352"/>
          </a:xfrm>
          <a:prstGeom prst="rect">
            <a:avLst/>
          </a:prstGeom>
        </p:spPr>
      </p:pic>
      <p:pic>
        <p:nvPicPr>
          <p:cNvPr id="13314" name="Picture 2">
            <a:extLst>
              <a:ext uri="{FF2B5EF4-FFF2-40B4-BE49-F238E27FC236}">
                <a16:creationId xmlns:a16="http://schemas.microsoft.com/office/drawing/2014/main" id="{9E6B8F38-1C5B-42F7-BBC2-FFF2005709A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3202" r="50000"/>
          <a:stretch/>
        </p:blipFill>
        <p:spPr bwMode="auto">
          <a:xfrm>
            <a:off x="5257800" y="533400"/>
            <a:ext cx="3352800" cy="460516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4000" b="1" dirty="0">
                <a:latin typeface="Arial" pitchFamily="34" charset="0"/>
                <a:cs typeface="Arial" pitchFamily="34" charset="0"/>
              </a:rPr>
              <a:t>Magma Mixing</a:t>
            </a:r>
          </a:p>
        </p:txBody>
      </p:sp>
      <p:sp>
        <p:nvSpPr>
          <p:cNvPr id="3" name="Content Placeholder 2"/>
          <p:cNvSpPr>
            <a:spLocks noGrp="1"/>
          </p:cNvSpPr>
          <p:nvPr>
            <p:ph idx="1"/>
          </p:nvPr>
        </p:nvSpPr>
        <p:spPr>
          <a:xfrm>
            <a:off x="152400" y="838200"/>
            <a:ext cx="8763000" cy="5715000"/>
          </a:xfrm>
        </p:spPr>
        <p:txBody>
          <a:bodyPr>
            <a:normAutofit/>
          </a:bodyPr>
          <a:lstStyle/>
          <a:p>
            <a:pPr algn="just"/>
            <a:r>
              <a:rPr lang="en-US" sz="2800" dirty="0">
                <a:latin typeface="Arial" pitchFamily="34" charset="0"/>
                <a:cs typeface="Arial" pitchFamily="34" charset="0"/>
              </a:rPr>
              <a:t>The process of magma mixing is also responsible for variation in igneous rocks.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Bunsen (1851) first suggested that the mixing of two contrast primary magmas (basaltic and rhyolitic) may account for the range of variation in the lava. Later on Durocher (1909) explained that all igneous rocks are derived from two primary magma only.</a:t>
            </a:r>
          </a:p>
          <a:p>
            <a:pPr algn="just">
              <a:buNone/>
            </a:pPr>
            <a:endParaRPr lang="en-US" sz="2800" dirty="0">
              <a:latin typeface="Arial" pitchFamily="34" charset="0"/>
              <a:cs typeface="Arial" pitchFamily="34" charset="0"/>
            </a:endParaRPr>
          </a:p>
          <a:p>
            <a:pPr algn="just"/>
            <a:r>
              <a:rPr lang="en-US" sz="2800" dirty="0">
                <a:latin typeface="Arial" pitchFamily="34" charset="0"/>
                <a:cs typeface="Arial" pitchFamily="34" charset="0"/>
              </a:rPr>
              <a:t>Magma mixing do occur in nature but petrologists do not consider it as the principal factor in magmatic evolution.</a:t>
            </a: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304800"/>
            <a:ext cx="8763000" cy="5821363"/>
          </a:xfrm>
        </p:spPr>
        <p:txBody>
          <a:bodyPr>
            <a:normAutofit/>
          </a:bodyPr>
          <a:lstStyle/>
          <a:p>
            <a:pPr algn="just"/>
            <a:r>
              <a:rPr lang="en-US" sz="2800" dirty="0">
                <a:latin typeface="Arial" pitchFamily="34" charset="0"/>
                <a:cs typeface="Arial" pitchFamily="34" charset="0"/>
              </a:rPr>
              <a:t>The magma mixing may be partial or complete. In partial mixing, the separate body or </a:t>
            </a:r>
            <a:r>
              <a:rPr lang="en-US" sz="2800" dirty="0" err="1">
                <a:latin typeface="Arial" pitchFamily="34" charset="0"/>
                <a:cs typeface="Arial" pitchFamily="34" charset="0"/>
              </a:rPr>
              <a:t>xenolith</a:t>
            </a:r>
            <a:r>
              <a:rPr lang="en-US" sz="2800" dirty="0">
                <a:latin typeface="Arial" pitchFamily="34" charset="0"/>
                <a:cs typeface="Arial" pitchFamily="34" charset="0"/>
              </a:rPr>
              <a:t> on one magma type is found in another. If it mixed completely, then it form a magma of different composition (hybrid magma).</a:t>
            </a:r>
          </a:p>
        </p:txBody>
      </p:sp>
      <p:pic>
        <p:nvPicPr>
          <p:cNvPr id="4" name="Picture 3" descr="018.jpg"/>
          <p:cNvPicPr>
            <a:picLocks noChangeAspect="1"/>
          </p:cNvPicPr>
          <p:nvPr/>
        </p:nvPicPr>
        <p:blipFill>
          <a:blip r:embed="rId2"/>
          <a:stretch>
            <a:fillRect/>
          </a:stretch>
        </p:blipFill>
        <p:spPr>
          <a:xfrm>
            <a:off x="533400" y="2769108"/>
            <a:ext cx="8001000" cy="38176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228600"/>
            <a:ext cx="8534400" cy="6400800"/>
          </a:xfrm>
        </p:spPr>
        <p:txBody>
          <a:bodyPr>
            <a:normAutofit fontScale="92500" lnSpcReduction="10000"/>
          </a:bodyPr>
          <a:lstStyle/>
          <a:p>
            <a:pPr algn="just"/>
            <a:r>
              <a:rPr lang="en-US" b="0" i="0" dirty="0">
                <a:solidFill>
                  <a:srgbClr val="222222"/>
                </a:solidFill>
                <a:effectLst/>
                <a:latin typeface="Merriweather" panose="00000500000000000000" pitchFamily="2" charset="0"/>
              </a:rPr>
              <a:t>magma mixing into two separate physico/chemical processes: </a:t>
            </a:r>
          </a:p>
          <a:p>
            <a:pPr algn="just"/>
            <a:r>
              <a:rPr lang="en-US" b="0" i="0" dirty="0">
                <a:solidFill>
                  <a:srgbClr val="222222"/>
                </a:solidFill>
                <a:effectLst/>
                <a:latin typeface="Merriweather" panose="00000500000000000000" pitchFamily="2" charset="0"/>
              </a:rPr>
              <a:t>(i) mechanical mixing (also referred to as “</a:t>
            </a:r>
            <a:r>
              <a:rPr lang="en-US" b="0" i="0" dirty="0">
                <a:solidFill>
                  <a:srgbClr val="FFFF00"/>
                </a:solidFill>
                <a:effectLst/>
                <a:latin typeface="Merriweather" panose="00000500000000000000" pitchFamily="2" charset="0"/>
              </a:rPr>
              <a:t>magma mingling</a:t>
            </a:r>
            <a:r>
              <a:rPr lang="en-US" b="0" i="0" dirty="0">
                <a:solidFill>
                  <a:srgbClr val="222222"/>
                </a:solidFill>
                <a:effectLst/>
                <a:latin typeface="Merriweather" panose="00000500000000000000" pitchFamily="2" charset="0"/>
              </a:rPr>
              <a:t>”), by which two or more batches of magma mingle without chemical exchanges between them, </a:t>
            </a:r>
          </a:p>
          <a:p>
            <a:pPr algn="just"/>
            <a:r>
              <a:rPr lang="en-US" b="0" i="0" dirty="0">
                <a:solidFill>
                  <a:srgbClr val="222222"/>
                </a:solidFill>
                <a:effectLst/>
                <a:latin typeface="Merriweather" panose="00000500000000000000" pitchFamily="2" charset="0"/>
              </a:rPr>
              <a:t>(ii) a chemical mixing (also referred to as “magma mixing”) triggered by chemical exchanges between the interacting magmas in which elements move from one magma to the other according to compositional gradients continuously generated by the mechanical dispersion of the two magmas </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figure 1">
            <a:extLst>
              <a:ext uri="{FF2B5EF4-FFF2-40B4-BE49-F238E27FC236}">
                <a16:creationId xmlns:a16="http://schemas.microsoft.com/office/drawing/2014/main" id="{7F952A4C-D615-450B-83C8-37574A1C91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744" y="533400"/>
            <a:ext cx="7910512" cy="603970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F5BC7-80C4-42D2-BBD5-372596BF7D50}"/>
              </a:ext>
            </a:extLst>
          </p:cNvPr>
          <p:cNvSpPr>
            <a:spLocks noGrp="1"/>
          </p:cNvSpPr>
          <p:nvPr>
            <p:ph type="title"/>
          </p:nvPr>
        </p:nvSpPr>
        <p:spPr>
          <a:xfrm>
            <a:off x="6046076" y="5715000"/>
            <a:ext cx="3124200" cy="1143000"/>
          </a:xfrm>
        </p:spPr>
        <p:txBody>
          <a:bodyPr/>
          <a:lstStyle/>
          <a:p>
            <a:r>
              <a:rPr lang="en-IN" sz="1600" dirty="0"/>
              <a:t>Source: Morgavi et al., 2017</a:t>
            </a:r>
          </a:p>
        </p:txBody>
      </p:sp>
      <p:pic>
        <p:nvPicPr>
          <p:cNvPr id="15362" name="Picture 2" descr="figure 2">
            <a:extLst>
              <a:ext uri="{FF2B5EF4-FFF2-40B4-BE49-F238E27FC236}">
                <a16:creationId xmlns:a16="http://schemas.microsoft.com/office/drawing/2014/main" id="{3D609A6B-9F7C-43F4-9888-4080C524177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48633"/>
          <a:stretch/>
        </p:blipFill>
        <p:spPr bwMode="auto">
          <a:xfrm>
            <a:off x="685800" y="2133600"/>
            <a:ext cx="7566828" cy="33194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ED35098-EA82-4BAA-9E50-3CA3380A4711}"/>
              </a:ext>
            </a:extLst>
          </p:cNvPr>
          <p:cNvSpPr txBox="1"/>
          <p:nvPr/>
        </p:nvSpPr>
        <p:spPr>
          <a:xfrm>
            <a:off x="304800" y="152400"/>
            <a:ext cx="3200400" cy="523220"/>
          </a:xfrm>
          <a:prstGeom prst="rect">
            <a:avLst/>
          </a:prstGeom>
          <a:noFill/>
        </p:spPr>
        <p:txBody>
          <a:bodyPr wrap="square">
            <a:spAutoFit/>
          </a:bodyPr>
          <a:lstStyle/>
          <a:p>
            <a:pPr algn="just"/>
            <a:r>
              <a:rPr lang="en-US" sz="2800" b="0" i="0" dirty="0">
                <a:solidFill>
                  <a:srgbClr val="222222"/>
                </a:solidFill>
                <a:effectLst/>
                <a:latin typeface="Merriweather" panose="00000500000000000000" pitchFamily="2" charset="0"/>
              </a:rPr>
              <a:t>Magma Mixing</a:t>
            </a:r>
          </a:p>
        </p:txBody>
      </p:sp>
    </p:spTree>
    <p:extLst>
      <p:ext uri="{BB962C8B-B14F-4D97-AF65-F5344CB8AC3E}">
        <p14:creationId xmlns:p14="http://schemas.microsoft.com/office/powerpoint/2010/main" val="35979369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E4316A-E549-4DE0-8D16-8882E9456941}"/>
              </a:ext>
            </a:extLst>
          </p:cNvPr>
          <p:cNvSpPr>
            <a:spLocks noGrp="1"/>
          </p:cNvSpPr>
          <p:nvPr>
            <p:ph idx="1"/>
          </p:nvPr>
        </p:nvSpPr>
        <p:spPr>
          <a:xfrm>
            <a:off x="21021" y="2209801"/>
            <a:ext cx="9122980" cy="1371600"/>
          </a:xfrm>
        </p:spPr>
        <p:txBody>
          <a:bodyPr/>
          <a:lstStyle/>
          <a:p>
            <a:pPr marL="0" indent="0" algn="ctr">
              <a:lnSpc>
                <a:spcPct val="150000"/>
              </a:lnSpc>
              <a:buNone/>
            </a:pPr>
            <a:r>
              <a:rPr lang="en-IN" b="1" dirty="0"/>
              <a:t>Elemental partioning during magmatic differentiation </a:t>
            </a:r>
          </a:p>
        </p:txBody>
      </p:sp>
    </p:spTree>
    <p:extLst>
      <p:ext uri="{BB962C8B-B14F-4D97-AF65-F5344CB8AC3E}">
        <p14:creationId xmlns:p14="http://schemas.microsoft.com/office/powerpoint/2010/main" val="6025780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8ECE6A51-5DDE-4D7A-BC0E-17CD2416EF33}"/>
              </a:ext>
            </a:extLst>
          </p:cNvPr>
          <p:cNvSpPr>
            <a:spLocks noGrp="1" noChangeArrowheads="1"/>
          </p:cNvSpPr>
          <p:nvPr>
            <p:ph type="title"/>
          </p:nvPr>
        </p:nvSpPr>
        <p:spPr>
          <a:xfrm>
            <a:off x="609600" y="152400"/>
            <a:ext cx="7772400" cy="685800"/>
          </a:xfrm>
        </p:spPr>
        <p:txBody>
          <a:bodyPr/>
          <a:lstStyle/>
          <a:p>
            <a:pPr eaLnBrk="1" hangingPunct="1"/>
            <a:r>
              <a:rPr lang="en-US" altLang="en-US" sz="3600" dirty="0"/>
              <a:t>GOLDSCHMIDT’S RULES</a:t>
            </a:r>
          </a:p>
        </p:txBody>
      </p:sp>
      <p:sp>
        <p:nvSpPr>
          <p:cNvPr id="6147" name="Rectangle 3">
            <a:extLst>
              <a:ext uri="{FF2B5EF4-FFF2-40B4-BE49-F238E27FC236}">
                <a16:creationId xmlns:a16="http://schemas.microsoft.com/office/drawing/2014/main" id="{8765E3FE-B1C3-456F-B708-2216090D93D3}"/>
              </a:ext>
            </a:extLst>
          </p:cNvPr>
          <p:cNvSpPr>
            <a:spLocks noGrp="1" noChangeArrowheads="1"/>
          </p:cNvSpPr>
          <p:nvPr>
            <p:ph type="body" idx="1"/>
          </p:nvPr>
        </p:nvSpPr>
        <p:spPr>
          <a:xfrm>
            <a:off x="228600" y="1002424"/>
            <a:ext cx="8686800" cy="5257800"/>
          </a:xfrm>
        </p:spPr>
        <p:txBody>
          <a:bodyPr/>
          <a:lstStyle/>
          <a:p>
            <a:pPr eaLnBrk="1" hangingPunct="1">
              <a:buFontTx/>
              <a:buNone/>
            </a:pPr>
            <a:r>
              <a:rPr lang="en-US" altLang="en-US" sz="2800" dirty="0"/>
              <a:t>1. The ions of one element can extensively replace those of another in ionic crystals if their radii differ by less than approximately 15%.</a:t>
            </a:r>
          </a:p>
          <a:p>
            <a:pPr eaLnBrk="1" hangingPunct="1">
              <a:buFontTx/>
              <a:buNone/>
            </a:pPr>
            <a:r>
              <a:rPr lang="en-US" altLang="en-US" sz="2800" dirty="0"/>
              <a:t>2. Ions whose charges differ by one unit substitute readily for one another provided electrical neutrality of the crystal is maintained. If the charges differ by more than one unit, substitution is generally slight.</a:t>
            </a:r>
          </a:p>
          <a:p>
            <a:pPr eaLnBrk="1" hangingPunct="1">
              <a:buFontTx/>
              <a:buNone/>
            </a:pPr>
            <a:r>
              <a:rPr lang="en-US" altLang="en-US" sz="2800" dirty="0"/>
              <a:t>3. When two different ions can occupy a particular position in a crystal lattice, the ion with the higher ionic potential forms a stronger bond with the anions surrounding the site.</a:t>
            </a:r>
          </a:p>
        </p:txBody>
      </p:sp>
      <p:sp>
        <p:nvSpPr>
          <p:cNvPr id="4" name="Rectangle 2">
            <a:extLst>
              <a:ext uri="{FF2B5EF4-FFF2-40B4-BE49-F238E27FC236}">
                <a16:creationId xmlns:a16="http://schemas.microsoft.com/office/drawing/2014/main" id="{61F24ED1-1A86-48E9-AA23-B12F803F748E}"/>
              </a:ext>
            </a:extLst>
          </p:cNvPr>
          <p:cNvSpPr txBox="1">
            <a:spLocks noChangeArrowheads="1"/>
          </p:cNvSpPr>
          <p:nvPr/>
        </p:nvSpPr>
        <p:spPr bwMode="auto">
          <a:xfrm>
            <a:off x="5943600" y="6260224"/>
            <a:ext cx="35814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pPr eaLnBrk="1" hangingPunct="1"/>
            <a:r>
              <a:rPr lang="en-US" altLang="en-US" sz="1600" kern="0" dirty="0"/>
              <a:t>Source: Faure, Chapter-8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03561A5E-F2B1-4723-AF5F-2C6A8A0074A4}"/>
              </a:ext>
            </a:extLst>
          </p:cNvPr>
          <p:cNvSpPr>
            <a:spLocks noGrp="1" noChangeArrowheads="1"/>
          </p:cNvSpPr>
          <p:nvPr>
            <p:ph type="title"/>
          </p:nvPr>
        </p:nvSpPr>
        <p:spPr>
          <a:xfrm>
            <a:off x="685800" y="76200"/>
            <a:ext cx="7772400" cy="1219200"/>
          </a:xfrm>
        </p:spPr>
        <p:txBody>
          <a:bodyPr/>
          <a:lstStyle/>
          <a:p>
            <a:pPr eaLnBrk="1" hangingPunct="1"/>
            <a:r>
              <a:rPr lang="en-US" altLang="en-US" sz="3600" dirty="0"/>
              <a:t>RINGWOOD’S MODIFICATION OF</a:t>
            </a:r>
            <a:br>
              <a:rPr lang="en-US" altLang="en-US" sz="3600" dirty="0"/>
            </a:br>
            <a:r>
              <a:rPr lang="en-US" altLang="en-US" sz="3600" dirty="0"/>
              <a:t>GOLDSCHMIDT’S RULES</a:t>
            </a:r>
          </a:p>
        </p:txBody>
      </p:sp>
      <p:sp>
        <p:nvSpPr>
          <p:cNvPr id="7171" name="Rectangle 3">
            <a:extLst>
              <a:ext uri="{FF2B5EF4-FFF2-40B4-BE49-F238E27FC236}">
                <a16:creationId xmlns:a16="http://schemas.microsoft.com/office/drawing/2014/main" id="{B9037528-6C40-44ED-9CEB-44993908CACE}"/>
              </a:ext>
            </a:extLst>
          </p:cNvPr>
          <p:cNvSpPr>
            <a:spLocks noGrp="1" noChangeArrowheads="1"/>
          </p:cNvSpPr>
          <p:nvPr>
            <p:ph type="body" idx="1"/>
          </p:nvPr>
        </p:nvSpPr>
        <p:spPr>
          <a:xfrm>
            <a:off x="457200" y="1676400"/>
            <a:ext cx="8534400" cy="3810000"/>
          </a:xfrm>
        </p:spPr>
        <p:txBody>
          <a:bodyPr/>
          <a:lstStyle/>
          <a:p>
            <a:pPr eaLnBrk="1" hangingPunct="1">
              <a:buFontTx/>
              <a:buNone/>
            </a:pPr>
            <a:r>
              <a:rPr lang="en-US" altLang="en-US" sz="2800" dirty="0"/>
              <a:t>4. Substitutions may be limited, even when the size and charge criteria are satisfied, when the competing ions have </a:t>
            </a:r>
            <a:r>
              <a:rPr lang="en-US" altLang="en-US" sz="2800" dirty="0">
                <a:solidFill>
                  <a:schemeClr val="accent6">
                    <a:lumMod val="60000"/>
                    <a:lumOff val="40000"/>
                  </a:schemeClr>
                </a:solidFill>
              </a:rPr>
              <a:t>different electronegativities and form bonds of different ionic character</a:t>
            </a:r>
            <a:r>
              <a:rPr lang="en-US" altLang="en-US" sz="2800" dirty="0"/>
              <a:t>.</a:t>
            </a:r>
          </a:p>
          <a:p>
            <a:pPr eaLnBrk="1" hangingPunct="1">
              <a:buFontTx/>
              <a:buNone/>
            </a:pPr>
            <a:r>
              <a:rPr lang="en-US" altLang="en-US" sz="2800" dirty="0"/>
              <a:t>This rule was proposed in 1955 to explain discrepancies with respect to the first three Goldschmidt rules. </a:t>
            </a:r>
          </a:p>
          <a:p>
            <a:pPr eaLnBrk="1" hangingPunct="1">
              <a:buFontTx/>
              <a:buNone/>
            </a:pPr>
            <a:r>
              <a:rPr lang="en-US" altLang="en-US" sz="2800" dirty="0"/>
              <a:t>For example, Na</a:t>
            </a:r>
            <a:r>
              <a:rPr lang="en-US" altLang="en-US" sz="2800" baseline="30000" dirty="0"/>
              <a:t>+ </a:t>
            </a:r>
            <a:r>
              <a:rPr lang="en-US" altLang="en-US" sz="2800" dirty="0"/>
              <a:t>and Cu</a:t>
            </a:r>
            <a:r>
              <a:rPr lang="en-US" altLang="en-US" sz="2800" baseline="30000" dirty="0"/>
              <a:t>+</a:t>
            </a:r>
            <a:r>
              <a:rPr lang="en-US" altLang="en-US" sz="2800" dirty="0"/>
              <a:t> have the same radius and charge, but do not substitute for one another.</a:t>
            </a:r>
          </a:p>
        </p:txBody>
      </p:sp>
      <p:sp>
        <p:nvSpPr>
          <p:cNvPr id="4" name="Rectangle 2">
            <a:extLst>
              <a:ext uri="{FF2B5EF4-FFF2-40B4-BE49-F238E27FC236}">
                <a16:creationId xmlns:a16="http://schemas.microsoft.com/office/drawing/2014/main" id="{26215713-1F3C-4639-A64C-944554875286}"/>
              </a:ext>
            </a:extLst>
          </p:cNvPr>
          <p:cNvSpPr txBox="1">
            <a:spLocks noChangeArrowheads="1"/>
          </p:cNvSpPr>
          <p:nvPr/>
        </p:nvSpPr>
        <p:spPr bwMode="auto">
          <a:xfrm>
            <a:off x="5943600" y="6260224"/>
            <a:ext cx="35814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pPr eaLnBrk="1" hangingPunct="1"/>
            <a:r>
              <a:rPr lang="en-US" altLang="en-US" sz="1600" kern="0" dirty="0"/>
              <a:t>Source: Faure, Chapter-8</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50F457EA-E133-4254-BB3B-247E1AA72B35}"/>
              </a:ext>
            </a:extLst>
          </p:cNvPr>
          <p:cNvSpPr>
            <a:spLocks noGrp="1" noChangeArrowheads="1"/>
          </p:cNvSpPr>
          <p:nvPr>
            <p:ph type="title"/>
          </p:nvPr>
        </p:nvSpPr>
        <p:spPr/>
        <p:txBody>
          <a:bodyPr/>
          <a:lstStyle/>
          <a:p>
            <a:pPr eaLnBrk="1" hangingPunct="1"/>
            <a:r>
              <a:rPr lang="en-US" altLang="en-US"/>
              <a:t>Coupled Substitution</a:t>
            </a:r>
          </a:p>
        </p:txBody>
      </p:sp>
      <p:sp>
        <p:nvSpPr>
          <p:cNvPr id="8195" name="Rectangle 3">
            <a:extLst>
              <a:ext uri="{FF2B5EF4-FFF2-40B4-BE49-F238E27FC236}">
                <a16:creationId xmlns:a16="http://schemas.microsoft.com/office/drawing/2014/main" id="{9EB10584-ADFD-4B6F-9DF3-CBF43FBBB859}"/>
              </a:ext>
            </a:extLst>
          </p:cNvPr>
          <p:cNvSpPr>
            <a:spLocks noGrp="1" noChangeArrowheads="1"/>
          </p:cNvSpPr>
          <p:nvPr>
            <p:ph type="body" idx="1"/>
          </p:nvPr>
        </p:nvSpPr>
        <p:spPr>
          <a:xfrm>
            <a:off x="457200" y="1600200"/>
            <a:ext cx="8305800" cy="4953000"/>
          </a:xfrm>
        </p:spPr>
        <p:txBody>
          <a:bodyPr/>
          <a:lstStyle/>
          <a:p>
            <a:pPr eaLnBrk="1" hangingPunct="1"/>
            <a:r>
              <a:rPr lang="en-US" altLang="en-US" sz="2800"/>
              <a:t>When the ion of a major element in a mineral is replaced with something having a different charge, the charge imbalance created must be neutralized by addition of a counter ion</a:t>
            </a:r>
          </a:p>
          <a:p>
            <a:pPr eaLnBrk="1" hangingPunct="1"/>
            <a:r>
              <a:rPr lang="en-US" altLang="en-US" sz="2800"/>
              <a:t>Example </a:t>
            </a:r>
            <a:r>
              <a:rPr lang="en-US" altLang="en-US" sz="2800">
                <a:sym typeface="Wingdings" panose="05000000000000000000" pitchFamily="2" charset="2"/>
              </a:rPr>
              <a:t> addition of Al</a:t>
            </a:r>
            <a:r>
              <a:rPr lang="en-US" altLang="en-US" sz="2800" baseline="30000">
                <a:sym typeface="Wingdings" panose="05000000000000000000" pitchFamily="2" charset="2"/>
              </a:rPr>
              <a:t>3+</a:t>
            </a:r>
            <a:r>
              <a:rPr lang="en-US" altLang="en-US" sz="2800">
                <a:sym typeface="Wingdings" panose="05000000000000000000" pitchFamily="2" charset="2"/>
              </a:rPr>
              <a:t> in a silicate structure (replacing Si</a:t>
            </a:r>
            <a:r>
              <a:rPr lang="en-US" altLang="en-US" sz="2800" baseline="30000">
                <a:sym typeface="Wingdings" panose="05000000000000000000" pitchFamily="2" charset="2"/>
              </a:rPr>
              <a:t>4+</a:t>
            </a:r>
            <a:r>
              <a:rPr lang="en-US" altLang="en-US" sz="2800">
                <a:sym typeface="Wingdings" panose="05000000000000000000" pitchFamily="2" charset="2"/>
              </a:rPr>
              <a:t>) requires addition of a Na</a:t>
            </a:r>
            <a:r>
              <a:rPr lang="en-US" altLang="en-US" sz="2800" baseline="30000">
                <a:sym typeface="Wingdings" panose="05000000000000000000" pitchFamily="2" charset="2"/>
              </a:rPr>
              <a:t>+</a:t>
            </a:r>
            <a:r>
              <a:rPr lang="en-US" altLang="en-US" sz="2800">
                <a:sym typeface="Wingdings" panose="05000000000000000000" pitchFamily="2" charset="2"/>
              </a:rPr>
              <a:t> or K</a:t>
            </a:r>
            <a:r>
              <a:rPr lang="en-US" altLang="en-US" sz="2800" baseline="30000">
                <a:sym typeface="Wingdings" panose="05000000000000000000" pitchFamily="2" charset="2"/>
              </a:rPr>
              <a:t>+</a:t>
            </a:r>
            <a:r>
              <a:rPr lang="en-US" altLang="en-US" sz="2800">
                <a:sym typeface="Wingdings" panose="05000000000000000000" pitchFamily="2" charset="2"/>
              </a:rPr>
              <a:t> (Key to understanding feldspar chemistry…).  When 2 Al</a:t>
            </a:r>
            <a:r>
              <a:rPr lang="en-US" altLang="en-US" sz="2800" baseline="30000">
                <a:sym typeface="Wingdings" panose="05000000000000000000" pitchFamily="2" charset="2"/>
              </a:rPr>
              <a:t>3+</a:t>
            </a:r>
            <a:r>
              <a:rPr lang="en-US" altLang="en-US" sz="2800">
                <a:sym typeface="Wingdings" panose="05000000000000000000" pitchFamily="2" charset="2"/>
              </a:rPr>
              <a:t> are added for Si</a:t>
            </a:r>
            <a:r>
              <a:rPr lang="en-US" altLang="en-US" sz="2800" baseline="30000">
                <a:sym typeface="Wingdings" panose="05000000000000000000" pitchFamily="2" charset="2"/>
              </a:rPr>
              <a:t>4+</a:t>
            </a:r>
            <a:r>
              <a:rPr lang="en-US" altLang="en-US" sz="2800">
                <a:sym typeface="Wingdings" panose="05000000000000000000" pitchFamily="2" charset="2"/>
              </a:rPr>
              <a:t>, this then can be balanced by adding a Ca</a:t>
            </a:r>
            <a:r>
              <a:rPr lang="en-US" altLang="en-US" sz="2800" baseline="30000">
                <a:sym typeface="Wingdings" panose="05000000000000000000" pitchFamily="2" charset="2"/>
              </a:rPr>
              <a:t>2+</a:t>
            </a:r>
            <a:r>
              <a:rPr lang="en-US" altLang="en-US" sz="2800">
                <a:sym typeface="Wingdings" panose="05000000000000000000" pitchFamily="2" charset="2"/>
              </a:rPr>
              <a:t> ion</a:t>
            </a:r>
            <a:endParaRPr lang="en-US" altLang="en-US" sz="2800" baseline="30000"/>
          </a:p>
        </p:txBody>
      </p:sp>
      <p:sp>
        <p:nvSpPr>
          <p:cNvPr id="4" name="Rectangle 2">
            <a:extLst>
              <a:ext uri="{FF2B5EF4-FFF2-40B4-BE49-F238E27FC236}">
                <a16:creationId xmlns:a16="http://schemas.microsoft.com/office/drawing/2014/main" id="{C314E3EB-806D-477D-BE08-21614FCC15D6}"/>
              </a:ext>
            </a:extLst>
          </p:cNvPr>
          <p:cNvSpPr txBox="1">
            <a:spLocks noChangeArrowheads="1"/>
          </p:cNvSpPr>
          <p:nvPr/>
        </p:nvSpPr>
        <p:spPr bwMode="auto">
          <a:xfrm>
            <a:off x="5943600" y="6260224"/>
            <a:ext cx="35814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pPr eaLnBrk="1" hangingPunct="1"/>
            <a:r>
              <a:rPr lang="en-US" altLang="en-US" sz="1600" kern="0" dirty="0"/>
              <a:t>Source: Faure, Chapter-8</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62B27506-1116-4D9E-8874-AE32F9AB244C}"/>
              </a:ext>
            </a:extLst>
          </p:cNvPr>
          <p:cNvSpPr>
            <a:spLocks noGrp="1" noChangeArrowheads="1"/>
          </p:cNvSpPr>
          <p:nvPr>
            <p:ph type="title"/>
          </p:nvPr>
        </p:nvSpPr>
        <p:spPr>
          <a:xfrm>
            <a:off x="685800" y="-228600"/>
            <a:ext cx="7772400" cy="1143000"/>
          </a:xfrm>
        </p:spPr>
        <p:txBody>
          <a:bodyPr/>
          <a:lstStyle/>
          <a:p>
            <a:pPr eaLnBrk="1" hangingPunct="1"/>
            <a:r>
              <a:rPr lang="en-US" altLang="en-US" dirty="0"/>
              <a:t>SOLID SOLUTION</a:t>
            </a:r>
          </a:p>
        </p:txBody>
      </p:sp>
      <p:sp>
        <p:nvSpPr>
          <p:cNvPr id="10243" name="Rectangle 3">
            <a:extLst>
              <a:ext uri="{FF2B5EF4-FFF2-40B4-BE49-F238E27FC236}">
                <a16:creationId xmlns:a16="http://schemas.microsoft.com/office/drawing/2014/main" id="{AFD4210B-CAE9-43C6-AA93-EB9D7AC3BE79}"/>
              </a:ext>
            </a:extLst>
          </p:cNvPr>
          <p:cNvSpPr>
            <a:spLocks noGrp="1" noChangeArrowheads="1"/>
          </p:cNvSpPr>
          <p:nvPr>
            <p:ph type="body" idx="1"/>
          </p:nvPr>
        </p:nvSpPr>
        <p:spPr>
          <a:xfrm>
            <a:off x="0" y="914400"/>
            <a:ext cx="8915400" cy="5715000"/>
          </a:xfrm>
        </p:spPr>
        <p:txBody>
          <a:bodyPr/>
          <a:lstStyle/>
          <a:p>
            <a:pPr eaLnBrk="1" hangingPunct="1"/>
            <a:r>
              <a:rPr lang="en-US" altLang="en-US" dirty="0"/>
              <a:t>Occurs when, in a crystalline solid, one element substitutes for another..</a:t>
            </a:r>
          </a:p>
          <a:p>
            <a:pPr eaLnBrk="1" hangingPunct="1"/>
            <a:r>
              <a:rPr lang="en-US" altLang="en-US" dirty="0"/>
              <a:t>The garnet is a solid solution of the following end member components:</a:t>
            </a:r>
          </a:p>
          <a:p>
            <a:pPr eaLnBrk="1" hangingPunct="1">
              <a:buFontTx/>
              <a:buNone/>
            </a:pPr>
            <a:r>
              <a:rPr lang="en-US" altLang="en-US" sz="2800" dirty="0">
                <a:latin typeface="+mj-lt"/>
              </a:rPr>
              <a:t>Pyrope - Mg</a:t>
            </a:r>
            <a:r>
              <a:rPr lang="en-US" altLang="en-US" sz="2800" baseline="-25000" dirty="0">
                <a:latin typeface="+mj-lt"/>
              </a:rPr>
              <a:t>3</a:t>
            </a:r>
            <a:r>
              <a:rPr lang="en-US" altLang="en-US" sz="2800" dirty="0">
                <a:latin typeface="+mj-lt"/>
              </a:rPr>
              <a:t>Al</a:t>
            </a:r>
            <a:r>
              <a:rPr lang="en-US" altLang="en-US" sz="2800" baseline="-25000" dirty="0">
                <a:latin typeface="+mj-lt"/>
              </a:rPr>
              <a:t>2</a:t>
            </a:r>
            <a:r>
              <a:rPr lang="en-US" altLang="en-US" sz="2800" dirty="0">
                <a:latin typeface="+mj-lt"/>
              </a:rPr>
              <a:t>Si</a:t>
            </a:r>
            <a:r>
              <a:rPr lang="en-US" altLang="en-US" sz="2800" baseline="-25000" dirty="0">
                <a:latin typeface="+mj-lt"/>
              </a:rPr>
              <a:t>3</a:t>
            </a:r>
            <a:r>
              <a:rPr lang="en-US" altLang="en-US" sz="2800" dirty="0">
                <a:latin typeface="+mj-lt"/>
              </a:rPr>
              <a:t>O</a:t>
            </a:r>
            <a:r>
              <a:rPr lang="en-US" altLang="en-US" sz="2800" baseline="-25000" dirty="0">
                <a:latin typeface="+mj-lt"/>
              </a:rPr>
              <a:t>12</a:t>
            </a:r>
            <a:r>
              <a:rPr lang="en-US" altLang="en-US" sz="2800" dirty="0">
                <a:latin typeface="+mj-lt"/>
              </a:rPr>
              <a:t>; Spessartine - Mn</a:t>
            </a:r>
            <a:r>
              <a:rPr lang="en-US" altLang="en-US" sz="2800" baseline="-25000" dirty="0">
                <a:latin typeface="+mj-lt"/>
              </a:rPr>
              <a:t>3</a:t>
            </a:r>
            <a:r>
              <a:rPr lang="en-US" altLang="en-US" sz="2800" dirty="0">
                <a:latin typeface="+mj-lt"/>
              </a:rPr>
              <a:t>Al</a:t>
            </a:r>
            <a:r>
              <a:rPr lang="en-US" altLang="en-US" sz="2800" baseline="-25000" dirty="0">
                <a:latin typeface="+mj-lt"/>
              </a:rPr>
              <a:t>2</a:t>
            </a:r>
            <a:r>
              <a:rPr lang="en-US" altLang="en-US" sz="2800" dirty="0">
                <a:latin typeface="+mj-lt"/>
              </a:rPr>
              <a:t>Si</a:t>
            </a:r>
            <a:r>
              <a:rPr lang="en-US" altLang="en-US" sz="2800" baseline="-25000" dirty="0">
                <a:latin typeface="+mj-lt"/>
              </a:rPr>
              <a:t>3</a:t>
            </a:r>
            <a:r>
              <a:rPr lang="en-US" altLang="en-US" sz="2800" dirty="0">
                <a:latin typeface="+mj-lt"/>
              </a:rPr>
              <a:t>O</a:t>
            </a:r>
            <a:r>
              <a:rPr lang="en-US" altLang="en-US" sz="2800" baseline="-25000" dirty="0">
                <a:latin typeface="+mj-lt"/>
              </a:rPr>
              <a:t>12</a:t>
            </a:r>
            <a:r>
              <a:rPr lang="en-US" altLang="en-US" sz="2800" dirty="0">
                <a:latin typeface="+mj-lt"/>
              </a:rPr>
              <a:t>;</a:t>
            </a:r>
          </a:p>
          <a:p>
            <a:pPr eaLnBrk="1" hangingPunct="1">
              <a:buFontTx/>
              <a:buNone/>
            </a:pPr>
            <a:r>
              <a:rPr lang="en-US" altLang="en-US" sz="2800" dirty="0">
                <a:latin typeface="+mj-lt"/>
              </a:rPr>
              <a:t>Almandine - Fe</a:t>
            </a:r>
            <a:r>
              <a:rPr lang="en-US" altLang="en-US" sz="2800" baseline="-25000" dirty="0">
                <a:latin typeface="+mj-lt"/>
              </a:rPr>
              <a:t>3</a:t>
            </a:r>
            <a:r>
              <a:rPr lang="en-US" altLang="en-US" sz="2800" dirty="0">
                <a:latin typeface="+mj-lt"/>
              </a:rPr>
              <a:t>Al</a:t>
            </a:r>
            <a:r>
              <a:rPr lang="en-US" altLang="en-US" sz="2800" baseline="-25000" dirty="0">
                <a:latin typeface="+mj-lt"/>
              </a:rPr>
              <a:t>2</a:t>
            </a:r>
            <a:r>
              <a:rPr lang="en-US" altLang="en-US" sz="2800" dirty="0">
                <a:latin typeface="+mj-lt"/>
              </a:rPr>
              <a:t>Si</a:t>
            </a:r>
            <a:r>
              <a:rPr lang="en-US" altLang="en-US" sz="2800" baseline="-25000" dirty="0">
                <a:latin typeface="+mj-lt"/>
              </a:rPr>
              <a:t>3</a:t>
            </a:r>
            <a:r>
              <a:rPr lang="en-US" altLang="en-US" sz="2800" dirty="0">
                <a:latin typeface="+mj-lt"/>
              </a:rPr>
              <a:t>O</a:t>
            </a:r>
            <a:r>
              <a:rPr lang="en-US" altLang="en-US" sz="2800" baseline="-25000" dirty="0">
                <a:latin typeface="+mj-lt"/>
              </a:rPr>
              <a:t>12</a:t>
            </a:r>
            <a:r>
              <a:rPr lang="en-US" altLang="en-US" sz="2800" dirty="0">
                <a:latin typeface="+mj-lt"/>
              </a:rPr>
              <a:t>.</a:t>
            </a:r>
            <a:endParaRPr lang="en-US" altLang="en-US" sz="2800" baseline="-25000" dirty="0">
              <a:latin typeface="+mj-lt"/>
            </a:endParaRPr>
          </a:p>
        </p:txBody>
      </p:sp>
      <p:pic>
        <p:nvPicPr>
          <p:cNvPr id="3" name="Picture 2">
            <a:extLst>
              <a:ext uri="{FF2B5EF4-FFF2-40B4-BE49-F238E27FC236}">
                <a16:creationId xmlns:a16="http://schemas.microsoft.com/office/drawing/2014/main" id="{D4F5DCDE-3934-4AED-AABE-DDE8DD07FF88}"/>
              </a:ext>
            </a:extLst>
          </p:cNvPr>
          <p:cNvPicPr>
            <a:picLocks noChangeAspect="1"/>
          </p:cNvPicPr>
          <p:nvPr/>
        </p:nvPicPr>
        <p:blipFill>
          <a:blip r:embed="rId3"/>
          <a:stretch>
            <a:fillRect/>
          </a:stretch>
        </p:blipFill>
        <p:spPr>
          <a:xfrm>
            <a:off x="5943600" y="4049804"/>
            <a:ext cx="3200400" cy="280819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8B35B33C-F0EE-42F3-A733-8BB3B95B1F3F}"/>
              </a:ext>
            </a:extLst>
          </p:cNvPr>
          <p:cNvSpPr>
            <a:spLocks noGrp="1" noChangeArrowheads="1"/>
          </p:cNvSpPr>
          <p:nvPr>
            <p:ph type="title"/>
          </p:nvPr>
        </p:nvSpPr>
        <p:spPr/>
        <p:txBody>
          <a:bodyPr/>
          <a:lstStyle/>
          <a:p>
            <a:r>
              <a:rPr lang="en-US" altLang="en-US" dirty="0"/>
              <a:t>Trace elements (Camouflage)</a:t>
            </a:r>
          </a:p>
        </p:txBody>
      </p:sp>
      <p:sp>
        <p:nvSpPr>
          <p:cNvPr id="31747" name="Rectangle 3">
            <a:extLst>
              <a:ext uri="{FF2B5EF4-FFF2-40B4-BE49-F238E27FC236}">
                <a16:creationId xmlns:a16="http://schemas.microsoft.com/office/drawing/2014/main" id="{D1704A81-6C03-460B-978B-F0CB3BE5A685}"/>
              </a:ext>
            </a:extLst>
          </p:cNvPr>
          <p:cNvSpPr>
            <a:spLocks noGrp="1" noChangeArrowheads="1"/>
          </p:cNvSpPr>
          <p:nvPr>
            <p:ph type="body" idx="1"/>
          </p:nvPr>
        </p:nvSpPr>
        <p:spPr/>
        <p:txBody>
          <a:bodyPr/>
          <a:lstStyle/>
          <a:p>
            <a:r>
              <a:rPr lang="en-US" altLang="en-US" dirty="0"/>
              <a:t>Occurs when the minor element has the same charge and similar ionic radius as the major element (same ionic potential; no preference).</a:t>
            </a:r>
          </a:p>
          <a:p>
            <a:r>
              <a:rPr lang="en-US" altLang="en-US" dirty="0"/>
              <a:t>Zr</a:t>
            </a:r>
            <a:r>
              <a:rPr lang="en-US" altLang="en-US" baseline="30000" dirty="0"/>
              <a:t>4+</a:t>
            </a:r>
            <a:r>
              <a:rPr lang="en-US" altLang="en-US" dirty="0"/>
              <a:t> (0.80 Å); Hf</a:t>
            </a:r>
            <a:r>
              <a:rPr lang="en-US" altLang="en-US" baseline="30000" dirty="0"/>
              <a:t>4+</a:t>
            </a:r>
            <a:r>
              <a:rPr lang="en-US" altLang="en-US" dirty="0"/>
              <a:t> (0.79 Å)</a:t>
            </a:r>
          </a:p>
          <a:p>
            <a:r>
              <a:rPr lang="en-US" altLang="en-US" dirty="0"/>
              <a:t>Hf usually does not form its own mineral; it is camouflaged in zircon</a:t>
            </a:r>
          </a:p>
        </p:txBody>
      </p:sp>
      <p:sp>
        <p:nvSpPr>
          <p:cNvPr id="4" name="Rectangle 2">
            <a:extLst>
              <a:ext uri="{FF2B5EF4-FFF2-40B4-BE49-F238E27FC236}">
                <a16:creationId xmlns:a16="http://schemas.microsoft.com/office/drawing/2014/main" id="{9DE2756F-2AF5-4E4A-891A-94B2B49AA1F9}"/>
              </a:ext>
            </a:extLst>
          </p:cNvPr>
          <p:cNvSpPr txBox="1">
            <a:spLocks noChangeArrowheads="1"/>
          </p:cNvSpPr>
          <p:nvPr/>
        </p:nvSpPr>
        <p:spPr bwMode="auto">
          <a:xfrm>
            <a:off x="5943600" y="6260224"/>
            <a:ext cx="35814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pPr eaLnBrk="1" hangingPunct="1"/>
            <a:r>
              <a:rPr lang="en-US" altLang="en-US" sz="1600" kern="0" dirty="0"/>
              <a:t>Source: Faure, Chapter-8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55070CB0-03DE-40C1-AC41-42A8FCA0E26F}"/>
              </a:ext>
            </a:extLst>
          </p:cNvPr>
          <p:cNvSpPr>
            <a:spLocks noGrp="1" noChangeArrowheads="1"/>
          </p:cNvSpPr>
          <p:nvPr>
            <p:ph type="title"/>
          </p:nvPr>
        </p:nvSpPr>
        <p:spPr>
          <a:xfrm>
            <a:off x="685800" y="0"/>
            <a:ext cx="7772400" cy="1143000"/>
          </a:xfrm>
        </p:spPr>
        <p:txBody>
          <a:bodyPr/>
          <a:lstStyle/>
          <a:p>
            <a:r>
              <a:rPr lang="en-US" altLang="en-US" dirty="0"/>
              <a:t>CAPTURE</a:t>
            </a:r>
          </a:p>
        </p:txBody>
      </p:sp>
      <p:sp>
        <p:nvSpPr>
          <p:cNvPr id="32771" name="Rectangle 3">
            <a:extLst>
              <a:ext uri="{FF2B5EF4-FFF2-40B4-BE49-F238E27FC236}">
                <a16:creationId xmlns:a16="http://schemas.microsoft.com/office/drawing/2014/main" id="{14D0D63F-BB1B-4533-BBFA-40BD8806BCA8}"/>
              </a:ext>
            </a:extLst>
          </p:cNvPr>
          <p:cNvSpPr>
            <a:spLocks noGrp="1" noChangeArrowheads="1"/>
          </p:cNvSpPr>
          <p:nvPr>
            <p:ph type="body" idx="1"/>
          </p:nvPr>
        </p:nvSpPr>
        <p:spPr>
          <a:xfrm>
            <a:off x="0" y="1295400"/>
            <a:ext cx="9067800" cy="4724400"/>
          </a:xfrm>
        </p:spPr>
        <p:txBody>
          <a:bodyPr/>
          <a:lstStyle/>
          <a:p>
            <a:pPr algn="just"/>
            <a:r>
              <a:rPr lang="en-US" altLang="en-US" dirty="0"/>
              <a:t>Occurs when a minor element enters a crystal preferentially to the major element because it has a higher ionic potential than the major element.</a:t>
            </a:r>
          </a:p>
          <a:p>
            <a:pPr algn="just"/>
            <a:r>
              <a:rPr lang="en-US" altLang="en-US" dirty="0"/>
              <a:t>For example, K-feldspar captures Ba</a:t>
            </a:r>
            <a:r>
              <a:rPr lang="en-US" altLang="en-US" baseline="30000" dirty="0"/>
              <a:t>2+</a:t>
            </a:r>
            <a:r>
              <a:rPr lang="en-US" altLang="en-US" dirty="0"/>
              <a:t> (1.44 Å; Z/r = 1.39) or Sr</a:t>
            </a:r>
            <a:r>
              <a:rPr lang="en-US" altLang="en-US" baseline="30000" dirty="0"/>
              <a:t>2+</a:t>
            </a:r>
            <a:r>
              <a:rPr lang="en-US" altLang="en-US" dirty="0"/>
              <a:t> (1.21 Å; Z/r = 1.65) in place of K</a:t>
            </a:r>
            <a:r>
              <a:rPr lang="en-US" altLang="en-US" baseline="30000" dirty="0"/>
              <a:t>+</a:t>
            </a:r>
            <a:r>
              <a:rPr lang="en-US" altLang="en-US" dirty="0"/>
              <a:t> (1.46 Å, Z/r = 0.68).</a:t>
            </a:r>
          </a:p>
          <a:p>
            <a:pPr algn="just"/>
            <a:r>
              <a:rPr lang="en-US" altLang="en-US" dirty="0"/>
              <a:t>Requires coupled substitution to balance charge: </a:t>
            </a:r>
            <a:r>
              <a:rPr lang="en-US" altLang="en-US" dirty="0">
                <a:solidFill>
                  <a:srgbClr val="0070C0"/>
                </a:solidFill>
              </a:rPr>
              <a:t>K</a:t>
            </a:r>
            <a:r>
              <a:rPr lang="en-US" altLang="en-US" baseline="30000" dirty="0">
                <a:solidFill>
                  <a:srgbClr val="0070C0"/>
                </a:solidFill>
              </a:rPr>
              <a:t>+ </a:t>
            </a:r>
            <a:r>
              <a:rPr lang="en-US" altLang="en-US" dirty="0">
                <a:solidFill>
                  <a:srgbClr val="0070C0"/>
                </a:solidFill>
              </a:rPr>
              <a:t>+ Si</a:t>
            </a:r>
            <a:r>
              <a:rPr lang="en-US" altLang="en-US" baseline="30000" dirty="0">
                <a:solidFill>
                  <a:srgbClr val="0070C0"/>
                </a:solidFill>
              </a:rPr>
              <a:t>4+</a:t>
            </a:r>
            <a:r>
              <a:rPr lang="en-US" altLang="en-US" dirty="0">
                <a:solidFill>
                  <a:srgbClr val="0070C0"/>
                </a:solidFill>
              </a:rPr>
              <a:t> </a:t>
            </a:r>
            <a:r>
              <a:rPr lang="en-US" altLang="en-US" dirty="0">
                <a:solidFill>
                  <a:srgbClr val="0070C0"/>
                </a:solidFill>
                <a:sym typeface="Symbol" panose="05050102010706020507" pitchFamily="18" charset="2"/>
              </a:rPr>
              <a:t> Sr</a:t>
            </a:r>
            <a:r>
              <a:rPr lang="en-US" altLang="en-US" baseline="30000" dirty="0">
                <a:solidFill>
                  <a:srgbClr val="0070C0"/>
                </a:solidFill>
                <a:sym typeface="Symbol" panose="05050102010706020507" pitchFamily="18" charset="2"/>
              </a:rPr>
              <a:t>2+</a:t>
            </a:r>
            <a:r>
              <a:rPr lang="en-US" altLang="en-US" dirty="0">
                <a:solidFill>
                  <a:srgbClr val="0070C0"/>
                </a:solidFill>
                <a:sym typeface="Symbol" panose="05050102010706020507" pitchFamily="18" charset="2"/>
              </a:rPr>
              <a:t> (Ba</a:t>
            </a:r>
            <a:r>
              <a:rPr lang="en-US" altLang="en-US" baseline="30000" dirty="0">
                <a:solidFill>
                  <a:srgbClr val="0070C0"/>
                </a:solidFill>
                <a:sym typeface="Symbol" panose="05050102010706020507" pitchFamily="18" charset="2"/>
              </a:rPr>
              <a:t>2+</a:t>
            </a:r>
            <a:r>
              <a:rPr lang="en-US" altLang="en-US" dirty="0">
                <a:solidFill>
                  <a:srgbClr val="0070C0"/>
                </a:solidFill>
                <a:sym typeface="Symbol" panose="05050102010706020507" pitchFamily="18" charset="2"/>
              </a:rPr>
              <a:t>) + Al</a:t>
            </a:r>
            <a:r>
              <a:rPr lang="en-US" altLang="en-US" baseline="30000" dirty="0">
                <a:solidFill>
                  <a:srgbClr val="0070C0"/>
                </a:solidFill>
                <a:sym typeface="Symbol" panose="05050102010706020507" pitchFamily="18" charset="2"/>
              </a:rPr>
              <a:t>3+</a:t>
            </a:r>
            <a:endParaRPr lang="en-US" altLang="en-US" dirty="0">
              <a:solidFill>
                <a:srgbClr val="0070C0"/>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8396DDA7-6918-442C-AD05-A8E4A9C4B141}"/>
              </a:ext>
            </a:extLst>
          </p:cNvPr>
          <p:cNvSpPr>
            <a:spLocks noGrp="1" noChangeArrowheads="1"/>
          </p:cNvSpPr>
          <p:nvPr>
            <p:ph type="title"/>
          </p:nvPr>
        </p:nvSpPr>
        <p:spPr/>
        <p:txBody>
          <a:bodyPr/>
          <a:lstStyle/>
          <a:p>
            <a:r>
              <a:rPr lang="en-US" altLang="en-US"/>
              <a:t>ADMISSION</a:t>
            </a:r>
          </a:p>
        </p:txBody>
      </p:sp>
      <p:sp>
        <p:nvSpPr>
          <p:cNvPr id="33795" name="Rectangle 3">
            <a:extLst>
              <a:ext uri="{FF2B5EF4-FFF2-40B4-BE49-F238E27FC236}">
                <a16:creationId xmlns:a16="http://schemas.microsoft.com/office/drawing/2014/main" id="{F4809BA4-CD1A-44B5-8A24-E6542E7FEC33}"/>
              </a:ext>
            </a:extLst>
          </p:cNvPr>
          <p:cNvSpPr>
            <a:spLocks noGrp="1" noChangeArrowheads="1"/>
          </p:cNvSpPr>
          <p:nvPr>
            <p:ph type="body" idx="1"/>
          </p:nvPr>
        </p:nvSpPr>
        <p:spPr/>
        <p:txBody>
          <a:bodyPr/>
          <a:lstStyle/>
          <a:p>
            <a:r>
              <a:rPr lang="en-US" altLang="en-US" dirty="0"/>
              <a:t>Involves entry of a foreign ion with an ionic potential less than that of the major ion.</a:t>
            </a:r>
          </a:p>
          <a:p>
            <a:r>
              <a:rPr lang="en-US" altLang="en-US" dirty="0"/>
              <a:t>Example Rb</a:t>
            </a:r>
            <a:r>
              <a:rPr lang="en-US" altLang="en-US" baseline="30000" dirty="0"/>
              <a:t>+</a:t>
            </a:r>
            <a:r>
              <a:rPr lang="en-US" altLang="en-US" dirty="0"/>
              <a:t> (1.57 Å; Z/r = 0.637) for K</a:t>
            </a:r>
            <a:r>
              <a:rPr lang="en-US" altLang="en-US" baseline="30000" dirty="0"/>
              <a:t>+</a:t>
            </a:r>
            <a:r>
              <a:rPr lang="en-US" altLang="en-US" dirty="0"/>
              <a:t> (1.46 Å, Z/r = 0.68) in K-feldspar.</a:t>
            </a:r>
          </a:p>
        </p:txBody>
      </p:sp>
      <p:sp>
        <p:nvSpPr>
          <p:cNvPr id="4" name="Rectangle 2">
            <a:extLst>
              <a:ext uri="{FF2B5EF4-FFF2-40B4-BE49-F238E27FC236}">
                <a16:creationId xmlns:a16="http://schemas.microsoft.com/office/drawing/2014/main" id="{16DEEA7F-61BD-46F6-9E66-ABB0B67E1FDD}"/>
              </a:ext>
            </a:extLst>
          </p:cNvPr>
          <p:cNvSpPr txBox="1">
            <a:spLocks noChangeArrowheads="1"/>
          </p:cNvSpPr>
          <p:nvPr/>
        </p:nvSpPr>
        <p:spPr bwMode="auto">
          <a:xfrm>
            <a:off x="5943600" y="6260224"/>
            <a:ext cx="35814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pPr eaLnBrk="1" hangingPunct="1"/>
            <a:r>
              <a:rPr lang="en-US" altLang="en-US" sz="1600" kern="0" dirty="0"/>
              <a:t>Source: Faure, Chapter-8</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16853" y="315595"/>
            <a:ext cx="4273550" cy="5102860"/>
          </a:xfrm>
          <a:prstGeom prst="rect">
            <a:avLst/>
          </a:prstGeom>
        </p:spPr>
        <p:txBody>
          <a:bodyPr vert="horz" wrap="square" lIns="0" tIns="13970" rIns="0" bIns="0" rtlCol="0">
            <a:spAutoFit/>
          </a:bodyPr>
          <a:lstStyle/>
          <a:p>
            <a:pPr marL="380365" marR="655320" indent="-342900">
              <a:lnSpc>
                <a:spcPct val="99700"/>
              </a:lnSpc>
              <a:spcBef>
                <a:spcPts val="110"/>
              </a:spcBef>
              <a:buClr>
                <a:srgbClr val="00CC00"/>
              </a:buClr>
              <a:buSzPct val="50000"/>
              <a:buFont typeface="MingLiU_HKSCS-ExtB"/>
              <a:buChar char="●"/>
              <a:tabLst>
                <a:tab pos="380365" algn="l"/>
              </a:tabLst>
            </a:pPr>
            <a:r>
              <a:rPr sz="2800" dirty="0">
                <a:solidFill>
                  <a:srgbClr val="FF0000"/>
                </a:solidFill>
                <a:latin typeface="Times New Roman"/>
                <a:cs typeface="Times New Roman"/>
              </a:rPr>
              <a:t>Incompatible</a:t>
            </a:r>
            <a:r>
              <a:rPr sz="2800" spc="-35" dirty="0">
                <a:solidFill>
                  <a:srgbClr val="FF0000"/>
                </a:solidFill>
                <a:latin typeface="Times New Roman"/>
                <a:cs typeface="Times New Roman"/>
              </a:rPr>
              <a:t> </a:t>
            </a:r>
            <a:r>
              <a:rPr sz="2800" spc="-10" dirty="0">
                <a:latin typeface="Times New Roman"/>
                <a:cs typeface="Times New Roman"/>
              </a:rPr>
              <a:t>elements </a:t>
            </a:r>
            <a:r>
              <a:rPr sz="2800" dirty="0">
                <a:latin typeface="Times New Roman"/>
                <a:cs typeface="Times New Roman"/>
              </a:rPr>
              <a:t>commonly</a:t>
            </a:r>
            <a:r>
              <a:rPr sz="2800" spc="-15" dirty="0">
                <a:latin typeface="Times New Roman"/>
                <a:cs typeface="Times New Roman"/>
              </a:rPr>
              <a:t> </a:t>
            </a:r>
            <a:r>
              <a:rPr sz="2800" dirty="0">
                <a:latin typeface="Symbol"/>
                <a:cs typeface="Symbol"/>
              </a:rPr>
              <a:t></a:t>
            </a:r>
            <a:r>
              <a:rPr sz="2800" spc="-10" dirty="0">
                <a:latin typeface="Times New Roman"/>
                <a:cs typeface="Times New Roman"/>
              </a:rPr>
              <a:t> </a:t>
            </a:r>
            <a:r>
              <a:rPr sz="2800" spc="-25" dirty="0">
                <a:latin typeface="Times New Roman"/>
                <a:cs typeface="Times New Roman"/>
              </a:rPr>
              <a:t>two </a:t>
            </a:r>
            <a:r>
              <a:rPr sz="2800" spc="-10" dirty="0">
                <a:latin typeface="Times New Roman"/>
                <a:cs typeface="Times New Roman"/>
              </a:rPr>
              <a:t>subgroups</a:t>
            </a:r>
            <a:endParaRPr sz="2800" dirty="0">
              <a:latin typeface="Times New Roman"/>
              <a:cs typeface="Times New Roman"/>
            </a:endParaRPr>
          </a:p>
          <a:p>
            <a:pPr marL="774065" marR="211454" indent="-279400">
              <a:lnSpc>
                <a:spcPct val="100699"/>
              </a:lnSpc>
              <a:spcBef>
                <a:spcPts val="520"/>
              </a:spcBef>
              <a:tabLst>
                <a:tab pos="780415" algn="l"/>
              </a:tabLst>
            </a:pPr>
            <a:r>
              <a:rPr sz="1400" spc="-320" dirty="0">
                <a:solidFill>
                  <a:srgbClr val="FF0066"/>
                </a:solidFill>
                <a:latin typeface="MingLiU_HKSCS-ExtB"/>
                <a:cs typeface="MingLiU_HKSCS-ExtB"/>
              </a:rPr>
              <a:t>✦</a:t>
            </a:r>
            <a:r>
              <a:rPr sz="1400" dirty="0">
                <a:solidFill>
                  <a:srgbClr val="FF0066"/>
                </a:solidFill>
                <a:latin typeface="MingLiU_HKSCS-ExtB"/>
                <a:cs typeface="MingLiU_HKSCS-ExtB"/>
              </a:rPr>
              <a:t>		</a:t>
            </a:r>
            <a:r>
              <a:rPr sz="2400" dirty="0">
                <a:latin typeface="Times New Roman"/>
                <a:cs typeface="Times New Roman"/>
              </a:rPr>
              <a:t>Smaller,</a:t>
            </a:r>
            <a:r>
              <a:rPr sz="2400" spc="-80" dirty="0">
                <a:latin typeface="Times New Roman"/>
                <a:cs typeface="Times New Roman"/>
              </a:rPr>
              <a:t> </a:t>
            </a:r>
            <a:r>
              <a:rPr sz="2400" dirty="0">
                <a:latin typeface="Times New Roman"/>
                <a:cs typeface="Times New Roman"/>
              </a:rPr>
              <a:t>highly</a:t>
            </a:r>
            <a:r>
              <a:rPr sz="2400" spc="-80" dirty="0">
                <a:latin typeface="Times New Roman"/>
                <a:cs typeface="Times New Roman"/>
              </a:rPr>
              <a:t> </a:t>
            </a:r>
            <a:r>
              <a:rPr sz="2400" spc="-10" dirty="0">
                <a:latin typeface="Times New Roman"/>
                <a:cs typeface="Times New Roman"/>
              </a:rPr>
              <a:t>charged </a:t>
            </a:r>
            <a:r>
              <a:rPr sz="2400" b="1" i="1" dirty="0">
                <a:solidFill>
                  <a:srgbClr val="FF0000"/>
                </a:solidFill>
                <a:latin typeface="Times New Roman"/>
                <a:cs typeface="Times New Roman"/>
              </a:rPr>
              <a:t>high</a:t>
            </a:r>
            <a:r>
              <a:rPr sz="2400" b="1" i="1" spc="-45" dirty="0">
                <a:solidFill>
                  <a:srgbClr val="FF0000"/>
                </a:solidFill>
                <a:latin typeface="Times New Roman"/>
                <a:cs typeface="Times New Roman"/>
              </a:rPr>
              <a:t> </a:t>
            </a:r>
            <a:r>
              <a:rPr sz="2400" b="1" i="1" dirty="0">
                <a:solidFill>
                  <a:srgbClr val="FF0000"/>
                </a:solidFill>
                <a:latin typeface="Times New Roman"/>
                <a:cs typeface="Times New Roman"/>
              </a:rPr>
              <a:t>field</a:t>
            </a:r>
            <a:r>
              <a:rPr sz="2400" b="1" i="1" spc="-40" dirty="0">
                <a:solidFill>
                  <a:srgbClr val="FF0000"/>
                </a:solidFill>
                <a:latin typeface="Times New Roman"/>
                <a:cs typeface="Times New Roman"/>
              </a:rPr>
              <a:t> </a:t>
            </a:r>
            <a:r>
              <a:rPr sz="2400" b="1" i="1" dirty="0">
                <a:solidFill>
                  <a:srgbClr val="FF0000"/>
                </a:solidFill>
                <a:latin typeface="Times New Roman"/>
                <a:cs typeface="Times New Roman"/>
              </a:rPr>
              <a:t>strength</a:t>
            </a:r>
            <a:r>
              <a:rPr sz="2400" b="1" i="1" spc="-40" dirty="0">
                <a:solidFill>
                  <a:srgbClr val="FF0000"/>
                </a:solidFill>
                <a:latin typeface="Times New Roman"/>
                <a:cs typeface="Times New Roman"/>
              </a:rPr>
              <a:t> </a:t>
            </a:r>
            <a:r>
              <a:rPr sz="2400" b="1" i="1" spc="-10" dirty="0">
                <a:solidFill>
                  <a:srgbClr val="FF0000"/>
                </a:solidFill>
                <a:latin typeface="Times New Roman"/>
                <a:cs typeface="Times New Roman"/>
              </a:rPr>
              <a:t>(HFS) </a:t>
            </a:r>
            <a:r>
              <a:rPr sz="2400" b="1" i="1" dirty="0">
                <a:solidFill>
                  <a:srgbClr val="FF0000"/>
                </a:solidFill>
                <a:latin typeface="Times New Roman"/>
                <a:cs typeface="Times New Roman"/>
              </a:rPr>
              <a:t>elements</a:t>
            </a:r>
            <a:r>
              <a:rPr sz="2400" b="1" i="1" spc="-15" dirty="0">
                <a:solidFill>
                  <a:srgbClr val="FF0000"/>
                </a:solidFill>
                <a:latin typeface="Times New Roman"/>
                <a:cs typeface="Times New Roman"/>
              </a:rPr>
              <a:t> </a:t>
            </a:r>
            <a:r>
              <a:rPr sz="2400" dirty="0">
                <a:solidFill>
                  <a:srgbClr val="0070C0"/>
                </a:solidFill>
                <a:latin typeface="Times New Roman"/>
                <a:cs typeface="Times New Roman"/>
              </a:rPr>
              <a:t>(REE,</a:t>
            </a:r>
            <a:r>
              <a:rPr sz="2400" spc="-60" dirty="0">
                <a:solidFill>
                  <a:srgbClr val="0070C0"/>
                </a:solidFill>
                <a:latin typeface="Times New Roman"/>
                <a:cs typeface="Times New Roman"/>
              </a:rPr>
              <a:t> </a:t>
            </a:r>
            <a:r>
              <a:rPr sz="2400" dirty="0">
                <a:solidFill>
                  <a:srgbClr val="0070C0"/>
                </a:solidFill>
                <a:latin typeface="Times New Roman"/>
                <a:cs typeface="Times New Roman"/>
              </a:rPr>
              <a:t>Th,</a:t>
            </a:r>
            <a:r>
              <a:rPr sz="2400" spc="-20" dirty="0">
                <a:solidFill>
                  <a:srgbClr val="0070C0"/>
                </a:solidFill>
                <a:latin typeface="Times New Roman"/>
                <a:cs typeface="Times New Roman"/>
              </a:rPr>
              <a:t> </a:t>
            </a:r>
            <a:r>
              <a:rPr sz="2400" dirty="0">
                <a:solidFill>
                  <a:srgbClr val="0070C0"/>
                </a:solidFill>
                <a:latin typeface="Times New Roman"/>
                <a:cs typeface="Times New Roman"/>
              </a:rPr>
              <a:t>U,</a:t>
            </a:r>
            <a:r>
              <a:rPr sz="2400" spc="-15" dirty="0">
                <a:solidFill>
                  <a:srgbClr val="0070C0"/>
                </a:solidFill>
                <a:latin typeface="Times New Roman"/>
                <a:cs typeface="Times New Roman"/>
              </a:rPr>
              <a:t> </a:t>
            </a:r>
            <a:r>
              <a:rPr sz="2400" spc="-25" dirty="0">
                <a:solidFill>
                  <a:srgbClr val="0070C0"/>
                </a:solidFill>
                <a:latin typeface="Times New Roman"/>
                <a:cs typeface="Times New Roman"/>
              </a:rPr>
              <a:t>Ce, </a:t>
            </a:r>
            <a:r>
              <a:rPr sz="2400" dirty="0">
                <a:solidFill>
                  <a:srgbClr val="0070C0"/>
                </a:solidFill>
                <a:latin typeface="Times New Roman"/>
                <a:cs typeface="Times New Roman"/>
              </a:rPr>
              <a:t>Pb</a:t>
            </a:r>
            <a:r>
              <a:rPr sz="2400" baseline="24305" dirty="0">
                <a:solidFill>
                  <a:srgbClr val="0085CC"/>
                </a:solidFill>
                <a:latin typeface="Times New Roman"/>
                <a:cs typeface="Times New Roman"/>
              </a:rPr>
              <a:t>4+</a:t>
            </a:r>
            <a:r>
              <a:rPr sz="2400" dirty="0">
                <a:solidFill>
                  <a:srgbClr val="0070C0"/>
                </a:solidFill>
                <a:latin typeface="Times New Roman"/>
                <a:cs typeface="Times New Roman"/>
              </a:rPr>
              <a:t>,</a:t>
            </a:r>
            <a:r>
              <a:rPr sz="2400" spc="-60" dirty="0">
                <a:solidFill>
                  <a:srgbClr val="0070C0"/>
                </a:solidFill>
                <a:latin typeface="Times New Roman"/>
                <a:cs typeface="Times New Roman"/>
              </a:rPr>
              <a:t> </a:t>
            </a:r>
            <a:r>
              <a:rPr sz="2400" dirty="0">
                <a:solidFill>
                  <a:srgbClr val="0070C0"/>
                </a:solidFill>
                <a:latin typeface="Times New Roman"/>
                <a:cs typeface="Times New Roman"/>
              </a:rPr>
              <a:t>Zr,</a:t>
            </a:r>
            <a:r>
              <a:rPr sz="2400" spc="-60" dirty="0">
                <a:solidFill>
                  <a:srgbClr val="0070C0"/>
                </a:solidFill>
                <a:latin typeface="Times New Roman"/>
                <a:cs typeface="Times New Roman"/>
              </a:rPr>
              <a:t> </a:t>
            </a:r>
            <a:r>
              <a:rPr sz="2400" dirty="0">
                <a:solidFill>
                  <a:srgbClr val="0070C0"/>
                </a:solidFill>
                <a:latin typeface="Times New Roman"/>
                <a:cs typeface="Times New Roman"/>
              </a:rPr>
              <a:t>Hf,</a:t>
            </a:r>
            <a:r>
              <a:rPr sz="2400" spc="-100" dirty="0">
                <a:solidFill>
                  <a:srgbClr val="0070C0"/>
                </a:solidFill>
                <a:latin typeface="Times New Roman"/>
                <a:cs typeface="Times New Roman"/>
              </a:rPr>
              <a:t> </a:t>
            </a:r>
            <a:r>
              <a:rPr sz="2400" dirty="0">
                <a:solidFill>
                  <a:srgbClr val="0070C0"/>
                </a:solidFill>
                <a:latin typeface="Times New Roman"/>
                <a:cs typeface="Times New Roman"/>
              </a:rPr>
              <a:t>Ti,</a:t>
            </a:r>
            <a:r>
              <a:rPr sz="2400" spc="-60" dirty="0">
                <a:solidFill>
                  <a:srgbClr val="0070C0"/>
                </a:solidFill>
                <a:latin typeface="Times New Roman"/>
                <a:cs typeface="Times New Roman"/>
              </a:rPr>
              <a:t> </a:t>
            </a:r>
            <a:r>
              <a:rPr sz="2400" dirty="0">
                <a:solidFill>
                  <a:srgbClr val="0070C0"/>
                </a:solidFill>
                <a:latin typeface="Times New Roman"/>
                <a:cs typeface="Times New Roman"/>
              </a:rPr>
              <a:t>Nb,</a:t>
            </a:r>
            <a:r>
              <a:rPr sz="2400" spc="-100" dirty="0">
                <a:solidFill>
                  <a:srgbClr val="0070C0"/>
                </a:solidFill>
                <a:latin typeface="Times New Roman"/>
                <a:cs typeface="Times New Roman"/>
              </a:rPr>
              <a:t> </a:t>
            </a:r>
            <a:r>
              <a:rPr sz="2400" spc="-25" dirty="0">
                <a:solidFill>
                  <a:srgbClr val="0070C0"/>
                </a:solidFill>
                <a:latin typeface="Times New Roman"/>
                <a:cs typeface="Times New Roman"/>
              </a:rPr>
              <a:t>Ta)</a:t>
            </a:r>
            <a:endParaRPr sz="2400" dirty="0">
              <a:latin typeface="Times New Roman"/>
              <a:cs typeface="Times New Roman"/>
            </a:endParaRPr>
          </a:p>
          <a:p>
            <a:pPr marL="774065" marR="30480" indent="-279400">
              <a:lnSpc>
                <a:spcPct val="99000"/>
              </a:lnSpc>
              <a:spcBef>
                <a:spcPts val="645"/>
              </a:spcBef>
              <a:tabLst>
                <a:tab pos="780415" algn="l"/>
              </a:tabLst>
            </a:pPr>
            <a:r>
              <a:rPr sz="1400" spc="-320" dirty="0">
                <a:solidFill>
                  <a:srgbClr val="FF0066"/>
                </a:solidFill>
                <a:latin typeface="MingLiU_HKSCS-ExtB"/>
                <a:cs typeface="MingLiU_HKSCS-ExtB"/>
              </a:rPr>
              <a:t>✦</a:t>
            </a:r>
            <a:r>
              <a:rPr sz="1400" dirty="0">
                <a:solidFill>
                  <a:srgbClr val="FF0066"/>
                </a:solidFill>
                <a:latin typeface="MingLiU_HKSCS-ExtB"/>
                <a:cs typeface="MingLiU_HKSCS-ExtB"/>
              </a:rPr>
              <a:t>		</a:t>
            </a:r>
            <a:r>
              <a:rPr sz="2400" dirty="0">
                <a:latin typeface="Times New Roman"/>
                <a:cs typeface="Times New Roman"/>
              </a:rPr>
              <a:t>Low</a:t>
            </a:r>
            <a:r>
              <a:rPr sz="2400" spc="-30" dirty="0">
                <a:latin typeface="Times New Roman"/>
                <a:cs typeface="Times New Roman"/>
              </a:rPr>
              <a:t> </a:t>
            </a:r>
            <a:r>
              <a:rPr sz="2400" dirty="0">
                <a:latin typeface="Times New Roman"/>
                <a:cs typeface="Times New Roman"/>
              </a:rPr>
              <a:t>field</a:t>
            </a:r>
            <a:r>
              <a:rPr sz="2400" spc="-30" dirty="0">
                <a:latin typeface="Times New Roman"/>
                <a:cs typeface="Times New Roman"/>
              </a:rPr>
              <a:t> </a:t>
            </a:r>
            <a:r>
              <a:rPr sz="2400" dirty="0">
                <a:latin typeface="Times New Roman"/>
                <a:cs typeface="Times New Roman"/>
              </a:rPr>
              <a:t>strength</a:t>
            </a:r>
            <a:r>
              <a:rPr sz="2400" spc="-30" dirty="0">
                <a:latin typeface="Times New Roman"/>
                <a:cs typeface="Times New Roman"/>
              </a:rPr>
              <a:t> </a:t>
            </a:r>
            <a:r>
              <a:rPr sz="2400" b="1" i="1" dirty="0">
                <a:solidFill>
                  <a:srgbClr val="FF0000"/>
                </a:solidFill>
                <a:latin typeface="Times New Roman"/>
                <a:cs typeface="Times New Roman"/>
              </a:rPr>
              <a:t>large</a:t>
            </a:r>
            <a:r>
              <a:rPr sz="2400" b="1" i="1" spc="-35" dirty="0">
                <a:solidFill>
                  <a:srgbClr val="FF0000"/>
                </a:solidFill>
                <a:latin typeface="Times New Roman"/>
                <a:cs typeface="Times New Roman"/>
              </a:rPr>
              <a:t> </a:t>
            </a:r>
            <a:r>
              <a:rPr sz="2400" b="1" i="1" spc="-25" dirty="0">
                <a:solidFill>
                  <a:srgbClr val="FF0000"/>
                </a:solidFill>
                <a:latin typeface="Times New Roman"/>
                <a:cs typeface="Times New Roman"/>
              </a:rPr>
              <a:t>ion </a:t>
            </a:r>
            <a:r>
              <a:rPr sz="2400" b="1" i="1" dirty="0">
                <a:solidFill>
                  <a:srgbClr val="FF0000"/>
                </a:solidFill>
                <a:latin typeface="Times New Roman"/>
                <a:cs typeface="Times New Roman"/>
              </a:rPr>
              <a:t>lithophile</a:t>
            </a:r>
            <a:r>
              <a:rPr sz="2400" b="1" i="1" spc="-65" dirty="0">
                <a:solidFill>
                  <a:srgbClr val="FF0000"/>
                </a:solidFill>
                <a:latin typeface="Times New Roman"/>
                <a:cs typeface="Times New Roman"/>
              </a:rPr>
              <a:t> </a:t>
            </a:r>
            <a:r>
              <a:rPr sz="2400" b="1" i="1" dirty="0">
                <a:solidFill>
                  <a:srgbClr val="FF0000"/>
                </a:solidFill>
                <a:latin typeface="Times New Roman"/>
                <a:cs typeface="Times New Roman"/>
              </a:rPr>
              <a:t>(LIL)</a:t>
            </a:r>
            <a:r>
              <a:rPr sz="2400" b="1" i="1" spc="-55" dirty="0">
                <a:solidFill>
                  <a:srgbClr val="FF0000"/>
                </a:solidFill>
                <a:latin typeface="Times New Roman"/>
                <a:cs typeface="Times New Roman"/>
              </a:rPr>
              <a:t> </a:t>
            </a:r>
            <a:r>
              <a:rPr sz="2400" b="1" i="1" spc="-10" dirty="0">
                <a:solidFill>
                  <a:srgbClr val="FF0000"/>
                </a:solidFill>
                <a:latin typeface="Times New Roman"/>
                <a:cs typeface="Times New Roman"/>
              </a:rPr>
              <a:t>elements </a:t>
            </a:r>
            <a:r>
              <a:rPr sz="2400" dirty="0">
                <a:solidFill>
                  <a:srgbClr val="0070C0"/>
                </a:solidFill>
                <a:latin typeface="Times New Roman"/>
                <a:cs typeface="Times New Roman"/>
              </a:rPr>
              <a:t>(K,</a:t>
            </a:r>
            <a:r>
              <a:rPr sz="2400" spc="-20" dirty="0">
                <a:solidFill>
                  <a:srgbClr val="0070C0"/>
                </a:solidFill>
                <a:latin typeface="Times New Roman"/>
                <a:cs typeface="Times New Roman"/>
              </a:rPr>
              <a:t> </a:t>
            </a:r>
            <a:r>
              <a:rPr sz="2400" dirty="0">
                <a:solidFill>
                  <a:srgbClr val="0070C0"/>
                </a:solidFill>
                <a:latin typeface="Times New Roman"/>
                <a:cs typeface="Times New Roman"/>
              </a:rPr>
              <a:t>Rb,</a:t>
            </a:r>
            <a:r>
              <a:rPr sz="2400" spc="-15" dirty="0">
                <a:solidFill>
                  <a:srgbClr val="0070C0"/>
                </a:solidFill>
                <a:latin typeface="Times New Roman"/>
                <a:cs typeface="Times New Roman"/>
              </a:rPr>
              <a:t> </a:t>
            </a:r>
            <a:r>
              <a:rPr sz="2400" dirty="0">
                <a:solidFill>
                  <a:srgbClr val="0070C0"/>
                </a:solidFill>
                <a:latin typeface="Times New Roman"/>
                <a:cs typeface="Times New Roman"/>
              </a:rPr>
              <a:t>Cs,</a:t>
            </a:r>
            <a:r>
              <a:rPr sz="2400" spc="-20" dirty="0">
                <a:solidFill>
                  <a:srgbClr val="0070C0"/>
                </a:solidFill>
                <a:latin typeface="Times New Roman"/>
                <a:cs typeface="Times New Roman"/>
              </a:rPr>
              <a:t> </a:t>
            </a:r>
            <a:r>
              <a:rPr sz="2400" dirty="0">
                <a:solidFill>
                  <a:srgbClr val="0070C0"/>
                </a:solidFill>
                <a:latin typeface="Times New Roman"/>
                <a:cs typeface="Times New Roman"/>
              </a:rPr>
              <a:t>Ba,</a:t>
            </a:r>
            <a:r>
              <a:rPr sz="2400" spc="-15" dirty="0">
                <a:solidFill>
                  <a:srgbClr val="0070C0"/>
                </a:solidFill>
                <a:latin typeface="Times New Roman"/>
                <a:cs typeface="Times New Roman"/>
              </a:rPr>
              <a:t> </a:t>
            </a:r>
            <a:r>
              <a:rPr sz="2400" dirty="0">
                <a:solidFill>
                  <a:srgbClr val="0070C0"/>
                </a:solidFill>
                <a:latin typeface="Times New Roman"/>
                <a:cs typeface="Times New Roman"/>
              </a:rPr>
              <a:t>Pb</a:t>
            </a:r>
            <a:r>
              <a:rPr sz="2400" baseline="24305" dirty="0">
                <a:solidFill>
                  <a:srgbClr val="0085CC"/>
                </a:solidFill>
                <a:latin typeface="Times New Roman"/>
                <a:cs typeface="Times New Roman"/>
              </a:rPr>
              <a:t>2+</a:t>
            </a:r>
            <a:r>
              <a:rPr sz="2400" dirty="0">
                <a:solidFill>
                  <a:srgbClr val="0070C0"/>
                </a:solidFill>
                <a:latin typeface="Times New Roman"/>
                <a:cs typeface="Times New Roman"/>
              </a:rPr>
              <a:t>,</a:t>
            </a:r>
            <a:r>
              <a:rPr sz="2400" spc="-15" dirty="0">
                <a:solidFill>
                  <a:srgbClr val="0070C0"/>
                </a:solidFill>
                <a:latin typeface="Times New Roman"/>
                <a:cs typeface="Times New Roman"/>
              </a:rPr>
              <a:t> </a:t>
            </a:r>
            <a:r>
              <a:rPr sz="2400" spc="-25" dirty="0">
                <a:solidFill>
                  <a:srgbClr val="0070C0"/>
                </a:solidFill>
                <a:latin typeface="Times New Roman"/>
                <a:cs typeface="Times New Roman"/>
              </a:rPr>
              <a:t>Sr,</a:t>
            </a:r>
            <a:endParaRPr sz="2400" dirty="0">
              <a:latin typeface="Times New Roman"/>
              <a:cs typeface="Times New Roman"/>
            </a:endParaRPr>
          </a:p>
          <a:p>
            <a:pPr marL="774065" marR="189230">
              <a:lnSpc>
                <a:spcPct val="99000"/>
              </a:lnSpc>
              <a:spcBef>
                <a:spcPts val="50"/>
              </a:spcBef>
            </a:pPr>
            <a:r>
              <a:rPr sz="2400" dirty="0">
                <a:solidFill>
                  <a:srgbClr val="0070C0"/>
                </a:solidFill>
                <a:latin typeface="Times New Roman"/>
                <a:cs typeface="Times New Roman"/>
              </a:rPr>
              <a:t>Eu</a:t>
            </a:r>
            <a:r>
              <a:rPr sz="2400" baseline="24305" dirty="0">
                <a:solidFill>
                  <a:srgbClr val="0085CC"/>
                </a:solidFill>
                <a:latin typeface="Times New Roman"/>
                <a:cs typeface="Times New Roman"/>
              </a:rPr>
              <a:t>2+</a:t>
            </a:r>
            <a:r>
              <a:rPr sz="2400" dirty="0">
                <a:solidFill>
                  <a:srgbClr val="0070C0"/>
                </a:solidFill>
                <a:latin typeface="Times New Roman"/>
                <a:cs typeface="Times New Roman"/>
              </a:rPr>
              <a:t>)</a:t>
            </a:r>
            <a:r>
              <a:rPr sz="2400" spc="-10" dirty="0">
                <a:solidFill>
                  <a:srgbClr val="0070C0"/>
                </a:solidFill>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dirty="0">
                <a:latin typeface="Times New Roman"/>
                <a:cs typeface="Times New Roman"/>
              </a:rPr>
              <a:t>more</a:t>
            </a:r>
            <a:r>
              <a:rPr sz="2400" spc="-15" dirty="0">
                <a:latin typeface="Times New Roman"/>
                <a:cs typeface="Times New Roman"/>
              </a:rPr>
              <a:t> </a:t>
            </a:r>
            <a:r>
              <a:rPr sz="2400" spc="-10" dirty="0">
                <a:latin typeface="Times New Roman"/>
                <a:cs typeface="Times New Roman"/>
              </a:rPr>
              <a:t>mobile, </a:t>
            </a:r>
            <a:r>
              <a:rPr sz="2400" dirty="0">
                <a:latin typeface="Times New Roman"/>
                <a:cs typeface="Times New Roman"/>
              </a:rPr>
              <a:t>particularly</a:t>
            </a:r>
            <a:r>
              <a:rPr sz="2400" spc="-15" dirty="0">
                <a:latin typeface="Times New Roman"/>
                <a:cs typeface="Times New Roman"/>
              </a:rPr>
              <a:t> </a:t>
            </a:r>
            <a:r>
              <a:rPr sz="2400" dirty="0">
                <a:latin typeface="Times New Roman"/>
                <a:cs typeface="Times New Roman"/>
              </a:rPr>
              <a:t>if</a:t>
            </a:r>
            <a:r>
              <a:rPr sz="2400" spc="-15" dirty="0">
                <a:latin typeface="Times New Roman"/>
                <a:cs typeface="Times New Roman"/>
              </a:rPr>
              <a:t> </a:t>
            </a:r>
            <a:r>
              <a:rPr sz="2400" dirty="0">
                <a:latin typeface="Times New Roman"/>
                <a:cs typeface="Times New Roman"/>
              </a:rPr>
              <a:t>a</a:t>
            </a:r>
            <a:r>
              <a:rPr sz="2400" spc="-20" dirty="0">
                <a:latin typeface="Times New Roman"/>
                <a:cs typeface="Times New Roman"/>
              </a:rPr>
              <a:t> </a:t>
            </a:r>
            <a:r>
              <a:rPr sz="2400" dirty="0">
                <a:latin typeface="Times New Roman"/>
                <a:cs typeface="Times New Roman"/>
              </a:rPr>
              <a:t>fluid</a:t>
            </a:r>
            <a:r>
              <a:rPr sz="2400" spc="-15" dirty="0">
                <a:latin typeface="Times New Roman"/>
                <a:cs typeface="Times New Roman"/>
              </a:rPr>
              <a:t> </a:t>
            </a:r>
            <a:r>
              <a:rPr sz="2400" spc="-10" dirty="0">
                <a:latin typeface="Times New Roman"/>
                <a:cs typeface="Times New Roman"/>
              </a:rPr>
              <a:t>phase </a:t>
            </a:r>
            <a:r>
              <a:rPr sz="2400" dirty="0">
                <a:latin typeface="Times New Roman"/>
                <a:cs typeface="Times New Roman"/>
              </a:rPr>
              <a:t>is</a:t>
            </a:r>
            <a:r>
              <a:rPr sz="2400" spc="-15" dirty="0">
                <a:latin typeface="Times New Roman"/>
                <a:cs typeface="Times New Roman"/>
              </a:rPr>
              <a:t> </a:t>
            </a:r>
            <a:r>
              <a:rPr sz="2400" spc="-10" dirty="0">
                <a:latin typeface="Times New Roman"/>
                <a:cs typeface="Times New Roman"/>
              </a:rPr>
              <a:t>involved</a:t>
            </a:r>
            <a:endParaRPr sz="2400" dirty="0">
              <a:latin typeface="Times New Roman"/>
              <a:cs typeface="Times New Roman"/>
            </a:endParaRPr>
          </a:p>
        </p:txBody>
      </p:sp>
      <p:pic>
        <p:nvPicPr>
          <p:cNvPr id="3" name="object 3"/>
          <p:cNvPicPr/>
          <p:nvPr/>
        </p:nvPicPr>
        <p:blipFill>
          <a:blip r:embed="rId2" cstate="print"/>
          <a:stretch>
            <a:fillRect/>
          </a:stretch>
        </p:blipFill>
        <p:spPr>
          <a:xfrm>
            <a:off x="4687480" y="152401"/>
            <a:ext cx="4456518" cy="6627811"/>
          </a:xfrm>
          <a:prstGeom prst="rect">
            <a:avLst/>
          </a:prstGeom>
        </p:spPr>
      </p:pic>
    </p:spTree>
    <p:extLst>
      <p:ext uri="{BB962C8B-B14F-4D97-AF65-F5344CB8AC3E}">
        <p14:creationId xmlns:p14="http://schemas.microsoft.com/office/powerpoint/2010/main" val="18848127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C4E7E-4AB3-40A2-9E28-3D2F6E5ECCA6}"/>
              </a:ext>
            </a:extLst>
          </p:cNvPr>
          <p:cNvSpPr>
            <a:spLocks noGrp="1"/>
          </p:cNvSpPr>
          <p:nvPr>
            <p:ph type="title"/>
          </p:nvPr>
        </p:nvSpPr>
        <p:spPr>
          <a:xfrm>
            <a:off x="457200" y="-228600"/>
            <a:ext cx="8229600" cy="1143000"/>
          </a:xfrm>
        </p:spPr>
        <p:txBody>
          <a:bodyPr/>
          <a:lstStyle/>
          <a:p>
            <a:r>
              <a:rPr lang="en-IN" dirty="0"/>
              <a:t>REEs in pegmatite veins</a:t>
            </a:r>
          </a:p>
        </p:txBody>
      </p:sp>
      <p:pic>
        <p:nvPicPr>
          <p:cNvPr id="1026" name="Picture 2" descr="figure 3">
            <a:extLst>
              <a:ext uri="{FF2B5EF4-FFF2-40B4-BE49-F238E27FC236}">
                <a16:creationId xmlns:a16="http://schemas.microsoft.com/office/drawing/2014/main" id="{F8DA7EEB-0C6B-419A-AED6-A9D3CA093C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917028"/>
            <a:ext cx="4572000" cy="580059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675243E-AA95-48D6-9203-58F7F4D13D98}"/>
              </a:ext>
            </a:extLst>
          </p:cNvPr>
          <p:cNvSpPr txBox="1"/>
          <p:nvPr/>
        </p:nvSpPr>
        <p:spPr>
          <a:xfrm>
            <a:off x="5105400" y="5486400"/>
            <a:ext cx="3581400" cy="923330"/>
          </a:xfrm>
          <a:prstGeom prst="rect">
            <a:avLst/>
          </a:prstGeom>
          <a:noFill/>
        </p:spPr>
        <p:txBody>
          <a:bodyPr wrap="square">
            <a:spAutoFit/>
          </a:bodyPr>
          <a:lstStyle/>
          <a:p>
            <a:r>
              <a:rPr lang="en-US" b="0" i="0" dirty="0">
                <a:solidFill>
                  <a:srgbClr val="222222"/>
                </a:solidFill>
                <a:effectLst/>
                <a:latin typeface="Merriweather" panose="00000500000000000000" pitchFamily="2" charset="0"/>
              </a:rPr>
              <a:t>Sporadic mineralization (black tourmaline, tin, Nb–Ta) in red colour</a:t>
            </a:r>
            <a:endParaRPr lang="en-IN" dirty="0"/>
          </a:p>
        </p:txBody>
      </p:sp>
    </p:spTree>
    <p:extLst>
      <p:ext uri="{BB962C8B-B14F-4D97-AF65-F5344CB8AC3E}">
        <p14:creationId xmlns:p14="http://schemas.microsoft.com/office/powerpoint/2010/main" val="25400671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2690" name="Rectangle 2"/>
          <p:cNvSpPr>
            <a:spLocks noGrp="1" noChangeArrowheads="1"/>
          </p:cNvSpPr>
          <p:nvPr>
            <p:ph type="title"/>
          </p:nvPr>
        </p:nvSpPr>
        <p:spPr>
          <a:xfrm>
            <a:off x="685800" y="381000"/>
            <a:ext cx="7772400" cy="457200"/>
          </a:xfrm>
        </p:spPr>
        <p:txBody>
          <a:bodyPr/>
          <a:lstStyle/>
          <a:p>
            <a:pPr eaLnBrk="1" hangingPunct="1">
              <a:defRPr/>
            </a:pPr>
            <a:r>
              <a:rPr lang="en-US" sz="2400">
                <a:solidFill>
                  <a:schemeClr val="tx1"/>
                </a:solidFill>
              </a:rPr>
              <a:t>Partition coefficient or Distribution coefficient - 1</a:t>
            </a:r>
          </a:p>
        </p:txBody>
      </p:sp>
      <p:sp>
        <p:nvSpPr>
          <p:cNvPr id="33795" name="Rectangle 3"/>
          <p:cNvSpPr>
            <a:spLocks noGrp="1" noChangeArrowheads="1"/>
          </p:cNvSpPr>
          <p:nvPr>
            <p:ph type="body" idx="1"/>
          </p:nvPr>
        </p:nvSpPr>
        <p:spPr>
          <a:xfrm>
            <a:off x="685800" y="990600"/>
            <a:ext cx="7772400" cy="5105400"/>
          </a:xfrm>
        </p:spPr>
        <p:txBody>
          <a:bodyPr/>
          <a:lstStyle/>
          <a:p>
            <a:pPr eaLnBrk="1" hangingPunct="1">
              <a:lnSpc>
                <a:spcPct val="90000"/>
              </a:lnSpc>
            </a:pPr>
            <a:r>
              <a:rPr lang="en-US" altLang="en-US" sz="2400" dirty="0"/>
              <a:t>It is assumed that at equilibrium, the ratio of concentration of a trace element in a solid phase (C</a:t>
            </a:r>
            <a:r>
              <a:rPr lang="en-US" altLang="en-US" sz="2400" baseline="-25000" dirty="0"/>
              <a:t>s) </a:t>
            </a:r>
            <a:r>
              <a:rPr lang="en-US" altLang="en-US" sz="2400" dirty="0"/>
              <a:t>to its concentration in liquid (C</a:t>
            </a:r>
            <a:r>
              <a:rPr lang="en-US" altLang="en-US" sz="2400" baseline="-25000" dirty="0"/>
              <a:t>L</a:t>
            </a:r>
            <a:r>
              <a:rPr lang="en-US" altLang="en-US" sz="2400" dirty="0"/>
              <a:t>) is a constant (D):</a:t>
            </a:r>
          </a:p>
          <a:p>
            <a:pPr eaLnBrk="1" hangingPunct="1">
              <a:lnSpc>
                <a:spcPct val="90000"/>
              </a:lnSpc>
            </a:pPr>
            <a:endParaRPr lang="en-US" altLang="en-US" sz="2400" dirty="0"/>
          </a:p>
          <a:p>
            <a:pPr eaLnBrk="1" hangingPunct="1">
              <a:lnSpc>
                <a:spcPct val="90000"/>
              </a:lnSpc>
            </a:pPr>
            <a:r>
              <a:rPr lang="en-US" altLang="en-US" sz="2400" dirty="0"/>
              <a:t>                           D= C</a:t>
            </a:r>
            <a:r>
              <a:rPr lang="en-US" altLang="en-US" sz="2400" baseline="-25000" dirty="0"/>
              <a:t>s</a:t>
            </a:r>
            <a:r>
              <a:rPr lang="en-US" altLang="en-US" sz="2400" dirty="0"/>
              <a:t>/C</a:t>
            </a:r>
            <a:r>
              <a:rPr lang="en-US" altLang="en-US" sz="2400" baseline="-25000" dirty="0"/>
              <a:t>L</a:t>
            </a:r>
          </a:p>
          <a:p>
            <a:pPr eaLnBrk="1" hangingPunct="1">
              <a:lnSpc>
                <a:spcPct val="90000"/>
              </a:lnSpc>
            </a:pPr>
            <a:r>
              <a:rPr lang="en-US" altLang="en-US" sz="2400" dirty="0"/>
              <a:t>The constant is called PARTITION COEFFICIENT or DISTRIBUTION COEFFICIENT or NERNST PARTITION COEFFICIENT.</a:t>
            </a:r>
          </a:p>
          <a:p>
            <a:pPr eaLnBrk="1" hangingPunct="1">
              <a:lnSpc>
                <a:spcPct val="90000"/>
              </a:lnSpc>
            </a:pPr>
            <a:r>
              <a:rPr lang="en-US" altLang="en-US" sz="2400" dirty="0"/>
              <a:t>It is also denoted  as K</a:t>
            </a:r>
            <a:r>
              <a:rPr lang="en-US" altLang="en-US" sz="2400" baseline="-25000" dirty="0"/>
              <a:t>D</a:t>
            </a:r>
          </a:p>
          <a:p>
            <a:pPr lvl="1" eaLnBrk="1" hangingPunct="1">
              <a:lnSpc>
                <a:spcPct val="90000"/>
              </a:lnSpc>
              <a:buFontTx/>
              <a:buNone/>
            </a:pPr>
            <a:endParaRPr lang="en-US" altLang="en-US" sz="2000" dirty="0"/>
          </a:p>
          <a:p>
            <a:pPr eaLnBrk="1" hangingPunct="1">
              <a:lnSpc>
                <a:spcPct val="90000"/>
              </a:lnSpc>
            </a:pPr>
            <a:endParaRPr lang="en-US" altLang="en-US" sz="2400" baseline="-25000" dirty="0"/>
          </a:p>
          <a:p>
            <a:pPr eaLnBrk="1" hangingPunct="1">
              <a:lnSpc>
                <a:spcPct val="90000"/>
              </a:lnSpc>
            </a:pPr>
            <a:endParaRPr lang="en-US" altLang="en-US" sz="2400" baseline="-25000" dirty="0"/>
          </a:p>
        </p:txBody>
      </p:sp>
      <p:sp>
        <p:nvSpPr>
          <p:cNvPr id="4" name="Rectangle 2">
            <a:extLst>
              <a:ext uri="{FF2B5EF4-FFF2-40B4-BE49-F238E27FC236}">
                <a16:creationId xmlns:a16="http://schemas.microsoft.com/office/drawing/2014/main" id="{B5A4DBFF-5842-414A-80B1-A88AA632403F}"/>
              </a:ext>
            </a:extLst>
          </p:cNvPr>
          <p:cNvSpPr txBox="1">
            <a:spLocks noChangeArrowheads="1"/>
          </p:cNvSpPr>
          <p:nvPr/>
        </p:nvSpPr>
        <p:spPr bwMode="auto">
          <a:xfrm>
            <a:off x="5943600" y="6260224"/>
            <a:ext cx="35814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pPr eaLnBrk="1" hangingPunct="1"/>
            <a:r>
              <a:rPr lang="en-US" altLang="en-US" sz="1600" kern="0" dirty="0"/>
              <a:t>Source: Faure, Chapter-8</a:t>
            </a:r>
          </a:p>
        </p:txBody>
      </p:sp>
    </p:spTree>
    <p:extLst>
      <p:ext uri="{BB962C8B-B14F-4D97-AF65-F5344CB8AC3E}">
        <p14:creationId xmlns:p14="http://schemas.microsoft.com/office/powerpoint/2010/main" val="6643154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3714" name="Rectangle 2"/>
          <p:cNvSpPr>
            <a:spLocks noGrp="1" noChangeArrowheads="1"/>
          </p:cNvSpPr>
          <p:nvPr>
            <p:ph type="title"/>
          </p:nvPr>
        </p:nvSpPr>
        <p:spPr>
          <a:xfrm>
            <a:off x="685800" y="304800"/>
            <a:ext cx="7772400" cy="304800"/>
          </a:xfrm>
        </p:spPr>
        <p:txBody>
          <a:bodyPr/>
          <a:lstStyle/>
          <a:p>
            <a:pPr eaLnBrk="1" hangingPunct="1">
              <a:defRPr/>
            </a:pPr>
            <a:r>
              <a:rPr lang="en-US" sz="2400"/>
              <a:t>Partition coefficient or Distribution coefficient - 2</a:t>
            </a:r>
          </a:p>
        </p:txBody>
      </p:sp>
      <p:sp>
        <p:nvSpPr>
          <p:cNvPr id="34819" name="Rectangle 3"/>
          <p:cNvSpPr>
            <a:spLocks noGrp="1" noChangeArrowheads="1"/>
          </p:cNvSpPr>
          <p:nvPr>
            <p:ph type="body" idx="1"/>
          </p:nvPr>
        </p:nvSpPr>
        <p:spPr>
          <a:xfrm>
            <a:off x="685800" y="838200"/>
            <a:ext cx="7772400" cy="5257800"/>
          </a:xfrm>
        </p:spPr>
        <p:txBody>
          <a:bodyPr/>
          <a:lstStyle/>
          <a:p>
            <a:pPr eaLnBrk="1" hangingPunct="1"/>
            <a:r>
              <a:rPr lang="en-US" altLang="en-US" sz="2800" dirty="0"/>
              <a:t>If K</a:t>
            </a:r>
            <a:r>
              <a:rPr lang="en-US" altLang="en-US" sz="2800" baseline="-25000" dirty="0"/>
              <a:t>D </a:t>
            </a:r>
            <a:r>
              <a:rPr lang="en-US" altLang="en-US" sz="2800" dirty="0"/>
              <a:t>= 1, then trace element is equally distributed between mineral and melt</a:t>
            </a:r>
          </a:p>
          <a:p>
            <a:pPr eaLnBrk="1" hangingPunct="1"/>
            <a:r>
              <a:rPr lang="en-US" altLang="en-US" sz="2800" dirty="0"/>
              <a:t>If K</a:t>
            </a:r>
            <a:r>
              <a:rPr lang="en-US" altLang="en-US" sz="2800" baseline="-25000" dirty="0"/>
              <a:t>D </a:t>
            </a:r>
            <a:r>
              <a:rPr lang="en-US" altLang="en-US" sz="2800" dirty="0"/>
              <a:t>= &gt; 1, then trace element has a ‘preference’ for mineral phase &amp; in the mineral-melt system under investigation and is a compatible trace element.</a:t>
            </a:r>
          </a:p>
          <a:p>
            <a:pPr eaLnBrk="1" hangingPunct="1"/>
            <a:r>
              <a:rPr lang="en-US" altLang="en-US" sz="2800" dirty="0"/>
              <a:t>If K</a:t>
            </a:r>
            <a:r>
              <a:rPr lang="en-US" altLang="en-US" sz="2800" baseline="-25000" dirty="0"/>
              <a:t>D </a:t>
            </a:r>
            <a:r>
              <a:rPr lang="en-US" altLang="en-US" sz="2800" dirty="0"/>
              <a:t>= &lt; 1, then trace element has a ‘preference’ for melt phase &amp; in the mineral-melt system under investigation and is a incompatible trace element.</a:t>
            </a:r>
          </a:p>
          <a:p>
            <a:pPr eaLnBrk="1" hangingPunct="1"/>
            <a:endParaRPr lang="en-US" altLang="en-US" sz="2800" dirty="0"/>
          </a:p>
        </p:txBody>
      </p:sp>
    </p:spTree>
    <p:extLst>
      <p:ext uri="{BB962C8B-B14F-4D97-AF65-F5344CB8AC3E}">
        <p14:creationId xmlns:p14="http://schemas.microsoft.com/office/powerpoint/2010/main" val="36145739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4738" name="Rectangle 2"/>
          <p:cNvSpPr>
            <a:spLocks noGrp="1" noChangeArrowheads="1"/>
          </p:cNvSpPr>
          <p:nvPr>
            <p:ph type="title"/>
          </p:nvPr>
        </p:nvSpPr>
        <p:spPr>
          <a:xfrm>
            <a:off x="685800" y="304800"/>
            <a:ext cx="7772400" cy="457200"/>
          </a:xfrm>
        </p:spPr>
        <p:txBody>
          <a:bodyPr/>
          <a:lstStyle/>
          <a:p>
            <a:pPr eaLnBrk="1" hangingPunct="1">
              <a:defRPr/>
            </a:pPr>
            <a:r>
              <a:rPr lang="en-US" sz="2800"/>
              <a:t>BULK PARTITION COEFFICIENT</a:t>
            </a:r>
          </a:p>
        </p:txBody>
      </p:sp>
      <p:sp>
        <p:nvSpPr>
          <p:cNvPr id="35843" name="Rectangle 3"/>
          <p:cNvSpPr>
            <a:spLocks noGrp="1" noChangeArrowheads="1"/>
          </p:cNvSpPr>
          <p:nvPr>
            <p:ph type="body" idx="1"/>
          </p:nvPr>
        </p:nvSpPr>
        <p:spPr>
          <a:xfrm>
            <a:off x="304800" y="1219200"/>
            <a:ext cx="8382000" cy="4953000"/>
          </a:xfrm>
        </p:spPr>
        <p:txBody>
          <a:bodyPr/>
          <a:lstStyle/>
          <a:p>
            <a:pPr algn="just" eaLnBrk="1" hangingPunct="1">
              <a:lnSpc>
                <a:spcPct val="90000"/>
              </a:lnSpc>
            </a:pPr>
            <a:r>
              <a:rPr lang="en-US" altLang="en-US" sz="2400" dirty="0"/>
              <a:t>A rock is an aggregate of minerals, so the Bulk distribution coefficient for a rock for a specific element  can be calculated from partition coefficients of constituent minerals weighed according to their proportion. It is defined by expression</a:t>
            </a:r>
          </a:p>
          <a:p>
            <a:pPr algn="just" eaLnBrk="1" hangingPunct="1">
              <a:lnSpc>
                <a:spcPct val="90000"/>
              </a:lnSpc>
            </a:pPr>
            <a:r>
              <a:rPr lang="en-US" altLang="en-US" sz="2400" dirty="0"/>
              <a:t>D</a:t>
            </a:r>
            <a:r>
              <a:rPr lang="en-US" altLang="en-US" sz="2400" i="1" baseline="-25000" dirty="0"/>
              <a:t>i</a:t>
            </a:r>
            <a:r>
              <a:rPr lang="en-US" altLang="en-US" sz="2400" baseline="-25000" dirty="0"/>
              <a:t> </a:t>
            </a:r>
            <a:r>
              <a:rPr lang="en-US" altLang="en-US" sz="2400" dirty="0"/>
              <a:t>= x</a:t>
            </a:r>
            <a:r>
              <a:rPr lang="en-US" altLang="en-US" sz="2400" baseline="-25000" dirty="0"/>
              <a:t>1</a:t>
            </a:r>
            <a:r>
              <a:rPr lang="en-US" altLang="en-US" sz="2400" dirty="0"/>
              <a:t> K</a:t>
            </a:r>
            <a:r>
              <a:rPr lang="en-US" altLang="en-US" sz="2400" baseline="-25000" dirty="0"/>
              <a:t>d1</a:t>
            </a:r>
            <a:r>
              <a:rPr lang="en-US" altLang="en-US" sz="2400" dirty="0"/>
              <a:t> + X</a:t>
            </a:r>
            <a:r>
              <a:rPr lang="en-US" altLang="en-US" sz="2400" baseline="-25000" dirty="0"/>
              <a:t>2</a:t>
            </a:r>
            <a:r>
              <a:rPr lang="en-US" altLang="en-US" sz="2400" dirty="0"/>
              <a:t>K</a:t>
            </a:r>
            <a:r>
              <a:rPr lang="en-US" altLang="en-US" sz="2400" baseline="-25000" dirty="0"/>
              <a:t>d2</a:t>
            </a:r>
            <a:r>
              <a:rPr lang="en-US" altLang="en-US" sz="2400" dirty="0"/>
              <a:t> + X</a:t>
            </a:r>
            <a:r>
              <a:rPr lang="en-US" altLang="en-US" sz="2400" baseline="-25000" dirty="0"/>
              <a:t>3</a:t>
            </a:r>
            <a:r>
              <a:rPr lang="en-US" altLang="en-US" sz="2400" dirty="0"/>
              <a:t>K </a:t>
            </a:r>
            <a:r>
              <a:rPr lang="en-US" altLang="en-US" sz="2400" baseline="-25000" dirty="0"/>
              <a:t>d3</a:t>
            </a:r>
            <a:r>
              <a:rPr lang="en-US" altLang="en-US" sz="2400" dirty="0"/>
              <a:t>…</a:t>
            </a:r>
          </a:p>
          <a:p>
            <a:pPr algn="just" eaLnBrk="1" hangingPunct="1">
              <a:lnSpc>
                <a:spcPct val="90000"/>
              </a:lnSpc>
            </a:pPr>
            <a:r>
              <a:rPr lang="en-US" altLang="en-US" sz="2400" dirty="0"/>
              <a:t>D</a:t>
            </a:r>
            <a:r>
              <a:rPr lang="en-US" altLang="en-US" sz="2400" baseline="-25000" dirty="0"/>
              <a:t>i</a:t>
            </a:r>
            <a:r>
              <a:rPr lang="en-US" altLang="en-US" sz="2400" dirty="0"/>
              <a:t> = bulk partition coefficient for element I</a:t>
            </a:r>
          </a:p>
          <a:p>
            <a:pPr algn="just" eaLnBrk="1" hangingPunct="1">
              <a:lnSpc>
                <a:spcPct val="90000"/>
              </a:lnSpc>
            </a:pPr>
            <a:r>
              <a:rPr lang="en-US" altLang="en-US" sz="2400" dirty="0"/>
              <a:t>X</a:t>
            </a:r>
            <a:r>
              <a:rPr lang="en-US" altLang="en-US" sz="2400" baseline="-25000" dirty="0"/>
              <a:t>1</a:t>
            </a:r>
            <a:r>
              <a:rPr lang="en-US" altLang="en-US" sz="2400" dirty="0"/>
              <a:t> = modal proportion of mineral 1 etc</a:t>
            </a:r>
          </a:p>
          <a:p>
            <a:pPr algn="just" eaLnBrk="1" hangingPunct="1">
              <a:lnSpc>
                <a:spcPct val="90000"/>
              </a:lnSpc>
            </a:pPr>
            <a:r>
              <a:rPr lang="en-US" altLang="en-US" sz="2400" dirty="0"/>
              <a:t>K</a:t>
            </a:r>
            <a:r>
              <a:rPr lang="en-US" altLang="en-US" sz="2400" baseline="-25000" dirty="0"/>
              <a:t>d1</a:t>
            </a:r>
            <a:r>
              <a:rPr lang="en-US" altLang="en-US" sz="2400" dirty="0"/>
              <a:t> = </a:t>
            </a:r>
            <a:r>
              <a:rPr lang="en-US" altLang="en-US" sz="2400" dirty="0" err="1"/>
              <a:t>parition</a:t>
            </a:r>
            <a:r>
              <a:rPr lang="en-US" altLang="en-US" sz="2400" dirty="0"/>
              <a:t> coefficient for element </a:t>
            </a:r>
            <a:r>
              <a:rPr lang="en-US" altLang="en-US" sz="2400" i="1" dirty="0"/>
              <a:t>i</a:t>
            </a:r>
            <a:r>
              <a:rPr lang="en-US" altLang="en-US" sz="2400" dirty="0"/>
              <a:t> in mineral1</a:t>
            </a:r>
          </a:p>
          <a:p>
            <a:pPr algn="just" eaLnBrk="1" hangingPunct="1">
              <a:lnSpc>
                <a:spcPct val="90000"/>
              </a:lnSpc>
            </a:pPr>
            <a:r>
              <a:rPr lang="en-US" altLang="en-US" sz="2400" dirty="0"/>
              <a:t>For </a:t>
            </a:r>
            <a:r>
              <a:rPr lang="en-US" altLang="en-US" sz="2400" dirty="0" err="1"/>
              <a:t>eg.</a:t>
            </a:r>
            <a:r>
              <a:rPr lang="en-US" altLang="en-US" sz="2400" dirty="0"/>
              <a:t> In a rock containing 50% olivine, 30% </a:t>
            </a:r>
            <a:r>
              <a:rPr lang="en-US" altLang="en-US" sz="2400" dirty="0" err="1"/>
              <a:t>Opx</a:t>
            </a:r>
            <a:r>
              <a:rPr lang="en-US" altLang="en-US" sz="2400" dirty="0"/>
              <a:t> &amp; 20% </a:t>
            </a:r>
            <a:r>
              <a:rPr lang="en-US" altLang="en-US" sz="2400" dirty="0" err="1"/>
              <a:t>cpx</a:t>
            </a:r>
            <a:r>
              <a:rPr lang="en-US" altLang="en-US" sz="2400" dirty="0"/>
              <a:t>, the bulk partition coefficient would be </a:t>
            </a:r>
          </a:p>
          <a:p>
            <a:pPr algn="just" eaLnBrk="1" hangingPunct="1">
              <a:lnSpc>
                <a:spcPct val="90000"/>
              </a:lnSpc>
            </a:pPr>
            <a:r>
              <a:rPr lang="en-US" altLang="en-US" sz="2400" dirty="0"/>
              <a:t>D</a:t>
            </a:r>
            <a:r>
              <a:rPr lang="en-US" altLang="en-US" sz="2400" i="1" baseline="-25000" dirty="0"/>
              <a:t>i</a:t>
            </a:r>
            <a:r>
              <a:rPr lang="en-US" altLang="en-US" sz="2400" baseline="-25000" dirty="0"/>
              <a:t> </a:t>
            </a:r>
            <a:r>
              <a:rPr lang="en-US" altLang="en-US" sz="2400" dirty="0"/>
              <a:t>= 0.5 K</a:t>
            </a:r>
            <a:r>
              <a:rPr lang="en-US" altLang="en-US" sz="2400" baseline="30000" dirty="0"/>
              <a:t>ol</a:t>
            </a:r>
            <a:r>
              <a:rPr lang="en-US" altLang="en-US" sz="2400" baseline="-25000" dirty="0"/>
              <a:t>d1</a:t>
            </a:r>
            <a:r>
              <a:rPr lang="en-US" altLang="en-US" sz="2400" dirty="0"/>
              <a:t> + 0.3K</a:t>
            </a:r>
            <a:r>
              <a:rPr lang="en-US" altLang="en-US" sz="2400" baseline="30000" dirty="0"/>
              <a:t>opx</a:t>
            </a:r>
            <a:r>
              <a:rPr lang="en-US" altLang="en-US" sz="2400" baseline="-25000" dirty="0"/>
              <a:t>d2</a:t>
            </a:r>
            <a:r>
              <a:rPr lang="en-US" altLang="en-US" sz="2400" dirty="0"/>
              <a:t> + 0.2K</a:t>
            </a:r>
            <a:r>
              <a:rPr lang="en-US" altLang="en-US" sz="2400" baseline="30000" dirty="0"/>
              <a:t>cpx</a:t>
            </a:r>
            <a:r>
              <a:rPr lang="en-US" altLang="en-US" sz="2400" dirty="0"/>
              <a:t> </a:t>
            </a:r>
            <a:r>
              <a:rPr lang="en-US" altLang="en-US" sz="2400" baseline="-25000" dirty="0"/>
              <a:t>d3</a:t>
            </a:r>
            <a:r>
              <a:rPr lang="en-US" altLang="en-US" sz="2400" dirty="0"/>
              <a:t>…</a:t>
            </a:r>
          </a:p>
          <a:p>
            <a:pPr eaLnBrk="1" hangingPunct="1">
              <a:lnSpc>
                <a:spcPct val="90000"/>
              </a:lnSpc>
            </a:pPr>
            <a:endParaRPr lang="en-US" altLang="en-US" sz="2400" baseline="-25000" dirty="0">
              <a:solidFill>
                <a:srgbClr val="FFFF00"/>
              </a:solidFill>
            </a:endParaRPr>
          </a:p>
          <a:p>
            <a:pPr eaLnBrk="1" hangingPunct="1">
              <a:lnSpc>
                <a:spcPct val="90000"/>
              </a:lnSpc>
            </a:pPr>
            <a:endParaRPr lang="en-US" altLang="en-US" sz="2400" baseline="-25000" dirty="0">
              <a:solidFill>
                <a:srgbClr val="FFFF00"/>
              </a:solidFill>
            </a:endParaRPr>
          </a:p>
        </p:txBody>
      </p:sp>
    </p:spTree>
    <p:extLst>
      <p:ext uri="{BB962C8B-B14F-4D97-AF65-F5344CB8AC3E}">
        <p14:creationId xmlns:p14="http://schemas.microsoft.com/office/powerpoint/2010/main" val="5604318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24790" y="5079683"/>
            <a:ext cx="8214995" cy="1574800"/>
          </a:xfrm>
          <a:prstGeom prst="rect">
            <a:avLst/>
          </a:prstGeom>
        </p:spPr>
        <p:txBody>
          <a:bodyPr vert="horz" wrap="square" lIns="0" tIns="15875" rIns="0" bIns="0" rtlCol="0">
            <a:spAutoFit/>
          </a:bodyPr>
          <a:lstStyle/>
          <a:p>
            <a:pPr marL="38100" marR="17780">
              <a:lnSpc>
                <a:spcPct val="99000"/>
              </a:lnSpc>
              <a:spcBef>
                <a:spcPts val="125"/>
              </a:spcBef>
            </a:pPr>
            <a:r>
              <a:rPr sz="2400" dirty="0">
                <a:latin typeface="Times New Roman"/>
                <a:cs typeface="Times New Roman"/>
              </a:rPr>
              <a:t>Example:</a:t>
            </a:r>
            <a:r>
              <a:rPr sz="2400" spc="-30" dirty="0">
                <a:latin typeface="Times New Roman"/>
                <a:cs typeface="Times New Roman"/>
              </a:rPr>
              <a:t> </a:t>
            </a:r>
            <a:r>
              <a:rPr sz="2400" dirty="0">
                <a:latin typeface="Times New Roman"/>
                <a:cs typeface="Times New Roman"/>
              </a:rPr>
              <a:t>hypothetical</a:t>
            </a:r>
            <a:r>
              <a:rPr sz="2400" spc="-30" dirty="0">
                <a:latin typeface="Times New Roman"/>
                <a:cs typeface="Times New Roman"/>
              </a:rPr>
              <a:t> </a:t>
            </a:r>
            <a:r>
              <a:rPr sz="2400" dirty="0">
                <a:latin typeface="Times New Roman"/>
                <a:cs typeface="Times New Roman"/>
              </a:rPr>
              <a:t>garnet</a:t>
            </a:r>
            <a:r>
              <a:rPr sz="2400" spc="-25" dirty="0">
                <a:latin typeface="Times New Roman"/>
                <a:cs typeface="Times New Roman"/>
              </a:rPr>
              <a:t> </a:t>
            </a:r>
            <a:r>
              <a:rPr sz="2400" dirty="0">
                <a:latin typeface="Times New Roman"/>
                <a:cs typeface="Times New Roman"/>
              </a:rPr>
              <a:t>lherzolite</a:t>
            </a:r>
            <a:r>
              <a:rPr sz="2400" spc="-30" dirty="0">
                <a:latin typeface="Times New Roman"/>
                <a:cs typeface="Times New Roman"/>
              </a:rPr>
              <a:t> </a:t>
            </a:r>
            <a:r>
              <a:rPr sz="2400" dirty="0">
                <a:latin typeface="Times New Roman"/>
                <a:cs typeface="Times New Roman"/>
              </a:rPr>
              <a:t>=</a:t>
            </a:r>
            <a:r>
              <a:rPr sz="2400" spc="-20" dirty="0">
                <a:latin typeface="Times New Roman"/>
                <a:cs typeface="Times New Roman"/>
              </a:rPr>
              <a:t> </a:t>
            </a:r>
            <a:r>
              <a:rPr sz="2400" dirty="0">
                <a:latin typeface="Times New Roman"/>
                <a:cs typeface="Times New Roman"/>
              </a:rPr>
              <a:t>60%</a:t>
            </a:r>
            <a:r>
              <a:rPr sz="2400" spc="-25" dirty="0">
                <a:latin typeface="Times New Roman"/>
                <a:cs typeface="Times New Roman"/>
              </a:rPr>
              <a:t> </a:t>
            </a:r>
            <a:r>
              <a:rPr sz="2400" dirty="0">
                <a:latin typeface="Times New Roman"/>
                <a:cs typeface="Times New Roman"/>
              </a:rPr>
              <a:t>olivine,</a:t>
            </a:r>
            <a:r>
              <a:rPr sz="2400" spc="-20" dirty="0">
                <a:latin typeface="Times New Roman"/>
                <a:cs typeface="Times New Roman"/>
              </a:rPr>
              <a:t> </a:t>
            </a:r>
            <a:r>
              <a:rPr sz="2400" spc="-25" dirty="0">
                <a:latin typeface="Times New Roman"/>
                <a:cs typeface="Times New Roman"/>
              </a:rPr>
              <a:t>25% </a:t>
            </a:r>
            <a:r>
              <a:rPr sz="2400" dirty="0">
                <a:latin typeface="Times New Roman"/>
                <a:cs typeface="Times New Roman"/>
              </a:rPr>
              <a:t>orthopyroxene,</a:t>
            </a:r>
            <a:r>
              <a:rPr sz="2400" spc="-20" dirty="0">
                <a:latin typeface="Times New Roman"/>
                <a:cs typeface="Times New Roman"/>
              </a:rPr>
              <a:t> </a:t>
            </a:r>
            <a:r>
              <a:rPr sz="2400" dirty="0">
                <a:latin typeface="Times New Roman"/>
                <a:cs typeface="Times New Roman"/>
              </a:rPr>
              <a:t>10%</a:t>
            </a:r>
            <a:r>
              <a:rPr sz="2400" spc="-20" dirty="0">
                <a:latin typeface="Times New Roman"/>
                <a:cs typeface="Times New Roman"/>
              </a:rPr>
              <a:t> </a:t>
            </a:r>
            <a:r>
              <a:rPr sz="2400" dirty="0">
                <a:latin typeface="Times New Roman"/>
                <a:cs typeface="Times New Roman"/>
              </a:rPr>
              <a:t>clinopyroxene,</a:t>
            </a:r>
            <a:r>
              <a:rPr sz="2400" spc="-15"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5%</a:t>
            </a:r>
            <a:r>
              <a:rPr sz="2400" spc="-15" dirty="0">
                <a:latin typeface="Times New Roman"/>
                <a:cs typeface="Times New Roman"/>
              </a:rPr>
              <a:t> </a:t>
            </a:r>
            <a:r>
              <a:rPr sz="2400" dirty="0">
                <a:latin typeface="Times New Roman"/>
                <a:cs typeface="Times New Roman"/>
              </a:rPr>
              <a:t>garnet</a:t>
            </a:r>
            <a:r>
              <a:rPr sz="2400" spc="-25" dirty="0">
                <a:latin typeface="Times New Roman"/>
                <a:cs typeface="Times New Roman"/>
              </a:rPr>
              <a:t> </a:t>
            </a:r>
            <a:r>
              <a:rPr sz="2400" dirty="0">
                <a:latin typeface="Times New Roman"/>
                <a:cs typeface="Times New Roman"/>
              </a:rPr>
              <a:t>(all</a:t>
            </a:r>
            <a:r>
              <a:rPr sz="2400" spc="-20" dirty="0">
                <a:latin typeface="Times New Roman"/>
                <a:cs typeface="Times New Roman"/>
              </a:rPr>
              <a:t> </a:t>
            </a:r>
            <a:r>
              <a:rPr sz="2400" dirty="0">
                <a:latin typeface="Times New Roman"/>
                <a:cs typeface="Times New Roman"/>
              </a:rPr>
              <a:t>by</a:t>
            </a:r>
            <a:r>
              <a:rPr sz="2400" spc="-30" dirty="0">
                <a:latin typeface="Times New Roman"/>
                <a:cs typeface="Times New Roman"/>
              </a:rPr>
              <a:t> </a:t>
            </a:r>
            <a:r>
              <a:rPr sz="2400" i="1" spc="-10" dirty="0">
                <a:latin typeface="Times New Roman"/>
                <a:cs typeface="Times New Roman"/>
              </a:rPr>
              <a:t>weight</a:t>
            </a:r>
            <a:r>
              <a:rPr sz="2400" spc="-10" dirty="0">
                <a:latin typeface="Times New Roman"/>
                <a:cs typeface="Times New Roman"/>
              </a:rPr>
              <a:t>), </a:t>
            </a:r>
            <a:r>
              <a:rPr sz="2400" dirty="0">
                <a:latin typeface="Times New Roman"/>
                <a:cs typeface="Times New Roman"/>
              </a:rPr>
              <a:t>using</a:t>
            </a:r>
            <a:r>
              <a:rPr sz="2400" spc="-3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in</a:t>
            </a:r>
            <a:r>
              <a:rPr sz="2400" spc="-75" dirty="0">
                <a:latin typeface="Times New Roman"/>
                <a:cs typeface="Times New Roman"/>
              </a:rPr>
              <a:t> </a:t>
            </a:r>
            <a:r>
              <a:rPr sz="2400" spc="-10" dirty="0">
                <a:latin typeface="Times New Roman"/>
                <a:cs typeface="Times New Roman"/>
              </a:rPr>
              <a:t>Table</a:t>
            </a:r>
            <a:r>
              <a:rPr sz="2400" spc="-35" dirty="0">
                <a:latin typeface="Times New Roman"/>
                <a:cs typeface="Times New Roman"/>
              </a:rPr>
              <a:t> </a:t>
            </a:r>
            <a:r>
              <a:rPr sz="2400" dirty="0">
                <a:latin typeface="Times New Roman"/>
                <a:cs typeface="Times New Roman"/>
              </a:rPr>
              <a:t>9.1,</a:t>
            </a:r>
            <a:r>
              <a:rPr sz="2400" spc="-30" dirty="0">
                <a:latin typeface="Times New Roman"/>
                <a:cs typeface="Times New Roman"/>
              </a:rPr>
              <a:t> </a:t>
            </a:r>
            <a:r>
              <a:rPr sz="2400" spc="-25" dirty="0">
                <a:latin typeface="Times New Roman"/>
                <a:cs typeface="Times New Roman"/>
              </a:rPr>
              <a:t>is:</a:t>
            </a:r>
            <a:endParaRPr sz="2400">
              <a:latin typeface="Times New Roman"/>
              <a:cs typeface="Times New Roman"/>
            </a:endParaRPr>
          </a:p>
          <a:p>
            <a:pPr marL="38100">
              <a:lnSpc>
                <a:spcPct val="100000"/>
              </a:lnSpc>
              <a:spcBef>
                <a:spcPts val="1220"/>
              </a:spcBef>
            </a:pPr>
            <a:r>
              <a:rPr sz="2000" dirty="0">
                <a:latin typeface="Times New Roman"/>
                <a:cs typeface="Times New Roman"/>
              </a:rPr>
              <a:t>D</a:t>
            </a:r>
            <a:r>
              <a:rPr sz="1950" baseline="-21367" dirty="0">
                <a:latin typeface="Times New Roman"/>
                <a:cs typeface="Times New Roman"/>
              </a:rPr>
              <a:t>Er</a:t>
            </a:r>
            <a:r>
              <a:rPr sz="1950" spc="254" baseline="-21367" dirty="0">
                <a:latin typeface="Times New Roman"/>
                <a:cs typeface="Times New Roman"/>
              </a:rPr>
              <a:t> </a:t>
            </a:r>
            <a:r>
              <a:rPr sz="2000" dirty="0">
                <a:latin typeface="Times New Roman"/>
                <a:cs typeface="Times New Roman"/>
              </a:rPr>
              <a:t>= (0.6 · 0.026) + (0.25 · 0.23) + (0.10 · 0.583)</a:t>
            </a:r>
            <a:r>
              <a:rPr sz="2000" spc="-5" dirty="0">
                <a:latin typeface="Times New Roman"/>
                <a:cs typeface="Times New Roman"/>
              </a:rPr>
              <a:t> </a:t>
            </a:r>
            <a:r>
              <a:rPr sz="2000" dirty="0">
                <a:latin typeface="Times New Roman"/>
                <a:cs typeface="Times New Roman"/>
              </a:rPr>
              <a:t>+ (0.05 · 4.7) = </a:t>
            </a:r>
            <a:r>
              <a:rPr sz="2000" spc="-10" dirty="0">
                <a:latin typeface="Times New Roman"/>
                <a:cs typeface="Times New Roman"/>
              </a:rPr>
              <a:t>0.366</a:t>
            </a:r>
            <a:endParaRPr sz="2000">
              <a:latin typeface="Times New Roman"/>
              <a:cs typeface="Times New Roman"/>
            </a:endParaRPr>
          </a:p>
        </p:txBody>
      </p:sp>
      <p:sp>
        <p:nvSpPr>
          <p:cNvPr id="3" name="object 3"/>
          <p:cNvSpPr/>
          <p:nvPr/>
        </p:nvSpPr>
        <p:spPr>
          <a:xfrm>
            <a:off x="263524" y="6375400"/>
            <a:ext cx="265430" cy="0"/>
          </a:xfrm>
          <a:custGeom>
            <a:avLst/>
            <a:gdLst/>
            <a:ahLst/>
            <a:cxnLst/>
            <a:rect l="l" t="t" r="r" b="b"/>
            <a:pathLst>
              <a:path w="265430">
                <a:moveTo>
                  <a:pt x="0" y="0"/>
                </a:moveTo>
                <a:lnTo>
                  <a:pt x="265112" y="1"/>
                </a:lnTo>
              </a:path>
            </a:pathLst>
          </a:custGeom>
          <a:ln w="9524">
            <a:solidFill>
              <a:srgbClr val="000000"/>
            </a:solidFill>
          </a:ln>
        </p:spPr>
        <p:txBody>
          <a:bodyPr wrap="square" lIns="0" tIns="0" rIns="0" bIns="0" rtlCol="0"/>
          <a:lstStyle/>
          <a:p>
            <a:endParaRPr/>
          </a:p>
        </p:txBody>
      </p:sp>
      <p:sp>
        <p:nvSpPr>
          <p:cNvPr id="4" name="object 4"/>
          <p:cNvSpPr txBox="1"/>
          <p:nvPr/>
        </p:nvSpPr>
        <p:spPr>
          <a:xfrm>
            <a:off x="1571546" y="3900588"/>
            <a:ext cx="240029" cy="302895"/>
          </a:xfrm>
          <a:prstGeom prst="rect">
            <a:avLst/>
          </a:prstGeom>
        </p:spPr>
        <p:txBody>
          <a:bodyPr vert="vert270" wrap="square" lIns="0" tIns="0" rIns="0" bIns="0" rtlCol="0">
            <a:spAutoFit/>
          </a:bodyPr>
          <a:lstStyle/>
          <a:p>
            <a:pPr marL="12700">
              <a:lnSpc>
                <a:spcPts val="1764"/>
              </a:lnSpc>
            </a:pPr>
            <a:r>
              <a:rPr sz="1500" spc="-25" dirty="0">
                <a:latin typeface="Arial MT"/>
                <a:cs typeface="Arial MT"/>
              </a:rPr>
              <a:t>are</a:t>
            </a:r>
            <a:endParaRPr sz="1500">
              <a:latin typeface="Arial MT"/>
              <a:cs typeface="Arial MT"/>
            </a:endParaRPr>
          </a:p>
        </p:txBody>
      </p:sp>
      <p:graphicFrame>
        <p:nvGraphicFramePr>
          <p:cNvPr id="5" name="object 5"/>
          <p:cNvGraphicFramePr>
            <a:graphicFrameLocks noGrp="1"/>
          </p:cNvGraphicFramePr>
          <p:nvPr/>
        </p:nvGraphicFramePr>
        <p:xfrm>
          <a:off x="949448" y="136646"/>
          <a:ext cx="7593961" cy="4716336"/>
        </p:xfrm>
        <a:graphic>
          <a:graphicData uri="http://schemas.openxmlformats.org/drawingml/2006/table">
            <a:tbl>
              <a:tblPr firstRow="1" bandRow="1">
                <a:tableStyleId>{2D5ABB26-0587-4C30-8999-92F81FD0307C}</a:tableStyleId>
              </a:tblPr>
              <a:tblGrid>
                <a:gridCol w="163195">
                  <a:extLst>
                    <a:ext uri="{9D8B030D-6E8A-4147-A177-3AD203B41FA5}">
                      <a16:colId xmlns:a16="http://schemas.microsoft.com/office/drawing/2014/main" val="20000"/>
                    </a:ext>
                  </a:extLst>
                </a:gridCol>
                <a:gridCol w="286384">
                  <a:extLst>
                    <a:ext uri="{9D8B030D-6E8A-4147-A177-3AD203B41FA5}">
                      <a16:colId xmlns:a16="http://schemas.microsoft.com/office/drawing/2014/main" val="20001"/>
                    </a:ext>
                  </a:extLst>
                </a:gridCol>
                <a:gridCol w="126364">
                  <a:extLst>
                    <a:ext uri="{9D8B030D-6E8A-4147-A177-3AD203B41FA5}">
                      <a16:colId xmlns:a16="http://schemas.microsoft.com/office/drawing/2014/main" val="20002"/>
                    </a:ext>
                  </a:extLst>
                </a:gridCol>
                <a:gridCol w="297180">
                  <a:extLst>
                    <a:ext uri="{9D8B030D-6E8A-4147-A177-3AD203B41FA5}">
                      <a16:colId xmlns:a16="http://schemas.microsoft.com/office/drawing/2014/main" val="20003"/>
                    </a:ext>
                  </a:extLst>
                </a:gridCol>
                <a:gridCol w="1865630">
                  <a:extLst>
                    <a:ext uri="{9D8B030D-6E8A-4147-A177-3AD203B41FA5}">
                      <a16:colId xmlns:a16="http://schemas.microsoft.com/office/drawing/2014/main" val="20004"/>
                    </a:ext>
                  </a:extLst>
                </a:gridCol>
                <a:gridCol w="814705">
                  <a:extLst>
                    <a:ext uri="{9D8B030D-6E8A-4147-A177-3AD203B41FA5}">
                      <a16:colId xmlns:a16="http://schemas.microsoft.com/office/drawing/2014/main" val="20005"/>
                    </a:ext>
                  </a:extLst>
                </a:gridCol>
                <a:gridCol w="840105">
                  <a:extLst>
                    <a:ext uri="{9D8B030D-6E8A-4147-A177-3AD203B41FA5}">
                      <a16:colId xmlns:a16="http://schemas.microsoft.com/office/drawing/2014/main" val="20006"/>
                    </a:ext>
                  </a:extLst>
                </a:gridCol>
                <a:gridCol w="1043304">
                  <a:extLst>
                    <a:ext uri="{9D8B030D-6E8A-4147-A177-3AD203B41FA5}">
                      <a16:colId xmlns:a16="http://schemas.microsoft.com/office/drawing/2014/main" val="20007"/>
                    </a:ext>
                  </a:extLst>
                </a:gridCol>
                <a:gridCol w="1576070">
                  <a:extLst>
                    <a:ext uri="{9D8B030D-6E8A-4147-A177-3AD203B41FA5}">
                      <a16:colId xmlns:a16="http://schemas.microsoft.com/office/drawing/2014/main" val="20008"/>
                    </a:ext>
                  </a:extLst>
                </a:gridCol>
                <a:gridCol w="398779">
                  <a:extLst>
                    <a:ext uri="{9D8B030D-6E8A-4147-A177-3AD203B41FA5}">
                      <a16:colId xmlns:a16="http://schemas.microsoft.com/office/drawing/2014/main" val="20009"/>
                    </a:ext>
                  </a:extLst>
                </a:gridCol>
                <a:gridCol w="182245">
                  <a:extLst>
                    <a:ext uri="{9D8B030D-6E8A-4147-A177-3AD203B41FA5}">
                      <a16:colId xmlns:a16="http://schemas.microsoft.com/office/drawing/2014/main" val="20010"/>
                    </a:ext>
                  </a:extLst>
                </a:gridCol>
              </a:tblGrid>
              <a:tr h="795020">
                <a:tc gridSpan="11">
                  <a:txBody>
                    <a:bodyPr/>
                    <a:lstStyle/>
                    <a:p>
                      <a:pPr marL="2547620" marR="110489" indent="-2452370">
                        <a:lnSpc>
                          <a:spcPct val="100600"/>
                        </a:lnSpc>
                        <a:spcBef>
                          <a:spcPts val="980"/>
                        </a:spcBef>
                      </a:pPr>
                      <a:r>
                        <a:rPr sz="1500" b="1" dirty="0">
                          <a:latin typeface="Arial"/>
                          <a:cs typeface="Arial"/>
                        </a:rPr>
                        <a:t>Table</a:t>
                      </a:r>
                      <a:r>
                        <a:rPr sz="1500" b="1" spc="20" dirty="0">
                          <a:latin typeface="Arial"/>
                          <a:cs typeface="Arial"/>
                        </a:rPr>
                        <a:t> </a:t>
                      </a:r>
                      <a:r>
                        <a:rPr sz="1500" b="1" dirty="0">
                          <a:latin typeface="Arial"/>
                          <a:cs typeface="Arial"/>
                        </a:rPr>
                        <a:t>9-1</a:t>
                      </a:r>
                      <a:r>
                        <a:rPr sz="1500" dirty="0">
                          <a:latin typeface="Arial MT"/>
                          <a:cs typeface="Arial MT"/>
                        </a:rPr>
                        <a:t>.</a:t>
                      </a:r>
                      <a:r>
                        <a:rPr sz="1500" spc="459" dirty="0">
                          <a:latin typeface="Arial MT"/>
                          <a:cs typeface="Arial MT"/>
                        </a:rPr>
                        <a:t> </a:t>
                      </a:r>
                      <a:r>
                        <a:rPr sz="1500" dirty="0">
                          <a:latin typeface="Arial MT"/>
                          <a:cs typeface="Arial MT"/>
                        </a:rPr>
                        <a:t>Partition</a:t>
                      </a:r>
                      <a:r>
                        <a:rPr sz="1500" spc="25" dirty="0">
                          <a:latin typeface="Arial MT"/>
                          <a:cs typeface="Arial MT"/>
                        </a:rPr>
                        <a:t> </a:t>
                      </a:r>
                      <a:r>
                        <a:rPr sz="1500" dirty="0">
                          <a:latin typeface="Arial MT"/>
                          <a:cs typeface="Arial MT"/>
                        </a:rPr>
                        <a:t>Coefficients</a:t>
                      </a:r>
                      <a:r>
                        <a:rPr sz="1500" spc="20" dirty="0">
                          <a:latin typeface="Arial MT"/>
                          <a:cs typeface="Arial MT"/>
                        </a:rPr>
                        <a:t> </a:t>
                      </a:r>
                      <a:r>
                        <a:rPr sz="1500" dirty="0">
                          <a:latin typeface="Arial MT"/>
                          <a:cs typeface="Arial MT"/>
                        </a:rPr>
                        <a:t>(C</a:t>
                      </a:r>
                      <a:r>
                        <a:rPr sz="1350" baseline="-9259" dirty="0">
                          <a:latin typeface="Arial MT"/>
                          <a:cs typeface="Arial MT"/>
                        </a:rPr>
                        <a:t>S</a:t>
                      </a:r>
                      <a:r>
                        <a:rPr sz="1350" spc="-157" baseline="-9259" dirty="0">
                          <a:latin typeface="Arial MT"/>
                          <a:cs typeface="Arial MT"/>
                        </a:rPr>
                        <a:t> </a:t>
                      </a:r>
                      <a:r>
                        <a:rPr sz="1500" dirty="0">
                          <a:latin typeface="Arial MT"/>
                          <a:cs typeface="Arial MT"/>
                        </a:rPr>
                        <a:t>/C</a:t>
                      </a:r>
                      <a:r>
                        <a:rPr sz="1500" spc="-275" dirty="0">
                          <a:latin typeface="Arial MT"/>
                          <a:cs typeface="Arial MT"/>
                        </a:rPr>
                        <a:t> </a:t>
                      </a:r>
                      <a:r>
                        <a:rPr sz="1350" spc="75" baseline="-9259" dirty="0">
                          <a:latin typeface="Arial MT"/>
                          <a:cs typeface="Arial MT"/>
                        </a:rPr>
                        <a:t>L</a:t>
                      </a:r>
                      <a:r>
                        <a:rPr sz="1500" spc="50" dirty="0">
                          <a:latin typeface="Arial MT"/>
                          <a:cs typeface="Arial MT"/>
                        </a:rPr>
                        <a:t>)</a:t>
                      </a:r>
                      <a:r>
                        <a:rPr sz="1500" spc="25" dirty="0">
                          <a:latin typeface="Arial MT"/>
                          <a:cs typeface="Arial MT"/>
                        </a:rPr>
                        <a:t> </a:t>
                      </a:r>
                      <a:r>
                        <a:rPr sz="1500" dirty="0">
                          <a:latin typeface="Arial MT"/>
                          <a:cs typeface="Arial MT"/>
                        </a:rPr>
                        <a:t>for</a:t>
                      </a:r>
                      <a:r>
                        <a:rPr sz="1500" spc="25" dirty="0">
                          <a:latin typeface="Arial MT"/>
                          <a:cs typeface="Arial MT"/>
                        </a:rPr>
                        <a:t> </a:t>
                      </a:r>
                      <a:r>
                        <a:rPr sz="1500" dirty="0">
                          <a:latin typeface="Arial MT"/>
                          <a:cs typeface="Arial MT"/>
                        </a:rPr>
                        <a:t>Some</a:t>
                      </a:r>
                      <a:r>
                        <a:rPr sz="1500" spc="20" dirty="0">
                          <a:latin typeface="Arial MT"/>
                          <a:cs typeface="Arial MT"/>
                        </a:rPr>
                        <a:t> </a:t>
                      </a:r>
                      <a:r>
                        <a:rPr sz="1500" dirty="0">
                          <a:latin typeface="Arial MT"/>
                          <a:cs typeface="Arial MT"/>
                        </a:rPr>
                        <a:t>Commonly</a:t>
                      </a:r>
                      <a:r>
                        <a:rPr sz="1500" spc="25" dirty="0">
                          <a:latin typeface="Arial MT"/>
                          <a:cs typeface="Arial MT"/>
                        </a:rPr>
                        <a:t> </a:t>
                      </a:r>
                      <a:r>
                        <a:rPr sz="1500" dirty="0">
                          <a:latin typeface="Arial MT"/>
                          <a:cs typeface="Arial MT"/>
                        </a:rPr>
                        <a:t>Used</a:t>
                      </a:r>
                      <a:r>
                        <a:rPr sz="1500" spc="-5" dirty="0">
                          <a:latin typeface="Arial MT"/>
                          <a:cs typeface="Arial MT"/>
                        </a:rPr>
                        <a:t> </a:t>
                      </a:r>
                      <a:r>
                        <a:rPr sz="1500" dirty="0">
                          <a:latin typeface="Arial MT"/>
                          <a:cs typeface="Arial MT"/>
                        </a:rPr>
                        <a:t>Trace</a:t>
                      </a:r>
                      <a:r>
                        <a:rPr sz="1500" spc="20" dirty="0">
                          <a:latin typeface="Arial MT"/>
                          <a:cs typeface="Arial MT"/>
                        </a:rPr>
                        <a:t> </a:t>
                      </a:r>
                      <a:r>
                        <a:rPr sz="1500" dirty="0">
                          <a:latin typeface="Arial MT"/>
                          <a:cs typeface="Arial MT"/>
                        </a:rPr>
                        <a:t>Elements</a:t>
                      </a:r>
                      <a:r>
                        <a:rPr sz="1500" spc="25" dirty="0">
                          <a:latin typeface="Arial MT"/>
                          <a:cs typeface="Arial MT"/>
                        </a:rPr>
                        <a:t> </a:t>
                      </a:r>
                      <a:r>
                        <a:rPr sz="1500" spc="-25" dirty="0">
                          <a:latin typeface="Arial MT"/>
                          <a:cs typeface="Arial MT"/>
                        </a:rPr>
                        <a:t>in </a:t>
                      </a:r>
                      <a:r>
                        <a:rPr sz="1500" dirty="0">
                          <a:latin typeface="Arial MT"/>
                          <a:cs typeface="Arial MT"/>
                        </a:rPr>
                        <a:t>Basaltic</a:t>
                      </a:r>
                      <a:r>
                        <a:rPr sz="1500" spc="45" dirty="0">
                          <a:latin typeface="Arial MT"/>
                          <a:cs typeface="Arial MT"/>
                        </a:rPr>
                        <a:t> </a:t>
                      </a:r>
                      <a:r>
                        <a:rPr sz="1500" dirty="0">
                          <a:latin typeface="Arial MT"/>
                          <a:cs typeface="Arial MT"/>
                        </a:rPr>
                        <a:t>and</a:t>
                      </a:r>
                      <a:r>
                        <a:rPr sz="1500" spc="-45" dirty="0">
                          <a:latin typeface="Arial MT"/>
                          <a:cs typeface="Arial MT"/>
                        </a:rPr>
                        <a:t> </a:t>
                      </a:r>
                      <a:r>
                        <a:rPr sz="1500" dirty="0">
                          <a:latin typeface="Arial MT"/>
                          <a:cs typeface="Arial MT"/>
                        </a:rPr>
                        <a:t>Andesitic</a:t>
                      </a:r>
                      <a:r>
                        <a:rPr sz="1500" spc="45" dirty="0">
                          <a:latin typeface="Arial MT"/>
                          <a:cs typeface="Arial MT"/>
                        </a:rPr>
                        <a:t> </a:t>
                      </a:r>
                      <a:r>
                        <a:rPr sz="1500" spc="-10" dirty="0">
                          <a:latin typeface="Arial MT"/>
                          <a:cs typeface="Arial MT"/>
                        </a:rPr>
                        <a:t>Rocks</a:t>
                      </a:r>
                      <a:endParaRPr sz="1500">
                        <a:latin typeface="Arial MT"/>
                        <a:cs typeface="Arial MT"/>
                      </a:endParaRPr>
                    </a:p>
                  </a:txBody>
                  <a:tcPr marL="0" marR="0" marT="124460" marB="0">
                    <a:solidFill>
                      <a:srgbClr val="A6CAF0"/>
                    </a:solidFill>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229870">
                <a:tc rowSpan="17">
                  <a:txBody>
                    <a:bodyPr/>
                    <a:lstStyle/>
                    <a:p>
                      <a:pPr>
                        <a:lnSpc>
                          <a:spcPct val="100000"/>
                        </a:lnSpc>
                      </a:pPr>
                      <a:endParaRPr sz="1600">
                        <a:latin typeface="Times New Roman"/>
                        <a:cs typeface="Times New Roman"/>
                      </a:endParaRPr>
                    </a:p>
                  </a:txBody>
                  <a:tcPr marL="0" marR="0" marT="0" marB="0">
                    <a:lnR w="19050">
                      <a:solidFill>
                        <a:srgbClr val="000000"/>
                      </a:solidFill>
                      <a:prstDash val="solid"/>
                    </a:lnR>
                    <a:solidFill>
                      <a:srgbClr val="00CCFF"/>
                    </a:solidFill>
                  </a:tcPr>
                </a:tc>
                <a:tc gridSpan="3">
                  <a:txBody>
                    <a:bodyPr/>
                    <a:lstStyle/>
                    <a:p>
                      <a:pPr>
                        <a:lnSpc>
                          <a:spcPct val="100000"/>
                        </a:lnSpc>
                      </a:pPr>
                      <a:endParaRPr sz="1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solidFill>
                      <a:srgbClr val="00CCFF"/>
                    </a:solidFill>
                  </a:tcPr>
                </a:tc>
                <a:tc hMerge="1">
                  <a:txBody>
                    <a:bodyPr/>
                    <a:lstStyle/>
                    <a:p>
                      <a:endParaRPr/>
                    </a:p>
                  </a:txBody>
                  <a:tcPr marL="0" marR="0" marT="0" marB="0"/>
                </a:tc>
                <a:tc hMerge="1">
                  <a:txBody>
                    <a:bodyPr/>
                    <a:lstStyle/>
                    <a:p>
                      <a:endParaRPr/>
                    </a:p>
                  </a:txBody>
                  <a:tcPr marL="0" marR="0" marT="0" marB="0"/>
                </a:tc>
                <a:tc>
                  <a:txBody>
                    <a:bodyPr/>
                    <a:lstStyle/>
                    <a:p>
                      <a:pPr marL="124460">
                        <a:lnSpc>
                          <a:spcPts val="1660"/>
                        </a:lnSpc>
                        <a:tabLst>
                          <a:tab pos="1140460" algn="l"/>
                        </a:tabLst>
                      </a:pPr>
                      <a:r>
                        <a:rPr sz="1500" b="1" spc="-10" dirty="0">
                          <a:latin typeface="Arial"/>
                          <a:cs typeface="Arial"/>
                        </a:rPr>
                        <a:t>Olivine</a:t>
                      </a:r>
                      <a:r>
                        <a:rPr sz="1500" b="1" dirty="0">
                          <a:latin typeface="Arial"/>
                          <a:cs typeface="Arial"/>
                        </a:rPr>
                        <a:t>	</a:t>
                      </a:r>
                      <a:r>
                        <a:rPr sz="1500" b="1" spc="-25" dirty="0">
                          <a:latin typeface="Arial"/>
                          <a:cs typeface="Arial"/>
                        </a:rPr>
                        <a:t>Opx</a:t>
                      </a:r>
                      <a:endParaRPr sz="1500">
                        <a:latin typeface="Arial"/>
                        <a:cs typeface="Arial"/>
                      </a:endParaRPr>
                    </a:p>
                  </a:txBody>
                  <a:tcPr marL="0" marR="0" marT="0" marB="0">
                    <a:lnL w="19050">
                      <a:solidFill>
                        <a:srgbClr val="000000"/>
                      </a:solidFill>
                      <a:prstDash val="solid"/>
                    </a:lnL>
                    <a:lnT w="19050">
                      <a:solidFill>
                        <a:srgbClr val="000000"/>
                      </a:solidFill>
                      <a:prstDash val="solid"/>
                    </a:lnT>
                    <a:lnB w="19050">
                      <a:solidFill>
                        <a:srgbClr val="000000"/>
                      </a:solidFill>
                      <a:prstDash val="solid"/>
                    </a:lnB>
                    <a:solidFill>
                      <a:srgbClr val="00CCFF"/>
                    </a:solidFill>
                  </a:tcPr>
                </a:tc>
                <a:tc>
                  <a:txBody>
                    <a:bodyPr/>
                    <a:lstStyle/>
                    <a:p>
                      <a:pPr marL="156845">
                        <a:lnSpc>
                          <a:spcPts val="1660"/>
                        </a:lnSpc>
                      </a:pPr>
                      <a:r>
                        <a:rPr sz="1500" b="1" spc="-25" dirty="0">
                          <a:latin typeface="Arial"/>
                          <a:cs typeface="Arial"/>
                        </a:rPr>
                        <a:t>Cpx</a:t>
                      </a:r>
                      <a:endParaRPr sz="1500">
                        <a:latin typeface="Arial"/>
                        <a:cs typeface="Arial"/>
                      </a:endParaRPr>
                    </a:p>
                  </a:txBody>
                  <a:tcPr marL="0" marR="0" marT="0" marB="0">
                    <a:lnT w="19050">
                      <a:solidFill>
                        <a:srgbClr val="000000"/>
                      </a:solidFill>
                      <a:prstDash val="solid"/>
                    </a:lnT>
                    <a:lnB w="19050">
                      <a:solidFill>
                        <a:srgbClr val="000000"/>
                      </a:solidFill>
                      <a:prstDash val="solid"/>
                    </a:lnB>
                    <a:solidFill>
                      <a:srgbClr val="00CCFF"/>
                    </a:solidFill>
                  </a:tcPr>
                </a:tc>
                <a:tc>
                  <a:txBody>
                    <a:bodyPr/>
                    <a:lstStyle/>
                    <a:p>
                      <a:pPr marL="89535">
                        <a:lnSpc>
                          <a:spcPts val="1660"/>
                        </a:lnSpc>
                      </a:pPr>
                      <a:r>
                        <a:rPr sz="1500" b="1" spc="-10" dirty="0">
                          <a:latin typeface="Arial"/>
                          <a:cs typeface="Arial"/>
                        </a:rPr>
                        <a:t>Garnet</a:t>
                      </a:r>
                      <a:endParaRPr sz="1500">
                        <a:latin typeface="Arial"/>
                        <a:cs typeface="Arial"/>
                      </a:endParaRPr>
                    </a:p>
                  </a:txBody>
                  <a:tcPr marL="0" marR="0" marT="0" marB="0">
                    <a:lnT w="19050">
                      <a:solidFill>
                        <a:srgbClr val="000000"/>
                      </a:solidFill>
                      <a:prstDash val="solid"/>
                    </a:lnT>
                    <a:lnB w="19050">
                      <a:solidFill>
                        <a:srgbClr val="000000"/>
                      </a:solidFill>
                      <a:prstDash val="solid"/>
                    </a:lnB>
                    <a:solidFill>
                      <a:srgbClr val="00CCFF"/>
                    </a:solidFill>
                  </a:tcPr>
                </a:tc>
                <a:tc>
                  <a:txBody>
                    <a:bodyPr/>
                    <a:lstStyle/>
                    <a:p>
                      <a:pPr marL="323215">
                        <a:lnSpc>
                          <a:spcPts val="1660"/>
                        </a:lnSpc>
                      </a:pPr>
                      <a:r>
                        <a:rPr sz="1500" b="1" spc="-20" dirty="0">
                          <a:latin typeface="Arial"/>
                          <a:cs typeface="Arial"/>
                        </a:rPr>
                        <a:t>Plag</a:t>
                      </a:r>
                      <a:endParaRPr sz="1500">
                        <a:latin typeface="Arial"/>
                        <a:cs typeface="Arial"/>
                      </a:endParaRPr>
                    </a:p>
                  </a:txBody>
                  <a:tcPr marL="0" marR="0" marT="0" marB="0">
                    <a:lnT w="19050">
                      <a:solidFill>
                        <a:srgbClr val="000000"/>
                      </a:solidFill>
                      <a:prstDash val="solid"/>
                    </a:lnT>
                    <a:lnB w="19050">
                      <a:solidFill>
                        <a:srgbClr val="000000"/>
                      </a:solidFill>
                      <a:prstDash val="solid"/>
                    </a:lnB>
                    <a:solidFill>
                      <a:srgbClr val="00CCFF"/>
                    </a:solidFill>
                  </a:tcPr>
                </a:tc>
                <a:tc gridSpan="2">
                  <a:txBody>
                    <a:bodyPr/>
                    <a:lstStyle/>
                    <a:p>
                      <a:pPr marL="162560">
                        <a:lnSpc>
                          <a:spcPts val="1660"/>
                        </a:lnSpc>
                        <a:tabLst>
                          <a:tab pos="967740" algn="l"/>
                        </a:tabLst>
                      </a:pPr>
                      <a:r>
                        <a:rPr sz="1500" b="1" spc="-20" dirty="0">
                          <a:latin typeface="Arial"/>
                          <a:cs typeface="Arial"/>
                        </a:rPr>
                        <a:t>Amph</a:t>
                      </a:r>
                      <a:r>
                        <a:rPr sz="1500" b="1" dirty="0">
                          <a:latin typeface="Arial"/>
                          <a:cs typeface="Arial"/>
                        </a:rPr>
                        <a:t>	</a:t>
                      </a:r>
                      <a:r>
                        <a:rPr sz="1500" b="1" spc="-10" dirty="0">
                          <a:latin typeface="Arial"/>
                          <a:cs typeface="Arial"/>
                        </a:rPr>
                        <a:t>Magnetite</a:t>
                      </a:r>
                      <a:endParaRPr sz="1500">
                        <a:latin typeface="Arial"/>
                        <a:cs typeface="Arial"/>
                      </a:endParaRPr>
                    </a:p>
                  </a:txBody>
                  <a:tcPr marL="0" marR="0" marT="0" marB="0">
                    <a:lnR w="19050">
                      <a:solidFill>
                        <a:srgbClr val="000000"/>
                      </a:solidFill>
                      <a:prstDash val="solid"/>
                    </a:lnR>
                    <a:lnT w="19050">
                      <a:solidFill>
                        <a:srgbClr val="000000"/>
                      </a:solidFill>
                      <a:prstDash val="solid"/>
                    </a:lnT>
                    <a:lnB w="19050">
                      <a:solidFill>
                        <a:srgbClr val="000000"/>
                      </a:solidFill>
                      <a:prstDash val="solid"/>
                    </a:lnB>
                    <a:solidFill>
                      <a:srgbClr val="00CCFF"/>
                    </a:solidFill>
                  </a:tcPr>
                </a:tc>
                <a:tc hMerge="1">
                  <a:txBody>
                    <a:bodyPr/>
                    <a:lstStyle/>
                    <a:p>
                      <a:endParaRPr/>
                    </a:p>
                  </a:txBody>
                  <a:tcPr marL="0" marR="0" marT="0" marB="0"/>
                </a:tc>
                <a:tc rowSpan="17">
                  <a:txBody>
                    <a:bodyPr/>
                    <a:lstStyle/>
                    <a:p>
                      <a:pPr>
                        <a:lnSpc>
                          <a:spcPct val="100000"/>
                        </a:lnSpc>
                      </a:pPr>
                      <a:endParaRPr sz="1600">
                        <a:latin typeface="Times New Roman"/>
                        <a:cs typeface="Times New Roman"/>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1"/>
                  </a:ext>
                </a:extLst>
              </a:tr>
              <a:tr h="220345">
                <a:tc vMerge="1">
                  <a:txBody>
                    <a:bodyPr/>
                    <a:lstStyle/>
                    <a:p>
                      <a:endParaRPr/>
                    </a:p>
                  </a:txBody>
                  <a:tcPr marL="0" marR="0" marT="0" marB="0">
                    <a:lnR w="19050">
                      <a:solidFill>
                        <a:srgbClr val="000000"/>
                      </a:solidFill>
                      <a:prstDash val="solid"/>
                    </a:lnR>
                    <a:solidFill>
                      <a:srgbClr val="00CCFF"/>
                    </a:solidFill>
                  </a:tcPr>
                </a:tc>
                <a:tc gridSpan="3">
                  <a:txBody>
                    <a:bodyPr/>
                    <a:lstStyle/>
                    <a:p>
                      <a:pPr marL="47625">
                        <a:lnSpc>
                          <a:spcPts val="1635"/>
                        </a:lnSpc>
                      </a:pPr>
                      <a:r>
                        <a:rPr sz="1500" spc="-25" dirty="0">
                          <a:latin typeface="Arial MT"/>
                          <a:cs typeface="Arial MT"/>
                        </a:rPr>
                        <a:t>Rb</a:t>
                      </a:r>
                      <a:endParaRPr sz="1500">
                        <a:latin typeface="Arial MT"/>
                        <a:cs typeface="Arial MT"/>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solidFill>
                      <a:srgbClr val="00CCFF"/>
                    </a:solidFill>
                  </a:tcPr>
                </a:tc>
                <a:tc hMerge="1">
                  <a:txBody>
                    <a:bodyPr/>
                    <a:lstStyle/>
                    <a:p>
                      <a:endParaRPr/>
                    </a:p>
                  </a:txBody>
                  <a:tcPr marL="0" marR="0" marT="0" marB="0"/>
                </a:tc>
                <a:tc hMerge="1">
                  <a:txBody>
                    <a:bodyPr/>
                    <a:lstStyle/>
                    <a:p>
                      <a:endParaRPr/>
                    </a:p>
                  </a:txBody>
                  <a:tcPr marL="0" marR="0" marT="0" marB="0"/>
                </a:tc>
                <a:tc rowSpan="12">
                  <a:txBody>
                    <a:bodyPr/>
                    <a:lstStyle/>
                    <a:p>
                      <a:pPr marL="335280">
                        <a:lnSpc>
                          <a:spcPts val="1660"/>
                        </a:lnSpc>
                        <a:tabLst>
                          <a:tab pos="1217295" algn="l"/>
                        </a:tabLst>
                      </a:pPr>
                      <a:r>
                        <a:rPr sz="1500" spc="-10" dirty="0">
                          <a:latin typeface="Arial MT"/>
                          <a:cs typeface="Arial MT"/>
                        </a:rPr>
                        <a:t>0.010</a:t>
                      </a:r>
                      <a:r>
                        <a:rPr sz="1500" dirty="0">
                          <a:latin typeface="Arial MT"/>
                          <a:cs typeface="Arial MT"/>
                        </a:rPr>
                        <a:t>	</a:t>
                      </a:r>
                      <a:r>
                        <a:rPr sz="1500" spc="-10" dirty="0">
                          <a:latin typeface="Arial MT"/>
                          <a:cs typeface="Arial MT"/>
                        </a:rPr>
                        <a:t>0.022</a:t>
                      </a:r>
                      <a:endParaRPr sz="1500">
                        <a:latin typeface="Arial MT"/>
                        <a:cs typeface="Arial MT"/>
                      </a:endParaRPr>
                    </a:p>
                    <a:p>
                      <a:pPr marL="335280">
                        <a:lnSpc>
                          <a:spcPct val="100000"/>
                        </a:lnSpc>
                        <a:spcBef>
                          <a:spcPts val="10"/>
                        </a:spcBef>
                        <a:tabLst>
                          <a:tab pos="1217295" algn="l"/>
                        </a:tabLst>
                      </a:pPr>
                      <a:r>
                        <a:rPr sz="1500" spc="-10" dirty="0">
                          <a:latin typeface="Arial MT"/>
                          <a:cs typeface="Arial MT"/>
                        </a:rPr>
                        <a:t>0.014</a:t>
                      </a:r>
                      <a:r>
                        <a:rPr sz="1500" dirty="0">
                          <a:latin typeface="Arial MT"/>
                          <a:cs typeface="Arial MT"/>
                        </a:rPr>
                        <a:t>	</a:t>
                      </a:r>
                      <a:r>
                        <a:rPr sz="1500" spc="-10" dirty="0">
                          <a:latin typeface="Arial MT"/>
                          <a:cs typeface="Arial MT"/>
                        </a:rPr>
                        <a:t>0.040</a:t>
                      </a:r>
                      <a:endParaRPr sz="1500">
                        <a:latin typeface="Arial MT"/>
                        <a:cs typeface="Arial MT"/>
                      </a:endParaRPr>
                    </a:p>
                    <a:p>
                      <a:pPr marL="335280">
                        <a:lnSpc>
                          <a:spcPct val="100000"/>
                        </a:lnSpc>
                        <a:spcBef>
                          <a:spcPts val="10"/>
                        </a:spcBef>
                        <a:tabLst>
                          <a:tab pos="1217295" algn="l"/>
                        </a:tabLst>
                      </a:pPr>
                      <a:r>
                        <a:rPr sz="1500" spc="-10" dirty="0">
                          <a:latin typeface="Arial MT"/>
                          <a:cs typeface="Arial MT"/>
                        </a:rPr>
                        <a:t>0.010</a:t>
                      </a:r>
                      <a:r>
                        <a:rPr sz="1500" dirty="0">
                          <a:latin typeface="Arial MT"/>
                          <a:cs typeface="Arial MT"/>
                        </a:rPr>
                        <a:t>	</a:t>
                      </a:r>
                      <a:r>
                        <a:rPr sz="1500" spc="-10" dirty="0">
                          <a:latin typeface="Arial MT"/>
                          <a:cs typeface="Arial MT"/>
                        </a:rPr>
                        <a:t>0.013</a:t>
                      </a:r>
                      <a:endParaRPr sz="1500">
                        <a:latin typeface="Arial MT"/>
                        <a:cs typeface="Arial MT"/>
                      </a:endParaRPr>
                    </a:p>
                    <a:p>
                      <a:pPr marL="603885">
                        <a:lnSpc>
                          <a:spcPct val="100000"/>
                        </a:lnSpc>
                        <a:spcBef>
                          <a:spcPts val="15"/>
                        </a:spcBef>
                        <a:tabLst>
                          <a:tab pos="1600835" algn="l"/>
                        </a:tabLst>
                      </a:pPr>
                      <a:r>
                        <a:rPr sz="1500" i="1" spc="-25" dirty="0">
                          <a:latin typeface="Arial"/>
                          <a:cs typeface="Arial"/>
                        </a:rPr>
                        <a:t>14</a:t>
                      </a:r>
                      <a:r>
                        <a:rPr sz="1500" i="1" dirty="0">
                          <a:latin typeface="Arial"/>
                          <a:cs typeface="Arial"/>
                        </a:rPr>
                        <a:t>	</a:t>
                      </a:r>
                      <a:r>
                        <a:rPr sz="1500" spc="-50" dirty="0">
                          <a:latin typeface="Arial MT"/>
                          <a:cs typeface="Arial MT"/>
                        </a:rPr>
                        <a:t>5</a:t>
                      </a:r>
                      <a:endParaRPr sz="1500">
                        <a:latin typeface="Arial MT"/>
                        <a:cs typeface="Arial MT"/>
                      </a:endParaRPr>
                    </a:p>
                    <a:p>
                      <a:pPr marR="156845" algn="r">
                        <a:lnSpc>
                          <a:spcPct val="100000"/>
                        </a:lnSpc>
                        <a:spcBef>
                          <a:spcPts val="10"/>
                        </a:spcBef>
                        <a:tabLst>
                          <a:tab pos="1035050" algn="l"/>
                        </a:tabLst>
                      </a:pPr>
                      <a:r>
                        <a:rPr sz="1500" spc="-20" dirty="0">
                          <a:latin typeface="Arial MT"/>
                          <a:cs typeface="Arial MT"/>
                        </a:rPr>
                        <a:t>0.70</a:t>
                      </a:r>
                      <a:r>
                        <a:rPr sz="1500" dirty="0">
                          <a:latin typeface="Arial MT"/>
                          <a:cs typeface="Arial MT"/>
                        </a:rPr>
                        <a:t>	</a:t>
                      </a:r>
                      <a:r>
                        <a:rPr sz="1500" spc="-25" dirty="0">
                          <a:latin typeface="Arial MT"/>
                          <a:cs typeface="Arial MT"/>
                        </a:rPr>
                        <a:t>10</a:t>
                      </a:r>
                      <a:endParaRPr sz="1500">
                        <a:latin typeface="Arial MT"/>
                        <a:cs typeface="Arial MT"/>
                      </a:endParaRPr>
                    </a:p>
                    <a:p>
                      <a:pPr marR="149225" algn="r">
                        <a:lnSpc>
                          <a:spcPct val="100000"/>
                        </a:lnSpc>
                        <a:spcBef>
                          <a:spcPts val="10"/>
                        </a:spcBef>
                        <a:tabLst>
                          <a:tab pos="996950" algn="l"/>
                        </a:tabLst>
                      </a:pPr>
                      <a:r>
                        <a:rPr sz="1500" spc="-10" dirty="0">
                          <a:latin typeface="Arial MT"/>
                          <a:cs typeface="Arial MT"/>
                        </a:rPr>
                        <a:t>0.007</a:t>
                      </a:r>
                      <a:r>
                        <a:rPr sz="1500" dirty="0">
                          <a:latin typeface="Arial MT"/>
                          <a:cs typeface="Arial MT"/>
                        </a:rPr>
                        <a:t>	</a:t>
                      </a:r>
                      <a:r>
                        <a:rPr sz="1500" i="1" spc="-20" dirty="0">
                          <a:latin typeface="Arial"/>
                          <a:cs typeface="Arial"/>
                        </a:rPr>
                        <a:t>0.03</a:t>
                      </a:r>
                      <a:endParaRPr sz="1500">
                        <a:latin typeface="Arial"/>
                        <a:cs typeface="Arial"/>
                      </a:endParaRPr>
                    </a:p>
                    <a:p>
                      <a:pPr marR="149225" algn="r">
                        <a:lnSpc>
                          <a:spcPct val="100000"/>
                        </a:lnSpc>
                        <a:spcBef>
                          <a:spcPts val="15"/>
                        </a:spcBef>
                        <a:tabLst>
                          <a:tab pos="996950" algn="l"/>
                        </a:tabLst>
                      </a:pPr>
                      <a:r>
                        <a:rPr sz="1500" spc="-10" dirty="0">
                          <a:latin typeface="Arial MT"/>
                          <a:cs typeface="Arial MT"/>
                        </a:rPr>
                        <a:t>0.006</a:t>
                      </a:r>
                      <a:r>
                        <a:rPr sz="1500" dirty="0">
                          <a:latin typeface="Arial MT"/>
                          <a:cs typeface="Arial MT"/>
                        </a:rPr>
                        <a:t>	</a:t>
                      </a:r>
                      <a:r>
                        <a:rPr sz="1500" spc="-20" dirty="0">
                          <a:latin typeface="Arial MT"/>
                          <a:cs typeface="Arial MT"/>
                        </a:rPr>
                        <a:t>0.02</a:t>
                      </a:r>
                      <a:endParaRPr sz="1500">
                        <a:latin typeface="Arial MT"/>
                        <a:cs typeface="Arial MT"/>
                      </a:endParaRPr>
                    </a:p>
                    <a:p>
                      <a:pPr marR="149225" algn="r">
                        <a:lnSpc>
                          <a:spcPct val="100000"/>
                        </a:lnSpc>
                        <a:spcBef>
                          <a:spcPts val="10"/>
                        </a:spcBef>
                        <a:tabLst>
                          <a:tab pos="996950" algn="l"/>
                        </a:tabLst>
                      </a:pPr>
                      <a:r>
                        <a:rPr sz="1500" spc="-10" dirty="0">
                          <a:latin typeface="Arial MT"/>
                          <a:cs typeface="Arial MT"/>
                        </a:rPr>
                        <a:t>0.006</a:t>
                      </a:r>
                      <a:r>
                        <a:rPr sz="1500" dirty="0">
                          <a:latin typeface="Arial MT"/>
                          <a:cs typeface="Arial MT"/>
                        </a:rPr>
                        <a:t>	</a:t>
                      </a:r>
                      <a:r>
                        <a:rPr sz="1500" spc="-20" dirty="0">
                          <a:latin typeface="Arial MT"/>
                          <a:cs typeface="Arial MT"/>
                        </a:rPr>
                        <a:t>0.03</a:t>
                      </a:r>
                      <a:endParaRPr sz="1500">
                        <a:latin typeface="Arial MT"/>
                        <a:cs typeface="Arial MT"/>
                      </a:endParaRPr>
                    </a:p>
                    <a:p>
                      <a:pPr>
                        <a:lnSpc>
                          <a:spcPct val="100000"/>
                        </a:lnSpc>
                        <a:spcBef>
                          <a:spcPts val="95"/>
                        </a:spcBef>
                      </a:pPr>
                      <a:endParaRPr sz="1500">
                        <a:latin typeface="Times New Roman"/>
                        <a:cs typeface="Times New Roman"/>
                      </a:endParaRPr>
                    </a:p>
                    <a:p>
                      <a:pPr marL="335280">
                        <a:lnSpc>
                          <a:spcPct val="100000"/>
                        </a:lnSpc>
                        <a:tabLst>
                          <a:tab pos="1332230" algn="l"/>
                        </a:tabLst>
                      </a:pPr>
                      <a:r>
                        <a:rPr sz="1500" spc="-10" dirty="0">
                          <a:latin typeface="Arial MT"/>
                          <a:cs typeface="Arial MT"/>
                        </a:rPr>
                        <a:t>0.007</a:t>
                      </a:r>
                      <a:r>
                        <a:rPr sz="1500" dirty="0">
                          <a:latin typeface="Arial MT"/>
                          <a:cs typeface="Arial MT"/>
                        </a:rPr>
                        <a:t>	</a:t>
                      </a:r>
                      <a:r>
                        <a:rPr sz="1500" spc="-20" dirty="0">
                          <a:latin typeface="Arial MT"/>
                          <a:cs typeface="Arial MT"/>
                        </a:rPr>
                        <a:t>0.05</a:t>
                      </a:r>
                      <a:endParaRPr sz="1500">
                        <a:latin typeface="Arial MT"/>
                        <a:cs typeface="Arial MT"/>
                      </a:endParaRPr>
                    </a:p>
                    <a:p>
                      <a:pPr marL="335280">
                        <a:lnSpc>
                          <a:spcPct val="100000"/>
                        </a:lnSpc>
                        <a:spcBef>
                          <a:spcPts val="15"/>
                        </a:spcBef>
                        <a:tabLst>
                          <a:tab pos="1332230" algn="l"/>
                        </a:tabLst>
                      </a:pPr>
                      <a:r>
                        <a:rPr sz="1500" spc="-10" dirty="0">
                          <a:latin typeface="Arial MT"/>
                          <a:cs typeface="Arial MT"/>
                        </a:rPr>
                        <a:t>0.007</a:t>
                      </a:r>
                      <a:r>
                        <a:rPr sz="1500" dirty="0">
                          <a:latin typeface="Arial MT"/>
                          <a:cs typeface="Arial MT"/>
                        </a:rPr>
                        <a:t>	</a:t>
                      </a:r>
                      <a:r>
                        <a:rPr sz="1500" spc="-20" dirty="0">
                          <a:latin typeface="Arial MT"/>
                          <a:cs typeface="Arial MT"/>
                        </a:rPr>
                        <a:t>0.05</a:t>
                      </a:r>
                      <a:endParaRPr sz="1500">
                        <a:latin typeface="Arial MT"/>
                        <a:cs typeface="Arial MT"/>
                      </a:endParaRPr>
                    </a:p>
                    <a:p>
                      <a:pPr marL="335280">
                        <a:lnSpc>
                          <a:spcPts val="1560"/>
                        </a:lnSpc>
                        <a:spcBef>
                          <a:spcPts val="10"/>
                        </a:spcBef>
                        <a:tabLst>
                          <a:tab pos="1332230" algn="l"/>
                        </a:tabLst>
                      </a:pPr>
                      <a:r>
                        <a:rPr sz="1500" spc="-10" dirty="0">
                          <a:latin typeface="Arial MT"/>
                          <a:cs typeface="Arial MT"/>
                        </a:rPr>
                        <a:t>0.013</a:t>
                      </a:r>
                      <a:r>
                        <a:rPr sz="1500" dirty="0">
                          <a:latin typeface="Arial MT"/>
                          <a:cs typeface="Arial MT"/>
                        </a:rPr>
                        <a:t>	</a:t>
                      </a:r>
                      <a:r>
                        <a:rPr sz="1500" spc="-20" dirty="0">
                          <a:latin typeface="Arial MT"/>
                          <a:cs typeface="Arial MT"/>
                        </a:rPr>
                        <a:t>0.15</a:t>
                      </a:r>
                      <a:endParaRPr sz="1500">
                        <a:latin typeface="Arial MT"/>
                        <a:cs typeface="Arial MT"/>
                      </a:endParaRPr>
                    </a:p>
                  </a:txBody>
                  <a:tcPr marL="0" marR="0" marT="0" marB="0">
                    <a:lnL w="19050" cap="flat" cmpd="sng" algn="ctr">
                      <a:solidFill>
                        <a:srgbClr val="000000"/>
                      </a:solidFill>
                      <a:prstDash val="solid"/>
                      <a:round/>
                      <a:headEnd type="none" w="med" len="med"/>
                      <a:tailEnd type="none" w="med" len="med"/>
                    </a:lnL>
                    <a:lnT w="19050">
                      <a:solidFill>
                        <a:srgbClr val="000000"/>
                      </a:solidFill>
                      <a:prstDash val="solid"/>
                    </a:lnT>
                    <a:lnB w="28575">
                      <a:solidFill>
                        <a:srgbClr val="FF2C79"/>
                      </a:solidFill>
                      <a:prstDash val="solid"/>
                    </a:lnB>
                    <a:solidFill>
                      <a:srgbClr val="00CCFF"/>
                    </a:solidFill>
                  </a:tcPr>
                </a:tc>
                <a:tc rowSpan="12">
                  <a:txBody>
                    <a:bodyPr/>
                    <a:lstStyle/>
                    <a:p>
                      <a:pPr marL="233679">
                        <a:lnSpc>
                          <a:spcPts val="1660"/>
                        </a:lnSpc>
                      </a:pPr>
                      <a:r>
                        <a:rPr sz="1500" spc="-10" dirty="0">
                          <a:latin typeface="Arial MT"/>
                          <a:cs typeface="Arial MT"/>
                        </a:rPr>
                        <a:t>0.031</a:t>
                      </a:r>
                      <a:endParaRPr sz="1500">
                        <a:latin typeface="Arial MT"/>
                        <a:cs typeface="Arial MT"/>
                      </a:endParaRPr>
                    </a:p>
                    <a:p>
                      <a:pPr marL="233679">
                        <a:lnSpc>
                          <a:spcPct val="100000"/>
                        </a:lnSpc>
                        <a:spcBef>
                          <a:spcPts val="10"/>
                        </a:spcBef>
                      </a:pPr>
                      <a:r>
                        <a:rPr sz="1500" spc="-10" dirty="0">
                          <a:latin typeface="Arial MT"/>
                          <a:cs typeface="Arial MT"/>
                        </a:rPr>
                        <a:t>0.060</a:t>
                      </a:r>
                      <a:endParaRPr sz="1500">
                        <a:latin typeface="Arial MT"/>
                        <a:cs typeface="Arial MT"/>
                      </a:endParaRPr>
                    </a:p>
                    <a:p>
                      <a:pPr marL="233679">
                        <a:lnSpc>
                          <a:spcPct val="100000"/>
                        </a:lnSpc>
                        <a:spcBef>
                          <a:spcPts val="10"/>
                        </a:spcBef>
                      </a:pPr>
                      <a:r>
                        <a:rPr sz="1500" spc="-10" dirty="0">
                          <a:latin typeface="Arial MT"/>
                          <a:cs typeface="Arial MT"/>
                        </a:rPr>
                        <a:t>0.026</a:t>
                      </a:r>
                      <a:endParaRPr sz="1500">
                        <a:latin typeface="Arial MT"/>
                        <a:cs typeface="Arial MT"/>
                      </a:endParaRPr>
                    </a:p>
                    <a:p>
                      <a:pPr marR="81915" algn="r">
                        <a:lnSpc>
                          <a:spcPct val="100000"/>
                        </a:lnSpc>
                        <a:spcBef>
                          <a:spcPts val="15"/>
                        </a:spcBef>
                      </a:pPr>
                      <a:r>
                        <a:rPr sz="1500" i="1" spc="-50" dirty="0">
                          <a:latin typeface="Arial"/>
                          <a:cs typeface="Arial"/>
                        </a:rPr>
                        <a:t>7</a:t>
                      </a:r>
                      <a:endParaRPr sz="1500">
                        <a:latin typeface="Arial"/>
                        <a:cs typeface="Arial"/>
                      </a:endParaRPr>
                    </a:p>
                    <a:p>
                      <a:pPr marR="89535" algn="r">
                        <a:lnSpc>
                          <a:spcPct val="100000"/>
                        </a:lnSpc>
                        <a:spcBef>
                          <a:spcPts val="10"/>
                        </a:spcBef>
                      </a:pPr>
                      <a:r>
                        <a:rPr sz="1500" spc="-25" dirty="0">
                          <a:latin typeface="Arial MT"/>
                          <a:cs typeface="Arial MT"/>
                        </a:rPr>
                        <a:t>34</a:t>
                      </a:r>
                      <a:endParaRPr sz="1500">
                        <a:latin typeface="Arial MT"/>
                        <a:cs typeface="Arial MT"/>
                      </a:endParaRPr>
                    </a:p>
                    <a:p>
                      <a:pPr marR="89535" algn="r">
                        <a:lnSpc>
                          <a:spcPct val="100000"/>
                        </a:lnSpc>
                        <a:spcBef>
                          <a:spcPts val="10"/>
                        </a:spcBef>
                      </a:pPr>
                      <a:r>
                        <a:rPr sz="1500" spc="-10" dirty="0">
                          <a:latin typeface="Arial MT"/>
                          <a:cs typeface="Arial MT"/>
                        </a:rPr>
                        <a:t>0.056</a:t>
                      </a:r>
                      <a:endParaRPr sz="1500">
                        <a:latin typeface="Arial MT"/>
                        <a:cs typeface="Arial MT"/>
                      </a:endParaRPr>
                    </a:p>
                    <a:p>
                      <a:pPr marR="89535" algn="r">
                        <a:lnSpc>
                          <a:spcPct val="100000"/>
                        </a:lnSpc>
                        <a:spcBef>
                          <a:spcPts val="15"/>
                        </a:spcBef>
                      </a:pPr>
                      <a:r>
                        <a:rPr sz="1500" spc="-10" dirty="0">
                          <a:latin typeface="Arial MT"/>
                          <a:cs typeface="Arial MT"/>
                        </a:rPr>
                        <a:t>0.092</a:t>
                      </a:r>
                      <a:endParaRPr sz="1500">
                        <a:latin typeface="Arial MT"/>
                        <a:cs typeface="Arial MT"/>
                      </a:endParaRPr>
                    </a:p>
                    <a:p>
                      <a:pPr marR="89535" algn="r">
                        <a:lnSpc>
                          <a:spcPct val="100000"/>
                        </a:lnSpc>
                        <a:spcBef>
                          <a:spcPts val="10"/>
                        </a:spcBef>
                      </a:pPr>
                      <a:r>
                        <a:rPr sz="1500" spc="-10" dirty="0">
                          <a:latin typeface="Arial MT"/>
                          <a:cs typeface="Arial MT"/>
                        </a:rPr>
                        <a:t>0.230</a:t>
                      </a:r>
                      <a:endParaRPr sz="1500">
                        <a:latin typeface="Arial MT"/>
                        <a:cs typeface="Arial MT"/>
                      </a:endParaRPr>
                    </a:p>
                    <a:p>
                      <a:pPr>
                        <a:lnSpc>
                          <a:spcPct val="100000"/>
                        </a:lnSpc>
                        <a:spcBef>
                          <a:spcPts val="95"/>
                        </a:spcBef>
                      </a:pPr>
                      <a:endParaRPr sz="1500">
                        <a:latin typeface="Times New Roman"/>
                        <a:cs typeface="Times New Roman"/>
                      </a:endParaRPr>
                    </a:p>
                    <a:p>
                      <a:pPr marL="233679">
                        <a:lnSpc>
                          <a:spcPct val="100000"/>
                        </a:lnSpc>
                      </a:pPr>
                      <a:r>
                        <a:rPr sz="1500" spc="-10" dirty="0">
                          <a:latin typeface="Arial MT"/>
                          <a:cs typeface="Arial MT"/>
                        </a:rPr>
                        <a:t>0.445</a:t>
                      </a:r>
                      <a:endParaRPr sz="1500">
                        <a:latin typeface="Arial MT"/>
                        <a:cs typeface="Arial MT"/>
                      </a:endParaRPr>
                    </a:p>
                    <a:p>
                      <a:pPr marL="233679">
                        <a:lnSpc>
                          <a:spcPct val="100000"/>
                        </a:lnSpc>
                        <a:spcBef>
                          <a:spcPts val="15"/>
                        </a:spcBef>
                      </a:pPr>
                      <a:r>
                        <a:rPr sz="1500" spc="-10" dirty="0">
                          <a:latin typeface="Arial MT"/>
                          <a:cs typeface="Arial MT"/>
                        </a:rPr>
                        <a:t>0.474</a:t>
                      </a:r>
                      <a:endParaRPr sz="1500">
                        <a:latin typeface="Arial MT"/>
                        <a:cs typeface="Arial MT"/>
                      </a:endParaRPr>
                    </a:p>
                    <a:p>
                      <a:pPr marL="233679">
                        <a:lnSpc>
                          <a:spcPts val="1560"/>
                        </a:lnSpc>
                        <a:spcBef>
                          <a:spcPts val="10"/>
                        </a:spcBef>
                      </a:pPr>
                      <a:r>
                        <a:rPr sz="1500" spc="-10" dirty="0">
                          <a:latin typeface="Arial MT"/>
                          <a:cs typeface="Arial MT"/>
                        </a:rPr>
                        <a:t>0.582</a:t>
                      </a:r>
                      <a:endParaRPr sz="1500">
                        <a:latin typeface="Arial MT"/>
                        <a:cs typeface="Arial MT"/>
                      </a:endParaRPr>
                    </a:p>
                  </a:txBody>
                  <a:tcPr marL="0" marR="0" marT="0" marB="0">
                    <a:lnT w="19050">
                      <a:solidFill>
                        <a:srgbClr val="000000"/>
                      </a:solidFill>
                      <a:prstDash val="solid"/>
                    </a:lnT>
                    <a:lnB w="28575">
                      <a:solidFill>
                        <a:srgbClr val="FF2C79"/>
                      </a:solidFill>
                      <a:prstDash val="solid"/>
                    </a:lnB>
                    <a:solidFill>
                      <a:srgbClr val="00CCFF"/>
                    </a:solidFill>
                  </a:tcPr>
                </a:tc>
                <a:tc rowSpan="12">
                  <a:txBody>
                    <a:bodyPr/>
                    <a:lstStyle/>
                    <a:p>
                      <a:pPr marL="300355">
                        <a:lnSpc>
                          <a:spcPts val="1660"/>
                        </a:lnSpc>
                      </a:pPr>
                      <a:r>
                        <a:rPr sz="1500" spc="-10" dirty="0">
                          <a:latin typeface="Arial MT"/>
                          <a:cs typeface="Arial MT"/>
                        </a:rPr>
                        <a:t>0.042</a:t>
                      </a:r>
                      <a:endParaRPr sz="1500">
                        <a:latin typeface="Arial MT"/>
                        <a:cs typeface="Arial MT"/>
                      </a:endParaRPr>
                    </a:p>
                    <a:p>
                      <a:pPr marL="300355">
                        <a:lnSpc>
                          <a:spcPct val="100000"/>
                        </a:lnSpc>
                        <a:spcBef>
                          <a:spcPts val="10"/>
                        </a:spcBef>
                      </a:pPr>
                      <a:r>
                        <a:rPr sz="1500" spc="-10" dirty="0">
                          <a:latin typeface="Arial MT"/>
                          <a:cs typeface="Arial MT"/>
                        </a:rPr>
                        <a:t>0.012</a:t>
                      </a:r>
                      <a:endParaRPr sz="1500">
                        <a:latin typeface="Arial MT"/>
                        <a:cs typeface="Arial MT"/>
                      </a:endParaRPr>
                    </a:p>
                    <a:p>
                      <a:pPr marL="300355">
                        <a:lnSpc>
                          <a:spcPct val="100000"/>
                        </a:lnSpc>
                        <a:spcBef>
                          <a:spcPts val="10"/>
                        </a:spcBef>
                      </a:pPr>
                      <a:r>
                        <a:rPr sz="1500" spc="-10" dirty="0">
                          <a:latin typeface="Arial MT"/>
                          <a:cs typeface="Arial MT"/>
                        </a:rPr>
                        <a:t>0.023</a:t>
                      </a:r>
                      <a:endParaRPr sz="1500">
                        <a:latin typeface="Arial MT"/>
                        <a:cs typeface="Arial MT"/>
                      </a:endParaRPr>
                    </a:p>
                    <a:p>
                      <a:pPr marL="300355">
                        <a:lnSpc>
                          <a:spcPct val="100000"/>
                        </a:lnSpc>
                        <a:spcBef>
                          <a:spcPts val="15"/>
                        </a:spcBef>
                      </a:pPr>
                      <a:r>
                        <a:rPr sz="1500" spc="-10" dirty="0">
                          <a:latin typeface="Arial MT"/>
                          <a:cs typeface="Arial MT"/>
                        </a:rPr>
                        <a:t>0.955</a:t>
                      </a:r>
                      <a:endParaRPr sz="1500">
                        <a:latin typeface="Arial MT"/>
                        <a:cs typeface="Arial MT"/>
                      </a:endParaRPr>
                    </a:p>
                    <a:p>
                      <a:pPr marL="300355">
                        <a:lnSpc>
                          <a:spcPct val="100000"/>
                        </a:lnSpc>
                        <a:spcBef>
                          <a:spcPts val="10"/>
                        </a:spcBef>
                      </a:pPr>
                      <a:r>
                        <a:rPr sz="1500" spc="-10" dirty="0">
                          <a:latin typeface="Arial MT"/>
                          <a:cs typeface="Arial MT"/>
                        </a:rPr>
                        <a:t>1.345</a:t>
                      </a:r>
                      <a:endParaRPr sz="1500">
                        <a:latin typeface="Arial MT"/>
                        <a:cs typeface="Arial MT"/>
                      </a:endParaRPr>
                    </a:p>
                    <a:p>
                      <a:pPr marL="300355">
                        <a:lnSpc>
                          <a:spcPct val="100000"/>
                        </a:lnSpc>
                        <a:spcBef>
                          <a:spcPts val="10"/>
                        </a:spcBef>
                      </a:pPr>
                      <a:r>
                        <a:rPr sz="1500" spc="-10" dirty="0">
                          <a:latin typeface="Arial MT"/>
                          <a:cs typeface="Arial MT"/>
                        </a:rPr>
                        <a:t>0.001</a:t>
                      </a:r>
                      <a:endParaRPr sz="1500">
                        <a:latin typeface="Arial MT"/>
                        <a:cs typeface="Arial MT"/>
                      </a:endParaRPr>
                    </a:p>
                    <a:p>
                      <a:pPr marL="300355">
                        <a:lnSpc>
                          <a:spcPct val="100000"/>
                        </a:lnSpc>
                        <a:spcBef>
                          <a:spcPts val="15"/>
                        </a:spcBef>
                      </a:pPr>
                      <a:r>
                        <a:rPr sz="1500" spc="-10" dirty="0">
                          <a:latin typeface="Arial MT"/>
                          <a:cs typeface="Arial MT"/>
                        </a:rPr>
                        <a:t>0.007</a:t>
                      </a:r>
                      <a:endParaRPr sz="1500">
                        <a:latin typeface="Arial MT"/>
                        <a:cs typeface="Arial MT"/>
                      </a:endParaRPr>
                    </a:p>
                    <a:p>
                      <a:pPr marL="300355">
                        <a:lnSpc>
                          <a:spcPct val="100000"/>
                        </a:lnSpc>
                        <a:spcBef>
                          <a:spcPts val="10"/>
                        </a:spcBef>
                      </a:pPr>
                      <a:r>
                        <a:rPr sz="1500" spc="-10" dirty="0">
                          <a:latin typeface="Arial MT"/>
                          <a:cs typeface="Arial MT"/>
                        </a:rPr>
                        <a:t>0.026</a:t>
                      </a:r>
                      <a:endParaRPr sz="1500">
                        <a:latin typeface="Arial MT"/>
                        <a:cs typeface="Arial MT"/>
                      </a:endParaRPr>
                    </a:p>
                    <a:p>
                      <a:pPr>
                        <a:lnSpc>
                          <a:spcPct val="100000"/>
                        </a:lnSpc>
                        <a:spcBef>
                          <a:spcPts val="95"/>
                        </a:spcBef>
                      </a:pPr>
                      <a:endParaRPr sz="1500">
                        <a:latin typeface="Times New Roman"/>
                        <a:cs typeface="Times New Roman"/>
                      </a:endParaRPr>
                    </a:p>
                    <a:p>
                      <a:pPr marL="300355">
                        <a:lnSpc>
                          <a:spcPct val="100000"/>
                        </a:lnSpc>
                      </a:pPr>
                      <a:r>
                        <a:rPr sz="1500" spc="-10" dirty="0">
                          <a:latin typeface="Arial MT"/>
                          <a:cs typeface="Arial MT"/>
                        </a:rPr>
                        <a:t>0.102</a:t>
                      </a:r>
                      <a:endParaRPr sz="1500">
                        <a:latin typeface="Arial MT"/>
                        <a:cs typeface="Arial MT"/>
                      </a:endParaRPr>
                    </a:p>
                    <a:p>
                      <a:pPr marL="300355">
                        <a:lnSpc>
                          <a:spcPct val="100000"/>
                        </a:lnSpc>
                        <a:spcBef>
                          <a:spcPts val="15"/>
                        </a:spcBef>
                      </a:pPr>
                      <a:r>
                        <a:rPr sz="1500" spc="-10" dirty="0">
                          <a:latin typeface="Arial MT"/>
                          <a:cs typeface="Arial MT"/>
                        </a:rPr>
                        <a:t>0.243</a:t>
                      </a:r>
                      <a:endParaRPr sz="1500">
                        <a:latin typeface="Arial MT"/>
                        <a:cs typeface="Arial MT"/>
                      </a:endParaRPr>
                    </a:p>
                    <a:p>
                      <a:pPr marL="300355">
                        <a:lnSpc>
                          <a:spcPts val="1560"/>
                        </a:lnSpc>
                        <a:spcBef>
                          <a:spcPts val="10"/>
                        </a:spcBef>
                      </a:pPr>
                      <a:r>
                        <a:rPr sz="1500" spc="-10" dirty="0">
                          <a:latin typeface="Arial MT"/>
                          <a:cs typeface="Arial MT"/>
                        </a:rPr>
                        <a:t>1.940</a:t>
                      </a:r>
                      <a:endParaRPr sz="1500">
                        <a:latin typeface="Arial MT"/>
                        <a:cs typeface="Arial MT"/>
                      </a:endParaRPr>
                    </a:p>
                  </a:txBody>
                  <a:tcPr marL="0" marR="0" marT="0" marB="0">
                    <a:lnT w="19050">
                      <a:solidFill>
                        <a:srgbClr val="000000"/>
                      </a:solidFill>
                      <a:prstDash val="solid"/>
                    </a:lnT>
                    <a:lnB w="28575">
                      <a:solidFill>
                        <a:srgbClr val="FF2C79"/>
                      </a:solidFill>
                      <a:prstDash val="solid"/>
                    </a:lnB>
                    <a:solidFill>
                      <a:srgbClr val="00CCFF"/>
                    </a:solidFill>
                  </a:tcPr>
                </a:tc>
                <a:tc rowSpan="12">
                  <a:txBody>
                    <a:bodyPr/>
                    <a:lstStyle/>
                    <a:p>
                      <a:pPr marR="55244" algn="r">
                        <a:lnSpc>
                          <a:spcPts val="1660"/>
                        </a:lnSpc>
                      </a:pPr>
                      <a:r>
                        <a:rPr sz="1500" spc="-10" dirty="0">
                          <a:latin typeface="Arial MT"/>
                          <a:cs typeface="Arial MT"/>
                        </a:rPr>
                        <a:t>0.071</a:t>
                      </a:r>
                      <a:endParaRPr sz="1500">
                        <a:latin typeface="Arial MT"/>
                        <a:cs typeface="Arial MT"/>
                      </a:endParaRPr>
                    </a:p>
                    <a:p>
                      <a:pPr marR="55244" algn="r">
                        <a:lnSpc>
                          <a:spcPct val="100000"/>
                        </a:lnSpc>
                        <a:spcBef>
                          <a:spcPts val="10"/>
                        </a:spcBef>
                      </a:pPr>
                      <a:r>
                        <a:rPr sz="1500" spc="-10" dirty="0">
                          <a:latin typeface="Arial MT"/>
                          <a:cs typeface="Arial MT"/>
                        </a:rPr>
                        <a:t>1.830</a:t>
                      </a:r>
                      <a:endParaRPr sz="1500">
                        <a:latin typeface="Arial MT"/>
                        <a:cs typeface="Arial MT"/>
                      </a:endParaRPr>
                    </a:p>
                    <a:p>
                      <a:pPr marR="47625" algn="r">
                        <a:lnSpc>
                          <a:spcPct val="100000"/>
                        </a:lnSpc>
                        <a:spcBef>
                          <a:spcPts val="10"/>
                        </a:spcBef>
                      </a:pPr>
                      <a:r>
                        <a:rPr sz="1500" spc="-20" dirty="0">
                          <a:latin typeface="Arial MT"/>
                          <a:cs typeface="Arial MT"/>
                        </a:rPr>
                        <a:t>0.23</a:t>
                      </a:r>
                      <a:endParaRPr sz="1500">
                        <a:latin typeface="Arial MT"/>
                        <a:cs typeface="Arial MT"/>
                      </a:endParaRPr>
                    </a:p>
                    <a:p>
                      <a:pPr marL="610870">
                        <a:lnSpc>
                          <a:spcPct val="100000"/>
                        </a:lnSpc>
                        <a:spcBef>
                          <a:spcPts val="15"/>
                        </a:spcBef>
                      </a:pPr>
                      <a:r>
                        <a:rPr sz="1500" i="1" spc="-20" dirty="0">
                          <a:latin typeface="Arial"/>
                          <a:cs typeface="Arial"/>
                        </a:rPr>
                        <a:t>0.01</a:t>
                      </a:r>
                      <a:endParaRPr sz="1500">
                        <a:latin typeface="Arial"/>
                        <a:cs typeface="Arial"/>
                      </a:endParaRPr>
                    </a:p>
                    <a:p>
                      <a:pPr marL="610870">
                        <a:lnSpc>
                          <a:spcPct val="100000"/>
                        </a:lnSpc>
                        <a:spcBef>
                          <a:spcPts val="10"/>
                        </a:spcBef>
                      </a:pPr>
                      <a:r>
                        <a:rPr sz="1500" i="1" spc="-20" dirty="0">
                          <a:latin typeface="Arial"/>
                          <a:cs typeface="Arial"/>
                        </a:rPr>
                        <a:t>0.01</a:t>
                      </a:r>
                      <a:endParaRPr sz="1500">
                        <a:latin typeface="Arial"/>
                        <a:cs typeface="Arial"/>
                      </a:endParaRPr>
                    </a:p>
                    <a:p>
                      <a:pPr marL="495934">
                        <a:lnSpc>
                          <a:spcPct val="100000"/>
                        </a:lnSpc>
                        <a:spcBef>
                          <a:spcPts val="10"/>
                        </a:spcBef>
                      </a:pPr>
                      <a:r>
                        <a:rPr sz="1500" spc="-10" dirty="0">
                          <a:latin typeface="Arial MT"/>
                          <a:cs typeface="Arial MT"/>
                        </a:rPr>
                        <a:t>0.148</a:t>
                      </a:r>
                      <a:endParaRPr sz="1500">
                        <a:latin typeface="Arial MT"/>
                        <a:cs typeface="Arial MT"/>
                      </a:endParaRPr>
                    </a:p>
                    <a:p>
                      <a:pPr marL="495934">
                        <a:lnSpc>
                          <a:spcPct val="100000"/>
                        </a:lnSpc>
                        <a:spcBef>
                          <a:spcPts val="15"/>
                        </a:spcBef>
                      </a:pPr>
                      <a:r>
                        <a:rPr sz="1500" spc="-10" dirty="0">
                          <a:latin typeface="Arial MT"/>
                          <a:cs typeface="Arial MT"/>
                        </a:rPr>
                        <a:t>0.082</a:t>
                      </a:r>
                      <a:endParaRPr sz="1500">
                        <a:latin typeface="Arial MT"/>
                        <a:cs typeface="Arial MT"/>
                      </a:endParaRPr>
                    </a:p>
                    <a:p>
                      <a:pPr marL="495934">
                        <a:lnSpc>
                          <a:spcPct val="100000"/>
                        </a:lnSpc>
                        <a:spcBef>
                          <a:spcPts val="10"/>
                        </a:spcBef>
                      </a:pPr>
                      <a:r>
                        <a:rPr sz="1500" spc="-10" dirty="0">
                          <a:latin typeface="Arial MT"/>
                          <a:cs typeface="Arial MT"/>
                        </a:rPr>
                        <a:t>0.055</a:t>
                      </a:r>
                      <a:endParaRPr sz="1500">
                        <a:latin typeface="Arial MT"/>
                        <a:cs typeface="Arial MT"/>
                      </a:endParaRPr>
                    </a:p>
                    <a:p>
                      <a:pPr>
                        <a:lnSpc>
                          <a:spcPct val="100000"/>
                        </a:lnSpc>
                        <a:spcBef>
                          <a:spcPts val="95"/>
                        </a:spcBef>
                      </a:pPr>
                      <a:endParaRPr sz="1500">
                        <a:latin typeface="Times New Roman"/>
                        <a:cs typeface="Times New Roman"/>
                      </a:endParaRPr>
                    </a:p>
                    <a:p>
                      <a:pPr marR="55244" algn="r">
                        <a:lnSpc>
                          <a:spcPct val="100000"/>
                        </a:lnSpc>
                      </a:pPr>
                      <a:r>
                        <a:rPr sz="1500" spc="-10" dirty="0">
                          <a:latin typeface="Arial MT"/>
                          <a:cs typeface="Arial MT"/>
                        </a:rPr>
                        <a:t>0.039</a:t>
                      </a:r>
                      <a:endParaRPr sz="1500">
                        <a:latin typeface="Arial MT"/>
                        <a:cs typeface="Arial MT"/>
                      </a:endParaRPr>
                    </a:p>
                    <a:p>
                      <a:pPr marR="40005" algn="r">
                        <a:lnSpc>
                          <a:spcPct val="100000"/>
                        </a:lnSpc>
                        <a:spcBef>
                          <a:spcPts val="15"/>
                        </a:spcBef>
                      </a:pPr>
                      <a:r>
                        <a:rPr sz="1500" spc="-25" dirty="0">
                          <a:latin typeface="Arial MT"/>
                          <a:cs typeface="Arial MT"/>
                        </a:rPr>
                        <a:t>1.5</a:t>
                      </a:r>
                      <a:endParaRPr sz="1500">
                        <a:latin typeface="Arial MT"/>
                        <a:cs typeface="Arial MT"/>
                      </a:endParaRPr>
                    </a:p>
                    <a:p>
                      <a:pPr marR="55244" algn="r">
                        <a:lnSpc>
                          <a:spcPts val="1560"/>
                        </a:lnSpc>
                        <a:spcBef>
                          <a:spcPts val="10"/>
                        </a:spcBef>
                      </a:pPr>
                      <a:r>
                        <a:rPr sz="1500" spc="-10" dirty="0">
                          <a:latin typeface="Arial MT"/>
                          <a:cs typeface="Arial MT"/>
                        </a:rPr>
                        <a:t>0.023</a:t>
                      </a:r>
                      <a:endParaRPr sz="1500">
                        <a:latin typeface="Arial MT"/>
                        <a:cs typeface="Arial MT"/>
                      </a:endParaRPr>
                    </a:p>
                  </a:txBody>
                  <a:tcPr marL="0" marR="0" marT="0" marB="0">
                    <a:lnT w="19050">
                      <a:solidFill>
                        <a:srgbClr val="000000"/>
                      </a:solidFill>
                      <a:prstDash val="solid"/>
                    </a:lnT>
                    <a:lnB w="28575">
                      <a:solidFill>
                        <a:srgbClr val="FF2C79"/>
                      </a:solidFill>
                      <a:prstDash val="solid"/>
                    </a:lnB>
                    <a:solidFill>
                      <a:srgbClr val="00CCFF"/>
                    </a:solidFill>
                  </a:tcPr>
                </a:tc>
                <a:tc rowSpan="12" gridSpan="2">
                  <a:txBody>
                    <a:bodyPr/>
                    <a:lstStyle/>
                    <a:p>
                      <a:pPr marL="450215">
                        <a:lnSpc>
                          <a:spcPts val="1660"/>
                        </a:lnSpc>
                      </a:pPr>
                      <a:r>
                        <a:rPr sz="1500" spc="-20" dirty="0">
                          <a:latin typeface="Arial MT"/>
                          <a:cs typeface="Arial MT"/>
                        </a:rPr>
                        <a:t>0.29</a:t>
                      </a:r>
                      <a:endParaRPr sz="1500">
                        <a:latin typeface="Arial MT"/>
                        <a:cs typeface="Arial MT"/>
                      </a:endParaRPr>
                    </a:p>
                    <a:p>
                      <a:pPr marL="450215">
                        <a:lnSpc>
                          <a:spcPct val="100000"/>
                        </a:lnSpc>
                        <a:spcBef>
                          <a:spcPts val="10"/>
                        </a:spcBef>
                      </a:pPr>
                      <a:r>
                        <a:rPr sz="1500" spc="-20" dirty="0">
                          <a:latin typeface="Arial MT"/>
                          <a:cs typeface="Arial MT"/>
                        </a:rPr>
                        <a:t>0.46</a:t>
                      </a:r>
                      <a:endParaRPr sz="1500">
                        <a:latin typeface="Arial MT"/>
                        <a:cs typeface="Arial MT"/>
                      </a:endParaRPr>
                    </a:p>
                    <a:p>
                      <a:pPr marL="450215">
                        <a:lnSpc>
                          <a:spcPct val="100000"/>
                        </a:lnSpc>
                        <a:spcBef>
                          <a:spcPts val="10"/>
                        </a:spcBef>
                      </a:pPr>
                      <a:r>
                        <a:rPr sz="1500" spc="-20" dirty="0">
                          <a:latin typeface="Arial MT"/>
                          <a:cs typeface="Arial MT"/>
                        </a:rPr>
                        <a:t>0.42</a:t>
                      </a:r>
                      <a:endParaRPr sz="1500">
                        <a:latin typeface="Arial MT"/>
                        <a:cs typeface="Arial MT"/>
                      </a:endParaRPr>
                    </a:p>
                    <a:p>
                      <a:pPr marR="438784" algn="r">
                        <a:lnSpc>
                          <a:spcPct val="100000"/>
                        </a:lnSpc>
                        <a:spcBef>
                          <a:spcPts val="15"/>
                        </a:spcBef>
                        <a:tabLst>
                          <a:tab pos="747395" algn="l"/>
                        </a:tabLst>
                      </a:pPr>
                      <a:r>
                        <a:rPr sz="1500" spc="-25" dirty="0">
                          <a:latin typeface="Arial MT"/>
                          <a:cs typeface="Arial MT"/>
                        </a:rPr>
                        <a:t>6.8</a:t>
                      </a:r>
                      <a:r>
                        <a:rPr sz="1500" dirty="0">
                          <a:latin typeface="Arial MT"/>
                          <a:cs typeface="Arial MT"/>
                        </a:rPr>
                        <a:t>	</a:t>
                      </a:r>
                      <a:r>
                        <a:rPr sz="1500" spc="-25" dirty="0">
                          <a:latin typeface="Arial MT"/>
                          <a:cs typeface="Arial MT"/>
                        </a:rPr>
                        <a:t>29</a:t>
                      </a:r>
                      <a:endParaRPr sz="1500">
                        <a:latin typeface="Arial MT"/>
                        <a:cs typeface="Arial MT"/>
                      </a:endParaRPr>
                    </a:p>
                    <a:p>
                      <a:pPr marR="403860" algn="r">
                        <a:lnSpc>
                          <a:spcPct val="100000"/>
                        </a:lnSpc>
                        <a:spcBef>
                          <a:spcPts val="10"/>
                        </a:spcBef>
                        <a:tabLst>
                          <a:tab pos="843280" algn="l"/>
                        </a:tabLst>
                      </a:pPr>
                      <a:r>
                        <a:rPr sz="1500" spc="-20" dirty="0">
                          <a:latin typeface="Arial MT"/>
                          <a:cs typeface="Arial MT"/>
                        </a:rPr>
                        <a:t>2.00</a:t>
                      </a:r>
                      <a:r>
                        <a:rPr sz="1500" dirty="0">
                          <a:latin typeface="Arial MT"/>
                          <a:cs typeface="Arial MT"/>
                        </a:rPr>
                        <a:t>	</a:t>
                      </a:r>
                      <a:r>
                        <a:rPr sz="1500" spc="-25" dirty="0">
                          <a:latin typeface="Arial MT"/>
                          <a:cs typeface="Arial MT"/>
                        </a:rPr>
                        <a:t>7.4</a:t>
                      </a:r>
                      <a:endParaRPr sz="1500">
                        <a:latin typeface="Arial MT"/>
                        <a:cs typeface="Arial MT"/>
                      </a:endParaRPr>
                    </a:p>
                    <a:p>
                      <a:pPr marL="335280">
                        <a:lnSpc>
                          <a:spcPct val="100000"/>
                        </a:lnSpc>
                        <a:spcBef>
                          <a:spcPts val="10"/>
                        </a:spcBef>
                        <a:tabLst>
                          <a:tab pos="1370330" algn="l"/>
                        </a:tabLst>
                      </a:pPr>
                      <a:r>
                        <a:rPr sz="1500" spc="-10" dirty="0">
                          <a:latin typeface="Arial MT"/>
                          <a:cs typeface="Arial MT"/>
                        </a:rPr>
                        <a:t>0.544</a:t>
                      </a:r>
                      <a:r>
                        <a:rPr sz="1500" dirty="0">
                          <a:latin typeface="Arial MT"/>
                          <a:cs typeface="Arial MT"/>
                        </a:rPr>
                        <a:t>	</a:t>
                      </a:r>
                      <a:r>
                        <a:rPr sz="1500" spc="-50" dirty="0">
                          <a:latin typeface="Arial MT"/>
                          <a:cs typeface="Arial MT"/>
                        </a:rPr>
                        <a:t>2</a:t>
                      </a:r>
                      <a:endParaRPr sz="1500">
                        <a:latin typeface="Arial MT"/>
                        <a:cs typeface="Arial MT"/>
                      </a:endParaRPr>
                    </a:p>
                    <a:p>
                      <a:pPr marL="335280">
                        <a:lnSpc>
                          <a:spcPct val="100000"/>
                        </a:lnSpc>
                        <a:spcBef>
                          <a:spcPts val="15"/>
                        </a:spcBef>
                        <a:tabLst>
                          <a:tab pos="1370330" algn="l"/>
                        </a:tabLst>
                      </a:pPr>
                      <a:r>
                        <a:rPr sz="1500" spc="-10" dirty="0">
                          <a:latin typeface="Arial MT"/>
                          <a:cs typeface="Arial MT"/>
                        </a:rPr>
                        <a:t>0.843</a:t>
                      </a:r>
                      <a:r>
                        <a:rPr sz="1500" dirty="0">
                          <a:latin typeface="Arial MT"/>
                          <a:cs typeface="Arial MT"/>
                        </a:rPr>
                        <a:t>	</a:t>
                      </a:r>
                      <a:r>
                        <a:rPr sz="1500" spc="-50" dirty="0">
                          <a:latin typeface="Arial MT"/>
                          <a:cs typeface="Arial MT"/>
                        </a:rPr>
                        <a:t>2</a:t>
                      </a:r>
                      <a:endParaRPr sz="1500">
                        <a:latin typeface="Arial MT"/>
                        <a:cs typeface="Arial MT"/>
                      </a:endParaRPr>
                    </a:p>
                    <a:p>
                      <a:pPr marL="335280">
                        <a:lnSpc>
                          <a:spcPct val="100000"/>
                        </a:lnSpc>
                        <a:spcBef>
                          <a:spcPts val="10"/>
                        </a:spcBef>
                        <a:tabLst>
                          <a:tab pos="1370330" algn="l"/>
                        </a:tabLst>
                      </a:pPr>
                      <a:r>
                        <a:rPr sz="1500" spc="-10" dirty="0">
                          <a:latin typeface="Arial MT"/>
                          <a:cs typeface="Arial MT"/>
                        </a:rPr>
                        <a:t>1.340</a:t>
                      </a:r>
                      <a:r>
                        <a:rPr sz="1500" dirty="0">
                          <a:latin typeface="Arial MT"/>
                          <a:cs typeface="Arial MT"/>
                        </a:rPr>
                        <a:t>	</a:t>
                      </a:r>
                      <a:r>
                        <a:rPr sz="1500" spc="-50" dirty="0">
                          <a:latin typeface="Arial MT"/>
                          <a:cs typeface="Arial MT"/>
                        </a:rPr>
                        <a:t>2</a:t>
                      </a:r>
                      <a:endParaRPr sz="1500">
                        <a:latin typeface="Arial MT"/>
                        <a:cs typeface="Arial MT"/>
                      </a:endParaRPr>
                    </a:p>
                    <a:p>
                      <a:pPr>
                        <a:lnSpc>
                          <a:spcPct val="100000"/>
                        </a:lnSpc>
                        <a:spcBef>
                          <a:spcPts val="95"/>
                        </a:spcBef>
                      </a:pPr>
                      <a:endParaRPr sz="1500">
                        <a:latin typeface="Times New Roman"/>
                        <a:cs typeface="Times New Roman"/>
                      </a:endParaRPr>
                    </a:p>
                    <a:p>
                      <a:pPr marL="335280">
                        <a:lnSpc>
                          <a:spcPct val="100000"/>
                        </a:lnSpc>
                        <a:tabLst>
                          <a:tab pos="1370330" algn="l"/>
                        </a:tabLst>
                      </a:pPr>
                      <a:r>
                        <a:rPr sz="1500" spc="-10" dirty="0">
                          <a:latin typeface="Arial MT"/>
                          <a:cs typeface="Arial MT"/>
                        </a:rPr>
                        <a:t>1.804</a:t>
                      </a:r>
                      <a:r>
                        <a:rPr sz="1500" dirty="0">
                          <a:latin typeface="Arial MT"/>
                          <a:cs typeface="Arial MT"/>
                        </a:rPr>
                        <a:t>	</a:t>
                      </a:r>
                      <a:r>
                        <a:rPr sz="1500" spc="-50" dirty="0">
                          <a:latin typeface="Arial MT"/>
                          <a:cs typeface="Arial MT"/>
                        </a:rPr>
                        <a:t>1</a:t>
                      </a:r>
                      <a:endParaRPr sz="1500">
                        <a:latin typeface="Arial MT"/>
                        <a:cs typeface="Arial MT"/>
                      </a:endParaRPr>
                    </a:p>
                    <a:p>
                      <a:pPr marL="335280">
                        <a:lnSpc>
                          <a:spcPct val="100000"/>
                        </a:lnSpc>
                        <a:spcBef>
                          <a:spcPts val="15"/>
                        </a:spcBef>
                        <a:tabLst>
                          <a:tab pos="1370330" algn="l"/>
                        </a:tabLst>
                      </a:pPr>
                      <a:r>
                        <a:rPr sz="1500" spc="-10" dirty="0">
                          <a:latin typeface="Arial MT"/>
                          <a:cs typeface="Arial MT"/>
                        </a:rPr>
                        <a:t>1.557</a:t>
                      </a:r>
                      <a:r>
                        <a:rPr sz="1500" dirty="0">
                          <a:latin typeface="Arial MT"/>
                          <a:cs typeface="Arial MT"/>
                        </a:rPr>
                        <a:t>	</a:t>
                      </a:r>
                      <a:r>
                        <a:rPr sz="1500" spc="-50" dirty="0">
                          <a:latin typeface="Arial MT"/>
                          <a:cs typeface="Arial MT"/>
                        </a:rPr>
                        <a:t>1</a:t>
                      </a:r>
                      <a:endParaRPr sz="1500">
                        <a:latin typeface="Arial MT"/>
                        <a:cs typeface="Arial MT"/>
                      </a:endParaRPr>
                    </a:p>
                    <a:p>
                      <a:pPr marL="335280">
                        <a:lnSpc>
                          <a:spcPts val="1560"/>
                        </a:lnSpc>
                        <a:spcBef>
                          <a:spcPts val="10"/>
                        </a:spcBef>
                        <a:tabLst>
                          <a:tab pos="1370330" algn="l"/>
                        </a:tabLst>
                      </a:pPr>
                      <a:r>
                        <a:rPr sz="1500" spc="-10" dirty="0">
                          <a:latin typeface="Arial MT"/>
                          <a:cs typeface="Arial MT"/>
                        </a:rPr>
                        <a:t>2.024</a:t>
                      </a:r>
                      <a:r>
                        <a:rPr sz="1500" dirty="0">
                          <a:latin typeface="Arial MT"/>
                          <a:cs typeface="Arial MT"/>
                        </a:rPr>
                        <a:t>	</a:t>
                      </a:r>
                      <a:r>
                        <a:rPr sz="1500" spc="-50" dirty="0">
                          <a:latin typeface="Arial MT"/>
                          <a:cs typeface="Arial MT"/>
                        </a:rPr>
                        <a:t>1</a:t>
                      </a:r>
                      <a:endParaRPr sz="1500">
                        <a:latin typeface="Arial MT"/>
                        <a:cs typeface="Arial MT"/>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rowSpan="12" h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2"/>
                  </a:ext>
                </a:extLst>
              </a:tr>
              <a:tr h="229870">
                <a:tc vMerge="1">
                  <a:txBody>
                    <a:bodyPr/>
                    <a:lstStyle/>
                    <a:p>
                      <a:endParaRPr/>
                    </a:p>
                  </a:txBody>
                  <a:tcPr marL="0" marR="0" marT="0" marB="0">
                    <a:lnR w="19050">
                      <a:solidFill>
                        <a:srgbClr val="000000"/>
                      </a:solidFill>
                      <a:prstDash val="solid"/>
                    </a:lnR>
                    <a:solidFill>
                      <a:srgbClr val="00CCFF"/>
                    </a:solidFill>
                  </a:tcPr>
                </a:tc>
                <a:tc gridSpan="3">
                  <a:txBody>
                    <a:bodyPr/>
                    <a:lstStyle/>
                    <a:p>
                      <a:pPr marL="47625">
                        <a:lnSpc>
                          <a:spcPts val="1710"/>
                        </a:lnSpc>
                      </a:pPr>
                      <a:r>
                        <a:rPr sz="1500" spc="-25" dirty="0">
                          <a:latin typeface="Arial MT"/>
                          <a:cs typeface="Arial MT"/>
                        </a:rPr>
                        <a:t>Sr</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hMerge="1">
                  <a:txBody>
                    <a:bodyPr/>
                    <a:lstStyle/>
                    <a:p>
                      <a:endParaRPr/>
                    </a:p>
                  </a:txBody>
                  <a:tcPr marL="0" marR="0" marT="0" marB="0"/>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3"/>
                  </a:ext>
                </a:extLst>
              </a:tr>
              <a:tr h="229870">
                <a:tc vMerge="1">
                  <a:txBody>
                    <a:bodyPr/>
                    <a:lstStyle/>
                    <a:p>
                      <a:endParaRPr/>
                    </a:p>
                  </a:txBody>
                  <a:tcPr marL="0" marR="0" marT="0" marB="0">
                    <a:lnR w="19050">
                      <a:solidFill>
                        <a:srgbClr val="000000"/>
                      </a:solidFill>
                      <a:prstDash val="solid"/>
                    </a:lnR>
                    <a:solidFill>
                      <a:srgbClr val="00CCFF"/>
                    </a:solidFill>
                  </a:tcPr>
                </a:tc>
                <a:tc gridSpan="3">
                  <a:txBody>
                    <a:bodyPr/>
                    <a:lstStyle/>
                    <a:p>
                      <a:pPr marL="47625">
                        <a:lnSpc>
                          <a:spcPts val="1710"/>
                        </a:lnSpc>
                      </a:pPr>
                      <a:r>
                        <a:rPr sz="1500" spc="-25" dirty="0">
                          <a:latin typeface="Arial MT"/>
                          <a:cs typeface="Arial MT"/>
                        </a:rPr>
                        <a:t>Ba</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hMerge="1">
                  <a:txBody>
                    <a:bodyPr/>
                    <a:lstStyle/>
                    <a:p>
                      <a:endParaRPr/>
                    </a:p>
                  </a:txBody>
                  <a:tcPr marL="0" marR="0" marT="0" marB="0"/>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4"/>
                  </a:ext>
                </a:extLst>
              </a:tr>
              <a:tr h="229870">
                <a:tc vMerge="1">
                  <a:txBody>
                    <a:bodyPr/>
                    <a:lstStyle/>
                    <a:p>
                      <a:endParaRPr/>
                    </a:p>
                  </a:txBody>
                  <a:tcPr marL="0" marR="0" marT="0" marB="0">
                    <a:lnR w="19050">
                      <a:solidFill>
                        <a:srgbClr val="000000"/>
                      </a:solidFill>
                      <a:prstDash val="solid"/>
                    </a:lnR>
                    <a:solidFill>
                      <a:srgbClr val="00CCFF"/>
                    </a:solidFill>
                  </a:tcPr>
                </a:tc>
                <a:tc gridSpan="3">
                  <a:txBody>
                    <a:bodyPr/>
                    <a:lstStyle/>
                    <a:p>
                      <a:pPr marL="47625">
                        <a:lnSpc>
                          <a:spcPts val="1710"/>
                        </a:lnSpc>
                      </a:pPr>
                      <a:r>
                        <a:rPr sz="1500" spc="-25" dirty="0">
                          <a:latin typeface="Arial MT"/>
                          <a:cs typeface="Arial MT"/>
                        </a:rPr>
                        <a:t>Ni</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hMerge="1">
                  <a:txBody>
                    <a:bodyPr/>
                    <a:lstStyle/>
                    <a:p>
                      <a:endParaRPr/>
                    </a:p>
                  </a:txBody>
                  <a:tcPr marL="0" marR="0" marT="0" marB="0"/>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5"/>
                  </a:ext>
                </a:extLst>
              </a:tr>
              <a:tr h="239395">
                <a:tc vMerge="1">
                  <a:txBody>
                    <a:bodyPr/>
                    <a:lstStyle/>
                    <a:p>
                      <a:endParaRPr/>
                    </a:p>
                  </a:txBody>
                  <a:tcPr marL="0" marR="0" marT="0" marB="0">
                    <a:lnR w="19050">
                      <a:solidFill>
                        <a:srgbClr val="000000"/>
                      </a:solidFill>
                      <a:prstDash val="solid"/>
                    </a:lnR>
                    <a:solidFill>
                      <a:srgbClr val="00CCFF"/>
                    </a:solidFill>
                  </a:tcPr>
                </a:tc>
                <a:tc gridSpan="3">
                  <a:txBody>
                    <a:bodyPr/>
                    <a:lstStyle/>
                    <a:p>
                      <a:pPr marL="47625">
                        <a:lnSpc>
                          <a:spcPts val="1735"/>
                        </a:lnSpc>
                      </a:pPr>
                      <a:r>
                        <a:rPr sz="1500" spc="-25" dirty="0">
                          <a:latin typeface="Arial MT"/>
                          <a:cs typeface="Arial MT"/>
                        </a:rPr>
                        <a:t>Cr</a:t>
                      </a:r>
                      <a:endParaRPr sz="1500">
                        <a:latin typeface="Arial MT"/>
                        <a:cs typeface="Arial MT"/>
                      </a:endParaRPr>
                    </a:p>
                  </a:txBody>
                  <a:tcPr marL="0" marR="0" marT="0" marB="0">
                    <a:lnL w="19050">
                      <a:solidFill>
                        <a:srgbClr val="000000"/>
                      </a:solidFill>
                      <a:prstDash val="solid"/>
                    </a:lnL>
                    <a:lnR w="19050">
                      <a:solidFill>
                        <a:srgbClr val="000000"/>
                      </a:solidFill>
                      <a:prstDash val="solid"/>
                    </a:lnR>
                    <a:lnB w="19050">
                      <a:solidFill>
                        <a:srgbClr val="000000"/>
                      </a:solidFill>
                      <a:prstDash val="solid"/>
                    </a:lnB>
                    <a:solidFill>
                      <a:srgbClr val="00CCFF"/>
                    </a:solidFill>
                  </a:tcPr>
                </a:tc>
                <a:tc hMerge="1">
                  <a:txBody>
                    <a:bodyPr/>
                    <a:lstStyle/>
                    <a:p>
                      <a:endParaRPr/>
                    </a:p>
                  </a:txBody>
                  <a:tcPr marL="0" marR="0" marT="0" marB="0"/>
                </a:tc>
                <a:tc hMerge="1">
                  <a:txBody>
                    <a:bodyPr/>
                    <a:lstStyle/>
                    <a:p>
                      <a:endParaRPr/>
                    </a:p>
                  </a:txBody>
                  <a:tcPr marL="0" marR="0" marT="0" marB="0"/>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6"/>
                  </a:ext>
                </a:extLst>
              </a:tr>
              <a:tr h="66675">
                <a:tc vMerge="1">
                  <a:txBody>
                    <a:bodyPr/>
                    <a:lstStyle/>
                    <a:p>
                      <a:endParaRPr/>
                    </a:p>
                  </a:txBody>
                  <a:tcPr marL="0" marR="0" marT="0" marB="0">
                    <a:lnR w="19050">
                      <a:solidFill>
                        <a:srgbClr val="000000"/>
                      </a:solidFill>
                      <a:prstDash val="solid"/>
                    </a:lnR>
                    <a:solidFill>
                      <a:srgbClr val="00CCFF"/>
                    </a:solidFill>
                  </a:tcPr>
                </a:tc>
                <a:tc gridSpan="3">
                  <a:txBody>
                    <a:bodyPr/>
                    <a:lstStyle/>
                    <a:p>
                      <a:pPr>
                        <a:lnSpc>
                          <a:spcPct val="100000"/>
                        </a:lnSpc>
                      </a:pPr>
                      <a:endParaRPr sz="2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solidFill>
                      <a:srgbClr val="00CCFF"/>
                    </a:solidFill>
                  </a:tcPr>
                </a:tc>
                <a:tc hMerge="1">
                  <a:txBody>
                    <a:bodyPr/>
                    <a:lstStyle/>
                    <a:p>
                      <a:endParaRPr/>
                    </a:p>
                  </a:txBody>
                  <a:tcPr marL="0" marR="0" marT="0" marB="0"/>
                </a:tc>
                <a:tc hMerge="1">
                  <a:txBody>
                    <a:bodyPr/>
                    <a:lstStyle/>
                    <a:p>
                      <a:endParaRPr/>
                    </a:p>
                  </a:txBody>
                  <a:tcPr marL="0" marR="0" marT="0" marB="0"/>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7"/>
                  </a:ext>
                </a:extLst>
              </a:tr>
              <a:tr h="153035">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110"/>
                        </a:lnSpc>
                      </a:pPr>
                      <a:r>
                        <a:rPr sz="1500" spc="-25" dirty="0">
                          <a:latin typeface="Arial MT"/>
                          <a:cs typeface="Arial MT"/>
                        </a:rPr>
                        <a:t>La</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rowSpan="6">
                  <a:txBody>
                    <a:bodyPr/>
                    <a:lstStyle/>
                    <a:p>
                      <a:pPr marL="26034">
                        <a:lnSpc>
                          <a:spcPct val="100000"/>
                        </a:lnSpc>
                        <a:spcBef>
                          <a:spcPts val="335"/>
                        </a:spcBef>
                      </a:pPr>
                      <a:r>
                        <a:rPr sz="1500" dirty="0">
                          <a:latin typeface="Arial MT"/>
                          <a:cs typeface="Arial MT"/>
                        </a:rPr>
                        <a:t>Earth </a:t>
                      </a:r>
                      <a:r>
                        <a:rPr sz="1500" spc="-10" dirty="0">
                          <a:latin typeface="Arial MT"/>
                          <a:cs typeface="Arial MT"/>
                        </a:rPr>
                        <a:t>Elements</a:t>
                      </a:r>
                      <a:endParaRPr sz="1500">
                        <a:latin typeface="Arial MT"/>
                        <a:cs typeface="Arial MT"/>
                      </a:endParaRPr>
                    </a:p>
                  </a:txBody>
                  <a:tcPr marL="0" marR="0" marT="42545" marB="0" vert="vert270">
                    <a:lnL w="19050">
                      <a:solidFill>
                        <a:srgbClr val="000000"/>
                      </a:solidFill>
                      <a:prstDash val="solid"/>
                    </a:lnL>
                    <a:lnR w="38100">
                      <a:solidFill>
                        <a:srgbClr val="000000"/>
                      </a:solidFill>
                      <a:prstDash val="solid"/>
                    </a:lnR>
                    <a:lnT w="19050">
                      <a:solidFill>
                        <a:srgbClr val="000000"/>
                      </a:solidFill>
                      <a:prstDash val="solid"/>
                    </a:lnT>
                    <a:lnB w="28575">
                      <a:solidFill>
                        <a:srgbClr val="FF2C79"/>
                      </a:solidFill>
                      <a:prstDash val="solid"/>
                    </a:lnB>
                    <a:solidFill>
                      <a:srgbClr val="FFFFFF"/>
                    </a:solidFill>
                  </a:tcPr>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8"/>
                  </a:ext>
                </a:extLst>
              </a:tr>
              <a:tr h="229870">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710"/>
                        </a:lnSpc>
                      </a:pPr>
                      <a:r>
                        <a:rPr sz="1500" spc="-25" dirty="0">
                          <a:latin typeface="Arial MT"/>
                          <a:cs typeface="Arial MT"/>
                        </a:rPr>
                        <a:t>Ce</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42545" marB="0" vert="vert270">
                    <a:lnL w="19050">
                      <a:solidFill>
                        <a:srgbClr val="000000"/>
                      </a:solidFill>
                      <a:prstDash val="solid"/>
                    </a:lnL>
                    <a:lnR w="38100">
                      <a:solidFill>
                        <a:srgbClr val="000000"/>
                      </a:solidFill>
                      <a:prstDash val="solid"/>
                    </a:lnR>
                    <a:lnT w="19050">
                      <a:solidFill>
                        <a:srgbClr val="000000"/>
                      </a:solidFill>
                      <a:prstDash val="solid"/>
                    </a:lnT>
                    <a:lnB w="28575">
                      <a:solidFill>
                        <a:srgbClr val="FF2C79"/>
                      </a:solidFill>
                      <a:prstDash val="solid"/>
                    </a:lnB>
                    <a:solidFill>
                      <a:srgbClr val="FFFFFF"/>
                    </a:solidFill>
                  </a:tcPr>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09"/>
                  </a:ext>
                </a:extLst>
              </a:tr>
              <a:tr h="344805">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735"/>
                        </a:lnSpc>
                      </a:pPr>
                      <a:r>
                        <a:rPr sz="1500" spc="-25" dirty="0">
                          <a:latin typeface="Arial MT"/>
                          <a:cs typeface="Arial MT"/>
                        </a:rPr>
                        <a:t>Nd</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42545" marB="0" vert="vert270">
                    <a:lnL w="19050">
                      <a:solidFill>
                        <a:srgbClr val="000000"/>
                      </a:solidFill>
                      <a:prstDash val="solid"/>
                    </a:lnL>
                    <a:lnR w="38100">
                      <a:solidFill>
                        <a:srgbClr val="000000"/>
                      </a:solidFill>
                      <a:prstDash val="solid"/>
                    </a:lnR>
                    <a:lnT w="19050">
                      <a:solidFill>
                        <a:srgbClr val="000000"/>
                      </a:solidFill>
                      <a:prstDash val="solid"/>
                    </a:lnT>
                    <a:lnB w="28575">
                      <a:solidFill>
                        <a:srgbClr val="FF2C79"/>
                      </a:solidFill>
                      <a:prstDash val="solid"/>
                    </a:lnB>
                    <a:solidFill>
                      <a:srgbClr val="FFFFFF"/>
                    </a:solidFill>
                  </a:tcPr>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0"/>
                  </a:ext>
                </a:extLst>
              </a:tr>
              <a:tr h="344805">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780"/>
                        </a:lnSpc>
                        <a:spcBef>
                          <a:spcPts val="840"/>
                        </a:spcBef>
                      </a:pPr>
                      <a:r>
                        <a:rPr sz="1500" spc="-25" dirty="0">
                          <a:latin typeface="Arial MT"/>
                          <a:cs typeface="Arial MT"/>
                        </a:rPr>
                        <a:t>Sm</a:t>
                      </a:r>
                      <a:endParaRPr sz="1500">
                        <a:latin typeface="Arial MT"/>
                        <a:cs typeface="Arial MT"/>
                      </a:endParaRPr>
                    </a:p>
                  </a:txBody>
                  <a:tcPr marL="0" marR="0" marT="10668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42545" marB="0" vert="vert270">
                    <a:lnL w="19050">
                      <a:solidFill>
                        <a:srgbClr val="000000"/>
                      </a:solidFill>
                      <a:prstDash val="solid"/>
                    </a:lnL>
                    <a:lnR w="38100">
                      <a:solidFill>
                        <a:srgbClr val="000000"/>
                      </a:solidFill>
                      <a:prstDash val="solid"/>
                    </a:lnR>
                    <a:lnT w="19050">
                      <a:solidFill>
                        <a:srgbClr val="000000"/>
                      </a:solidFill>
                      <a:prstDash val="solid"/>
                    </a:lnT>
                    <a:lnB w="28575">
                      <a:solidFill>
                        <a:srgbClr val="FF2C79"/>
                      </a:solidFill>
                      <a:prstDash val="solid"/>
                    </a:lnB>
                    <a:solidFill>
                      <a:srgbClr val="FFFFFF"/>
                    </a:solidFill>
                  </a:tcPr>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1"/>
                  </a:ext>
                </a:extLst>
              </a:tr>
              <a:tr h="229870">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710"/>
                        </a:lnSpc>
                      </a:pPr>
                      <a:r>
                        <a:rPr sz="1500" spc="-25" dirty="0">
                          <a:latin typeface="Arial MT"/>
                          <a:cs typeface="Arial MT"/>
                        </a:rPr>
                        <a:t>Eu</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42545" marB="0" vert="vert270">
                    <a:lnL w="19050">
                      <a:solidFill>
                        <a:srgbClr val="000000"/>
                      </a:solidFill>
                      <a:prstDash val="solid"/>
                    </a:lnL>
                    <a:lnR w="38100">
                      <a:solidFill>
                        <a:srgbClr val="000000"/>
                      </a:solidFill>
                      <a:prstDash val="solid"/>
                    </a:lnR>
                    <a:lnT w="19050">
                      <a:solidFill>
                        <a:srgbClr val="000000"/>
                      </a:solidFill>
                      <a:prstDash val="solid"/>
                    </a:lnT>
                    <a:lnB w="28575">
                      <a:solidFill>
                        <a:srgbClr val="FF2C79"/>
                      </a:solidFill>
                      <a:prstDash val="solid"/>
                    </a:lnB>
                    <a:solidFill>
                      <a:srgbClr val="FFFFFF"/>
                    </a:solidFill>
                  </a:tcPr>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2"/>
                  </a:ext>
                </a:extLst>
              </a:tr>
              <a:tr h="202565">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495"/>
                        </a:lnSpc>
                      </a:pPr>
                      <a:r>
                        <a:rPr sz="1500" spc="-25" dirty="0">
                          <a:latin typeface="Arial MT"/>
                          <a:cs typeface="Arial MT"/>
                        </a:rPr>
                        <a:t>Dy</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42545" marB="0" vert="vert270">
                    <a:lnL w="19050">
                      <a:solidFill>
                        <a:srgbClr val="000000"/>
                      </a:solidFill>
                      <a:prstDash val="solid"/>
                    </a:lnL>
                    <a:lnR w="38100">
                      <a:solidFill>
                        <a:srgbClr val="000000"/>
                      </a:solidFill>
                      <a:prstDash val="solid"/>
                    </a:lnR>
                    <a:lnT w="19050">
                      <a:solidFill>
                        <a:srgbClr val="000000"/>
                      </a:solidFill>
                      <a:prstDash val="solid"/>
                    </a:lnT>
                    <a:lnB w="28575">
                      <a:solidFill>
                        <a:srgbClr val="FF2C79"/>
                      </a:solidFill>
                      <a:prstDash val="solid"/>
                    </a:lnB>
                    <a:solidFill>
                      <a:srgbClr val="FFFFFF"/>
                    </a:solidFill>
                  </a:tcPr>
                </a:tc>
                <a:tc vMerge="1">
                  <a:txBody>
                    <a:bodyPr/>
                    <a:lstStyle/>
                    <a:p>
                      <a:endParaRPr/>
                    </a:p>
                  </a:txBody>
                  <a:tcPr marL="0" marR="0" marT="0" marB="0">
                    <a:lnL w="38100">
                      <a:solidFill>
                        <a:srgbClr val="000000"/>
                      </a:solidFill>
                      <a:prstDash val="solid"/>
                    </a:lnL>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vMerge="1">
                  <a:txBody>
                    <a:bodyPr/>
                    <a:lstStyle/>
                    <a:p>
                      <a:endParaRPr/>
                    </a:p>
                  </a:txBody>
                  <a:tcPr marL="0" marR="0" marT="0" marB="0">
                    <a:lnT w="19050">
                      <a:solidFill>
                        <a:srgbClr val="000000"/>
                      </a:solidFill>
                      <a:prstDash val="solid"/>
                    </a:lnT>
                    <a:lnB w="28575">
                      <a:solidFill>
                        <a:srgbClr val="FF2C79"/>
                      </a:solidFill>
                      <a:prstDash val="solid"/>
                    </a:lnB>
                    <a:solidFill>
                      <a:srgbClr val="00CCFF"/>
                    </a:solidFill>
                  </a:tcPr>
                </a:tc>
                <a:tc gridSpan="2" vMerge="1">
                  <a:txBody>
                    <a:bodyPr/>
                    <a:lstStyle/>
                    <a:p>
                      <a:endParaRPr/>
                    </a:p>
                  </a:txBody>
                  <a:tcPr marL="0" marR="0" marT="0" marB="0">
                    <a:lnR w="19050">
                      <a:solidFill>
                        <a:srgbClr val="000000"/>
                      </a:solidFill>
                      <a:prstDash val="solid"/>
                    </a:lnR>
                    <a:lnT w="19050">
                      <a:solidFill>
                        <a:srgbClr val="000000"/>
                      </a:solidFill>
                      <a:prstDash val="solid"/>
                    </a:lnT>
                    <a:lnB w="28575">
                      <a:solidFill>
                        <a:srgbClr val="FF2C79"/>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3"/>
                  </a:ext>
                </a:extLst>
              </a:tr>
              <a:tr h="255270">
                <a:tc vMerge="1">
                  <a:txBody>
                    <a:bodyPr/>
                    <a:lstStyle/>
                    <a:p>
                      <a:endParaRPr/>
                    </a:p>
                  </a:txBody>
                  <a:tcPr marL="0" marR="0" marT="0" marB="0">
                    <a:lnR w="19050">
                      <a:solidFill>
                        <a:srgbClr val="000000"/>
                      </a:solidFill>
                      <a:prstDash val="solid"/>
                    </a:lnR>
                    <a:solidFill>
                      <a:srgbClr val="00CCFF"/>
                    </a:solidFill>
                  </a:tcPr>
                </a:tc>
                <a:tc>
                  <a:txBody>
                    <a:bodyPr/>
                    <a:lstStyle/>
                    <a:p>
                      <a:pPr marL="47625">
                        <a:lnSpc>
                          <a:spcPts val="1764"/>
                        </a:lnSpc>
                        <a:spcBef>
                          <a:spcPts val="150"/>
                        </a:spcBef>
                      </a:pPr>
                      <a:r>
                        <a:rPr sz="1500" spc="-25" dirty="0">
                          <a:latin typeface="Arial MT"/>
                          <a:cs typeface="Arial MT"/>
                        </a:rPr>
                        <a:t>Er</a:t>
                      </a:r>
                      <a:endParaRPr sz="1500">
                        <a:latin typeface="Arial MT"/>
                        <a:cs typeface="Arial MT"/>
                      </a:endParaRPr>
                    </a:p>
                  </a:txBody>
                  <a:tcPr marL="0" marR="0" marT="19050" marB="0">
                    <a:lnL w="19050">
                      <a:solidFill>
                        <a:srgbClr val="000000"/>
                      </a:solidFill>
                      <a:prstDash val="solid"/>
                    </a:lnL>
                    <a:lnR w="28575">
                      <a:solidFill>
                        <a:srgbClr val="FF2C79"/>
                      </a:solidFill>
                      <a:prstDash val="solid"/>
                    </a:lnR>
                    <a:solidFill>
                      <a:srgbClr val="00CCFF"/>
                    </a:solidFill>
                  </a:tcPr>
                </a:tc>
                <a:tc>
                  <a:txBody>
                    <a:bodyPr/>
                    <a:lstStyle/>
                    <a:p>
                      <a:pPr>
                        <a:lnSpc>
                          <a:spcPct val="100000"/>
                        </a:lnSpc>
                      </a:pPr>
                      <a:endParaRPr sz="1500">
                        <a:latin typeface="Times New Roman"/>
                        <a:cs typeface="Times New Roman"/>
                      </a:endParaRPr>
                    </a:p>
                  </a:txBody>
                  <a:tcPr marL="0" marR="0" marT="0" marB="0">
                    <a:lnL w="28575">
                      <a:solidFill>
                        <a:srgbClr val="FF2C79"/>
                      </a:solidFill>
                      <a:prstDash val="solid"/>
                    </a:lnL>
                    <a:lnR w="19050">
                      <a:solidFill>
                        <a:srgbClr val="000000"/>
                      </a:solidFill>
                      <a:prstDash val="solid"/>
                    </a:lnR>
                    <a:lnT w="28575">
                      <a:solidFill>
                        <a:srgbClr val="FF2C79"/>
                      </a:solidFill>
                      <a:prstDash val="solid"/>
                    </a:lnT>
                    <a:lnB w="28575">
                      <a:solidFill>
                        <a:srgbClr val="FF2C79"/>
                      </a:solidFill>
                      <a:prstDash val="solid"/>
                    </a:lnB>
                    <a:solidFill>
                      <a:srgbClr val="00CCFF"/>
                    </a:solidFill>
                  </a:tcPr>
                </a:tc>
                <a:tc>
                  <a:txBody>
                    <a:bodyPr/>
                    <a:lstStyle/>
                    <a:p>
                      <a:pPr>
                        <a:lnSpc>
                          <a:spcPct val="100000"/>
                        </a:lnSpc>
                      </a:pPr>
                      <a:endParaRPr sz="1500">
                        <a:latin typeface="Times New Roman"/>
                        <a:cs typeface="Times New Roman"/>
                      </a:endParaRPr>
                    </a:p>
                  </a:txBody>
                  <a:tcPr marL="0" marR="0" marT="0" marB="0">
                    <a:lnL w="19050">
                      <a:solidFill>
                        <a:srgbClr val="000000"/>
                      </a:solidFill>
                      <a:prstDash val="solid"/>
                    </a:lnL>
                    <a:lnR w="38100">
                      <a:solidFill>
                        <a:srgbClr val="000000"/>
                      </a:solidFill>
                      <a:prstDash val="solid"/>
                    </a:lnR>
                    <a:lnT w="28575">
                      <a:solidFill>
                        <a:srgbClr val="FF2C79"/>
                      </a:solidFill>
                      <a:prstDash val="solid"/>
                    </a:lnT>
                    <a:lnB w="28575">
                      <a:solidFill>
                        <a:srgbClr val="FF2C79"/>
                      </a:solidFill>
                      <a:prstDash val="solid"/>
                    </a:lnB>
                    <a:solidFill>
                      <a:srgbClr val="FFFFFF"/>
                    </a:solidFill>
                  </a:tcPr>
                </a:tc>
                <a:tc gridSpan="5">
                  <a:txBody>
                    <a:bodyPr/>
                    <a:lstStyle/>
                    <a:p>
                      <a:pPr marL="335280">
                        <a:lnSpc>
                          <a:spcPts val="1764"/>
                        </a:lnSpc>
                        <a:spcBef>
                          <a:spcPts val="150"/>
                        </a:spcBef>
                        <a:tabLst>
                          <a:tab pos="1332230" algn="l"/>
                          <a:tab pos="2099310" algn="l"/>
                          <a:tab pos="2981325" algn="l"/>
                          <a:tab pos="4016375" algn="l"/>
                          <a:tab pos="4898390" algn="l"/>
                          <a:tab pos="5857240" algn="l"/>
                        </a:tabLst>
                      </a:pPr>
                      <a:r>
                        <a:rPr sz="1500" spc="-10" dirty="0">
                          <a:latin typeface="Arial MT"/>
                          <a:cs typeface="Arial MT"/>
                        </a:rPr>
                        <a:t>0.026</a:t>
                      </a:r>
                      <a:r>
                        <a:rPr sz="1500" dirty="0">
                          <a:latin typeface="Arial MT"/>
                          <a:cs typeface="Arial MT"/>
                        </a:rPr>
                        <a:t>	</a:t>
                      </a:r>
                      <a:r>
                        <a:rPr sz="1500" spc="-20" dirty="0">
                          <a:latin typeface="Arial MT"/>
                          <a:cs typeface="Arial MT"/>
                        </a:rPr>
                        <a:t>0.23</a:t>
                      </a:r>
                      <a:r>
                        <a:rPr sz="1500" dirty="0">
                          <a:latin typeface="Arial MT"/>
                          <a:cs typeface="Arial MT"/>
                        </a:rPr>
                        <a:t>	</a:t>
                      </a:r>
                      <a:r>
                        <a:rPr sz="1500" spc="-10" dirty="0">
                          <a:latin typeface="Arial MT"/>
                          <a:cs typeface="Arial MT"/>
                        </a:rPr>
                        <a:t>0.583</a:t>
                      </a:r>
                      <a:r>
                        <a:rPr sz="1500" dirty="0">
                          <a:latin typeface="Arial MT"/>
                          <a:cs typeface="Arial MT"/>
                        </a:rPr>
                        <a:t>	</a:t>
                      </a:r>
                      <a:r>
                        <a:rPr sz="1500" spc="-10" dirty="0">
                          <a:latin typeface="Arial MT"/>
                          <a:cs typeface="Arial MT"/>
                        </a:rPr>
                        <a:t>4.700</a:t>
                      </a:r>
                      <a:r>
                        <a:rPr sz="1500" dirty="0">
                          <a:latin typeface="Arial MT"/>
                          <a:cs typeface="Arial MT"/>
                        </a:rPr>
                        <a:t>	</a:t>
                      </a:r>
                      <a:r>
                        <a:rPr sz="1500" spc="-10" dirty="0">
                          <a:latin typeface="Arial MT"/>
                          <a:cs typeface="Arial MT"/>
                        </a:rPr>
                        <a:t>0.020</a:t>
                      </a:r>
                      <a:r>
                        <a:rPr sz="1500" dirty="0">
                          <a:latin typeface="Arial MT"/>
                          <a:cs typeface="Arial MT"/>
                        </a:rPr>
                        <a:t>	</a:t>
                      </a:r>
                      <a:r>
                        <a:rPr sz="1500" spc="-10" dirty="0">
                          <a:latin typeface="Arial MT"/>
                          <a:cs typeface="Arial MT"/>
                        </a:rPr>
                        <a:t>1.740</a:t>
                      </a:r>
                      <a:r>
                        <a:rPr sz="1500" dirty="0">
                          <a:latin typeface="Arial MT"/>
                          <a:cs typeface="Arial MT"/>
                        </a:rPr>
                        <a:t>	</a:t>
                      </a:r>
                      <a:r>
                        <a:rPr sz="1500" spc="-25" dirty="0">
                          <a:latin typeface="Arial MT"/>
                          <a:cs typeface="Arial MT"/>
                        </a:rPr>
                        <a:t>1.5</a:t>
                      </a:r>
                      <a:endParaRPr sz="1500">
                        <a:latin typeface="Arial MT"/>
                        <a:cs typeface="Arial MT"/>
                      </a:endParaRPr>
                    </a:p>
                  </a:txBody>
                  <a:tcPr marL="0" marR="0" marT="19050" marB="0">
                    <a:lnL w="38100">
                      <a:solidFill>
                        <a:srgbClr val="000000"/>
                      </a:solidFill>
                      <a:prstDash val="solid"/>
                    </a:lnL>
                    <a:lnR w="28575">
                      <a:solidFill>
                        <a:srgbClr val="FF2C79"/>
                      </a:solidFill>
                      <a:prstDash val="solid"/>
                    </a:lnR>
                    <a:lnT w="28575">
                      <a:solidFill>
                        <a:srgbClr val="FF2C79"/>
                      </a:solidFill>
                      <a:prstDash val="solid"/>
                    </a:lnT>
                    <a:lnB w="28575">
                      <a:solidFill>
                        <a:srgbClr val="FF2C79"/>
                      </a:solidFill>
                      <a:prstDash val="solid"/>
                    </a:lnB>
                    <a:solidFill>
                      <a:srgbClr val="00CCFF"/>
                    </a:solidFill>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500">
                        <a:latin typeface="Times New Roman"/>
                        <a:cs typeface="Times New Roman"/>
                      </a:endParaRPr>
                    </a:p>
                  </a:txBody>
                  <a:tcPr marL="0" marR="0" marT="0" marB="0">
                    <a:lnL w="28575">
                      <a:solidFill>
                        <a:srgbClr val="FF2C79"/>
                      </a:solidFill>
                      <a:prstDash val="solid"/>
                    </a:lnL>
                    <a:lnR w="19050">
                      <a:solidFill>
                        <a:srgbClr val="000000"/>
                      </a:solidFill>
                      <a:prstDash val="solid"/>
                    </a:lnR>
                    <a:solidFill>
                      <a:srgbClr val="00CCFF"/>
                    </a:solidFill>
                  </a:tcPr>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4"/>
                  </a:ext>
                </a:extLst>
              </a:tr>
              <a:tr h="231775">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1725"/>
                        </a:lnSpc>
                      </a:pPr>
                      <a:r>
                        <a:rPr sz="1500" spc="-25" dirty="0">
                          <a:latin typeface="Arial MT"/>
                          <a:cs typeface="Arial MT"/>
                        </a:rPr>
                        <a:t>Yb</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rowSpan="2">
                  <a:txBody>
                    <a:bodyPr/>
                    <a:lstStyle/>
                    <a:p>
                      <a:pPr marL="179070">
                        <a:lnSpc>
                          <a:spcPct val="100000"/>
                        </a:lnSpc>
                        <a:spcBef>
                          <a:spcPts val="335"/>
                        </a:spcBef>
                      </a:pPr>
                      <a:r>
                        <a:rPr sz="1500" spc="-50" dirty="0">
                          <a:latin typeface="Arial MT"/>
                          <a:cs typeface="Arial MT"/>
                        </a:rPr>
                        <a:t>R</a:t>
                      </a:r>
                      <a:endParaRPr sz="1500">
                        <a:latin typeface="Arial MT"/>
                        <a:cs typeface="Arial MT"/>
                      </a:endParaRPr>
                    </a:p>
                  </a:txBody>
                  <a:tcPr marL="0" marR="0" marT="42545" marB="0" vert="vert270">
                    <a:lnL w="19050">
                      <a:solidFill>
                        <a:srgbClr val="000000"/>
                      </a:solidFill>
                      <a:prstDash val="solid"/>
                    </a:lnL>
                    <a:lnR w="38100">
                      <a:solidFill>
                        <a:srgbClr val="000000"/>
                      </a:solidFill>
                      <a:prstDash val="solid"/>
                    </a:lnR>
                    <a:lnT w="28575">
                      <a:solidFill>
                        <a:srgbClr val="FF2C79"/>
                      </a:solidFill>
                      <a:prstDash val="solid"/>
                    </a:lnT>
                    <a:lnB w="19050">
                      <a:solidFill>
                        <a:srgbClr val="000000"/>
                      </a:solidFill>
                      <a:prstDash val="solid"/>
                    </a:lnB>
                    <a:solidFill>
                      <a:srgbClr val="FFFFFF"/>
                    </a:solidFill>
                  </a:tcPr>
                </a:tc>
                <a:tc>
                  <a:txBody>
                    <a:bodyPr/>
                    <a:lstStyle/>
                    <a:p>
                      <a:pPr marL="335280">
                        <a:lnSpc>
                          <a:spcPts val="1725"/>
                        </a:lnSpc>
                        <a:tabLst>
                          <a:tab pos="1332230" algn="l"/>
                        </a:tabLst>
                      </a:pPr>
                      <a:r>
                        <a:rPr sz="1500" spc="-10" dirty="0">
                          <a:latin typeface="Arial MT"/>
                          <a:cs typeface="Arial MT"/>
                        </a:rPr>
                        <a:t>0.049</a:t>
                      </a:r>
                      <a:r>
                        <a:rPr sz="1500" dirty="0">
                          <a:latin typeface="Arial MT"/>
                          <a:cs typeface="Arial MT"/>
                        </a:rPr>
                        <a:t>	</a:t>
                      </a:r>
                      <a:r>
                        <a:rPr sz="1500" spc="-20" dirty="0">
                          <a:latin typeface="Arial MT"/>
                          <a:cs typeface="Arial MT"/>
                        </a:rPr>
                        <a:t>0.34</a:t>
                      </a:r>
                      <a:endParaRPr sz="1500">
                        <a:latin typeface="Arial MT"/>
                        <a:cs typeface="Arial MT"/>
                      </a:endParaRPr>
                    </a:p>
                  </a:txBody>
                  <a:tcPr marL="0" marR="0" marT="0" marB="0">
                    <a:lnL w="38100">
                      <a:solidFill>
                        <a:srgbClr val="000000"/>
                      </a:solidFill>
                      <a:prstDash val="solid"/>
                    </a:lnL>
                    <a:lnT w="28575">
                      <a:solidFill>
                        <a:srgbClr val="FF2C79"/>
                      </a:solidFill>
                      <a:prstDash val="solid"/>
                    </a:lnT>
                    <a:solidFill>
                      <a:srgbClr val="00CCFF"/>
                    </a:solidFill>
                  </a:tcPr>
                </a:tc>
                <a:tc>
                  <a:txBody>
                    <a:bodyPr/>
                    <a:lstStyle/>
                    <a:p>
                      <a:pPr marL="233679">
                        <a:lnSpc>
                          <a:spcPts val="1725"/>
                        </a:lnSpc>
                      </a:pPr>
                      <a:r>
                        <a:rPr sz="1500" spc="-10" dirty="0">
                          <a:latin typeface="Arial MT"/>
                          <a:cs typeface="Arial MT"/>
                        </a:rPr>
                        <a:t>0.542</a:t>
                      </a:r>
                      <a:endParaRPr sz="1500">
                        <a:latin typeface="Arial MT"/>
                        <a:cs typeface="Arial MT"/>
                      </a:endParaRPr>
                    </a:p>
                  </a:txBody>
                  <a:tcPr marL="0" marR="0" marT="0" marB="0">
                    <a:lnT w="28575">
                      <a:solidFill>
                        <a:srgbClr val="FF2C79"/>
                      </a:solidFill>
                      <a:prstDash val="solid"/>
                    </a:lnT>
                    <a:solidFill>
                      <a:srgbClr val="00CCFF"/>
                    </a:solidFill>
                  </a:tcPr>
                </a:tc>
                <a:tc>
                  <a:txBody>
                    <a:bodyPr/>
                    <a:lstStyle/>
                    <a:p>
                      <a:pPr marL="300355">
                        <a:lnSpc>
                          <a:spcPts val="1725"/>
                        </a:lnSpc>
                      </a:pPr>
                      <a:r>
                        <a:rPr sz="1500" spc="-10" dirty="0">
                          <a:latin typeface="Arial MT"/>
                          <a:cs typeface="Arial MT"/>
                        </a:rPr>
                        <a:t>6.167</a:t>
                      </a:r>
                      <a:endParaRPr sz="1500">
                        <a:latin typeface="Arial MT"/>
                        <a:cs typeface="Arial MT"/>
                      </a:endParaRPr>
                    </a:p>
                  </a:txBody>
                  <a:tcPr marL="0" marR="0" marT="0" marB="0">
                    <a:lnT w="28575">
                      <a:solidFill>
                        <a:srgbClr val="FF2C79"/>
                      </a:solidFill>
                      <a:prstDash val="solid"/>
                    </a:lnT>
                    <a:solidFill>
                      <a:srgbClr val="00CCFF"/>
                    </a:solidFill>
                  </a:tcPr>
                </a:tc>
                <a:tc>
                  <a:txBody>
                    <a:bodyPr/>
                    <a:lstStyle/>
                    <a:p>
                      <a:pPr marL="495934">
                        <a:lnSpc>
                          <a:spcPts val="1725"/>
                        </a:lnSpc>
                      </a:pPr>
                      <a:r>
                        <a:rPr sz="1500" spc="-10" dirty="0">
                          <a:latin typeface="Arial MT"/>
                          <a:cs typeface="Arial MT"/>
                        </a:rPr>
                        <a:t>0.023</a:t>
                      </a:r>
                      <a:endParaRPr sz="1500">
                        <a:latin typeface="Arial MT"/>
                        <a:cs typeface="Arial MT"/>
                      </a:endParaRPr>
                    </a:p>
                  </a:txBody>
                  <a:tcPr marL="0" marR="0" marT="0" marB="0">
                    <a:lnT w="28575">
                      <a:solidFill>
                        <a:srgbClr val="FF2C79"/>
                      </a:solidFill>
                      <a:prstDash val="solid"/>
                    </a:lnT>
                    <a:solidFill>
                      <a:srgbClr val="00CCFF"/>
                    </a:solidFill>
                  </a:tcPr>
                </a:tc>
                <a:tc gridSpan="2">
                  <a:txBody>
                    <a:bodyPr/>
                    <a:lstStyle/>
                    <a:p>
                      <a:pPr marL="335280">
                        <a:lnSpc>
                          <a:spcPts val="1725"/>
                        </a:lnSpc>
                        <a:tabLst>
                          <a:tab pos="1293495" algn="l"/>
                        </a:tabLst>
                      </a:pPr>
                      <a:r>
                        <a:rPr sz="1500" spc="-10" dirty="0">
                          <a:latin typeface="Arial MT"/>
                          <a:cs typeface="Arial MT"/>
                        </a:rPr>
                        <a:t>1.642</a:t>
                      </a:r>
                      <a:r>
                        <a:rPr sz="1500" dirty="0">
                          <a:latin typeface="Arial MT"/>
                          <a:cs typeface="Arial MT"/>
                        </a:rPr>
                        <a:t>	</a:t>
                      </a:r>
                      <a:r>
                        <a:rPr sz="1500" spc="-25" dirty="0">
                          <a:latin typeface="Arial MT"/>
                          <a:cs typeface="Arial MT"/>
                        </a:rPr>
                        <a:t>1.4</a:t>
                      </a:r>
                      <a:endParaRPr sz="1500">
                        <a:latin typeface="Arial MT"/>
                        <a:cs typeface="Arial MT"/>
                      </a:endParaRPr>
                    </a:p>
                  </a:txBody>
                  <a:tcPr marL="0" marR="0" marT="0" marB="0">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5"/>
                  </a:ext>
                </a:extLst>
              </a:tr>
              <a:tr h="133985">
                <a:tc vMerge="1">
                  <a:txBody>
                    <a:bodyPr/>
                    <a:lstStyle/>
                    <a:p>
                      <a:endParaRPr/>
                    </a:p>
                  </a:txBody>
                  <a:tcPr marL="0" marR="0" marT="0" marB="0">
                    <a:lnR w="19050">
                      <a:solidFill>
                        <a:srgbClr val="000000"/>
                      </a:solidFill>
                      <a:prstDash val="solid"/>
                    </a:lnR>
                    <a:solidFill>
                      <a:srgbClr val="00CCFF"/>
                    </a:solidFill>
                  </a:tcPr>
                </a:tc>
                <a:tc gridSpan="2">
                  <a:txBody>
                    <a:bodyPr/>
                    <a:lstStyle/>
                    <a:p>
                      <a:pPr marL="47625">
                        <a:lnSpc>
                          <a:spcPts val="955"/>
                        </a:lnSpc>
                      </a:pPr>
                      <a:r>
                        <a:rPr sz="1500" spc="-25" dirty="0">
                          <a:latin typeface="Arial MT"/>
                          <a:cs typeface="Arial MT"/>
                        </a:rPr>
                        <a:t>Lu</a:t>
                      </a:r>
                      <a:endParaRPr sz="1500">
                        <a:latin typeface="Arial MT"/>
                        <a:cs typeface="Arial MT"/>
                      </a:endParaRPr>
                    </a:p>
                  </a:txBody>
                  <a:tcPr marL="0" marR="0" marT="0" marB="0">
                    <a:lnL w="19050">
                      <a:solidFill>
                        <a:srgbClr val="000000"/>
                      </a:solidFill>
                      <a:prstDash val="solid"/>
                    </a:lnL>
                    <a:lnR w="19050">
                      <a:solidFill>
                        <a:srgbClr val="000000"/>
                      </a:solidFill>
                      <a:prstDash val="solid"/>
                    </a:lnR>
                    <a:solidFill>
                      <a:srgbClr val="00CCFF"/>
                    </a:solidFill>
                  </a:tcPr>
                </a:tc>
                <a:tc hMerge="1">
                  <a:txBody>
                    <a:bodyPr/>
                    <a:lstStyle/>
                    <a:p>
                      <a:endParaRPr/>
                    </a:p>
                  </a:txBody>
                  <a:tcPr marL="0" marR="0" marT="0" marB="0"/>
                </a:tc>
                <a:tc vMerge="1">
                  <a:txBody>
                    <a:bodyPr/>
                    <a:lstStyle/>
                    <a:p>
                      <a:endParaRPr/>
                    </a:p>
                  </a:txBody>
                  <a:tcPr marL="0" marR="0" marT="42545" marB="0" vert="vert270">
                    <a:lnL w="19050">
                      <a:solidFill>
                        <a:srgbClr val="000000"/>
                      </a:solidFill>
                      <a:prstDash val="solid"/>
                    </a:lnL>
                    <a:lnR w="38100">
                      <a:solidFill>
                        <a:srgbClr val="000000"/>
                      </a:solidFill>
                      <a:prstDash val="solid"/>
                    </a:lnR>
                    <a:lnT w="28575">
                      <a:solidFill>
                        <a:srgbClr val="FF2C79"/>
                      </a:solidFill>
                      <a:prstDash val="solid"/>
                    </a:lnT>
                    <a:lnB w="19050">
                      <a:solidFill>
                        <a:srgbClr val="000000"/>
                      </a:solidFill>
                      <a:prstDash val="solid"/>
                    </a:lnB>
                    <a:solidFill>
                      <a:srgbClr val="FFFFFF"/>
                    </a:solidFill>
                  </a:tcPr>
                </a:tc>
                <a:tc rowSpan="2">
                  <a:txBody>
                    <a:bodyPr/>
                    <a:lstStyle/>
                    <a:p>
                      <a:pPr marL="335280">
                        <a:lnSpc>
                          <a:spcPts val="1735"/>
                        </a:lnSpc>
                        <a:tabLst>
                          <a:tab pos="1332230" algn="l"/>
                        </a:tabLst>
                      </a:pPr>
                      <a:r>
                        <a:rPr sz="1500" spc="-10" dirty="0">
                          <a:latin typeface="Arial MT"/>
                          <a:cs typeface="Arial MT"/>
                        </a:rPr>
                        <a:t>0.045</a:t>
                      </a:r>
                      <a:r>
                        <a:rPr sz="1500" dirty="0">
                          <a:latin typeface="Arial MT"/>
                          <a:cs typeface="Arial MT"/>
                        </a:rPr>
                        <a:t>	</a:t>
                      </a:r>
                      <a:r>
                        <a:rPr sz="1500" spc="-20" dirty="0">
                          <a:latin typeface="Arial MT"/>
                          <a:cs typeface="Arial MT"/>
                        </a:rPr>
                        <a:t>0.42</a:t>
                      </a:r>
                      <a:endParaRPr sz="1500">
                        <a:latin typeface="Arial MT"/>
                        <a:cs typeface="Arial MT"/>
                      </a:endParaRPr>
                    </a:p>
                  </a:txBody>
                  <a:tcPr marL="0" marR="0" marT="0" marB="0">
                    <a:lnL w="38100">
                      <a:solidFill>
                        <a:srgbClr val="000000"/>
                      </a:solidFill>
                      <a:prstDash val="solid"/>
                    </a:lnL>
                    <a:lnB w="19050">
                      <a:solidFill>
                        <a:srgbClr val="000000"/>
                      </a:solidFill>
                      <a:prstDash val="solid"/>
                    </a:lnB>
                    <a:solidFill>
                      <a:srgbClr val="00CCFF"/>
                    </a:solidFill>
                  </a:tcPr>
                </a:tc>
                <a:tc rowSpan="2">
                  <a:txBody>
                    <a:bodyPr/>
                    <a:lstStyle/>
                    <a:p>
                      <a:pPr marL="233679">
                        <a:lnSpc>
                          <a:spcPts val="1735"/>
                        </a:lnSpc>
                      </a:pPr>
                      <a:r>
                        <a:rPr sz="1500" spc="-10" dirty="0">
                          <a:latin typeface="Arial MT"/>
                          <a:cs typeface="Arial MT"/>
                        </a:rPr>
                        <a:t>0.506</a:t>
                      </a:r>
                      <a:endParaRPr sz="1500">
                        <a:latin typeface="Arial MT"/>
                        <a:cs typeface="Arial MT"/>
                      </a:endParaRPr>
                    </a:p>
                  </a:txBody>
                  <a:tcPr marL="0" marR="0" marT="0" marB="0">
                    <a:lnB w="19050">
                      <a:solidFill>
                        <a:srgbClr val="000000"/>
                      </a:solidFill>
                      <a:prstDash val="solid"/>
                    </a:lnB>
                    <a:solidFill>
                      <a:srgbClr val="00CCFF"/>
                    </a:solidFill>
                  </a:tcPr>
                </a:tc>
                <a:tc rowSpan="2">
                  <a:txBody>
                    <a:bodyPr/>
                    <a:lstStyle/>
                    <a:p>
                      <a:pPr marL="300355">
                        <a:lnSpc>
                          <a:spcPts val="1735"/>
                        </a:lnSpc>
                      </a:pPr>
                      <a:r>
                        <a:rPr sz="1500" spc="-10" dirty="0">
                          <a:latin typeface="Arial MT"/>
                          <a:cs typeface="Arial MT"/>
                        </a:rPr>
                        <a:t>6.950</a:t>
                      </a:r>
                      <a:endParaRPr sz="1500">
                        <a:latin typeface="Arial MT"/>
                        <a:cs typeface="Arial MT"/>
                      </a:endParaRPr>
                    </a:p>
                  </a:txBody>
                  <a:tcPr marL="0" marR="0" marT="0" marB="0">
                    <a:lnB w="19050">
                      <a:solidFill>
                        <a:srgbClr val="000000"/>
                      </a:solidFill>
                      <a:prstDash val="solid"/>
                    </a:lnB>
                    <a:solidFill>
                      <a:srgbClr val="00CCFF"/>
                    </a:solidFill>
                  </a:tcPr>
                </a:tc>
                <a:tc rowSpan="2">
                  <a:txBody>
                    <a:bodyPr/>
                    <a:lstStyle/>
                    <a:p>
                      <a:pPr marL="495934">
                        <a:lnSpc>
                          <a:spcPts val="1735"/>
                        </a:lnSpc>
                      </a:pPr>
                      <a:r>
                        <a:rPr sz="1500" spc="-10" dirty="0">
                          <a:latin typeface="Arial MT"/>
                          <a:cs typeface="Arial MT"/>
                        </a:rPr>
                        <a:t>0.019</a:t>
                      </a:r>
                      <a:endParaRPr sz="1500">
                        <a:latin typeface="Arial MT"/>
                        <a:cs typeface="Arial MT"/>
                      </a:endParaRPr>
                    </a:p>
                  </a:txBody>
                  <a:tcPr marL="0" marR="0" marT="0" marB="0">
                    <a:lnB w="19050">
                      <a:solidFill>
                        <a:srgbClr val="000000"/>
                      </a:solidFill>
                      <a:prstDash val="solid"/>
                    </a:lnB>
                    <a:solidFill>
                      <a:srgbClr val="00CCFF"/>
                    </a:solidFill>
                  </a:tcPr>
                </a:tc>
                <a:tc rowSpan="2" gridSpan="2">
                  <a:txBody>
                    <a:bodyPr/>
                    <a:lstStyle/>
                    <a:p>
                      <a:pPr marL="335280">
                        <a:lnSpc>
                          <a:spcPts val="1735"/>
                        </a:lnSpc>
                      </a:pPr>
                      <a:r>
                        <a:rPr sz="1500" spc="-10" dirty="0">
                          <a:latin typeface="Arial MT"/>
                          <a:cs typeface="Arial MT"/>
                        </a:rPr>
                        <a:t>1.563</a:t>
                      </a:r>
                      <a:endParaRPr sz="1500">
                        <a:latin typeface="Arial MT"/>
                        <a:cs typeface="Arial MT"/>
                      </a:endParaRPr>
                    </a:p>
                  </a:txBody>
                  <a:tcPr marL="0" marR="0" marT="0" marB="0">
                    <a:lnR w="19050">
                      <a:solidFill>
                        <a:srgbClr val="000000"/>
                      </a:solidFill>
                      <a:prstDash val="solid"/>
                    </a:lnR>
                    <a:lnB w="19050">
                      <a:solidFill>
                        <a:srgbClr val="000000"/>
                      </a:solidFill>
                      <a:prstDash val="solid"/>
                    </a:lnB>
                    <a:solidFill>
                      <a:srgbClr val="00CCFF"/>
                    </a:solidFill>
                  </a:tcPr>
                </a:tc>
                <a:tc rowSpan="2" h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6"/>
                  </a:ext>
                </a:extLst>
              </a:tr>
              <a:tr h="105410">
                <a:tc vMerge="1">
                  <a:txBody>
                    <a:bodyPr/>
                    <a:lstStyle/>
                    <a:p>
                      <a:endParaRPr/>
                    </a:p>
                  </a:txBody>
                  <a:tcPr marL="0" marR="0" marT="0" marB="0">
                    <a:lnR w="19050">
                      <a:solidFill>
                        <a:srgbClr val="000000"/>
                      </a:solidFill>
                      <a:prstDash val="solid"/>
                    </a:lnR>
                    <a:solidFill>
                      <a:srgbClr val="00CCFF"/>
                    </a:solidFill>
                  </a:tcPr>
                </a:tc>
                <a:tc gridSpan="3">
                  <a:txBody>
                    <a:bodyPr/>
                    <a:lstStyle/>
                    <a:p>
                      <a:pPr>
                        <a:lnSpc>
                          <a:spcPct val="100000"/>
                        </a:lnSpc>
                      </a:pPr>
                      <a:endParaRPr sz="500">
                        <a:latin typeface="Times New Roman"/>
                        <a:cs typeface="Times New Roman"/>
                      </a:endParaRPr>
                    </a:p>
                  </a:txBody>
                  <a:tcPr marL="0" marR="0" marT="0" marB="0">
                    <a:lnL w="19050">
                      <a:solidFill>
                        <a:srgbClr val="000000"/>
                      </a:solidFill>
                      <a:prstDash val="solid"/>
                    </a:lnL>
                    <a:lnR w="19050">
                      <a:solidFill>
                        <a:srgbClr val="000000"/>
                      </a:solidFill>
                      <a:prstDash val="solid"/>
                    </a:lnR>
                    <a:lnB w="19050">
                      <a:solidFill>
                        <a:srgbClr val="000000"/>
                      </a:solidFill>
                      <a:prstDash val="solid"/>
                    </a:lnB>
                    <a:solidFill>
                      <a:srgbClr val="00CCFF"/>
                    </a:solidFill>
                  </a:tcPr>
                </a:tc>
                <a:tc hMerge="1">
                  <a:txBody>
                    <a:bodyPr/>
                    <a:lstStyle/>
                    <a:p>
                      <a:endParaRPr/>
                    </a:p>
                  </a:txBody>
                  <a:tcPr marL="0" marR="0" marT="0" marB="0"/>
                </a:tc>
                <a:tc hMerge="1">
                  <a:txBody>
                    <a:bodyPr/>
                    <a:lstStyle/>
                    <a:p>
                      <a:endParaRPr/>
                    </a:p>
                  </a:txBody>
                  <a:tcPr marL="0" marR="0" marT="0" marB="0"/>
                </a:tc>
                <a:tc vMerge="1">
                  <a:txBody>
                    <a:bodyPr/>
                    <a:lstStyle/>
                    <a:p>
                      <a:endParaRPr/>
                    </a:p>
                  </a:txBody>
                  <a:tcPr marL="0" marR="0" marT="0" marB="0">
                    <a:lnL w="38100">
                      <a:solidFill>
                        <a:srgbClr val="000000"/>
                      </a:solidFill>
                      <a:prstDash val="solid"/>
                    </a:lnL>
                    <a:lnB w="19050">
                      <a:solidFill>
                        <a:srgbClr val="000000"/>
                      </a:solidFill>
                      <a:prstDash val="solid"/>
                    </a:lnB>
                    <a:solidFill>
                      <a:srgbClr val="00CCFF"/>
                    </a:solidFill>
                  </a:tcPr>
                </a:tc>
                <a:tc vMerge="1">
                  <a:txBody>
                    <a:bodyPr/>
                    <a:lstStyle/>
                    <a:p>
                      <a:endParaRPr/>
                    </a:p>
                  </a:txBody>
                  <a:tcPr marL="0" marR="0" marT="0" marB="0">
                    <a:lnB w="19050">
                      <a:solidFill>
                        <a:srgbClr val="000000"/>
                      </a:solidFill>
                      <a:prstDash val="solid"/>
                    </a:lnB>
                    <a:solidFill>
                      <a:srgbClr val="00CCFF"/>
                    </a:solidFill>
                  </a:tcPr>
                </a:tc>
                <a:tc vMerge="1">
                  <a:txBody>
                    <a:bodyPr/>
                    <a:lstStyle/>
                    <a:p>
                      <a:endParaRPr/>
                    </a:p>
                  </a:txBody>
                  <a:tcPr marL="0" marR="0" marT="0" marB="0">
                    <a:lnB w="19050">
                      <a:solidFill>
                        <a:srgbClr val="000000"/>
                      </a:solidFill>
                      <a:prstDash val="solid"/>
                    </a:lnB>
                    <a:solidFill>
                      <a:srgbClr val="00CCFF"/>
                    </a:solidFill>
                  </a:tcPr>
                </a:tc>
                <a:tc vMerge="1">
                  <a:txBody>
                    <a:bodyPr/>
                    <a:lstStyle/>
                    <a:p>
                      <a:endParaRPr/>
                    </a:p>
                  </a:txBody>
                  <a:tcPr marL="0" marR="0" marT="0" marB="0">
                    <a:lnB w="19050">
                      <a:solidFill>
                        <a:srgbClr val="000000"/>
                      </a:solidFill>
                      <a:prstDash val="solid"/>
                    </a:lnB>
                    <a:solidFill>
                      <a:srgbClr val="00CCFF"/>
                    </a:solidFill>
                  </a:tcPr>
                </a:tc>
                <a:tc gridSpan="2" vMerge="1">
                  <a:txBody>
                    <a:bodyPr/>
                    <a:lstStyle/>
                    <a:p>
                      <a:endParaRPr/>
                    </a:p>
                  </a:txBody>
                  <a:tcPr marL="0" marR="0" marT="0" marB="0">
                    <a:lnR w="19050">
                      <a:solidFill>
                        <a:srgbClr val="000000"/>
                      </a:solidFill>
                      <a:prstDash val="solid"/>
                    </a:lnR>
                    <a:lnB w="19050">
                      <a:solidFill>
                        <a:srgbClr val="000000"/>
                      </a:solidFill>
                      <a:prstDash val="solid"/>
                    </a:lnB>
                    <a:solidFill>
                      <a:srgbClr val="00CCFF"/>
                    </a:solidFill>
                  </a:tcPr>
                </a:tc>
                <a:tc hMerge="1" vMerge="1">
                  <a:txBody>
                    <a:bodyPr/>
                    <a:lstStyle/>
                    <a:p>
                      <a:endParaRPr/>
                    </a:p>
                  </a:txBody>
                  <a:tcPr marL="0" marR="0" marT="0" marB="0"/>
                </a:tc>
                <a:tc vMerge="1">
                  <a:txBody>
                    <a:bodyPr/>
                    <a:lstStyle/>
                    <a:p>
                      <a:endParaRPr/>
                    </a:p>
                  </a:txBody>
                  <a:tcPr marL="0" marR="0" marT="0" marB="0">
                    <a:lnL w="19050">
                      <a:solidFill>
                        <a:srgbClr val="000000"/>
                      </a:solidFill>
                      <a:prstDash val="solid"/>
                    </a:lnL>
                    <a:solidFill>
                      <a:srgbClr val="00CCFF"/>
                    </a:solidFill>
                  </a:tcPr>
                </a:tc>
                <a:extLst>
                  <a:ext uri="{0D108BD9-81ED-4DB2-BD59-A6C34878D82A}">
                    <a16:rowId xmlns:a16="http://schemas.microsoft.com/office/drawing/2014/main" val="10017"/>
                  </a:ext>
                </a:extLst>
              </a:tr>
              <a:tr h="239395">
                <a:tc>
                  <a:txBody>
                    <a:bodyPr/>
                    <a:lstStyle/>
                    <a:p>
                      <a:pPr>
                        <a:lnSpc>
                          <a:spcPct val="100000"/>
                        </a:lnSpc>
                      </a:pPr>
                      <a:endParaRPr sz="1400">
                        <a:latin typeface="Times New Roman"/>
                        <a:cs typeface="Times New Roman"/>
                      </a:endParaRPr>
                    </a:p>
                  </a:txBody>
                  <a:tcPr marL="0" marR="0" marT="0" marB="0">
                    <a:solidFill>
                      <a:srgbClr val="00CCFF"/>
                    </a:solidFill>
                  </a:tcPr>
                </a:tc>
                <a:tc gridSpan="4">
                  <a:txBody>
                    <a:bodyPr/>
                    <a:lstStyle/>
                    <a:p>
                      <a:pPr marL="47625">
                        <a:lnSpc>
                          <a:spcPct val="100000"/>
                        </a:lnSpc>
                        <a:spcBef>
                          <a:spcPts val="155"/>
                        </a:spcBef>
                      </a:pPr>
                      <a:r>
                        <a:rPr sz="1200" dirty="0">
                          <a:latin typeface="Arial MT"/>
                          <a:cs typeface="Arial MT"/>
                        </a:rPr>
                        <a:t>Data</a:t>
                      </a:r>
                      <a:r>
                        <a:rPr sz="1200" spc="-15" dirty="0">
                          <a:latin typeface="Arial MT"/>
                          <a:cs typeface="Arial MT"/>
                        </a:rPr>
                        <a:t> </a:t>
                      </a:r>
                      <a:r>
                        <a:rPr sz="1200" dirty="0">
                          <a:latin typeface="Arial MT"/>
                          <a:cs typeface="Arial MT"/>
                        </a:rPr>
                        <a:t>from</a:t>
                      </a:r>
                      <a:r>
                        <a:rPr sz="1200" spc="-15" dirty="0">
                          <a:latin typeface="Arial MT"/>
                          <a:cs typeface="Arial MT"/>
                        </a:rPr>
                        <a:t> </a:t>
                      </a:r>
                      <a:r>
                        <a:rPr sz="1200" dirty="0">
                          <a:latin typeface="Arial MT"/>
                          <a:cs typeface="Arial MT"/>
                        </a:rPr>
                        <a:t>Rollinson</a:t>
                      </a:r>
                      <a:r>
                        <a:rPr sz="1200" spc="-15" dirty="0">
                          <a:latin typeface="Arial MT"/>
                          <a:cs typeface="Arial MT"/>
                        </a:rPr>
                        <a:t> </a:t>
                      </a:r>
                      <a:r>
                        <a:rPr sz="1200" spc="-10" dirty="0">
                          <a:latin typeface="Arial MT"/>
                          <a:cs typeface="Arial MT"/>
                        </a:rPr>
                        <a:t>(1993).</a:t>
                      </a:r>
                      <a:endParaRPr sz="1200">
                        <a:latin typeface="Arial MT"/>
                        <a:cs typeface="Arial MT"/>
                      </a:endParaRPr>
                    </a:p>
                  </a:txBody>
                  <a:tcPr marL="0" marR="0" marT="19685" marB="0">
                    <a:lnT w="19050">
                      <a:solidFill>
                        <a:srgbClr val="000000"/>
                      </a:solidFill>
                      <a:prstDash val="solid"/>
                    </a:lnT>
                    <a:solidFill>
                      <a:srgbClr val="00CCFF"/>
                    </a:solidFill>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a:txBody>
                    <a:bodyPr/>
                    <a:lstStyle/>
                    <a:p>
                      <a:pPr>
                        <a:lnSpc>
                          <a:spcPct val="100000"/>
                        </a:lnSpc>
                      </a:pPr>
                      <a:endParaRPr sz="1400">
                        <a:latin typeface="Times New Roman"/>
                        <a:cs typeface="Times New Roman"/>
                      </a:endParaRPr>
                    </a:p>
                  </a:txBody>
                  <a:tcPr marL="0" marR="0" marT="0" marB="0">
                    <a:lnT w="19050">
                      <a:solidFill>
                        <a:srgbClr val="000000"/>
                      </a:solidFill>
                      <a:prstDash val="solid"/>
                    </a:lnT>
                    <a:solidFill>
                      <a:srgbClr val="00CCFF"/>
                    </a:solidFill>
                  </a:tcPr>
                </a:tc>
                <a:tc>
                  <a:txBody>
                    <a:bodyPr/>
                    <a:lstStyle/>
                    <a:p>
                      <a:pPr>
                        <a:lnSpc>
                          <a:spcPct val="100000"/>
                        </a:lnSpc>
                      </a:pPr>
                      <a:endParaRPr sz="1400">
                        <a:latin typeface="Times New Roman"/>
                        <a:cs typeface="Times New Roman"/>
                      </a:endParaRPr>
                    </a:p>
                  </a:txBody>
                  <a:tcPr marL="0" marR="0" marT="0" marB="0">
                    <a:lnT w="19050">
                      <a:solidFill>
                        <a:srgbClr val="000000"/>
                      </a:solidFill>
                      <a:prstDash val="solid"/>
                    </a:lnT>
                    <a:solidFill>
                      <a:srgbClr val="00CCFF"/>
                    </a:solidFill>
                  </a:tcPr>
                </a:tc>
                <a:tc>
                  <a:txBody>
                    <a:bodyPr/>
                    <a:lstStyle/>
                    <a:p>
                      <a:pPr marL="55244">
                        <a:lnSpc>
                          <a:spcPct val="100000"/>
                        </a:lnSpc>
                        <a:spcBef>
                          <a:spcPts val="155"/>
                        </a:spcBef>
                      </a:pPr>
                      <a:r>
                        <a:rPr sz="1200" dirty="0">
                          <a:latin typeface="Arial MT"/>
                          <a:cs typeface="Arial MT"/>
                        </a:rPr>
                        <a:t>*</a:t>
                      </a:r>
                      <a:r>
                        <a:rPr sz="1200" spc="-5" dirty="0">
                          <a:latin typeface="Arial MT"/>
                          <a:cs typeface="Arial MT"/>
                        </a:rPr>
                        <a:t> </a:t>
                      </a:r>
                      <a:r>
                        <a:rPr sz="1200" spc="-10" dirty="0">
                          <a:latin typeface="Arial MT"/>
                          <a:cs typeface="Arial MT"/>
                        </a:rPr>
                        <a:t>Eu</a:t>
                      </a:r>
                      <a:r>
                        <a:rPr sz="1125" spc="-15" baseline="33333" dirty="0">
                          <a:latin typeface="Arial MT"/>
                          <a:cs typeface="Arial MT"/>
                        </a:rPr>
                        <a:t>3+</a:t>
                      </a:r>
                      <a:r>
                        <a:rPr sz="1200" spc="-10" dirty="0">
                          <a:latin typeface="Arial MT"/>
                          <a:cs typeface="Arial MT"/>
                        </a:rPr>
                        <a:t>/Eu</a:t>
                      </a:r>
                      <a:r>
                        <a:rPr sz="1125" spc="-15" baseline="33333" dirty="0">
                          <a:latin typeface="Arial MT"/>
                          <a:cs typeface="Arial MT"/>
                        </a:rPr>
                        <a:t>2+</a:t>
                      </a:r>
                      <a:endParaRPr sz="1125" baseline="33333">
                        <a:latin typeface="Arial MT"/>
                        <a:cs typeface="Arial MT"/>
                      </a:endParaRPr>
                    </a:p>
                  </a:txBody>
                  <a:tcPr marL="0" marR="0" marT="19685" marB="0">
                    <a:lnT w="19050">
                      <a:solidFill>
                        <a:srgbClr val="000000"/>
                      </a:solidFill>
                      <a:prstDash val="solid"/>
                    </a:lnT>
                    <a:solidFill>
                      <a:srgbClr val="00CCFF"/>
                    </a:solidFill>
                  </a:tcPr>
                </a:tc>
                <a:tc gridSpan="2">
                  <a:txBody>
                    <a:bodyPr/>
                    <a:lstStyle/>
                    <a:p>
                      <a:pPr marL="47625">
                        <a:lnSpc>
                          <a:spcPct val="100000"/>
                        </a:lnSpc>
                        <a:spcBef>
                          <a:spcPts val="155"/>
                        </a:spcBef>
                      </a:pPr>
                      <a:r>
                        <a:rPr sz="1200" i="1" dirty="0">
                          <a:latin typeface="Arial"/>
                          <a:cs typeface="Arial"/>
                        </a:rPr>
                        <a:t>Italics</a:t>
                      </a:r>
                      <a:r>
                        <a:rPr sz="1200" i="1" spc="45" dirty="0">
                          <a:latin typeface="Arial"/>
                          <a:cs typeface="Arial"/>
                        </a:rPr>
                        <a:t> </a:t>
                      </a:r>
                      <a:r>
                        <a:rPr sz="1200" dirty="0">
                          <a:latin typeface="Arial MT"/>
                          <a:cs typeface="Arial MT"/>
                        </a:rPr>
                        <a:t>are</a:t>
                      </a:r>
                      <a:r>
                        <a:rPr sz="1200" spc="-20" dirty="0">
                          <a:latin typeface="Arial MT"/>
                          <a:cs typeface="Arial MT"/>
                        </a:rPr>
                        <a:t> </a:t>
                      </a:r>
                      <a:r>
                        <a:rPr sz="1200" spc="-10" dirty="0">
                          <a:latin typeface="Arial MT"/>
                          <a:cs typeface="Arial MT"/>
                        </a:rPr>
                        <a:t>estimated</a:t>
                      </a:r>
                      <a:endParaRPr sz="1200">
                        <a:latin typeface="Arial MT"/>
                        <a:cs typeface="Arial MT"/>
                      </a:endParaRPr>
                    </a:p>
                  </a:txBody>
                  <a:tcPr marL="0" marR="0" marT="19685" marB="0">
                    <a:lnT w="19050">
                      <a:solidFill>
                        <a:srgbClr val="000000"/>
                      </a:solidFill>
                      <a:prstDash val="solid"/>
                    </a:lnT>
                    <a:solidFill>
                      <a:srgbClr val="00CCFF"/>
                    </a:solidFill>
                  </a:tcPr>
                </a:tc>
                <a:tc hMerge="1">
                  <a:txBody>
                    <a:bodyPr/>
                    <a:lstStyle/>
                    <a:p>
                      <a:endParaRPr/>
                    </a:p>
                  </a:txBody>
                  <a:tcPr marL="0" marR="0" marT="0" marB="0"/>
                </a:tc>
                <a:tc>
                  <a:txBody>
                    <a:bodyPr/>
                    <a:lstStyle/>
                    <a:p>
                      <a:pPr>
                        <a:lnSpc>
                          <a:spcPct val="100000"/>
                        </a:lnSpc>
                      </a:pPr>
                      <a:endParaRPr sz="1400">
                        <a:latin typeface="Times New Roman"/>
                        <a:cs typeface="Times New Roman"/>
                      </a:endParaRPr>
                    </a:p>
                  </a:txBody>
                  <a:tcPr marL="0" marR="0" marT="0" marB="0">
                    <a:solidFill>
                      <a:srgbClr val="00CCFF"/>
                    </a:solidFill>
                  </a:tcPr>
                </a:tc>
                <a:extLst>
                  <a:ext uri="{0D108BD9-81ED-4DB2-BD59-A6C34878D82A}">
                    <a16:rowId xmlns:a16="http://schemas.microsoft.com/office/drawing/2014/main" val="10018"/>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04189" y="544196"/>
            <a:ext cx="8639811" cy="456535"/>
          </a:xfrm>
          <a:prstGeom prst="rect">
            <a:avLst/>
          </a:prstGeom>
        </p:spPr>
        <p:txBody>
          <a:bodyPr vert="horz" wrap="square" lIns="0" tIns="33020" rIns="0" bIns="0" rtlCol="0">
            <a:spAutoFit/>
          </a:bodyPr>
          <a:lstStyle/>
          <a:p>
            <a:pPr marL="12700" marR="5080">
              <a:lnSpc>
                <a:spcPts val="3300"/>
              </a:lnSpc>
              <a:spcBef>
                <a:spcPts val="260"/>
              </a:spcBef>
              <a:buClr>
                <a:srgbClr val="00CC00"/>
              </a:buClr>
              <a:buSzPct val="50000"/>
              <a:tabLst>
                <a:tab pos="355600" algn="l"/>
              </a:tabLst>
            </a:pPr>
            <a:r>
              <a:rPr sz="2800" dirty="0">
                <a:latin typeface="Times New Roman"/>
                <a:cs typeface="Times New Roman"/>
              </a:rPr>
              <a:t>Trace</a:t>
            </a:r>
            <a:r>
              <a:rPr sz="2800" spc="-55" dirty="0">
                <a:latin typeface="Times New Roman"/>
                <a:cs typeface="Times New Roman"/>
              </a:rPr>
              <a:t> </a:t>
            </a:r>
            <a:r>
              <a:rPr sz="2800" dirty="0">
                <a:latin typeface="Times New Roman"/>
                <a:cs typeface="Times New Roman"/>
              </a:rPr>
              <a:t>elements</a:t>
            </a:r>
            <a:r>
              <a:rPr sz="2800" spc="-45" dirty="0">
                <a:latin typeface="Times New Roman"/>
                <a:cs typeface="Times New Roman"/>
              </a:rPr>
              <a:t> </a:t>
            </a:r>
            <a:r>
              <a:rPr sz="2800" dirty="0">
                <a:latin typeface="Times New Roman"/>
                <a:cs typeface="Times New Roman"/>
              </a:rPr>
              <a:t>strongly</a:t>
            </a:r>
            <a:r>
              <a:rPr sz="2800" spc="-50" dirty="0">
                <a:latin typeface="Times New Roman"/>
                <a:cs typeface="Times New Roman"/>
              </a:rPr>
              <a:t> </a:t>
            </a:r>
            <a:r>
              <a:rPr sz="2800" dirty="0">
                <a:latin typeface="Times New Roman"/>
                <a:cs typeface="Times New Roman"/>
              </a:rPr>
              <a:t>partitioned</a:t>
            </a:r>
            <a:r>
              <a:rPr sz="2800" spc="-45" dirty="0">
                <a:latin typeface="Times New Roman"/>
                <a:cs typeface="Times New Roman"/>
              </a:rPr>
              <a:t> </a:t>
            </a:r>
            <a:r>
              <a:rPr sz="2800" dirty="0">
                <a:latin typeface="Times New Roman"/>
                <a:cs typeface="Times New Roman"/>
              </a:rPr>
              <a:t>into</a:t>
            </a:r>
            <a:r>
              <a:rPr sz="2800" spc="-50" dirty="0">
                <a:latin typeface="Times New Roman"/>
                <a:cs typeface="Times New Roman"/>
              </a:rPr>
              <a:t> </a:t>
            </a:r>
            <a:r>
              <a:rPr sz="2800" dirty="0">
                <a:latin typeface="Times New Roman"/>
                <a:cs typeface="Times New Roman"/>
              </a:rPr>
              <a:t>a</a:t>
            </a:r>
            <a:r>
              <a:rPr sz="2800" spc="-50" dirty="0">
                <a:latin typeface="Times New Roman"/>
                <a:cs typeface="Times New Roman"/>
              </a:rPr>
              <a:t> </a:t>
            </a:r>
            <a:r>
              <a:rPr sz="2800" spc="-10" dirty="0">
                <a:latin typeface="Times New Roman"/>
                <a:cs typeface="Times New Roman"/>
              </a:rPr>
              <a:t>single mineral</a:t>
            </a:r>
            <a:endParaRPr sz="2800" dirty="0">
              <a:latin typeface="Times New Roman"/>
              <a:cs typeface="Times New Roman"/>
            </a:endParaRPr>
          </a:p>
        </p:txBody>
      </p:sp>
      <p:sp>
        <p:nvSpPr>
          <p:cNvPr id="3" name="object 3"/>
          <p:cNvSpPr txBox="1"/>
          <p:nvPr/>
        </p:nvSpPr>
        <p:spPr>
          <a:xfrm>
            <a:off x="1357312" y="6332537"/>
            <a:ext cx="6137910" cy="386080"/>
          </a:xfrm>
          <a:prstGeom prst="rect">
            <a:avLst/>
          </a:prstGeom>
        </p:spPr>
        <p:txBody>
          <a:bodyPr vert="horz" wrap="square" lIns="0" tIns="22860" rIns="0" bIns="0" rtlCol="0">
            <a:spAutoFit/>
          </a:bodyPr>
          <a:lstStyle/>
          <a:p>
            <a:pPr marL="12700" marR="5080">
              <a:lnSpc>
                <a:spcPts val="1400"/>
              </a:lnSpc>
              <a:spcBef>
                <a:spcPts val="180"/>
              </a:spcBef>
            </a:pPr>
            <a:r>
              <a:rPr sz="1200" dirty="0">
                <a:solidFill>
                  <a:srgbClr val="FF0000"/>
                </a:solidFill>
                <a:latin typeface="Arial MT"/>
                <a:cs typeface="Arial MT"/>
              </a:rPr>
              <a:t>Figure</a:t>
            </a:r>
            <a:r>
              <a:rPr sz="1200" spc="-15" dirty="0">
                <a:solidFill>
                  <a:srgbClr val="FF0000"/>
                </a:solidFill>
                <a:latin typeface="Arial MT"/>
                <a:cs typeface="Arial MT"/>
              </a:rPr>
              <a:t> </a:t>
            </a:r>
            <a:r>
              <a:rPr sz="1200" dirty="0">
                <a:solidFill>
                  <a:srgbClr val="FF0000"/>
                </a:solidFill>
                <a:latin typeface="Arial MT"/>
                <a:cs typeface="Arial MT"/>
              </a:rPr>
              <a:t>9.1a.</a:t>
            </a:r>
            <a:r>
              <a:rPr sz="1200" spc="-15" dirty="0">
                <a:solidFill>
                  <a:srgbClr val="FF0000"/>
                </a:solidFill>
                <a:latin typeface="Arial MT"/>
                <a:cs typeface="Arial MT"/>
              </a:rPr>
              <a:t> </a:t>
            </a:r>
            <a:r>
              <a:rPr sz="1200" dirty="0">
                <a:latin typeface="Arial MT"/>
                <a:cs typeface="Arial MT"/>
              </a:rPr>
              <a:t>Ni</a:t>
            </a:r>
            <a:r>
              <a:rPr sz="1200" spc="-10" dirty="0">
                <a:latin typeface="Arial MT"/>
                <a:cs typeface="Arial MT"/>
              </a:rPr>
              <a:t> </a:t>
            </a:r>
            <a:r>
              <a:rPr sz="1200" dirty="0">
                <a:latin typeface="Arial MT"/>
                <a:cs typeface="Arial MT"/>
              </a:rPr>
              <a:t>Harker</a:t>
            </a:r>
            <a:r>
              <a:rPr sz="1200" spc="-10" dirty="0">
                <a:latin typeface="Arial MT"/>
                <a:cs typeface="Arial MT"/>
              </a:rPr>
              <a:t> </a:t>
            </a:r>
            <a:r>
              <a:rPr sz="1200" dirty="0">
                <a:latin typeface="Arial MT"/>
                <a:cs typeface="Arial MT"/>
              </a:rPr>
              <a:t>Diagram</a:t>
            </a:r>
            <a:r>
              <a:rPr sz="1200" spc="-10" dirty="0">
                <a:latin typeface="Arial MT"/>
                <a:cs typeface="Arial MT"/>
              </a:rPr>
              <a:t> </a:t>
            </a:r>
            <a:r>
              <a:rPr sz="1200" dirty="0">
                <a:latin typeface="Arial MT"/>
                <a:cs typeface="Arial MT"/>
              </a:rPr>
              <a:t>for</a:t>
            </a:r>
            <a:r>
              <a:rPr sz="1200" spc="-10" dirty="0">
                <a:latin typeface="Arial MT"/>
                <a:cs typeface="Arial MT"/>
              </a:rPr>
              <a:t> </a:t>
            </a:r>
            <a:r>
              <a:rPr sz="1200" dirty="0">
                <a:latin typeface="Arial MT"/>
                <a:cs typeface="Arial MT"/>
              </a:rPr>
              <a:t>Crater</a:t>
            </a:r>
            <a:r>
              <a:rPr sz="1200" spc="-10" dirty="0">
                <a:latin typeface="Arial MT"/>
                <a:cs typeface="Arial MT"/>
              </a:rPr>
              <a:t> </a:t>
            </a:r>
            <a:r>
              <a:rPr sz="1200" dirty="0">
                <a:latin typeface="Arial MT"/>
                <a:cs typeface="Arial MT"/>
              </a:rPr>
              <a:t>Lake.</a:t>
            </a:r>
            <a:r>
              <a:rPr sz="1200" spc="-15" dirty="0">
                <a:latin typeface="Arial MT"/>
                <a:cs typeface="Arial MT"/>
              </a:rPr>
              <a:t> </a:t>
            </a:r>
            <a:r>
              <a:rPr sz="1200" dirty="0">
                <a:latin typeface="Arial MT"/>
                <a:cs typeface="Arial MT"/>
              </a:rPr>
              <a:t>From</a:t>
            </a:r>
            <a:r>
              <a:rPr sz="1200" spc="-15" dirty="0">
                <a:latin typeface="Arial MT"/>
                <a:cs typeface="Arial MT"/>
              </a:rPr>
              <a:t> </a:t>
            </a:r>
            <a:r>
              <a:rPr sz="1200" dirty="0">
                <a:latin typeface="Arial MT"/>
                <a:cs typeface="Arial MT"/>
              </a:rPr>
              <a:t>data</a:t>
            </a:r>
            <a:r>
              <a:rPr sz="1200" spc="-10" dirty="0">
                <a:latin typeface="Arial MT"/>
                <a:cs typeface="Arial MT"/>
              </a:rPr>
              <a:t> </a:t>
            </a:r>
            <a:r>
              <a:rPr sz="1200" dirty="0">
                <a:latin typeface="Arial MT"/>
                <a:cs typeface="Arial MT"/>
              </a:rPr>
              <a:t>compiled</a:t>
            </a:r>
            <a:r>
              <a:rPr sz="1200" spc="-10" dirty="0">
                <a:latin typeface="Arial MT"/>
                <a:cs typeface="Arial MT"/>
              </a:rPr>
              <a:t> </a:t>
            </a:r>
            <a:r>
              <a:rPr sz="1200" dirty="0">
                <a:latin typeface="Arial MT"/>
                <a:cs typeface="Arial MT"/>
              </a:rPr>
              <a:t>by</a:t>
            </a:r>
            <a:r>
              <a:rPr sz="1200" spc="-10" dirty="0">
                <a:latin typeface="Arial MT"/>
                <a:cs typeface="Arial MT"/>
              </a:rPr>
              <a:t> </a:t>
            </a:r>
            <a:r>
              <a:rPr sz="1200" dirty="0">
                <a:latin typeface="Arial MT"/>
                <a:cs typeface="Arial MT"/>
              </a:rPr>
              <a:t>Rick</a:t>
            </a:r>
            <a:r>
              <a:rPr sz="1200" spc="-10" dirty="0">
                <a:latin typeface="Arial MT"/>
                <a:cs typeface="Arial MT"/>
              </a:rPr>
              <a:t> Conrey.</a:t>
            </a:r>
            <a:r>
              <a:rPr sz="1200" spc="-15" dirty="0">
                <a:latin typeface="Arial MT"/>
                <a:cs typeface="Arial MT"/>
              </a:rPr>
              <a:t> </a:t>
            </a:r>
            <a:r>
              <a:rPr sz="1200" spc="-20" dirty="0">
                <a:latin typeface="Arial MT"/>
                <a:cs typeface="Arial MT"/>
              </a:rPr>
              <a:t>From </a:t>
            </a:r>
            <a:r>
              <a:rPr sz="1200" dirty="0">
                <a:latin typeface="Arial MT"/>
                <a:cs typeface="Arial MT"/>
              </a:rPr>
              <a:t>Winter</a:t>
            </a:r>
            <a:r>
              <a:rPr sz="1200" spc="-15" dirty="0">
                <a:latin typeface="Arial MT"/>
                <a:cs typeface="Arial MT"/>
              </a:rPr>
              <a:t> </a:t>
            </a:r>
            <a:r>
              <a:rPr sz="1200" dirty="0">
                <a:latin typeface="Arial MT"/>
                <a:cs typeface="Arial MT"/>
              </a:rPr>
              <a:t>(2001)</a:t>
            </a:r>
            <a:r>
              <a:rPr sz="1200" spc="-80" dirty="0">
                <a:latin typeface="Arial MT"/>
                <a:cs typeface="Arial MT"/>
              </a:rPr>
              <a:t> </a:t>
            </a:r>
            <a:r>
              <a:rPr sz="1200" dirty="0">
                <a:latin typeface="Arial MT"/>
                <a:cs typeface="Arial MT"/>
              </a:rPr>
              <a:t>An</a:t>
            </a:r>
            <a:r>
              <a:rPr sz="1200" spc="-15" dirty="0">
                <a:latin typeface="Arial MT"/>
                <a:cs typeface="Arial MT"/>
              </a:rPr>
              <a:t> </a:t>
            </a:r>
            <a:r>
              <a:rPr sz="1200" dirty="0">
                <a:latin typeface="Arial MT"/>
                <a:cs typeface="Arial MT"/>
              </a:rPr>
              <a:t>Introduction</a:t>
            </a:r>
            <a:r>
              <a:rPr sz="1200" spc="-10" dirty="0">
                <a:latin typeface="Arial MT"/>
                <a:cs typeface="Arial MT"/>
              </a:rPr>
              <a:t> </a:t>
            </a:r>
            <a:r>
              <a:rPr sz="1200" dirty="0">
                <a:latin typeface="Arial MT"/>
                <a:cs typeface="Arial MT"/>
              </a:rPr>
              <a:t>to</a:t>
            </a:r>
            <a:r>
              <a:rPr sz="1200" spc="-15" dirty="0">
                <a:latin typeface="Arial MT"/>
                <a:cs typeface="Arial MT"/>
              </a:rPr>
              <a:t> </a:t>
            </a:r>
            <a:r>
              <a:rPr sz="1200" dirty="0">
                <a:latin typeface="Arial MT"/>
                <a:cs typeface="Arial MT"/>
              </a:rPr>
              <a:t>Igneous</a:t>
            </a:r>
            <a:r>
              <a:rPr sz="1200" spc="-10" dirty="0">
                <a:latin typeface="Arial MT"/>
                <a:cs typeface="Arial MT"/>
              </a:rPr>
              <a:t> </a:t>
            </a:r>
            <a:r>
              <a:rPr sz="1200" dirty="0">
                <a:latin typeface="Arial MT"/>
                <a:cs typeface="Arial MT"/>
              </a:rPr>
              <a:t>and</a:t>
            </a:r>
            <a:r>
              <a:rPr sz="1200" spc="-15" dirty="0">
                <a:latin typeface="Arial MT"/>
                <a:cs typeface="Arial MT"/>
              </a:rPr>
              <a:t> </a:t>
            </a:r>
            <a:r>
              <a:rPr sz="1200" dirty="0">
                <a:latin typeface="Arial MT"/>
                <a:cs typeface="Arial MT"/>
              </a:rPr>
              <a:t>Metamorphic</a:t>
            </a:r>
            <a:r>
              <a:rPr sz="1200" spc="-15" dirty="0">
                <a:latin typeface="Arial MT"/>
                <a:cs typeface="Arial MT"/>
              </a:rPr>
              <a:t> </a:t>
            </a:r>
            <a:r>
              <a:rPr sz="1200" spc="-10" dirty="0">
                <a:latin typeface="Arial MT"/>
                <a:cs typeface="Arial MT"/>
              </a:rPr>
              <a:t>Petrology.</a:t>
            </a:r>
            <a:r>
              <a:rPr sz="1200" spc="-15" dirty="0">
                <a:latin typeface="Arial MT"/>
                <a:cs typeface="Arial MT"/>
              </a:rPr>
              <a:t> </a:t>
            </a:r>
            <a:r>
              <a:rPr sz="1200" dirty="0">
                <a:latin typeface="Arial MT"/>
                <a:cs typeface="Arial MT"/>
              </a:rPr>
              <a:t>Prentice</a:t>
            </a:r>
            <a:r>
              <a:rPr sz="1200" spc="-15" dirty="0">
                <a:latin typeface="Arial MT"/>
                <a:cs typeface="Arial MT"/>
              </a:rPr>
              <a:t> </a:t>
            </a:r>
            <a:r>
              <a:rPr sz="1200" spc="-10" dirty="0">
                <a:latin typeface="Arial MT"/>
                <a:cs typeface="Arial MT"/>
              </a:rPr>
              <a:t>Hall.</a:t>
            </a:r>
            <a:endParaRPr sz="1200">
              <a:latin typeface="Arial MT"/>
              <a:cs typeface="Arial MT"/>
            </a:endParaRPr>
          </a:p>
        </p:txBody>
      </p:sp>
      <p:pic>
        <p:nvPicPr>
          <p:cNvPr id="4" name="object 4"/>
          <p:cNvPicPr/>
          <p:nvPr/>
        </p:nvPicPr>
        <p:blipFill>
          <a:blip r:embed="rId2" cstate="print"/>
          <a:stretch>
            <a:fillRect/>
          </a:stretch>
        </p:blipFill>
        <p:spPr>
          <a:xfrm>
            <a:off x="1522793" y="2138560"/>
            <a:ext cx="5308217" cy="4062860"/>
          </a:xfrm>
          <a:prstGeom prst="rect">
            <a:avLst/>
          </a:prstGeom>
        </p:spPr>
      </p:pic>
    </p:spTree>
    <p:extLst>
      <p:ext uri="{BB962C8B-B14F-4D97-AF65-F5344CB8AC3E}">
        <p14:creationId xmlns:p14="http://schemas.microsoft.com/office/powerpoint/2010/main" val="1438107102"/>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5263</TotalTime>
  <Words>2638</Words>
  <Application>Microsoft Office PowerPoint</Application>
  <PresentationFormat>On-screen Show (4:3)</PresentationFormat>
  <Paragraphs>275</Paragraphs>
  <Slides>46</Slides>
  <Notes>4</Notes>
  <HiddenSlides>0</HiddenSlides>
  <MMClips>0</MMClips>
  <ScaleCrop>false</ScaleCrop>
  <HeadingPairs>
    <vt:vector size="4" baseType="variant">
      <vt:variant>
        <vt:lpstr>Theme</vt:lpstr>
      </vt:variant>
      <vt:variant>
        <vt:i4>1</vt:i4>
      </vt:variant>
      <vt:variant>
        <vt:lpstr>Slide Titles</vt:lpstr>
      </vt:variant>
      <vt:variant>
        <vt:i4>46</vt:i4>
      </vt:variant>
    </vt:vector>
  </HeadingPairs>
  <TitlesOfParts>
    <vt:vector size="47" baseType="lpstr">
      <vt:lpstr>Default Design</vt:lpstr>
      <vt:lpstr>EES203: Geochemistry </vt:lpstr>
      <vt:lpstr>PowerPoint Presentation</vt:lpstr>
      <vt:lpstr>PowerPoint Presentation</vt:lpstr>
      <vt:lpstr>Magmatic Differentiation - Definition</vt:lpstr>
      <vt:lpstr>PowerPoint Presentation</vt:lpstr>
      <vt:lpstr>Mechanism of Differentiation</vt:lpstr>
      <vt:lpstr>Fractional Crystallization</vt:lpstr>
      <vt:lpstr>PowerPoint Presentation</vt:lpstr>
      <vt:lpstr>PowerPoint Presentation</vt:lpstr>
      <vt:lpstr>PowerPoint Presentation</vt:lpstr>
      <vt:lpstr>Bowen’s Reaction Series</vt:lpstr>
      <vt:lpstr>PowerPoint Presentation</vt:lpstr>
      <vt:lpstr>PowerPoint Presentation</vt:lpstr>
      <vt:lpstr>PowerPoint Presentation</vt:lpstr>
      <vt:lpstr>PowerPoint Presentation</vt:lpstr>
      <vt:lpstr>PowerPoint Presentation</vt:lpstr>
      <vt:lpstr>Solid solution series</vt:lpstr>
      <vt:lpstr>Solid solution series</vt:lpstr>
      <vt:lpstr>Lever rule</vt:lpstr>
      <vt:lpstr>Binary eutectic system</vt:lpstr>
      <vt:lpstr>Liquid Immiscibility</vt:lpstr>
      <vt:lpstr>PowerPoint Presentation</vt:lpstr>
      <vt:lpstr>Assimilation</vt:lpstr>
      <vt:lpstr>PowerPoint Presentation</vt:lpstr>
      <vt:lpstr>PowerPoint Presentation</vt:lpstr>
      <vt:lpstr>PowerPoint Presentation</vt:lpstr>
      <vt:lpstr>Magma Mixing</vt:lpstr>
      <vt:lpstr>PowerPoint Presentation</vt:lpstr>
      <vt:lpstr>PowerPoint Presentation</vt:lpstr>
      <vt:lpstr>PowerPoint Presentation</vt:lpstr>
      <vt:lpstr>Source: Morgavi et al., 2017</vt:lpstr>
      <vt:lpstr>PowerPoint Presentation</vt:lpstr>
      <vt:lpstr>GOLDSCHMIDT’S RULES</vt:lpstr>
      <vt:lpstr>RINGWOOD’S MODIFICATION OF GOLDSCHMIDT’S RULES</vt:lpstr>
      <vt:lpstr>Coupled Substitution</vt:lpstr>
      <vt:lpstr>SOLID SOLUTION</vt:lpstr>
      <vt:lpstr>Trace elements (Camouflage)</vt:lpstr>
      <vt:lpstr>CAPTURE</vt:lpstr>
      <vt:lpstr>ADMISSION</vt:lpstr>
      <vt:lpstr>PowerPoint Presentation</vt:lpstr>
      <vt:lpstr>REEs in pegmatite veins</vt:lpstr>
      <vt:lpstr>Partition coefficient or Distribution coefficient - 1</vt:lpstr>
      <vt:lpstr>Partition coefficient or Distribution coefficient - 2</vt:lpstr>
      <vt:lpstr>BULK PARTITION COEFFICIENT</vt:lpstr>
      <vt:lpstr>PowerPoint Presentation</vt:lpstr>
      <vt:lpstr>PowerPoint Presentation</vt:lpstr>
    </vt:vector>
  </TitlesOfParts>
  <Company>njcu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dfreile</dc:creator>
  <cp:lastModifiedBy>jasmeenk4505@gmail.com</cp:lastModifiedBy>
  <cp:revision>123</cp:revision>
  <dcterms:created xsi:type="dcterms:W3CDTF">2005-10-26T18:01:58Z</dcterms:created>
  <dcterms:modified xsi:type="dcterms:W3CDTF">2025-03-07T18:41:07Z</dcterms:modified>
</cp:coreProperties>
</file>