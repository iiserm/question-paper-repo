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56" r:id="rId2"/>
    <p:sldId id="472" r:id="rId3"/>
    <p:sldId id="481" r:id="rId4"/>
    <p:sldId id="480" r:id="rId5"/>
    <p:sldId id="487" r:id="rId6"/>
    <p:sldId id="482" r:id="rId7"/>
    <p:sldId id="488" r:id="rId8"/>
    <p:sldId id="616" r:id="rId9"/>
    <p:sldId id="618" r:id="rId10"/>
    <p:sldId id="615" r:id="rId11"/>
    <p:sldId id="607" r:id="rId12"/>
    <p:sldId id="608" r:id="rId13"/>
    <p:sldId id="489" r:id="rId14"/>
    <p:sldId id="609" r:id="rId15"/>
    <p:sldId id="610" r:id="rId16"/>
    <p:sldId id="611" r:id="rId17"/>
    <p:sldId id="619" r:id="rId18"/>
    <p:sldId id="614" r:id="rId19"/>
  </p:sldIdLst>
  <p:sldSz cx="9144000" cy="6858000" type="screen4x3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75" autoAdjust="0"/>
    <p:restoredTop sz="93690" autoAdjust="0"/>
  </p:normalViewPr>
  <p:slideViewPr>
    <p:cSldViewPr>
      <p:cViewPr varScale="1">
        <p:scale>
          <a:sx n="61" d="100"/>
          <a:sy n="61" d="100"/>
        </p:scale>
        <p:origin x="1388" y="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7488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B12BC94-826C-44CC-9139-4D8AF4CCD75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05DB217-5036-48E7-9F80-D8568EC4E5C6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fld id="{4495E4C6-17AD-4BA4-85ED-1CEF5353A859}" type="datetimeFigureOut">
              <a:rPr lang="en-IN"/>
              <a:pPr>
                <a:defRPr/>
              </a:pPr>
              <a:t>03-03-2025</a:t>
            </a:fld>
            <a:endParaRPr lang="en-IN"/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6E099106-0BB6-43A6-A3E2-09D734B298C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IN" noProof="0"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DFBCB12F-E21B-4BB3-98A4-F84DE79422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IN" noProof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B2BC49-BC64-4703-B80A-9476428F948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FD10B2-65DA-4A6A-9411-A7CE5F94A9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pPr>
              <a:defRPr/>
            </a:pPr>
            <a:fld id="{DA50488F-DB6A-40AC-8FA4-772BF47F0323}" type="slidenum">
              <a:rPr lang="en-IN" altLang="en-US"/>
              <a:pPr>
                <a:defRPr/>
              </a:pPr>
              <a:t>‹#›</a:t>
            </a:fld>
            <a:endParaRPr lang="en-I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DBEE118F-D257-4318-A3A2-EECA19410BF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4C97103C-CE56-4C35-B5D2-E932D10544C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631569ED-472A-4591-B1C8-91A8AA55F43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91EFD36-5984-457D-BADD-B4A3F349C23E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2549790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4C13EFD9-AB6D-434D-BC2E-8B73CC13FEA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4B0ED277-8375-4E95-B412-94EF1677FAD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D71C59AB-1EAD-4FD8-95DC-AD356CFA4FC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96D8436-06A3-43A4-BA5B-8AF70AEB648F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275482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8924E2C6-9E75-43EE-99CD-453E04C8655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25018E45-3328-444D-8796-75B3B701D17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8A16A509-F4A7-48F3-809D-CBD23ED80F5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3974763-CD29-4242-A606-D01C110AD1A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9860142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D060A66-D792-4197-A450-15640D1F3CB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139D150-B008-4810-A642-BB58C29B576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BECF246-2CD9-4EFD-B3F8-DA766CBABFB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2343884-E97C-43AC-91BE-818B2A6132AF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321490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695DB130-3059-4B58-BDA5-BD072F56A81F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9754EE56-C6A2-4D14-AF3C-BAE635180FF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E24C1A1F-C41E-4454-A02E-BDE2567839B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052C66B-8C25-4FE5-81EA-D279F10B6BD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4111315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8073D249-74BA-4FC7-9180-228CFD77E1B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2DD93F01-8B96-4D54-88E5-CA53B833D85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ED2D4A28-53D6-497F-985F-B1CEC7D70C4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9ABF0EF-67B1-4AA0-81ED-91DE03744A40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334602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3793C45B-F71B-46A7-A2A8-FEA3D830072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0E0F0BA5-4205-4DA9-8FA1-D723A7B5DEB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DAB7F91C-3F88-4469-8440-DA0A8B7F576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139F030-B1DE-440E-85E3-A637DEB7A7C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0488869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1462272-BBA7-43EA-9594-79B56445FE8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19C3EE-B0C4-43D8-8138-EBD6BB89F08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38D149F-91B7-4D2A-80E9-143AB91277E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6B7294A-24AF-420B-8505-410263194C6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3062983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IN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B011047-FFB1-4281-8AA7-C67D7FC1720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BA64777-0A6E-44A1-9A52-089347C9554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D066FD0-7FB1-4473-9F5A-052CDF76D2C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64B33AA-D7D6-4AF9-8507-39A6605B27C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725100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D3E3C6A4-4B1A-4C68-BC9E-108062B1B49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9C1AA137-5DE1-4D94-A5C4-663255771BE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2A788E28-AD11-4AD1-9E0C-EB1CB0AB2E0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707F969-126B-4625-93B3-22279DA28B6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83556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E9EFAED9-FCC2-4312-9DB9-099CCCC9F0C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DF9ABCCB-6606-4ED6-BC8F-C27228E2609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EB9E9A27-7F1E-4BB5-A7E3-48D09E2086F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BCD6217-5208-4DAE-8F2B-4AF241D0CED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4508883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B860734-F86E-485B-BE6F-D403DEB8552F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962688C-8C09-49D2-A3CF-4C4EFFBA9D9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1977806-7D51-41C3-94F1-95ECDE1BC91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9EAD34F-7ECA-488C-A8FC-C0C1447E899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9484702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lipArt" preserve="1">
  <p:cSld name="Title, Text and Clip 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lipArt Placeholder 3"/>
          <p:cNvSpPr>
            <a:spLocks noGrp="1"/>
          </p:cNvSpPr>
          <p:nvPr>
            <p:ph type="clipArt"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endParaRPr lang="en-IN" noProof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76E3B21-9DDA-4FAF-8452-B0EFA960C31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FFC52A2-EE11-4000-BC5D-3C134546822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9ABEACE-6FB7-4B99-9A67-9CEBD7FFC91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52F27C2-0E5F-4AAB-8874-A93956E577B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318300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8E5B2030-82C9-44DC-877E-5851501067E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69A63B46-2CC7-4C4C-B290-7BAAA1F63AC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1FAE760F-22F1-45C9-8239-30305B70D9B2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40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29" name="Rectangle 5">
            <a:extLst>
              <a:ext uri="{FF2B5EF4-FFF2-40B4-BE49-F238E27FC236}">
                <a16:creationId xmlns:a16="http://schemas.microsoft.com/office/drawing/2014/main" id="{1D35B8D3-8F19-4A2C-AD58-BE3E89625A4E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140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068A7449-CC58-4CEF-AE5E-3A0514B9DB26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400"/>
            </a:lvl1pPr>
          </a:lstStyle>
          <a:p>
            <a:pPr>
              <a:defRPr/>
            </a:pPr>
            <a:fld id="{5A6E29DF-0E91-4F06-8705-C054EB6BBDCE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anoop@iisermohali.ac.in" TargetMode="Externa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58EF3740-78F8-4AF7-B9C0-B2112BDC183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1295400"/>
            <a:ext cx="7459663" cy="641350"/>
          </a:xfrm>
        </p:spPr>
        <p:txBody>
          <a:bodyPr lIns="0" tIns="38100" rIns="0" bIns="0">
            <a:spAutoFit/>
          </a:bodyPr>
          <a:lstStyle/>
          <a:p>
            <a:pPr marL="1901825" indent="-1889125">
              <a:lnSpc>
                <a:spcPts val="4700"/>
              </a:lnSpc>
              <a:spcBef>
                <a:spcPts val="300"/>
              </a:spcBef>
            </a:pPr>
            <a:r>
              <a:rPr lang="en-IN" altLang="en-US">
                <a:solidFill>
                  <a:srgbClr val="000000"/>
                </a:solidFill>
              </a:rPr>
              <a:t>EES203: Geochemistry </a:t>
            </a:r>
            <a:endParaRPr lang="en-US" altLang="en-US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656A1D54-95EB-4BB2-BAD9-B64ADC3C8E58}"/>
              </a:ext>
            </a:extLst>
          </p:cNvPr>
          <p:cNvSpPr txBox="1"/>
          <p:nvPr/>
        </p:nvSpPr>
        <p:spPr>
          <a:xfrm>
            <a:off x="1555750" y="2133600"/>
            <a:ext cx="7848600" cy="1198563"/>
          </a:xfrm>
          <a:prstGeom prst="rect">
            <a:avLst/>
          </a:prstGeom>
        </p:spPr>
        <p:txBody>
          <a:bodyPr lIns="0" tIns="110490" rIns="0" bIns="0">
            <a:spAutoFit/>
          </a:bodyPr>
          <a:lstStyle/>
          <a:p>
            <a:pPr marL="12700">
              <a:spcBef>
                <a:spcPts val="765"/>
              </a:spcBef>
              <a:defRPr/>
            </a:pPr>
            <a:r>
              <a:rPr sz="3200" dirty="0">
                <a:latin typeface="Times New Roman"/>
                <a:cs typeface="Times New Roman"/>
              </a:rPr>
              <a:t>Instructor:</a:t>
            </a:r>
            <a:r>
              <a:rPr sz="3200" spc="-235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Anoop</a:t>
            </a:r>
            <a:r>
              <a:rPr sz="3200" spc="-195" dirty="0">
                <a:latin typeface="Times New Roman"/>
                <a:cs typeface="Times New Roman"/>
              </a:rPr>
              <a:t> </a:t>
            </a:r>
            <a:r>
              <a:rPr sz="3200" spc="-10" dirty="0">
                <a:latin typeface="Times New Roman"/>
                <a:cs typeface="Times New Roman"/>
              </a:rPr>
              <a:t>Ambili</a:t>
            </a:r>
            <a:endParaRPr lang="en-IN" sz="3200" spc="-10" dirty="0">
              <a:latin typeface="Times New Roman"/>
              <a:cs typeface="Times New Roman"/>
            </a:endParaRPr>
          </a:p>
          <a:p>
            <a:pPr marL="12700">
              <a:spcBef>
                <a:spcPts val="770"/>
              </a:spcBef>
              <a:defRPr/>
            </a:pPr>
            <a:r>
              <a:rPr sz="3200" dirty="0">
                <a:latin typeface="Times New Roman"/>
                <a:cs typeface="Times New Roman"/>
              </a:rPr>
              <a:t>Email</a:t>
            </a:r>
            <a:r>
              <a:rPr sz="3200" spc="-35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id: </a:t>
            </a:r>
            <a:r>
              <a:rPr sz="3200" spc="-10" dirty="0">
                <a:latin typeface="Times New Roman"/>
                <a:cs typeface="Times New Roman"/>
                <a:hlinkClick r:id="rId2"/>
              </a:rPr>
              <a:t>anoop@iisermohali.ac.in</a:t>
            </a:r>
            <a:endParaRPr sz="32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4769B-9147-404C-A034-68D1F6285B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2743200"/>
            <a:ext cx="8229600" cy="1143000"/>
          </a:xfrm>
        </p:spPr>
        <p:txBody>
          <a:bodyPr/>
          <a:lstStyle/>
          <a:p>
            <a:r>
              <a:rPr lang="en-IN" sz="4000" dirty="0"/>
              <a:t>Geochemical evolution of hydrosphere</a:t>
            </a:r>
          </a:p>
        </p:txBody>
      </p:sp>
    </p:spTree>
    <p:extLst>
      <p:ext uri="{BB962C8B-B14F-4D97-AF65-F5344CB8AC3E}">
        <p14:creationId xmlns:p14="http://schemas.microsoft.com/office/powerpoint/2010/main" val="4845345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FFE7CB-60BC-37F9-BF4A-34D17587A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BE2BD4F-0493-1E39-C105-650C92C639F8}"/>
              </a:ext>
            </a:extLst>
          </p:cNvPr>
          <p:cNvSpPr txBox="1"/>
          <p:nvPr/>
        </p:nvSpPr>
        <p:spPr>
          <a:xfrm>
            <a:off x="0" y="8104"/>
            <a:ext cx="9144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dirty="0">
                <a:solidFill>
                  <a:schemeClr val="tx2"/>
                </a:solidFill>
                <a:latin typeface="+mn-lt"/>
                <a:ea typeface="+mj-ea"/>
                <a:cs typeface="+mj-cs"/>
              </a:rPr>
              <a:t>Factors responsible for modifying seawater chemistry</a:t>
            </a:r>
            <a:endParaRPr lang="en-IN" sz="2800" dirty="0">
              <a:solidFill>
                <a:schemeClr val="tx2"/>
              </a:solidFill>
              <a:latin typeface="+mn-lt"/>
              <a:ea typeface="+mj-ea"/>
              <a:cs typeface="+mj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966F87-130E-13AC-516E-7F314D04CE97}"/>
              </a:ext>
            </a:extLst>
          </p:cNvPr>
          <p:cNvSpPr txBox="1"/>
          <p:nvPr/>
        </p:nvSpPr>
        <p:spPr>
          <a:xfrm>
            <a:off x="304800" y="685800"/>
            <a:ext cx="8686800" cy="60324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1600" b="0" i="0" u="none" strike="noStrike" baseline="0" dirty="0">
                <a:cs typeface="Arial" panose="020B0604020202020204" pitchFamily="34" charset="0"/>
              </a:rPr>
              <a:t>Processes capable of modifying the chemistry of seawater, besides addition of constituents by rivers, fall into six categories</a:t>
            </a:r>
          </a:p>
          <a:p>
            <a:pPr marL="285750" indent="-285750" algn="just">
              <a:buFont typeface="Wingdings" panose="05000000000000000000" pitchFamily="2" charset="2"/>
              <a:buChar char="q"/>
            </a:pPr>
            <a:endParaRPr lang="en-US" sz="1600" dirty="0">
              <a:cs typeface="Arial" panose="020B0604020202020204" pitchFamily="34" charset="0"/>
            </a:endParaRPr>
          </a:p>
          <a:p>
            <a:pPr marL="342900" indent="-342900" algn="just">
              <a:buAutoNum type="arabicParenBoth"/>
            </a:pPr>
            <a:r>
              <a:rPr lang="en-US" sz="1600" b="0" i="1" u="none" strike="noStrike" baseline="0" dirty="0">
                <a:solidFill>
                  <a:srgbClr val="FF0000"/>
                </a:solidFill>
                <a:cs typeface="Arial" panose="020B0604020202020204" pitchFamily="34" charset="0"/>
              </a:rPr>
              <a:t>Biological processes </a:t>
            </a:r>
            <a:r>
              <a:rPr lang="en-US" sz="1600" b="0" i="0" u="none" strike="noStrike" baseline="0" dirty="0">
                <a:cs typeface="Arial" panose="020B0604020202020204" pitchFamily="34" charset="0"/>
              </a:rPr>
              <a:t>Such processes exert major controls on the concentration of recycled constituents (Ca</a:t>
            </a:r>
            <a:r>
              <a:rPr lang="en-US" sz="1600" b="0" i="0" u="none" strike="noStrike" baseline="30000" dirty="0">
                <a:cs typeface="Arial" panose="020B0604020202020204" pitchFamily="34" charset="0"/>
              </a:rPr>
              <a:t>2+</a:t>
            </a:r>
            <a:r>
              <a:rPr lang="en-US" sz="1600" b="0" i="0" u="none" strike="noStrike" dirty="0">
                <a:cs typeface="Arial" panose="020B0604020202020204" pitchFamily="34" charset="0"/>
              </a:rPr>
              <a:t> , </a:t>
            </a:r>
            <a:r>
              <a:rPr lang="en-US" sz="1600" b="0" i="0" u="none" strike="noStrike" baseline="0" dirty="0">
                <a:cs typeface="Arial" panose="020B0604020202020204" pitchFamily="34" charset="0"/>
              </a:rPr>
              <a:t>HCO</a:t>
            </a:r>
            <a:r>
              <a:rPr lang="en-US" sz="1600" b="0" i="0" u="none" strike="noStrike" baseline="-25000" dirty="0">
                <a:cs typeface="Arial" panose="020B0604020202020204" pitchFamily="34" charset="0"/>
              </a:rPr>
              <a:t>3</a:t>
            </a:r>
            <a:r>
              <a:rPr lang="en-IN" sz="1600" b="0" i="0" u="none" strike="noStrike" baseline="30000" dirty="0">
                <a:cs typeface="Arial" panose="020B0604020202020204" pitchFamily="34" charset="0"/>
              </a:rPr>
              <a:t>−</a:t>
            </a:r>
            <a:r>
              <a:rPr lang="en-IN" sz="1600" b="0" i="0" u="none" strike="noStrike" baseline="0" dirty="0">
                <a:cs typeface="Arial" panose="020B0604020202020204" pitchFamily="34" charset="0"/>
              </a:rPr>
              <a:t>,SO</a:t>
            </a:r>
            <a:r>
              <a:rPr lang="en-IN" sz="1600" b="0" i="0" u="none" strike="noStrike" baseline="-25000" dirty="0">
                <a:cs typeface="Arial" panose="020B0604020202020204" pitchFamily="34" charset="0"/>
              </a:rPr>
              <a:t>4</a:t>
            </a:r>
            <a:r>
              <a:rPr lang="pt-BR" sz="1600" b="0" i="0" u="none" strike="noStrike" baseline="30000" dirty="0">
                <a:cs typeface="Arial" panose="020B0604020202020204" pitchFamily="34" charset="0"/>
              </a:rPr>
              <a:t>2−</a:t>
            </a:r>
            <a:r>
              <a:rPr lang="pt-BR" sz="1600" b="0" i="0" u="none" strike="noStrike" baseline="0" dirty="0">
                <a:cs typeface="Arial" panose="020B0604020202020204" pitchFamily="34" charset="0"/>
              </a:rPr>
              <a:t>, H</a:t>
            </a:r>
            <a:r>
              <a:rPr lang="pt-BR" sz="1600" b="0" i="0" u="none" strike="noStrike" baseline="-25000" dirty="0">
                <a:cs typeface="Arial" panose="020B0604020202020204" pitchFamily="34" charset="0"/>
              </a:rPr>
              <a:t>4</a:t>
            </a:r>
            <a:r>
              <a:rPr lang="pt-BR" sz="1600" b="0" i="0" u="none" strike="noStrike" baseline="0" dirty="0">
                <a:cs typeface="Arial" panose="020B0604020202020204" pitchFamily="34" charset="0"/>
              </a:rPr>
              <a:t>SiO</a:t>
            </a:r>
            <a:r>
              <a:rPr lang="pt-BR" sz="1600" b="0" i="0" u="none" strike="noStrike" baseline="-25000" dirty="0">
                <a:cs typeface="Arial" panose="020B0604020202020204" pitchFamily="34" charset="0"/>
              </a:rPr>
              <a:t>4</a:t>
            </a:r>
            <a:r>
              <a:rPr lang="pt-BR" sz="1600" b="0" i="0" u="none" strike="noStrike" baseline="0" dirty="0">
                <a:cs typeface="Arial" panose="020B0604020202020204" pitchFamily="34" charset="0"/>
              </a:rPr>
              <a:t>, CO</a:t>
            </a:r>
            <a:r>
              <a:rPr lang="pt-BR" sz="1600" b="0" i="0" u="none" strike="noStrike" baseline="-25000" dirty="0">
                <a:cs typeface="Arial" panose="020B0604020202020204" pitchFamily="34" charset="0"/>
              </a:rPr>
              <a:t>2</a:t>
            </a:r>
            <a:r>
              <a:rPr lang="pt-BR" sz="1600" b="0" i="0" u="none" strike="noStrike" baseline="0" dirty="0">
                <a:cs typeface="Arial" panose="020B0604020202020204" pitchFamily="34" charset="0"/>
              </a:rPr>
              <a:t>, O</a:t>
            </a:r>
            <a:r>
              <a:rPr lang="pt-BR" sz="1600" b="0" i="0" u="none" strike="noStrike" baseline="-25000" dirty="0">
                <a:cs typeface="Arial" panose="020B0604020202020204" pitchFamily="34" charset="0"/>
              </a:rPr>
              <a:t>2</a:t>
            </a:r>
            <a:r>
              <a:rPr lang="pt-BR" sz="1600" b="0" i="0" u="none" strike="noStrike" baseline="0" dirty="0">
                <a:cs typeface="Arial" panose="020B0604020202020204" pitchFamily="34" charset="0"/>
              </a:rPr>
              <a:t>, NO</a:t>
            </a:r>
            <a:r>
              <a:rPr lang="pt-BR" sz="1600" b="0" i="0" u="none" strike="noStrike" baseline="-25000" dirty="0">
                <a:cs typeface="Arial" panose="020B0604020202020204" pitchFamily="34" charset="0"/>
              </a:rPr>
              <a:t>3</a:t>
            </a:r>
            <a:r>
              <a:rPr lang="en-IN" sz="1600" b="0" i="0" u="none" strike="noStrike" baseline="30000" dirty="0">
                <a:cs typeface="Arial" panose="020B0604020202020204" pitchFamily="34" charset="0"/>
              </a:rPr>
              <a:t>−</a:t>
            </a:r>
            <a:r>
              <a:rPr lang="en-IN" sz="1600" b="0" i="0" u="none" strike="noStrike" baseline="0" dirty="0">
                <a:cs typeface="Arial" panose="020B0604020202020204" pitchFamily="34" charset="0"/>
              </a:rPr>
              <a:t>, and PO</a:t>
            </a:r>
            <a:r>
              <a:rPr lang="en-IN" sz="1600" b="0" i="0" u="none" strike="noStrike" baseline="-25000" dirty="0">
                <a:cs typeface="Arial" panose="020B0604020202020204" pitchFamily="34" charset="0"/>
              </a:rPr>
              <a:t>4</a:t>
            </a:r>
            <a:r>
              <a:rPr lang="en-IN" sz="1600" b="0" i="0" u="none" strike="noStrike" baseline="30000" dirty="0">
                <a:cs typeface="Arial" panose="020B0604020202020204" pitchFamily="34" charset="0"/>
              </a:rPr>
              <a:t>3−</a:t>
            </a:r>
            <a:r>
              <a:rPr lang="en-IN" sz="1600" b="0" i="0" u="none" strike="noStrike" baseline="0" dirty="0">
                <a:cs typeface="Arial" panose="020B0604020202020204" pitchFamily="34" charset="0"/>
              </a:rPr>
              <a:t>).</a:t>
            </a:r>
          </a:p>
          <a:p>
            <a:pPr algn="just"/>
            <a:endParaRPr lang="en-IN" sz="1600" b="0" i="0" u="none" strike="noStrike" baseline="0" dirty="0">
              <a:cs typeface="Arial" panose="020B0604020202020204" pitchFamily="34" charset="0"/>
            </a:endParaRPr>
          </a:p>
          <a:p>
            <a:pPr algn="just"/>
            <a:r>
              <a:rPr lang="en-US" sz="1600" b="0" i="1" u="none" strike="noStrike" baseline="0" dirty="0">
                <a:solidFill>
                  <a:srgbClr val="FF0000"/>
                </a:solidFill>
                <a:cs typeface="Arial" panose="020B0604020202020204" pitchFamily="34" charset="0"/>
              </a:rPr>
              <a:t>(2) Seafloor volcanics</a:t>
            </a:r>
            <a:r>
              <a:rPr lang="en-US" sz="1600" b="0" i="0" u="none" strike="noStrike" baseline="0" dirty="0">
                <a:cs typeface="Arial" panose="020B0604020202020204" pitchFamily="34" charset="0"/>
              </a:rPr>
              <a:t>–seawater interaction, both high temperature (200–400°C) reactions at mid-oceanic ridge axes and off-axis low temperature reactions.</a:t>
            </a:r>
          </a:p>
          <a:p>
            <a:pPr algn="just"/>
            <a:endParaRPr lang="en-US" sz="1600" b="0" i="0" u="none" strike="noStrike" baseline="0" dirty="0">
              <a:cs typeface="Arial" panose="020B0604020202020204" pitchFamily="34" charset="0"/>
            </a:endParaRPr>
          </a:p>
          <a:p>
            <a:pPr algn="just"/>
            <a:r>
              <a:rPr lang="en-US" sz="1600" b="0" i="1" u="none" strike="noStrike" baseline="0" dirty="0">
                <a:solidFill>
                  <a:srgbClr val="FF0000"/>
                </a:solidFill>
                <a:cs typeface="Arial" panose="020B0604020202020204" pitchFamily="34" charset="0"/>
              </a:rPr>
              <a:t>(3) Reaction of seawater with detrital solids </a:t>
            </a:r>
            <a:r>
              <a:rPr lang="en-US" sz="1600" b="0" i="0" u="none" strike="noStrike" baseline="0" dirty="0">
                <a:cs typeface="Arial" panose="020B0604020202020204" pitchFamily="34" charset="0"/>
              </a:rPr>
              <a:t>transported from the continents. Such reactions may involve an entire detrital mineral</a:t>
            </a:r>
            <a:r>
              <a:rPr lang="en-US" sz="1600" dirty="0">
                <a:cs typeface="Arial" panose="020B0604020202020204" pitchFamily="34" charset="0"/>
              </a:rPr>
              <a:t> </a:t>
            </a:r>
            <a:r>
              <a:rPr lang="en-US" sz="1600" b="0" i="0" u="none" strike="noStrike" baseline="0" dirty="0">
                <a:cs typeface="Arial" panose="020B0604020202020204" pitchFamily="34" charset="0"/>
              </a:rPr>
              <a:t>or affect only the mineral surface by ion exchange, especially of Ca</a:t>
            </a:r>
            <a:r>
              <a:rPr lang="en-US" sz="1600" b="0" i="0" u="none" strike="noStrike" baseline="30000" dirty="0">
                <a:cs typeface="Arial" panose="020B0604020202020204" pitchFamily="34" charset="0"/>
              </a:rPr>
              <a:t>2+ </a:t>
            </a:r>
            <a:r>
              <a:rPr lang="en-US" sz="1600" b="0" i="0" u="none" strike="noStrike" baseline="0" dirty="0">
                <a:cs typeface="Arial" panose="020B0604020202020204" pitchFamily="34" charset="0"/>
              </a:rPr>
              <a:t>for Na</a:t>
            </a:r>
            <a:r>
              <a:rPr lang="en-US" sz="1600" b="0" i="0" u="none" strike="noStrike" baseline="30000" dirty="0">
                <a:cs typeface="Arial" panose="020B0604020202020204" pitchFamily="34" charset="0"/>
              </a:rPr>
              <a:t>+</a:t>
            </a:r>
            <a:r>
              <a:rPr lang="en-US" sz="1600" b="0" i="0" u="none" strike="noStrike" baseline="0" dirty="0">
                <a:cs typeface="Arial" panose="020B0604020202020204" pitchFamily="34" charset="0"/>
              </a:rPr>
              <a:t>. Ion exchange is particularly important </a:t>
            </a:r>
            <a:r>
              <a:rPr lang="en-IN" sz="1600" b="0" i="0" u="none" strike="noStrike" baseline="0" dirty="0">
                <a:cs typeface="Arial" panose="020B0604020202020204" pitchFamily="34" charset="0"/>
              </a:rPr>
              <a:t>for trace elements.</a:t>
            </a:r>
          </a:p>
          <a:p>
            <a:pPr algn="just"/>
            <a:endParaRPr lang="en-IN" sz="1600" b="0" i="0" u="none" strike="noStrike" baseline="0" dirty="0">
              <a:cs typeface="Arial" panose="020B0604020202020204" pitchFamily="34" charset="0"/>
            </a:endParaRPr>
          </a:p>
          <a:p>
            <a:pPr algn="just"/>
            <a:r>
              <a:rPr lang="en-US" sz="1600" b="0" i="0" u="none" strike="noStrike" baseline="0" dirty="0">
                <a:cs typeface="Arial" panose="020B0604020202020204" pitchFamily="34" charset="0"/>
              </a:rPr>
              <a:t>(</a:t>
            </a:r>
            <a:r>
              <a:rPr lang="en-US" sz="1600" b="0" i="1" u="none" strike="noStrike" baseline="0" dirty="0">
                <a:solidFill>
                  <a:srgbClr val="FF0000"/>
                </a:solidFill>
                <a:cs typeface="Arial" panose="020B0604020202020204" pitchFamily="34" charset="0"/>
              </a:rPr>
              <a:t>4) Ocean-to-air transfer of cyclic salts: </a:t>
            </a:r>
            <a:r>
              <a:rPr lang="en-US" sz="1600" b="0" i="0" u="none" strike="noStrike" baseline="0" dirty="0">
                <a:cs typeface="Arial" panose="020B0604020202020204" pitchFamily="34" charset="0"/>
              </a:rPr>
              <a:t>sea-salt particles blown from the ocean surface onto the land).</a:t>
            </a:r>
          </a:p>
          <a:p>
            <a:pPr algn="just"/>
            <a:endParaRPr lang="en-US" sz="1600" b="0" i="0" u="none" strike="noStrike" baseline="0" dirty="0">
              <a:cs typeface="Arial" panose="020B0604020202020204" pitchFamily="34" charset="0"/>
            </a:endParaRPr>
          </a:p>
          <a:p>
            <a:pPr algn="just"/>
            <a:r>
              <a:rPr lang="en-US" sz="1600" b="0" i="1" u="none" strike="noStrike" baseline="0" dirty="0">
                <a:solidFill>
                  <a:srgbClr val="FF0000"/>
                </a:solidFill>
                <a:cs typeface="Arial" panose="020B0604020202020204" pitchFamily="34" charset="0"/>
              </a:rPr>
              <a:t>(5) Precipitation of evaporite and sulfide minerals</a:t>
            </a:r>
            <a:r>
              <a:rPr lang="en-US" sz="1600" b="0" i="0" u="none" strike="noStrike" baseline="0" dirty="0">
                <a:cs typeface="Arial" panose="020B0604020202020204" pitchFamily="34" charset="0"/>
              </a:rPr>
              <a:t>, an important mechanism for the removal of Na</a:t>
            </a:r>
            <a:r>
              <a:rPr lang="en-US" sz="1600" b="0" i="0" u="none" strike="noStrike" baseline="30000" dirty="0">
                <a:cs typeface="Arial" panose="020B0604020202020204" pitchFamily="34" charset="0"/>
              </a:rPr>
              <a:t>+</a:t>
            </a:r>
            <a:r>
              <a:rPr lang="en-US" sz="1600" b="0" i="0" u="none" strike="noStrike" baseline="0" dirty="0">
                <a:cs typeface="Arial" panose="020B0604020202020204" pitchFamily="34" charset="0"/>
              </a:rPr>
              <a:t>, Ca</a:t>
            </a:r>
            <a:r>
              <a:rPr lang="en-US" sz="1600" b="0" i="0" u="none" strike="noStrike" baseline="30000" dirty="0">
                <a:cs typeface="Arial" panose="020B0604020202020204" pitchFamily="34" charset="0"/>
              </a:rPr>
              <a:t>2+</a:t>
            </a:r>
            <a:r>
              <a:rPr lang="en-US" sz="1600" b="0" i="0" u="none" strike="noStrike" baseline="0" dirty="0">
                <a:cs typeface="Arial" panose="020B0604020202020204" pitchFamily="34" charset="0"/>
              </a:rPr>
              <a:t>, Cl</a:t>
            </a:r>
            <a:r>
              <a:rPr lang="en-US" sz="1600" baseline="30000" dirty="0">
                <a:cs typeface="Arial" panose="020B0604020202020204" pitchFamily="34" charset="0"/>
              </a:rPr>
              <a:t>-</a:t>
            </a:r>
            <a:r>
              <a:rPr lang="en-US" sz="1600" b="0" i="0" u="none" strike="noStrike" baseline="0" dirty="0">
                <a:cs typeface="Arial" panose="020B0604020202020204" pitchFamily="34" charset="0"/>
              </a:rPr>
              <a:t>, and </a:t>
            </a:r>
            <a:r>
              <a:rPr lang="en-IN" sz="1600" b="0" i="0" u="none" strike="noStrike" baseline="0" dirty="0">
                <a:cs typeface="Arial" panose="020B0604020202020204" pitchFamily="34" charset="0"/>
              </a:rPr>
              <a:t>SO</a:t>
            </a:r>
            <a:r>
              <a:rPr lang="en-IN" sz="1600" b="0" i="0" u="none" strike="noStrike" baseline="-25000" dirty="0">
                <a:cs typeface="Arial" panose="020B0604020202020204" pitchFamily="34" charset="0"/>
              </a:rPr>
              <a:t>4</a:t>
            </a:r>
            <a:r>
              <a:rPr lang="en-IN" sz="1600" b="0" i="0" u="none" baseline="30000" dirty="0">
                <a:cs typeface="Arial" panose="020B0604020202020204" pitchFamily="34" charset="0"/>
              </a:rPr>
              <a:t>2</a:t>
            </a:r>
            <a:r>
              <a:rPr lang="en-IN" sz="1600" baseline="30000" dirty="0">
                <a:cs typeface="Arial" panose="020B0604020202020204" pitchFamily="34" charset="0"/>
              </a:rPr>
              <a:t>-</a:t>
            </a:r>
            <a:r>
              <a:rPr lang="en-IN" sz="1600" b="0" i="0" u="none" strike="noStrike" baseline="0" dirty="0">
                <a:cs typeface="Arial" panose="020B0604020202020204" pitchFamily="34" charset="0"/>
              </a:rPr>
              <a:t> from seawater.</a:t>
            </a:r>
          </a:p>
          <a:p>
            <a:pPr algn="just"/>
            <a:endParaRPr lang="en-IN" sz="1600" b="0" i="0" u="none" strike="noStrike" baseline="0" dirty="0">
              <a:cs typeface="Arial" panose="020B0604020202020204" pitchFamily="34" charset="0"/>
            </a:endParaRPr>
          </a:p>
          <a:p>
            <a:pPr algn="just"/>
            <a:r>
              <a:rPr lang="en-US" sz="1600" b="0" i="1" u="none" strike="noStrike" baseline="0" dirty="0">
                <a:solidFill>
                  <a:srgbClr val="FF0000"/>
                </a:solidFill>
                <a:cs typeface="Arial" panose="020B0604020202020204" pitchFamily="34" charset="0"/>
              </a:rPr>
              <a:t>(6) Special processes that generally affect only one or two constituents</a:t>
            </a:r>
            <a:r>
              <a:rPr lang="en-US" sz="1600" b="0" i="0" u="none" strike="noStrike" baseline="0" dirty="0">
                <a:cs typeface="Arial" panose="020B0604020202020204" pitchFamily="34" charset="0"/>
              </a:rPr>
              <a:t>. These include porewater burial of Cl</a:t>
            </a:r>
            <a:r>
              <a:rPr lang="en-US" sz="1600" baseline="30000" dirty="0">
                <a:ea typeface="Cambria Math" panose="02040503050406030204" pitchFamily="18" charset="0"/>
                <a:cs typeface="Arial" panose="020B0604020202020204" pitchFamily="34" charset="0"/>
              </a:rPr>
              <a:t>-</a:t>
            </a:r>
            <a:r>
              <a:rPr lang="en-US" sz="1600" b="0" i="0" u="none" strike="noStrike" baseline="0" dirty="0">
                <a:cs typeface="Arial" panose="020B0604020202020204" pitchFamily="34" charset="0"/>
              </a:rPr>
              <a:t> and Na</a:t>
            </a:r>
            <a:r>
              <a:rPr lang="en-US" sz="1600" b="0" i="0" u="none" strike="noStrike" baseline="30000" dirty="0">
                <a:cs typeface="Arial" panose="020B0604020202020204" pitchFamily="34" charset="0"/>
              </a:rPr>
              <a:t>+</a:t>
            </a:r>
            <a:r>
              <a:rPr lang="en-US" sz="1600" b="0" i="0" u="none" strike="noStrike" baseline="0" dirty="0">
                <a:cs typeface="Arial" panose="020B0604020202020204" pitchFamily="34" charset="0"/>
              </a:rPr>
              <a:t>, and a number of processes unique to the nitrogen </a:t>
            </a:r>
            <a:r>
              <a:rPr lang="en-IN" sz="1600" b="0" i="0" u="none" strike="noStrike" baseline="0" dirty="0">
                <a:cs typeface="Arial" panose="020B0604020202020204" pitchFamily="34" charset="0"/>
              </a:rPr>
              <a:t>and phosphorous cycles (</a:t>
            </a:r>
            <a:r>
              <a:rPr lang="en-IN" sz="1600" b="0" i="0" u="none" strike="noStrike" baseline="0" dirty="0">
                <a:solidFill>
                  <a:schemeClr val="accent2"/>
                </a:solidFill>
                <a:cs typeface="Arial" panose="020B0604020202020204" pitchFamily="34" charset="0"/>
              </a:rPr>
              <a:t>nitrification, denitrification, N2 </a:t>
            </a:r>
            <a:r>
              <a:rPr lang="en-US" sz="1600" b="0" i="0" u="none" strike="noStrike" baseline="0" dirty="0">
                <a:solidFill>
                  <a:schemeClr val="accent2"/>
                </a:solidFill>
                <a:cs typeface="Arial" panose="020B0604020202020204" pitchFamily="34" charset="0"/>
              </a:rPr>
              <a:t>fixation, adsorption of phosphate on ferric oxides, and </a:t>
            </a:r>
            <a:r>
              <a:rPr lang="en-IN" sz="1600" b="0" i="0" u="none" strike="noStrike" baseline="0" dirty="0">
                <a:solidFill>
                  <a:schemeClr val="accent2"/>
                </a:solidFill>
                <a:cs typeface="Arial" panose="020B0604020202020204" pitchFamily="34" charset="0"/>
              </a:rPr>
              <a:t>authigenic apatite formation).</a:t>
            </a:r>
            <a:endParaRPr lang="en-US" sz="1600" dirty="0">
              <a:solidFill>
                <a:schemeClr val="accent2"/>
              </a:solidFill>
              <a:cs typeface="Arial" panose="020B0604020202020204" pitchFamily="34" charset="0"/>
            </a:endParaRPr>
          </a:p>
          <a:p>
            <a:pPr algn="l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686201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1C93F3-3F45-1099-30BC-7098290301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D058DC5-9CA6-F385-457C-08681D495315}"/>
              </a:ext>
            </a:extLst>
          </p:cNvPr>
          <p:cNvSpPr txBox="1"/>
          <p:nvPr/>
        </p:nvSpPr>
        <p:spPr>
          <a:xfrm>
            <a:off x="0" y="0"/>
            <a:ext cx="9144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dirty="0">
                <a:solidFill>
                  <a:schemeClr val="tx2"/>
                </a:solidFill>
                <a:latin typeface="+mn-lt"/>
                <a:ea typeface="+mj-ea"/>
                <a:cs typeface="+mj-cs"/>
              </a:rPr>
              <a:t>Mass balance of dissolved constituents </a:t>
            </a:r>
            <a:r>
              <a:rPr lang="en-IN" sz="2800" dirty="0">
                <a:solidFill>
                  <a:schemeClr val="tx2"/>
                </a:solidFill>
                <a:latin typeface="+mn-lt"/>
                <a:ea typeface="+mj-ea"/>
                <a:cs typeface="+mj-cs"/>
              </a:rPr>
              <a:t>in seawater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862DD52-DBE9-6912-6D72-5D21E699A6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5292" y="609600"/>
            <a:ext cx="6233416" cy="5341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00491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BDFE44-84B6-9F3D-BA14-2BDF0F8649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E35BED-A151-AF49-A221-53D4A135C630}"/>
              </a:ext>
            </a:extLst>
          </p:cNvPr>
          <p:cNvSpPr txBox="1"/>
          <p:nvPr/>
        </p:nvSpPr>
        <p:spPr>
          <a:xfrm>
            <a:off x="0" y="8104"/>
            <a:ext cx="9144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dirty="0">
                <a:solidFill>
                  <a:schemeClr val="tx2"/>
                </a:solidFill>
                <a:latin typeface="+mn-lt"/>
                <a:ea typeface="+mj-ea"/>
                <a:cs typeface="+mj-cs"/>
              </a:rPr>
              <a:t>Evolution of the oceans over </a:t>
            </a:r>
            <a:r>
              <a:rPr lang="en-IN" sz="2800" dirty="0">
                <a:solidFill>
                  <a:schemeClr val="tx2"/>
                </a:solidFill>
                <a:latin typeface="+mn-lt"/>
                <a:ea typeface="+mj-ea"/>
                <a:cs typeface="+mj-cs"/>
              </a:rPr>
              <a:t>geologic time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D0A5881-4B5B-ABA8-726D-9EEFFDCD58DC}"/>
              </a:ext>
            </a:extLst>
          </p:cNvPr>
          <p:cNvSpPr txBox="1"/>
          <p:nvPr/>
        </p:nvSpPr>
        <p:spPr>
          <a:xfrm>
            <a:off x="457200" y="838200"/>
            <a:ext cx="82296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1800" b="1" i="1" u="none" strike="noStrike" baseline="0" dirty="0">
                <a:latin typeface="SabonLTStd-BoldItalic"/>
              </a:rPr>
              <a:t>Origin of the oceans</a:t>
            </a:r>
          </a:p>
          <a:p>
            <a:pPr algn="l"/>
            <a:endParaRPr lang="en-IN" sz="1800" b="1" i="1" u="none" strike="noStrike" baseline="0" dirty="0">
              <a:latin typeface="SabonLTStd-BoldItalic"/>
            </a:endParaRPr>
          </a:p>
          <a:p>
            <a:pPr algn="l"/>
            <a:r>
              <a:rPr lang="en-IN" sz="1800" b="1" i="1" u="none" strike="noStrike" baseline="0" dirty="0">
                <a:solidFill>
                  <a:srgbClr val="FF0000"/>
                </a:solidFill>
                <a:latin typeface="SabonLTStd-Italic"/>
              </a:rPr>
              <a:t>Age of the oceans</a:t>
            </a:r>
            <a:r>
              <a:rPr lang="en-IN" b="1" i="1" dirty="0">
                <a:solidFill>
                  <a:srgbClr val="FF0000"/>
                </a:solidFill>
                <a:latin typeface="SabonLTStd-Italic"/>
              </a:rPr>
              <a:t>:</a:t>
            </a:r>
          </a:p>
          <a:p>
            <a:pPr algn="l"/>
            <a:endParaRPr lang="en-IN" sz="1800" b="1" i="1" u="none" strike="noStrike" baseline="0" dirty="0">
              <a:solidFill>
                <a:srgbClr val="FF0000"/>
              </a:solidFill>
              <a:latin typeface="SabonLTStd-Italic"/>
            </a:endParaRPr>
          </a:p>
          <a:p>
            <a:pPr marL="285750" indent="-285750" algn="just">
              <a:buFont typeface="Wingdings" panose="05000000000000000000" pitchFamily="2" charset="2"/>
              <a:buChar char="Ø"/>
            </a:pPr>
            <a:r>
              <a:rPr lang="en-US" sz="1800" b="0" i="0" u="none" strike="noStrike" baseline="0" dirty="0">
                <a:latin typeface="SabonLTStd-Roman"/>
              </a:rPr>
              <a:t>The occurrence of chemical sediments (such as BIFs) in the 3.8-Gyr-old </a:t>
            </a:r>
            <a:r>
              <a:rPr lang="en-US" sz="1800" b="0" i="0" u="none" strike="noStrike" baseline="0" dirty="0" err="1">
                <a:latin typeface="SabonLTStd-Roman"/>
              </a:rPr>
              <a:t>Isua</a:t>
            </a:r>
            <a:r>
              <a:rPr lang="en-US" sz="1800" b="0" i="0" u="none" strike="noStrike" baseline="0" dirty="0">
                <a:latin typeface="SabonLTStd-Roman"/>
              </a:rPr>
              <a:t> sequence in west Greenland (</a:t>
            </a:r>
            <a:r>
              <a:rPr lang="en-US" sz="1800" b="0" i="0" u="none" strike="noStrike" baseline="0" dirty="0" err="1">
                <a:latin typeface="SabonLTStd-Roman"/>
              </a:rPr>
              <a:t>Nutman</a:t>
            </a:r>
            <a:r>
              <a:rPr lang="en-US" sz="1800" b="0" i="0" u="none" strike="noStrike" baseline="0" dirty="0">
                <a:latin typeface="SabonLTStd-Roman"/>
              </a:rPr>
              <a:t> </a:t>
            </a:r>
            <a:r>
              <a:rPr lang="en-US" sz="1800" b="0" i="1" u="none" strike="noStrike" baseline="0" dirty="0">
                <a:latin typeface="SabonLTStd-Italic"/>
              </a:rPr>
              <a:t>et al</a:t>
            </a:r>
            <a:r>
              <a:rPr lang="en-US" sz="1800" b="0" i="0" u="none" strike="noStrike" baseline="0" dirty="0">
                <a:latin typeface="SabonLTStd-Roman"/>
              </a:rPr>
              <a:t>., 1997; Whitehouse </a:t>
            </a:r>
            <a:r>
              <a:rPr lang="en-US" sz="1800" b="0" i="1" u="none" strike="noStrike" baseline="0" dirty="0">
                <a:latin typeface="SabonLTStd-Italic"/>
              </a:rPr>
              <a:t>et al</a:t>
            </a:r>
            <a:r>
              <a:rPr lang="en-US" sz="1800" b="0" i="0" u="none" strike="noStrike" baseline="0" dirty="0">
                <a:latin typeface="SabonLTStd-Roman"/>
              </a:rPr>
              <a:t>., 1999) is indisputable evidence that liquid water was present on the Earth by that time.</a:t>
            </a:r>
          </a:p>
          <a:p>
            <a:pPr algn="just"/>
            <a:endParaRPr lang="en-US" dirty="0">
              <a:latin typeface="SabonLTStd-Roman"/>
            </a:endParaRPr>
          </a:p>
          <a:p>
            <a:pPr marL="285750" indent="-285750" algn="just">
              <a:buFont typeface="Wingdings" panose="05000000000000000000" pitchFamily="2" charset="2"/>
              <a:buChar char="Ø"/>
            </a:pPr>
            <a:r>
              <a:rPr lang="en-IN" sz="1800" b="0" i="0" u="none" strike="noStrike" baseline="0" dirty="0">
                <a:latin typeface="SabonLTStd-Roman"/>
              </a:rPr>
              <a:t>A much </a:t>
            </a:r>
            <a:r>
              <a:rPr lang="en-US" sz="1800" b="0" i="0" u="none" strike="noStrike" baseline="0" dirty="0">
                <a:latin typeface="SabonLTStd-Roman"/>
              </a:rPr>
              <a:t>earlier presence of liquid water on the Earth has been inferred from the </a:t>
            </a:r>
            <a:r>
              <a:rPr lang="en-US" sz="1800" b="0" i="0" u="none" strike="noStrike" baseline="0" dirty="0">
                <a:solidFill>
                  <a:schemeClr val="accent6"/>
                </a:solidFill>
                <a:latin typeface="SabonLTStd-Roman"/>
              </a:rPr>
              <a:t>18O-enriched oxygen isotope composition of &gt; 3900-Myr-old magmatic zircon </a:t>
            </a:r>
            <a:r>
              <a:rPr lang="en-US" sz="1800" b="0" i="0" u="none" strike="noStrike" baseline="0" dirty="0">
                <a:latin typeface="SabonLTStd-Roman"/>
              </a:rPr>
              <a:t>crystals recovered from the Jack Hills metasedimentary belt of Western Australia (</a:t>
            </a:r>
            <a:r>
              <a:rPr lang="en-US" sz="1800" b="0" i="0" u="none" strike="noStrike" baseline="0" dirty="0" err="1">
                <a:latin typeface="SabonLTStd-Roman"/>
              </a:rPr>
              <a:t>Mojzsis</a:t>
            </a:r>
            <a:r>
              <a:rPr lang="en-US" dirty="0">
                <a:latin typeface="SabonLTStd-Roman"/>
              </a:rPr>
              <a:t> </a:t>
            </a:r>
            <a:r>
              <a:rPr lang="en-IN" sz="1800" b="0" i="1" u="none" strike="noStrike" baseline="0" dirty="0">
                <a:latin typeface="SabonLTStd-Italic"/>
              </a:rPr>
              <a:t>et al</a:t>
            </a:r>
            <a:r>
              <a:rPr lang="en-IN" sz="1800" b="0" i="0" u="none" strike="noStrike" baseline="0" dirty="0">
                <a:latin typeface="SabonLTStd-Roman"/>
              </a:rPr>
              <a:t>., 2001; Peck </a:t>
            </a:r>
            <a:r>
              <a:rPr lang="en-IN" sz="1800" b="0" i="1" u="none" strike="noStrike" baseline="0" dirty="0">
                <a:latin typeface="SabonLTStd-Italic"/>
              </a:rPr>
              <a:t>et al</a:t>
            </a:r>
            <a:r>
              <a:rPr lang="en-IN" sz="1800" b="0" i="0" u="none" strike="noStrike" baseline="0" dirty="0">
                <a:latin typeface="SabonLTStd-Roman"/>
              </a:rPr>
              <a:t>., 2001; </a:t>
            </a:r>
            <a:r>
              <a:rPr lang="en-IN" sz="1800" b="0" i="0" u="none" strike="noStrike" baseline="0" dirty="0" err="1">
                <a:latin typeface="SabonLTStd-Roman"/>
              </a:rPr>
              <a:t>Cavosie</a:t>
            </a:r>
            <a:r>
              <a:rPr lang="en-IN" sz="1800" b="0" i="0" u="none" strike="noStrike" baseline="0" dirty="0">
                <a:latin typeface="SabonLTStd-Roman"/>
              </a:rPr>
              <a:t> </a:t>
            </a:r>
            <a:r>
              <a:rPr lang="en-IN" sz="1800" b="0" i="1" u="none" strike="noStrike" baseline="0" dirty="0">
                <a:latin typeface="SabonLTStd-Italic"/>
              </a:rPr>
              <a:t>et al</a:t>
            </a:r>
            <a:r>
              <a:rPr lang="en-IN" sz="1800" b="0" i="0" u="none" strike="noStrike" baseline="0" dirty="0">
                <a:latin typeface="SabonLTStd-Roman"/>
              </a:rPr>
              <a:t>., 2005)</a:t>
            </a:r>
            <a:endParaRPr lang="en-US" sz="1800" b="0" i="0" u="none" strike="noStrike" baseline="0" dirty="0">
              <a:latin typeface="SabonLTStd-Roman"/>
            </a:endParaRPr>
          </a:p>
          <a:p>
            <a:pPr algn="l"/>
            <a:endParaRPr lang="en-US" dirty="0">
              <a:latin typeface="SabonLTStd-Roman"/>
            </a:endParaRPr>
          </a:p>
          <a:p>
            <a:pPr algn="l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689843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18AEA-5580-0328-018C-4E13F125DE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314FF25-59F5-F5B8-315A-F842B45CD3B5}"/>
              </a:ext>
            </a:extLst>
          </p:cNvPr>
          <p:cNvSpPr txBox="1"/>
          <p:nvPr/>
        </p:nvSpPr>
        <p:spPr>
          <a:xfrm>
            <a:off x="0" y="8104"/>
            <a:ext cx="9144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dirty="0">
                <a:solidFill>
                  <a:schemeClr val="tx2"/>
                </a:solidFill>
                <a:latin typeface="+mn-lt"/>
                <a:ea typeface="+mj-ea"/>
                <a:cs typeface="+mj-cs"/>
              </a:rPr>
              <a:t>Evolution of the oceans over </a:t>
            </a:r>
            <a:r>
              <a:rPr lang="en-IN" sz="2800" dirty="0">
                <a:solidFill>
                  <a:schemeClr val="tx2"/>
                </a:solidFill>
                <a:latin typeface="+mn-lt"/>
                <a:ea typeface="+mj-ea"/>
                <a:cs typeface="+mj-cs"/>
              </a:rPr>
              <a:t>geologic time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D53F09-D4E7-A7CF-194F-4E35D0F4B11C}"/>
              </a:ext>
            </a:extLst>
          </p:cNvPr>
          <p:cNvSpPr txBox="1"/>
          <p:nvPr/>
        </p:nvSpPr>
        <p:spPr>
          <a:xfrm>
            <a:off x="457200" y="838200"/>
            <a:ext cx="82296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1800" b="1" i="1" u="none" strike="noStrike" baseline="0" dirty="0">
                <a:latin typeface="SabonLTStd-BoldItalic"/>
              </a:rPr>
              <a:t>Source of waters</a:t>
            </a:r>
            <a:endParaRPr lang="en-IN" b="1" i="1" dirty="0">
              <a:latin typeface="SabonLTStd-BoldItalic"/>
            </a:endParaRPr>
          </a:p>
          <a:p>
            <a:pPr algn="l"/>
            <a:endParaRPr lang="en-IN" b="1" i="1" dirty="0">
              <a:latin typeface="SabonLTStd-BoldItalic"/>
            </a:endParaRPr>
          </a:p>
          <a:p>
            <a:pPr marL="285750" indent="-285750" algn="just">
              <a:buFont typeface="Wingdings" panose="05000000000000000000" pitchFamily="2" charset="2"/>
              <a:buChar char="q"/>
            </a:pPr>
            <a:r>
              <a:rPr lang="en-US" dirty="0">
                <a:latin typeface="SabonLTStd-Roman"/>
              </a:rPr>
              <a:t>S</a:t>
            </a:r>
            <a:r>
              <a:rPr lang="en-US" sz="1800" b="0" i="0" u="none" strike="noStrike" baseline="0" dirty="0">
                <a:latin typeface="SabonLTStd-Roman"/>
              </a:rPr>
              <a:t>ources of water in the terrestrial planets include:</a:t>
            </a:r>
          </a:p>
          <a:p>
            <a:pPr algn="just"/>
            <a:r>
              <a:rPr lang="en-US" sz="1800" b="0" i="0" u="none" strike="noStrike" baseline="0" dirty="0">
                <a:latin typeface="SabonLTStd-Roman"/>
              </a:rPr>
              <a:t> </a:t>
            </a:r>
          </a:p>
          <a:p>
            <a:pPr marL="285750" indent="-285750" algn="just">
              <a:buFont typeface="Wingdings" panose="05000000000000000000" pitchFamily="2" charset="2"/>
              <a:buChar char="Ø"/>
            </a:pPr>
            <a:r>
              <a:rPr lang="en-US" dirty="0">
                <a:latin typeface="SabonLTStd-Roman"/>
              </a:rPr>
              <a:t>C</a:t>
            </a:r>
            <a:r>
              <a:rPr lang="en-US" sz="1800" b="0" i="0" u="none" strike="noStrike" baseline="0" dirty="0">
                <a:latin typeface="SabonLTStd-Roman"/>
              </a:rPr>
              <a:t>omets; </a:t>
            </a:r>
          </a:p>
          <a:p>
            <a:pPr marL="285750" indent="-285750" algn="just">
              <a:buFont typeface="Wingdings" panose="05000000000000000000" pitchFamily="2" charset="2"/>
              <a:buChar char="Ø"/>
            </a:pPr>
            <a:endParaRPr lang="en-IN" sz="1800" b="0" i="0" u="none" strike="noStrike" baseline="0" dirty="0">
              <a:latin typeface="SabonLTStd-Roman"/>
            </a:endParaRPr>
          </a:p>
          <a:p>
            <a:pPr marL="285750" indent="-285750" algn="just">
              <a:buFont typeface="Wingdings" panose="05000000000000000000" pitchFamily="2" charset="2"/>
              <a:buChar char="Ø"/>
            </a:pPr>
            <a:r>
              <a:rPr lang="en-IN" dirty="0">
                <a:latin typeface="SabonLTStd-Roman"/>
              </a:rPr>
              <a:t>H</a:t>
            </a:r>
            <a:r>
              <a:rPr lang="en-IN" sz="1800" b="0" i="0" u="none" strike="noStrike" baseline="0" dirty="0">
                <a:latin typeface="SabonLTStd-Roman"/>
              </a:rPr>
              <a:t>ydrous asteroids</a:t>
            </a:r>
          </a:p>
          <a:p>
            <a:pPr marL="285750" indent="-285750" algn="just">
              <a:buFont typeface="Wingdings" panose="05000000000000000000" pitchFamily="2" charset="2"/>
              <a:buChar char="Ø"/>
            </a:pPr>
            <a:endParaRPr lang="en-IN" sz="1800" b="0" i="0" u="none" strike="noStrike" baseline="0" dirty="0">
              <a:latin typeface="SabonLTStd-Roman"/>
            </a:endParaRPr>
          </a:p>
          <a:p>
            <a:pPr marL="285750" indent="-285750" algn="just">
              <a:buFont typeface="Wingdings" panose="05000000000000000000" pitchFamily="2" charset="2"/>
              <a:buChar char="Ø"/>
            </a:pPr>
            <a:r>
              <a:rPr lang="en-IN" dirty="0">
                <a:latin typeface="SabonLTStd-Roman"/>
              </a:rPr>
              <a:t>P</a:t>
            </a:r>
            <a:r>
              <a:rPr lang="en-IN" sz="1800" b="0" i="0" u="none" strike="noStrike" baseline="0" dirty="0">
                <a:latin typeface="SabonLTStd-Roman"/>
              </a:rPr>
              <a:t>hyllosilicates migrating from </a:t>
            </a:r>
            <a:r>
              <a:rPr lang="en-US" sz="1800" b="0" i="0" u="none" strike="noStrike" baseline="0" dirty="0">
                <a:latin typeface="SabonLTStd-Roman"/>
              </a:rPr>
              <a:t>the asteroid belt</a:t>
            </a:r>
          </a:p>
          <a:p>
            <a:pPr marL="285750" indent="-285750" algn="just">
              <a:buFont typeface="Wingdings" panose="05000000000000000000" pitchFamily="2" charset="2"/>
              <a:buChar char="Ø"/>
            </a:pPr>
            <a:endParaRPr lang="en-US" dirty="0">
              <a:latin typeface="SabonLTStd-Roman"/>
            </a:endParaRPr>
          </a:p>
        </p:txBody>
      </p:sp>
    </p:spTree>
    <p:extLst>
      <p:ext uri="{BB962C8B-B14F-4D97-AF65-F5344CB8AC3E}">
        <p14:creationId xmlns:p14="http://schemas.microsoft.com/office/powerpoint/2010/main" val="29115386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D701676-9F10-4414-A39F-ED1393537951}"/>
              </a:ext>
            </a:extLst>
          </p:cNvPr>
          <p:cNvSpPr txBox="1"/>
          <p:nvPr/>
        </p:nvSpPr>
        <p:spPr>
          <a:xfrm>
            <a:off x="762000" y="2286000"/>
            <a:ext cx="8458200" cy="14784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IN" sz="3200" dirty="0">
                <a:cs typeface="Arial" panose="020B0604020202020204" pitchFamily="34" charset="0"/>
              </a:rPr>
              <a:t>Aqueous Chemistry and role of Chemical weathering</a:t>
            </a:r>
          </a:p>
        </p:txBody>
      </p:sp>
    </p:spTree>
    <p:extLst>
      <p:ext uri="{BB962C8B-B14F-4D97-AF65-F5344CB8AC3E}">
        <p14:creationId xmlns:p14="http://schemas.microsoft.com/office/powerpoint/2010/main" val="39944052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1137A0B-697D-461B-AF46-7DCF5C3BA43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364" r="4135"/>
          <a:stretch/>
        </p:blipFill>
        <p:spPr>
          <a:xfrm>
            <a:off x="304800" y="1468320"/>
            <a:ext cx="8610600" cy="4967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25706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E90C5BB-4E74-4D6D-9982-728E7BEE23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18978" r="5515" b="32813"/>
          <a:stretch/>
        </p:blipFill>
        <p:spPr>
          <a:xfrm>
            <a:off x="304799" y="23955"/>
            <a:ext cx="4254097" cy="6681645"/>
          </a:xfrm>
        </p:spPr>
      </p:pic>
      <p:pic>
        <p:nvPicPr>
          <p:cNvPr id="6" name="Content Placeholder 4">
            <a:extLst>
              <a:ext uri="{FF2B5EF4-FFF2-40B4-BE49-F238E27FC236}">
                <a16:creationId xmlns:a16="http://schemas.microsoft.com/office/drawing/2014/main" id="{FF9964F7-0FD0-41B0-A21B-20859703A30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0360" t="66067"/>
          <a:stretch/>
        </p:blipFill>
        <p:spPr bwMode="auto">
          <a:xfrm>
            <a:off x="4800600" y="3505200"/>
            <a:ext cx="4254097" cy="284245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A10FD44-F4BB-4CC8-80BF-8215EBA734D0}"/>
              </a:ext>
            </a:extLst>
          </p:cNvPr>
          <p:cNvSpPr txBox="1"/>
          <p:nvPr/>
        </p:nvSpPr>
        <p:spPr>
          <a:xfrm>
            <a:off x="5232855" y="2057400"/>
            <a:ext cx="1676400" cy="456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IN" sz="1800" dirty="0">
                <a:cs typeface="Arial" panose="020B0604020202020204" pitchFamily="34" charset="0"/>
              </a:rPr>
              <a:t>Gibbs plots</a:t>
            </a:r>
          </a:p>
        </p:txBody>
      </p:sp>
    </p:spTree>
    <p:extLst>
      <p:ext uri="{BB962C8B-B14F-4D97-AF65-F5344CB8AC3E}">
        <p14:creationId xmlns:p14="http://schemas.microsoft.com/office/powerpoint/2010/main" val="18694523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507AE1-5BB0-46D9-B108-D76EAC4CF1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3703" y="31531"/>
            <a:ext cx="8229600" cy="1143000"/>
          </a:xfrm>
        </p:spPr>
        <p:txBody>
          <a:bodyPr/>
          <a:lstStyle/>
          <a:p>
            <a:r>
              <a:rPr lang="en-IN" dirty="0"/>
              <a:t>Solubility of ions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885247-7C0F-4BCF-8531-19D60BA4E0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0" y="1894490"/>
            <a:ext cx="6887266" cy="411344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2AE4DC9-2807-4D44-AEC9-E1F86DDB1416}"/>
              </a:ext>
            </a:extLst>
          </p:cNvPr>
          <p:cNvSpPr txBox="1"/>
          <p:nvPr/>
        </p:nvSpPr>
        <p:spPr>
          <a:xfrm>
            <a:off x="6553200" y="1676400"/>
            <a:ext cx="266700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800" b="0" i="0" u="none" strike="noStrike" baseline="0" dirty="0">
                <a:latin typeface="PhotinaMTStd"/>
              </a:rPr>
              <a:t>Not all ions in solution exist as simple </a:t>
            </a:r>
            <a:r>
              <a:rPr lang="en-US" sz="1800" b="1" i="0" u="none" strike="noStrike" baseline="0" dirty="0">
                <a:latin typeface="PhotinaMTStd-Bold"/>
              </a:rPr>
              <a:t>monoatomic</a:t>
            </a:r>
          </a:p>
          <a:p>
            <a:pPr algn="l"/>
            <a:r>
              <a:rPr lang="en-US" sz="1800" b="1" i="0" u="none" strike="noStrike" baseline="0" dirty="0">
                <a:latin typeface="PhotinaMTStd-Bold"/>
              </a:rPr>
              <a:t>ions </a:t>
            </a:r>
            <a:r>
              <a:rPr lang="en-US" sz="1800" b="0" i="0" u="none" strike="noStrike" baseline="0" dirty="0">
                <a:latin typeface="PhotinaMTStd"/>
              </a:rPr>
              <a:t>like Ca</a:t>
            </a:r>
            <a:r>
              <a:rPr lang="en-US" sz="800" b="0" i="0" u="none" strike="noStrike" baseline="0" dirty="0">
                <a:latin typeface="PhotinaMTStd"/>
              </a:rPr>
              <a:t>+2 </a:t>
            </a:r>
            <a:r>
              <a:rPr lang="en-US" sz="1800" b="0" i="0" u="none" strike="noStrike" baseline="0" dirty="0">
                <a:latin typeface="PhotinaMTStd"/>
              </a:rPr>
              <a:t>or Cl</a:t>
            </a:r>
            <a:r>
              <a:rPr lang="en-US" sz="800" b="0" i="0" u="none" strike="noStrike" baseline="0" dirty="0">
                <a:latin typeface="PhotinaMTStd+20"/>
              </a:rPr>
              <a:t>– </a:t>
            </a:r>
            <a:r>
              <a:rPr lang="en-US" sz="1800" b="0" i="0" u="none" strike="noStrike" baseline="0" dirty="0">
                <a:latin typeface="PhotinaMTStd"/>
              </a:rPr>
              <a:t>but rather occur</a:t>
            </a:r>
          </a:p>
          <a:p>
            <a:pPr algn="l"/>
            <a:r>
              <a:rPr lang="en-US" sz="1800" b="0" i="0" u="none" strike="noStrike" baseline="0" dirty="0">
                <a:latin typeface="PhotinaMTStd"/>
              </a:rPr>
              <a:t>charged molecules known as </a:t>
            </a:r>
            <a:r>
              <a:rPr lang="en-US" sz="1800" b="1" i="0" u="none" strike="noStrike" baseline="0" dirty="0">
                <a:latin typeface="PhotinaMTStd-Bold"/>
              </a:rPr>
              <a:t>polyatomic</a:t>
            </a:r>
          </a:p>
          <a:p>
            <a:pPr algn="l"/>
            <a:r>
              <a:rPr lang="en-US" sz="1800" b="1" i="0" u="none" strike="noStrike" baseline="0" dirty="0">
                <a:latin typeface="PhotinaMTStd-Bold"/>
              </a:rPr>
              <a:t>Anions</a:t>
            </a:r>
            <a:r>
              <a:rPr lang="en-US" dirty="0">
                <a:latin typeface="PhotinaMTStd"/>
              </a:rPr>
              <a:t> or cations ( </a:t>
            </a:r>
            <a:r>
              <a:rPr lang="en-IN" sz="1800" b="0" i="0" u="none" strike="noStrike" baseline="0" dirty="0">
                <a:latin typeface="PhotinaMTStd"/>
              </a:rPr>
              <a:t>ammonium (NH4</a:t>
            </a:r>
          </a:p>
          <a:p>
            <a:pPr algn="l"/>
            <a:r>
              <a:rPr lang="en-IN" sz="1800" b="0" i="0" u="none" strike="noStrike" baseline="0" dirty="0">
                <a:latin typeface="PhotinaMTStd"/>
              </a:rPr>
              <a:t>+);</a:t>
            </a:r>
            <a:r>
              <a:rPr lang="en-IN" sz="1800" b="1" i="0" u="none" strike="noStrike" baseline="0" dirty="0">
                <a:latin typeface="PhotinaMTStd-Bold+20"/>
              </a:rPr>
              <a:t> </a:t>
            </a:r>
            <a:r>
              <a:rPr lang="en-IN" sz="1800" b="0" i="0" u="none" strike="noStrike" baseline="0" dirty="0">
                <a:latin typeface="PhotinaMTStd"/>
              </a:rPr>
              <a:t>uranyl (UO2</a:t>
            </a:r>
          </a:p>
          <a:p>
            <a:pPr algn="l"/>
            <a:r>
              <a:rPr lang="en-IN" sz="1800" b="0" i="0" u="none" strike="noStrike" baseline="0" dirty="0">
                <a:latin typeface="PhotinaMTStd"/>
              </a:rPr>
              <a:t>+2))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466001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>
            <a:extLst>
              <a:ext uri="{FF2B5EF4-FFF2-40B4-BE49-F238E27FC236}">
                <a16:creationId xmlns:a16="http://schemas.microsoft.com/office/drawing/2014/main" id="{D6666AA0-A3D3-4F08-B045-04A1981D344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-2700338" y="0"/>
            <a:ext cx="8229601" cy="1143000"/>
          </a:xfrm>
        </p:spPr>
        <p:txBody>
          <a:bodyPr/>
          <a:lstStyle/>
          <a:p>
            <a:pPr eaLnBrk="1" hangingPunct="1"/>
            <a:r>
              <a:rPr lang="en-US" alt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Chemical alteration</a:t>
            </a:r>
          </a:p>
        </p:txBody>
      </p:sp>
      <p:pic>
        <p:nvPicPr>
          <p:cNvPr id="35843" name="Picture 1">
            <a:extLst>
              <a:ext uri="{FF2B5EF4-FFF2-40B4-BE49-F238E27FC236}">
                <a16:creationId xmlns:a16="http://schemas.microsoft.com/office/drawing/2014/main" id="{6B4CF723-7B7C-4C04-899C-0A6665443B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0825" y="1484313"/>
            <a:ext cx="8680450" cy="4248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23862795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866" name="Picture 2">
            <a:extLst>
              <a:ext uri="{FF2B5EF4-FFF2-40B4-BE49-F238E27FC236}">
                <a16:creationId xmlns:a16="http://schemas.microsoft.com/office/drawing/2014/main" id="{098185CF-E409-4F7C-9F92-B36E9D7316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9750" y="1057275"/>
            <a:ext cx="5524500" cy="4743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6867" name="Rectangle 2">
            <a:extLst>
              <a:ext uri="{FF2B5EF4-FFF2-40B4-BE49-F238E27FC236}">
                <a16:creationId xmlns:a16="http://schemas.microsoft.com/office/drawing/2014/main" id="{4CA29A50-9931-4EAF-9172-E63918A3155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1021" y="0"/>
            <a:ext cx="8132380" cy="1143000"/>
          </a:xfrm>
        </p:spPr>
        <p:txBody>
          <a:bodyPr/>
          <a:lstStyle/>
          <a:p>
            <a:pPr algn="l" eaLnBrk="1" hangingPunct="1"/>
            <a:r>
              <a:rPr lang="en-US" alt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Chemical weathering</a:t>
            </a:r>
          </a:p>
        </p:txBody>
      </p:sp>
    </p:spTree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5E78F4-716E-4B64-B9D3-C2191584A7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-228600"/>
            <a:ext cx="9677400" cy="1143000"/>
          </a:xfrm>
        </p:spPr>
        <p:txBody>
          <a:bodyPr/>
          <a:lstStyle/>
          <a:p>
            <a:r>
              <a:rPr lang="en-IN" dirty="0"/>
              <a:t>Chemical weathering series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B7FF8D3-92D9-44FA-9868-3411EDC2E8D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1640"/>
          <a:stretch/>
        </p:blipFill>
        <p:spPr>
          <a:xfrm>
            <a:off x="1676400" y="877614"/>
            <a:ext cx="6535957" cy="5727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66931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2">
            <a:extLst>
              <a:ext uri="{FF2B5EF4-FFF2-40B4-BE49-F238E27FC236}">
                <a16:creationId xmlns:a16="http://schemas.microsoft.com/office/drawing/2014/main" id="{366C9D16-61FB-4070-90B7-A627E16A63D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31531"/>
            <a:ext cx="4876800" cy="1143000"/>
          </a:xfrm>
        </p:spPr>
        <p:txBody>
          <a:bodyPr/>
          <a:lstStyle/>
          <a:p>
            <a:r>
              <a:rPr lang="en-US" alt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Calculating weathering rates</a:t>
            </a:r>
          </a:p>
        </p:txBody>
      </p:sp>
      <p:sp>
        <p:nvSpPr>
          <p:cNvPr id="37891" name="Rectangle 3">
            <a:extLst>
              <a:ext uri="{FF2B5EF4-FFF2-40B4-BE49-F238E27FC236}">
                <a16:creationId xmlns:a16="http://schemas.microsoft.com/office/drawing/2014/main" id="{3750FFE2-04B0-4502-A7D6-7760CAFF89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5288" y="1196975"/>
            <a:ext cx="8208962" cy="2862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42900" indent="-34290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" panose="02020603050405020304" pitchFamily="18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AutoNum type="alphaLcParenBoth"/>
            </a:pPr>
            <a:r>
              <a:rPr lang="en-I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certain major oxides, including Al</a:t>
            </a:r>
            <a:r>
              <a:rPr lang="en-IN" altLang="en-US" sz="20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</a:t>
            </a:r>
            <a:r>
              <a:rPr lang="en-IN" altLang="en-US" sz="20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I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Fe</a:t>
            </a:r>
            <a:r>
              <a:rPr lang="en-IN" altLang="en-US" sz="20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</a:t>
            </a:r>
            <a:r>
              <a:rPr lang="en-IN" altLang="en-US" sz="20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I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TiO</a:t>
            </a:r>
            <a:r>
              <a:rPr lang="en-IN" altLang="en-US" sz="20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considered as ‘immobile’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endParaRPr lang="en-I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en-I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 Si</a:t>
            </a:r>
            <a:r>
              <a:rPr lang="en-IN" altLang="en-US" sz="20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O, Na</a:t>
            </a:r>
            <a:r>
              <a:rPr lang="en-IN" altLang="en-US" sz="20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O, K</a:t>
            </a:r>
            <a:r>
              <a:rPr lang="en-IN" altLang="en-US" sz="20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O, CaO and MgO, considered as ‘mobile’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endParaRPr lang="en-I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en-I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</p:spTree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>
            <a:extLst>
              <a:ext uri="{FF2B5EF4-FFF2-40B4-BE49-F238E27FC236}">
                <a16:creationId xmlns:a16="http://schemas.microsoft.com/office/drawing/2014/main" id="{0E633872-EFC7-4D8D-B070-D87A2AD931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1188" y="3068638"/>
            <a:ext cx="8353425" cy="1939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" panose="02020603050405020304" pitchFamily="18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en-IN" alt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The CIA is defined as 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endParaRPr lang="en-IN" alt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en-IN" alt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</a:t>
            </a:r>
            <a:r>
              <a:rPr lang="en-IN" altLang="en-US" sz="2000" baseline="-25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alt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</a:t>
            </a:r>
            <a:r>
              <a:rPr lang="en-IN" altLang="en-US" sz="2000" baseline="-25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IN" alt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pt-BR" alt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(Al</a:t>
            </a:r>
            <a:r>
              <a:rPr lang="pt-BR" altLang="en-US" sz="2000" baseline="-25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pt-BR" alt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</a:t>
            </a:r>
            <a:r>
              <a:rPr lang="pt-BR" altLang="en-US" sz="2000" baseline="-25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pt-BR" alt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+CaO*+Na</a:t>
            </a:r>
            <a:r>
              <a:rPr lang="pt-BR" altLang="en-US" sz="2000" baseline="-25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pt-BR" alt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O+K</a:t>
            </a:r>
            <a:r>
              <a:rPr lang="pt-BR" altLang="en-US" sz="2000" baseline="-25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pt-BR" alt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O)×100 </a:t>
            </a:r>
            <a:r>
              <a:rPr lang="pt-BR" alt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(molar contents, with CaO* being </a:t>
            </a:r>
            <a:r>
              <a:rPr lang="en-IN" alt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CaO content in the silicate fraction of the sample)</a:t>
            </a:r>
          </a:p>
        </p:txBody>
      </p:sp>
      <p:sp>
        <p:nvSpPr>
          <p:cNvPr id="38915" name="Rectangle 3">
            <a:extLst>
              <a:ext uri="{FF2B5EF4-FFF2-40B4-BE49-F238E27FC236}">
                <a16:creationId xmlns:a16="http://schemas.microsoft.com/office/drawing/2014/main" id="{3FFA8BFE-C20C-4C73-8886-31F8ED394A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4213" y="1674813"/>
            <a:ext cx="7920037" cy="1033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" panose="02020603050405020304" pitchFamily="18" charset="0"/>
              </a:defRPr>
            </a:lvl9pPr>
          </a:lstStyle>
          <a:p>
            <a:pPr eaLnBrk="1" hangingPunct="1">
              <a:spcBef>
                <a:spcPct val="40000"/>
              </a:spcBef>
            </a:pPr>
            <a:r>
              <a:rPr lang="en-US" alt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Chemical index of alteration (CIA) commonly used to assess paleosol weathering</a:t>
            </a:r>
          </a:p>
          <a:p>
            <a:pPr eaLnBrk="1" hangingPunct="1">
              <a:spcBef>
                <a:spcPct val="40000"/>
              </a:spcBef>
            </a:pPr>
            <a:endParaRPr lang="en-US" altLang="en-US" sz="18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</a:pPr>
            <a:r>
              <a:rPr lang="en-IN" alt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CIA is interpreted as a measure of the extent of the conversion of feldspar to clays</a:t>
            </a:r>
            <a:endParaRPr lang="en-US" altLang="en-US" sz="1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916" name="Rectangle 2">
            <a:extLst>
              <a:ext uri="{FF2B5EF4-FFF2-40B4-BE49-F238E27FC236}">
                <a16:creationId xmlns:a16="http://schemas.microsoft.com/office/drawing/2014/main" id="{5118A0F4-31B0-4D7B-B6D0-F843CA8E34B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28638" y="188913"/>
            <a:ext cx="6419850" cy="1143000"/>
          </a:xfrm>
        </p:spPr>
        <p:txBody>
          <a:bodyPr/>
          <a:lstStyle/>
          <a:p>
            <a:pPr algn="l"/>
            <a:r>
              <a:rPr lang="en-US" altLang="en-US" sz="3200">
                <a:latin typeface="Times New Roman" panose="02020603050405020304" pitchFamily="18" charset="0"/>
                <a:cs typeface="Times New Roman" panose="02020603050405020304" pitchFamily="18" charset="0"/>
              </a:rPr>
              <a:t>Chemical  Index of Alteration</a:t>
            </a:r>
          </a:p>
        </p:txBody>
      </p:sp>
    </p:spTree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Slide Number Placeholder 2">
            <a:extLst>
              <a:ext uri="{FF2B5EF4-FFF2-40B4-BE49-F238E27FC236}">
                <a16:creationId xmlns:a16="http://schemas.microsoft.com/office/drawing/2014/main" id="{1F76AE52-83C1-4241-B796-5FFEAA016E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7162800" y="64770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r" rtl="0" eaLnBrk="1" fontAlgn="base" hangingPunct="1">
              <a:spcBef>
                <a:spcPct val="0"/>
              </a:spcBef>
              <a:spcAft>
                <a:spcPct val="0"/>
              </a:spcAft>
              <a:defRPr sz="1400" kern="1200">
                <a:solidFill>
                  <a:srgbClr val="000000"/>
                </a:solidFill>
                <a:latin typeface="Times" panose="02020603050405020304" pitchFamily="18" charset="0"/>
                <a:ea typeface="+mn-ea"/>
                <a:cs typeface="Arial" panose="020B0604020202020204" pitchFamily="34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DF07D8C0-A1E1-4241-977B-54ADBACE35AB}" type="slidenum">
              <a:rPr lang="en-US" altLang="en-US" smtClean="0"/>
              <a:pPr>
                <a:spcBef>
                  <a:spcPct val="0"/>
                </a:spcBef>
                <a:buFontTx/>
                <a:buNone/>
              </a:pPr>
              <a:t>16</a:t>
            </a:fld>
            <a:endParaRPr lang="en-US" altLang="en-US" sz="1400" dirty="0">
              <a:solidFill>
                <a:srgbClr val="898989"/>
              </a:solidFill>
              <a:ea typeface="MS PGothic" panose="020B0600070205080204" pitchFamily="34" charset="-128"/>
            </a:endParaRPr>
          </a:p>
        </p:txBody>
      </p:sp>
      <p:pic>
        <p:nvPicPr>
          <p:cNvPr id="39939" name="Picture 2">
            <a:extLst>
              <a:ext uri="{FF2B5EF4-FFF2-40B4-BE49-F238E27FC236}">
                <a16:creationId xmlns:a16="http://schemas.microsoft.com/office/drawing/2014/main" id="{93154778-97B5-41FD-85EB-676217F5E0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974" t="8057" r="17558"/>
          <a:stretch>
            <a:fillRect/>
          </a:stretch>
        </p:blipFill>
        <p:spPr bwMode="auto">
          <a:xfrm>
            <a:off x="1965325" y="2441575"/>
            <a:ext cx="4587875" cy="10207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9940" name="Rectangle 2">
            <a:extLst>
              <a:ext uri="{FF2B5EF4-FFF2-40B4-BE49-F238E27FC236}">
                <a16:creationId xmlns:a16="http://schemas.microsoft.com/office/drawing/2014/main" id="{50450A77-A62B-4286-A40E-789EDD590EB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28638" y="188913"/>
            <a:ext cx="6419850" cy="1143000"/>
          </a:xfrm>
        </p:spPr>
        <p:txBody>
          <a:bodyPr/>
          <a:lstStyle/>
          <a:p>
            <a:pPr algn="l"/>
            <a:r>
              <a:rPr lang="en-US" alt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Chemical  Index of Weathering</a:t>
            </a:r>
          </a:p>
        </p:txBody>
      </p:sp>
      <p:sp>
        <p:nvSpPr>
          <p:cNvPr id="39941" name="Rectangle 6">
            <a:extLst>
              <a:ext uri="{FF2B5EF4-FFF2-40B4-BE49-F238E27FC236}">
                <a16:creationId xmlns:a16="http://schemas.microsoft.com/office/drawing/2014/main" id="{B5800514-D8CA-4164-9CA4-8AB601FBC9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1544638"/>
            <a:ext cx="2316163" cy="50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" panose="02020603050405020304" pitchFamily="18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en-IN" alt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The CIW is defined as </a:t>
            </a:r>
          </a:p>
        </p:txBody>
      </p:sp>
      <p:pic>
        <p:nvPicPr>
          <p:cNvPr id="39942" name="Picture 3">
            <a:extLst>
              <a:ext uri="{FF2B5EF4-FFF2-40B4-BE49-F238E27FC236}">
                <a16:creationId xmlns:a16="http://schemas.microsoft.com/office/drawing/2014/main" id="{ABC69ACC-D562-4DD8-B682-33ED38F5ED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6315075"/>
            <a:ext cx="1524000" cy="390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9943" name="Rectangle 8">
            <a:extLst>
              <a:ext uri="{FF2B5EF4-FFF2-40B4-BE49-F238E27FC236}">
                <a16:creationId xmlns:a16="http://schemas.microsoft.com/office/drawing/2014/main" id="{0C7C305C-21C3-47CB-B933-4C788F6B8B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393" y="6246813"/>
            <a:ext cx="947738" cy="458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" panose="02020603050405020304" pitchFamily="18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en-I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Source: </a:t>
            </a:r>
          </a:p>
        </p:txBody>
      </p:sp>
    </p:spTree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148354-D178-4A67-B215-27D6AE4B9F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76200"/>
            <a:ext cx="8229600" cy="1143000"/>
          </a:xfrm>
        </p:spPr>
        <p:txBody>
          <a:bodyPr/>
          <a:lstStyle/>
          <a:p>
            <a:r>
              <a:rPr lang="en-IN" dirty="0"/>
              <a:t>ACKN diagram for weathering</a:t>
            </a:r>
          </a:p>
        </p:txBody>
      </p:sp>
      <p:pic>
        <p:nvPicPr>
          <p:cNvPr id="1026" name="Picture 2" descr="figure 5">
            <a:extLst>
              <a:ext uri="{FF2B5EF4-FFF2-40B4-BE49-F238E27FC236}">
                <a16:creationId xmlns:a16="http://schemas.microsoft.com/office/drawing/2014/main" id="{EE25E53E-9C7B-4BBD-B94B-6F868D7E74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1600" y="1143000"/>
            <a:ext cx="6248400" cy="4843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0A8D322-819B-4A22-B03A-7E149C98DB2A}"/>
              </a:ext>
            </a:extLst>
          </p:cNvPr>
          <p:cNvSpPr txBox="1"/>
          <p:nvPr/>
        </p:nvSpPr>
        <p:spPr>
          <a:xfrm>
            <a:off x="6019800" y="6336268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0" i="0" dirty="0">
                <a:solidFill>
                  <a:srgbClr val="000000"/>
                </a:solidFill>
                <a:effectLst/>
                <a:latin typeface="Merriweather Sans" pitchFamily="2" charset="0"/>
              </a:rPr>
              <a:t>Source: Mudoi et al., 2022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035955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010" name="Picture 2">
            <a:extLst>
              <a:ext uri="{FF2B5EF4-FFF2-40B4-BE49-F238E27FC236}">
                <a16:creationId xmlns:a16="http://schemas.microsoft.com/office/drawing/2014/main" id="{DEC18689-07CD-4624-BDE9-77ADD45A0C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5295"/>
          <a:stretch>
            <a:fillRect/>
          </a:stretch>
        </p:blipFill>
        <p:spPr bwMode="auto">
          <a:xfrm>
            <a:off x="1331913" y="1052513"/>
            <a:ext cx="4357687" cy="4962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3011" name="Rectangle 2">
            <a:extLst>
              <a:ext uri="{FF2B5EF4-FFF2-40B4-BE49-F238E27FC236}">
                <a16:creationId xmlns:a16="http://schemas.microsoft.com/office/drawing/2014/main" id="{A7870D97-632A-4CA9-98FF-D75F7DBFA1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3213" y="0"/>
            <a:ext cx="6249987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45720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" panose="02020603050405020304" pitchFamily="18" charset="0"/>
              </a:defRPr>
            </a:lvl1pPr>
            <a:lvl2pPr marL="742950" indent="-285750" defTabSz="45720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" panose="02020603050405020304" pitchFamily="18" charset="0"/>
              </a:defRPr>
            </a:lvl2pPr>
            <a:lvl3pPr marL="1143000" indent="-228600" defTabSz="4572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" panose="02020603050405020304" pitchFamily="18" charset="0"/>
              </a:defRPr>
            </a:lvl3pPr>
            <a:lvl4pPr marL="1600200" indent="-228600" defTabSz="4572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" panose="02020603050405020304" pitchFamily="18" charset="0"/>
              </a:defRPr>
            </a:lvl4pPr>
            <a:lvl5pPr marL="2057400" indent="-228600" defTabSz="4572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" panose="02020603050405020304" pitchFamily="18" charset="0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" panose="02020603050405020304" pitchFamily="18" charset="0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" panose="02020603050405020304" pitchFamily="18" charset="0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" panose="02020603050405020304" pitchFamily="18" charset="0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>
                <a:latin typeface="Times New Roman" panose="02020603050405020304" pitchFamily="18" charset="0"/>
                <a:ea typeface="MS PGothic" panose="020B0600070205080204" pitchFamily="34" charset="-128"/>
                <a:cs typeface="Times New Roman" panose="02020603050405020304" pitchFamily="18" charset="0"/>
              </a:rPr>
              <a:t>Paleoclimate reconstruction</a:t>
            </a:r>
          </a:p>
        </p:txBody>
      </p:sp>
      <p:sp>
        <p:nvSpPr>
          <p:cNvPr id="43012" name="Rectangle 2">
            <a:extLst>
              <a:ext uri="{FF2B5EF4-FFF2-40B4-BE49-F238E27FC236}">
                <a16:creationId xmlns:a16="http://schemas.microsoft.com/office/drawing/2014/main" id="{4CE873AE-F83D-4566-A48E-F1D77678B1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94375" y="6286500"/>
            <a:ext cx="4589463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45720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" panose="02020603050405020304" pitchFamily="18" charset="0"/>
              </a:defRPr>
            </a:lvl1pPr>
            <a:lvl2pPr marL="742950" indent="-285750" defTabSz="45720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" panose="02020603050405020304" pitchFamily="18" charset="0"/>
              </a:defRPr>
            </a:lvl2pPr>
            <a:lvl3pPr marL="1143000" indent="-228600" defTabSz="4572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" panose="02020603050405020304" pitchFamily="18" charset="0"/>
              </a:defRPr>
            </a:lvl3pPr>
            <a:lvl4pPr marL="1600200" indent="-228600" defTabSz="4572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" panose="02020603050405020304" pitchFamily="18" charset="0"/>
              </a:defRPr>
            </a:lvl4pPr>
            <a:lvl5pPr marL="2057400" indent="-228600" defTabSz="4572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" panose="02020603050405020304" pitchFamily="18" charset="0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" panose="02020603050405020304" pitchFamily="18" charset="0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" panose="02020603050405020304" pitchFamily="18" charset="0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" panose="02020603050405020304" pitchFamily="18" charset="0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800">
                <a:latin typeface="Times New Roman" panose="02020603050405020304" pitchFamily="18" charset="0"/>
                <a:ea typeface="MS PGothic" panose="020B0600070205080204" pitchFamily="34" charset="-128"/>
                <a:cs typeface="Times New Roman" panose="02020603050405020304" pitchFamily="18" charset="0"/>
              </a:rPr>
              <a:t>Source: Kotlia and Joshi, 2013</a:t>
            </a:r>
          </a:p>
        </p:txBody>
      </p:sp>
    </p:spTree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10034</TotalTime>
  <Words>613</Words>
  <Application>Microsoft Office PowerPoint</Application>
  <PresentationFormat>On-screen Show (4:3)</PresentationFormat>
  <Paragraphs>70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32" baseType="lpstr">
      <vt:lpstr>Arial</vt:lpstr>
      <vt:lpstr>Calibri</vt:lpstr>
      <vt:lpstr>Merriweather Sans</vt:lpstr>
      <vt:lpstr>PhotinaMTStd</vt:lpstr>
      <vt:lpstr>PhotinaMTStd+20</vt:lpstr>
      <vt:lpstr>PhotinaMTStd-Bold</vt:lpstr>
      <vt:lpstr>PhotinaMTStd-Bold+20</vt:lpstr>
      <vt:lpstr>SabonLTStd-BoldItalic</vt:lpstr>
      <vt:lpstr>SabonLTStd-Italic</vt:lpstr>
      <vt:lpstr>SabonLTStd-Roman</vt:lpstr>
      <vt:lpstr>Times</vt:lpstr>
      <vt:lpstr>Times New Roman</vt:lpstr>
      <vt:lpstr>Wingdings</vt:lpstr>
      <vt:lpstr>Default Design</vt:lpstr>
      <vt:lpstr>EES203: Geochemistry </vt:lpstr>
      <vt:lpstr>Geochemical evolution of hydrosphere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Solubility of ions</vt:lpstr>
      <vt:lpstr>Chemical alteration</vt:lpstr>
      <vt:lpstr>Chemical weathering</vt:lpstr>
      <vt:lpstr>Chemical weathering series</vt:lpstr>
      <vt:lpstr> Calculating weathering rates</vt:lpstr>
      <vt:lpstr>Chemical  Index of Alteration</vt:lpstr>
      <vt:lpstr>Chemical  Index of Weathering</vt:lpstr>
      <vt:lpstr>ACKN diagram for weathering</vt:lpstr>
      <vt:lpstr>PowerPoint Presentation</vt:lpstr>
    </vt:vector>
  </TitlesOfParts>
  <Company>njcu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dfreile</dc:creator>
  <cp:lastModifiedBy>Dell</cp:lastModifiedBy>
  <cp:revision>237</cp:revision>
  <dcterms:created xsi:type="dcterms:W3CDTF">2005-10-26T18:01:58Z</dcterms:created>
  <dcterms:modified xsi:type="dcterms:W3CDTF">2025-03-03T11:15:14Z</dcterms:modified>
</cp:coreProperties>
</file>