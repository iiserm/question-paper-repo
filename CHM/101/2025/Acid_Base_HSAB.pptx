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8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76C7-3DB1-4188-84F4-AB4BBA8A06CA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6FC5D-817D-4FFC-9392-BE3376C3B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173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76C7-3DB1-4188-84F4-AB4BBA8A06CA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6FC5D-817D-4FFC-9392-BE3376C3B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00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76C7-3DB1-4188-84F4-AB4BBA8A06CA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6FC5D-817D-4FFC-9392-BE3376C3B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001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76C7-3DB1-4188-84F4-AB4BBA8A06CA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6FC5D-817D-4FFC-9392-BE3376C3B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75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76C7-3DB1-4188-84F4-AB4BBA8A06CA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6FC5D-817D-4FFC-9392-BE3376C3B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62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76C7-3DB1-4188-84F4-AB4BBA8A06CA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6FC5D-817D-4FFC-9392-BE3376C3B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429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76C7-3DB1-4188-84F4-AB4BBA8A06CA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6FC5D-817D-4FFC-9392-BE3376C3B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54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76C7-3DB1-4188-84F4-AB4BBA8A06CA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6FC5D-817D-4FFC-9392-BE3376C3B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710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76C7-3DB1-4188-84F4-AB4BBA8A06CA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6FC5D-817D-4FFC-9392-BE3376C3B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10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76C7-3DB1-4188-84F4-AB4BBA8A06CA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6FC5D-817D-4FFC-9392-BE3376C3B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45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176C7-3DB1-4188-84F4-AB4BBA8A06CA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6FC5D-817D-4FFC-9392-BE3376C3B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3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176C7-3DB1-4188-84F4-AB4BBA8A06CA}" type="datetimeFigureOut">
              <a:rPr lang="en-IN" smtClean="0"/>
              <a:t>28-09-2024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6FC5D-817D-4FFC-9392-BE3376C3BB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70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108" y="1589812"/>
            <a:ext cx="9325783" cy="247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1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06" y="1530910"/>
            <a:ext cx="10014785" cy="379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74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32" y="184751"/>
            <a:ext cx="11860280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09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533" y="588229"/>
            <a:ext cx="9078592" cy="34199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99A5CE-F576-3198-EDAF-E05A6A759B03}"/>
              </a:ext>
            </a:extLst>
          </p:cNvPr>
          <p:cNvSpPr txBox="1"/>
          <p:nvPr/>
        </p:nvSpPr>
        <p:spPr>
          <a:xfrm>
            <a:off x="2844800" y="4415548"/>
            <a:ext cx="5297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</a:t>
            </a:r>
            <a:r>
              <a:rPr lang="en-US" sz="2400" baseline="-25000" dirty="0"/>
              <a:t>2</a:t>
            </a:r>
            <a:r>
              <a:rPr lang="en-US" sz="2400" dirty="0"/>
              <a:t>SBF</a:t>
            </a:r>
            <a:r>
              <a:rPr lang="en-US" sz="2400" baseline="-25000" dirty="0"/>
              <a:t>3</a:t>
            </a:r>
            <a:r>
              <a:rPr lang="en-US" sz="2400" dirty="0"/>
              <a:t> + R</a:t>
            </a:r>
            <a:r>
              <a:rPr lang="en-US" sz="2400" baseline="-25000" dirty="0"/>
              <a:t>2</a:t>
            </a:r>
            <a:r>
              <a:rPr lang="en-US" sz="2400" dirty="0"/>
              <a:t>O → R</a:t>
            </a:r>
            <a:r>
              <a:rPr lang="en-US" sz="2400" baseline="-25000" dirty="0"/>
              <a:t>2</a:t>
            </a:r>
            <a:r>
              <a:rPr lang="en-US" sz="2400" dirty="0"/>
              <a:t>OBF</a:t>
            </a:r>
            <a:r>
              <a:rPr lang="en-US" sz="2400" baseline="-25000" dirty="0"/>
              <a:t>3</a:t>
            </a:r>
            <a:r>
              <a:rPr lang="en-US" sz="2400" dirty="0"/>
              <a:t> + R</a:t>
            </a:r>
            <a:r>
              <a:rPr lang="en-US" sz="2400" baseline="-25000" dirty="0"/>
              <a:t>2</a:t>
            </a:r>
            <a:r>
              <a:rPr lang="en-US" sz="2400" dirty="0"/>
              <a:t>S</a:t>
            </a:r>
          </a:p>
          <a:p>
            <a:r>
              <a:rPr lang="en-US" sz="2400" dirty="0"/>
              <a:t>R</a:t>
            </a:r>
            <a:r>
              <a:rPr lang="en-US" sz="2400" baseline="-25000" dirty="0"/>
              <a:t>2</a:t>
            </a:r>
            <a:r>
              <a:rPr lang="en-US" sz="2400" dirty="0"/>
              <a:t>OBH</a:t>
            </a:r>
            <a:r>
              <a:rPr lang="en-US" sz="2400" baseline="-25000" dirty="0"/>
              <a:t>3</a:t>
            </a:r>
            <a:r>
              <a:rPr lang="en-US" sz="2400" dirty="0"/>
              <a:t> + R</a:t>
            </a:r>
            <a:r>
              <a:rPr lang="en-US" sz="2400" baseline="-25000" dirty="0"/>
              <a:t>2</a:t>
            </a:r>
            <a:r>
              <a:rPr lang="en-US" sz="2400" dirty="0"/>
              <a:t>S → R</a:t>
            </a:r>
            <a:r>
              <a:rPr lang="en-US" sz="2400" baseline="-25000" dirty="0"/>
              <a:t>2</a:t>
            </a:r>
            <a:r>
              <a:rPr lang="en-US" sz="2400" dirty="0"/>
              <a:t>SBH</a:t>
            </a:r>
            <a:r>
              <a:rPr lang="en-US" sz="2400" baseline="-25000" dirty="0"/>
              <a:t>3</a:t>
            </a:r>
            <a:r>
              <a:rPr lang="en-US" sz="2400" dirty="0"/>
              <a:t> + R</a:t>
            </a:r>
            <a:r>
              <a:rPr lang="en-US" sz="2400" baseline="-25000" dirty="0"/>
              <a:t>2</a:t>
            </a:r>
            <a:r>
              <a:rPr lang="en-US" sz="2400" dirty="0"/>
              <a:t>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F33DD8-B5DB-07D1-F18F-100190D79B45}"/>
              </a:ext>
            </a:extLst>
          </p:cNvPr>
          <p:cNvSpPr txBox="1"/>
          <p:nvPr/>
        </p:nvSpPr>
        <p:spPr>
          <a:xfrm>
            <a:off x="1193847" y="5530801"/>
            <a:ext cx="10468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7030A0"/>
                </a:solidFill>
              </a:rPr>
              <a:t>Hardness and softness of an acidic and basic site </a:t>
            </a:r>
            <a:r>
              <a:rPr lang="en-US" b="1" i="1" u="sng" dirty="0">
                <a:solidFill>
                  <a:srgbClr val="7030A0"/>
                </a:solidFill>
              </a:rPr>
              <a:t>is not an inherent property</a:t>
            </a:r>
            <a:r>
              <a:rPr lang="en-US" i="1" dirty="0">
                <a:solidFill>
                  <a:srgbClr val="7030A0"/>
                </a:solidFill>
              </a:rPr>
              <a:t> of the particular atom at the site,</a:t>
            </a:r>
          </a:p>
          <a:p>
            <a:r>
              <a:rPr lang="en-US" i="1" dirty="0">
                <a:solidFill>
                  <a:srgbClr val="7030A0"/>
                </a:solidFill>
              </a:rPr>
              <a:t>But can be influenced by the substituents atoms.</a:t>
            </a:r>
          </a:p>
        </p:txBody>
      </p:sp>
    </p:spTree>
    <p:extLst>
      <p:ext uri="{BB962C8B-B14F-4D97-AF65-F5344CB8AC3E}">
        <p14:creationId xmlns:p14="http://schemas.microsoft.com/office/powerpoint/2010/main" val="4083535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925360-4ED8-B9BE-C035-793403254FE1}"/>
              </a:ext>
            </a:extLst>
          </p:cNvPr>
          <p:cNvSpPr txBox="1"/>
          <p:nvPr/>
        </p:nvSpPr>
        <p:spPr>
          <a:xfrm>
            <a:off x="1103085" y="2245288"/>
            <a:ext cx="5289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</a:t>
            </a:r>
            <a:r>
              <a:rPr lang="en-US" sz="2400" baseline="-25000" dirty="0"/>
              <a:t>3</a:t>
            </a:r>
            <a:r>
              <a:rPr lang="en-US" sz="2400" baseline="30000" dirty="0"/>
              <a:t>2-</a:t>
            </a:r>
            <a:r>
              <a:rPr lang="en-US" sz="2400" dirty="0"/>
              <a:t> + HF ↔ HSO</a:t>
            </a:r>
            <a:r>
              <a:rPr lang="en-US" sz="2400" baseline="-25000" dirty="0"/>
              <a:t>3</a:t>
            </a:r>
            <a:r>
              <a:rPr lang="en-US" sz="2400" baseline="30000" dirty="0"/>
              <a:t>-</a:t>
            </a:r>
            <a:r>
              <a:rPr lang="en-US" sz="2400" dirty="0"/>
              <a:t> + F</a:t>
            </a:r>
            <a:r>
              <a:rPr lang="en-US" sz="2400" baseline="30000" dirty="0"/>
              <a:t>-</a:t>
            </a:r>
            <a:r>
              <a:rPr lang="en-US" sz="2400" dirty="0"/>
              <a:t> </a:t>
            </a:r>
            <a:endParaRPr lang="en-US" sz="2400" baseline="30000" dirty="0"/>
          </a:p>
          <a:p>
            <a:r>
              <a:rPr lang="en-US" sz="2400" dirty="0"/>
              <a:t>OH- + CH</a:t>
            </a:r>
            <a:r>
              <a:rPr lang="en-US" sz="2400" baseline="-25000" dirty="0"/>
              <a:t>3</a:t>
            </a:r>
            <a:r>
              <a:rPr lang="en-US" sz="2400" dirty="0"/>
              <a:t>HgSO</a:t>
            </a:r>
            <a:r>
              <a:rPr lang="en-US" sz="2400" baseline="-25000" dirty="0"/>
              <a:t>3</a:t>
            </a:r>
            <a:r>
              <a:rPr lang="en-US" sz="2400" baseline="30000" dirty="0"/>
              <a:t>-</a:t>
            </a:r>
            <a:r>
              <a:rPr lang="en-US" sz="2400" dirty="0"/>
              <a:t> ↔ CH</a:t>
            </a:r>
            <a:r>
              <a:rPr lang="en-US" sz="2400" baseline="-25000" dirty="0"/>
              <a:t>3</a:t>
            </a:r>
            <a:r>
              <a:rPr lang="en-US" sz="2400" dirty="0"/>
              <a:t>HgOH + SO</a:t>
            </a:r>
            <a:r>
              <a:rPr lang="en-US" sz="2400" baseline="-25000" dirty="0"/>
              <a:t>3</a:t>
            </a:r>
            <a:r>
              <a:rPr lang="en-US" sz="2400" dirty="0"/>
              <a:t> </a:t>
            </a:r>
            <a:r>
              <a:rPr lang="en-US" sz="2400" baseline="30000" dirty="0"/>
              <a:t>2-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0DBCA5-7E04-8159-7735-F424882151B0}"/>
              </a:ext>
            </a:extLst>
          </p:cNvPr>
          <p:cNvSpPr txBox="1"/>
          <p:nvPr/>
        </p:nvSpPr>
        <p:spPr>
          <a:xfrm>
            <a:off x="1306286" y="1422400"/>
            <a:ext cx="5898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Acid-base strength and hardness and softness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99C95-7732-D9F6-769A-2D2B7CA22DA8}"/>
              </a:ext>
            </a:extLst>
          </p:cNvPr>
          <p:cNvSpPr txBox="1"/>
          <p:nvPr/>
        </p:nvSpPr>
        <p:spPr>
          <a:xfrm>
            <a:off x="7205273" y="2338549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K</a:t>
            </a:r>
            <a:r>
              <a:rPr lang="en-US" dirty="0"/>
              <a:t> = 10000</a:t>
            </a:r>
          </a:p>
          <a:p>
            <a:r>
              <a:rPr lang="en-US" dirty="0"/>
              <a:t>    = 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4860A-9C16-B7AB-F7A2-BC9F13BFBC5F}"/>
              </a:ext>
            </a:extLst>
          </p:cNvPr>
          <p:cNvSpPr txBox="1"/>
          <p:nvPr/>
        </p:nvSpPr>
        <p:spPr>
          <a:xfrm>
            <a:off x="304800" y="3509742"/>
            <a:ext cx="110561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7030A0"/>
                </a:solidFill>
              </a:rPr>
              <a:t>Stronger, yet softer base, the sulfite anion can displace the weak, hard base fluoride ion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from the hard acid proton.</a:t>
            </a:r>
          </a:p>
        </p:txBody>
      </p:sp>
    </p:spTree>
    <p:extLst>
      <p:ext uri="{BB962C8B-B14F-4D97-AF65-F5344CB8AC3E}">
        <p14:creationId xmlns:p14="http://schemas.microsoft.com/office/powerpoint/2010/main" val="3866568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86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237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285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97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DELL</cp:lastModifiedBy>
  <cp:revision>8</cp:revision>
  <dcterms:created xsi:type="dcterms:W3CDTF">2024-09-28T02:37:09Z</dcterms:created>
  <dcterms:modified xsi:type="dcterms:W3CDTF">2024-09-28T09:18:28Z</dcterms:modified>
</cp:coreProperties>
</file>